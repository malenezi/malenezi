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Override PartName="/ppt/slides/slide147.xml" ContentType="application/vnd.openxmlformats-officedocument.presentationml.slide+xml"/>
  <Override PartName="/ppt/notesSlides/notesSlide147.xml" ContentType="application/vnd.openxmlformats-officedocument.presentationml.notesSlide+xml"/>
  <Override PartName="/ppt/slides/slide148.xml" ContentType="application/vnd.openxmlformats-officedocument.presentationml.slide+xml"/>
  <Override PartName="/ppt/notesSlides/notesSlide148.xml" ContentType="application/vnd.openxmlformats-officedocument.presentationml.notesSlide+xml"/>
  <Override PartName="/ppt/slides/slide149.xml" ContentType="application/vnd.openxmlformats-officedocument.presentationml.slide+xml"/>
  <Override PartName="/ppt/notesSlides/notesSlide149.xml" ContentType="application/vnd.openxmlformats-officedocument.presentationml.notesSlide+xml"/>
  <Override PartName="/ppt/slides/slide150.xml" ContentType="application/vnd.openxmlformats-officedocument.presentationml.slide+xml"/>
  <Override PartName="/ppt/notesSlides/notesSlide150.xml" ContentType="application/vnd.openxmlformats-officedocument.presentationml.notesSlide+xml"/>
  <Override PartName="/ppt/slides/slide151.xml" ContentType="application/vnd.openxmlformats-officedocument.presentationml.slide+xml"/>
  <Override PartName="/ppt/notesSlides/notesSlide151.xml" ContentType="application/vnd.openxmlformats-officedocument.presentationml.notesSlide+xml"/>
  <Override PartName="/ppt/slides/slide152.xml" ContentType="application/vnd.openxmlformats-officedocument.presentationml.slide+xml"/>
  <Override PartName="/ppt/notesSlides/notesSlide152.xml" ContentType="application/vnd.openxmlformats-officedocument.presentationml.notesSlide+xml"/>
  <Override PartName="/ppt/slides/slide153.xml" ContentType="application/vnd.openxmlformats-officedocument.presentationml.slide+xml"/>
  <Override PartName="/ppt/notesSlides/notesSlide153.xml" ContentType="application/vnd.openxmlformats-officedocument.presentationml.notesSlide+xml"/>
  <Override PartName="/ppt/slides/slide154.xml" ContentType="application/vnd.openxmlformats-officedocument.presentationml.slide+xml"/>
  <Override PartName="/ppt/notesSlides/notesSlide154.xml" ContentType="application/vnd.openxmlformats-officedocument.presentationml.notesSlide+xml"/>
  <Override PartName="/ppt/slides/slide155.xml" ContentType="application/vnd.openxmlformats-officedocument.presentationml.slide+xml"/>
  <Override PartName="/ppt/notesSlides/notesSlide155.xml" ContentType="application/vnd.openxmlformats-officedocument.presentationml.notesSlide+xml"/>
  <Override PartName="/ppt/slides/slide156.xml" ContentType="application/vnd.openxmlformats-officedocument.presentationml.slide+xml"/>
  <Override PartName="/ppt/notesSlides/notesSlide156.xml" ContentType="application/vnd.openxmlformats-officedocument.presentationml.notesSlide+xml"/>
  <Override PartName="/ppt/slides/slide157.xml" ContentType="application/vnd.openxmlformats-officedocument.presentationml.slide+xml"/>
  <Override PartName="/ppt/notesSlides/notesSlide157.xml" ContentType="application/vnd.openxmlformats-officedocument.presentationml.notesSlide+xml"/>
  <Override PartName="/ppt/slides/slide158.xml" ContentType="application/vnd.openxmlformats-officedocument.presentationml.slide+xml"/>
  <Override PartName="/ppt/notesSlides/notesSlide158.xml" ContentType="application/vnd.openxmlformats-officedocument.presentationml.notesSlide+xml"/>
  <Override PartName="/ppt/slides/slide159.xml" ContentType="application/vnd.openxmlformats-officedocument.presentationml.slide+xml"/>
  <Override PartName="/ppt/notesSlides/notesSlide159.xml" ContentType="application/vnd.openxmlformats-officedocument.presentationml.notesSlide+xml"/>
  <Override PartName="/ppt/slides/slide160.xml" ContentType="application/vnd.openxmlformats-officedocument.presentationml.slide+xml"/>
  <Override PartName="/ppt/notesSlides/notesSlide160.xml" ContentType="application/vnd.openxmlformats-officedocument.presentationml.notesSlide+xml"/>
  <Override PartName="/ppt/slides/slide161.xml" ContentType="application/vnd.openxmlformats-officedocument.presentationml.slide+xml"/>
  <Override PartName="/ppt/notesSlides/notesSlide161.xml" ContentType="application/vnd.openxmlformats-officedocument.presentationml.notesSlide+xml"/>
  <Override PartName="/ppt/slides/slide162.xml" ContentType="application/vnd.openxmlformats-officedocument.presentationml.slide+xml"/>
  <Override PartName="/ppt/notesSlides/notesSlide162.xml" ContentType="application/vnd.openxmlformats-officedocument.presentationml.notesSlide+xml"/>
  <Override PartName="/ppt/slides/slide163.xml" ContentType="application/vnd.openxmlformats-officedocument.presentationml.slide+xml"/>
  <Override PartName="/ppt/notesSlides/notesSlide16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8903109fd98485d" /><Relationship Type="http://schemas.openxmlformats.org/officeDocument/2006/relationships/extended-properties" Target="/docProps/app.xml" Id="Rd6abec3df5d4455e" /><Relationship Type="http://schemas.openxmlformats.org/officeDocument/2006/relationships/officeDocument" Target="/ppt/presentation.xml" Id="R4fedbeca445b4c9a" /></Relationships>
</file>

<file path=ppt/presentation.xml><?xml version="1.0" encoding="utf-8"?>
<p:presentation xmlns:p="http://schemas.openxmlformats.org/presentationml/2006/main">
  <p:sldMasterIdLst>
    <p:sldMasterId xmlns:r="http://schemas.openxmlformats.org/officeDocument/2006/relationships" id="2147483648" r:id="Ra46e1984155045b4"/>
  </p:sldMasterIdLst>
  <p:notesMasterIdLst>
    <p:notesMasterId xmlns:r="http://schemas.openxmlformats.org/officeDocument/2006/relationships" r:id="R8dac74b3133641df"/>
  </p:notesMasterIdLst>
  <p:sldIdLst>
    <p:sldId xmlns:r="http://schemas.openxmlformats.org/officeDocument/2006/relationships" id="256" r:id="Rf9755dc966134661"/>
    <p:sldId xmlns:r="http://schemas.openxmlformats.org/officeDocument/2006/relationships" id="257" r:id="Rcc0fcaccffaf4dec"/>
    <p:sldId xmlns:r="http://schemas.openxmlformats.org/officeDocument/2006/relationships" id="258" r:id="Rb55c1d2a165948e7"/>
    <p:sldId xmlns:r="http://schemas.openxmlformats.org/officeDocument/2006/relationships" id="259" r:id="R018f6c2831a849e2"/>
    <p:sldId xmlns:r="http://schemas.openxmlformats.org/officeDocument/2006/relationships" id="260" r:id="Rfe6bf6355228449b"/>
    <p:sldId xmlns:r="http://schemas.openxmlformats.org/officeDocument/2006/relationships" id="261" r:id="Rb091f3df120a4f7e"/>
    <p:sldId xmlns:r="http://schemas.openxmlformats.org/officeDocument/2006/relationships" id="262" r:id="R1a1db5cda5514893"/>
    <p:sldId xmlns:r="http://schemas.openxmlformats.org/officeDocument/2006/relationships" id="263" r:id="Rfe52e35fb9164484"/>
    <p:sldId xmlns:r="http://schemas.openxmlformats.org/officeDocument/2006/relationships" id="264" r:id="Rdeb9b0eb1fb246fa"/>
    <p:sldId xmlns:r="http://schemas.openxmlformats.org/officeDocument/2006/relationships" id="265" r:id="R50527550b249463e"/>
    <p:sldId xmlns:r="http://schemas.openxmlformats.org/officeDocument/2006/relationships" id="266" r:id="R23094703a8ba4659"/>
    <p:sldId xmlns:r="http://schemas.openxmlformats.org/officeDocument/2006/relationships" id="267" r:id="Rba8993e8f4d74a51"/>
    <p:sldId xmlns:r="http://schemas.openxmlformats.org/officeDocument/2006/relationships" id="268" r:id="R71767cfb408c45a8"/>
    <p:sldId xmlns:r="http://schemas.openxmlformats.org/officeDocument/2006/relationships" id="269" r:id="R67ad5e3a66a34938"/>
    <p:sldId xmlns:r="http://schemas.openxmlformats.org/officeDocument/2006/relationships" id="270" r:id="R9d3b1fcb93274075"/>
    <p:sldId xmlns:r="http://schemas.openxmlformats.org/officeDocument/2006/relationships" id="271" r:id="R6c1af04b0b894015"/>
    <p:sldId xmlns:r="http://schemas.openxmlformats.org/officeDocument/2006/relationships" id="272" r:id="R00b09d1d49264d7b"/>
    <p:sldId xmlns:r="http://schemas.openxmlformats.org/officeDocument/2006/relationships" id="273" r:id="Ra71c82b1608f45c5"/>
    <p:sldId xmlns:r="http://schemas.openxmlformats.org/officeDocument/2006/relationships" id="274" r:id="Rc202d43041a44784"/>
    <p:sldId xmlns:r="http://schemas.openxmlformats.org/officeDocument/2006/relationships" id="275" r:id="R604c0906bb0d4ad7"/>
    <p:sldId xmlns:r="http://schemas.openxmlformats.org/officeDocument/2006/relationships" id="276" r:id="R369a2240904f4a65"/>
    <p:sldId xmlns:r="http://schemas.openxmlformats.org/officeDocument/2006/relationships" id="277" r:id="R42f8d8d9553b4354"/>
    <p:sldId xmlns:r="http://schemas.openxmlformats.org/officeDocument/2006/relationships" id="278" r:id="R726d2268915d4444"/>
    <p:sldId xmlns:r="http://schemas.openxmlformats.org/officeDocument/2006/relationships" id="279" r:id="Refb86e02e43748ac"/>
    <p:sldId xmlns:r="http://schemas.openxmlformats.org/officeDocument/2006/relationships" id="280" r:id="Rf95fd7d4c7fb4cd4"/>
    <p:sldId xmlns:r="http://schemas.openxmlformats.org/officeDocument/2006/relationships" id="281" r:id="R58b09208153f4db7"/>
    <p:sldId xmlns:r="http://schemas.openxmlformats.org/officeDocument/2006/relationships" id="282" r:id="R5e5bda205f344f55"/>
    <p:sldId xmlns:r="http://schemas.openxmlformats.org/officeDocument/2006/relationships" id="283" r:id="R5c8b18253fc24e5e"/>
    <p:sldId xmlns:r="http://schemas.openxmlformats.org/officeDocument/2006/relationships" id="284" r:id="Rd5d427dd5e974b6a"/>
    <p:sldId xmlns:r="http://schemas.openxmlformats.org/officeDocument/2006/relationships" id="285" r:id="R70e123ceae294bd9"/>
    <p:sldId xmlns:r="http://schemas.openxmlformats.org/officeDocument/2006/relationships" id="286" r:id="R849f227ddd8042e9"/>
    <p:sldId xmlns:r="http://schemas.openxmlformats.org/officeDocument/2006/relationships" id="287" r:id="R4fc8ec4f9f634e38"/>
    <p:sldId xmlns:r="http://schemas.openxmlformats.org/officeDocument/2006/relationships" id="288" r:id="Ra662ec24aa1e419f"/>
    <p:sldId xmlns:r="http://schemas.openxmlformats.org/officeDocument/2006/relationships" id="289" r:id="R7cb1a1a31ad343ce"/>
    <p:sldId xmlns:r="http://schemas.openxmlformats.org/officeDocument/2006/relationships" id="290" r:id="Re66a7da364e44273"/>
    <p:sldId xmlns:r="http://schemas.openxmlformats.org/officeDocument/2006/relationships" id="291" r:id="R4cae6febe8e04325"/>
    <p:sldId xmlns:r="http://schemas.openxmlformats.org/officeDocument/2006/relationships" id="292" r:id="R8868dc2fb6a54130"/>
    <p:sldId xmlns:r="http://schemas.openxmlformats.org/officeDocument/2006/relationships" id="293" r:id="Ref71afd29bfc4d80"/>
    <p:sldId xmlns:r="http://schemas.openxmlformats.org/officeDocument/2006/relationships" id="294" r:id="Rf16322755e8247fe"/>
    <p:sldId xmlns:r="http://schemas.openxmlformats.org/officeDocument/2006/relationships" id="295" r:id="Rc6628a781af844f7"/>
    <p:sldId xmlns:r="http://schemas.openxmlformats.org/officeDocument/2006/relationships" id="296" r:id="R63915356d9254039"/>
    <p:sldId xmlns:r="http://schemas.openxmlformats.org/officeDocument/2006/relationships" id="297" r:id="R4d80e8608b1d4762"/>
    <p:sldId xmlns:r="http://schemas.openxmlformats.org/officeDocument/2006/relationships" id="298" r:id="R3b1881fe925444e7"/>
    <p:sldId xmlns:r="http://schemas.openxmlformats.org/officeDocument/2006/relationships" id="299" r:id="R5006d9ca2b96497d"/>
    <p:sldId xmlns:r="http://schemas.openxmlformats.org/officeDocument/2006/relationships" id="300" r:id="R23bf32f100924b32"/>
    <p:sldId xmlns:r="http://schemas.openxmlformats.org/officeDocument/2006/relationships" id="301" r:id="Rf502edec866944d3"/>
    <p:sldId xmlns:r="http://schemas.openxmlformats.org/officeDocument/2006/relationships" id="302" r:id="R830e8880af804f8d"/>
    <p:sldId xmlns:r="http://schemas.openxmlformats.org/officeDocument/2006/relationships" id="303" r:id="R827fbd4150034e24"/>
    <p:sldId xmlns:r="http://schemas.openxmlformats.org/officeDocument/2006/relationships" id="304" r:id="R15a805618f5e4b96"/>
    <p:sldId xmlns:r="http://schemas.openxmlformats.org/officeDocument/2006/relationships" id="305" r:id="R6a6faf26081b45cb"/>
    <p:sldId xmlns:r="http://schemas.openxmlformats.org/officeDocument/2006/relationships" id="306" r:id="R324810ccece74cc4"/>
    <p:sldId xmlns:r="http://schemas.openxmlformats.org/officeDocument/2006/relationships" id="307" r:id="R5a7cb077e9674874"/>
    <p:sldId xmlns:r="http://schemas.openxmlformats.org/officeDocument/2006/relationships" id="308" r:id="R731e7499c72c4731"/>
    <p:sldId xmlns:r="http://schemas.openxmlformats.org/officeDocument/2006/relationships" id="309" r:id="R8d5bd31e494f40c7"/>
    <p:sldId xmlns:r="http://schemas.openxmlformats.org/officeDocument/2006/relationships" id="310" r:id="Rb23554d2e26f48d3"/>
    <p:sldId xmlns:r="http://schemas.openxmlformats.org/officeDocument/2006/relationships" id="311" r:id="Rbe46688aa8cb453d"/>
    <p:sldId xmlns:r="http://schemas.openxmlformats.org/officeDocument/2006/relationships" id="312" r:id="Rb25ac610c5664120"/>
    <p:sldId xmlns:r="http://schemas.openxmlformats.org/officeDocument/2006/relationships" id="313" r:id="R19db6ec87bb9490b"/>
    <p:sldId xmlns:r="http://schemas.openxmlformats.org/officeDocument/2006/relationships" id="314" r:id="R7b11896fd29e4d20"/>
    <p:sldId xmlns:r="http://schemas.openxmlformats.org/officeDocument/2006/relationships" id="315" r:id="R9e326e8cb36842d2"/>
    <p:sldId xmlns:r="http://schemas.openxmlformats.org/officeDocument/2006/relationships" id="316" r:id="R7aabe92c181641bb"/>
    <p:sldId xmlns:r="http://schemas.openxmlformats.org/officeDocument/2006/relationships" id="317" r:id="Rffca4a055b3a41e3"/>
    <p:sldId xmlns:r="http://schemas.openxmlformats.org/officeDocument/2006/relationships" id="318" r:id="R8af2665841e043b0"/>
    <p:sldId xmlns:r="http://schemas.openxmlformats.org/officeDocument/2006/relationships" id="319" r:id="R65218d6d579f43b9"/>
    <p:sldId xmlns:r="http://schemas.openxmlformats.org/officeDocument/2006/relationships" id="320" r:id="Rcf6f7080012d44cb"/>
    <p:sldId xmlns:r="http://schemas.openxmlformats.org/officeDocument/2006/relationships" id="321" r:id="R562ed458ae034f5b"/>
    <p:sldId xmlns:r="http://schemas.openxmlformats.org/officeDocument/2006/relationships" id="322" r:id="Re4b0e201a8ff4680"/>
    <p:sldId xmlns:r="http://schemas.openxmlformats.org/officeDocument/2006/relationships" id="323" r:id="R519e04207eeb4e12"/>
    <p:sldId xmlns:r="http://schemas.openxmlformats.org/officeDocument/2006/relationships" id="324" r:id="Rf8e55b6b9bc24e5b"/>
    <p:sldId xmlns:r="http://schemas.openxmlformats.org/officeDocument/2006/relationships" id="325" r:id="R17756d3489224874"/>
    <p:sldId xmlns:r="http://schemas.openxmlformats.org/officeDocument/2006/relationships" id="326" r:id="Rf85202374a4449bd"/>
    <p:sldId xmlns:r="http://schemas.openxmlformats.org/officeDocument/2006/relationships" id="327" r:id="R952c68f3df934ed5"/>
    <p:sldId xmlns:r="http://schemas.openxmlformats.org/officeDocument/2006/relationships" id="328" r:id="R5ca7b898c12646bb"/>
    <p:sldId xmlns:r="http://schemas.openxmlformats.org/officeDocument/2006/relationships" id="329" r:id="Rdc9e1816a3ef458f"/>
    <p:sldId xmlns:r="http://schemas.openxmlformats.org/officeDocument/2006/relationships" id="330" r:id="R986cad3b80c9453e"/>
    <p:sldId xmlns:r="http://schemas.openxmlformats.org/officeDocument/2006/relationships" id="331" r:id="R60294112bc0b464e"/>
    <p:sldId xmlns:r="http://schemas.openxmlformats.org/officeDocument/2006/relationships" id="332" r:id="Rb8d6ecc954264ea5"/>
    <p:sldId xmlns:r="http://schemas.openxmlformats.org/officeDocument/2006/relationships" id="333" r:id="R5095d91953e948b2"/>
    <p:sldId xmlns:r="http://schemas.openxmlformats.org/officeDocument/2006/relationships" id="334" r:id="R0bce594326b94a76"/>
    <p:sldId xmlns:r="http://schemas.openxmlformats.org/officeDocument/2006/relationships" id="335" r:id="R7c16bf4f9ff449d8"/>
    <p:sldId xmlns:r="http://schemas.openxmlformats.org/officeDocument/2006/relationships" id="336" r:id="Rf3d8021f79d7474e"/>
    <p:sldId xmlns:r="http://schemas.openxmlformats.org/officeDocument/2006/relationships" id="337" r:id="R3b8ddfde50a64ced"/>
    <p:sldId xmlns:r="http://schemas.openxmlformats.org/officeDocument/2006/relationships" id="338" r:id="Rf1c8bdeaa5d54416"/>
    <p:sldId xmlns:r="http://schemas.openxmlformats.org/officeDocument/2006/relationships" id="339" r:id="Rbf9c25e700954645"/>
    <p:sldId xmlns:r="http://schemas.openxmlformats.org/officeDocument/2006/relationships" id="340" r:id="R16bd72b7b52841cd"/>
    <p:sldId xmlns:r="http://schemas.openxmlformats.org/officeDocument/2006/relationships" id="341" r:id="R8c09c655541247b7"/>
    <p:sldId xmlns:r="http://schemas.openxmlformats.org/officeDocument/2006/relationships" id="342" r:id="R416d31c176b9488e"/>
    <p:sldId xmlns:r="http://schemas.openxmlformats.org/officeDocument/2006/relationships" id="343" r:id="Ra40ac14b98134ae7"/>
    <p:sldId xmlns:r="http://schemas.openxmlformats.org/officeDocument/2006/relationships" id="344" r:id="R0dc6d42ffa364abe"/>
    <p:sldId xmlns:r="http://schemas.openxmlformats.org/officeDocument/2006/relationships" id="345" r:id="R3cede13ec9a84496"/>
    <p:sldId xmlns:r="http://schemas.openxmlformats.org/officeDocument/2006/relationships" id="346" r:id="Re3e9fbfd497d4576"/>
    <p:sldId xmlns:r="http://schemas.openxmlformats.org/officeDocument/2006/relationships" id="347" r:id="R91c0eb65506c45a5"/>
    <p:sldId xmlns:r="http://schemas.openxmlformats.org/officeDocument/2006/relationships" id="348" r:id="R36a4013140a54afb"/>
    <p:sldId xmlns:r="http://schemas.openxmlformats.org/officeDocument/2006/relationships" id="349" r:id="R581e2da6dd8a4b25"/>
    <p:sldId xmlns:r="http://schemas.openxmlformats.org/officeDocument/2006/relationships" id="350" r:id="Reedded376cda48fb"/>
    <p:sldId xmlns:r="http://schemas.openxmlformats.org/officeDocument/2006/relationships" id="351" r:id="Re052673de2464ac3"/>
    <p:sldId xmlns:r="http://schemas.openxmlformats.org/officeDocument/2006/relationships" id="352" r:id="R173e67d0d0da4e42"/>
    <p:sldId xmlns:r="http://schemas.openxmlformats.org/officeDocument/2006/relationships" id="353" r:id="Rb09028769aed42cb"/>
    <p:sldId xmlns:r="http://schemas.openxmlformats.org/officeDocument/2006/relationships" id="354" r:id="R311c432b500445e7"/>
    <p:sldId xmlns:r="http://schemas.openxmlformats.org/officeDocument/2006/relationships" id="355" r:id="R0eb7423f2d504bdc"/>
    <p:sldId xmlns:r="http://schemas.openxmlformats.org/officeDocument/2006/relationships" id="356" r:id="Rea8d8106c9f74523"/>
    <p:sldId xmlns:r="http://schemas.openxmlformats.org/officeDocument/2006/relationships" id="357" r:id="R8130b68cb31b420c"/>
    <p:sldId xmlns:r="http://schemas.openxmlformats.org/officeDocument/2006/relationships" id="358" r:id="Ra8733c90a3f24d75"/>
    <p:sldId xmlns:r="http://schemas.openxmlformats.org/officeDocument/2006/relationships" id="359" r:id="R6b5e997ad59446dc"/>
    <p:sldId xmlns:r="http://schemas.openxmlformats.org/officeDocument/2006/relationships" id="360" r:id="Rd9ba1fb4bdca4415"/>
    <p:sldId xmlns:r="http://schemas.openxmlformats.org/officeDocument/2006/relationships" id="361" r:id="R34a5c9f6af834eef"/>
    <p:sldId xmlns:r="http://schemas.openxmlformats.org/officeDocument/2006/relationships" id="362" r:id="Rab126661038f4c9d"/>
    <p:sldId xmlns:r="http://schemas.openxmlformats.org/officeDocument/2006/relationships" id="363" r:id="R52665a31bbb94d3a"/>
    <p:sldId xmlns:r="http://schemas.openxmlformats.org/officeDocument/2006/relationships" id="364" r:id="R7606b98019024281"/>
    <p:sldId xmlns:r="http://schemas.openxmlformats.org/officeDocument/2006/relationships" id="365" r:id="R51d28c03482349be"/>
    <p:sldId xmlns:r="http://schemas.openxmlformats.org/officeDocument/2006/relationships" id="366" r:id="R8db01e7c35c744e5"/>
    <p:sldId xmlns:r="http://schemas.openxmlformats.org/officeDocument/2006/relationships" id="367" r:id="R838f8b5839284263"/>
    <p:sldId xmlns:r="http://schemas.openxmlformats.org/officeDocument/2006/relationships" id="368" r:id="R48ffa3ce95dc413f"/>
    <p:sldId xmlns:r="http://schemas.openxmlformats.org/officeDocument/2006/relationships" id="369" r:id="R679f1b782c204ca3"/>
    <p:sldId xmlns:r="http://schemas.openxmlformats.org/officeDocument/2006/relationships" id="370" r:id="R2b2fea75eb484d5f"/>
    <p:sldId xmlns:r="http://schemas.openxmlformats.org/officeDocument/2006/relationships" id="371" r:id="R821717678c094ed6"/>
    <p:sldId xmlns:r="http://schemas.openxmlformats.org/officeDocument/2006/relationships" id="372" r:id="R9e69e5acfaff4aa1"/>
    <p:sldId xmlns:r="http://schemas.openxmlformats.org/officeDocument/2006/relationships" id="373" r:id="Rec125b3a69174ced"/>
    <p:sldId xmlns:r="http://schemas.openxmlformats.org/officeDocument/2006/relationships" id="374" r:id="R71e84a23bfad4171"/>
    <p:sldId xmlns:r="http://schemas.openxmlformats.org/officeDocument/2006/relationships" id="375" r:id="R1828f3d19c354237"/>
    <p:sldId xmlns:r="http://schemas.openxmlformats.org/officeDocument/2006/relationships" id="376" r:id="R6a97ce5e0124494e"/>
    <p:sldId xmlns:r="http://schemas.openxmlformats.org/officeDocument/2006/relationships" id="377" r:id="R4c544673952c4b08"/>
    <p:sldId xmlns:r="http://schemas.openxmlformats.org/officeDocument/2006/relationships" id="378" r:id="Rb05a83e4a1bf45be"/>
    <p:sldId xmlns:r="http://schemas.openxmlformats.org/officeDocument/2006/relationships" id="379" r:id="R1e4807e803124233"/>
    <p:sldId xmlns:r="http://schemas.openxmlformats.org/officeDocument/2006/relationships" id="380" r:id="R6458f7dc50194184"/>
    <p:sldId xmlns:r="http://schemas.openxmlformats.org/officeDocument/2006/relationships" id="381" r:id="Rf96dae4fba254125"/>
    <p:sldId xmlns:r="http://schemas.openxmlformats.org/officeDocument/2006/relationships" id="382" r:id="R112009b1ec4145bc"/>
    <p:sldId xmlns:r="http://schemas.openxmlformats.org/officeDocument/2006/relationships" id="383" r:id="Ra6ff78b952804708"/>
    <p:sldId xmlns:r="http://schemas.openxmlformats.org/officeDocument/2006/relationships" id="384" r:id="R30e90f14237948ee"/>
    <p:sldId xmlns:r="http://schemas.openxmlformats.org/officeDocument/2006/relationships" id="385" r:id="R8728c10d4f8a4f20"/>
    <p:sldId xmlns:r="http://schemas.openxmlformats.org/officeDocument/2006/relationships" id="386" r:id="R60c4cb27aba547ce"/>
    <p:sldId xmlns:r="http://schemas.openxmlformats.org/officeDocument/2006/relationships" id="387" r:id="R1e5e7ddf2137432a"/>
    <p:sldId xmlns:r="http://schemas.openxmlformats.org/officeDocument/2006/relationships" id="388" r:id="R25bad27207bc4c81"/>
    <p:sldId xmlns:r="http://schemas.openxmlformats.org/officeDocument/2006/relationships" id="389" r:id="Rea9875b31c9a4a29"/>
    <p:sldId xmlns:r="http://schemas.openxmlformats.org/officeDocument/2006/relationships" id="390" r:id="Rc7ce7fab14924fa4"/>
    <p:sldId xmlns:r="http://schemas.openxmlformats.org/officeDocument/2006/relationships" id="391" r:id="R4c9d98d01029409b"/>
    <p:sldId xmlns:r="http://schemas.openxmlformats.org/officeDocument/2006/relationships" id="392" r:id="Re24b18f2ef8b405a"/>
    <p:sldId xmlns:r="http://schemas.openxmlformats.org/officeDocument/2006/relationships" id="393" r:id="Rac1a4c1160d04c00"/>
    <p:sldId xmlns:r="http://schemas.openxmlformats.org/officeDocument/2006/relationships" id="394" r:id="R4df4739c85be4884"/>
    <p:sldId xmlns:r="http://schemas.openxmlformats.org/officeDocument/2006/relationships" id="395" r:id="R889eae1e1e614569"/>
    <p:sldId xmlns:r="http://schemas.openxmlformats.org/officeDocument/2006/relationships" id="396" r:id="R17b83daacbe347fa"/>
    <p:sldId xmlns:r="http://schemas.openxmlformats.org/officeDocument/2006/relationships" id="397" r:id="Rdf9293992f274bdb"/>
    <p:sldId xmlns:r="http://schemas.openxmlformats.org/officeDocument/2006/relationships" id="398" r:id="R864be66b278843f9"/>
    <p:sldId xmlns:r="http://schemas.openxmlformats.org/officeDocument/2006/relationships" id="399" r:id="R076e0a0b6399459e"/>
    <p:sldId xmlns:r="http://schemas.openxmlformats.org/officeDocument/2006/relationships" id="400" r:id="R7b7d77ea72c943ee"/>
    <p:sldId xmlns:r="http://schemas.openxmlformats.org/officeDocument/2006/relationships" id="401" r:id="R4284c86868ef4bd5"/>
    <p:sldId xmlns:r="http://schemas.openxmlformats.org/officeDocument/2006/relationships" id="402" r:id="R20f77f23ec954b69"/>
    <p:sldId xmlns:r="http://schemas.openxmlformats.org/officeDocument/2006/relationships" id="403" r:id="R4c6f9c1d0f8b4e58"/>
    <p:sldId xmlns:r="http://schemas.openxmlformats.org/officeDocument/2006/relationships" id="404" r:id="Rd0fe63a78d0d453f"/>
    <p:sldId xmlns:r="http://schemas.openxmlformats.org/officeDocument/2006/relationships" id="405" r:id="R90927ec706fa482f"/>
    <p:sldId xmlns:r="http://schemas.openxmlformats.org/officeDocument/2006/relationships" id="406" r:id="Ra24a33d4701f4f4e"/>
    <p:sldId xmlns:r="http://schemas.openxmlformats.org/officeDocument/2006/relationships" id="407" r:id="Rbe1764516d9e49f8"/>
    <p:sldId xmlns:r="http://schemas.openxmlformats.org/officeDocument/2006/relationships" id="408" r:id="R5e3842b5375c4459"/>
    <p:sldId xmlns:r="http://schemas.openxmlformats.org/officeDocument/2006/relationships" id="409" r:id="R89436f9d9ed9464b"/>
    <p:sldId xmlns:r="http://schemas.openxmlformats.org/officeDocument/2006/relationships" id="410" r:id="R1cdaedaad5884e16"/>
    <p:sldId xmlns:r="http://schemas.openxmlformats.org/officeDocument/2006/relationships" id="411" r:id="Re8b7a8362cd94a49"/>
    <p:sldId xmlns:r="http://schemas.openxmlformats.org/officeDocument/2006/relationships" id="412" r:id="Ra476ec21eb49410d"/>
    <p:sldId xmlns:r="http://schemas.openxmlformats.org/officeDocument/2006/relationships" id="413" r:id="Rc0d078cdcf694ff4"/>
    <p:sldId xmlns:r="http://schemas.openxmlformats.org/officeDocument/2006/relationships" id="414" r:id="R0ac1852be1e54432"/>
    <p:sldId xmlns:r="http://schemas.openxmlformats.org/officeDocument/2006/relationships" id="415" r:id="R5b528ffa97eb4dd1"/>
    <p:sldId xmlns:r="http://schemas.openxmlformats.org/officeDocument/2006/relationships" id="416" r:id="R8570c6ce28c74178"/>
    <p:sldId xmlns:r="http://schemas.openxmlformats.org/officeDocument/2006/relationships" id="417" r:id="R4bd2088ec6104930"/>
    <p:sldId xmlns:r="http://schemas.openxmlformats.org/officeDocument/2006/relationships" id="418" r:id="R068a911a5b8e481f"/>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2e11810cb234790" /><Relationship Type="http://schemas.openxmlformats.org/officeDocument/2006/relationships/slideMaster" Target="/ppt/slideMasters/slideMaster1.xml" Id="Ra46e1984155045b4" /><Relationship Type="http://schemas.openxmlformats.org/officeDocument/2006/relationships/notesMaster" Target="/ppt/notesMasters/notesMaster1.xml" Id="R8dac74b3133641df" /><Relationship Type="http://schemas.openxmlformats.org/officeDocument/2006/relationships/presProps" Target="/ppt/presProps.xml" Id="Rdc5dce1e797b4f4c" /><Relationship Type="http://schemas.openxmlformats.org/officeDocument/2006/relationships/viewProps" Target="/ppt/viewProps.xml" Id="R2444c4b231884b65" /><Relationship Type="http://schemas.openxmlformats.org/officeDocument/2006/relationships/tableStyles" Target="/ppt/tableStyles.xml" Id="Ra1487abd71d34249" /><Relationship Type="http://schemas.openxmlformats.org/officeDocument/2006/relationships/slide" Target="/ppt/slides/slide1.xml" Id="Rf9755dc966134661" /><Relationship Type="http://schemas.openxmlformats.org/officeDocument/2006/relationships/slide" Target="/ppt/slides/slide2.xml" Id="Rcc0fcaccffaf4dec" /><Relationship Type="http://schemas.openxmlformats.org/officeDocument/2006/relationships/slide" Target="/ppt/slides/slide3.xml" Id="Rb55c1d2a165948e7" /><Relationship Type="http://schemas.openxmlformats.org/officeDocument/2006/relationships/slide" Target="/ppt/slides/slide4.xml" Id="R018f6c2831a849e2" /><Relationship Type="http://schemas.openxmlformats.org/officeDocument/2006/relationships/slide" Target="/ppt/slides/slide5.xml" Id="Rfe6bf6355228449b" /><Relationship Type="http://schemas.openxmlformats.org/officeDocument/2006/relationships/slide" Target="/ppt/slides/slide6.xml" Id="Rb091f3df120a4f7e" /><Relationship Type="http://schemas.openxmlformats.org/officeDocument/2006/relationships/slide" Target="/ppt/slides/slide7.xml" Id="R1a1db5cda5514893" /><Relationship Type="http://schemas.openxmlformats.org/officeDocument/2006/relationships/slide" Target="/ppt/slides/slide8.xml" Id="Rfe52e35fb9164484" /><Relationship Type="http://schemas.openxmlformats.org/officeDocument/2006/relationships/slide" Target="/ppt/slides/slide9.xml" Id="Rdeb9b0eb1fb246fa" /><Relationship Type="http://schemas.openxmlformats.org/officeDocument/2006/relationships/slide" Target="/ppt/slides/slide10.xml" Id="R50527550b249463e" /><Relationship Type="http://schemas.openxmlformats.org/officeDocument/2006/relationships/slide" Target="/ppt/slides/slide11.xml" Id="R23094703a8ba4659" /><Relationship Type="http://schemas.openxmlformats.org/officeDocument/2006/relationships/slide" Target="/ppt/slides/slide12.xml" Id="Rba8993e8f4d74a51" /><Relationship Type="http://schemas.openxmlformats.org/officeDocument/2006/relationships/slide" Target="/ppt/slides/slide13.xml" Id="R71767cfb408c45a8" /><Relationship Type="http://schemas.openxmlformats.org/officeDocument/2006/relationships/slide" Target="/ppt/slides/slide14.xml" Id="R67ad5e3a66a34938" /><Relationship Type="http://schemas.openxmlformats.org/officeDocument/2006/relationships/slide" Target="/ppt/slides/slide15.xml" Id="R9d3b1fcb93274075" /><Relationship Type="http://schemas.openxmlformats.org/officeDocument/2006/relationships/slide" Target="/ppt/slides/slide16.xml" Id="R6c1af04b0b894015" /><Relationship Type="http://schemas.openxmlformats.org/officeDocument/2006/relationships/slide" Target="/ppt/slides/slide17.xml" Id="R00b09d1d49264d7b" /><Relationship Type="http://schemas.openxmlformats.org/officeDocument/2006/relationships/slide" Target="/ppt/slides/slide18.xml" Id="Ra71c82b1608f45c5" /><Relationship Type="http://schemas.openxmlformats.org/officeDocument/2006/relationships/slide" Target="/ppt/slides/slide19.xml" Id="Rc202d43041a44784" /><Relationship Type="http://schemas.openxmlformats.org/officeDocument/2006/relationships/slide" Target="/ppt/slides/slide20.xml" Id="R604c0906bb0d4ad7" /><Relationship Type="http://schemas.openxmlformats.org/officeDocument/2006/relationships/slide" Target="/ppt/slides/slide21.xml" Id="R369a2240904f4a65" /><Relationship Type="http://schemas.openxmlformats.org/officeDocument/2006/relationships/slide" Target="/ppt/slides/slide22.xml" Id="R42f8d8d9553b4354" /><Relationship Type="http://schemas.openxmlformats.org/officeDocument/2006/relationships/slide" Target="/ppt/slides/slide23.xml" Id="R726d2268915d4444" /><Relationship Type="http://schemas.openxmlformats.org/officeDocument/2006/relationships/slide" Target="/ppt/slides/slide24.xml" Id="Refb86e02e43748ac" /><Relationship Type="http://schemas.openxmlformats.org/officeDocument/2006/relationships/slide" Target="/ppt/slides/slide25.xml" Id="Rf95fd7d4c7fb4cd4" /><Relationship Type="http://schemas.openxmlformats.org/officeDocument/2006/relationships/slide" Target="/ppt/slides/slide26.xml" Id="R58b09208153f4db7" /><Relationship Type="http://schemas.openxmlformats.org/officeDocument/2006/relationships/slide" Target="/ppt/slides/slide27.xml" Id="R5e5bda205f344f55" /><Relationship Type="http://schemas.openxmlformats.org/officeDocument/2006/relationships/slide" Target="/ppt/slides/slide28.xml" Id="R5c8b18253fc24e5e" /><Relationship Type="http://schemas.openxmlformats.org/officeDocument/2006/relationships/slide" Target="/ppt/slides/slide29.xml" Id="Rd5d427dd5e974b6a" /><Relationship Type="http://schemas.openxmlformats.org/officeDocument/2006/relationships/slide" Target="/ppt/slides/slide30.xml" Id="R70e123ceae294bd9" /><Relationship Type="http://schemas.openxmlformats.org/officeDocument/2006/relationships/slide" Target="/ppt/slides/slide31.xml" Id="R849f227ddd8042e9" /><Relationship Type="http://schemas.openxmlformats.org/officeDocument/2006/relationships/slide" Target="/ppt/slides/slide32.xml" Id="R4fc8ec4f9f634e38" /><Relationship Type="http://schemas.openxmlformats.org/officeDocument/2006/relationships/slide" Target="/ppt/slides/slide33.xml" Id="Ra662ec24aa1e419f" /><Relationship Type="http://schemas.openxmlformats.org/officeDocument/2006/relationships/slide" Target="/ppt/slides/slide34.xml" Id="R7cb1a1a31ad343ce" /><Relationship Type="http://schemas.openxmlformats.org/officeDocument/2006/relationships/slide" Target="/ppt/slides/slide35.xml" Id="Re66a7da364e44273" /><Relationship Type="http://schemas.openxmlformats.org/officeDocument/2006/relationships/slide" Target="/ppt/slides/slide36.xml" Id="R4cae6febe8e04325" /><Relationship Type="http://schemas.openxmlformats.org/officeDocument/2006/relationships/slide" Target="/ppt/slides/slide37.xml" Id="R8868dc2fb6a54130" /><Relationship Type="http://schemas.openxmlformats.org/officeDocument/2006/relationships/slide" Target="/ppt/slides/slide38.xml" Id="Ref71afd29bfc4d80" /><Relationship Type="http://schemas.openxmlformats.org/officeDocument/2006/relationships/slide" Target="/ppt/slides/slide39.xml" Id="Rf16322755e8247fe" /><Relationship Type="http://schemas.openxmlformats.org/officeDocument/2006/relationships/slide" Target="/ppt/slides/slide40.xml" Id="Rc6628a781af844f7" /><Relationship Type="http://schemas.openxmlformats.org/officeDocument/2006/relationships/slide" Target="/ppt/slides/slide41.xml" Id="R63915356d9254039" /><Relationship Type="http://schemas.openxmlformats.org/officeDocument/2006/relationships/slide" Target="/ppt/slides/slide42.xml" Id="R4d80e8608b1d4762" /><Relationship Type="http://schemas.openxmlformats.org/officeDocument/2006/relationships/slide" Target="/ppt/slides/slide43.xml" Id="R3b1881fe925444e7" /><Relationship Type="http://schemas.openxmlformats.org/officeDocument/2006/relationships/slide" Target="/ppt/slides/slide44.xml" Id="R5006d9ca2b96497d" /><Relationship Type="http://schemas.openxmlformats.org/officeDocument/2006/relationships/slide" Target="/ppt/slides/slide45.xml" Id="R23bf32f100924b32" /><Relationship Type="http://schemas.openxmlformats.org/officeDocument/2006/relationships/slide" Target="/ppt/slides/slide46.xml" Id="Rf502edec866944d3" /><Relationship Type="http://schemas.openxmlformats.org/officeDocument/2006/relationships/slide" Target="/ppt/slides/slide47.xml" Id="R830e8880af804f8d" /><Relationship Type="http://schemas.openxmlformats.org/officeDocument/2006/relationships/slide" Target="/ppt/slides/slide48.xml" Id="R827fbd4150034e24" /><Relationship Type="http://schemas.openxmlformats.org/officeDocument/2006/relationships/slide" Target="/ppt/slides/slide49.xml" Id="R15a805618f5e4b96" /><Relationship Type="http://schemas.openxmlformats.org/officeDocument/2006/relationships/slide" Target="/ppt/slides/slide50.xml" Id="R6a6faf26081b45cb" /><Relationship Type="http://schemas.openxmlformats.org/officeDocument/2006/relationships/slide" Target="/ppt/slides/slide51.xml" Id="R324810ccece74cc4" /><Relationship Type="http://schemas.openxmlformats.org/officeDocument/2006/relationships/slide" Target="/ppt/slides/slide52.xml" Id="R5a7cb077e9674874" /><Relationship Type="http://schemas.openxmlformats.org/officeDocument/2006/relationships/slide" Target="/ppt/slides/slide53.xml" Id="R731e7499c72c4731" /><Relationship Type="http://schemas.openxmlformats.org/officeDocument/2006/relationships/slide" Target="/ppt/slides/slide54.xml" Id="R8d5bd31e494f40c7" /><Relationship Type="http://schemas.openxmlformats.org/officeDocument/2006/relationships/slide" Target="/ppt/slides/slide55.xml" Id="Rb23554d2e26f48d3" /><Relationship Type="http://schemas.openxmlformats.org/officeDocument/2006/relationships/slide" Target="/ppt/slides/slide56.xml" Id="Rbe46688aa8cb453d" /><Relationship Type="http://schemas.openxmlformats.org/officeDocument/2006/relationships/slide" Target="/ppt/slides/slide57.xml" Id="Rb25ac610c5664120" /><Relationship Type="http://schemas.openxmlformats.org/officeDocument/2006/relationships/slide" Target="/ppt/slides/slide58.xml" Id="R19db6ec87bb9490b" /><Relationship Type="http://schemas.openxmlformats.org/officeDocument/2006/relationships/slide" Target="/ppt/slides/slide59.xml" Id="R7b11896fd29e4d20" /><Relationship Type="http://schemas.openxmlformats.org/officeDocument/2006/relationships/slide" Target="/ppt/slides/slide60.xml" Id="R9e326e8cb36842d2" /><Relationship Type="http://schemas.openxmlformats.org/officeDocument/2006/relationships/slide" Target="/ppt/slides/slide61.xml" Id="R7aabe92c181641bb" /><Relationship Type="http://schemas.openxmlformats.org/officeDocument/2006/relationships/slide" Target="/ppt/slides/slide62.xml" Id="Rffca4a055b3a41e3" /><Relationship Type="http://schemas.openxmlformats.org/officeDocument/2006/relationships/slide" Target="/ppt/slides/slide63.xml" Id="R8af2665841e043b0" /><Relationship Type="http://schemas.openxmlformats.org/officeDocument/2006/relationships/slide" Target="/ppt/slides/slide64.xml" Id="R65218d6d579f43b9" /><Relationship Type="http://schemas.openxmlformats.org/officeDocument/2006/relationships/slide" Target="/ppt/slides/slide65.xml" Id="Rcf6f7080012d44cb" /><Relationship Type="http://schemas.openxmlformats.org/officeDocument/2006/relationships/slide" Target="/ppt/slides/slide66.xml" Id="R562ed458ae034f5b" /><Relationship Type="http://schemas.openxmlformats.org/officeDocument/2006/relationships/slide" Target="/ppt/slides/slide67.xml" Id="Re4b0e201a8ff4680" /><Relationship Type="http://schemas.openxmlformats.org/officeDocument/2006/relationships/slide" Target="/ppt/slides/slide68.xml" Id="R519e04207eeb4e12" /><Relationship Type="http://schemas.openxmlformats.org/officeDocument/2006/relationships/slide" Target="/ppt/slides/slide69.xml" Id="Rf8e55b6b9bc24e5b" /><Relationship Type="http://schemas.openxmlformats.org/officeDocument/2006/relationships/slide" Target="/ppt/slides/slide70.xml" Id="R17756d3489224874" /><Relationship Type="http://schemas.openxmlformats.org/officeDocument/2006/relationships/slide" Target="/ppt/slides/slide71.xml" Id="Rf85202374a4449bd" /><Relationship Type="http://schemas.openxmlformats.org/officeDocument/2006/relationships/slide" Target="/ppt/slides/slide72.xml" Id="R952c68f3df934ed5" /><Relationship Type="http://schemas.openxmlformats.org/officeDocument/2006/relationships/slide" Target="/ppt/slides/slide73.xml" Id="R5ca7b898c12646bb" /><Relationship Type="http://schemas.openxmlformats.org/officeDocument/2006/relationships/slide" Target="/ppt/slides/slide74.xml" Id="Rdc9e1816a3ef458f" /><Relationship Type="http://schemas.openxmlformats.org/officeDocument/2006/relationships/slide" Target="/ppt/slides/slide75.xml" Id="R986cad3b80c9453e" /><Relationship Type="http://schemas.openxmlformats.org/officeDocument/2006/relationships/slide" Target="/ppt/slides/slide76.xml" Id="R60294112bc0b464e" /><Relationship Type="http://schemas.openxmlformats.org/officeDocument/2006/relationships/slide" Target="/ppt/slides/slide77.xml" Id="Rb8d6ecc954264ea5" /><Relationship Type="http://schemas.openxmlformats.org/officeDocument/2006/relationships/slide" Target="/ppt/slides/slide78.xml" Id="R5095d91953e948b2" /><Relationship Type="http://schemas.openxmlformats.org/officeDocument/2006/relationships/slide" Target="/ppt/slides/slide79.xml" Id="R0bce594326b94a76" /><Relationship Type="http://schemas.openxmlformats.org/officeDocument/2006/relationships/slide" Target="/ppt/slides/slide80.xml" Id="R7c16bf4f9ff449d8" /><Relationship Type="http://schemas.openxmlformats.org/officeDocument/2006/relationships/slide" Target="/ppt/slides/slide81.xml" Id="Rf3d8021f79d7474e" /><Relationship Type="http://schemas.openxmlformats.org/officeDocument/2006/relationships/slide" Target="/ppt/slides/slide82.xml" Id="R3b8ddfde50a64ced" /><Relationship Type="http://schemas.openxmlformats.org/officeDocument/2006/relationships/slide" Target="/ppt/slides/slide83.xml" Id="Rf1c8bdeaa5d54416" /><Relationship Type="http://schemas.openxmlformats.org/officeDocument/2006/relationships/slide" Target="/ppt/slides/slide84.xml" Id="Rbf9c25e700954645" /><Relationship Type="http://schemas.openxmlformats.org/officeDocument/2006/relationships/slide" Target="/ppt/slides/slide85.xml" Id="R16bd72b7b52841cd" /><Relationship Type="http://schemas.openxmlformats.org/officeDocument/2006/relationships/slide" Target="/ppt/slides/slide86.xml" Id="R8c09c655541247b7" /><Relationship Type="http://schemas.openxmlformats.org/officeDocument/2006/relationships/slide" Target="/ppt/slides/slide87.xml" Id="R416d31c176b9488e" /><Relationship Type="http://schemas.openxmlformats.org/officeDocument/2006/relationships/slide" Target="/ppt/slides/slide88.xml" Id="Ra40ac14b98134ae7" /><Relationship Type="http://schemas.openxmlformats.org/officeDocument/2006/relationships/slide" Target="/ppt/slides/slide89.xml" Id="R0dc6d42ffa364abe" /><Relationship Type="http://schemas.openxmlformats.org/officeDocument/2006/relationships/slide" Target="/ppt/slides/slide90.xml" Id="R3cede13ec9a84496" /><Relationship Type="http://schemas.openxmlformats.org/officeDocument/2006/relationships/slide" Target="/ppt/slides/slide91.xml" Id="Re3e9fbfd497d4576" /><Relationship Type="http://schemas.openxmlformats.org/officeDocument/2006/relationships/slide" Target="/ppt/slides/slide92.xml" Id="R91c0eb65506c45a5" /><Relationship Type="http://schemas.openxmlformats.org/officeDocument/2006/relationships/slide" Target="/ppt/slides/slide93.xml" Id="R36a4013140a54afb" /><Relationship Type="http://schemas.openxmlformats.org/officeDocument/2006/relationships/slide" Target="/ppt/slides/slide94.xml" Id="R581e2da6dd8a4b25" /><Relationship Type="http://schemas.openxmlformats.org/officeDocument/2006/relationships/slide" Target="/ppt/slides/slide95.xml" Id="Reedded376cda48fb" /><Relationship Type="http://schemas.openxmlformats.org/officeDocument/2006/relationships/slide" Target="/ppt/slides/slide96.xml" Id="Re052673de2464ac3" /><Relationship Type="http://schemas.openxmlformats.org/officeDocument/2006/relationships/slide" Target="/ppt/slides/slide97.xml" Id="R173e67d0d0da4e42" /><Relationship Type="http://schemas.openxmlformats.org/officeDocument/2006/relationships/slide" Target="/ppt/slides/slide98.xml" Id="Rb09028769aed42cb" /><Relationship Type="http://schemas.openxmlformats.org/officeDocument/2006/relationships/slide" Target="/ppt/slides/slide99.xml" Id="R311c432b500445e7" /><Relationship Type="http://schemas.openxmlformats.org/officeDocument/2006/relationships/slide" Target="/ppt/slides/slide100.xml" Id="R0eb7423f2d504bdc" /><Relationship Type="http://schemas.openxmlformats.org/officeDocument/2006/relationships/slide" Target="/ppt/slides/slide101.xml" Id="Rea8d8106c9f74523" /><Relationship Type="http://schemas.openxmlformats.org/officeDocument/2006/relationships/slide" Target="/ppt/slides/slide102.xml" Id="R8130b68cb31b420c" /><Relationship Type="http://schemas.openxmlformats.org/officeDocument/2006/relationships/slide" Target="/ppt/slides/slide103.xml" Id="Ra8733c90a3f24d75" /><Relationship Type="http://schemas.openxmlformats.org/officeDocument/2006/relationships/slide" Target="/ppt/slides/slide104.xml" Id="R6b5e997ad59446dc" /><Relationship Type="http://schemas.openxmlformats.org/officeDocument/2006/relationships/slide" Target="/ppt/slides/slide105.xml" Id="Rd9ba1fb4bdca4415" /><Relationship Type="http://schemas.openxmlformats.org/officeDocument/2006/relationships/slide" Target="/ppt/slides/slide106.xml" Id="R34a5c9f6af834eef" /><Relationship Type="http://schemas.openxmlformats.org/officeDocument/2006/relationships/slide" Target="/ppt/slides/slide107.xml" Id="Rab126661038f4c9d" /><Relationship Type="http://schemas.openxmlformats.org/officeDocument/2006/relationships/slide" Target="/ppt/slides/slide108.xml" Id="R52665a31bbb94d3a" /><Relationship Type="http://schemas.openxmlformats.org/officeDocument/2006/relationships/slide" Target="/ppt/slides/slide109.xml" Id="R7606b98019024281" /><Relationship Type="http://schemas.openxmlformats.org/officeDocument/2006/relationships/slide" Target="/ppt/slides/slide110.xml" Id="R51d28c03482349be" /><Relationship Type="http://schemas.openxmlformats.org/officeDocument/2006/relationships/slide" Target="/ppt/slides/slide111.xml" Id="R8db01e7c35c744e5" /><Relationship Type="http://schemas.openxmlformats.org/officeDocument/2006/relationships/slide" Target="/ppt/slides/slide112.xml" Id="R838f8b5839284263" /><Relationship Type="http://schemas.openxmlformats.org/officeDocument/2006/relationships/slide" Target="/ppt/slides/slide113.xml" Id="R48ffa3ce95dc413f" /><Relationship Type="http://schemas.openxmlformats.org/officeDocument/2006/relationships/slide" Target="/ppt/slides/slide114.xml" Id="R679f1b782c204ca3" /><Relationship Type="http://schemas.openxmlformats.org/officeDocument/2006/relationships/slide" Target="/ppt/slides/slide115.xml" Id="R2b2fea75eb484d5f" /><Relationship Type="http://schemas.openxmlformats.org/officeDocument/2006/relationships/slide" Target="/ppt/slides/slide116.xml" Id="R821717678c094ed6" /><Relationship Type="http://schemas.openxmlformats.org/officeDocument/2006/relationships/slide" Target="/ppt/slides/slide117.xml" Id="R9e69e5acfaff4aa1" /><Relationship Type="http://schemas.openxmlformats.org/officeDocument/2006/relationships/slide" Target="/ppt/slides/slide118.xml" Id="Rec125b3a69174ced" /><Relationship Type="http://schemas.openxmlformats.org/officeDocument/2006/relationships/slide" Target="/ppt/slides/slide119.xml" Id="R71e84a23bfad4171" /><Relationship Type="http://schemas.openxmlformats.org/officeDocument/2006/relationships/slide" Target="/ppt/slides/slide120.xml" Id="R1828f3d19c354237" /><Relationship Type="http://schemas.openxmlformats.org/officeDocument/2006/relationships/slide" Target="/ppt/slides/slide121.xml" Id="R6a97ce5e0124494e" /><Relationship Type="http://schemas.openxmlformats.org/officeDocument/2006/relationships/slide" Target="/ppt/slides/slide122.xml" Id="R4c544673952c4b08" /><Relationship Type="http://schemas.openxmlformats.org/officeDocument/2006/relationships/slide" Target="/ppt/slides/slide123.xml" Id="Rb05a83e4a1bf45be" /><Relationship Type="http://schemas.openxmlformats.org/officeDocument/2006/relationships/slide" Target="/ppt/slides/slide124.xml" Id="R1e4807e803124233" /><Relationship Type="http://schemas.openxmlformats.org/officeDocument/2006/relationships/slide" Target="/ppt/slides/slide125.xml" Id="R6458f7dc50194184" /><Relationship Type="http://schemas.openxmlformats.org/officeDocument/2006/relationships/slide" Target="/ppt/slides/slide126.xml" Id="Rf96dae4fba254125" /><Relationship Type="http://schemas.openxmlformats.org/officeDocument/2006/relationships/slide" Target="/ppt/slides/slide127.xml" Id="R112009b1ec4145bc" /><Relationship Type="http://schemas.openxmlformats.org/officeDocument/2006/relationships/slide" Target="/ppt/slides/slide128.xml" Id="Ra6ff78b952804708" /><Relationship Type="http://schemas.openxmlformats.org/officeDocument/2006/relationships/slide" Target="/ppt/slides/slide129.xml" Id="R30e90f14237948ee" /><Relationship Type="http://schemas.openxmlformats.org/officeDocument/2006/relationships/slide" Target="/ppt/slides/slide130.xml" Id="R8728c10d4f8a4f20" /><Relationship Type="http://schemas.openxmlformats.org/officeDocument/2006/relationships/slide" Target="/ppt/slides/slide131.xml" Id="R60c4cb27aba547ce" /><Relationship Type="http://schemas.openxmlformats.org/officeDocument/2006/relationships/slide" Target="/ppt/slides/slide132.xml" Id="R1e5e7ddf2137432a" /><Relationship Type="http://schemas.openxmlformats.org/officeDocument/2006/relationships/slide" Target="/ppt/slides/slide133.xml" Id="R25bad27207bc4c81" /><Relationship Type="http://schemas.openxmlformats.org/officeDocument/2006/relationships/slide" Target="/ppt/slides/slide134.xml" Id="Rea9875b31c9a4a29" /><Relationship Type="http://schemas.openxmlformats.org/officeDocument/2006/relationships/slide" Target="/ppt/slides/slide135.xml" Id="Rc7ce7fab14924fa4" /><Relationship Type="http://schemas.openxmlformats.org/officeDocument/2006/relationships/slide" Target="/ppt/slides/slide136.xml" Id="R4c9d98d01029409b" /><Relationship Type="http://schemas.openxmlformats.org/officeDocument/2006/relationships/slide" Target="/ppt/slides/slide137.xml" Id="Re24b18f2ef8b405a" /><Relationship Type="http://schemas.openxmlformats.org/officeDocument/2006/relationships/slide" Target="/ppt/slides/slide138.xml" Id="Rac1a4c1160d04c00" /><Relationship Type="http://schemas.openxmlformats.org/officeDocument/2006/relationships/slide" Target="/ppt/slides/slide139.xml" Id="R4df4739c85be4884" /><Relationship Type="http://schemas.openxmlformats.org/officeDocument/2006/relationships/slide" Target="/ppt/slides/slide140.xml" Id="R889eae1e1e614569" /><Relationship Type="http://schemas.openxmlformats.org/officeDocument/2006/relationships/slide" Target="/ppt/slides/slide141.xml" Id="R17b83daacbe347fa" /><Relationship Type="http://schemas.openxmlformats.org/officeDocument/2006/relationships/slide" Target="/ppt/slides/slide142.xml" Id="Rdf9293992f274bdb" /><Relationship Type="http://schemas.openxmlformats.org/officeDocument/2006/relationships/slide" Target="/ppt/slides/slide143.xml" Id="R864be66b278843f9" /><Relationship Type="http://schemas.openxmlformats.org/officeDocument/2006/relationships/slide" Target="/ppt/slides/slide144.xml" Id="R076e0a0b6399459e" /><Relationship Type="http://schemas.openxmlformats.org/officeDocument/2006/relationships/slide" Target="/ppt/slides/slide145.xml" Id="R7b7d77ea72c943ee" /><Relationship Type="http://schemas.openxmlformats.org/officeDocument/2006/relationships/slide" Target="/ppt/slides/slide146.xml" Id="R4284c86868ef4bd5" /><Relationship Type="http://schemas.openxmlformats.org/officeDocument/2006/relationships/slide" Target="/ppt/slides/slide147.xml" Id="R20f77f23ec954b69" /><Relationship Type="http://schemas.openxmlformats.org/officeDocument/2006/relationships/slide" Target="/ppt/slides/slide148.xml" Id="R4c6f9c1d0f8b4e58" /><Relationship Type="http://schemas.openxmlformats.org/officeDocument/2006/relationships/slide" Target="/ppt/slides/slide149.xml" Id="Rd0fe63a78d0d453f" /><Relationship Type="http://schemas.openxmlformats.org/officeDocument/2006/relationships/slide" Target="/ppt/slides/slide150.xml" Id="R90927ec706fa482f" /><Relationship Type="http://schemas.openxmlformats.org/officeDocument/2006/relationships/slide" Target="/ppt/slides/slide151.xml" Id="Ra24a33d4701f4f4e" /><Relationship Type="http://schemas.openxmlformats.org/officeDocument/2006/relationships/slide" Target="/ppt/slides/slide152.xml" Id="Rbe1764516d9e49f8" /><Relationship Type="http://schemas.openxmlformats.org/officeDocument/2006/relationships/slide" Target="/ppt/slides/slide153.xml" Id="R5e3842b5375c4459" /><Relationship Type="http://schemas.openxmlformats.org/officeDocument/2006/relationships/slide" Target="/ppt/slides/slide154.xml" Id="R89436f9d9ed9464b" /><Relationship Type="http://schemas.openxmlformats.org/officeDocument/2006/relationships/slide" Target="/ppt/slides/slide155.xml" Id="R1cdaedaad5884e16" /><Relationship Type="http://schemas.openxmlformats.org/officeDocument/2006/relationships/slide" Target="/ppt/slides/slide156.xml" Id="Re8b7a8362cd94a49" /><Relationship Type="http://schemas.openxmlformats.org/officeDocument/2006/relationships/slide" Target="/ppt/slides/slide157.xml" Id="Ra476ec21eb49410d" /><Relationship Type="http://schemas.openxmlformats.org/officeDocument/2006/relationships/slide" Target="/ppt/slides/slide158.xml" Id="Rc0d078cdcf694ff4" /><Relationship Type="http://schemas.openxmlformats.org/officeDocument/2006/relationships/slide" Target="/ppt/slides/slide159.xml" Id="R0ac1852be1e54432" /><Relationship Type="http://schemas.openxmlformats.org/officeDocument/2006/relationships/slide" Target="/ppt/slides/slide160.xml" Id="R5b528ffa97eb4dd1" /><Relationship Type="http://schemas.openxmlformats.org/officeDocument/2006/relationships/slide" Target="/ppt/slides/slide161.xml" Id="R8570c6ce28c74178" /><Relationship Type="http://schemas.openxmlformats.org/officeDocument/2006/relationships/slide" Target="/ppt/slides/slide162.xml" Id="R4bd2088ec6104930" /><Relationship Type="http://schemas.openxmlformats.org/officeDocument/2006/relationships/slide" Target="/ppt/slides/slide163.xml" Id="R068a911a5b8e48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3b34a8c55c40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df0941727749d4" /><Relationship Type="http://schemas.openxmlformats.org/officeDocument/2006/relationships/notesMaster" Target="/ppt/notesMasters/notesMaster1.xml" Id="R10f4a2c2b6a24c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3ef9e85313445e" /><Relationship Type="http://schemas.openxmlformats.org/officeDocument/2006/relationships/notesMaster" Target="/ppt/notesMasters/notesMaster1.xml" Id="R09152bb418d848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4cc31e89f4447e" /><Relationship Type="http://schemas.openxmlformats.org/officeDocument/2006/relationships/notesMaster" Target="/ppt/notesMasters/notesMaster1.xml" Id="R25b89219c16746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9fc93bcf8d43ef" /><Relationship Type="http://schemas.openxmlformats.org/officeDocument/2006/relationships/notesMaster" Target="/ppt/notesMasters/notesMaster1.xml" Id="Rf75d6e830d5c41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60f5baf5e54b76" /><Relationship Type="http://schemas.openxmlformats.org/officeDocument/2006/relationships/notesMaster" Target="/ppt/notesMasters/notesMaster1.xml" Id="Rd354fefbf73f4b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ba6e00d251048d8" /><Relationship Type="http://schemas.openxmlformats.org/officeDocument/2006/relationships/notesMaster" Target="/ppt/notesMasters/notesMaster1.xml" Id="R8b0004d404c044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f61ac907694b40" /><Relationship Type="http://schemas.openxmlformats.org/officeDocument/2006/relationships/notesMaster" Target="/ppt/notesMasters/notesMaster1.xml" Id="R9720527ba05541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11997652f1334be1" /><Relationship Type="http://schemas.openxmlformats.org/officeDocument/2006/relationships/notesMaster" Target="/ppt/notesMasters/notesMaster1.xml" Id="R778c1fe8eda54e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ad83eef4a66440b8" /><Relationship Type="http://schemas.openxmlformats.org/officeDocument/2006/relationships/notesMaster" Target="/ppt/notesMasters/notesMaster1.xml" Id="Ra8b89e6cf9954ff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9a51a27b0fe4db9" /><Relationship Type="http://schemas.openxmlformats.org/officeDocument/2006/relationships/notesMaster" Target="/ppt/notesMasters/notesMaster1.xml" Id="Re1ce25c36fd24f3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8ec83e998614eca" /><Relationship Type="http://schemas.openxmlformats.org/officeDocument/2006/relationships/notesMaster" Target="/ppt/notesMasters/notesMaster1.xml" Id="R8a0ed8908ee8448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3a692f7532e41ac" /><Relationship Type="http://schemas.openxmlformats.org/officeDocument/2006/relationships/notesMaster" Target="/ppt/notesMasters/notesMaster1.xml" Id="Rac62e9504485475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ec3b3c67d4840e5" /><Relationship Type="http://schemas.openxmlformats.org/officeDocument/2006/relationships/notesMaster" Target="/ppt/notesMasters/notesMaster1.xml" Id="Rd5bbc36e797f403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007cc4310d34f66" /><Relationship Type="http://schemas.openxmlformats.org/officeDocument/2006/relationships/notesMaster" Target="/ppt/notesMasters/notesMaster1.xml" Id="Rc41a691cf743470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2f4032a43374911" /><Relationship Type="http://schemas.openxmlformats.org/officeDocument/2006/relationships/notesMaster" Target="/ppt/notesMasters/notesMaster1.xml" Id="R2943d8f9598e4d0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e2290b82cf0417f" /><Relationship Type="http://schemas.openxmlformats.org/officeDocument/2006/relationships/notesMaster" Target="/ppt/notesMasters/notesMaster1.xml" Id="Re68529c1ae7b41c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21f5b80444749d1" /><Relationship Type="http://schemas.openxmlformats.org/officeDocument/2006/relationships/notesMaster" Target="/ppt/notesMasters/notesMaster1.xml" Id="R469e9b76c86443e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2778d6db396436f" /><Relationship Type="http://schemas.openxmlformats.org/officeDocument/2006/relationships/notesMaster" Target="/ppt/notesMasters/notesMaster1.xml" Id="R12d7f6f7368b4b1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443c5d7e0f84082" /><Relationship Type="http://schemas.openxmlformats.org/officeDocument/2006/relationships/notesMaster" Target="/ppt/notesMasters/notesMaster1.xml" Id="Rc45a98aa5446489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d7f916dfefb4e7a" /><Relationship Type="http://schemas.openxmlformats.org/officeDocument/2006/relationships/notesMaster" Target="/ppt/notesMasters/notesMaster1.xml" Id="R392b15a5aaca4b8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bbc893325f24737" /><Relationship Type="http://schemas.openxmlformats.org/officeDocument/2006/relationships/notesMaster" Target="/ppt/notesMasters/notesMaster1.xml" Id="R7f943d2c0ae1421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3961398dbee4ae7" /><Relationship Type="http://schemas.openxmlformats.org/officeDocument/2006/relationships/notesMaster" Target="/ppt/notesMasters/notesMaster1.xml" Id="R93dda78a59cc420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ff901ccfc874345" /><Relationship Type="http://schemas.openxmlformats.org/officeDocument/2006/relationships/notesMaster" Target="/ppt/notesMasters/notesMaster1.xml" Id="Rc6b83228914d449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7e8effea76844e1" /><Relationship Type="http://schemas.openxmlformats.org/officeDocument/2006/relationships/notesMaster" Target="/ppt/notesMasters/notesMaster1.xml" Id="R896519c410af448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d43b12a86f24a2b" /><Relationship Type="http://schemas.openxmlformats.org/officeDocument/2006/relationships/notesMaster" Target="/ppt/notesMasters/notesMaster1.xml" Id="Rafc3a7e299cc47a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090366f69eb4b7c" /><Relationship Type="http://schemas.openxmlformats.org/officeDocument/2006/relationships/notesMaster" Target="/ppt/notesMasters/notesMaster1.xml" Id="R5c3423ade6a4481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77bf3ef11d5482c" /><Relationship Type="http://schemas.openxmlformats.org/officeDocument/2006/relationships/notesMaster" Target="/ppt/notesMasters/notesMaster1.xml" Id="Recc1b87c3fa0446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6bf11d59f1f46d0" /><Relationship Type="http://schemas.openxmlformats.org/officeDocument/2006/relationships/notesMaster" Target="/ppt/notesMasters/notesMaster1.xml" Id="R7b9cfb5075cb42f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ec9f641f5824d77" /><Relationship Type="http://schemas.openxmlformats.org/officeDocument/2006/relationships/notesMaster" Target="/ppt/notesMasters/notesMaster1.xml" Id="Rd14f4d4d05aa474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e14abc11d314456" /><Relationship Type="http://schemas.openxmlformats.org/officeDocument/2006/relationships/notesMaster" Target="/ppt/notesMasters/notesMaster1.xml" Id="R7112bb04ec50428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c837afca1e64f56" /><Relationship Type="http://schemas.openxmlformats.org/officeDocument/2006/relationships/notesMaster" Target="/ppt/notesMasters/notesMaster1.xml" Id="R37dd5342c7384ee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9619e2e1000455b" /><Relationship Type="http://schemas.openxmlformats.org/officeDocument/2006/relationships/notesMaster" Target="/ppt/notesMasters/notesMaster1.xml" Id="R30c0cb2ad66b4bf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c468edd4f2241f3" /><Relationship Type="http://schemas.openxmlformats.org/officeDocument/2006/relationships/notesMaster" Target="/ppt/notesMasters/notesMaster1.xml" Id="R5207238332c4485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df2af62eb894660" /><Relationship Type="http://schemas.openxmlformats.org/officeDocument/2006/relationships/notesMaster" Target="/ppt/notesMasters/notesMaster1.xml" Id="Rfd20a46c5fd243d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dc97f8b22214761" /><Relationship Type="http://schemas.openxmlformats.org/officeDocument/2006/relationships/notesMaster" Target="/ppt/notesMasters/notesMaster1.xml" Id="R6df5ea3ee19a485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2288013262b4b49" /><Relationship Type="http://schemas.openxmlformats.org/officeDocument/2006/relationships/notesMaster" Target="/ppt/notesMasters/notesMaster1.xml" Id="Rc575a1c7c2dd4f6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cda2a05774a4575" /><Relationship Type="http://schemas.openxmlformats.org/officeDocument/2006/relationships/notesMaster" Target="/ppt/notesMasters/notesMaster1.xml" Id="R5d0b4684d2b9422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b5cbe6aac074029" /><Relationship Type="http://schemas.openxmlformats.org/officeDocument/2006/relationships/notesMaster" Target="/ppt/notesMasters/notesMaster1.xml" Id="R7031371a3605439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3e908e4428745ab" /><Relationship Type="http://schemas.openxmlformats.org/officeDocument/2006/relationships/notesMaster" Target="/ppt/notesMasters/notesMaster1.xml" Id="Rce62db6a48c6428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b37b6e13aa44983" /><Relationship Type="http://schemas.openxmlformats.org/officeDocument/2006/relationships/notesMaster" Target="/ppt/notesMasters/notesMaster1.xml" Id="Rffc6694a675c4f0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f04211b0bde4a49" /><Relationship Type="http://schemas.openxmlformats.org/officeDocument/2006/relationships/notesMaster" Target="/ppt/notesMasters/notesMaster1.xml" Id="R9a59eee80638460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4784f70831b740d6" /><Relationship Type="http://schemas.openxmlformats.org/officeDocument/2006/relationships/notesMaster" Target="/ppt/notesMasters/notesMaster1.xml" Id="Rc12a17abb66d4e7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0b9f119f5044a93" /><Relationship Type="http://schemas.openxmlformats.org/officeDocument/2006/relationships/notesMaster" Target="/ppt/notesMasters/notesMaster1.xml" Id="Rebecd9d2a99a41b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1f4e45006b647de" /><Relationship Type="http://schemas.openxmlformats.org/officeDocument/2006/relationships/notesMaster" Target="/ppt/notesMasters/notesMaster1.xml" Id="R9476092303da4f8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7dd45a03018143ff" /><Relationship Type="http://schemas.openxmlformats.org/officeDocument/2006/relationships/notesMaster" Target="/ppt/notesMasters/notesMaster1.xml" Id="R03c979b464614ffe"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e75e0458ec954031" /><Relationship Type="http://schemas.openxmlformats.org/officeDocument/2006/relationships/notesMaster" Target="/ppt/notesMasters/notesMaster1.xml" Id="R62a4e7af23d74b86"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d0f2deeaf384351" /><Relationship Type="http://schemas.openxmlformats.org/officeDocument/2006/relationships/notesMaster" Target="/ppt/notesMasters/notesMaster1.xml" Id="R673d9159ee2d447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658c1c983de45e6" /><Relationship Type="http://schemas.openxmlformats.org/officeDocument/2006/relationships/notesMaster" Target="/ppt/notesMasters/notesMaster1.xml" Id="R4a82f0b81e8241e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d714022e01bd41ef" /><Relationship Type="http://schemas.openxmlformats.org/officeDocument/2006/relationships/notesMaster" Target="/ppt/notesMasters/notesMaster1.xml" Id="Rc99efd43576348c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39e1648a7bd2432a" /><Relationship Type="http://schemas.openxmlformats.org/officeDocument/2006/relationships/notesMaster" Target="/ppt/notesMasters/notesMaster1.xml" Id="Rbcb2469ca9524077"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4070ac103e3d47bb" /><Relationship Type="http://schemas.openxmlformats.org/officeDocument/2006/relationships/notesMaster" Target="/ppt/notesMasters/notesMaster1.xml" Id="R0fda0db62fd644b0"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36adbd1639b54035" /><Relationship Type="http://schemas.openxmlformats.org/officeDocument/2006/relationships/notesMaster" Target="/ppt/notesMasters/notesMaster1.xml" Id="R7b878a7ecde844a5"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b9ed18173d7648c1" /><Relationship Type="http://schemas.openxmlformats.org/officeDocument/2006/relationships/notesMaster" Target="/ppt/notesMasters/notesMaster1.xml" Id="R1fdf4b3bab6d433f"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d9ccb5517ae54d31" /><Relationship Type="http://schemas.openxmlformats.org/officeDocument/2006/relationships/notesMaster" Target="/ppt/notesMasters/notesMaster1.xml" Id="R05b9c57e2ef94913"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ae7dfe936b8e474d" /><Relationship Type="http://schemas.openxmlformats.org/officeDocument/2006/relationships/notesMaster" Target="/ppt/notesMasters/notesMaster1.xml" Id="Re15099267b1445d7"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44819eb80e704dfc" /><Relationship Type="http://schemas.openxmlformats.org/officeDocument/2006/relationships/notesMaster" Target="/ppt/notesMasters/notesMaster1.xml" Id="R525a8a11475047aa"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bf13940e283c4449" /><Relationship Type="http://schemas.openxmlformats.org/officeDocument/2006/relationships/notesMaster" Target="/ppt/notesMasters/notesMaster1.xml" Id="R3ee82eb49f6a46ad"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506596a8b41a40ec" /><Relationship Type="http://schemas.openxmlformats.org/officeDocument/2006/relationships/notesMaster" Target="/ppt/notesMasters/notesMaster1.xml" Id="R33b67e5990df4f1d"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6eee79c000004948" /><Relationship Type="http://schemas.openxmlformats.org/officeDocument/2006/relationships/notesMaster" Target="/ppt/notesMasters/notesMaster1.xml" Id="R5877e53ce1784919"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4ebf192f1b5c438d" /><Relationship Type="http://schemas.openxmlformats.org/officeDocument/2006/relationships/notesMaster" Target="/ppt/notesMasters/notesMaster1.xml" Id="Rc914e6c876f84dcd"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4dd898a4040943ec" /><Relationship Type="http://schemas.openxmlformats.org/officeDocument/2006/relationships/notesMaster" Target="/ppt/notesMasters/notesMaster1.xml" Id="Rf67320eda30949ba"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b0204fae75b74933" /><Relationship Type="http://schemas.openxmlformats.org/officeDocument/2006/relationships/notesMaster" Target="/ppt/notesMasters/notesMaster1.xml" Id="R51829d67bd2640ab"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73419d514a7d4579" /><Relationship Type="http://schemas.openxmlformats.org/officeDocument/2006/relationships/notesMaster" Target="/ppt/notesMasters/notesMaster1.xml" Id="R93467457e58d4f10"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25e0d55e8b3d4f95" /><Relationship Type="http://schemas.openxmlformats.org/officeDocument/2006/relationships/notesMaster" Target="/ppt/notesMasters/notesMaster1.xml" Id="R74c344f014f348ef"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b733a036049742d7" /><Relationship Type="http://schemas.openxmlformats.org/officeDocument/2006/relationships/notesMaster" Target="/ppt/notesMasters/notesMaster1.xml" Id="Rd26e68fcf7b142c7"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917c7c1e829d41c5" /><Relationship Type="http://schemas.openxmlformats.org/officeDocument/2006/relationships/notesMaster" Target="/ppt/notesMasters/notesMaster1.xml" Id="Rbd2cabdcbfd24dad"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4217a7468da14cc6" /><Relationship Type="http://schemas.openxmlformats.org/officeDocument/2006/relationships/notesMaster" Target="/ppt/notesMasters/notesMaster1.xml" Id="R9ee812bc9fec49b8"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00f4f7e9d8ee4496" /><Relationship Type="http://schemas.openxmlformats.org/officeDocument/2006/relationships/notesMaster" Target="/ppt/notesMasters/notesMaster1.xml" Id="Rf5e2ac7659084819"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01207360f6b64d85" /><Relationship Type="http://schemas.openxmlformats.org/officeDocument/2006/relationships/notesMaster" Target="/ppt/notesMasters/notesMaster1.xml" Id="Ra9224ba56dfe427e"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1f562a0747874085" /><Relationship Type="http://schemas.openxmlformats.org/officeDocument/2006/relationships/notesMaster" Target="/ppt/notesMasters/notesMaster1.xml" Id="Rfc97f0a0245645ad"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2e1e15a74938446e" /><Relationship Type="http://schemas.openxmlformats.org/officeDocument/2006/relationships/notesMaster" Target="/ppt/notesMasters/notesMaster1.xml" Id="Rc5b38581400d459e"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beab3f9541eb41c6" /><Relationship Type="http://schemas.openxmlformats.org/officeDocument/2006/relationships/notesMaster" Target="/ppt/notesMasters/notesMaster1.xml" Id="R631a2f9a3b364508"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c702510d330b4e34" /><Relationship Type="http://schemas.openxmlformats.org/officeDocument/2006/relationships/notesMaster" Target="/ppt/notesMasters/notesMaster1.xml" Id="R154ea773f8a249e5"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101b1910fc3f4683" /><Relationship Type="http://schemas.openxmlformats.org/officeDocument/2006/relationships/notesMaster" Target="/ppt/notesMasters/notesMaster1.xml" Id="R14626d5bdcfa4e13"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4e413a187ea4492c" /><Relationship Type="http://schemas.openxmlformats.org/officeDocument/2006/relationships/notesMaster" Target="/ppt/notesMasters/notesMaster1.xml" Id="Rfa0ce8e0c3484209"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eee20185ca454492" /><Relationship Type="http://schemas.openxmlformats.org/officeDocument/2006/relationships/notesMaster" Target="/ppt/notesMasters/notesMaster1.xml" Id="Rd67f9773b7984702"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86f5110cf11f449b" /><Relationship Type="http://schemas.openxmlformats.org/officeDocument/2006/relationships/notesMaster" Target="/ppt/notesMasters/notesMaster1.xml" Id="R2374fe4bf9884d51"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bb08be4d1e844cb9" /><Relationship Type="http://schemas.openxmlformats.org/officeDocument/2006/relationships/notesMaster" Target="/ppt/notesMasters/notesMaster1.xml" Id="R692430bcb099457e"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d5c52412c65b4a9e" /><Relationship Type="http://schemas.openxmlformats.org/officeDocument/2006/relationships/notesMaster" Target="/ppt/notesMasters/notesMaster1.xml" Id="Rbadf9ab77796466f"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870d0b05daa44da7" /><Relationship Type="http://schemas.openxmlformats.org/officeDocument/2006/relationships/notesMaster" Target="/ppt/notesMasters/notesMaster1.xml" Id="R8d375a2f46ca42dd"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2541a9884b704b88" /><Relationship Type="http://schemas.openxmlformats.org/officeDocument/2006/relationships/notesMaster" Target="/ppt/notesMasters/notesMaster1.xml" Id="Ra3e8cef87d0944d1"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b98b8cf3c0364167" /><Relationship Type="http://schemas.openxmlformats.org/officeDocument/2006/relationships/notesMaster" Target="/ppt/notesMasters/notesMaster1.xml" Id="R082a82da936d479f"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491df1e9529e4998" /><Relationship Type="http://schemas.openxmlformats.org/officeDocument/2006/relationships/notesMaster" Target="/ppt/notesMasters/notesMaster1.xml" Id="R3ff041dd6c9e4b71"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30ff5bd11de34627" /><Relationship Type="http://schemas.openxmlformats.org/officeDocument/2006/relationships/notesMaster" Target="/ppt/notesMasters/notesMaster1.xml" Id="Rc7ec69f7c9a647d3"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30cb1efba58247b0" /><Relationship Type="http://schemas.openxmlformats.org/officeDocument/2006/relationships/notesMaster" Target="/ppt/notesMasters/notesMaster1.xml" Id="R9d403e76a98b4db8"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2607bbf251ee4dc1" /><Relationship Type="http://schemas.openxmlformats.org/officeDocument/2006/relationships/notesMaster" Target="/ppt/notesMasters/notesMaster1.xml" Id="Rd0d0e40cab2f44fb"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795be0a312394861" /><Relationship Type="http://schemas.openxmlformats.org/officeDocument/2006/relationships/notesMaster" Target="/ppt/notesMasters/notesMaster1.xml" Id="R8fdc242f768f499d"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6da0fd0998a94442" /><Relationship Type="http://schemas.openxmlformats.org/officeDocument/2006/relationships/notesMaster" Target="/ppt/notesMasters/notesMaster1.xml" Id="Rfbea0cfd10004090"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e2e674cdc41742c2" /><Relationship Type="http://schemas.openxmlformats.org/officeDocument/2006/relationships/notesMaster" Target="/ppt/notesMasters/notesMaster1.xml" Id="R4789435987fc4a07"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2f02d2e360934eba" /><Relationship Type="http://schemas.openxmlformats.org/officeDocument/2006/relationships/notesMaster" Target="/ppt/notesMasters/notesMaster1.xml" Id="R133db55f052142ca"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95c1b90983eb4ea6" /><Relationship Type="http://schemas.openxmlformats.org/officeDocument/2006/relationships/notesMaster" Target="/ppt/notesMasters/notesMaster1.xml" Id="R1b16593148bf4744"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417c0eaa49e545fa" /><Relationship Type="http://schemas.openxmlformats.org/officeDocument/2006/relationships/notesMaster" Target="/ppt/notesMasters/notesMaster1.xml" Id="R972798d18c1e44ba"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42e566e6c0834668" /><Relationship Type="http://schemas.openxmlformats.org/officeDocument/2006/relationships/notesMaster" Target="/ppt/notesMasters/notesMaster1.xml" Id="R7b15100b6ae34872"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ebe92f352e104243" /><Relationship Type="http://schemas.openxmlformats.org/officeDocument/2006/relationships/notesMaster" Target="/ppt/notesMasters/notesMaster1.xml" Id="Rf52a66c092484a25"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6de5a849ec954cf7" /><Relationship Type="http://schemas.openxmlformats.org/officeDocument/2006/relationships/notesMaster" Target="/ppt/notesMasters/notesMaster1.xml" Id="R9b90c94da767409d"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d548f88b2705434c" /><Relationship Type="http://schemas.openxmlformats.org/officeDocument/2006/relationships/notesMaster" Target="/ppt/notesMasters/notesMaster1.xml" Id="Rcd950c5815a44527"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e729c760b7fd427b" /><Relationship Type="http://schemas.openxmlformats.org/officeDocument/2006/relationships/notesMaster" Target="/ppt/notesMasters/notesMaster1.xml" Id="Ra96533ebe9474c61"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97f54ae8d5c94bfb" /><Relationship Type="http://schemas.openxmlformats.org/officeDocument/2006/relationships/notesMaster" Target="/ppt/notesMasters/notesMaster1.xml" Id="Ra4c2af74c56446b5"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7055f914324a4652" /><Relationship Type="http://schemas.openxmlformats.org/officeDocument/2006/relationships/notesMaster" Target="/ppt/notesMasters/notesMaster1.xml" Id="Ra2050fe040da4850"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cb56ebc5ab764aea" /><Relationship Type="http://schemas.openxmlformats.org/officeDocument/2006/relationships/notesMaster" Target="/ppt/notesMasters/notesMaster1.xml" Id="Rd167a649f9874713"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798b5b77c10741f5" /><Relationship Type="http://schemas.openxmlformats.org/officeDocument/2006/relationships/notesMaster" Target="/ppt/notesMasters/notesMaster1.xml" Id="R17c0b1bba53a4b1a"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3dcb42bff4964c09" /><Relationship Type="http://schemas.openxmlformats.org/officeDocument/2006/relationships/notesMaster" Target="/ppt/notesMasters/notesMaster1.xml" Id="R164fbce6c6564796"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04a7022c1e384770" /><Relationship Type="http://schemas.openxmlformats.org/officeDocument/2006/relationships/notesMaster" Target="/ppt/notesMasters/notesMaster1.xml" Id="Rbff64740735f4d10"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768e518e71474675" /><Relationship Type="http://schemas.openxmlformats.org/officeDocument/2006/relationships/notesMaster" Target="/ppt/notesMasters/notesMaster1.xml" Id="R23df599378c0476d"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90b9d3b0bc334ba3" /><Relationship Type="http://schemas.openxmlformats.org/officeDocument/2006/relationships/notesMaster" Target="/ppt/notesMasters/notesMaster1.xml" Id="R1b8cee9cfc164640"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4e05753414274652" /><Relationship Type="http://schemas.openxmlformats.org/officeDocument/2006/relationships/notesMaster" Target="/ppt/notesMasters/notesMaster1.xml" Id="R0daec21b138646e6"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b4dfa8fc9ee947e2" /><Relationship Type="http://schemas.openxmlformats.org/officeDocument/2006/relationships/notesMaster" Target="/ppt/notesMasters/notesMaster1.xml" Id="R7f2ff5c66e744fec"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d0f492e0eee647a8" /><Relationship Type="http://schemas.openxmlformats.org/officeDocument/2006/relationships/notesMaster" Target="/ppt/notesMasters/notesMaster1.xml" Id="Rcd4344b4f8044bef"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ea32a48c62514d4c" /><Relationship Type="http://schemas.openxmlformats.org/officeDocument/2006/relationships/notesMaster" Target="/ppt/notesMasters/notesMaster1.xml" Id="R24cef1ff81dc46b8"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3690861999594159" /><Relationship Type="http://schemas.openxmlformats.org/officeDocument/2006/relationships/notesMaster" Target="/ppt/notesMasters/notesMaster1.xml" Id="Rc403ddbc736a4f57"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6ddd49fdb94f4d88" /><Relationship Type="http://schemas.openxmlformats.org/officeDocument/2006/relationships/notesMaster" Target="/ppt/notesMasters/notesMaster1.xml" Id="R456188b9fdc64152"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9635b5e5d0784486" /><Relationship Type="http://schemas.openxmlformats.org/officeDocument/2006/relationships/notesMaster" Target="/ppt/notesMasters/notesMaster1.xml" Id="R7c57467a774a4b25"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5fd7054089ff4764" /><Relationship Type="http://schemas.openxmlformats.org/officeDocument/2006/relationships/notesMaster" Target="/ppt/notesMasters/notesMaster1.xml" Id="R70f758da27a24d5b"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cffabb69c2724048" /><Relationship Type="http://schemas.openxmlformats.org/officeDocument/2006/relationships/notesMaster" Target="/ppt/notesMasters/notesMaster1.xml" Id="R7f18d963064c49bd"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939ef2f67028460c" /><Relationship Type="http://schemas.openxmlformats.org/officeDocument/2006/relationships/notesMaster" Target="/ppt/notesMasters/notesMaster1.xml" Id="R3c94c388e4854a8e"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1a3d842014834490" /><Relationship Type="http://schemas.openxmlformats.org/officeDocument/2006/relationships/notesMaster" Target="/ppt/notesMasters/notesMaster1.xml" Id="Reacd9335d55f4a65"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ae0d8d7dfb7c4178" /><Relationship Type="http://schemas.openxmlformats.org/officeDocument/2006/relationships/notesMaster" Target="/ppt/notesMasters/notesMaster1.xml" Id="Rab39f94b668d4dd1"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54cbf316299b4cd2" /><Relationship Type="http://schemas.openxmlformats.org/officeDocument/2006/relationships/notesMaster" Target="/ppt/notesMasters/notesMaster1.xml" Id="Rcceb93ee8e324a56"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cef8a7b5ad5a40cb" /><Relationship Type="http://schemas.openxmlformats.org/officeDocument/2006/relationships/notesMaster" Target="/ppt/notesMasters/notesMaster1.xml" Id="R75f1d9688f2f4684"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eed0cc5af2104f11" /><Relationship Type="http://schemas.openxmlformats.org/officeDocument/2006/relationships/notesMaster" Target="/ppt/notesMasters/notesMaster1.xml" Id="R86f58509d14b48ea"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d02550116ce5420e" /><Relationship Type="http://schemas.openxmlformats.org/officeDocument/2006/relationships/notesMaster" Target="/ppt/notesMasters/notesMaster1.xml" Id="R4dc4604df6044a86"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79a8616320f64c6b" /><Relationship Type="http://schemas.openxmlformats.org/officeDocument/2006/relationships/notesMaster" Target="/ppt/notesMasters/notesMaster1.xml" Id="R9a0251e469e54170"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211bfad7e373415a" /><Relationship Type="http://schemas.openxmlformats.org/officeDocument/2006/relationships/notesMaster" Target="/ppt/notesMasters/notesMaster1.xml" Id="Rd483b5f28a1741e8"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860c45861e594b16" /><Relationship Type="http://schemas.openxmlformats.org/officeDocument/2006/relationships/notesMaster" Target="/ppt/notesMasters/notesMaster1.xml" Id="Re10c699bdaa64d46"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373d1fab1fc94520" /><Relationship Type="http://schemas.openxmlformats.org/officeDocument/2006/relationships/notesMaster" Target="/ppt/notesMasters/notesMaster1.xml" Id="R7d38249999a74fe7"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054b1f4bd4274855" /><Relationship Type="http://schemas.openxmlformats.org/officeDocument/2006/relationships/notesMaster" Target="/ppt/notesMasters/notesMaster1.xml" Id="Rc772b4a7d7874e51"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ec636012195b4079" /><Relationship Type="http://schemas.openxmlformats.org/officeDocument/2006/relationships/notesMaster" Target="/ppt/notesMasters/notesMaster1.xml" Id="R4bea76ee2476442b"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3a030a5133b44e29" /><Relationship Type="http://schemas.openxmlformats.org/officeDocument/2006/relationships/notesMaster" Target="/ppt/notesMasters/notesMaster1.xml" Id="Rc8043335e0ca4fe7"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3a29c95435894578" /><Relationship Type="http://schemas.openxmlformats.org/officeDocument/2006/relationships/notesMaster" Target="/ppt/notesMasters/notesMaster1.xml" Id="R7ab2034b00244bcc"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e11ed6258aa84f62" /><Relationship Type="http://schemas.openxmlformats.org/officeDocument/2006/relationships/notesMaster" Target="/ppt/notesMasters/notesMaster1.xml" Id="R2df859af7c3c4909"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7f40e80a71b24111" /><Relationship Type="http://schemas.openxmlformats.org/officeDocument/2006/relationships/notesMaster" Target="/ppt/notesMasters/notesMaster1.xml" Id="R7e3f5b7ab43f4cc6"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71a26b76a41b483b" /><Relationship Type="http://schemas.openxmlformats.org/officeDocument/2006/relationships/notesMaster" Target="/ppt/notesMasters/notesMaster1.xml" Id="R0fa81668e3b14f4d"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4c03dc91570d4316" /><Relationship Type="http://schemas.openxmlformats.org/officeDocument/2006/relationships/notesMaster" Target="/ppt/notesMasters/notesMaster1.xml" Id="Rf6c6d0c3699b4e8f"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80194ae64b704ae4" /><Relationship Type="http://schemas.openxmlformats.org/officeDocument/2006/relationships/notesMaster" Target="/ppt/notesMasters/notesMaster1.xml" Id="R04e7465b441c447b"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a632e26134104ff1" /><Relationship Type="http://schemas.openxmlformats.org/officeDocument/2006/relationships/notesMaster" Target="/ppt/notesMasters/notesMaster1.xml" Id="Raae3892ad5154b81" /></Relationships>
</file>

<file path=ppt/notesSlides/_rels/notesSlide136.xml.rels>&#65279;<?xml version="1.0" encoding="utf-8"?><Relationships xmlns="http://schemas.openxmlformats.org/package/2006/relationships"><Relationship Type="http://schemas.openxmlformats.org/officeDocument/2006/relationships/slide" Target="/ppt/slides/slide136.xml" Id="R204fe73a476e49c9" /><Relationship Type="http://schemas.openxmlformats.org/officeDocument/2006/relationships/notesMaster" Target="/ppt/notesMasters/notesMaster1.xml" Id="R4219e343e6d5461d" /></Relationships>
</file>

<file path=ppt/notesSlides/_rels/notesSlide137.xml.rels>&#65279;<?xml version="1.0" encoding="utf-8"?><Relationships xmlns="http://schemas.openxmlformats.org/package/2006/relationships"><Relationship Type="http://schemas.openxmlformats.org/officeDocument/2006/relationships/slide" Target="/ppt/slides/slide137.xml" Id="Ra83d873da62d4850" /><Relationship Type="http://schemas.openxmlformats.org/officeDocument/2006/relationships/notesMaster" Target="/ppt/notesMasters/notesMaster1.xml" Id="R5661c61681514951" /></Relationships>
</file>

<file path=ppt/notesSlides/_rels/notesSlide138.xml.rels>&#65279;<?xml version="1.0" encoding="utf-8"?><Relationships xmlns="http://schemas.openxmlformats.org/package/2006/relationships"><Relationship Type="http://schemas.openxmlformats.org/officeDocument/2006/relationships/slide" Target="/ppt/slides/slide138.xml" Id="Rd99772e25ec74da5" /><Relationship Type="http://schemas.openxmlformats.org/officeDocument/2006/relationships/notesMaster" Target="/ppt/notesMasters/notesMaster1.xml" Id="R42466f624cb0464a" /></Relationships>
</file>

<file path=ppt/notesSlides/_rels/notesSlide139.xml.rels>&#65279;<?xml version="1.0" encoding="utf-8"?><Relationships xmlns="http://schemas.openxmlformats.org/package/2006/relationships"><Relationship Type="http://schemas.openxmlformats.org/officeDocument/2006/relationships/slide" Target="/ppt/slides/slide139.xml" Id="Ra1b0d1c9cc654392" /><Relationship Type="http://schemas.openxmlformats.org/officeDocument/2006/relationships/notesMaster" Target="/ppt/notesMasters/notesMaster1.xml" Id="Rc62a6ba4df84419f" /></Relationships>
</file>

<file path=ppt/notesSlides/_rels/notesSlide140.xml.rels>&#65279;<?xml version="1.0" encoding="utf-8"?><Relationships xmlns="http://schemas.openxmlformats.org/package/2006/relationships"><Relationship Type="http://schemas.openxmlformats.org/officeDocument/2006/relationships/slide" Target="/ppt/slides/slide140.xml" Id="R9865290f72a944e7" /><Relationship Type="http://schemas.openxmlformats.org/officeDocument/2006/relationships/notesMaster" Target="/ppt/notesMasters/notesMaster1.xml" Id="R6322413098c54efb" /></Relationships>
</file>

<file path=ppt/notesSlides/_rels/notesSlide141.xml.rels>&#65279;<?xml version="1.0" encoding="utf-8"?><Relationships xmlns="http://schemas.openxmlformats.org/package/2006/relationships"><Relationship Type="http://schemas.openxmlformats.org/officeDocument/2006/relationships/slide" Target="/ppt/slides/slide141.xml" Id="R7679569d8c504b99" /><Relationship Type="http://schemas.openxmlformats.org/officeDocument/2006/relationships/notesMaster" Target="/ppt/notesMasters/notesMaster1.xml" Id="Rd2cd40bf3c11423e" /></Relationships>
</file>

<file path=ppt/notesSlides/_rels/notesSlide142.xml.rels>&#65279;<?xml version="1.0" encoding="utf-8"?><Relationships xmlns="http://schemas.openxmlformats.org/package/2006/relationships"><Relationship Type="http://schemas.openxmlformats.org/officeDocument/2006/relationships/slide" Target="/ppt/slides/slide142.xml" Id="R391e4e53afd04eda" /><Relationship Type="http://schemas.openxmlformats.org/officeDocument/2006/relationships/notesMaster" Target="/ppt/notesMasters/notesMaster1.xml" Id="Raaa62fdf228a4f24" /></Relationships>
</file>

<file path=ppt/notesSlides/_rels/notesSlide143.xml.rels>&#65279;<?xml version="1.0" encoding="utf-8"?><Relationships xmlns="http://schemas.openxmlformats.org/package/2006/relationships"><Relationship Type="http://schemas.openxmlformats.org/officeDocument/2006/relationships/slide" Target="/ppt/slides/slide143.xml" Id="R5953ae2c5f514679" /><Relationship Type="http://schemas.openxmlformats.org/officeDocument/2006/relationships/notesMaster" Target="/ppt/notesMasters/notesMaster1.xml" Id="R4ec6203d39cb4cbe" /></Relationships>
</file>

<file path=ppt/notesSlides/_rels/notesSlide144.xml.rels>&#65279;<?xml version="1.0" encoding="utf-8"?><Relationships xmlns="http://schemas.openxmlformats.org/package/2006/relationships"><Relationship Type="http://schemas.openxmlformats.org/officeDocument/2006/relationships/slide" Target="/ppt/slides/slide144.xml" Id="Rd3145892adbb4de1" /><Relationship Type="http://schemas.openxmlformats.org/officeDocument/2006/relationships/notesMaster" Target="/ppt/notesMasters/notesMaster1.xml" Id="R8807e7ef5fac4276" /></Relationships>
</file>

<file path=ppt/notesSlides/_rels/notesSlide145.xml.rels>&#65279;<?xml version="1.0" encoding="utf-8"?><Relationships xmlns="http://schemas.openxmlformats.org/package/2006/relationships"><Relationship Type="http://schemas.openxmlformats.org/officeDocument/2006/relationships/slide" Target="/ppt/slides/slide145.xml" Id="R36c9cdd730b642e1" /><Relationship Type="http://schemas.openxmlformats.org/officeDocument/2006/relationships/notesMaster" Target="/ppt/notesMasters/notesMaster1.xml" Id="Re33c085d1eeb40b8" /></Relationships>
</file>

<file path=ppt/notesSlides/_rels/notesSlide146.xml.rels>&#65279;<?xml version="1.0" encoding="utf-8"?><Relationships xmlns="http://schemas.openxmlformats.org/package/2006/relationships"><Relationship Type="http://schemas.openxmlformats.org/officeDocument/2006/relationships/slide" Target="/ppt/slides/slide146.xml" Id="R3895994559104c84" /><Relationship Type="http://schemas.openxmlformats.org/officeDocument/2006/relationships/notesMaster" Target="/ppt/notesMasters/notesMaster1.xml" Id="R7027e7474c1e4389" /></Relationships>
</file>

<file path=ppt/notesSlides/_rels/notesSlide147.xml.rels>&#65279;<?xml version="1.0" encoding="utf-8"?><Relationships xmlns="http://schemas.openxmlformats.org/package/2006/relationships"><Relationship Type="http://schemas.openxmlformats.org/officeDocument/2006/relationships/slide" Target="/ppt/slides/slide147.xml" Id="Rc51db3ff9d4646f2" /><Relationship Type="http://schemas.openxmlformats.org/officeDocument/2006/relationships/notesMaster" Target="/ppt/notesMasters/notesMaster1.xml" Id="R05e28f090a754f10" /></Relationships>
</file>

<file path=ppt/notesSlides/_rels/notesSlide148.xml.rels>&#65279;<?xml version="1.0" encoding="utf-8"?><Relationships xmlns="http://schemas.openxmlformats.org/package/2006/relationships"><Relationship Type="http://schemas.openxmlformats.org/officeDocument/2006/relationships/slide" Target="/ppt/slides/slide148.xml" Id="R899382688f904cea" /><Relationship Type="http://schemas.openxmlformats.org/officeDocument/2006/relationships/notesMaster" Target="/ppt/notesMasters/notesMaster1.xml" Id="R6de82ac26bc74aa7" /></Relationships>
</file>

<file path=ppt/notesSlides/_rels/notesSlide149.xml.rels>&#65279;<?xml version="1.0" encoding="utf-8"?><Relationships xmlns="http://schemas.openxmlformats.org/package/2006/relationships"><Relationship Type="http://schemas.openxmlformats.org/officeDocument/2006/relationships/slide" Target="/ppt/slides/slide149.xml" Id="R8d9abd3ea86e426f" /><Relationship Type="http://schemas.openxmlformats.org/officeDocument/2006/relationships/notesMaster" Target="/ppt/notesMasters/notesMaster1.xml" Id="Rd6d6d0a0fc4143f0" /></Relationships>
</file>

<file path=ppt/notesSlides/_rels/notesSlide150.xml.rels>&#65279;<?xml version="1.0" encoding="utf-8"?><Relationships xmlns="http://schemas.openxmlformats.org/package/2006/relationships"><Relationship Type="http://schemas.openxmlformats.org/officeDocument/2006/relationships/slide" Target="/ppt/slides/slide150.xml" Id="Rfc01cc834839434d" /><Relationship Type="http://schemas.openxmlformats.org/officeDocument/2006/relationships/notesMaster" Target="/ppt/notesMasters/notesMaster1.xml" Id="R50425a33ff0d40c9" /></Relationships>
</file>

<file path=ppt/notesSlides/_rels/notesSlide151.xml.rels>&#65279;<?xml version="1.0" encoding="utf-8"?><Relationships xmlns="http://schemas.openxmlformats.org/package/2006/relationships"><Relationship Type="http://schemas.openxmlformats.org/officeDocument/2006/relationships/slide" Target="/ppt/slides/slide151.xml" Id="Rc3be56320705429c" /><Relationship Type="http://schemas.openxmlformats.org/officeDocument/2006/relationships/notesMaster" Target="/ppt/notesMasters/notesMaster1.xml" Id="Ra9ef58ae3a43469a" /></Relationships>
</file>

<file path=ppt/notesSlides/_rels/notesSlide152.xml.rels>&#65279;<?xml version="1.0" encoding="utf-8"?><Relationships xmlns="http://schemas.openxmlformats.org/package/2006/relationships"><Relationship Type="http://schemas.openxmlformats.org/officeDocument/2006/relationships/slide" Target="/ppt/slides/slide152.xml" Id="R354e99c190f446fc" /><Relationship Type="http://schemas.openxmlformats.org/officeDocument/2006/relationships/notesMaster" Target="/ppt/notesMasters/notesMaster1.xml" Id="R7cf6c96c66174439" /></Relationships>
</file>

<file path=ppt/notesSlides/_rels/notesSlide153.xml.rels>&#65279;<?xml version="1.0" encoding="utf-8"?><Relationships xmlns="http://schemas.openxmlformats.org/package/2006/relationships"><Relationship Type="http://schemas.openxmlformats.org/officeDocument/2006/relationships/slide" Target="/ppt/slides/slide153.xml" Id="Ra0b67a23df454474" /><Relationship Type="http://schemas.openxmlformats.org/officeDocument/2006/relationships/notesMaster" Target="/ppt/notesMasters/notesMaster1.xml" Id="R27fc7b7da7794bac" /></Relationships>
</file>

<file path=ppt/notesSlides/_rels/notesSlide154.xml.rels>&#65279;<?xml version="1.0" encoding="utf-8"?><Relationships xmlns="http://schemas.openxmlformats.org/package/2006/relationships"><Relationship Type="http://schemas.openxmlformats.org/officeDocument/2006/relationships/slide" Target="/ppt/slides/slide154.xml" Id="Rb9157597828649c9" /><Relationship Type="http://schemas.openxmlformats.org/officeDocument/2006/relationships/notesMaster" Target="/ppt/notesMasters/notesMaster1.xml" Id="Rfcd0ddb1915548c7" /></Relationships>
</file>

<file path=ppt/notesSlides/_rels/notesSlide155.xml.rels>&#65279;<?xml version="1.0" encoding="utf-8"?><Relationships xmlns="http://schemas.openxmlformats.org/package/2006/relationships"><Relationship Type="http://schemas.openxmlformats.org/officeDocument/2006/relationships/slide" Target="/ppt/slides/slide155.xml" Id="Rdad4bb648c0f48e7" /><Relationship Type="http://schemas.openxmlformats.org/officeDocument/2006/relationships/notesMaster" Target="/ppt/notesMasters/notesMaster1.xml" Id="Rc0db1210b3c54036" /></Relationships>
</file>

<file path=ppt/notesSlides/_rels/notesSlide156.xml.rels>&#65279;<?xml version="1.0" encoding="utf-8"?><Relationships xmlns="http://schemas.openxmlformats.org/package/2006/relationships"><Relationship Type="http://schemas.openxmlformats.org/officeDocument/2006/relationships/slide" Target="/ppt/slides/slide156.xml" Id="R5848b8d8a8734852" /><Relationship Type="http://schemas.openxmlformats.org/officeDocument/2006/relationships/notesMaster" Target="/ppt/notesMasters/notesMaster1.xml" Id="R397543c40f5f47b7" /></Relationships>
</file>

<file path=ppt/notesSlides/_rels/notesSlide157.xml.rels>&#65279;<?xml version="1.0" encoding="utf-8"?><Relationships xmlns="http://schemas.openxmlformats.org/package/2006/relationships"><Relationship Type="http://schemas.openxmlformats.org/officeDocument/2006/relationships/slide" Target="/ppt/slides/slide157.xml" Id="Rd0732027cb9f4c70" /><Relationship Type="http://schemas.openxmlformats.org/officeDocument/2006/relationships/notesMaster" Target="/ppt/notesMasters/notesMaster1.xml" Id="Rd2581961ba8548a9" /></Relationships>
</file>

<file path=ppt/notesSlides/_rels/notesSlide158.xml.rels>&#65279;<?xml version="1.0" encoding="utf-8"?><Relationships xmlns="http://schemas.openxmlformats.org/package/2006/relationships"><Relationship Type="http://schemas.openxmlformats.org/officeDocument/2006/relationships/slide" Target="/ppt/slides/slide158.xml" Id="Rd303357b315f487b" /><Relationship Type="http://schemas.openxmlformats.org/officeDocument/2006/relationships/notesMaster" Target="/ppt/notesMasters/notesMaster1.xml" Id="Rf75ada220946471a" /></Relationships>
</file>

<file path=ppt/notesSlides/_rels/notesSlide159.xml.rels>&#65279;<?xml version="1.0" encoding="utf-8"?><Relationships xmlns="http://schemas.openxmlformats.org/package/2006/relationships"><Relationship Type="http://schemas.openxmlformats.org/officeDocument/2006/relationships/slide" Target="/ppt/slides/slide159.xml" Id="R87d9589105dd4d73" /><Relationship Type="http://schemas.openxmlformats.org/officeDocument/2006/relationships/notesMaster" Target="/ppt/notesMasters/notesMaster1.xml" Id="Re742eae9e7b94272" /></Relationships>
</file>

<file path=ppt/notesSlides/_rels/notesSlide160.xml.rels>&#65279;<?xml version="1.0" encoding="utf-8"?><Relationships xmlns="http://schemas.openxmlformats.org/package/2006/relationships"><Relationship Type="http://schemas.openxmlformats.org/officeDocument/2006/relationships/slide" Target="/ppt/slides/slide160.xml" Id="Ra6addaa334d34dd3" /><Relationship Type="http://schemas.openxmlformats.org/officeDocument/2006/relationships/notesMaster" Target="/ppt/notesMasters/notesMaster1.xml" Id="Rf36a995bc9bb40d7" /></Relationships>
</file>

<file path=ppt/notesSlides/_rels/notesSlide161.xml.rels>&#65279;<?xml version="1.0" encoding="utf-8"?><Relationships xmlns="http://schemas.openxmlformats.org/package/2006/relationships"><Relationship Type="http://schemas.openxmlformats.org/officeDocument/2006/relationships/slide" Target="/ppt/slides/slide161.xml" Id="R12f70b78aa864660" /><Relationship Type="http://schemas.openxmlformats.org/officeDocument/2006/relationships/notesMaster" Target="/ppt/notesMasters/notesMaster1.xml" Id="Rf5bc23578b8246be" /></Relationships>
</file>

<file path=ppt/notesSlides/_rels/notesSlide162.xml.rels>&#65279;<?xml version="1.0" encoding="utf-8"?><Relationships xmlns="http://schemas.openxmlformats.org/package/2006/relationships"><Relationship Type="http://schemas.openxmlformats.org/officeDocument/2006/relationships/slide" Target="/ppt/slides/slide162.xml" Id="Rb2cc01bc5ba8461d" /><Relationship Type="http://schemas.openxmlformats.org/officeDocument/2006/relationships/notesMaster" Target="/ppt/notesMasters/notesMaster1.xml" Id="R0c52b880554c464b" /></Relationships>
</file>

<file path=ppt/notesSlides/_rels/notesSlide163.xml.rels>&#65279;<?xml version="1.0" encoding="utf-8"?><Relationships xmlns="http://schemas.openxmlformats.org/package/2006/relationships"><Relationship Type="http://schemas.openxmlformats.org/officeDocument/2006/relationships/slide" Target="/ppt/slides/slide163.xml" Id="R8a070a1a82404e37" /><Relationship Type="http://schemas.openxmlformats.org/officeDocument/2006/relationships/notesMaster" Target="/ppt/notesMasters/notesMaster1.xml" Id="Rac9704c86fae41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the room and introduce yourself and the SDAIA Academy AI Engineer track. Frame the course in one sentence: a production-engineering module that turns model builders into software engineers. Open with the discussion prompt from the instructor guide: "What is the most expensive line of code you have seen in a notebook that reached production?" — take 2-3 stories, then promise that by Day 3 everyone owns a working, tested, containerised, pipeline-validated AI service. Timing: keep this under 5 minutes; the kickoff lecture proper starts in Hour 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table quickly — 2 minutes. Highlight three cells: prerequisites (SDA-FND-103 required, SDA-AIE-111 recommended — ask who has taken it), assessment (labs 60%, capstone 40%), and stackability (this course is required for the MLOps and production modules; SDA-AIE-211 will consume the exact artefact built here). Name the toolchain now — FastAPI, Docker, pytest, GitHub Actions, pydantic — so nobody is surprised by the environment check that follows.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Emphasise that no lab is throwaway: the fraud-detection service participants refactor in Hour 3 today is the same one they demo on Day 3. The golden thread is a delivery-plan rule: never introduce a throwaway example codebase — always evolve fraud-service. That is what makes the capstone achievable in Day 3 Hour 4. Ask: who has shipped a model beyond a notebook? Use the answers to calibrate pairing — strong-Python with strong-ML participants; the skill transfer is the point.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six outcomes aloud but do not linger — each one gets a full module. Point out the mapping: LO5 is Day 1 morning (M1), LO1 Day 1 afternoon (M2), LO2 and LO3 fill Day 2 (M3, M4), LO4 and LO6 land on Day 3 (M5, M6). Every LO also tags a mandatory capstone requirement, so this slide is effectively the grading scheme in prose. Invite participants to flag which LO feels furthest from their current role — that information helps you build the first pairing round.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Spend 3 minutes here. Note the theory share falling from 45% to 30% across the days — the Day 3 afternoon is deliberately lighter on theory. Each end-of-day deliverable is a capstone milestone: skeleton plus endpoint on Day 1, containerised and tested service on Day 2, green pipeline plus demo on Day 3. Warn the room now that Labs 2a and 3 are the most overrun-prone sessions; reassure them that checkpoint commits exist so nobody gets permanently stuck.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 this before any lab starts. Primary environment is local Docker Desktop (WSL2 on Windows) or Colima; fallback is GitHub Codespaces with the provided devcontainer — you verified both the week before, so state that with confidence. Explain checkpoint tags concretely: git checkout lab3-start fast-forwards a straggler in seconds. Announce the pairing rule (rotate daily, strong-Python with strong-ML) and the language policy: teach in English or Arabic, but all code, identifiers and commit messages stay in English — mixed-language logs break grep-based operations in Saudi enterprise environments.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weighting concrete: labs and practical assessments carry 60% (lab completion 30%, PA-1/PA-2 20%, quiz 10%) and the capstone 40%. Stress the evidence model early — lab credit comes from checkpoint commits and expected outputs, and capstone scoring is repo-first. State the badge condition now so nobody discovers it on Day 3: at least 70 overall AND at least 70 on the capstone AND zero academic-integrity flags (identical golden diffs across repos are checked). Two minutes, then move 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for you as much as for the room. Rubric scoring happens live during the Day 3 Hour 5 demos, so collect repository URLs at the end of Hour 4 — CI status must be verifiable before demos begin. Announce the break rhythm now: each hour is 50 minutes of instruction plus a 10-minute buffer, with the long break scheduled around Dhuhr prayer. If you are co-teaching, agree now who floats during labs; the first hour of Day 1 usually needs a floater for Docker/WSL2 issues.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Facilitate for 10 minutes. Poll individually, then let pairs choose one scenario and name the first evidence they would inspect. Do not solve yet; revisit these four failure classes across the three days.</a:t>
            </a:r>
            <a:endParaRPr/>
          </a:p>
          <a:p xmlns:a="http://schemas.openxmlformats.org/drawingml/2006/main">
            <a:r>
              <a:t>[Sources]</a:t>
            </a:r>
            <a:endParaRPr/>
          </a:p>
          <a:p xmlns:a="http://schemas.openxmlformats.org/drawingml/2006/main">
            <a:r>
              <a:t>- Internal: INSTRUCTOR_PACKAGE.md — course purpose, notebook failure modes, behavioural testing, container troubleshooting, and secret response order.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kickoff with energy. Use discussion prompt 2 from the instructor guide: "Your model is right 94% of the time. Your service is up 99.9% of the time. Which number does the customer feel — and which does this course change?" Let the room sit with it for a beat, then transition straight into Day 1 Hour 1: why AI systems fail in production. Keep total front-matter time under 20 minutes so Hour 1 keeps its interactive-lecture slot.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day with the golden thread: every module in this course evolves the SAME fraud-detection service — no throwaway examples. Today we take a deliberately awful notebook and end the day with a clean-architecture skeleton plus a working FastAPI prediction endpoint. Set expectations on rhythm: each hour is 50 minutes of instruction plus 10 minutes buffer, long break around Dhuhr. Ask the room: who has shipped a model that broke in production? Collect one or two stories now — you will reference them in Hour 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map briskly — 2 minutes. Flag the two pace risks now: Lab 2a is one of the most overrun-prone labs in the course, so publish the checkpoint commits (lab2-start, lab2-solution) before Hour 5 begins; stragglers fast-forward with git checkout. Rotate pairs today: pair a strong-Python participant with a strong-ML participant — the skill transfer is the point. Deliverable by end of day: clean-architecture project skeleton plus a working FastAPI prediction endpoint.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Spend 5 minutes establishing norms. Show the checkpoint naming pattern and the four-line escalation format. Assign the first pair roles now.</a:t>
            </a:r>
            <a:endParaRPr/>
          </a:p>
          <a:p xmlns:a="http://schemas.openxmlformats.org/drawingml/2006/main">
            <a:r>
              <a:t>[Sources]</a:t>
            </a:r>
            <a:endParaRPr/>
          </a:p>
          <a:p xmlns:a="http://schemas.openxmlformats.org/drawingml/2006/main">
            <a:r>
              <a:t>- Internal: INSTRUCTOR_PACKAGE.md — delivery guidance on pairing, checkpoint commits, pace control, and repo-first assessment.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module with its core claim: most AI failures in production trace back not to bad models but to bad structure — model code welded to I/O code, hidden global state, paths hard-coded to someone's laptop. Business hook for a Saudi audience: banking, telecom and government digital services now require AI teams to pass the same engineering review gates as any software team; clean structure cuts onboarding from weeks to days and makes security audits tractable. This module is the precondition for everything else in the course.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objectives once, then anchor them to the industry use cases from the package: a bank swapping a gradient-boosting model for a neural model without touching API code (1.4); a telecom churn service handed to a team that did not build it (1.2, 1.3); a government chatbot passing third-party security review because all external I/O lives in one layer (1.3). Objective 1.5 happens live in the architecture review round-table after Lab 1 — tell participants they will be graded by their peers, it sharpens attention.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showing this slide, open the provided notebook_v1.ipynb (deliberately awful) and let the class call out smells for 5 minutes — participants find 80% of them unprompted, which builds ownership. Only then name the four modes formally. Emphasise that a research notebook optimises for iteration speed — everything global, everything mutable — while production optimises for the opposite: explicit inputs/outputs, deterministic execution, testability. Mention the sim-import-load simulation: pytest --collect-only taking 45+ seconds because collecting tests loads a model.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Defuse the defensiveness in the room: many participants ARE the notebook authors. The message is not 'notebooks are bad' — it is that the two artefacts serve different masters. Preview the Module 1 discussion question now: when data scientists say layering slows experimentation, the hybrid answer is that notebooks keep importing the domain feature module, and only promoted code gets layered. Timing: 4-5 minutes including one round of reactions.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anchor image for the whole course — spend 6-8 minutes here. Walk one request through the layers out loud: HTTP hits the entrypoint, the service orchestrates, the adapter talks to joblib, the domain decides. Then run the 'where does this code live?' warm-up: shout snippets (threshold rule, Redis call, retry decorator) and have the room point to a layer. A business rule like 'score &gt; 0.85 means block the transaction' is domain — risk officers should be able to read it without seeing any framework code.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is the reference card for Lab 1 — participants will check every import against it. Drill the two consequences: first, the service layer depends on a Model protocol (predict(features) → Score), never on sklearn, so swapping XGBoost for PyTorch changes one adapter file. Second, frameworks live at the edge: when FastAPI 2.0 or a new framework arrives, the blast radius is the entrypoint layer only. Common misconception to pre-empt: pydantic in domain does NOT violate the rule — it is a validation library, not an I/O framework.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architectural insight that separates this course from a FastAPI tutorial — say that sentence verbatim. Return to the bank use case: the fraud team must swap a gradient-boosting model for a neural model without touching API or infrastructure code, which is only possible if the model sits behind a stable internal interface. The symmetry to sell: production wires FraudScorer(model=SklearnModel.load(...)) once at startup; tests wire FraudScorer(model=ConstantModel(0.99)) in one line. That symmetry is the payoff of the whole module.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the room 60 seconds of silent reading, then annotate: colour-map each folder to the rings from the stack slide. Why src-layout (code under src/ rather than package at repo root)? It forces tests to run against the INSTALLED package — the same import path CI and the Docker image will use. The classic bug it prevents: tests pass locally because import fraud_service resolves to the repo folder, then fail in the container where the package was installed differently. This tree also appears as a printable poster asset — point to where it hangs.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Hammer the pickle warning — it is the one genuine security landmine in this module: pickle executes arbitrary code on load, so an attacker who can write the model file owns the service. Connect the Makefile point to on-call reality: repository structure is an operational interface, and on-call engineers navigate your repo at 03:00 — predictability beats cleverness. Foreshadow M6: version everything that affects a prediction — code (git SHA), model (artefact version), features (module version), config (env snapshot). About 4 minutes here.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Live-type this file if you can — it is short enough. Key teaching point: this is the entire dependency-injection 'framework' the course uses; no container library, no decorators. The docstring names three implementations on purpose: SklearnModel ships today, ConstantModel appears in tests (Lab 1 fast-finisher task and Module 4), RemoteModel is the future model-server migration that costs one new adapter. Ask: what would break if we added a second required method? Answer: every implementation — which is why protocols stay minimal.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docstring aloud — 'note what is ABSENT' is the whole lesson. Walk the four steps of score() and map each back to a layer: to_features() is domain logic, predict_proba goes through the protocol to an adapter, decide() is a domain policy, FraudScore is a domain type. Discussion prompt: where would caching go? Answer: an adapter or a decorator around the Model implementation — never inside this class. Misconception watch: participants often want to log inside score(); push logging to the entrypoint/middleware (M2, M6).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trick: all six mistakes are deliberately planted in the Lab 1 starter repo — participants will hunt them in 20 minutes. During the lab, walk the room and check specifically who catches mistake 3 (duplicated feature logic): it is the one with real production consequences, and the fix is a shared, versioned feature module imported by both training and serving. Tell the real-world story here (5 minutes, no slides): the regional bank whose 94%-AUC fraud model shipped as a 700-line Flask file — pandas features in training, raw dict math in serving, a silent except masking the skew, fraud losses up 11% before anyone connected the dots.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Small file, big point: 'score &gt; threshold means block' is a business rule, and business rules live in domain where non-engineers can review them. Property-based testing preview for M4: for any score, exactly one decision; raising the threshold never turns an ALLOW into a BLOCK. Seed the discussion question now and revisit after the lab: should the fraud threshold live in code, config, or database? The answer changes with audit requirements, change cadence, and who owns the number. Timing: 3-4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side panel is the actual rubric for the architecture review round-table: after Lab 1, pairs exchange repos, complete the 12-item structure checklist, and each pair reports one violation found — that is objective 1.5 in action. The 'two consumers' principle is the acid test to leave them with: Lab 1 builds the batch scorer, Module 2 builds the API, and both import the same FraudScorer. If tomorrow someone needs a third consumer (a Kafka worker, say), it should cost an entrypoint file, nothing more.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Structure is measurable — that is the message of this slide. Participants fill this exact table during the lab, comparing their refactor against the notebook_v1 export baseline. The import-time number is the most visceral: run python -X importtime live, before and after, and let the 2.9 s vs 0.18 s difference land. Target after M1: import &lt; 300 ms, batch throughput ≥ 2,000 transactions per second on a lab laptop, zero layer-violation imports, longest module ≤ 200 lines. These same gates return as CI quality checks in Module 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Setup: Python 3.12, uv or pip, course repo cloned, git checkout lab1-start. Walk the room during task 3 and check who catches the duplicated feature logic — it is the mistake with real production consequences. Other troubleshooting from the package: a joblib version warning on load means the artefact was pickled with a different sklearn — pin the version from models/MODEL_CARD.md and use it to foreshadow Docker; a circular import domain ⇄ service means an entity is importing the scorer — dependencies point inward only. End of hour: two volunteer pairs walk through their layer boundaries; the class challenges one import decision each.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Pairs exchange Lab 1 repositories for 12 minutes. Require one structural finding and one strength. Debrief by comparing evidence-based comments with preference-only comments.</a:t>
            </a:r>
            <a:endParaRPr/>
          </a:p>
          <a:p xmlns:a="http://schemas.openxmlformats.org/drawingml/2006/main">
            <a:r>
              <a:t>[Sources]</a:t>
            </a:r>
            <a:endParaRPr/>
          </a:p>
          <a:p xmlns:a="http://schemas.openxmlformats.org/drawingml/2006/main">
            <a:r>
              <a:t>- Internal: INSTRUCTOR_PACKAGE.md — Module 1 dependency rule, architecture review round-table, and review checklist.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these as buffer material — the debugging exercise is the strongest: when discussing the circular-import fix, push hard on WHY the protocol fix is architecturally correct while the TYPE_CHECKING guard is a band-aid — the guard hides the dependency, the protocol removes it. For the experimentation discussion, land on the hybrid from the package: notebooks import the domain feature module, and only promoted code gets layered. Threshold question answers: audit requirements, change cadence, and who owns the number decide between code, config, and database.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Facilitate, don't lecture — 15 minutes. Put the four discussion questions to the room: (1) why must characterisation tests precede any code movement? (2) which extraction delivers the most risk reduction per engineering day? — steer to the feature module, it addresses the skew incident directly; (3) the CTO proposes a full rewrite in Go 'while we're at it' — split the room and argue both sides against the 10-week deadline; (4) how do you prove byte-exact metadata behaviour? — golden-file tests. Note the constraint most teams forget: the model artefact itself may NOT be retrained, so the refactor must preserve its exact inputs.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as a 5-minute pulse check with a show of hands before revealing each answer. On question 1, expect confusion between options b and c — remind them the service layer owns the interface and adapters implement it, so the arrow still points inward. On question 2, if anyone picks the FastAPI option, revisit the classic bug: tests pass locally because import fraud_service resolves to the repo folder, then fail in the container. Bonus verbal question from the package quiz: where may joblib be imported? Only in the model adapter.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module by connecting forward: the skeleton built in Lab 1 is not an exercise — it is the exact codebase Module 2 puts an API on, Module 3 containerises, Module 4 tests, and Module 5 automates. One sentence of review: dependencies point inward, the model is an adapter, one composition root. Then transition straight into Module 2: 'we have a scorer any consumer can import — now let's give it an HTTP face.' Take the Dhuhr break here if the schedule aligns.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it in one line: the API is the model's contract with the world. Business hook: every enterprise integration — mobile app, core-banking middleware, government service bus — talks to models through an API; a sloppy contract multiplies integration cost across every consumer, and a validation gap becomes a production incident or security finding instead of a 422. In SAMA-supervised banks and health providers, the API layer is also where auditability requirements land. Use cases to name: fraud scoring in the payment path at &lt; 150 ms p99; a triage model behind three EMR vendors; an internal LLM gateway with consistent error envelopes.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minute on the slide, then connect back to Module 1: the FastAPI app is just an entrypoint — everything the scorer needs already exists, so this module is about the boundary, not the model. Objective 2.4 is the one participants underestimate: confusing liveness and readiness causes real restart storms, and the case study regulator scenario leans on 2.2 and 2.5. Tell them the async/def trap is coming in the lab and you will NOT warn them when it happens.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Draw this once and refer back to it all afternoon — it is the swim-lane diagram of the whole module. Trace one happy-path request out loud, then trace the two error exits: a malformed body never reaches the scorer (422), and a not-yet-loaded model never throws a raw exception at the client (503 + Retry-After). Ask the room where authentication would slot in — gateway vs service is the closing discussion question, so just plant it here. Timing: 5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model endpoint is just a resource — design it like one. State the sync/async decision rule explicitly; practitioners otherwise cargo-cult one pattern for everything. The batch cap is a security point, not a style point: make the room pick a number and defend it (the contract-design workshop revisits partial-failure semantics — 200-with-item-errors vs 207). On the envelope, stress the split: code is a stable machine-readable contract, message is human prose that may change. Example: {"error": {"code": "MODEL_UNAVAILABLE", "message": "Model is loading", "trace_id": "8f3a…"}}.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Quiz the room instead of reading the table: call out a situation, they call back the code. The two rows that trip people up: 422 vs 400 (schema shape vs business semantics — a string where a number belongs is 422; a well-formed but unsupported currency is 400) and 500 discipline (the client gets a trace_id and an apology, NEVER a stack trace — the trace_id links to the full server-side log line). Lab 2 Part B proves the 500 rule with the temporary /v1/boom route. 5-6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Everything crossing the boundary is validated in AND out — say it twice. The amount_sr story is the emotional anchor of this module: three weeks of silent default scores because extra fields were ignored; with extra="forbid" it would have been a 422 on request one. Connect cell four back to Module 1's schema-leakage mistake: PredictRequest.to_domain() is the two-line conversion that keeps the HTTP contract out of the domain. The schema-probing simulation (25 malformed payloads, all 4xx, zero reach the scorer) makes the security framing concrete.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constraints line by line and ask for the attack each one blocks: negative amounts, million-riyal overflow probes, 8000-character transaction IDs. The docstring rule from the package: these models exist for consumers — keep them stable, convert to/from domain entities in routes, never leak inward. ErrorBody/ErrorEnvelope and HealthResponse follow the same pattern (code stable, message human). Full file also carries examples= on fields, which is what makes the /docs UI self-documenting in the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fail-fast vs degrade distinction deserves a full minute: if the PRIMARY artefact is missing, crashing at startup is correct — orchestrators restart and alert, whereas a running process serving 500s forever alerts nobody. Only SECONDARY enrichment sources justify degraded responses with a flag. Note the per-framework caveat from the package: sklearn predict is thread-safe for reads, but PyTorch models need .eval() plus torch.inference_mode() — document the reasoning per framework, don't assume. The Depends() spoke is the bridge to Module 4's test suite.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Module 1's composition root grown up: same lifespan pattern, now with production semantics — timing, logging, warm-up. Point at the ordering trap explicitly because it is a lab troubleshooting row: if app.state.scorer is assigned before warm-up completes, /ready returns 200 too early and the first real user pays the 900 ms. create_app() adds the /v1 router, the trace/timing middleware (X-Trace-Id, X-Response-Time-Ms) and a global exception handler that returns the error envelope with a trace_id and never a stack trace — you will see all three in Lab 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restart-storm scenario is the whole slide: a model takes 60 seconds to download, someone wired the model check into /health, the orchestrator kills the container at second 30, the download restarts from zero, repeat until paged. The model-not-ready simulation reproduces it safely: MODEL_PATH on a 60-second-delayed mount, traffic sent immediately — /ready returns 503 until the load completes, /v1/predict returns the envelope with Retry-After, and not a single 500. Also mention the two free headers on every response: X-Trace-Id and X-Model-Version — trivially cheap, invaluable in incident review, wired into logging in Module 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Spend the most time on the def/async def callout — it is the highest-value teachable moment of Day 1 and the trap is planted in the lab. Whiteboard the mechanics: async def puts the sklearn call on the event loop itself, so at concurrency 25 every request queues behind the running inference (benchmark: p99 explodes to 2.4 s, 118 RPS); plain def is dispatched to the thread pool (38 ms, 1,410 RPS). Then show /health and /ready side by side in the file: health does no I/O at all, ready checks app.state.scorer and 503s while warming up.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side panel is quiz question 5 from the mini exercises — run it as a live vote before revealing the marks. The subtlest row is tightening validation: it feels like a bug fix, but requests that used to succeed now fail, so it is breaking. The model-vs-API-version distinction is the one enterprises get wrong: give the fraud example — v3 to v4 behind /v1 is invisible if probabilities keep their meaning, but if 'review' becomes 'escalate' in the decision enum, every consumer switch statement breaks. The triage case study turns this slide into a regulator deadline.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Mirror of the Module 1 six-mistakes slide — same drill: which have we already armed ourselves against? 1 is killed by response_model, 2 by plain def, 4 by Field constraints. 3, 5 and 6 need production config and design discipline. Close with the production checklist from the package: run uvicorn with multiple workers (workers = cores for CPU-bound sklearn), set --timeout-keep-alive sensibly, put concurrency limits at the gateway, log every request with latency (Module 6), and load-test before launch — which is exactly what Lab 2 Part B does with hey.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 B runs in Day 2 Hour 1, but preview it today so pairs know where the API is heading. The /v1/boom exercise is deliberately theatrical: inject a RuntimeError behind a temporary route, curl it, and show the client receives only the error envelope with a trace_id while the stack trace lands in the server log — then delete the route. OpenAPI docs are FastAPI's free win: response_model plus Field constraints and examples generate the /docs UI with 200/422/503 documented, which the peer API review exercise grades against a checklist.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four numbers ARE the module's argument, so read them slowly. The 2.4 s vs 38 ms pair is the async trap quantified — same code, one keyword different, a 63x p99 difference. Targets participants must hit in the lab: p50 ≤ 15 ms and p99 ≤ 50 ms locally, ≥ 1,000 req/s at c=25, zero non-2xx on valid traffic, and 100% of the 40-case malformed corpus rejected with 4xx. The sim-async-block branch exists for the debugging exercise: diagnose with hey plus py-spy dump, then fix. Everything lands in BENCHMARKS.md and gets reused in Module 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Setup: Lab 1 solution via git checkout lab2-start, then pip install "fastapi[standard]" uvicorn httpx hey (hey binary provided). The async/def trap is the highest-value teachable moment of Day 1 — let one pair hit it naturally, then debug it on the projector with hey output. Other troubleshooting row worth pre-loading: a 422 on valid-looking JSON is extra="forbid" plus a typo field, and the 422 body names the field — that is the feature working, not a bug. This is one of the two most overrun-prone labs in the course: publish lab2-start and lab2-solution checkpoints before the hour begins.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as a 15-minute pair drill after Lab 2. Assign one failure per pair, then combine evidence on a shared board. The exit criterion is an explained result, not merely a green endpoint.</a:t>
            </a:r>
            <a:endParaRPr/>
          </a:p>
          <a:p xmlns:a="http://schemas.openxmlformats.org/drawingml/2006/main">
            <a:r>
              <a:t>[Sources]</a:t>
            </a:r>
            <a:endParaRPr/>
          </a:p>
          <a:p xmlns:a="http://schemas.openxmlformats.org/drawingml/2006/main">
            <a:r>
              <a:t>- Internal: INSTRUCTOR_PACKAGE.md — Module 2 simulations, malformed corpus, readiness semantics, and load-test benchmark.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code-review exercise lands three separate lessons in one PR: schema leakage undoes Module 1's separation, 200-with-success-false breaks every HTTP-aware client and monitor, and logging full request bodies is a PII violation that the health case study makes vivid. On the auth discussion, there is no single right answer — steer to the trade-off: gateways centralise policy and keep the service simple, but internal services still need defence in depth; what changes externally is threat model, rate limiting, and audit requirements. Keep 10 minutes for this before the case study.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Facilitate for 15 minutes around the three discussion questions: (1) strict-reject vs normalise-and-warn during migration — where is the line in a safety-critical system? Rejecting a triage request has patient consequences too; that tension is the point. (2) Should the error envelope include the offending value when it may contain PII? This connects directly to the code-review exercise's logging finding. (3) Design the conformance report: which five metrics per vendor? Steer toward rejection rate by error code, deprecated-endpoint traffic, schema-version adoption, latency, and malformed-timestamp counts. Note the contract-tests-shared-with-vendors move — Module 4 makes that concrete.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of hands before revealing each answer. On question 1, anyone answering 200-with-default has just recreated Module 1's silent-failure mistake at the API layer — make that link out loud. On question 2, if the room hesitates, redraw the event-loop diagram from the routes slide. Two bonus verbal questions from the package quiz if time allows: what does extra="forbid" protect against (typo'd and probing fields silently ignored), and liveness vs readiness in one sentence each. Then straight into the module takeaway.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Land the module in three sentences, then connect the layers: Module 1 made the model replaceable; Module 2 made it consumable, observable and safe to evolve. Everything on this slide is now running code in every pair's repo — schemas, lifespan, health semantics, trace headers. Remind them the contract they froze today is exactly what Module 4's integration tests will pin down and what the capstone rubric checks. One breath, then the day close.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day by naming the deliverable achieved: clean-architecture project skeleton plus a working FastAPI prediction endpoint — exactly what the delivery plan promised. Do a 3-minute retro: each pair names one thing that surprised them and one thing still fuzzy; collect the fuzzy items and open Day 2 by answering them. Logistics: remind pairs to push their repos tonight, confirm Docker Desktop or Colima installs for tomorrow morning (fallback is GitHub Codespaces with the provided devcontainer), and announce pair rotation. Day 2 theme: ship it in a box, prove it works.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Day 2 by connecting to yesterday: the fraud service exists, has clean layers and a FastAPI contract — but it still lives on laptops. Today it becomes a shippable, provable artefact. Frame the two halves of the day: the morning puts the service in a box (Docker, Module 3), the afternoon proves the box works (testing, Module 4). Hour 1 is Lab 2b — hardening carry-over from Day 1 — so participants arrive warm. Remind Apple Silicon users to check Docker Desktop is running NOW; platform issues derail Lab 3 if discovered late. 2 minutes on this slide, then straight into the hour map.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room through the rhythm: two lecture blocks (H2, H4) each followed immediately by a lab that applies exactly what was shown — nothing taught today goes unpractised. Point out the theory/lab splits: H3 and H5 are 90% hands-on, so pace the lectures tightly to protect lab time. Set the day's two checkpoints out loud: by end of H3 every pair has an image plus compose stack passing make smoke; by end of H5 every repo is green on 'pytest -m not slow'. That second one becomes the CI baseline for Day 3 — say so now, it raises the stakes. 2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 the module with the fatal sentence: 'it works on my machine'. AI services couple code to heavyweight, version-sensitive numerical stacks — containers freeze the entire runtime into an immutable, shippable artefact. Tell the room this is image building as an engineering discipline, not docker-run tourism: layer caching, multi-stage builds, size and security hygiene, compose orchestration, container-level health. Tease the money shot early: by the end of the lab their image shrinks from 2.4 GB to ~410 MB and rebuilds in 22 seconds. 2 minutes, then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objectives as promises, not bullet points: by the end of the hour each participant can write the Dockerfile from 3.2 unaided. Note that 3.3 has a hard number — warm rebuilds under 30 seconds — and 3.5 makes them measure, not trust. Ask a quick calibration question: 'who has written a Dockerfile before?' Typically half the room; pair experienced with fresh for the lab now, while you have their attention. Flag that 3.5 connects to LO6 (benchmarking) — the BENCHMARKS.md file from Day 1 gets new rows today. 2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Sell the business case before the mechanics. Ask the room: 'who has lost a day to someone else's environment?' — every hand goes up; that pain is what containers price out. Emphasise the second block: containers are the handover format to every platform team in the Kingdom, and the difference between shipping an image versus a conda env is measured in integration months. The side panel grounds it in the three recurring course personas — factory edge, fraud autoscaling, hospital reproducibility-as-compliance. Land the last block hard: size and startup are not aesthetics, they are riyal amounts on the cloud bill. 4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vocabulary cards — get these right and everything downstream is easy. Use the shipping-container metaphor sparingly and precisely: image = sealed container, container = that container on a moving truck, registry = the port. Spend the most time on the fourth cell: ask 'if prod runs :latest and someone pushes tonight, what is running tomorrow?' — silence is the answer, and that silence is the anti-pattern. Digests come back in the Jubail case study where digest-pinned deploys make rollback a seconds-level operation. 4 minutes; check understanding with a quick 'image or container?' round of examples.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economics of Docker — teach it as money, not trivia. Each Dockerfile instruction creates a layer; a layer rebuilds only if its inputs changed. Walk the three-step ordering and ask why models sit in their own layer: a retrain should not invalidate the source cache, and a code edit should not re-copy a 200 MB artefact. Then name the single most common Dockerfile mistake in the wild: COPY . . before pip install — the entire source tree becomes an input to the dependency layer, so every one-line edit triggers the 8-minute path. Lab 3 task 3 makes them prove the cache discipline with a stopwatch. 5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before/after anchor for the whole module. These are the actual Lab 3 expected outputs, so participants will reproduce every number on this slide within the hour — tell them that; it converts scepticism into anticipation. Walk left column top to bottom as a chain of cause and effect: bad ordering causes slow rebuilds, single stage causes bloat, bloat causes attack surface — every binary in the image is a CVE candidate, which scanners like trivy report per-layer. The right column is exactly what the next two code slides construct line by line. 4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two-rooms metaphor from the visual spec: a workshop full of tools, a clean showroom, and one narrow door between them — the only thing that fits through the door is /opt/venv. Ask the room what stays behind: compilers, build headers, pip caches, test files — everything the builder needed and the runtime must never carry. Preview the GPU angle briefly: same pattern with CUDA bases, but a 10× size multiplier, which is why the Jubail plant ships ONNX runtime instead of full PyTorch. Then announce the live demo: the next two slides are the real Dockerfile, and you will build it with running commentary of cache hits. 4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 this live with commentary. Point at the COPY requirements.lock line and ask: 'why not COPY . . here?' — because then every source edit becomes an input to the dependency layer and destroys the cache. Note the lock file: pip install --no-cache-dir -r requirements.lock means deterministic, reproducible images — lock files inside images. The venv at /opt/venv is deliberate: it is the one thing that will cross to the runtime stage. Run the build twice during the demo: first cold, then after touching a file in src/ — let them watch the CACHED lines scroll past on the dependency layer. 5 minutes with the demo.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callouts, four exam-grade ideas. Non-root: useradd appuser, USER before CMD — root-in-container escapes are the first finding in any security review. Healthcheck: /ready not /health, so docker ps and compose dependencies reflect actual serviceability; the 20 s start-period exists because the model needs loading time. Exec-form CMD: demo docker stop with shell-form vs exec-form and time the difference — shell form waits out the grace period and hard-kills. ENV discipline: config enters as environment variables, and secrets never enter layers — docker history exposes them forever; you will prove that in the mini exercise. 6 minutes with the stop-timing demo.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Numbers slide — let it breathe. These are Lab 3's expected outputs, so every pair will reproduce them within the hour and post naive-vs-multi-stage sizes to the shared board; that public comparison is the module's money shot. Address the common worry head-on with the fourth stat: containerisation costs essentially nothing at p99 — 41 ms vs 38 ms bare-metal. Mention the stretch row from the benchmark table: swapping in ONNX runtime gets 264 MB and 4.2 s ready — foreshadowing the Jubail case study where that swap is what fits the transfer budget. Why size matters, again: pull time on cold nodes, registry cost, attack surface. 3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Small file, outsized consequences. Without it, docker build ships the entire directory — .git history, datasets, virtualenvs — to the daemon as build context: participants see 'sending 1.2 GB' and wonder why builds crawl. Walk the .env line slowly: this is the security-critical entry, because anything in the build context can be COPY'd into a layer, and layers are forever — the sim-secret-leak exercise later proves a 'deleted' .env is still extractable with docker history and docker save. Note the !README.md negation pattern: exclude broad, re-include the one file pyproject needs. Lab 3 task 1 writes this file FIRST, before any build. 3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Consolidation slide — everything here appeared in the Dockerfile; now it becomes a review checklist they can apply to any image. Run it as rapid-fire recall: cover each cell and ask the room to supply the rule before revealing. Give PLATFORM extra weight and name it explicitly for the Apple Silicon owners in the room: an arm64 image on an x86 target dies with 'exec format error' — it is the first row of the Lab 3 troubleshooting table, and it derails labs when discovered late. Close by connecting to production practice: trivy image scanning lands in CI in Module 5, read-only root filesystems and resource limits complete the picture. 4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trade-off slide, not a right-answer slide. Teach (a) as the course default: image-per-model-version means deploy and rollback are atomic — exactly what the Jubail plant will need. Demonstrate (b) live in compose if time allows: mount the model directory and show iteration speed, then ask what was lost — the image no longer proves what it runs. Describe (c) as where the industry goes for large models: a 6 GB LLM checkpoint cannot reasonably be an image layer, so it is pulled at startup from a registry, which is exactly why the /ready endpoint from Module 2 exists — nothing may route traffic until the pull completes. The bake-vs-pull discussion returns in the mini exercises. 4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compose as two things at once: a local production simulator and a contract. Simulator: the fraud service never runs alone in production — it has a Redis feature cache and downstream consumers, and compose gives you that topology on a laptop with one command. Contract: compose.yml answers 'how do I run this thing?' permanently — a new joiner types docker compose up and has the full stack, no README archaeology. Spend the most time on healthcheck-gated depends_on: 'started' does not mean 'ready', and gating on service_healthy is the difference between a stack that races and one that converges. Profiles keep the load-test container out of the default stack. 4 minutes, then the code.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it top-down as a dependency story: fraud-api will not start its healthcheck countdown until feature-cache reports healthy — and feature-cache can only report healthy because it, too, declares a healthcheck; service_healthy gating silently requires that. Point out the DNS-by-service-name in REDIS_URL: compose networks make feature-cache resolvable by name. Mention what the slide trims: the full course file adds a 512M memory limit — which deliberately causes OOM kills under load for pairs running 2 workers, a seeded lesson in memory sizing — plus a named cache volume and the loadtest profile with hey. Run docker compose ps live and show both services (healthy). 4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Have every pair post their naive and multi-stage sizes to the shared board — the public before/after is the module's money shot. The 512M memory limit with 2 workers is a seeded trap: at least some pairs will get OOM-killed (exit 137) during the load test — celebrate it, then teach the sizing formula: memory ≈ model size × workers + overhead; fix by raising the limit or dropping to 1 worker. Watch for the classic troubleshooting quartet: missing .dockerignore (1.2 GB context), platform mismatch, unhealthy-before-model-loads (raise start-period), and PermissionError from non-root writes (log to stdout — Module 6's rule). Fast finishers: trivy image scan, triage the top CVE.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Rotate pairs through four 7-minute stations if time permits; otherwise assign one station per table. Require written diagnosis, corrective action, and verification command.</a:t>
            </a:r>
            <a:endParaRPr/>
          </a:p>
          <a:p xmlns:a="http://schemas.openxmlformats.org/drawingml/2006/main">
            <a:r>
              <a:t>[Sources]</a:t>
            </a:r>
            <a:endParaRPr/>
          </a:p>
          <a:p xmlns:a="http://schemas.openxmlformats.org/drawingml/2006/main">
            <a:r>
              <a:t>- Internal: INSTRUCTOR_PACKAGE.md — Module 3 troubleshooting workshop, secret-leak simulation, OOM exercise, and platform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Pick by remaining time and room energy. The secret-leak debug is the highest-impact ten minutes in the module: watching a 'deleted' .env come back out of docker save makes layers-are-forever visceral in a way no slide can — run it as a live demo if lab time ran short. The code review makes a good homework: five deliberate smells, each mapping to a cell on the hygiene checklist. The bake-vs-pull discussion previews the MLOps track and reuses pattern (c) reasoning. Dockerfile golf is the energy option after lunch — competitive, loud, and it forces participants to justify every layer they delete. Budget 10–15 minutes for whichever you choose.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this as a design review, 12–15 minutes. Set the stakes first: SAR 40k per false-negative batch, line-stoppage costs above that, and IT mandating atomic, reversible updates. Let pairs propose solutions before revealing the approach — most will reach multi-stage; fewer will find the ONNX swap that actually fits the 900 MB budget, which is discussion question 1: why does ONNX runtime beat 'just prune PyTorch'? Then work question 2 seriously: design the 02:00 rollback runbook a technician can execute — this tests whether they understood digests as movable-pointer targets. Close with question 4: when would pull-at-start (pattern c) become right despite the constraints? Answer: when model updates outpace maintenance windows.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both questions with a show of hands before revealing. Question 1 is the module's central mechanic — if fewer than 80% get it, replay the layer-cache flow slide before moving on, because Lab 3's cache-discipline task depends on it. Question 2 usually splits the room; after revealing, remind them of the docker stop timing demo — the ten-second hang before the hard kill is what shell form costs you, and in production that means dropped in-flight requests on every deploy. Extend orally with two more from the package quiz if time allows: /health vs /ready for the healthcheck, and where secrets correctly enter a container — runtime env or secret store, never build args or layers. 5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module by reading the board: every pair's naive-vs-multi-stage numbers are up there, and the deltas tell the story better than the slide does. Recap the discipline in one breath — layer ordering for cache economics, multi-stage for size, non-root and /ready and exec-form for production hygiene, compose as the run-contract. Then pivot to the afternoon with the gap this module leaves open: the box ships, but nothing yet proves what is inside it behaves. A container full of silently wrong predictions is still (healthy). That proof is Module 4's job. Take the break here — 2 minutes on this slide.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module's thesis sentence and let it hang: ML systems can be wrong while running perfectly. Every test discipline they know targets broken code; this module adds the second target — broken behaviour — and shows that both live comfortably in pytest. Preview the arc: pyramid for placement instinct, fixtures and doubles as the payoff of Day 1's dependency injection, then the ML-specific art of invariance, directional and golden-file tests, closing with coverage read correctly. Tell them the stakes early: behavioural suites are increasingly demanded in model-risk reviews — banking governance, health AI audits — as executable documentation of intent. 2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the mapping spread: 4.2 leans on LO5 because test doubles only work when Day 1's protocol seams exist — this module is where clean architecture pays rent. 4.3 touches LO1 because integration tests assert the API contract itself, and 4.5 touches LO6 because coverage is a measurement discipline, not a virtue score. Set the pass bar out loud: by end of Lab 4 every repo runs 'pytest -m not slow' green in under 4 seconds with 80%+ branch coverage — and that green suite becomes the CI baseline Day 3 builds on. Ask who has written a pytest fixture before; the answer calibrates how slowly to take the conftest slide. 2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Anchor this in the golden thread: recall the Module 1 bank story and ask 'which tests would have caught it?' — hold the question open; it returns as the Lab 4 retrospective. Walk the first block with a concrete image: the fraud service returns 200 OK with a plausible probability while a feature-engineering bug silently halves every score — no exception, no log line, no alert. Blocks two and three make the practical promise: nothing exotic is needed, it is all pytest, and the same suite that protects the team doubles as governance evidence for model-risk review. Land the last block as the business case: test pyramids are what make daily shipping survivable. 4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classic pyramid with one ML-specific storey inserted: model-behaviour, between integration and E2E. Read it bottom-up with the speed axis — milliseconds, ~100 ms, seconds, minutes — and make the placement rules concrete with quick call-outs: 'threshold band logic?' unit. 'Does /v1/predict return contract-shaped JSON?' integration. 'Does a bigger amount raise the score?' behaviour. The side rules matter as much as the layers: lowest level that catches the failure, commit suite in minutes, and know what NOT to test — the framework's math is not your code, and exact float asserts break across BLAS builds. This vocabulary carries the whole afternoon. 5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taxonomy as the pyramid, now with the exact fraud-service tests they will write in Lab 4 — this table is effectively the lab's table of contents. Run a placement drill down the examples column: give scenarios and have the room shout the level. Try a tricky one: 'the model file loads and scores one known row' — it feels behavioural but it is the slow-marked real-model integration test, the training/serving-skew tripwire. Point at the E2E row and connect backwards: make smoke already exists from Module 3, so the top of the pyramid is already built — today fills in the three layers below it. Keep this slide up during the drill; 4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where Day 1's architecture pays rent — say that sentence verbatim. Because FraudScorer depends on a Model protocol rather than sklearn, a ConstantModel(0.93) forces the BLOCK branch, ConstantModel(0.75) forces REVIEW, and no test ever loads a joblib file. Contrast with the counterfactual: had they coupled directly to sklearn, every policy test would cost a model load and the suite would take 90 seconds instead of one. The nasty cases in block three are chosen deliberately — midnight hours exercise is_night, Arabic merchant strings exercise normalisation, amount = 0.01 exercises the log transform's edge. The side panel prevents wasted effort: test your code, not the framework's. 4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conftest as the mirror image of the app's composition root: same wiring diagram, fakes instead of adapters. Walk the client_factory closure carefully — it is the one piece of pytest machinery that trips people: _make builds a fresh app per call, injects a scorer built around ConstantModel, and the probability parameter steers which policy branch the test exercises. Stress the fourth callout with the Lab 4 troubleshooting row: a suite that takes 90 seconds is almost always loading the real model per-test — session scope fixes it, and --durations=10 proves it. Also present are sample_txn and the app fixture, trimmed from the slide. 5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Live-demo TDD here per the module's demo requirements: write one boundary case on the projector before revealing the slide. The parametrised cases are chosen adversarially — 0.849999 and 0.85 straddle the block boundary, 0.699999 and 0.70 straddle review — because boundary inclusivity is exactly the kind of rule that silently flips during refactors. Say the deeper point: these six lines ARE the documentation of the decision policy; when risk asks 'what happens at exactly 0.85?', the answer is a test, not a meeting. Mention the sibling file trimmed from the slide: test_features.py freezes feature names (name drift IS training/serving skew), the is_night flag, and mcc normalisation from messy input. Runs in under a second — pytest -m unit. 4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theme is 'real app, fake model': everything from routing to serialization runs for real, and only the scorer is swapped at the DI seam — which is why each test costs ~50 ms instead of a model load. Block two shows the compounding payoff of Day 1 assets: the malformed corpus built in Module 2 becomes 40 free integration assertions via one parametrised test. Block three makes the point that negative paths are contract too — the 422s, the 503 with Retry-After, the sanitised 500 envelope all get asserted like features, because clients depend on them. The lone slow-marked real-model test is deliberate: one row, real artefact, catches the case where everything is wired right but the model itself is stale or skewed. 4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tests, two lessons. The contract test shows fake-steering: probability=0.93 sits above the 0.85 threshold, so the decision must be block — tests choose their branch instead of hoping for it. The corpus test is the force multiplier: parametrize over the 40 malformed payload files from Module 2 and every one must be rejected with a 4xx; note the payload_file.name in the assert message so a failure names the offending file instantly. Mention what the slide trims: the no-stack-trace test monkeypatches the scorer to raise, then asserts the 500 body is the ErrorEnvelope with no ZeroDivisionError text leaking — that test alone covers the error-envelope branch that otherwise pins coverage at 71% in the lab. 4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ML-specific art, one card per claim type. Spend your time on the invariance debate — it is the learning moment of the module: ask the room to propose invariances for the fraud domain, then challenge each. Casing? Yes, noise. transaction_id? Yes. Channel? NO — channel carries fraud signal, and asserting invariance would forbid the model from using it. That distinction — noise versus signal — is what makes someone able to design behavioural tests rather than copy them, and it returns as a quiz question. Directional tests get tolerances, never exact asserts. Golden files get their own lifecycle slide shortly. Close on the forward contract: this suite is how v4 will be judged before any traffic shift. 5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each test as a sentence before reading it as code. Invariance: 'electronics scored differently from ELECTRONICS would be a robustness bug' — model_copy changes exactly one field, everything else held equal, and pytest.approx guards the float compare. Directional: 'a thousand-fold amount increase must not LOWER the fraud score' — note it asserts &gt;=, not &gt;, and subtracts 1e-6: the claim is monotone-not-decreasing with tolerance, the weakest claim that still catches the bug. Trimmed from the slide: test_golden_scores iterates the 5,000-row reference CSV asserting each score within atol=1e-6, failure message naming the transaction id — the skew tripwire the seeded-skew demo will trigger. 5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plumbing that makes three levels feel like one suite. Show the pyproject excerpt live: addopts wires -q, --strict-markers, --cov=fraud_service --cov-branch and term-missing so nobody needs to remember flags; strict-markers turns a typo'd marker into an error instead of a silently-skipped test. The marker split is the operational heart: per-commit CI runs -m 'not slow' in seconds, the nightly runs everything including the golden file and AUC floor. Treat the last block as law, not advice: the sim-flaky exercise later shows a datetime.now() test that passes at 10:00 and fails after 18:00 — and one flaky test damages suite trust more than ten missing ones. PII rule is absolute: synthetic data only in the repo. 4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Golden files only work as a discipline, so teach the loop, not the file. The pairing rule comes first: golden_scores_v3.csv belongs to model v3 the way a lock file belongs to a dependency set — they version together. Walk a concrete red: someone 'improves' log1p to log10 in a feature, unit and integration stay green, the golden test fails on ~12% of rows naming exact transaction ids — that is the seeded-skew demo you will run on the projector during the lab. The dangerous step is the last one: the day someone regenerates the golden file just to make CI green, the tripwire is disabled and silent skew rides to production. make regen-golden exists precisely so regeneration is visible in a PR. 4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read correctly, in one slide. Branch coverage, not line — an if with only its true path tested reads 100% on lines while half its behaviour is dark; branch counts both exits. The 80% floor applies to domain/service/api, and the honest move is excluding the adapters' thin I/O lines rather than writing theatre tests to inflate the number — coverage is a smoke detector, not a KPI, and a 100% target reliably produces assert-free tests. Teach the actual skill: read the term-missing report and its red line ranges, then choose the most MEANINGFUL uncovered branch — Lab 4 task 5 demands exactly one such test, chosen deliberately, not the easiest. The timing stats set the pace expectation: 47 tests in 3.8 seconds per commit. 4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seeded moments make this lab. First: 2–3 repos carry the Lab 1 feature deviation, so their golden test genuinely fails on ~600 rows — a real red is worth an hour of slides; walk the room through diffing features against the reference solution when it hits. Second: coverage stuck at 71% means the error-envelope branch is untested — point to the term-missing line numbers and let them discover the monkeypatch 500 test covers it. Other watch-fors: TestClient raising instead of returning 500 (raise_server_exceptions=False is already in the fixture) and per-test model loads. Close the hour with the retrospective: 'which of these tests would have caught the Module 1 bank story?' Repos must be green on -m 'not slow' before Day 3 — it becomes the CI baseline.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each pair one bug report and 10 minutes to write only the test. Ask where the expected behaviour comes from. Debrief one weak and one strong assertion.</a:t>
            </a:r>
            <a:endParaRPr/>
          </a:p>
          <a:p xmlns:a="http://schemas.openxmlformats.org/drawingml/2006/main">
            <a:r>
              <a:t>[Sources]</a:t>
            </a:r>
            <a:endParaRPr/>
          </a:p>
          <a:p xmlns:a="http://schemas.openxmlformats.org/drawingml/2006/main">
            <a:r>
              <a:t>- Internal: INSTRUCTOR_PACKAGE.md — Module 4 test-writing kata, lowest-level rule, claim sources, and peer review of test PRs.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ship-or-block debate is the one to protect time for: run it as the package's structured 10-minute format — two groups argue opposite sides, you arbitrate with the model-governance lens. The trap answer is 'engineering decides because engineering wrote the test'; the mature answer is that a directional test encodes a risk-office claim, so renegotiating it is a governance conversation with data, not a code review. The flaky-clock debug lands the determinism rule kinesthetically — run it after 18:00 or with libfaketime and watch a green suite go red. The kata inverts the usual order: test first, from the bug report, before any fix exists — the habit that makes regression suites grow where bugs actually were. Pick two of the four based on energy.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bridge from classic ML testing to the LLM era — and proof the module's patterns generalise. Set up the pain first: prompts are code, but nobody code-reviews their consequences, and a 'better' prompt silently re-routed 8% of billing disputes for two weeks under a regulator's SLA. Walk the solution as adapted golden-file thinking: exact equality is impossible with an LLM, so determinism is manufactured (temperature 0, pinned version) and tolerance is policy (≥ 98% match, diffs grouped by intent). Then run discussion question 1 — what belongs in a bilingual golden set and who owns adding cases? — and question 2 on whether 98% is right and what data would decide. Close with question 3: have the room map every element back onto the fraud v4 upgrade. 12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1 tests the placement instinct the whole module builds: many will guess unit because 'validation' sounds like logic, but the corpus travels through the HTTP layer, the routes and the error handler — that is integration by definition, and it needs no container, so E2E is over-placement. Question 2 is the deep one — it checks whether they grasped the noise-versus-signal distinction from the invariance debate rather than memorising examples. If the room splits on it, re-run the debate with a new field: 'is customer_id a valid invariance?' (yes — identity must not move scores; that one is also a fairness claim). Extend orally from the package quiz: when is regenerating a golden file legitimate, and what must accompany it? 5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Land the module's thesis one last time, now earned rather than asserted: the room has written the suite that makes it true. Recap the three levels in one breath each — ConstantModel doubles proving policy logic in milliseconds, TestClient proving the contract including its negative paths, and the behavioural trio standing guard over the model itself with the golden file as skew tripwire. Then point forward: this green suite is not a trophy, it is Day 3's raw material — Module 5 wires 'pytest -m not slow' into a CI gate that runs on every push, and the behavioural suite becomes the acceptance gate for the v4 model upgrade. 2 minutes, then the day close.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inventorying what the day produced, because it is unusually concrete: a multi-stage image at 412 MB that rebuilds warm in 22 seconds and reports ready in 6.8; a compose stack where every service gates on real health; and a three-level pytest suite — 47 fast tests plus the behavioural tripwires — at 84% branch coverage. Ask each pair to confirm their two exit criteria out loud: make smoke green, and pytest -m 'not slow' green. Both are homework if not — Day 3 assumes them as the CI baseline. Tease tomorrow with the obvious gap: everything today ran because a human typed the command; Module 5 makes GitHub Actions type it instead, on every push, forever. Send them off. 3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Day 3 with energy: the last two days built a clean, served, containerised, tested service — today we make a machine enforce all of it. Frame the emotional core up front: by the end of Hour 2 the repository itself will refuse to merge broken code. Remind the room every hour is 50 min instruction + 10 min buffer, and schedule the long break around Dhuhr. The afternoon (Hours 4-5) is deliberately lighter on theory — it is capstone build and demos.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day left to right. Flag the two overrun-prone moments: Lab 5 (Hour 2) and Lab 6 (inside Hour 3). Publish checkpoint commits — lab5-start, lab6-start — so stragglers can git checkout and fast-forward. Collect repository URLs at the end of Hour 4 so CI status can be verified before Hour 5 demos begin; rubric scoring happens live during the demos. Rotate pairs from yesterday: pair a strong-Python participant with a strong-ML participant — the skill transfer is the point.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 the thesis in one sentence: a pipeline is the team's automated definition of 'good enough to ship'. Everything from Days 1-2 — clean architecture, the API contract, the Docker image, the test suite — now becomes a gate that runs on every change. Business framing for this SDAIA audience: DORA metrics (deployment frequency, change-failure rate) separate high performers from the rest, and for AI teams a change that skips validation can silently corrupt business decisions at scale. CI is also where governance evidence (test logs, image digests, scan reports) is produced automatically — exactly what ECC and enterprise audit ask for.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these as the competencies participants leave with: authoring multi-job workflows with caching, understanding triggers and contexts, enforcing gates via branch protection, building/pushing images with proper tagging, and debugging failed runs efficiently. Tell them the deliverable is concrete: a working pipeline on their OWN GitHub repo by the end of Hour 2 — the capstone grading literally reads their CI history, so this is not an academic exercise.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flow is the module's anchor diagram — draw it or point at the slide repeatedly through the hour. Emphasise the ordering is deliberate: fail fast, fail cheap. Ask the room: 'where should a failure be cheapest to catch?' (answer: lint, seconds). The dashed-vs-solid distinction matters: PR-triggered segments run on every change; the publish segment runs only on push to main. End on the digest: this is the handshake to the deployment module — CD does not rebuild, it re-pins the exact digest CI validated.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CI/CD distinction crisp because participants blur it constantly. CI is a question about a change; CD is a question about an artefact. This course does continuous DELIVERY (push a validated image to a registry) — continuous DEPLOYMENT (all the way to prod) is the next course's job. The side panel is the design creed for AI pipelines: an unpinned pipeline is a supply-chain door; a commit gate over 10 minutes breeds a --no-verify culture where engineers stop waiting. Ask who has seen a 25-minute CI that everyone bypasses.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this vocabulary against a real run projected on screen, not as a glossary. Point at an actual workflow: this YAML file is the workflow; it was triggered by this event; it ran these jobs on isolated VMs; each job ran these steps. The two ideas that unlock everything: jobs run in PARALLEL unless needs: creates an order, and contexts (github.sha, secrets.*) are the variables that parameterise the whole thing. Keep this slide handy — you will refer back to every term when reading the ci.yml on the next slides.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header top to bottom. The on: block is the single most misread part — pull_request gates PRs; push to branches: [main] is what additionally builds and pushes; workflow_dispatch is your manual button for the live demo. Stress the permissions block: contents: read is the safe default, and you widen it (packages: write) only on the job that needs it. concurrency with cancel-in-progress is a cost lever enterprises care about — no point finishing a run for a commit that was already superseded. env holds PYTHON_VERSION and the IMAGE name reused by every job.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fast lane: it reports in about a minute even while slower jobs run. Two teaching points. First, caching — cache: pip keyed on requirements.lock is the difference between a 90-second and an 8-second install; the lock file is the cache key, which is why pinning matters. Second, ruff is doing double duty: style AND the import-linter layer contract we will see later, so an architecture violation fails HERE in lint, not in a human's code review. mypy --strict checks exactly the seams we designed on Day 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Speed is not vanity — it is the difference between a pipeline engineers wait for and one they route around. Two caches to teach: pip dependency cache (keyed on the lock file) and Docker layer cache via buildx type=gha. Connect the second one explicitly back to Module 3: layer caching only pays off if you ordered your Dockerfile layers so that rarely-changing things sit below frequently-changing things. Show the Actions UI timings from the benchmark table: cold image-smoke ~5m40s, warm ~1m02s. That 3x is the cache doing its job.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test job carries the AI-specific weight. The single most common CI failure in this course is a missing model file: with: lfs: true on checkout is the fix, and Lab 5 deliberately makes participants hit it once so they remember. Point out the two pytest invocations: the fast per-commit suite with a coverage floor, and the behavioural gate that runs the real model artefact. The upload-artifact step with if: always() is a governance habit — coverage lands on the PR even on failure, so the PR accumulates its own evidence trail.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job embodies the principle 'build once, prove the artefact works'. It is gated by needs: [lint, test] so you never pay for a build behind a broken lint. load: true is subtle but important — it loads the image onto the runner (not a push) so the next step can actually run the container. The tag is github.sha: this commit maps to this image, deterministically. And the GHA layer cache is where the Module 3 layer-ordering discipline finally pays its dividend — narrate the cold-vs-warm timings from the benchmark table.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Beyond the standard lint/type/test trio, AI pipelines need four extra gates. The behavioural gate needs the model in CI — the course uses Git LFS and discusses the trade-off with authenticated model-registry downloads for large artefacts. The container smoke test is the one that catches 'works in venv, broken in image': missing system lib, wrong path, bad CMD. The trivy scan fails on HIGH/CRITICAL with an EXPIRING ignore file, not a blanket skip. And the golden-diff artefact is the reviewer-kindness habit: on failure, the diff CSV shows exactly which rows changed. These map directly onto the fraud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payoff of building the image: we run it exactly as production will. Three things to narrate. The readiness loop (for i in seq 1 30 ... curl /v1/ready) is the antidote to flaky smoke tests — Lab 5's troubleshooting table lists 'smoke test flaps' with the cause 'no readiness wait loop'. Discuss polling versus a fixed sleep and why polling wins. The predict call asserts contract fields (fraud_probability in range, model_version present) — the exact contract from Day 1. The trivy step with exit-code 1 turns a HIGH/CRITICAL CVE into a red gate. Fast finishers add trivy and triage one finding.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publish job is where delivery happens, and its if: condition is the single most important line for security: it runs ONLY on push to main, never on pull_request. Why? Fork PRs run in an untrusted context and do not receive secrets — a push job there would fail (403) or, worse, be a vector to exfiltrate credentials. This asymmetry trips everyone exactly once; teach it deliberately. Note the job-scoped permissions: packages: write appears only here, using the short-lived GITHUB_TOKEN — no long-lived Personal Access Tokens. The image is tagged with the SHA and a channel tag (main).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Drive this home: a pipeline without branch protection is decoration. Turning on required status checks is what converts advisory green ticks into an enforced definition of done — new team members inherit discipline from the infrastructure, not from being told. Discuss the trade-offs honestly: there must be a governed hotfix path (workflow_dispatch plus a logged admin bypass with justification), and connect 'temporarily disabling checks' to the Module 4 telecom incident. This slide sets up the emotional core of Lab 5 — the blocked bad-pr.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consolidates the CI security rules that Lab 5's simulations exercise. Least privilege is a per-job discipline: contents: read at the top, packages: write only on publish. The 'never echo secrets' rule has a sharp edge — Actions masks KNOWN secret values but not strings you derive from them, so a debug step that prints a concatenation can leak. And repeat the fork asymmetry once more because it is the concept people fail in practice: the simulation 'revoke packages: write on a fork and merge to main' produces a green-through-smoke, 403-on-publish run that participants must diagnose from the permissions error.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bridge from Day 1's clean architecture to the pipeline. The contract declares the layer order — api may depend on adapters, adapters on service, service on domain, but never the reverse. domain imports nothing above it. Because import-linter runs inside the lint job, a layer violation (say, api importing domain directly, or domain importing the API) fails CI in seconds — it is caught by infrastructure, not by a reviewer who might miss it. In Lab 5 the bad-pr contains exactly this: an 'api -&gt; domain violation' that import-linter flags. Architecture you cannot cross is architecture that survives.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lab is the heart of Day 3. Budget the five tasks at ~10 min each and float between pairs. Expect task 1 to go red for almost everyone — a missing lock file or LFS checkout — and that is intended learning, not a mistake. Task 2 is where the cache story becomes real: have them read the two timings off the Actions UI. The emotional peak is task 4: the bad-pr (layer violation + golden-breaking change) is BLOCKED by branch protection. Make one participant try to merge it in the UI and screenshot the greyed-out merge button for the class. Fast finishers add the trivy step or a governed workflow_dispatch coverage override.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Split the room into ship/block groups for 12 minutes. Each decision must cite a gate and evidence. Resolve with the Module 5 fraud-v4 case study.</a:t>
            </a:r>
            <a:endParaRPr/>
          </a:p>
          <a:p xmlns:a="http://schemas.openxmlformats.org/drawingml/2006/main">
            <a:r>
              <a:t>[Sources]</a:t>
            </a:r>
            <a:endParaRPr/>
          </a:p>
          <a:p xmlns:a="http://schemas.openxmlformats.org/drawingml/2006/main">
            <a:r>
              <a:t>- Internal: INSTRUCTOR_PACKAGE.md — Fraud Model v4 Rollout Gate, branch protection, evidence artefacts, and least-privilege permissions.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to check understanding without more lecture. The debugging exercise (ImportError from a missing editable install) is a genuine muscle — give them the log screenshot and a 5-minute timer; the benchmark target is time-to-diagnose under 10 minutes. The code-review exercise has exactly four planted findings; let pairs race to find all of them. The self-hosted-runner discussion is highly relevant to this SDAIA audience — Saudi banks routinely forbid cloud runners from reaching internal systems, so which jobs move inside the network boundary, and what new attack surface does a self-hosted runner introduce?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this case study as a decision workshop, not a lecture. The PR triggers five signals at once: an expected golden failure (new model), passing directional tests, a 3-of-5000 casing-invariance failure, a 220 MB image growth, and a passing smoke test. Ask the room: what ships? The golden failure is handled by the GOVERNED regeneration path — regenerate in the PR, attach the diff CSV and a notebook summary as the risk evidence pack a non-Python risk officer can read. The 3-row invariance failure BLOCKS: the new library's category encoder is case-sensitive, fixed in the feature adapter, never by deleting the test. Constraints matter — Sunday 05:00 window, 48h-early sign-off, single-command rollback via digest re-pin.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these as show-of-hands or a quick poll. Q1 is the fork-secrets asymmetry — the concept most people get wrong in practice, so linger on the explanation. Q2 is the digest-as-identity idea that hands off to the deployment course: a tag is a movable label, a digest is content-addressed truth. If the room nails both, they have the two ideas that matter most from this module.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Module 5 on this line and let it land. The shift is cultural, not just technical: once branch protection is on, correctness stops depending on whether a reviewer was paying attention — the repository itself refuses broken code. That is what makes onboarding safe and what makes the capstone gradeable by reading CI history. Transition: we have automated the OUTSIDE of the service; Module 6 hardens the INSIDE — configuration, secrets, and logging.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Module 6 as the three quiet disciplines that separate operable services from mysterious ones: configuration that is typed and validated; secrets that never touch git or image layers; and logs that are structured events a machine can query, not prose a human must grep. Business reality for this audience: most real incidents are CONFIGURATION incidents (wrong threshold in prod, staging model in production, missing env var found at 02:00). Secret leakage is existential — a leaked key in git history is a breach disclosure and, under PDPL and ECC, a regulatory event. This module hardens the fraud service and completes the capstone architecture.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objectives are the competencies that make a service operable in production. Emphasise 6.2 (one image, many environments) as the payoff of Modules 3 and 5 — the tested image is promoted unchanged; only env differs. And flag 6.5 as the one with the sharpest compliance edge: deciding what must NEVER be logged (national IDs, card numbers, raw features) is a PDPL obligation, because under PDPL logs are themselves personal-data processing. By the end of Hour 3 the service is hardened and ready for capstone integration in the same hour.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analogy: configuration errors deserve the same defence as bad API input — a typed model validated at startup that fails fast with a readable error. pydantic-settings gives exactly that: Settings() either returns a fully valid object or crashes with a field-by-field report the orchestrator surfaces immediately, instead of a 500 three hours later. Two more ideas: precedence (env wins, because env is what varies across dev/staging/prod), and the 'one image, many environments' 12-factor promise — anything else destroys the CI guarantee that we tested THAT image. Close on the discussion prompt: is a threshold config, code, or data? Teach the question.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class top to bottom. model_config sets the contract: read FRAUD_* env vars, load .env for dev convenience, and extra='forbid' so a misspelled variable crashes rather than silently using a default — a favourite production trap. Each field carries a type, a default-or-requiredness, a description, and validation: block_threshold is bounded 0.5-0.99, so a fat-fingered 8.5 fails at startup. registry_token is a SecretStr — masked everywhere unless you call .get_secret_value(), which makes intentional reads visible in review. The field_validator is the fail-fast heart: a missing model artefact raises a clear error at startup, not a 500 on the first request.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ladder from bottom (lowest precedence) to top (highest): code defaults are always present, the committed example file documents the knobs, the git-ignored .env is dev convenience, and environment variables — injected by the platform — win. Ask the room: why should env win? Because env is exactly what legitimately varies across dev, staging, and prod; everything else travels inside the single promoted image. This is the mechanism behind the 12-factor 'one build, many deploys' promise and behind the CI guarantee that the tested image is the shipped image.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 the two files explicitly. settings.example.env is COMMITTED — it is living documentation of every knob the service understands, with safe placeholder values and a commented-out secret line pointing to the platform secret store. The real .env, holding actual values, is git-ignored from the day the repo is born (Module 1) and also listed in .dockerignore (Module 3) so it never bakes into an image layer. This one-file-documents, one-file-holds pattern is what lets a new engineer clone the repo, copy the example, and know exactly what to set — without any secret ever entering version control.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secret is anything whose disclosure grants access: API keys, DB passwords, registry tokens, signed URLs. Walk the three NEVERs — git, images, logs — and tie each to earlier modules: .env in .gitignore (M1) and .dockerignore (M3); docker history reads image layers (the M3 simulation); and the logging masking processor as the last line of defence. Delivery is always at runtime via platform-injected env vars. Detection is gitleaks in CI plus a local pre-commit hook. Add gitleaks to the Module 5 pipeline as a stretch. The card game later ('log or not?') exercises exactly this judgement.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drill that separates people who have handled an incident from those who have not. The instinct is to delete the offending commit and force-push; that is exactly wrong as a first move, because the secret already lives in every clone, fork, reflog and backup — deleting the commit does not un-leak it. The correct ordering: rotate FIRST (and rotate all related keys, assuming lateral discovery), THEN clean history and add a gitleaks required check so it cannot recur. In Lab 6 they run this on a planted token. Emphasise: the leaked token is considered burned forever.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mindset shift: logs are events, not sentences — JSON lines with stable field names turn 'grep and hope' into real queries. The always-on fields matter: trace_id (planted in Module 2) and model_version (Module 1) finally pay off here — one trace id joins the gateway, the API, and the scoring event; one model version splits an error-rate graph during a canary. stdout-only is a hard rule: the platform owns shipping and rotation, and file handlers inside containers recreate the Module 3 permission bug and produce un-shippable logs. The side panel previews levels-with-intent: if everything is INFO, nothing is monitorable, because alert rules attach to WARNING and above.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whole logging contract in one file. The processor pipeline runs in order on every event: merge_contextvars injects the bound trace_id; add_log_level and an ISO UTC timestamp make lines sortable and correlatable across midnight; _mask_sensitive is the defensive net — even if a teammate accidentally logs a token, it leaves the process as ***MASKED***; and JSONRenderer emits one queryable JSON line per event to stdout. Point out that masking is a SAFETY net, not permission to log secrets — it is the one control that held in the case study. stdout-only means the container platform, not the app, owns shipping and rotation.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snippets, one lesson. The middleware binds trace_id, path and method once per request so every subsequent log line inherits them — no manual threading. It logs http_request with status and latency_ms, which means you can compute p50/p99 by piping the log stream through jq, with no separate metrics system. The scoring event is where privacy-by-design becomes concrete: probability_bucket is ROUNDED to 0.1 steps because a raw score plus a customer id can be sensitive, and the comment names what is ABSENT by design — customer_id, amount, raw features. Under PDPL, logs are personal-data processing; the safest field is the one you never write.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grid is the decision aid behind the 'Log or not?' card game. Always-on correlation fields go on every line. The LOG column is deliberately bucketed and name-only: log that a field was rejected, never its value (a rejected value is PII). The NEVER column is a PDPL compliance boundary, not a style preference — national IDs, card numbers, full bodies, raw feature vectors, and secrets. Levels carry intent: alert rules attach to WARNING and above, so if everything is INFO nothing is monitorable. And logging has a cost curve — the sim shows DEBUG in prod producing a 40x volume flood with measurable latency cost.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lab fits inside Hour 3 (35 minutes), so keep it tight. Two demos MUST happen on the projector even if pairs race ahead: the fail-fast contrast (a bad model path crashes cleanly at startup versus the old first-request 500) and the jq moment (compute p50 latency over 2000 requests from the logs alone). The secret drill is the emotional beat — gitleaks finds the planted ghp_XXXX token; participants write INCIDENT.md with rotation FIRST. Common snag from the troubleshooting table: if trace_id is missing from the scoring event, the middleware order is wrong (trace → logging → routes). One pair presents their INCIDENT.md.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logs_sample.jsonl or live container output. Ask pairs to answer one query and identify one forbidden field. End with the secret-response sequence.</a:t>
            </a:r>
            <a:endParaRPr/>
          </a:p>
          <a:p xmlns:a="http://schemas.openxmlformats.org/drawingml/2006/main">
            <a:r>
              <a:t>[Sources]</a:t>
            </a:r>
            <a:endParaRPr/>
          </a:p>
          <a:p xmlns:a="http://schemas.openxmlformats.org/drawingml/2006/main">
            <a:r>
              <a:t>- Internal: INSTRUCTOR_PACKAGE.md — Module 6 correlation fields, jq exercise, forbidden log fields, and secret-leak drill.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config-drift debugging exercise is the highest-value one: staging behaves differently from dev because a forgotten compose override sets the threshold to 0.65. Participants locate the EFFECTIVE config with docker compose config, then propose the guard — log the effective non-secret settings once at startup, a one-line change with huge payoff. The code-review exercise has three findings, each with a PDPL angle (full body at INFO = PII lake; os.environ in a route = unreviewable; printing settings = token leak pre-SecretStr). The card game (10 min) gets the room arguing about bucketed score versus raw score — exactly the judgement this module builds.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module's most sobering story — walk the timeline slowly. A provider key committed 'just for now' to a private repo, exposed eight months later when the repo was open-sourced after a secrets sweep that missed git history; scraped within hours; six figures of fraud over a weekend, plus a PDPL data-protection review and a frozen provider relationship. Drive the discussion questions: why rotate ALL keys (assume lateral discovery)? Which control would have PREVENTED it outright (gitleaks + org push protection) versus merely SHORTENED it (masking)? Have them write the five-line incident-comms message to 4000 staff. The one control that held here was masking — logs confirmed the keys never entered them.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Q1 is the incident-response ordering question — the one people fail under real pressure. Make sure they say rotate-first out loud, and that they can explain WHY deletion is insufficient (clones, forks, reflog, backups). Q2 targets a common misconception: SecretStr is not encryption and not network security — it is defence against accidental DISCLOSURE in reprs, prints and logs, plus a grep-able marker for intentional reads. If both land, the room has the two secret-handling ideas that matter most.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Module 6 on the three disciplines. Reinforce that these are not glamorous but they are what decides whether a 2am incident lasts ten minutes or four hours: config that fails fast and readably, secrets that structurally cannot leak, and logs that are queryable events with PDPL-aware privacy. The service participants have been evolving since Day 1 is now operable. Transition to the afternoon: everything needed for the capstone is built — Hour 4 assembles it, Hour 5 demos 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pivot from teaching to building. Recap the golden thread out loud: the same fraud service was refactored (Lab 1), served (Lab 2), containerised (Lab 3), tested (Lab 4), automated (Lab 5), and hardened (Lab 6) — no throwaway examples, which is exactly why the capstone is achievable in a single afternoon. Confirm every pair has a green main-branch run and a GHCR digest before moving on. Then hand off to the capstone: Hour 4 integrates all components and runs a peer code-review round; Hour 5 is 5-minute demos with rubric scoring and the path to SDA-AIE-211/216. Energy up — they are about to demo real, working, pipeline-validated AI services.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 are entering the final stretch. Hour 4 is pure project work (0/100) and the hard rule from the instructor guide applies: capstone assembly must start on time — cut discussion, not build time. Walk the milestones: M-A (Labs 1-2 integrated, API green locally) was due end of Day 2 H1, M-B (containerised + tested) end of Day 2, M-C (pipeline live, blocked bad-PR screenshot) Day 3 H2, M-D (hardened + extension, full checklist self-audit) Day 3 H4, and M-E is the demo ahead. Anyone behind on M-C should fast-forward with checkpoint tags rather than debug into demo time.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Tell the Raqib story properly — 3 minutes. The framing matters: participants are not building something new; they are the newly assigned production engineer receiving a trained artefact and a feature spec from the data-science team. The mandate line is the course thesis: the platform team can trust the service because its repository proves its own quality. Then defuse anxiety: everything from Labs 1-6 is already a component; the capstone is integration plus one chosen extension. Ask each pair to name their extension before assembly starts — it prevents scope drift at Hour 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Day 3 Hour 4 self-audit. Participants mark each line green, amber, or red and choose the highest-risk red item first.</a:t>
            </a:r>
            <a:endParaRPr/>
          </a:p>
          <a:p xmlns:a="http://schemas.openxmlformats.org/drawingml/2006/main">
            <a:r>
              <a:t>[Sources]</a:t>
            </a:r>
            <a:endParaRPr/>
          </a:p>
          <a:p xmlns:a="http://schemas.openxmlformats.org/drawingml/2006/main">
            <a:r>
              <a:t>- Internal: INSTRUCTOR_PACKAGE.md — mandatory capstone requirements and 100-point rubric.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self-audit map. Walk each spoke and remind the room where it was taught: architecture in M1, the API contract in M2, the container in M3, tests in M4, the pipeline in M5, config and logging in M6. Call out the measurable gates — image ≤ 500 MB, branch coverage ≥ 80%, malformed corpus 40/40 rejected, fast suite ≤ 60 s, warm rebuild ≤ 30 s — because these are exactly what the rubric bands check. Participants should run this checklist against their own repo during Hour 4, not discover the gaps live in the demo.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as the submission contract. Emphasise the two artefacts people forget: BENCHMARKS.md must contain the five course benchmark tables filled from their OWN runs — copied numbers are an integrity flag — and DECISIONS.md needs five one-paragraph engineering decisions with rationale, e.g. bake-vs-pull for the model artefact or where the block threshold lives. The README runbook test is concrete: a stranger succeeds in 10 minutes. Green CI on main plus a GHCR image pullable by digest is non-negotiable. Collect all of it before the room leaves.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Participants draft four of the five DECISIONS.md entries here. Pair-review for explicit alternatives and consequences, not just chosen tools.</a:t>
            </a:r>
            <a:endParaRPr/>
          </a:p>
          <a:p xmlns:a="http://schemas.openxmlformats.org/drawingml/2006/main">
            <a:r>
              <a:t>[Sources]</a:t>
            </a:r>
            <a:endParaRPr/>
          </a:p>
          <a:p xmlns:a="http://schemas.openxmlformats.org/drawingml/2006/main">
            <a:r>
              <a:t>- Internal: INSTRUCTOR_PACKAGE.md — capstone DECISIONS.md deliverable and recurring threshold, artefact, golden, and batch-endpoint trade-offs.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minutes on structure, then leave this visible during assembly. Weights: architecture 20, testing 20, then API, container and CI/CD at 15 each, config 10, demo 5. Pass is 70 or above, distinction 90 or above; extensions add up to +5 bonus, capped at 100, and only when mandatory scope scores at least 80 — an extension never rescues a weak core. Preview the anti-pattern flags that cap a criterion at 70%: regenerated goldens without justification, coverage inflated by asserting nothing, :latest deploy tags, and force-pushed green history.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Hour 5 with a visible timer — 5 minutes per demo, hard stop. Collect repository URLs at the end of Hour 4 so you can verify CI status before demos begin; grading is repo-first, demo second. During each demo verify one behavioural claim live: ask the participant to break casing invariance and show the red — one minute that separates understanding from copy-paste. Score on the rubric as demos happen; do not defer scoring to after class. Close with the wrap-up mapping and the forward pointer to SDA-AIE-211 and SDA-AIE-216.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during capstone demos. Keep the live challenge to one claim so every participant receives comparable treatment. Repository evidence outranks presentation polish.</a:t>
            </a:r>
            <a:endParaRPr/>
          </a:p>
          <a:p xmlns:a="http://schemas.openxmlformats.org/drawingml/2006/main">
            <a:r>
              <a:t>[Sources]</a:t>
            </a:r>
            <a:endParaRPr/>
          </a:p>
          <a:p xmlns:a="http://schemas.openxmlformats.org/drawingml/2006/main">
            <a:r>
              <a:t>- Internal: INSTRUCTOR_PACKAGE.md — assessment notes, demo requirements, and repo-first grading rule.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factual and calm — assessment anxiety peaks here. Lab completion is evidenced by checkpoint commits and expected outputs, so anyone who kept committing through the week has already banked most of that 30%. PA-1 and PA-2 artefacts plus notes carry 20%, the 10-question quiz 10%, and the capstone 40%. Repeat the badge condition verbatim: at least 70 overall AND capstone at least 70 AND zero academic-integrity flags. Identical golden diffs across repositories are checked, so warn against sharing generated files.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your reference for the two practical assessments. PA-1 (Day 2, 30 min): a deliberately broken repo — failing healthcheck, async-blocked route, missing .dockerignore — and the goal is a green make smoke; diagnosis notes carry 40% because the thinking matters as much as the fixing. PA-2 (Day 3, 30 min): triage a PR carrying a golden-file failure and a layer violation, then write the review; score it against the model review. For the quiz, pick 10 of the 20 bank questions and keep it closed book at 15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your scoring discipline. Repository evidence first: CI history, branch-protection settings and commit hygiene tell you most of the truth; the demo only confirms it. Apply the 70% caps mechanically and without negotiation: unjustified golden regeneration, assert-nothing coverage, :latest deploy tags, force-pushed green. The live behavioural check takes one minute per participant and reliably separates understanding from copy-paste. Log any integrity flag immediately — it blocks the badge regardless of the numeric score.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Memorise the two protected labs: Lab 3 (containerise) and Lab 5 (pipeline) run at full length no matter what. M6 theory is the designated sacrifice when you are behind — it lands through the lab. Calibrate by cohort: strong rooms pull the trivy gate and the batch endpoint into main scope on Day 3; weak rooms convert Lab 5's fix-the-PR task into a guided demo, but never drop the blocked-PR observation itself — it is the course's thesis made visible. And repeat the hard rule to yourself at lunch on Day 3: Hour 4 starts on time.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this checklist a full week out, not the night before. The riskiest items fail silently: GHCR pushes under the classroom org (test with a throwaway account), the pinned-sklearn regeneration of fraud_xgb_v3.joblib and golden_scores_v3.csv (version drift here breaks every behavioural test in the room), and classroom network access to github.com, ghcr.io and pypi — in restricted environments pre-pull base images to a local registry. The T-minus-2-days participant email plus make doctor catches most Day 1 environment pain before it happens. Also prepare the shared leaderboard for image sizes and benchmark numbers.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Instructor-only facilitation aid. Use when more than 20% of the room is blocked. Announce the recovery move as a course design feature, not a learner failure.</a:t>
            </a:r>
            <a:endParaRPr/>
          </a:p>
          <a:p xmlns:a="http://schemas.openxmlformats.org/drawingml/2006/main">
            <a:r>
              <a:t>[Sources]</a:t>
            </a:r>
            <a:endParaRPr/>
          </a:p>
          <a:p xmlns:a="http://schemas.openxmlformats.org/drawingml/2006/main">
            <a:r>
              <a:t>- Internal: INSTRUCTOR_PACKAGE.md — pace control, environment fallback, pairing, common issues, and timing recommendations.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high-frequency killers are Windows WSL2/Docker setup and Apple Silicon vs amd64 images — handle the first with the pre-session email plus a first-hour floater, the second by teaching --platform early in M3. Treat goldens broken by mid-course feature 'improvements' as a teaching gift: route it to the skew lesson and rescue with reference solution tags. Differentiation: early finishers and distinction seekers get the bonus tasks — multi-arch buildx, the sim-skew postmortem with 10-line write-up, the structured error taxonomy, the CI load-test job — while daily pairing rotation carries the strugglers.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by making the stack visible: SDA-AIE-211 consumes exactly the GHCR digest produced today — deployment, canary releases, monitoring — and SDA-AIE-216 builds on the logging and configuration substrate for observability. That is why the digest and the structured logs were graded rather than decorative. Before anyone leaves: collect repo URLs, BENCHMARKS.md and DECISIONS.md, and commit publicly to issuing badge recommendations within 5 working days. If time allows, show the one-slide mapping of each capstone requirement to the module that taught 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participants 5 minutes to write one named service, one owner, and one first gate. Invite two commitments aloud, then connect to the next track modules.</a:t>
            </a:r>
            <a:endParaRPr/>
          </a:p>
          <a:p xmlns:a="http://schemas.openxmlformats.org/drawingml/2006/main">
            <a:r>
              <a:t>[Sources]</a:t>
            </a:r>
            <a:endParaRPr/>
          </a:p>
          <a:p xmlns:a="http://schemas.openxmlformats.org/drawingml/2006/main">
            <a:r>
              <a:t>- Internal: INSTRUCTOR_PACKAGE.md — wrap-up forward pointers, CI evidence thesis, and course learning outcomes.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Send them off with discussion prompt 4 from the instructor guide: "If the repo is the audit evidence, what does YOUR current repo testify about your team?" Pause, then land the final line: three days ago this was a notebook; today it is a tested, containerised, pipeline-validated service — and SDA-AIE-211 will deploy the very digest they published. Thank the room, restate that badge recommendations arrive within 5 working days, and stay available for individual questions and track-planning conversations.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4b97e1c9334146"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19b2eb58c374fe7" /><Relationship Type="http://schemas.openxmlformats.org/officeDocument/2006/relationships/slideLayout" Target="/ppt/slideLayouts/slideLayout1.xml" Id="R8003c1e9646d45e2"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03c1e9646d45e2"/>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611507b53214ca1" /><Relationship Type="http://schemas.openxmlformats.org/officeDocument/2006/relationships/image" Target="/ppt/media/image.png" Id="Rea33b09c5f634896" /><Relationship Type="http://schemas.openxmlformats.org/officeDocument/2006/relationships/notesSlide" Target="/ppt/notesSlides/notesSlide1.xml" Id="Ra032db4866fa41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b0b4b47d52542f1" /><Relationship Type="http://schemas.openxmlformats.org/officeDocument/2006/relationships/image" Target="/ppt/media/image2.png" Id="R3ee110036b084de8" /><Relationship Type="http://schemas.openxmlformats.org/officeDocument/2006/relationships/notesSlide" Target="/ppt/notesSlides/notesSlide2.xml" Id="Rcb8047a51e6f4d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ecac2ce0ea64866" /><Relationship Type="http://schemas.openxmlformats.org/officeDocument/2006/relationships/image" Target="/ppt/media/image3.png" Id="Rc7fd1d3d970f4ff1" /><Relationship Type="http://schemas.openxmlformats.org/officeDocument/2006/relationships/notesSlide" Target="/ppt/notesSlides/notesSlide3.xml" Id="R7e87e34ed8fc49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f4ed0f17d75444a" /><Relationship Type="http://schemas.openxmlformats.org/officeDocument/2006/relationships/image" Target="/ppt/media/image4.png" Id="R4e9b8a9895e244e6" /><Relationship Type="http://schemas.openxmlformats.org/officeDocument/2006/relationships/notesSlide" Target="/ppt/notesSlides/notesSlide4.xml" Id="R4b52694a680f45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b8fcf29832a4730" /><Relationship Type="http://schemas.openxmlformats.org/officeDocument/2006/relationships/image" Target="/ppt/media/image5.png" Id="R500ea184286f4a89" /><Relationship Type="http://schemas.openxmlformats.org/officeDocument/2006/relationships/notesSlide" Target="/ppt/notesSlides/notesSlide5.xml" Id="R28ef3bac58ea40c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7723f96a3be4740" /><Relationship Type="http://schemas.openxmlformats.org/officeDocument/2006/relationships/image" Target="/ppt/media/image6.png" Id="R62dacf52ea0044b6" /><Relationship Type="http://schemas.openxmlformats.org/officeDocument/2006/relationships/notesSlide" Target="/ppt/notesSlides/notesSlide6.xml" Id="Rbb674e9383274b9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16f121543a1408b" /><Relationship Type="http://schemas.openxmlformats.org/officeDocument/2006/relationships/image" Target="/ppt/media/image7.png" Id="R0e8f530b5ba34a49" /><Relationship Type="http://schemas.openxmlformats.org/officeDocument/2006/relationships/notesSlide" Target="/ppt/notesSlides/notesSlide7.xml" Id="Rbc8688a2c6d547e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3c089c7d3634011" /><Relationship Type="http://schemas.openxmlformats.org/officeDocument/2006/relationships/image" Target="/ppt/media/image8.png" Id="Rf0b5f5888b3d4c02" /><Relationship Type="http://schemas.openxmlformats.org/officeDocument/2006/relationships/notesSlide" Target="/ppt/notesSlides/notesSlide8.xml" Id="R91eadcf93035423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8e088a146ae4f83" /><Relationship Type="http://schemas.openxmlformats.org/officeDocument/2006/relationships/image" Target="/ppt/media/image8.png" Id="Rf156a73f637d477b" /><Relationship Type="http://schemas.openxmlformats.org/officeDocument/2006/relationships/notesSlide" Target="/ppt/notesSlides/notesSlide9.xml" Id="R188b03ee02be4b9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51d67b84908452e" /><Relationship Type="http://schemas.openxmlformats.org/officeDocument/2006/relationships/image" Target="/ppt/media/image9.png" Id="Rf7cf2188f9a74d63" /><Relationship Type="http://schemas.openxmlformats.org/officeDocument/2006/relationships/notesSlide" Target="/ppt/notesSlides/notesSlide10.xml" Id="R8681cb8a8a08486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54f3a3d3e034488" /><Relationship Type="http://schemas.openxmlformats.org/officeDocument/2006/relationships/image" Target="/ppt/media/image10.png" Id="Ra88f6f604e9a42d4" /><Relationship Type="http://schemas.openxmlformats.org/officeDocument/2006/relationships/notesSlide" Target="/ppt/notesSlides/notesSlide11.xml" Id="Rc8b7c8552b844c7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684fc90fe6c4448" /><Relationship Type="http://schemas.openxmlformats.org/officeDocument/2006/relationships/image" Target="/ppt/media/image11.png" Id="R760cad96f436496b" /><Relationship Type="http://schemas.openxmlformats.org/officeDocument/2006/relationships/notesSlide" Target="/ppt/notesSlides/notesSlide12.xml" Id="R3c1a2090e1a940d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24f481766364d65" /><Relationship Type="http://schemas.openxmlformats.org/officeDocument/2006/relationships/image" Target="/ppt/media/image8.png" Id="R609d6be6ae1642e5" /><Relationship Type="http://schemas.openxmlformats.org/officeDocument/2006/relationships/notesSlide" Target="/ppt/notesSlides/notesSlide13.xml" Id="R40b8c72158bc4fa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9d6e0be4dd6467e" /><Relationship Type="http://schemas.openxmlformats.org/officeDocument/2006/relationships/image" Target="/ppt/media/image12.png" Id="Rbe2010e4d56b4575" /><Relationship Type="http://schemas.openxmlformats.org/officeDocument/2006/relationships/notesSlide" Target="/ppt/notesSlides/notesSlide14.xml" Id="Rf7f835dde171450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7e35000e3134640" /><Relationship Type="http://schemas.openxmlformats.org/officeDocument/2006/relationships/image" Target="/ppt/media/image13.png" Id="R48432b4e725046c0" /><Relationship Type="http://schemas.openxmlformats.org/officeDocument/2006/relationships/notesSlide" Target="/ppt/notesSlides/notesSlide15.xml" Id="Rd84c444700e24d8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86809e5c90b4de2" /><Relationship Type="http://schemas.openxmlformats.org/officeDocument/2006/relationships/image" Target="/ppt/media/image14.png" Id="R144c678b140448ef" /><Relationship Type="http://schemas.openxmlformats.org/officeDocument/2006/relationships/notesSlide" Target="/ppt/notesSlides/notesSlide16.xml" Id="R69e2623bd84d48b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b96d22e1bf24bdf" /><Relationship Type="http://schemas.openxmlformats.org/officeDocument/2006/relationships/image" Target="/ppt/media/image15.png" Id="Ra66acd7a4bde41ae" /><Relationship Type="http://schemas.openxmlformats.org/officeDocument/2006/relationships/notesSlide" Target="/ppt/notesSlides/notesSlide17.xml" Id="Rfb614a2f30324bb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56b979168994e25" /><Relationship Type="http://schemas.openxmlformats.org/officeDocument/2006/relationships/image" Target="/ppt/media/image16.png" Id="Rc82d75c7e57a45cb" /><Relationship Type="http://schemas.openxmlformats.org/officeDocument/2006/relationships/notesSlide" Target="/ppt/notesSlides/notesSlide18.xml" Id="R6689d0dccbc9435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8eafef63d8d4f7a" /><Relationship Type="http://schemas.openxmlformats.org/officeDocument/2006/relationships/image" Target="/ppt/media/image17.png" Id="R6b66728ceaf44042" /><Relationship Type="http://schemas.openxmlformats.org/officeDocument/2006/relationships/notesSlide" Target="/ppt/notesSlides/notesSlide19.xml" Id="R9aa6b7708c11482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9304bdcf9a74fe5" /><Relationship Type="http://schemas.openxmlformats.org/officeDocument/2006/relationships/image" Target="/ppt/media/image18.png" Id="R32f40ca2c11a467a" /><Relationship Type="http://schemas.openxmlformats.org/officeDocument/2006/relationships/notesSlide" Target="/ppt/notesSlides/notesSlide20.xml" Id="R0a4368a479564b8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959311d96ca4080" /><Relationship Type="http://schemas.openxmlformats.org/officeDocument/2006/relationships/image" Target="/ppt/media/image19.png" Id="R3538b6dcba10428f" /><Relationship Type="http://schemas.openxmlformats.org/officeDocument/2006/relationships/notesSlide" Target="/ppt/notesSlides/notesSlide21.xml" Id="R777ec465ed2a486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4258d3c8fa445be" /><Relationship Type="http://schemas.openxmlformats.org/officeDocument/2006/relationships/image" Target="/ppt/media/image20.png" Id="Rcc14056b4960449a" /><Relationship Type="http://schemas.openxmlformats.org/officeDocument/2006/relationships/notesSlide" Target="/ppt/notesSlides/notesSlide22.xml" Id="R7b4647f18fb54fa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abfd4cd47ab4608" /><Relationship Type="http://schemas.openxmlformats.org/officeDocument/2006/relationships/image" Target="/ppt/media/image21.png" Id="R9f75a96d6473466f" /><Relationship Type="http://schemas.openxmlformats.org/officeDocument/2006/relationships/notesSlide" Target="/ppt/notesSlides/notesSlide23.xml" Id="Ra7faed0e64a24a8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2997076d66d4918" /><Relationship Type="http://schemas.openxmlformats.org/officeDocument/2006/relationships/image" Target="/ppt/media/image22.png" Id="R646ebdd2ada54a88" /><Relationship Type="http://schemas.openxmlformats.org/officeDocument/2006/relationships/notesSlide" Target="/ppt/notesSlides/notesSlide24.xml" Id="R5e19351f2328463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a8681b8d2a14b62" /><Relationship Type="http://schemas.openxmlformats.org/officeDocument/2006/relationships/image" Target="/ppt/media/image23.png" Id="Rd927f5ff1cd3441f" /><Relationship Type="http://schemas.openxmlformats.org/officeDocument/2006/relationships/notesSlide" Target="/ppt/notesSlides/notesSlide25.xml" Id="R37f438d8f9d2465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a39a948b86e41b3" /><Relationship Type="http://schemas.openxmlformats.org/officeDocument/2006/relationships/image" Target="/ppt/media/image24.png" Id="R20d2753806d24457" /><Relationship Type="http://schemas.openxmlformats.org/officeDocument/2006/relationships/notesSlide" Target="/ppt/notesSlides/notesSlide26.xml" Id="R711dbcc308244ba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6feb2e67fab43a3" /><Relationship Type="http://schemas.openxmlformats.org/officeDocument/2006/relationships/image" Target="/ppt/media/image25.png" Id="Rcb22ad8c7c4a47cd" /><Relationship Type="http://schemas.openxmlformats.org/officeDocument/2006/relationships/notesSlide" Target="/ppt/notesSlides/notesSlide27.xml" Id="R1d8391efcb124d2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f73ad9d3d724014" /><Relationship Type="http://schemas.openxmlformats.org/officeDocument/2006/relationships/image" Target="/ppt/media/image26.png" Id="Raaab1d794a974c08" /><Relationship Type="http://schemas.openxmlformats.org/officeDocument/2006/relationships/notesSlide" Target="/ppt/notesSlides/notesSlide28.xml" Id="Ree559fd52c344a3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6e1ba0ccb1f4de5" /><Relationship Type="http://schemas.openxmlformats.org/officeDocument/2006/relationships/image" Target="/ppt/media/image27.png" Id="R35d34659d7184cd8" /><Relationship Type="http://schemas.openxmlformats.org/officeDocument/2006/relationships/notesSlide" Target="/ppt/notesSlides/notesSlide29.xml" Id="R4f23f9fdc7dd478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d501169ddef4c9c" /><Relationship Type="http://schemas.openxmlformats.org/officeDocument/2006/relationships/image" Target="/ppt/media/image8.png" Id="Raf38da2e499d4f4a" /><Relationship Type="http://schemas.openxmlformats.org/officeDocument/2006/relationships/notesSlide" Target="/ppt/notesSlides/notesSlide30.xml" Id="R7c09b5a96dcc4fc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6aea4d5a5144f5c" /><Relationship Type="http://schemas.openxmlformats.org/officeDocument/2006/relationships/image" Target="/ppt/media/image28.png" Id="Rc26d96398ca9480a" /><Relationship Type="http://schemas.openxmlformats.org/officeDocument/2006/relationships/notesSlide" Target="/ppt/notesSlides/notesSlide31.xml" Id="R725a9ceb0692414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392e0fcec77d42d6" /><Relationship Type="http://schemas.openxmlformats.org/officeDocument/2006/relationships/image" Target="/ppt/media/image29.png" Id="R92d7bf7c7ae346f8" /><Relationship Type="http://schemas.openxmlformats.org/officeDocument/2006/relationships/notesSlide" Target="/ppt/notesSlides/notesSlide32.xml" Id="R7fe0bad956ce4c1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ac91e3f46bd44129" /><Relationship Type="http://schemas.openxmlformats.org/officeDocument/2006/relationships/image" Target="/ppt/media/image30.png" Id="R4119e7a187684112" /><Relationship Type="http://schemas.openxmlformats.org/officeDocument/2006/relationships/notesSlide" Target="/ppt/notesSlides/notesSlide33.xml" Id="R86a4c0035555481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8ec140736a2c4273" /><Relationship Type="http://schemas.openxmlformats.org/officeDocument/2006/relationships/image" Target="/ppt/media/image31.png" Id="Rdaee5e1534074005" /><Relationship Type="http://schemas.openxmlformats.org/officeDocument/2006/relationships/notesSlide" Target="/ppt/notesSlides/notesSlide34.xml" Id="Rba845b564922494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b8e5c66807a40b2" /><Relationship Type="http://schemas.openxmlformats.org/officeDocument/2006/relationships/image" Target="/ppt/media/image32.png" Id="Rd27dcadc00034235" /><Relationship Type="http://schemas.openxmlformats.org/officeDocument/2006/relationships/notesSlide" Target="/ppt/notesSlides/notesSlide35.xml" Id="R2a3b839026a04f3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c75c641acb9742bc" /><Relationship Type="http://schemas.openxmlformats.org/officeDocument/2006/relationships/image" Target="/ppt/media/image33.png" Id="Rfe820ee720124f11" /><Relationship Type="http://schemas.openxmlformats.org/officeDocument/2006/relationships/notesSlide" Target="/ppt/notesSlides/notesSlide36.xml" Id="R22fd82a32b304bf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5e1bd4331fe64021" /><Relationship Type="http://schemas.openxmlformats.org/officeDocument/2006/relationships/image" Target="/ppt/media/image34.png" Id="Rcaf91b67f09f4228" /><Relationship Type="http://schemas.openxmlformats.org/officeDocument/2006/relationships/notesSlide" Target="/ppt/notesSlides/notesSlide37.xml" Id="R1931a8b08446452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325d21848a2643ab" /><Relationship Type="http://schemas.openxmlformats.org/officeDocument/2006/relationships/image" Target="/ppt/media/image35.png" Id="R9a4c37afce07485f" /><Relationship Type="http://schemas.openxmlformats.org/officeDocument/2006/relationships/notesSlide" Target="/ppt/notesSlides/notesSlide38.xml" Id="Rcafd215b94ef446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44823f0f38784223" /><Relationship Type="http://schemas.openxmlformats.org/officeDocument/2006/relationships/image" Target="/ppt/media/image36.png" Id="Rb123c45e0de64150" /><Relationship Type="http://schemas.openxmlformats.org/officeDocument/2006/relationships/notesSlide" Target="/ppt/notesSlides/notesSlide39.xml" Id="R3d06d0b6478a402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6fc814948dbe4c7d" /><Relationship Type="http://schemas.openxmlformats.org/officeDocument/2006/relationships/image" Target="/ppt/media/image37.png" Id="R09302364a28245fd" /><Relationship Type="http://schemas.openxmlformats.org/officeDocument/2006/relationships/notesSlide" Target="/ppt/notesSlides/notesSlide40.xml" Id="R72b0b69279b04d44"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18f7101b83bc4746" /><Relationship Type="http://schemas.openxmlformats.org/officeDocument/2006/relationships/image" Target="/ppt/media/image38.png" Id="R5af33164ce424472" /><Relationship Type="http://schemas.openxmlformats.org/officeDocument/2006/relationships/notesSlide" Target="/ppt/notesSlides/notesSlide41.xml" Id="R33963732b37845a0"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bed6d25958964523" /><Relationship Type="http://schemas.openxmlformats.org/officeDocument/2006/relationships/image" Target="/ppt/media/image39.png" Id="R22d2ea4a9c0f4b6f" /><Relationship Type="http://schemas.openxmlformats.org/officeDocument/2006/relationships/notesSlide" Target="/ppt/notesSlides/notesSlide42.xml" Id="Rfa85ad7d10e74ec4"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22dd9948cf8947dc" /><Relationship Type="http://schemas.openxmlformats.org/officeDocument/2006/relationships/image" Target="/ppt/media/image40.png" Id="R5525737e13fb4eb2" /><Relationship Type="http://schemas.openxmlformats.org/officeDocument/2006/relationships/notesSlide" Target="/ppt/notesSlides/notesSlide43.xml" Id="R1b7be46ffee849c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9c32bd5d06d74877" /><Relationship Type="http://schemas.openxmlformats.org/officeDocument/2006/relationships/image" Target="/ppt/media/image41.png" Id="Rd6233e46d7f443c1" /><Relationship Type="http://schemas.openxmlformats.org/officeDocument/2006/relationships/notesSlide" Target="/ppt/notesSlides/notesSlide44.xml" Id="Rd390b5025afe4f62"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ea581fdf64e24cb9" /><Relationship Type="http://schemas.openxmlformats.org/officeDocument/2006/relationships/image" Target="/ppt/media/image42.png" Id="Ra38086fefb8a4a3f" /><Relationship Type="http://schemas.openxmlformats.org/officeDocument/2006/relationships/notesSlide" Target="/ppt/notesSlides/notesSlide45.xml" Id="R7ebc5639571246a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fa8279e166c04881" /><Relationship Type="http://schemas.openxmlformats.org/officeDocument/2006/relationships/image" Target="/ppt/media/image43.png" Id="Rf5eb55c13b4f4a44" /><Relationship Type="http://schemas.openxmlformats.org/officeDocument/2006/relationships/notesSlide" Target="/ppt/notesSlides/notesSlide46.xml" Id="R7aac6085691e4b95"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6a721917fff0463e" /><Relationship Type="http://schemas.openxmlformats.org/officeDocument/2006/relationships/image" Target="/ppt/media/image44.png" Id="R51ac7e55ee1743d3" /><Relationship Type="http://schemas.openxmlformats.org/officeDocument/2006/relationships/notesSlide" Target="/ppt/notesSlides/notesSlide47.xml" Id="Rfbe28bd9c22245e4"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c818fc762afa49f7" /><Relationship Type="http://schemas.openxmlformats.org/officeDocument/2006/relationships/image" Target="/ppt/media/image45.png" Id="Rddd310c7f1b84bee" /><Relationship Type="http://schemas.openxmlformats.org/officeDocument/2006/relationships/notesSlide" Target="/ppt/notesSlides/notesSlide48.xml" Id="R4d4f272ca0544ce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7b38e326cd384b07" /><Relationship Type="http://schemas.openxmlformats.org/officeDocument/2006/relationships/image" Target="/ppt/media/image46.png" Id="R279d8c47acc74096" /><Relationship Type="http://schemas.openxmlformats.org/officeDocument/2006/relationships/notesSlide" Target="/ppt/notesSlides/notesSlide49.xml" Id="Rfffa890759cf4eb3"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b1a4f02d441d46f6" /><Relationship Type="http://schemas.openxmlformats.org/officeDocument/2006/relationships/image" Target="/ppt/media/image47.png" Id="Ra86a0fdf39d04431" /><Relationship Type="http://schemas.openxmlformats.org/officeDocument/2006/relationships/notesSlide" Target="/ppt/notesSlides/notesSlide50.xml" Id="Rf02d3a937474487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b497dd7ac4e64f05" /><Relationship Type="http://schemas.openxmlformats.org/officeDocument/2006/relationships/image" Target="/ppt/media/image8.png" Id="Redec01823e3f4b2e" /><Relationship Type="http://schemas.openxmlformats.org/officeDocument/2006/relationships/notesSlide" Target="/ppt/notesSlides/notesSlide51.xml" Id="R7a929ae7aca34ac3"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fb842b2ba3534956" /><Relationship Type="http://schemas.openxmlformats.org/officeDocument/2006/relationships/image" Target="/ppt/media/image48.png" Id="R30f5581028d542f3" /><Relationship Type="http://schemas.openxmlformats.org/officeDocument/2006/relationships/notesSlide" Target="/ppt/notesSlides/notesSlide52.xml" Id="R5b40e9ffa00a4dbb"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91ec697116554444" /><Relationship Type="http://schemas.openxmlformats.org/officeDocument/2006/relationships/image" Target="/ppt/media/image49.png" Id="R432df770a54e47f7" /><Relationship Type="http://schemas.openxmlformats.org/officeDocument/2006/relationships/notesSlide" Target="/ppt/notesSlides/notesSlide53.xml" Id="Rc6b35f6d6868419e"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b63eab586ed64859" /><Relationship Type="http://schemas.openxmlformats.org/officeDocument/2006/relationships/image" Target="/ppt/media/image50.png" Id="R1f917172362140b2" /><Relationship Type="http://schemas.openxmlformats.org/officeDocument/2006/relationships/notesSlide" Target="/ppt/notesSlides/notesSlide54.xml" Id="Rc89137172e664058"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8a137ff1ab074eff" /><Relationship Type="http://schemas.openxmlformats.org/officeDocument/2006/relationships/image" Target="/ppt/media/image51.png" Id="R3e8e6faad45d4f0e" /><Relationship Type="http://schemas.openxmlformats.org/officeDocument/2006/relationships/notesSlide" Target="/ppt/notesSlides/notesSlide55.xml" Id="Rbf43f93527004d7f"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eae4d5aa5ebd4008" /><Relationship Type="http://schemas.openxmlformats.org/officeDocument/2006/relationships/image" Target="/ppt/media/image52.png" Id="R336c64a270784370" /><Relationship Type="http://schemas.openxmlformats.org/officeDocument/2006/relationships/notesSlide" Target="/ppt/notesSlides/notesSlide56.xml" Id="Ra2208c3d947e403b"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59504b649c46420a" /><Relationship Type="http://schemas.openxmlformats.org/officeDocument/2006/relationships/image" Target="/ppt/media/image53.png" Id="R9ea531a3ba914b26" /><Relationship Type="http://schemas.openxmlformats.org/officeDocument/2006/relationships/notesSlide" Target="/ppt/notesSlides/notesSlide57.xml" Id="R996d9830e7e24801"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c2a0e090dfef49ed" /><Relationship Type="http://schemas.openxmlformats.org/officeDocument/2006/relationships/image" Target="/ppt/media/image54.png" Id="Rbae13cd1f312440d" /><Relationship Type="http://schemas.openxmlformats.org/officeDocument/2006/relationships/notesSlide" Target="/ppt/notesSlides/notesSlide58.xml" Id="Ra9e2cc7d925b40ba"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bc49676a60e2451b" /><Relationship Type="http://schemas.openxmlformats.org/officeDocument/2006/relationships/image" Target="/ppt/media/image55.png" Id="Raa822809611c4d1d" /><Relationship Type="http://schemas.openxmlformats.org/officeDocument/2006/relationships/notesSlide" Target="/ppt/notesSlides/notesSlide59.xml" Id="R3614821c30ff44d2"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f974a8485466493c" /><Relationship Type="http://schemas.openxmlformats.org/officeDocument/2006/relationships/image" Target="/ppt/media/image56.png" Id="Rfeb52608371841ef" /><Relationship Type="http://schemas.openxmlformats.org/officeDocument/2006/relationships/notesSlide" Target="/ppt/notesSlides/notesSlide60.xml" Id="Rd5e0c6035c144215"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933a321e106b4749" /><Relationship Type="http://schemas.openxmlformats.org/officeDocument/2006/relationships/image" Target="/ppt/media/image57.png" Id="R8b92d53b57c84742" /><Relationship Type="http://schemas.openxmlformats.org/officeDocument/2006/relationships/notesSlide" Target="/ppt/notesSlides/notesSlide61.xml" Id="Rdc06dcdbdd6545b2"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c6d00530596b4705" /><Relationship Type="http://schemas.openxmlformats.org/officeDocument/2006/relationships/image" Target="/ppt/media/image58.png" Id="R26856b7a48ef4f9c" /><Relationship Type="http://schemas.openxmlformats.org/officeDocument/2006/relationships/notesSlide" Target="/ppt/notesSlides/notesSlide62.xml" Id="R704a21330cfb4cd8"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9f98748b9b0b40af" /><Relationship Type="http://schemas.openxmlformats.org/officeDocument/2006/relationships/image" Target="/ppt/media/image59.png" Id="Rb5e6b93765d1480f" /><Relationship Type="http://schemas.openxmlformats.org/officeDocument/2006/relationships/notesSlide" Target="/ppt/notesSlides/notesSlide63.xml" Id="R4af7dd61827b4dc3"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39aad7841ccd4c61" /><Relationship Type="http://schemas.openxmlformats.org/officeDocument/2006/relationships/image" Target="/ppt/media/image60.png" Id="R9edb899285bd4570" /><Relationship Type="http://schemas.openxmlformats.org/officeDocument/2006/relationships/notesSlide" Target="/ppt/notesSlides/notesSlide64.xml" Id="Rab1ba7dff19440dd"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9a24edaa6e6b4499" /><Relationship Type="http://schemas.openxmlformats.org/officeDocument/2006/relationships/image" Target="/ppt/media/image61.png" Id="Rece9158fa9d34cc1" /><Relationship Type="http://schemas.openxmlformats.org/officeDocument/2006/relationships/notesSlide" Target="/ppt/notesSlides/notesSlide65.xml" Id="Rcfbab96c264f4c48"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3f5369be454f4b04" /><Relationship Type="http://schemas.openxmlformats.org/officeDocument/2006/relationships/image" Target="/ppt/media/image62.png" Id="R0d9a44d176a74181" /><Relationship Type="http://schemas.openxmlformats.org/officeDocument/2006/relationships/notesSlide" Target="/ppt/notesSlides/notesSlide66.xml" Id="R0c483ce18f864cab"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173a611bd5844a3b" /><Relationship Type="http://schemas.openxmlformats.org/officeDocument/2006/relationships/image" Target="/ppt/media/image63.png" Id="Reda73cfa62744f70" /><Relationship Type="http://schemas.openxmlformats.org/officeDocument/2006/relationships/notesSlide" Target="/ppt/notesSlides/notesSlide67.xml" Id="Rd3d8ed53025b43e9"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802e67793d5045e0" /><Relationship Type="http://schemas.openxmlformats.org/officeDocument/2006/relationships/image" Target="/ppt/media/image64.png" Id="R2de87b7f6cce48cb" /><Relationship Type="http://schemas.openxmlformats.org/officeDocument/2006/relationships/notesSlide" Target="/ppt/notesSlides/notesSlide68.xml" Id="R1e113df369ee4cf7"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a24c7b06fd89487a" /><Relationship Type="http://schemas.openxmlformats.org/officeDocument/2006/relationships/image" Target="/ppt/media/image65.png" Id="R5ab4012ad7944738" /><Relationship Type="http://schemas.openxmlformats.org/officeDocument/2006/relationships/notesSlide" Target="/ppt/notesSlides/notesSlide69.xml" Id="R483e86051d1742f4"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4a54a42b6cd0487d" /><Relationship Type="http://schemas.openxmlformats.org/officeDocument/2006/relationships/image" Target="/ppt/media/image66.png" Id="Rb4657b25d52c4e8d" /><Relationship Type="http://schemas.openxmlformats.org/officeDocument/2006/relationships/notesSlide" Target="/ppt/notesSlides/notesSlide70.xml" Id="R6df2ef365c7e4098"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45b04e3a11dd4b86" /><Relationship Type="http://schemas.openxmlformats.org/officeDocument/2006/relationships/image" Target="/ppt/media/image67.png" Id="R808b4eb9589d4f66" /><Relationship Type="http://schemas.openxmlformats.org/officeDocument/2006/relationships/notesSlide" Target="/ppt/notesSlides/notesSlide71.xml" Id="Ra25545287cbd438c"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d9b246d347174be3" /><Relationship Type="http://schemas.openxmlformats.org/officeDocument/2006/relationships/image" Target="/ppt/media/image68.png" Id="R281d91201c294765" /><Relationship Type="http://schemas.openxmlformats.org/officeDocument/2006/relationships/notesSlide" Target="/ppt/notesSlides/notesSlide72.xml" Id="Ra1b9da4705644974"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479122b8a0244ffd" /><Relationship Type="http://schemas.openxmlformats.org/officeDocument/2006/relationships/image" Target="/ppt/media/image69.png" Id="Re251b38249cd4d54" /><Relationship Type="http://schemas.openxmlformats.org/officeDocument/2006/relationships/notesSlide" Target="/ppt/notesSlides/notesSlide73.xml" Id="Rf415fddb57e44431"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8dc08876c1e64461" /><Relationship Type="http://schemas.openxmlformats.org/officeDocument/2006/relationships/image" Target="/ppt/media/image70.png" Id="Radb5a25c24374360" /><Relationship Type="http://schemas.openxmlformats.org/officeDocument/2006/relationships/notesSlide" Target="/ppt/notesSlides/notesSlide74.xml" Id="R6b2e2dd2fecc4062"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d76fdc4858c04d09" /><Relationship Type="http://schemas.openxmlformats.org/officeDocument/2006/relationships/image" Target="/ppt/media/image8.png" Id="Ra80400a76e144f23" /><Relationship Type="http://schemas.openxmlformats.org/officeDocument/2006/relationships/notesSlide" Target="/ppt/notesSlides/notesSlide75.xml" Id="R2d7b4e753f7c4ea0"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1fb1e2b1e1e64bde" /><Relationship Type="http://schemas.openxmlformats.org/officeDocument/2006/relationships/image" Target="/ppt/media/image71.png" Id="R6c550c5df0d846af" /><Relationship Type="http://schemas.openxmlformats.org/officeDocument/2006/relationships/notesSlide" Target="/ppt/notesSlides/notesSlide76.xml" Id="R54248d07a22b496d"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97c1f45454414330" /><Relationship Type="http://schemas.openxmlformats.org/officeDocument/2006/relationships/image" Target="/ppt/media/image72.png" Id="R1d7f6300d4f845c9" /><Relationship Type="http://schemas.openxmlformats.org/officeDocument/2006/relationships/notesSlide" Target="/ppt/notesSlides/notesSlide77.xml" Id="R12116dcd6b6344ae"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5a4a8c542ff3429c" /><Relationship Type="http://schemas.openxmlformats.org/officeDocument/2006/relationships/image" Target="/ppt/media/image73.png" Id="R324dbc5bdea04a52" /><Relationship Type="http://schemas.openxmlformats.org/officeDocument/2006/relationships/notesSlide" Target="/ppt/notesSlides/notesSlide78.xml" Id="R1195e7bbb8d1431c"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d0a5b239ea1b4a14" /><Relationship Type="http://schemas.openxmlformats.org/officeDocument/2006/relationships/image" Target="/ppt/media/image74.png" Id="R74549d4a8c6b4c5e" /><Relationship Type="http://schemas.openxmlformats.org/officeDocument/2006/relationships/notesSlide" Target="/ppt/notesSlides/notesSlide79.xml" Id="R8ec1f09f8a4b4d78"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c377290409954052" /><Relationship Type="http://schemas.openxmlformats.org/officeDocument/2006/relationships/image" Target="/ppt/media/image75.png" Id="R13551959d630424c" /><Relationship Type="http://schemas.openxmlformats.org/officeDocument/2006/relationships/notesSlide" Target="/ppt/notesSlides/notesSlide80.xml" Id="Ra21664d4348545f0"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8a6ba4daed7246de" /><Relationship Type="http://schemas.openxmlformats.org/officeDocument/2006/relationships/image" Target="/ppt/media/image76.png" Id="R0e4f9ce519ce4314" /><Relationship Type="http://schemas.openxmlformats.org/officeDocument/2006/relationships/notesSlide" Target="/ppt/notesSlides/notesSlide81.xml" Id="Rb614b97cdf674384"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01626a5c74f74a58" /><Relationship Type="http://schemas.openxmlformats.org/officeDocument/2006/relationships/image" Target="/ppt/media/image77.png" Id="R2127a1aa2b7848e4" /><Relationship Type="http://schemas.openxmlformats.org/officeDocument/2006/relationships/notesSlide" Target="/ppt/notesSlides/notesSlide82.xml" Id="Rebe98c08f44d434d"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42939c4400064810" /><Relationship Type="http://schemas.openxmlformats.org/officeDocument/2006/relationships/image" Target="/ppt/media/image78.png" Id="R45b91cc0c52d49ee" /><Relationship Type="http://schemas.openxmlformats.org/officeDocument/2006/relationships/notesSlide" Target="/ppt/notesSlides/notesSlide83.xml" Id="R77f380339ff0407d"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70278b6e94ec48b8" /><Relationship Type="http://schemas.openxmlformats.org/officeDocument/2006/relationships/image" Target="/ppt/media/image79.png" Id="R02b33e4ba9c843e8" /><Relationship Type="http://schemas.openxmlformats.org/officeDocument/2006/relationships/notesSlide" Target="/ppt/notesSlides/notesSlide84.xml" Id="Recc40b4b43534b2c"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cb24f33090d8465f" /><Relationship Type="http://schemas.openxmlformats.org/officeDocument/2006/relationships/image" Target="/ppt/media/image80.png" Id="R794ab2909fb94f83" /><Relationship Type="http://schemas.openxmlformats.org/officeDocument/2006/relationships/notesSlide" Target="/ppt/notesSlides/notesSlide85.xml" Id="R0fdb9398d7d746fc"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3048549c76924a85" /><Relationship Type="http://schemas.openxmlformats.org/officeDocument/2006/relationships/image" Target="/ppt/media/image81.png" Id="R9cad8c582a124be2" /><Relationship Type="http://schemas.openxmlformats.org/officeDocument/2006/relationships/notesSlide" Target="/ppt/notesSlides/notesSlide86.xml" Id="Rfe7e6596b69e4687"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5717c5f451de412e" /><Relationship Type="http://schemas.openxmlformats.org/officeDocument/2006/relationships/image" Target="/ppt/media/image82.png" Id="Rfdea708a082242f4" /><Relationship Type="http://schemas.openxmlformats.org/officeDocument/2006/relationships/notesSlide" Target="/ppt/notesSlides/notesSlide87.xml" Id="R289b4dd84f324ee6"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800e9418f7724e31" /><Relationship Type="http://schemas.openxmlformats.org/officeDocument/2006/relationships/image" Target="/ppt/media/image83.png" Id="R664475e226004233" /><Relationship Type="http://schemas.openxmlformats.org/officeDocument/2006/relationships/notesSlide" Target="/ppt/notesSlides/notesSlide88.xml" Id="R64323cea56ff4b2b"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a81436e8f004469e" /><Relationship Type="http://schemas.openxmlformats.org/officeDocument/2006/relationships/image" Target="/ppt/media/image84.png" Id="R6bb4afe9455c4e6f" /><Relationship Type="http://schemas.openxmlformats.org/officeDocument/2006/relationships/notesSlide" Target="/ppt/notesSlides/notesSlide89.xml" Id="Rf3fec1a1885340e8"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68e9d0ba9569499d" /><Relationship Type="http://schemas.openxmlformats.org/officeDocument/2006/relationships/image" Target="/ppt/media/image85.png" Id="R57b6134584944ebd" /><Relationship Type="http://schemas.openxmlformats.org/officeDocument/2006/relationships/notesSlide" Target="/ppt/notesSlides/notesSlide90.xml" Id="R9e576407d91f4ab6"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73d8f665eaae4b3b" /><Relationship Type="http://schemas.openxmlformats.org/officeDocument/2006/relationships/image" Target="/ppt/media/image86.png" Id="Ra5b5fa8a99c94cbc" /><Relationship Type="http://schemas.openxmlformats.org/officeDocument/2006/relationships/notesSlide" Target="/ppt/notesSlides/notesSlide91.xml" Id="Rc771da1888604fb2"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26e0639f992d4cca" /><Relationship Type="http://schemas.openxmlformats.org/officeDocument/2006/relationships/image" Target="/ppt/media/image87.png" Id="R383a82d59c354348" /><Relationship Type="http://schemas.openxmlformats.org/officeDocument/2006/relationships/notesSlide" Target="/ppt/notesSlides/notesSlide92.xml" Id="R64af4c9afc844e9c"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67f895d8a7e74989" /><Relationship Type="http://schemas.openxmlformats.org/officeDocument/2006/relationships/image" Target="/ppt/media/image88.png" Id="Raed2ac668f4a4d2f" /><Relationship Type="http://schemas.openxmlformats.org/officeDocument/2006/relationships/notesSlide" Target="/ppt/notesSlides/notesSlide93.xml" Id="R91ebf88b6d68443b"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cf8b4d608d7d4dbe" /><Relationship Type="http://schemas.openxmlformats.org/officeDocument/2006/relationships/image" Target="/ppt/media/image89.png" Id="Rc63b7407798b45ef" /><Relationship Type="http://schemas.openxmlformats.org/officeDocument/2006/relationships/notesSlide" Target="/ppt/notesSlides/notesSlide94.xml" Id="R475568d7b0f74419"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ed3a9d16d11d4cad" /><Relationship Type="http://schemas.openxmlformats.org/officeDocument/2006/relationships/image" Target="/ppt/media/image90.png" Id="R081e6e6d6d674178" /><Relationship Type="http://schemas.openxmlformats.org/officeDocument/2006/relationships/notesSlide" Target="/ppt/notesSlides/notesSlide95.xml" Id="R979b41a849a04177"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2b39b935a26b492a" /><Relationship Type="http://schemas.openxmlformats.org/officeDocument/2006/relationships/image" Target="/ppt/media/image8.png" Id="R3f7190b1cf4a4c78" /><Relationship Type="http://schemas.openxmlformats.org/officeDocument/2006/relationships/notesSlide" Target="/ppt/notesSlides/notesSlide96.xml" Id="R7c41fff0f19b4951"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476d2bf1e67c4c0c" /><Relationship Type="http://schemas.openxmlformats.org/officeDocument/2006/relationships/image" Target="/ppt/media/image91.png" Id="Rc9005d3049204421" /><Relationship Type="http://schemas.openxmlformats.org/officeDocument/2006/relationships/notesSlide" Target="/ppt/notesSlides/notesSlide97.xml" Id="R401f8a6d6ad7449d"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1bf5cdd6e8f340d9" /><Relationship Type="http://schemas.openxmlformats.org/officeDocument/2006/relationships/image" Target="/ppt/media/image92.png" Id="R8e3c7c0d4acc4e72" /><Relationship Type="http://schemas.openxmlformats.org/officeDocument/2006/relationships/notesSlide" Target="/ppt/notesSlides/notesSlide98.xml" Id="R559d901270b24219"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1beed6e8841d4c45" /><Relationship Type="http://schemas.openxmlformats.org/officeDocument/2006/relationships/image" Target="/ppt/media/image93.png" Id="Rb20d79879f70496d" /><Relationship Type="http://schemas.openxmlformats.org/officeDocument/2006/relationships/notesSlide" Target="/ppt/notesSlides/notesSlide99.xml" Id="R5e96bf7d2a1f4add"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xml" Id="Rab239ad9950d4277" /><Relationship Type="http://schemas.openxmlformats.org/officeDocument/2006/relationships/image" Target="/ppt/media/image94.png" Id="R0f49202f0f0e4035" /><Relationship Type="http://schemas.openxmlformats.org/officeDocument/2006/relationships/notesSlide" Target="/ppt/notesSlides/notesSlide100.xml" Id="R73aaad1bb5624a3d"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xml" Id="R2f97f150fc45482d" /><Relationship Type="http://schemas.openxmlformats.org/officeDocument/2006/relationships/image" Target="/ppt/media/image95.png" Id="R9a32a24645f145f4" /><Relationship Type="http://schemas.openxmlformats.org/officeDocument/2006/relationships/notesSlide" Target="/ppt/notesSlides/notesSlide101.xml" Id="Re02127b59bec40dd"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xml" Id="R384286efe33d463e" /><Relationship Type="http://schemas.openxmlformats.org/officeDocument/2006/relationships/image" Target="/ppt/media/image96.png" Id="Rb18c6eca5fb84bda" /><Relationship Type="http://schemas.openxmlformats.org/officeDocument/2006/relationships/notesSlide" Target="/ppt/notesSlides/notesSlide102.xml" Id="Reccc36519f3644ea"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xml" Id="Ra7f79f9e27334923" /><Relationship Type="http://schemas.openxmlformats.org/officeDocument/2006/relationships/image" Target="/ppt/media/image97.png" Id="R68583ee0efb64285" /><Relationship Type="http://schemas.openxmlformats.org/officeDocument/2006/relationships/notesSlide" Target="/ppt/notesSlides/notesSlide103.xml" Id="R8f303dbe9d344e23"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xml" Id="Rfcc4e83ea3ef4b72" /><Relationship Type="http://schemas.openxmlformats.org/officeDocument/2006/relationships/image" Target="/ppt/media/image98.png" Id="R671f10e4f38e44d3" /><Relationship Type="http://schemas.openxmlformats.org/officeDocument/2006/relationships/notesSlide" Target="/ppt/notesSlides/notesSlide104.xml" Id="R12545a8f45f04597"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xml" Id="R6bc3254e3fcf445c" /><Relationship Type="http://schemas.openxmlformats.org/officeDocument/2006/relationships/image" Target="/ppt/media/image99.png" Id="R6f09c13733074408" /><Relationship Type="http://schemas.openxmlformats.org/officeDocument/2006/relationships/notesSlide" Target="/ppt/notesSlides/notesSlide105.xml" Id="Rbadd0eee5d0b4bc8"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xml" Id="Rba77109b0f704a88" /><Relationship Type="http://schemas.openxmlformats.org/officeDocument/2006/relationships/image" Target="/ppt/media/image100.png" Id="R3c007a29c4594ffa" /><Relationship Type="http://schemas.openxmlformats.org/officeDocument/2006/relationships/notesSlide" Target="/ppt/notesSlides/notesSlide106.xml" Id="R70fe58ddd5d14508"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xml" Id="R1f45c060a4ab4890" /><Relationship Type="http://schemas.openxmlformats.org/officeDocument/2006/relationships/image" Target="/ppt/media/image101.png" Id="R34fec31208f04cf2" /><Relationship Type="http://schemas.openxmlformats.org/officeDocument/2006/relationships/notesSlide" Target="/ppt/notesSlides/notesSlide107.xml" Id="R5432898493584c00"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1.xml" Id="R03d8e4f0a5294bb9" /><Relationship Type="http://schemas.openxmlformats.org/officeDocument/2006/relationships/image" Target="/ppt/media/image102.png" Id="Rb91c774ccf9e4dfe" /><Relationship Type="http://schemas.openxmlformats.org/officeDocument/2006/relationships/notesSlide" Target="/ppt/notesSlides/notesSlide108.xml" Id="R82e9293f9fc54aea"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1.xml" Id="R1c1fbeb61bdf455a" /><Relationship Type="http://schemas.openxmlformats.org/officeDocument/2006/relationships/image" Target="/ppt/media/image103.png" Id="R37ad15bee4414019" /><Relationship Type="http://schemas.openxmlformats.org/officeDocument/2006/relationships/notesSlide" Target="/ppt/notesSlides/notesSlide109.xml" Id="Ra838cd1596e047f9"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1.xml" Id="Rb1d6f1f3d7984757" /><Relationship Type="http://schemas.openxmlformats.org/officeDocument/2006/relationships/image" Target="/ppt/media/image104.png" Id="R8ea0a41413f54919" /><Relationship Type="http://schemas.openxmlformats.org/officeDocument/2006/relationships/notesSlide" Target="/ppt/notesSlides/notesSlide110.xml" Id="R065f8f97a530484e"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1.xml" Id="R2fd0908f21ae4973" /><Relationship Type="http://schemas.openxmlformats.org/officeDocument/2006/relationships/image" Target="/ppt/media/image105.png" Id="Re616af4a4e064c6b" /><Relationship Type="http://schemas.openxmlformats.org/officeDocument/2006/relationships/notesSlide" Target="/ppt/notesSlides/notesSlide111.xml" Id="Rf287ba8f15c94051"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1.xml" Id="R6ce26084f31541a5" /><Relationship Type="http://schemas.openxmlformats.org/officeDocument/2006/relationships/image" Target="/ppt/media/image106.png" Id="R7b867387600b4eea" /><Relationship Type="http://schemas.openxmlformats.org/officeDocument/2006/relationships/notesSlide" Target="/ppt/notesSlides/notesSlide112.xml" Id="R5ed753a554f24790"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1.xml" Id="Rd70d51771bf54541" /><Relationship Type="http://schemas.openxmlformats.org/officeDocument/2006/relationships/image" Target="/ppt/media/image107.png" Id="R09515e543ccc4aa4" /><Relationship Type="http://schemas.openxmlformats.org/officeDocument/2006/relationships/notesSlide" Target="/ppt/notesSlides/notesSlide113.xml" Id="R6ff826c3d52343f1"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1.xml" Id="R07bcb89b9d534269" /><Relationship Type="http://schemas.openxmlformats.org/officeDocument/2006/relationships/image" Target="/ppt/media/image108.png" Id="Rd96e78126df74904" /><Relationship Type="http://schemas.openxmlformats.org/officeDocument/2006/relationships/notesSlide" Target="/ppt/notesSlides/notesSlide114.xml" Id="R514a8f0f9acf449c"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1.xml" Id="Rc12aac0aebf94be4" /><Relationship Type="http://schemas.openxmlformats.org/officeDocument/2006/relationships/image" Target="/ppt/media/image109.png" Id="Rf5fad5252dab4911" /><Relationship Type="http://schemas.openxmlformats.org/officeDocument/2006/relationships/notesSlide" Target="/ppt/notesSlides/notesSlide115.xml" Id="Rfc767d5c77a2450b"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1.xml" Id="R054590271c564647" /><Relationship Type="http://schemas.openxmlformats.org/officeDocument/2006/relationships/image" Target="/ppt/media/image110.png" Id="R75ab071d679a462e" /><Relationship Type="http://schemas.openxmlformats.org/officeDocument/2006/relationships/notesSlide" Target="/ppt/notesSlides/notesSlide116.xml" Id="R55e71bdf66d6472c"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1.xml" Id="R3f86edb821d944d5" /><Relationship Type="http://schemas.openxmlformats.org/officeDocument/2006/relationships/image" Target="/ppt/media/image111.png" Id="Rea78eec577bd4ae6" /><Relationship Type="http://schemas.openxmlformats.org/officeDocument/2006/relationships/notesSlide" Target="/ppt/notesSlides/notesSlide117.xml" Id="R4cc8dfec652542ac"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1.xml" Id="R2c3a2735f82049e7" /><Relationship Type="http://schemas.openxmlformats.org/officeDocument/2006/relationships/image" Target="/ppt/media/image112.png" Id="R1bda2a1e6a2340ef" /><Relationship Type="http://schemas.openxmlformats.org/officeDocument/2006/relationships/notesSlide" Target="/ppt/notesSlides/notesSlide118.xml" Id="R37216c919a564060"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1.xml" Id="Rb8522e86a4004a30" /><Relationship Type="http://schemas.openxmlformats.org/officeDocument/2006/relationships/image" Target="/ppt/media/image113.png" Id="Rfd49a173d8c24901" /><Relationship Type="http://schemas.openxmlformats.org/officeDocument/2006/relationships/notesSlide" Target="/ppt/notesSlides/notesSlide119.xml" Id="R1ab47139947a4bef"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1.xml" Id="R427d69893b9047d0" /><Relationship Type="http://schemas.openxmlformats.org/officeDocument/2006/relationships/image" Target="/ppt/media/image114.png" Id="R41632cdb7446436f" /><Relationship Type="http://schemas.openxmlformats.org/officeDocument/2006/relationships/notesSlide" Target="/ppt/notesSlides/notesSlide120.xml" Id="R1540ec4eda8c4aa7"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1.xml" Id="R7053c9672cef4a0b" /><Relationship Type="http://schemas.openxmlformats.org/officeDocument/2006/relationships/image" Target="/ppt/media/image8.png" Id="R46c0dce1100c4e3e" /><Relationship Type="http://schemas.openxmlformats.org/officeDocument/2006/relationships/notesSlide" Target="/ppt/notesSlides/notesSlide121.xml" Id="Rb66a065c3f5949f7"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1.xml" Id="Rc9e4d7aa747540c1" /><Relationship Type="http://schemas.openxmlformats.org/officeDocument/2006/relationships/image" Target="/ppt/media/image115.png" Id="Rfca91bfe4cbd4412" /><Relationship Type="http://schemas.openxmlformats.org/officeDocument/2006/relationships/notesSlide" Target="/ppt/notesSlides/notesSlide122.xml" Id="R11426e5f45564f58"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1.xml" Id="R871de923287d4efe" /><Relationship Type="http://schemas.openxmlformats.org/officeDocument/2006/relationships/image" Target="/ppt/media/image116.png" Id="R0ffa9f75bb664111" /><Relationship Type="http://schemas.openxmlformats.org/officeDocument/2006/relationships/notesSlide" Target="/ppt/notesSlides/notesSlide123.xml" Id="R17bce0f1ffc94bfe"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1.xml" Id="Rb17efdd6fc0d4ac3" /><Relationship Type="http://schemas.openxmlformats.org/officeDocument/2006/relationships/image" Target="/ppt/media/image117.png" Id="Rbfc1320951494190" /><Relationship Type="http://schemas.openxmlformats.org/officeDocument/2006/relationships/notesSlide" Target="/ppt/notesSlides/notesSlide124.xml" Id="Rc21d13e9bfbe40d3"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1.xml" Id="R251659cb74dc4915" /><Relationship Type="http://schemas.openxmlformats.org/officeDocument/2006/relationships/image" Target="/ppt/media/image118.png" Id="Re67e12ba3944436d" /><Relationship Type="http://schemas.openxmlformats.org/officeDocument/2006/relationships/notesSlide" Target="/ppt/notesSlides/notesSlide125.xml" Id="Ra5cde5ff91334daa"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1.xml" Id="R75ada9ff567149e4" /><Relationship Type="http://schemas.openxmlformats.org/officeDocument/2006/relationships/image" Target="/ppt/media/image119.png" Id="R6af1051f66c743aa" /><Relationship Type="http://schemas.openxmlformats.org/officeDocument/2006/relationships/notesSlide" Target="/ppt/notesSlides/notesSlide126.xml" Id="R433f27cf7f594fa3"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1.xml" Id="Rc07fa0e8921b411d" /><Relationship Type="http://schemas.openxmlformats.org/officeDocument/2006/relationships/image" Target="/ppt/media/image120.png" Id="R1d7b490ae0804a53" /><Relationship Type="http://schemas.openxmlformats.org/officeDocument/2006/relationships/notesSlide" Target="/ppt/notesSlides/notesSlide127.xml" Id="Re3698faa8608474d"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1.xml" Id="R8a53d708a1374bd0" /><Relationship Type="http://schemas.openxmlformats.org/officeDocument/2006/relationships/image" Target="/ppt/media/image121.png" Id="R00f8e7172cbb43a9" /><Relationship Type="http://schemas.openxmlformats.org/officeDocument/2006/relationships/notesSlide" Target="/ppt/notesSlides/notesSlide128.xml" Id="R284e9a940fb34375"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1.xml" Id="R1ff9e06ba0c742fd" /><Relationship Type="http://schemas.openxmlformats.org/officeDocument/2006/relationships/image" Target="/ppt/media/image122.png" Id="R1ad4125cb87647e0" /><Relationship Type="http://schemas.openxmlformats.org/officeDocument/2006/relationships/notesSlide" Target="/ppt/notesSlides/notesSlide129.xml" Id="R50abc2bdc7564f3d"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1.xml" Id="R48147ea5082f483b" /><Relationship Type="http://schemas.openxmlformats.org/officeDocument/2006/relationships/image" Target="/ppt/media/image123.png" Id="Ra86c1a483216433e" /><Relationship Type="http://schemas.openxmlformats.org/officeDocument/2006/relationships/notesSlide" Target="/ppt/notesSlides/notesSlide130.xml" Id="R70656fd6405447ae"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1.xml" Id="Re03b23fb8b124638" /><Relationship Type="http://schemas.openxmlformats.org/officeDocument/2006/relationships/image" Target="/ppt/media/image124.png" Id="R8ba0a6ac760e4597" /><Relationship Type="http://schemas.openxmlformats.org/officeDocument/2006/relationships/notesSlide" Target="/ppt/notesSlides/notesSlide131.xml" Id="R57b8094f1cc543f0"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1.xml" Id="R768f5898a7964f0b" /><Relationship Type="http://schemas.openxmlformats.org/officeDocument/2006/relationships/image" Target="/ppt/media/image125.png" Id="Rfd4c1d302a45441f" /><Relationship Type="http://schemas.openxmlformats.org/officeDocument/2006/relationships/notesSlide" Target="/ppt/notesSlides/notesSlide132.xml" Id="R9f50b534275a48fd"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1.xml" Id="Rbd37467fa5274ca9" /><Relationship Type="http://schemas.openxmlformats.org/officeDocument/2006/relationships/image" Target="/ppt/media/image126.png" Id="R9fa61bf6555a4123" /><Relationship Type="http://schemas.openxmlformats.org/officeDocument/2006/relationships/notesSlide" Target="/ppt/notesSlides/notesSlide133.xml" Id="R6508bff373c9447f"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1.xml" Id="Ra97a8095b2804d4e" /><Relationship Type="http://schemas.openxmlformats.org/officeDocument/2006/relationships/image" Target="/ppt/media/image127.png" Id="R0f3e900fffaf4873" /><Relationship Type="http://schemas.openxmlformats.org/officeDocument/2006/relationships/notesSlide" Target="/ppt/notesSlides/notesSlide134.xml" Id="R5bca4a4d645f47f6"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1.xml" Id="Rafe3e148ed37423b" /><Relationship Type="http://schemas.openxmlformats.org/officeDocument/2006/relationships/image" Target="/ppt/media/image128.png" Id="R13320496debb45c1" /><Relationship Type="http://schemas.openxmlformats.org/officeDocument/2006/relationships/notesSlide" Target="/ppt/notesSlides/notesSlide135.xml" Id="Rd13121cd4b1a4388"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1.xml" Id="R0789693988874b26" /><Relationship Type="http://schemas.openxmlformats.org/officeDocument/2006/relationships/image" Target="/ppt/media/image129.png" Id="Ra7f91bc188494fa6" /><Relationship Type="http://schemas.openxmlformats.org/officeDocument/2006/relationships/notesSlide" Target="/ppt/notesSlides/notesSlide136.xml" Id="R2615e98b3b4744d3"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1.xml" Id="Rfc5f4372583e416e" /><Relationship Type="http://schemas.openxmlformats.org/officeDocument/2006/relationships/image" Target="/ppt/media/image130.png" Id="Rc16e75e28bba47a6" /><Relationship Type="http://schemas.openxmlformats.org/officeDocument/2006/relationships/notesSlide" Target="/ppt/notesSlides/notesSlide137.xml" Id="Rc4892ab3a4bb46dc"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1.xml" Id="Rdd176b24bc0a4657" /><Relationship Type="http://schemas.openxmlformats.org/officeDocument/2006/relationships/image" Target="/ppt/media/image131.png" Id="R093e79f945e04e70" /><Relationship Type="http://schemas.openxmlformats.org/officeDocument/2006/relationships/notesSlide" Target="/ppt/notesSlides/notesSlide138.xml" Id="Rf20a989444ef4858"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1.xml" Id="R1d7ef15de5284cdb" /><Relationship Type="http://schemas.openxmlformats.org/officeDocument/2006/relationships/image" Target="/ppt/media/image8.png" Id="R26498929d300437f" /><Relationship Type="http://schemas.openxmlformats.org/officeDocument/2006/relationships/notesSlide" Target="/ppt/notesSlides/notesSlide139.xml" Id="R3557354a249746cf"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1.xml" Id="R6807261ce4494e78" /><Relationship Type="http://schemas.openxmlformats.org/officeDocument/2006/relationships/image" Target="/ppt/media/image132.png" Id="R46f240b9d4f84e60" /><Relationship Type="http://schemas.openxmlformats.org/officeDocument/2006/relationships/notesSlide" Target="/ppt/notesSlides/notesSlide140.xml" Id="Ree1ae92e6adc490a" /></Relationships>
</file>

<file path=ppt/slides/_rels/slide141.xml.rels>&#65279;<?xml version="1.0" encoding="utf-8"?><Relationships xmlns="http://schemas.openxmlformats.org/package/2006/relationships"><Relationship Type="http://schemas.openxmlformats.org/officeDocument/2006/relationships/slideLayout" Target="/ppt/slideLayouts/slideLayout1.xml" Id="R64c04d944d6244f9" /><Relationship Type="http://schemas.openxmlformats.org/officeDocument/2006/relationships/image" Target="/ppt/media/image133.png" Id="R48170ffd28ae405a" /><Relationship Type="http://schemas.openxmlformats.org/officeDocument/2006/relationships/notesSlide" Target="/ppt/notesSlides/notesSlide141.xml" Id="R16fc78c157be47c1" /></Relationships>
</file>

<file path=ppt/slides/_rels/slide142.xml.rels>&#65279;<?xml version="1.0" encoding="utf-8"?><Relationships xmlns="http://schemas.openxmlformats.org/package/2006/relationships"><Relationship Type="http://schemas.openxmlformats.org/officeDocument/2006/relationships/slideLayout" Target="/ppt/slideLayouts/slideLayout1.xml" Id="R9f74fad882a840c9" /><Relationship Type="http://schemas.openxmlformats.org/officeDocument/2006/relationships/image" Target="/ppt/media/image134.png" Id="R8e6c1391d58e42a7" /><Relationship Type="http://schemas.openxmlformats.org/officeDocument/2006/relationships/notesSlide" Target="/ppt/notesSlides/notesSlide142.xml" Id="R3362e1eb3ed146bf" /></Relationships>
</file>

<file path=ppt/slides/_rels/slide143.xml.rels>&#65279;<?xml version="1.0" encoding="utf-8"?><Relationships xmlns="http://schemas.openxmlformats.org/package/2006/relationships"><Relationship Type="http://schemas.openxmlformats.org/officeDocument/2006/relationships/slideLayout" Target="/ppt/slideLayouts/slideLayout1.xml" Id="R9634c28425d34556" /><Relationship Type="http://schemas.openxmlformats.org/officeDocument/2006/relationships/image" Target="/ppt/media/image135.png" Id="R482b9822f2a54080" /><Relationship Type="http://schemas.openxmlformats.org/officeDocument/2006/relationships/notesSlide" Target="/ppt/notesSlides/notesSlide143.xml" Id="R3094fb70ff024f77" /></Relationships>
</file>

<file path=ppt/slides/_rels/slide144.xml.rels>&#65279;<?xml version="1.0" encoding="utf-8"?><Relationships xmlns="http://schemas.openxmlformats.org/package/2006/relationships"><Relationship Type="http://schemas.openxmlformats.org/officeDocument/2006/relationships/slideLayout" Target="/ppt/slideLayouts/slideLayout1.xml" Id="R77beb7cb4f9e4a8a" /><Relationship Type="http://schemas.openxmlformats.org/officeDocument/2006/relationships/image" Target="/ppt/media/image136.png" Id="R4fd50942e7064149" /><Relationship Type="http://schemas.openxmlformats.org/officeDocument/2006/relationships/notesSlide" Target="/ppt/notesSlides/notesSlide144.xml" Id="Ra2ad05ffd0f24a40" /></Relationships>
</file>

<file path=ppt/slides/_rels/slide145.xml.rels>&#65279;<?xml version="1.0" encoding="utf-8"?><Relationships xmlns="http://schemas.openxmlformats.org/package/2006/relationships"><Relationship Type="http://schemas.openxmlformats.org/officeDocument/2006/relationships/slideLayout" Target="/ppt/slideLayouts/slideLayout1.xml" Id="R29bcda46f62444cc" /><Relationship Type="http://schemas.openxmlformats.org/officeDocument/2006/relationships/image" Target="/ppt/media/image137.png" Id="R9a2608f2ef11462f" /><Relationship Type="http://schemas.openxmlformats.org/officeDocument/2006/relationships/notesSlide" Target="/ppt/notesSlides/notesSlide145.xml" Id="R59931f786af5423a" /></Relationships>
</file>

<file path=ppt/slides/_rels/slide146.xml.rels>&#65279;<?xml version="1.0" encoding="utf-8"?><Relationships xmlns="http://schemas.openxmlformats.org/package/2006/relationships"><Relationship Type="http://schemas.openxmlformats.org/officeDocument/2006/relationships/slideLayout" Target="/ppt/slideLayouts/slideLayout1.xml" Id="R4c15ca22de334243" /><Relationship Type="http://schemas.openxmlformats.org/officeDocument/2006/relationships/image" Target="/ppt/media/image138.png" Id="R36be02e1968e4326" /><Relationship Type="http://schemas.openxmlformats.org/officeDocument/2006/relationships/notesSlide" Target="/ppt/notesSlides/notesSlide146.xml" Id="R5a6632b3c5b345e6" /></Relationships>
</file>

<file path=ppt/slides/_rels/slide147.xml.rels>&#65279;<?xml version="1.0" encoding="utf-8"?><Relationships xmlns="http://schemas.openxmlformats.org/package/2006/relationships"><Relationship Type="http://schemas.openxmlformats.org/officeDocument/2006/relationships/slideLayout" Target="/ppt/slideLayouts/slideLayout1.xml" Id="Ra9e13d82abdb44ad" /><Relationship Type="http://schemas.openxmlformats.org/officeDocument/2006/relationships/image" Target="/ppt/media/image8.png" Id="Rf48600bd5d9a4986" /><Relationship Type="http://schemas.openxmlformats.org/officeDocument/2006/relationships/notesSlide" Target="/ppt/notesSlides/notesSlide147.xml" Id="R8e30b492bcd54af6" /></Relationships>
</file>

<file path=ppt/slides/_rels/slide148.xml.rels>&#65279;<?xml version="1.0" encoding="utf-8"?><Relationships xmlns="http://schemas.openxmlformats.org/package/2006/relationships"><Relationship Type="http://schemas.openxmlformats.org/officeDocument/2006/relationships/slideLayout" Target="/ppt/slideLayouts/slideLayout1.xml" Id="Ree99cb16028b46ed" /><Relationship Type="http://schemas.openxmlformats.org/officeDocument/2006/relationships/image" Target="/ppt/media/image139.png" Id="Ref1e8f667a094460" /><Relationship Type="http://schemas.openxmlformats.org/officeDocument/2006/relationships/notesSlide" Target="/ppt/notesSlides/notesSlide148.xml" Id="R8ebed033f0d74f78" /></Relationships>
</file>

<file path=ppt/slides/_rels/slide149.xml.rels>&#65279;<?xml version="1.0" encoding="utf-8"?><Relationships xmlns="http://schemas.openxmlformats.org/package/2006/relationships"><Relationship Type="http://schemas.openxmlformats.org/officeDocument/2006/relationships/slideLayout" Target="/ppt/slideLayouts/slideLayout1.xml" Id="Ra1f109ac4bbb4387" /><Relationship Type="http://schemas.openxmlformats.org/officeDocument/2006/relationships/image" Target="/ppt/media/image140.png" Id="R2ef83aaca5b6478b" /><Relationship Type="http://schemas.openxmlformats.org/officeDocument/2006/relationships/notesSlide" Target="/ppt/notesSlides/notesSlide149.xml" Id="R625e194a1e474318" /></Relationships>
</file>

<file path=ppt/slides/_rels/slide150.xml.rels>&#65279;<?xml version="1.0" encoding="utf-8"?><Relationships xmlns="http://schemas.openxmlformats.org/package/2006/relationships"><Relationship Type="http://schemas.openxmlformats.org/officeDocument/2006/relationships/slideLayout" Target="/ppt/slideLayouts/slideLayout1.xml" Id="Rf536cdcf617844cb" /><Relationship Type="http://schemas.openxmlformats.org/officeDocument/2006/relationships/image" Target="/ppt/media/image8.png" Id="R4c5b3636779e4916" /><Relationship Type="http://schemas.openxmlformats.org/officeDocument/2006/relationships/notesSlide" Target="/ppt/notesSlides/notesSlide150.xml" Id="R1b3e288890214bba" /></Relationships>
</file>

<file path=ppt/slides/_rels/slide151.xml.rels>&#65279;<?xml version="1.0" encoding="utf-8"?><Relationships xmlns="http://schemas.openxmlformats.org/package/2006/relationships"><Relationship Type="http://schemas.openxmlformats.org/officeDocument/2006/relationships/slideLayout" Target="/ppt/slideLayouts/slideLayout1.xml" Id="Re7c1d90cb0444858" /><Relationship Type="http://schemas.openxmlformats.org/officeDocument/2006/relationships/image" Target="/ppt/media/image141.png" Id="Rd124945aa7a84fb7" /><Relationship Type="http://schemas.openxmlformats.org/officeDocument/2006/relationships/notesSlide" Target="/ppt/notesSlides/notesSlide151.xml" Id="R7aa18f8575284953" /></Relationships>
</file>

<file path=ppt/slides/_rels/slide152.xml.rels>&#65279;<?xml version="1.0" encoding="utf-8"?><Relationships xmlns="http://schemas.openxmlformats.org/package/2006/relationships"><Relationship Type="http://schemas.openxmlformats.org/officeDocument/2006/relationships/slideLayout" Target="/ppt/slideLayouts/slideLayout1.xml" Id="R43c5e72337b54360" /><Relationship Type="http://schemas.openxmlformats.org/officeDocument/2006/relationships/image" Target="/ppt/media/image142.png" Id="R092adf41d44c4583" /><Relationship Type="http://schemas.openxmlformats.org/officeDocument/2006/relationships/notesSlide" Target="/ppt/notesSlides/notesSlide152.xml" Id="R94e310030913465b" /></Relationships>
</file>

<file path=ppt/slides/_rels/slide153.xml.rels>&#65279;<?xml version="1.0" encoding="utf-8"?><Relationships xmlns="http://schemas.openxmlformats.org/package/2006/relationships"><Relationship Type="http://schemas.openxmlformats.org/officeDocument/2006/relationships/slideLayout" Target="/ppt/slideLayouts/slideLayout1.xml" Id="R3b985685cc374e2c" /><Relationship Type="http://schemas.openxmlformats.org/officeDocument/2006/relationships/image" Target="/ppt/media/image8.png" Id="Rca6df1e4d5974585" /><Relationship Type="http://schemas.openxmlformats.org/officeDocument/2006/relationships/notesSlide" Target="/ppt/notesSlides/notesSlide153.xml" Id="R2a9f0e852c82406e" /></Relationships>
</file>

<file path=ppt/slides/_rels/slide154.xml.rels>&#65279;<?xml version="1.0" encoding="utf-8"?><Relationships xmlns="http://schemas.openxmlformats.org/package/2006/relationships"><Relationship Type="http://schemas.openxmlformats.org/officeDocument/2006/relationships/slideLayout" Target="/ppt/slideLayouts/slideLayout1.xml" Id="R41a26e2d3cb14399" /><Relationship Type="http://schemas.openxmlformats.org/officeDocument/2006/relationships/image" Target="/ppt/media/image143.png" Id="R537c7c3cde394846" /><Relationship Type="http://schemas.openxmlformats.org/officeDocument/2006/relationships/notesSlide" Target="/ppt/notesSlides/notesSlide154.xml" Id="Rd621f37fc3f2441a" /></Relationships>
</file>

<file path=ppt/slides/_rels/slide155.xml.rels>&#65279;<?xml version="1.0" encoding="utf-8"?><Relationships xmlns="http://schemas.openxmlformats.org/package/2006/relationships"><Relationship Type="http://schemas.openxmlformats.org/officeDocument/2006/relationships/slideLayout" Target="/ppt/slideLayouts/slideLayout1.xml" Id="R6cb782b516f14db8" /><Relationship Type="http://schemas.openxmlformats.org/officeDocument/2006/relationships/image" Target="/ppt/media/image144.png" Id="R9626ca5c61be44a1" /><Relationship Type="http://schemas.openxmlformats.org/officeDocument/2006/relationships/notesSlide" Target="/ppt/notesSlides/notesSlide155.xml" Id="Reb87469e1cb248eb" /></Relationships>
</file>

<file path=ppt/slides/_rels/slide156.xml.rels>&#65279;<?xml version="1.0" encoding="utf-8"?><Relationships xmlns="http://schemas.openxmlformats.org/package/2006/relationships"><Relationship Type="http://schemas.openxmlformats.org/officeDocument/2006/relationships/slideLayout" Target="/ppt/slideLayouts/slideLayout1.xml" Id="R13cb7e0ad07b4b51" /><Relationship Type="http://schemas.openxmlformats.org/officeDocument/2006/relationships/image" Target="/ppt/media/image145.png" Id="R536227bc78e64c05" /><Relationship Type="http://schemas.openxmlformats.org/officeDocument/2006/relationships/notesSlide" Target="/ppt/notesSlides/notesSlide156.xml" Id="R65a76b3d2f5446dd" /></Relationships>
</file>

<file path=ppt/slides/_rels/slide157.xml.rels>&#65279;<?xml version="1.0" encoding="utf-8"?><Relationships xmlns="http://schemas.openxmlformats.org/package/2006/relationships"><Relationship Type="http://schemas.openxmlformats.org/officeDocument/2006/relationships/slideLayout" Target="/ppt/slideLayouts/slideLayout1.xml" Id="Ra88a730b466547d7" /><Relationship Type="http://schemas.openxmlformats.org/officeDocument/2006/relationships/image" Target="/ppt/media/image146.png" Id="R21a378a32bf441e8" /><Relationship Type="http://schemas.openxmlformats.org/officeDocument/2006/relationships/notesSlide" Target="/ppt/notesSlides/notesSlide157.xml" Id="R234b6183870d4675" /></Relationships>
</file>

<file path=ppt/slides/_rels/slide158.xml.rels>&#65279;<?xml version="1.0" encoding="utf-8"?><Relationships xmlns="http://schemas.openxmlformats.org/package/2006/relationships"><Relationship Type="http://schemas.openxmlformats.org/officeDocument/2006/relationships/slideLayout" Target="/ppt/slideLayouts/slideLayout1.xml" Id="R5f065841813445a8" /><Relationship Type="http://schemas.openxmlformats.org/officeDocument/2006/relationships/image" Target="/ppt/media/image147.png" Id="R3733b733272b40fe" /><Relationship Type="http://schemas.openxmlformats.org/officeDocument/2006/relationships/notesSlide" Target="/ppt/notesSlides/notesSlide158.xml" Id="R87293ef81b4244b4" /></Relationships>
</file>

<file path=ppt/slides/_rels/slide159.xml.rels>&#65279;<?xml version="1.0" encoding="utf-8"?><Relationships xmlns="http://schemas.openxmlformats.org/package/2006/relationships"><Relationship Type="http://schemas.openxmlformats.org/officeDocument/2006/relationships/slideLayout" Target="/ppt/slideLayouts/slideLayout1.xml" Id="Rdc42f771244d4177" /><Relationship Type="http://schemas.openxmlformats.org/officeDocument/2006/relationships/image" Target="/ppt/media/image8.png" Id="R812b71e9fb6144eb" /><Relationship Type="http://schemas.openxmlformats.org/officeDocument/2006/relationships/notesSlide" Target="/ppt/notesSlides/notesSlide159.xml" Id="R0e73cef26f254a2c" /></Relationships>
</file>

<file path=ppt/slides/_rels/slide160.xml.rels>&#65279;<?xml version="1.0" encoding="utf-8"?><Relationships xmlns="http://schemas.openxmlformats.org/package/2006/relationships"><Relationship Type="http://schemas.openxmlformats.org/officeDocument/2006/relationships/slideLayout" Target="/ppt/slideLayouts/slideLayout1.xml" Id="R699077e960c4442f" /><Relationship Type="http://schemas.openxmlformats.org/officeDocument/2006/relationships/image" Target="/ppt/media/image148.png" Id="R4088b822534e4940" /><Relationship Type="http://schemas.openxmlformats.org/officeDocument/2006/relationships/notesSlide" Target="/ppt/notesSlides/notesSlide160.xml" Id="Rc3de65770c354c9e" /></Relationships>
</file>

<file path=ppt/slides/_rels/slide161.xml.rels>&#65279;<?xml version="1.0" encoding="utf-8"?><Relationships xmlns="http://schemas.openxmlformats.org/package/2006/relationships"><Relationship Type="http://schemas.openxmlformats.org/officeDocument/2006/relationships/slideLayout" Target="/ppt/slideLayouts/slideLayout1.xml" Id="Re46cb56416324780" /><Relationship Type="http://schemas.openxmlformats.org/officeDocument/2006/relationships/image" Target="/ppt/media/image149.png" Id="Rb1b602d8e73b45cb" /><Relationship Type="http://schemas.openxmlformats.org/officeDocument/2006/relationships/notesSlide" Target="/ppt/notesSlides/notesSlide161.xml" Id="Rcfc65c29d0a04f9d" /></Relationships>
</file>

<file path=ppt/slides/_rels/slide162.xml.rels>&#65279;<?xml version="1.0" encoding="utf-8"?><Relationships xmlns="http://schemas.openxmlformats.org/package/2006/relationships"><Relationship Type="http://schemas.openxmlformats.org/officeDocument/2006/relationships/slideLayout" Target="/ppt/slideLayouts/slideLayout1.xml" Id="Rbce078840560405b" /><Relationship Type="http://schemas.openxmlformats.org/officeDocument/2006/relationships/image" Target="/ppt/media/image8.png" Id="R794f77ddfff2477b" /><Relationship Type="http://schemas.openxmlformats.org/officeDocument/2006/relationships/notesSlide" Target="/ppt/notesSlides/notesSlide162.xml" Id="R71f3c5c495284d9a" /></Relationships>
</file>

<file path=ppt/slides/_rels/slide163.xml.rels>&#65279;<?xml version="1.0" encoding="utf-8"?><Relationships xmlns="http://schemas.openxmlformats.org/package/2006/relationships"><Relationship Type="http://schemas.openxmlformats.org/officeDocument/2006/relationships/slideLayout" Target="/ppt/slideLayouts/slideLayout1.xml" Id="Rfa292cf3046d4083" /><Relationship Type="http://schemas.openxmlformats.org/officeDocument/2006/relationships/image" Target="/ppt/media/image150.png" Id="R4f8a9d67e4d44117" /><Relationship Type="http://schemas.openxmlformats.org/officeDocument/2006/relationships/notesSlide" Target="/ppt/notesSlides/notesSlide163.xml" Id="Rb40ca38c620945d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ea33b09c5f634896"/>
          <a:stretch xmlns:a="http://schemas.openxmlformats.org/drawingml/2006/main">
            <a:fillRect l="0" t="0" r="0" b="0"/>
          </a:stretch>
        </p:blipFill>
        <p:spPr>
          <a:xfrm xmlns:a="http://schemas.openxmlformats.org/drawingml/2006/main">
            <a:off x="640080" y="502920"/>
            <a:ext cx="2286000" cy="557784"/>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F6F99316-7FE2-4325-90BC-2B12FE50F376}"/>
              </a:ext>
            </a:extLst>
          </p:cNvPr>
          <p:cNvSpPr>
            <a:spLocks xmlns:a="http://schemas.openxmlformats.org/drawingml/2006/main" noGrp="1"/>
          </p:cNvSpPr>
          <p:nvPr/>
        </p:nvSpPr>
        <p:spPr>
          <a:xfrm xmlns:a="http://schemas.openxmlformats.org/drawingml/2006/main" rot="5400000" flipH="1">
            <a:off x="8595360" y="1481328"/>
            <a:ext cx="438912" cy="384048"/>
          </a:xfrm>
          <a:prstGeom xmlns:a="http://schemas.openxmlformats.org/drawingml/2006/main" prst="triangle">
            <a:avLst/>
          </a:prstGeom>
          <a:solidFill xmlns:a="http://schemas.openxmlformats.org/drawingml/2006/main">
            <a:srgbClr val="00A79D"/>
          </a:solidFill>
        </p:spPr>
      </p:sp>
      <p:sp>
        <p:nvSpPr>
          <p:cNvPr id="4" name="Shape 1">
            <a:extLst xmlns:a="http://schemas.openxmlformats.org/drawingml/2006/main">
              <a:ext uri="{FF2B5EF4-FFF2-40B4-BE49-F238E27FC236}">
                <a16:creationId xmlns:a16="http://schemas.microsoft.com/office/drawing/2014/main" id="{7CC38608-DBC5-4951-963E-BAB494D744FB}"/>
              </a:ext>
            </a:extLst>
          </p:cNvPr>
          <p:cNvSpPr>
            <a:spLocks xmlns:a="http://schemas.openxmlformats.org/drawingml/2006/main" noGrp="1"/>
          </p:cNvSpPr>
          <p:nvPr/>
        </p:nvSpPr>
        <p:spPr>
          <a:xfrm xmlns:a="http://schemas.openxmlformats.org/drawingml/2006/main" rot="5400000">
            <a:off x="9060607" y="1097280"/>
            <a:ext cx="438912" cy="384048"/>
          </a:xfrm>
          <a:prstGeom xmlns:a="http://schemas.openxmlformats.org/drawingml/2006/main" prst="triangle">
            <a:avLst/>
          </a:prstGeom>
          <a:solidFill xmlns:a="http://schemas.openxmlformats.org/drawingml/2006/main">
            <a:srgbClr val="29ABE2"/>
          </a:solidFill>
        </p:spPr>
      </p:sp>
      <p:sp>
        <p:nvSpPr>
          <p:cNvPr id="5" name="Shape 2">
            <a:extLst xmlns:a="http://schemas.openxmlformats.org/drawingml/2006/main">
              <a:ext uri="{FF2B5EF4-FFF2-40B4-BE49-F238E27FC236}">
                <a16:creationId xmlns:a16="http://schemas.microsoft.com/office/drawing/2014/main" id="{F0014D7A-6B1F-41E9-8E71-973F09661610}"/>
              </a:ext>
            </a:extLst>
          </p:cNvPr>
          <p:cNvSpPr>
            <a:spLocks xmlns:a="http://schemas.openxmlformats.org/drawingml/2006/main" noGrp="1"/>
          </p:cNvSpPr>
          <p:nvPr/>
        </p:nvSpPr>
        <p:spPr>
          <a:xfrm xmlns:a="http://schemas.openxmlformats.org/drawingml/2006/main" rot="5400000">
            <a:off x="9060607" y="1865376"/>
            <a:ext cx="438912" cy="384048"/>
          </a:xfrm>
          <a:prstGeom xmlns:a="http://schemas.openxmlformats.org/drawingml/2006/main" prst="triangle">
            <a:avLst/>
          </a:prstGeom>
          <a:solidFill xmlns:a="http://schemas.openxmlformats.org/drawingml/2006/main">
            <a:srgbClr val="F58220"/>
          </a:solidFill>
        </p:spPr>
      </p:sp>
      <p:sp>
        <p:nvSpPr>
          <p:cNvPr id="6" name="Shape 3">
            <a:extLst xmlns:a="http://schemas.openxmlformats.org/drawingml/2006/main">
              <a:ext uri="{FF2B5EF4-FFF2-40B4-BE49-F238E27FC236}">
                <a16:creationId xmlns:a16="http://schemas.microsoft.com/office/drawing/2014/main" id="{9AB12518-474E-41D4-AED3-713D7955019F}"/>
              </a:ext>
            </a:extLst>
          </p:cNvPr>
          <p:cNvSpPr>
            <a:spLocks xmlns:a="http://schemas.openxmlformats.org/drawingml/2006/main" noGrp="1"/>
          </p:cNvSpPr>
          <p:nvPr/>
        </p:nvSpPr>
        <p:spPr>
          <a:xfrm xmlns:a="http://schemas.openxmlformats.org/drawingml/2006/main" rot="5400000" flipH="1">
            <a:off x="9525853" y="713232"/>
            <a:ext cx="438912" cy="384048"/>
          </a:xfrm>
          <a:prstGeom xmlns:a="http://schemas.openxmlformats.org/drawingml/2006/main" prst="triangle">
            <a:avLst/>
          </a:prstGeom>
          <a:solidFill xmlns:a="http://schemas.openxmlformats.org/drawingml/2006/main">
            <a:srgbClr val="8DC63F"/>
          </a:solidFill>
        </p:spPr>
      </p:sp>
      <p:sp>
        <p:nvSpPr>
          <p:cNvPr id="7" name="Shape 4">
            <a:extLst xmlns:a="http://schemas.openxmlformats.org/drawingml/2006/main">
              <a:ext uri="{FF2B5EF4-FFF2-40B4-BE49-F238E27FC236}">
                <a16:creationId xmlns:a16="http://schemas.microsoft.com/office/drawing/2014/main" id="{72FFFA37-C2C3-40DB-B95D-0A830ADAA7CE}"/>
              </a:ext>
            </a:extLst>
          </p:cNvPr>
          <p:cNvSpPr>
            <a:spLocks xmlns:a="http://schemas.openxmlformats.org/drawingml/2006/main" noGrp="1"/>
          </p:cNvSpPr>
          <p:nvPr/>
        </p:nvSpPr>
        <p:spPr>
          <a:xfrm xmlns:a="http://schemas.openxmlformats.org/drawingml/2006/main" rot="5400000">
            <a:off x="9525853" y="1481328"/>
            <a:ext cx="438912" cy="384048"/>
          </a:xfrm>
          <a:prstGeom xmlns:a="http://schemas.openxmlformats.org/drawingml/2006/main" prst="triangle">
            <a:avLst/>
          </a:prstGeom>
          <a:solidFill xmlns:a="http://schemas.openxmlformats.org/drawingml/2006/main">
            <a:srgbClr val="B9C8E8"/>
          </a:solidFill>
        </p:spPr>
      </p:sp>
      <p:sp>
        <p:nvSpPr>
          <p:cNvPr id="8" name="Shape 5">
            <a:extLst xmlns:a="http://schemas.openxmlformats.org/drawingml/2006/main">
              <a:ext uri="{FF2B5EF4-FFF2-40B4-BE49-F238E27FC236}">
                <a16:creationId xmlns:a16="http://schemas.microsoft.com/office/drawing/2014/main" id="{581D71AE-F73D-4DCB-B523-BCBD806230F7}"/>
              </a:ext>
            </a:extLst>
          </p:cNvPr>
          <p:cNvSpPr>
            <a:spLocks xmlns:a="http://schemas.openxmlformats.org/drawingml/2006/main" noGrp="1"/>
          </p:cNvSpPr>
          <p:nvPr/>
        </p:nvSpPr>
        <p:spPr>
          <a:xfrm xmlns:a="http://schemas.openxmlformats.org/drawingml/2006/main" rot="5400000">
            <a:off x="9991100" y="1097280"/>
            <a:ext cx="438912" cy="384048"/>
          </a:xfrm>
          <a:prstGeom xmlns:a="http://schemas.openxmlformats.org/drawingml/2006/main" prst="triangle">
            <a:avLst/>
          </a:prstGeom>
          <a:solidFill xmlns:a="http://schemas.openxmlformats.org/drawingml/2006/main">
            <a:srgbClr val="00A79D"/>
          </a:solidFill>
        </p:spPr>
      </p:sp>
      <p:sp>
        <p:nvSpPr>
          <p:cNvPr id="9" name="Shape 6">
            <a:extLst xmlns:a="http://schemas.openxmlformats.org/drawingml/2006/main">
              <a:ext uri="{FF2B5EF4-FFF2-40B4-BE49-F238E27FC236}">
                <a16:creationId xmlns:a16="http://schemas.microsoft.com/office/drawing/2014/main" id="{23789E50-9A12-4447-8F4E-1F0C45F45252}"/>
              </a:ext>
            </a:extLst>
          </p:cNvPr>
          <p:cNvSpPr>
            <a:spLocks xmlns:a="http://schemas.openxmlformats.org/drawingml/2006/main" noGrp="1"/>
          </p:cNvSpPr>
          <p:nvPr/>
        </p:nvSpPr>
        <p:spPr>
          <a:xfrm xmlns:a="http://schemas.openxmlformats.org/drawingml/2006/main" rot="5400000" flipH="1">
            <a:off x="9991100" y="1865376"/>
            <a:ext cx="438912" cy="384048"/>
          </a:xfrm>
          <a:prstGeom xmlns:a="http://schemas.openxmlformats.org/drawingml/2006/main" prst="triangle">
            <a:avLst/>
          </a:prstGeom>
          <a:solidFill xmlns:a="http://schemas.openxmlformats.org/drawingml/2006/main">
            <a:srgbClr val="29ABE2"/>
          </a:solidFill>
        </p:spPr>
      </p:sp>
      <p:sp>
        <p:nvSpPr>
          <p:cNvPr id="10" name="Shape 7">
            <a:extLst xmlns:a="http://schemas.openxmlformats.org/drawingml/2006/main">
              <a:ext uri="{FF2B5EF4-FFF2-40B4-BE49-F238E27FC236}">
                <a16:creationId xmlns:a16="http://schemas.microsoft.com/office/drawing/2014/main" id="{658024FB-EA42-42FA-86D0-50A9AC8ED782}"/>
              </a:ext>
            </a:extLst>
          </p:cNvPr>
          <p:cNvSpPr>
            <a:spLocks xmlns:a="http://schemas.openxmlformats.org/drawingml/2006/main" noGrp="1"/>
          </p:cNvSpPr>
          <p:nvPr/>
        </p:nvSpPr>
        <p:spPr>
          <a:xfrm xmlns:a="http://schemas.openxmlformats.org/drawingml/2006/main" rot="5400000">
            <a:off x="10456347" y="1481328"/>
            <a:ext cx="438912" cy="384048"/>
          </a:xfrm>
          <a:prstGeom xmlns:a="http://schemas.openxmlformats.org/drawingml/2006/main" prst="triangle">
            <a:avLst/>
          </a:prstGeom>
          <a:solidFill xmlns:a="http://schemas.openxmlformats.org/drawingml/2006/main">
            <a:srgbClr val="F58220"/>
          </a:solidFill>
        </p:spPr>
      </p:sp>
      <p:sp>
        <p:nvSpPr>
          <p:cNvPr id="11" name="Shape 8">
            <a:extLst xmlns:a="http://schemas.openxmlformats.org/drawingml/2006/main">
              <a:ext uri="{FF2B5EF4-FFF2-40B4-BE49-F238E27FC236}">
                <a16:creationId xmlns:a16="http://schemas.microsoft.com/office/drawing/2014/main" id="{8199DC61-5D58-47BC-81AD-DA25C102B3AD}"/>
              </a:ext>
            </a:extLst>
          </p:cNvPr>
          <p:cNvSpPr>
            <a:spLocks xmlns:a="http://schemas.openxmlformats.org/drawingml/2006/main" noGrp="1"/>
          </p:cNvSpPr>
          <p:nvPr/>
        </p:nvSpPr>
        <p:spPr>
          <a:xfrm xmlns:a="http://schemas.openxmlformats.org/drawingml/2006/main" rot="5400000" flipH="1">
            <a:off x="9692640" y="5703570"/>
            <a:ext cx="301752" cy="264033"/>
          </a:xfrm>
          <a:prstGeom xmlns:a="http://schemas.openxmlformats.org/drawingml/2006/main" prst="triangle">
            <a:avLst/>
          </a:prstGeom>
          <a:solidFill xmlns:a="http://schemas.openxmlformats.org/drawingml/2006/main">
            <a:srgbClr val="B9C8E8"/>
          </a:solidFill>
        </p:spPr>
      </p:sp>
      <p:sp>
        <p:nvSpPr>
          <p:cNvPr id="12" name="Shape 9">
            <a:extLst xmlns:a="http://schemas.openxmlformats.org/drawingml/2006/main">
              <a:ext uri="{FF2B5EF4-FFF2-40B4-BE49-F238E27FC236}">
                <a16:creationId xmlns:a16="http://schemas.microsoft.com/office/drawing/2014/main" id="{25D86889-A5E4-402D-BB1D-D27B56514105}"/>
              </a:ext>
            </a:extLst>
          </p:cNvPr>
          <p:cNvSpPr>
            <a:spLocks xmlns:a="http://schemas.openxmlformats.org/drawingml/2006/main" noGrp="1"/>
          </p:cNvSpPr>
          <p:nvPr/>
        </p:nvSpPr>
        <p:spPr>
          <a:xfrm xmlns:a="http://schemas.openxmlformats.org/drawingml/2006/main" rot="5400000">
            <a:off x="10012497" y="5439537"/>
            <a:ext cx="301752" cy="264033"/>
          </a:xfrm>
          <a:prstGeom xmlns:a="http://schemas.openxmlformats.org/drawingml/2006/main" prst="triangle">
            <a:avLst/>
          </a:prstGeom>
          <a:solidFill xmlns:a="http://schemas.openxmlformats.org/drawingml/2006/main">
            <a:srgbClr val="DCE6F8"/>
          </a:solidFill>
        </p:spPr>
      </p:sp>
      <p:sp>
        <p:nvSpPr>
          <p:cNvPr id="13" name="Shape 10">
            <a:extLst xmlns:a="http://schemas.openxmlformats.org/drawingml/2006/main">
              <a:ext uri="{FF2B5EF4-FFF2-40B4-BE49-F238E27FC236}">
                <a16:creationId xmlns:a16="http://schemas.microsoft.com/office/drawing/2014/main" id="{3E700544-9785-4668-B744-C3D59CEA0E96}"/>
              </a:ext>
            </a:extLst>
          </p:cNvPr>
          <p:cNvSpPr>
            <a:spLocks xmlns:a="http://schemas.openxmlformats.org/drawingml/2006/main" noGrp="1"/>
          </p:cNvSpPr>
          <p:nvPr/>
        </p:nvSpPr>
        <p:spPr>
          <a:xfrm xmlns:a="http://schemas.openxmlformats.org/drawingml/2006/main" rot="5400000">
            <a:off x="10012497" y="5967603"/>
            <a:ext cx="301752" cy="264033"/>
          </a:xfrm>
          <a:prstGeom xmlns:a="http://schemas.openxmlformats.org/drawingml/2006/main" prst="triangle">
            <a:avLst/>
          </a:prstGeom>
          <a:solidFill xmlns:a="http://schemas.openxmlformats.org/drawingml/2006/main">
            <a:srgbClr val="00A79D"/>
          </a:solidFill>
        </p:spPr>
      </p:sp>
      <p:sp>
        <p:nvSpPr>
          <p:cNvPr id="14" name="Shape 11">
            <a:extLst xmlns:a="http://schemas.openxmlformats.org/drawingml/2006/main">
              <a:ext uri="{FF2B5EF4-FFF2-40B4-BE49-F238E27FC236}">
                <a16:creationId xmlns:a16="http://schemas.microsoft.com/office/drawing/2014/main" id="{08B8691C-85F2-443F-92D2-05B9011FF433}"/>
              </a:ext>
            </a:extLst>
          </p:cNvPr>
          <p:cNvSpPr>
            <a:spLocks xmlns:a="http://schemas.openxmlformats.org/drawingml/2006/main" noGrp="1"/>
          </p:cNvSpPr>
          <p:nvPr/>
        </p:nvSpPr>
        <p:spPr>
          <a:xfrm xmlns:a="http://schemas.openxmlformats.org/drawingml/2006/main" rot="5400000" flipH="1">
            <a:off x="10332354" y="5175504"/>
            <a:ext cx="301752" cy="264033"/>
          </a:xfrm>
          <a:prstGeom xmlns:a="http://schemas.openxmlformats.org/drawingml/2006/main" prst="triangle">
            <a:avLst/>
          </a:prstGeom>
          <a:solidFill xmlns:a="http://schemas.openxmlformats.org/drawingml/2006/main">
            <a:srgbClr val="29ABE2"/>
          </a:solidFill>
        </p:spPr>
      </p:sp>
      <p:sp>
        <p:nvSpPr>
          <p:cNvPr id="15" name="Shape 12">
            <a:extLst xmlns:a="http://schemas.openxmlformats.org/drawingml/2006/main">
              <a:ext uri="{FF2B5EF4-FFF2-40B4-BE49-F238E27FC236}">
                <a16:creationId xmlns:a16="http://schemas.microsoft.com/office/drawing/2014/main" id="{6C02DA70-26F4-4408-9AFF-27D4ADC3509E}"/>
              </a:ext>
            </a:extLst>
          </p:cNvPr>
          <p:cNvSpPr>
            <a:spLocks xmlns:a="http://schemas.openxmlformats.org/drawingml/2006/main" noGrp="1"/>
          </p:cNvSpPr>
          <p:nvPr/>
        </p:nvSpPr>
        <p:spPr>
          <a:xfrm xmlns:a="http://schemas.openxmlformats.org/drawingml/2006/main" rot="5400000">
            <a:off x="10332354" y="5703570"/>
            <a:ext cx="301752" cy="264033"/>
          </a:xfrm>
          <a:prstGeom xmlns:a="http://schemas.openxmlformats.org/drawingml/2006/main" prst="triangle">
            <a:avLst/>
          </a:prstGeom>
          <a:solidFill xmlns:a="http://schemas.openxmlformats.org/drawingml/2006/main">
            <a:srgbClr val="B9C8E8"/>
          </a:solidFill>
        </p:spPr>
      </p:sp>
      <p:sp>
        <p:nvSpPr>
          <p:cNvPr id="16" name="Shape 13">
            <a:extLst xmlns:a="http://schemas.openxmlformats.org/drawingml/2006/main">
              <a:ext uri="{FF2B5EF4-FFF2-40B4-BE49-F238E27FC236}">
                <a16:creationId xmlns:a16="http://schemas.microsoft.com/office/drawing/2014/main" id="{D4027C82-A5FC-4DC5-9175-A7F04917FADD}"/>
              </a:ext>
            </a:extLst>
          </p:cNvPr>
          <p:cNvSpPr>
            <a:spLocks xmlns:a="http://schemas.openxmlformats.org/drawingml/2006/main" noGrp="1"/>
          </p:cNvSpPr>
          <p:nvPr/>
        </p:nvSpPr>
        <p:spPr>
          <a:xfrm xmlns:a="http://schemas.openxmlformats.org/drawingml/2006/main" rot="5400000">
            <a:off x="10652211" y="5439537"/>
            <a:ext cx="301752" cy="264033"/>
          </a:xfrm>
          <a:prstGeom xmlns:a="http://schemas.openxmlformats.org/drawingml/2006/main" prst="triangle">
            <a:avLst/>
          </a:prstGeom>
          <a:solidFill xmlns:a="http://schemas.openxmlformats.org/drawingml/2006/main">
            <a:srgbClr val="DCE6F8"/>
          </a:solidFill>
        </p:spPr>
      </p:sp>
      <p:sp>
        <p:nvSpPr>
          <p:cNvPr id="17" name="Shape 14">
            <a:extLst xmlns:a="http://schemas.openxmlformats.org/drawingml/2006/main">
              <a:ext uri="{FF2B5EF4-FFF2-40B4-BE49-F238E27FC236}">
                <a16:creationId xmlns:a16="http://schemas.microsoft.com/office/drawing/2014/main" id="{0E7828F1-F003-41A9-9649-F9CBB272FCD0}"/>
              </a:ext>
            </a:extLst>
          </p:cNvPr>
          <p:cNvSpPr>
            <a:spLocks xmlns:a="http://schemas.openxmlformats.org/drawingml/2006/main" noGrp="1"/>
          </p:cNvSpPr>
          <p:nvPr/>
        </p:nvSpPr>
        <p:spPr>
          <a:xfrm xmlns:a="http://schemas.openxmlformats.org/drawingml/2006/main" rot="5400000" flipH="1">
            <a:off x="10652211" y="5967603"/>
            <a:ext cx="301752" cy="264033"/>
          </a:xfrm>
          <a:prstGeom xmlns:a="http://schemas.openxmlformats.org/drawingml/2006/main" prst="triangle">
            <a:avLst/>
          </a:prstGeom>
          <a:solidFill xmlns:a="http://schemas.openxmlformats.org/drawingml/2006/main">
            <a:srgbClr val="00A79D"/>
          </a:solidFill>
        </p:spPr>
      </p:sp>
      <p:sp>
        <p:nvSpPr>
          <p:cNvPr id="18" name="Shape 15">
            <a:extLst xmlns:a="http://schemas.openxmlformats.org/drawingml/2006/main">
              <a:ext uri="{FF2B5EF4-FFF2-40B4-BE49-F238E27FC236}">
                <a16:creationId xmlns:a16="http://schemas.microsoft.com/office/drawing/2014/main" id="{67317377-C415-4683-94C1-7144E03379C3}"/>
              </a:ext>
            </a:extLst>
          </p:cNvPr>
          <p:cNvSpPr>
            <a:spLocks xmlns:a="http://schemas.openxmlformats.org/drawingml/2006/main" noGrp="1"/>
          </p:cNvSpPr>
          <p:nvPr/>
        </p:nvSpPr>
        <p:spPr>
          <a:xfrm xmlns:a="http://schemas.openxmlformats.org/drawingml/2006/main" rot="5400000">
            <a:off x="10972068" y="5703570"/>
            <a:ext cx="301752" cy="264033"/>
          </a:xfrm>
          <a:prstGeom xmlns:a="http://schemas.openxmlformats.org/drawingml/2006/main" prst="triangle">
            <a:avLst/>
          </a:prstGeom>
          <a:solidFill xmlns:a="http://schemas.openxmlformats.org/drawingml/2006/main">
            <a:srgbClr val="29ABE2"/>
          </a:solidFill>
        </p:spPr>
      </p:sp>
      <p:sp>
        <p:nvSpPr>
          <p:cNvPr id="19" name="Text 16">
            <a:extLst xmlns:a="http://schemas.openxmlformats.org/drawingml/2006/main">
              <a:ext uri="{FF2B5EF4-FFF2-40B4-BE49-F238E27FC236}">
                <a16:creationId xmlns:a16="http://schemas.microsoft.com/office/drawing/2014/main" id="{8F1F6550-BFA7-4E0C-9FDE-71783490E0AE}"/>
              </a:ext>
            </a:extLst>
          </p:cNvPr>
          <p:cNvSpPr>
            <a:spLocks xmlns:a="http://schemas.openxmlformats.org/drawingml/2006/main" noGrp="1"/>
          </p:cNvSpPr>
          <p:nvPr/>
        </p:nvSpPr>
        <p:spPr>
          <a:xfrm xmlns:a="http://schemas.openxmlformats.org/drawingml/2006/main">
            <a:off x="685800" y="2331720"/>
            <a:ext cx="100584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spc="300">
                <a:solidFill>
                  <a:srgbClr val="5F6B7A"/>
                </a:solidFill>
                <a:latin typeface="Calibri"/>
                <a:ea typeface="Calibri"/>
                <a:cs typeface="Calibri"/>
              </a:rPr>
              <a:t>SDAIA ACADEMY · AI ENGINEER TRACK</a:t>
            </a:r>
            <a:endParaRPr sz="1250"/>
          </a:p>
        </p:txBody>
      </p:sp>
      <p:sp>
        <p:nvSpPr>
          <p:cNvPr id="20" name="Text 17">
            <a:extLst xmlns:a="http://schemas.openxmlformats.org/drawingml/2006/main">
              <a:ext uri="{FF2B5EF4-FFF2-40B4-BE49-F238E27FC236}">
                <a16:creationId xmlns:a16="http://schemas.microsoft.com/office/drawing/2014/main" id="{59A21672-0BCB-4C22-B9B0-817618D2F8A5}"/>
              </a:ext>
            </a:extLst>
          </p:cNvPr>
          <p:cNvSpPr>
            <a:spLocks xmlns:a="http://schemas.openxmlformats.org/drawingml/2006/main" noGrp="1"/>
          </p:cNvSpPr>
          <p:nvPr/>
        </p:nvSpPr>
        <p:spPr>
          <a:xfrm xmlns:a="http://schemas.openxmlformats.org/drawingml/2006/main">
            <a:off x="658368" y="2697480"/>
            <a:ext cx="10881360" cy="9601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4000" b="1">
                <a:solidFill>
                  <a:srgbClr val="1D2A5C"/>
                </a:solidFill>
                <a:latin typeface="Calibri"/>
                <a:ea typeface="Calibri"/>
                <a:cs typeface="Calibri"/>
              </a:rPr>
              <a:t>Software Engineering Practices for AI Systems</a:t>
            </a:r>
            <a:endParaRPr sz="4000"/>
          </a:p>
        </p:txBody>
      </p:sp>
      <p:sp>
        <p:nvSpPr>
          <p:cNvPr id="21" name="Text 18">
            <a:extLst xmlns:a="http://schemas.openxmlformats.org/drawingml/2006/main">
              <a:ext uri="{FF2B5EF4-FFF2-40B4-BE49-F238E27FC236}">
                <a16:creationId xmlns:a16="http://schemas.microsoft.com/office/drawing/2014/main" id="{939EDC32-0676-4B0D-B6AC-10569EB7A9EA}"/>
              </a:ext>
            </a:extLst>
          </p:cNvPr>
          <p:cNvSpPr>
            <a:spLocks xmlns:a="http://schemas.openxmlformats.org/drawingml/2006/main" noGrp="1"/>
          </p:cNvSpPr>
          <p:nvPr/>
        </p:nvSpPr>
        <p:spPr>
          <a:xfrm xmlns:a="http://schemas.openxmlformats.org/drawingml/2006/main">
            <a:off x="685800" y="3657600"/>
            <a:ext cx="1088136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000">
                <a:solidFill>
                  <a:srgbClr val="00A79D"/>
                </a:solidFill>
                <a:latin typeface="Calibri"/>
                <a:ea typeface="Calibri"/>
                <a:cs typeface="Calibri"/>
              </a:rPr>
              <a:t>ممارسات هندسة البرمجيات لأنظمة الذكاء الاصطناعي</a:t>
            </a:r>
            <a:endParaRPr sz="2000"/>
          </a:p>
        </p:txBody>
      </p:sp>
      <p:sp>
        <p:nvSpPr>
          <p:cNvPr id="22" name="Text 19">
            <a:extLst xmlns:a="http://schemas.openxmlformats.org/drawingml/2006/main">
              <a:ext uri="{FF2B5EF4-FFF2-40B4-BE49-F238E27FC236}">
                <a16:creationId xmlns:a16="http://schemas.microsoft.com/office/drawing/2014/main" id="{8BA022D3-7CF4-4343-8C44-470B1CC8FCCB}"/>
              </a:ext>
            </a:extLst>
          </p:cNvPr>
          <p:cNvSpPr>
            <a:spLocks xmlns:a="http://schemas.openxmlformats.org/drawingml/2006/main" noGrp="1"/>
          </p:cNvSpPr>
          <p:nvPr/>
        </p:nvSpPr>
        <p:spPr>
          <a:xfrm xmlns:a="http://schemas.openxmlformats.org/drawingml/2006/main">
            <a:off x="685800" y="434340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a:solidFill>
                  <a:srgbClr val="5F6B7A"/>
                </a:solidFill>
                <a:latin typeface="Calibri"/>
                <a:ea typeface="Calibri"/>
                <a:cs typeface="Calibri"/>
              </a:rPr>
              <a:t>Instructor-Ready Training Deck</a:t>
            </a:r>
            <a:endParaRPr sz="1500"/>
          </a:p>
        </p:txBody>
      </p:sp>
      <p:sp>
        <p:nvSpPr>
          <p:cNvPr id="23" name="Text 20">
            <a:extLst xmlns:a="http://schemas.openxmlformats.org/drawingml/2006/main">
              <a:ext uri="{FF2B5EF4-FFF2-40B4-BE49-F238E27FC236}">
                <a16:creationId xmlns:a16="http://schemas.microsoft.com/office/drawing/2014/main" id="{2AD3770F-2804-4C4E-9135-7BC62E321C7F}"/>
              </a:ext>
            </a:extLst>
          </p:cNvPr>
          <p:cNvSpPr>
            <a:spLocks xmlns:a="http://schemas.openxmlformats.org/drawingml/2006/main" noGrp="1"/>
          </p:cNvSpPr>
          <p:nvPr/>
        </p:nvSpPr>
        <p:spPr>
          <a:xfrm xmlns:a="http://schemas.openxmlformats.org/drawingml/2006/main">
            <a:off x="685800" y="4983480"/>
            <a:ext cx="1389888" cy="420624"/>
          </a:xfrm>
          <a:prstGeom xmlns:a="http://schemas.openxmlformats.org/drawingml/2006/main" prst="roundRect">
            <a:avLst>
              <a:gd name="adj" fmla="val 13043"/>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150" b="1">
                <a:solidFill>
                  <a:srgbClr val="FFFFFF"/>
                </a:solidFill>
                <a:latin typeface="Calibri"/>
                <a:ea typeface="Calibri"/>
                <a:cs typeface="Calibri"/>
              </a:rPr>
              <a:t>SDA-AIE-113</a:t>
            </a:r>
            <a:endParaRPr sz="1150"/>
          </a:p>
        </p:txBody>
      </p:sp>
      <p:sp>
        <p:nvSpPr>
          <p:cNvPr id="24" name="Text 21">
            <a:extLst xmlns:a="http://schemas.openxmlformats.org/drawingml/2006/main">
              <a:ext uri="{FF2B5EF4-FFF2-40B4-BE49-F238E27FC236}">
                <a16:creationId xmlns:a16="http://schemas.microsoft.com/office/drawing/2014/main" id="{4D1BD407-55AA-4CC5-BC8D-3B016347349D}"/>
              </a:ext>
            </a:extLst>
          </p:cNvPr>
          <p:cNvSpPr>
            <a:spLocks xmlns:a="http://schemas.openxmlformats.org/drawingml/2006/main" noGrp="1"/>
          </p:cNvSpPr>
          <p:nvPr/>
        </p:nvSpPr>
        <p:spPr>
          <a:xfrm xmlns:a="http://schemas.openxmlformats.org/drawingml/2006/main">
            <a:off x="2304288" y="4983480"/>
            <a:ext cx="1819656" cy="420624"/>
          </a:xfrm>
          <a:prstGeom xmlns:a="http://schemas.openxmlformats.org/drawingml/2006/main" prst="roundRect">
            <a:avLst>
              <a:gd name="adj" fmla="val 13043"/>
            </a:avLst>
          </a:prstGeom>
          <a:solidFill xmlns:a="http://schemas.openxmlformats.org/drawingml/2006/main">
            <a:srgbClr val="EEF3FB"/>
          </a:solidFill>
          <a:ln xmlns:a="http://schemas.openxmlformats.org/drawingml/2006/main" w="12700">
            <a:solidFill>
              <a:srgbClr val="D9E4F5"/>
            </a:solidFill>
          </a:ln>
        </p:spPr>
        <p:txBody>
          <a:bodyPr xmlns:a="http://schemas.openxmlformats.org/drawingml/2006/main" wrap="square" anchor="ctr"/>
          <a:lstStyle xmlns:a="http://schemas.openxmlformats.org/drawingml/2006/main"/>
          <a:p xmlns:a="http://schemas.openxmlformats.org/drawingml/2006/main">
            <a:pPr marL="0" indent="0" algn="ctr">
              <a:buNone/>
            </a:pPr>
            <a:r>
              <a:rPr sz="1150" b="1">
                <a:solidFill>
                  <a:srgbClr val="1D2A5C"/>
                </a:solidFill>
                <a:latin typeface="Calibri"/>
                <a:ea typeface="Calibri"/>
                <a:cs typeface="Calibri"/>
              </a:rPr>
              <a:t>Practitioner Level</a:t>
            </a:r>
            <a:endParaRPr sz="1150"/>
          </a:p>
        </p:txBody>
      </p:sp>
      <p:sp>
        <p:nvSpPr>
          <p:cNvPr id="25" name="Text 22">
            <a:extLst xmlns:a="http://schemas.openxmlformats.org/drawingml/2006/main">
              <a:ext uri="{FF2B5EF4-FFF2-40B4-BE49-F238E27FC236}">
                <a16:creationId xmlns:a16="http://schemas.microsoft.com/office/drawing/2014/main" id="{E4E90F27-A23A-40FA-82F0-F2680C8012E8}"/>
              </a:ext>
            </a:extLst>
          </p:cNvPr>
          <p:cNvSpPr>
            <a:spLocks xmlns:a="http://schemas.openxmlformats.org/drawingml/2006/main" noGrp="1"/>
          </p:cNvSpPr>
          <p:nvPr/>
        </p:nvSpPr>
        <p:spPr>
          <a:xfrm xmlns:a="http://schemas.openxmlformats.org/drawingml/2006/main">
            <a:off x="4352544" y="4983480"/>
            <a:ext cx="1819656" cy="420624"/>
          </a:xfrm>
          <a:prstGeom xmlns:a="http://schemas.openxmlformats.org/drawingml/2006/main" prst="roundRect">
            <a:avLst>
              <a:gd name="adj" fmla="val 13043"/>
            </a:avLst>
          </a:prstGeom>
          <a:solidFill xmlns:a="http://schemas.openxmlformats.org/drawingml/2006/main">
            <a:srgbClr val="EEF3FB"/>
          </a:solidFill>
          <a:ln xmlns:a="http://schemas.openxmlformats.org/drawingml/2006/main" w="12700">
            <a:solidFill>
              <a:srgbClr val="D9E4F5"/>
            </a:solidFill>
          </a:ln>
        </p:spPr>
        <p:txBody>
          <a:bodyPr xmlns:a="http://schemas.openxmlformats.org/drawingml/2006/main" wrap="square" anchor="ctr"/>
          <a:lstStyle xmlns:a="http://schemas.openxmlformats.org/drawingml/2006/main"/>
          <a:p xmlns:a="http://schemas.openxmlformats.org/drawingml/2006/main">
            <a:pPr marL="0" indent="0" algn="ctr">
              <a:buNone/>
            </a:pPr>
            <a:r>
              <a:rPr sz="1150" b="1">
                <a:solidFill>
                  <a:srgbClr val="1D2A5C"/>
                </a:solidFill>
                <a:latin typeface="Calibri"/>
                <a:ea typeface="Calibri"/>
                <a:cs typeface="Calibri"/>
              </a:rPr>
              <a:t>3 days × 5 hours</a:t>
            </a:r>
            <a:endParaRPr sz="1150"/>
          </a:p>
        </p:txBody>
      </p:sp>
      <p:sp>
        <p:nvSpPr>
          <p:cNvPr id="26" name="Text 23">
            <a:extLst xmlns:a="http://schemas.openxmlformats.org/drawingml/2006/main">
              <a:ext uri="{FF2B5EF4-FFF2-40B4-BE49-F238E27FC236}">
                <a16:creationId xmlns:a16="http://schemas.microsoft.com/office/drawing/2014/main" id="{8D25194E-6427-48F8-9007-02157A974872}"/>
              </a:ext>
            </a:extLst>
          </p:cNvPr>
          <p:cNvSpPr>
            <a:spLocks xmlns:a="http://schemas.openxmlformats.org/drawingml/2006/main" noGrp="1"/>
          </p:cNvSpPr>
          <p:nvPr/>
        </p:nvSpPr>
        <p:spPr>
          <a:xfrm xmlns:a="http://schemas.openxmlformats.org/drawingml/2006/main">
            <a:off x="6400800" y="4983480"/>
            <a:ext cx="3520440" cy="420624"/>
          </a:xfrm>
          <a:prstGeom xmlns:a="http://schemas.openxmlformats.org/drawingml/2006/main" prst="roundRect">
            <a:avLst>
              <a:gd name="adj" fmla="val 13043"/>
            </a:avLst>
          </a:prstGeom>
          <a:solidFill xmlns:a="http://schemas.openxmlformats.org/drawingml/2006/main">
            <a:srgbClr val="EEF3FB"/>
          </a:solidFill>
          <a:ln xmlns:a="http://schemas.openxmlformats.org/drawingml/2006/main" w="12700">
            <a:solidFill>
              <a:srgbClr val="D9E4F5"/>
            </a:solidFill>
          </a:ln>
        </p:spPr>
        <p:txBody>
          <a:bodyPr xmlns:a="http://schemas.openxmlformats.org/drawingml/2006/main" wrap="square" anchor="ctr"/>
          <a:lstStyle xmlns:a="http://schemas.openxmlformats.org/drawingml/2006/main"/>
          <a:p xmlns:a="http://schemas.openxmlformats.org/drawingml/2006/main">
            <a:pPr marL="0" indent="0" algn="ctr">
              <a:buNone/>
            </a:pPr>
            <a:r>
              <a:rPr sz="1150" b="1">
                <a:solidFill>
                  <a:srgbClr val="1D2A5C"/>
                </a:solidFill>
                <a:latin typeface="Calibri"/>
                <a:ea typeface="Calibri"/>
                <a:cs typeface="Calibri"/>
              </a:rPr>
              <a:t>FastAPI · Docker · pytest · GitHub Actions · pydantic</a:t>
            </a:r>
            <a:endParaRPr sz="1150"/>
          </a:p>
        </p:txBody>
      </p:sp>
      <p:sp>
        <p:nvSpPr>
          <p:cNvPr id="27" name="Text 24">
            <a:extLst xmlns:a="http://schemas.openxmlformats.org/drawingml/2006/main">
              <a:ext uri="{FF2B5EF4-FFF2-40B4-BE49-F238E27FC236}">
                <a16:creationId xmlns:a16="http://schemas.microsoft.com/office/drawing/2014/main" id="{5F2DA3CA-BC52-4EB9-A3BB-065089698B32}"/>
              </a:ext>
            </a:extLst>
          </p:cNvPr>
          <p:cNvSpPr>
            <a:spLocks xmlns:a="http://schemas.openxmlformats.org/drawingml/2006/main" noGrp="1"/>
          </p:cNvSpPr>
          <p:nvPr/>
        </p:nvSpPr>
        <p:spPr>
          <a:xfrm xmlns:a="http://schemas.openxmlformats.org/drawingml/2006/main">
            <a:off x="685800" y="6172200"/>
            <a:ext cx="10789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a:solidFill>
                  <a:srgbClr val="8A96A6"/>
                </a:solidFill>
                <a:latin typeface="Calibri"/>
                <a:ea typeface="Calibri"/>
                <a:cs typeface="Calibri"/>
              </a:rPr>
              <a:t>Instructor Edition — includes speaker notes, labs, quizzes, and assessment rubrics on every module</a:t>
            </a:r>
            <a:endParaRPr sz="1000"/>
          </a:p>
        </p:txBody>
      </p:sp>
    </p:spTree>
    <p:extLst>
      <p:ext uri="{BB962C8B-B14F-4D97-AF65-F5344CB8AC3E}">
        <p14:creationId xmlns:p14="http://schemas.microsoft.com/office/powerpoint/2010/main" val="188150633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B212067-C732-49D6-ADB3-640DEA0D0207}"/>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Course at a glance</a:t>
            </a:r>
            <a:endParaRPr sz="2600"/>
          </a:p>
        </p:txBody>
      </p:sp>
      <p:sp>
        <p:nvSpPr>
          <p:cNvPr id="3" name="Text 1">
            <a:extLst xmlns:a="http://schemas.openxmlformats.org/drawingml/2006/main">
              <a:ext uri="{FF2B5EF4-FFF2-40B4-BE49-F238E27FC236}">
                <a16:creationId xmlns:a16="http://schemas.microsoft.com/office/drawing/2014/main" id="{5301733B-AE1E-4C01-A197-124D0C68B667}"/>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نظرة سريعة على الدورة</a:t>
            </a:r>
            <a:endParaRPr sz="13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3ee110036b084de8"/>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4866121F-3E87-4685-982E-B1C0A0B02ADD}"/>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E253BBE2-2CA0-4A18-880B-F7B8F67A15A1}"/>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OVERVIEW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5AE40D79-CC51-4FFE-ACDB-7656F96AE2EC}"/>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2</a:t>
            </a:r>
            <a:endParaRPr sz="850"/>
          </a:p>
        </p:txBody>
      </p:sp>
      <p:graphicFrame>
        <p:nvGraphicFramePr>
          <p:cNvPr id="16" name="Table 0"/>
          <p:cNvGraphicFramePr/>
          <p:nvPr/>
        </p:nvGraphicFramePr>
        <p:xfrm>
          <a:off xmlns:a="http://schemas.openxmlformats.org/drawingml/2006/main" x="502920" y="1554480"/>
          <a:ext xmlns:a="http://schemas.openxmlformats.org/drawingml/2006/main" cx="11183112" cy="914400"/>
        </p:xfrm>
        <a:graphic xmlns:a="http://schemas.openxmlformats.org/drawingml/2006/main">
          <a:graphicData uri="http://schemas.openxmlformats.org/drawingml/2006/table">
            <a:tbl>
              <a:tblPr/>
              <a:tblGrid>
                <a:gridCol w="5591556"/>
                <a:gridCol w="5591556"/>
              </a:tblGrid>
              <a:tr h="384048">
                <a:tc>
                  <a:txBody>
                    <a:bodyPr/>
                    <a:lstStyle/>
                    <a:p>
                      <a:pPr marL="0" indent="0">
                        <a:buNone/>
                      </a:pPr>
                      <a:r>
                        <a:rPr sz="1100" b="1">
                          <a:solidFill>
                            <a:srgbClr val="FFFFFF"/>
                          </a:solidFill>
                          <a:latin typeface="Calibri"/>
                          <a:ea typeface="Calibri"/>
                          <a:cs typeface="Calibri"/>
                        </a:rPr>
                        <a:t>Field</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c>
                  <a:txBody>
                    <a:bodyPr/>
                    <a:lstStyle/>
                    <a:p>
                      <a:pPr marL="0" indent="0">
                        <a:buNone/>
                      </a:pPr>
                      <a:r>
                        <a:rPr sz="1100" b="1">
                          <a:solidFill>
                            <a:srgbClr val="FFFFFF"/>
                          </a:solidFill>
                          <a:latin typeface="Calibri"/>
                          <a:ea typeface="Calibri"/>
                          <a:cs typeface="Calibri"/>
                        </a:rPr>
                        <a:t>Details</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r>
              <a:tr h="384048">
                <a:tc>
                  <a:txBody>
                    <a:bodyPr/>
                    <a:lstStyle/>
                    <a:p>
                      <a:pPr marL="0" indent="0">
                        <a:buNone/>
                      </a:pPr>
                      <a:r>
                        <a:rPr sz="1050" b="1">
                          <a:solidFill>
                            <a:srgbClr val="1D2A5C"/>
                          </a:solidFill>
                          <a:latin typeface="Calibri"/>
                          <a:ea typeface="Calibri"/>
                          <a:cs typeface="Calibri"/>
                        </a:rPr>
                        <a:t>Level</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Practitioner</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r>
              <a:tr h="384048">
                <a:tc>
                  <a:txBody>
                    <a:bodyPr/>
                    <a:lstStyle/>
                    <a:p>
                      <a:pPr marL="0" indent="0">
                        <a:buNone/>
                      </a:pPr>
                      <a:r>
                        <a:rPr sz="1050" b="1">
                          <a:solidFill>
                            <a:srgbClr val="1D2A5C"/>
                          </a:solidFill>
                          <a:latin typeface="Calibri"/>
                          <a:ea typeface="Calibri"/>
                          <a:cs typeface="Calibri"/>
                        </a:rPr>
                        <a:t>Duration</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3 days × 5 learning hours = 15 hours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r>
              <a:tr h="384048">
                <a:tc>
                  <a:txBody>
                    <a:bodyPr/>
                    <a:lstStyle/>
                    <a:p>
                      <a:pPr marL="0" indent="0">
                        <a:buNone/>
                      </a:pPr>
                      <a:r>
                        <a:rPr sz="1050" b="1">
                          <a:solidFill>
                            <a:srgbClr val="1D2A5C"/>
                          </a:solidFill>
                          <a:latin typeface="Calibri"/>
                          <a:ea typeface="Calibri"/>
                          <a:cs typeface="Calibri"/>
                        </a:rPr>
                        <a:t>Audience</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AI practitioners preparing for production engineering roles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r>
              <a:tr h="384048">
                <a:tc>
                  <a:txBody>
                    <a:bodyPr/>
                    <a:lstStyle/>
                    <a:p>
                      <a:pPr marL="0" indent="0">
                        <a:buNone/>
                      </a:pPr>
                      <a:r>
                        <a:rPr sz="1050" b="1">
                          <a:solidFill>
                            <a:srgbClr val="1D2A5C"/>
                          </a:solidFill>
                          <a:latin typeface="Calibri"/>
                          <a:ea typeface="Calibri"/>
                          <a:cs typeface="Calibri"/>
                        </a:rPr>
                        <a:t>Prerequisites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SDA-FND-103; SDA-AIE-111 recommended</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r>
              <a:tr h="384048">
                <a:tc>
                  <a:txBody>
                    <a:bodyPr/>
                    <a:lstStyle/>
                    <a:p>
                      <a:pPr marL="0" indent="0">
                        <a:buNone/>
                      </a:pPr>
                      <a:r>
                        <a:rPr sz="1050" b="1">
                          <a:solidFill>
                            <a:srgbClr val="1D2A5C"/>
                          </a:solidFill>
                          <a:latin typeface="Calibri"/>
                          <a:ea typeface="Calibri"/>
                          <a:cs typeface="Calibri"/>
                        </a:rPr>
                        <a:t>Assessment</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Labs (60%) + containerised model-service capstone project (40%)</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r>
              <a:tr h="384048">
                <a:tc>
                  <a:txBody>
                    <a:bodyPr/>
                    <a:lstStyle/>
                    <a:p>
                      <a:pPr marL="0" indent="0">
                        <a:buNone/>
                      </a:pPr>
                      <a:r>
                        <a:rPr sz="1050" b="1">
                          <a:solidFill>
                            <a:srgbClr val="1D2A5C"/>
                          </a:solidFill>
                          <a:latin typeface="Calibri"/>
                          <a:ea typeface="Calibri"/>
                          <a:cs typeface="Calibri"/>
                        </a:rPr>
                        <a:t>Stackability</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Engineering badge · required for MLOps modules · next: SDA-AIE-211, SDA-AIE-216</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r>
              <a:tr h="384048">
                <a:tc>
                  <a:txBody>
                    <a:bodyPr/>
                    <a:lstStyle/>
                    <a:p>
                      <a:pPr marL="0" indent="0">
                        <a:buNone/>
                      </a:pPr>
                      <a:r>
                        <a:rPr sz="1050" b="1">
                          <a:solidFill>
                            <a:srgbClr val="1D2A5C"/>
                          </a:solidFill>
                          <a:latin typeface="Calibri"/>
                          <a:ea typeface="Calibri"/>
                          <a:cs typeface="Calibri"/>
                        </a:rPr>
                        <a:t>Tools &amp; platforms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FastAPI · Docker · pytest · GitHub Actions · pydantic</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r>
            </a:tbl>
          </a:graphicData>
        </a:graphic>
      </p:graphicFrame>
    </p:spTree>
    <p:extLst>
      <p:ext uri="{BB962C8B-B14F-4D97-AF65-F5344CB8AC3E}">
        <p14:creationId xmlns:p14="http://schemas.microsoft.com/office/powerpoint/2010/main" val="48834573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5D8FD87-0606-40D7-9BDE-744B67C43BB2}"/>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The golden thread: one evolving service</a:t>
            </a:r>
            <a:endParaRPr sz="2600"/>
          </a:p>
        </p:txBody>
      </p:sp>
      <p:sp>
        <p:nvSpPr>
          <p:cNvPr id="3" name="Text 1">
            <a:extLst xmlns:a="http://schemas.openxmlformats.org/drawingml/2006/main">
              <a:ext uri="{FF2B5EF4-FFF2-40B4-BE49-F238E27FC236}">
                <a16:creationId xmlns:a16="http://schemas.microsoft.com/office/drawing/2014/main" id="{97483F5B-0178-4DBC-9740-EACE7529E46D}"/>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الخيط الذهبي: خدمة واحدة تتطور</a:t>
            </a:r>
            <a:endParaRPr sz="1300"/>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c7fd1d3d970f4ff1"/>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5062321A-43C2-416D-9D97-1E5C98E59915}"/>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2411880A-C0EA-4F22-95FA-A682EEB743D6}"/>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OVERVIEW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70E07BD9-92C6-4435-84BD-BC717142AB3E}"/>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3</a:t>
            </a:r>
            <a:endParaRPr sz="850"/>
          </a:p>
        </p:txBody>
      </p:sp>
      <p:sp>
        <p:nvSpPr>
          <p:cNvPr id="8" name="Shape 5">
            <a:extLst xmlns:a="http://schemas.openxmlformats.org/drawingml/2006/main">
              <a:ext uri="{FF2B5EF4-FFF2-40B4-BE49-F238E27FC236}">
                <a16:creationId xmlns:a16="http://schemas.microsoft.com/office/drawing/2014/main" id="{BE9AC2A4-E45F-4648-849A-5CB7377019CC}"/>
              </a:ext>
            </a:extLst>
          </p:cNvPr>
          <p:cNvSpPr>
            <a:spLocks xmlns:a="http://schemas.openxmlformats.org/drawingml/2006/main" noGrp="1"/>
          </p:cNvSpPr>
          <p:nvPr/>
        </p:nvSpPr>
        <p:spPr>
          <a:xfrm xmlns:a="http://schemas.openxmlformats.org/drawingml/2006/main">
            <a:off x="502920"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72EF1646-026F-4715-9CFC-6E8E09DD2050}"/>
              </a:ext>
            </a:extLst>
          </p:cNvPr>
          <p:cNvSpPr>
            <a:spLocks xmlns:a="http://schemas.openxmlformats.org/drawingml/2006/main" noGrp="1"/>
          </p:cNvSpPr>
          <p:nvPr/>
        </p:nvSpPr>
        <p:spPr>
          <a:xfrm xmlns:a="http://schemas.openxmlformats.org/drawingml/2006/main">
            <a:off x="502920" y="1965960"/>
            <a:ext cx="1929384" cy="82296"/>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6B457373-E694-4432-965A-B9C7DA3952AA}"/>
              </a:ext>
            </a:extLst>
          </p:cNvPr>
          <p:cNvSpPr>
            <a:spLocks xmlns:a="http://schemas.openxmlformats.org/drawingml/2006/main" noGrp="1"/>
          </p:cNvSpPr>
          <p:nvPr/>
        </p:nvSpPr>
        <p:spPr>
          <a:xfrm xmlns:a="http://schemas.openxmlformats.org/drawingml/2006/main">
            <a:off x="640080"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00A79D"/>
                </a:solidFill>
                <a:latin typeface="Calibri"/>
                <a:ea typeface="Calibri"/>
                <a:cs typeface="Calibri"/>
              </a:rPr>
              <a:t>STEP 1</a:t>
            </a:r>
            <a:endParaRPr sz="900"/>
          </a:p>
        </p:txBody>
      </p:sp>
      <p:sp>
        <p:nvSpPr>
          <p:cNvPr id="11" name="Text 8">
            <a:extLst xmlns:a="http://schemas.openxmlformats.org/drawingml/2006/main">
              <a:ext uri="{FF2B5EF4-FFF2-40B4-BE49-F238E27FC236}">
                <a16:creationId xmlns:a16="http://schemas.microsoft.com/office/drawing/2014/main" id="{22427626-E9A5-4676-915A-BA8A96F90D1C}"/>
              </a:ext>
            </a:extLst>
          </p:cNvPr>
          <p:cNvSpPr>
            <a:spLocks xmlns:a="http://schemas.openxmlformats.org/drawingml/2006/main" noGrp="1"/>
          </p:cNvSpPr>
          <p:nvPr/>
        </p:nvSpPr>
        <p:spPr>
          <a:xfrm xmlns:a="http://schemas.openxmlformats.org/drawingml/2006/main">
            <a:off x="640080"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Refactor</a:t>
            </a:r>
            <a:endParaRPr sz="1250"/>
          </a:p>
        </p:txBody>
      </p:sp>
      <p:sp>
        <p:nvSpPr>
          <p:cNvPr id="12" name="Text 9">
            <a:extLst xmlns:a="http://schemas.openxmlformats.org/drawingml/2006/main">
              <a:ext uri="{FF2B5EF4-FFF2-40B4-BE49-F238E27FC236}">
                <a16:creationId xmlns:a16="http://schemas.microsoft.com/office/drawing/2014/main" id="{B8AAC8DB-8B4A-4B78-A03D-17B3465D7033}"/>
              </a:ext>
            </a:extLst>
          </p:cNvPr>
          <p:cNvSpPr>
            <a:spLocks xmlns:a="http://schemas.openxmlformats.org/drawingml/2006/main" noGrp="1"/>
          </p:cNvSpPr>
          <p:nvPr/>
        </p:nvSpPr>
        <p:spPr>
          <a:xfrm xmlns:a="http://schemas.openxmlformats.org/drawingml/2006/main">
            <a:off x="640080"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Messy fraud-detection notebook → clean src-layout package (Lab 1)</a:t>
            </a:r>
            <a:endParaRPr sz="950"/>
          </a:p>
        </p:txBody>
      </p:sp>
      <p:sp>
        <p:nvSpPr>
          <p:cNvPr id="13" name="Shape 10">
            <a:extLst xmlns:a="http://schemas.openxmlformats.org/drawingml/2006/main">
              <a:ext uri="{FF2B5EF4-FFF2-40B4-BE49-F238E27FC236}">
                <a16:creationId xmlns:a16="http://schemas.microsoft.com/office/drawing/2014/main" id="{C17B6908-3003-4EFD-A221-F6C2AACA6E5D}"/>
              </a:ext>
            </a:extLst>
          </p:cNvPr>
          <p:cNvSpPr>
            <a:spLocks xmlns:a="http://schemas.openxmlformats.org/drawingml/2006/main" noGrp="1"/>
          </p:cNvSpPr>
          <p:nvPr/>
        </p:nvSpPr>
        <p:spPr>
          <a:xfrm xmlns:a="http://schemas.openxmlformats.org/drawingml/2006/main">
            <a:off x="2487168" y="3026664"/>
            <a:ext cx="274320" cy="256032"/>
          </a:xfrm>
          <a:prstGeom xmlns:a="http://schemas.openxmlformats.org/drawingml/2006/main" prst="chevron">
            <a:avLst/>
          </a:prstGeom>
          <a:solidFill xmlns:a="http://schemas.openxmlformats.org/drawingml/2006/main">
            <a:srgbClr val="00A79D"/>
          </a:solidFill>
        </p:spPr>
      </p:sp>
      <p:sp>
        <p:nvSpPr>
          <p:cNvPr id="14" name="Shape 11">
            <a:extLst xmlns:a="http://schemas.openxmlformats.org/drawingml/2006/main">
              <a:ext uri="{FF2B5EF4-FFF2-40B4-BE49-F238E27FC236}">
                <a16:creationId xmlns:a16="http://schemas.microsoft.com/office/drawing/2014/main" id="{FF61B23E-7D7D-48D9-810C-31BD1C37E1AD}"/>
              </a:ext>
            </a:extLst>
          </p:cNvPr>
          <p:cNvSpPr>
            <a:spLocks xmlns:a="http://schemas.openxmlformats.org/drawingml/2006/main" noGrp="1"/>
          </p:cNvSpPr>
          <p:nvPr/>
        </p:nvSpPr>
        <p:spPr>
          <a:xfrm xmlns:a="http://schemas.openxmlformats.org/drawingml/2006/main">
            <a:off x="2816352"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15" name="Shape 12">
            <a:extLst xmlns:a="http://schemas.openxmlformats.org/drawingml/2006/main">
              <a:ext uri="{FF2B5EF4-FFF2-40B4-BE49-F238E27FC236}">
                <a16:creationId xmlns:a16="http://schemas.microsoft.com/office/drawing/2014/main" id="{E8714DFB-7727-4A22-B714-27A0DAE3BC8E}"/>
              </a:ext>
            </a:extLst>
          </p:cNvPr>
          <p:cNvSpPr>
            <a:spLocks xmlns:a="http://schemas.openxmlformats.org/drawingml/2006/main" noGrp="1"/>
          </p:cNvSpPr>
          <p:nvPr/>
        </p:nvSpPr>
        <p:spPr>
          <a:xfrm xmlns:a="http://schemas.openxmlformats.org/drawingml/2006/main">
            <a:off x="2816352" y="1965960"/>
            <a:ext cx="1929384" cy="82296"/>
          </a:xfrm>
          <a:prstGeom xmlns:a="http://schemas.openxmlformats.org/drawingml/2006/main" prst="rect">
            <a:avLst/>
          </a:prstGeom>
          <a:solidFill xmlns:a="http://schemas.openxmlformats.org/drawingml/2006/main">
            <a:srgbClr val="29ABE2"/>
          </a:solidFill>
        </p:spPr>
      </p:sp>
      <p:sp>
        <p:nvSpPr>
          <p:cNvPr id="16" name="Text 13">
            <a:extLst xmlns:a="http://schemas.openxmlformats.org/drawingml/2006/main">
              <a:ext uri="{FF2B5EF4-FFF2-40B4-BE49-F238E27FC236}">
                <a16:creationId xmlns:a16="http://schemas.microsoft.com/office/drawing/2014/main" id="{B4656544-8A67-4C88-A97F-727237B46A5D}"/>
              </a:ext>
            </a:extLst>
          </p:cNvPr>
          <p:cNvSpPr>
            <a:spLocks xmlns:a="http://schemas.openxmlformats.org/drawingml/2006/main" noGrp="1"/>
          </p:cNvSpPr>
          <p:nvPr/>
        </p:nvSpPr>
        <p:spPr>
          <a:xfrm xmlns:a="http://schemas.openxmlformats.org/drawingml/2006/main">
            <a:off x="2953512"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29ABE2"/>
                </a:solidFill>
                <a:latin typeface="Calibri"/>
                <a:ea typeface="Calibri"/>
                <a:cs typeface="Calibri"/>
              </a:rPr>
              <a:t>STEP 2</a:t>
            </a:r>
            <a:endParaRPr sz="900"/>
          </a:p>
        </p:txBody>
      </p:sp>
      <p:sp>
        <p:nvSpPr>
          <p:cNvPr id="17" name="Text 14">
            <a:extLst xmlns:a="http://schemas.openxmlformats.org/drawingml/2006/main">
              <a:ext uri="{FF2B5EF4-FFF2-40B4-BE49-F238E27FC236}">
                <a16:creationId xmlns:a16="http://schemas.microsoft.com/office/drawing/2014/main" id="{F5D58B45-1805-4278-8FD5-B31DBA147FB6}"/>
              </a:ext>
            </a:extLst>
          </p:cNvPr>
          <p:cNvSpPr>
            <a:spLocks xmlns:a="http://schemas.openxmlformats.org/drawingml/2006/main" noGrp="1"/>
          </p:cNvSpPr>
          <p:nvPr/>
        </p:nvSpPr>
        <p:spPr>
          <a:xfrm xmlns:a="http://schemas.openxmlformats.org/drawingml/2006/main">
            <a:off x="2953512"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Serve</a:t>
            </a:r>
            <a:endParaRPr sz="1250"/>
          </a:p>
        </p:txBody>
      </p:sp>
      <p:sp>
        <p:nvSpPr>
          <p:cNvPr id="18" name="Text 15">
            <a:extLst xmlns:a="http://schemas.openxmlformats.org/drawingml/2006/main">
              <a:ext uri="{FF2B5EF4-FFF2-40B4-BE49-F238E27FC236}">
                <a16:creationId xmlns:a16="http://schemas.microsoft.com/office/drawing/2014/main" id="{F1804B8B-62F0-4B2F-83E4-A631E20E91C7}"/>
              </a:ext>
            </a:extLst>
          </p:cNvPr>
          <p:cNvSpPr>
            <a:spLocks xmlns:a="http://schemas.openxmlformats.org/drawingml/2006/main" noGrp="1"/>
          </p:cNvSpPr>
          <p:nvPr/>
        </p:nvSpPr>
        <p:spPr>
          <a:xfrm xmlns:a="http://schemas.openxmlformats.org/drawingml/2006/main">
            <a:off x="2953512"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FastAPI prediction API with pydantic validation (Labs 2a/2b)</a:t>
            </a:r>
            <a:endParaRPr sz="950"/>
          </a:p>
        </p:txBody>
      </p:sp>
      <p:sp>
        <p:nvSpPr>
          <p:cNvPr id="19" name="Shape 16">
            <a:extLst xmlns:a="http://schemas.openxmlformats.org/drawingml/2006/main">
              <a:ext uri="{FF2B5EF4-FFF2-40B4-BE49-F238E27FC236}">
                <a16:creationId xmlns:a16="http://schemas.microsoft.com/office/drawing/2014/main" id="{58425B19-F837-4FD4-ADAF-091F2642AC4D}"/>
              </a:ext>
            </a:extLst>
          </p:cNvPr>
          <p:cNvSpPr>
            <a:spLocks xmlns:a="http://schemas.openxmlformats.org/drawingml/2006/main" noGrp="1"/>
          </p:cNvSpPr>
          <p:nvPr/>
        </p:nvSpPr>
        <p:spPr>
          <a:xfrm xmlns:a="http://schemas.openxmlformats.org/drawingml/2006/main">
            <a:off x="4800600" y="3026664"/>
            <a:ext cx="274320" cy="256032"/>
          </a:xfrm>
          <a:prstGeom xmlns:a="http://schemas.openxmlformats.org/drawingml/2006/main" prst="chevron">
            <a:avLst/>
          </a:prstGeom>
          <a:solidFill xmlns:a="http://schemas.openxmlformats.org/drawingml/2006/main">
            <a:srgbClr val="00A79D"/>
          </a:solidFill>
        </p:spPr>
      </p:sp>
      <p:sp>
        <p:nvSpPr>
          <p:cNvPr id="20" name="Shape 17">
            <a:extLst xmlns:a="http://schemas.openxmlformats.org/drawingml/2006/main">
              <a:ext uri="{FF2B5EF4-FFF2-40B4-BE49-F238E27FC236}">
                <a16:creationId xmlns:a16="http://schemas.microsoft.com/office/drawing/2014/main" id="{59D2CC4B-34FE-45E6-A1CD-B9622E3AA7D7}"/>
              </a:ext>
            </a:extLst>
          </p:cNvPr>
          <p:cNvSpPr>
            <a:spLocks xmlns:a="http://schemas.openxmlformats.org/drawingml/2006/main" noGrp="1"/>
          </p:cNvSpPr>
          <p:nvPr/>
        </p:nvSpPr>
        <p:spPr>
          <a:xfrm xmlns:a="http://schemas.openxmlformats.org/drawingml/2006/main">
            <a:off x="5129784"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21" name="Shape 18">
            <a:extLst xmlns:a="http://schemas.openxmlformats.org/drawingml/2006/main">
              <a:ext uri="{FF2B5EF4-FFF2-40B4-BE49-F238E27FC236}">
                <a16:creationId xmlns:a16="http://schemas.microsoft.com/office/drawing/2014/main" id="{4137A4F3-FF0F-46CB-B4A0-C24AFEAA098C}"/>
              </a:ext>
            </a:extLst>
          </p:cNvPr>
          <p:cNvSpPr>
            <a:spLocks xmlns:a="http://schemas.openxmlformats.org/drawingml/2006/main" noGrp="1"/>
          </p:cNvSpPr>
          <p:nvPr/>
        </p:nvSpPr>
        <p:spPr>
          <a:xfrm xmlns:a="http://schemas.openxmlformats.org/drawingml/2006/main">
            <a:off x="5129784" y="1965960"/>
            <a:ext cx="1929384" cy="82296"/>
          </a:xfrm>
          <a:prstGeom xmlns:a="http://schemas.openxmlformats.org/drawingml/2006/main" prst="rect">
            <a:avLst/>
          </a:prstGeom>
          <a:solidFill xmlns:a="http://schemas.openxmlformats.org/drawingml/2006/main">
            <a:srgbClr val="F58220"/>
          </a:solidFill>
        </p:spPr>
      </p:sp>
      <p:sp>
        <p:nvSpPr>
          <p:cNvPr id="22" name="Text 19">
            <a:extLst xmlns:a="http://schemas.openxmlformats.org/drawingml/2006/main">
              <a:ext uri="{FF2B5EF4-FFF2-40B4-BE49-F238E27FC236}">
                <a16:creationId xmlns:a16="http://schemas.microsoft.com/office/drawing/2014/main" id="{3D0418B0-8A51-4103-9D62-4ADB1CB4E42D}"/>
              </a:ext>
            </a:extLst>
          </p:cNvPr>
          <p:cNvSpPr>
            <a:spLocks xmlns:a="http://schemas.openxmlformats.org/drawingml/2006/main" noGrp="1"/>
          </p:cNvSpPr>
          <p:nvPr/>
        </p:nvSpPr>
        <p:spPr>
          <a:xfrm xmlns:a="http://schemas.openxmlformats.org/drawingml/2006/main">
            <a:off x="5266944"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F58220"/>
                </a:solidFill>
                <a:latin typeface="Calibri"/>
                <a:ea typeface="Calibri"/>
                <a:cs typeface="Calibri"/>
              </a:rPr>
              <a:t>STEP 3</a:t>
            </a:r>
            <a:endParaRPr sz="900"/>
          </a:p>
        </p:txBody>
      </p:sp>
      <p:sp>
        <p:nvSpPr>
          <p:cNvPr id="23" name="Text 20">
            <a:extLst xmlns:a="http://schemas.openxmlformats.org/drawingml/2006/main">
              <a:ext uri="{FF2B5EF4-FFF2-40B4-BE49-F238E27FC236}">
                <a16:creationId xmlns:a16="http://schemas.microsoft.com/office/drawing/2014/main" id="{0E6D3A53-1EE9-49DE-98AE-1C8F46BD1E59}"/>
              </a:ext>
            </a:extLst>
          </p:cNvPr>
          <p:cNvSpPr>
            <a:spLocks xmlns:a="http://schemas.openxmlformats.org/drawingml/2006/main" noGrp="1"/>
          </p:cNvSpPr>
          <p:nvPr/>
        </p:nvSpPr>
        <p:spPr>
          <a:xfrm xmlns:a="http://schemas.openxmlformats.org/drawingml/2006/main">
            <a:off x="5266944"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Containerise</a:t>
            </a:r>
            <a:endParaRPr sz="1250"/>
          </a:p>
        </p:txBody>
      </p:sp>
      <p:sp>
        <p:nvSpPr>
          <p:cNvPr id="24" name="Text 21">
            <a:extLst xmlns:a="http://schemas.openxmlformats.org/drawingml/2006/main">
              <a:ext uri="{FF2B5EF4-FFF2-40B4-BE49-F238E27FC236}">
                <a16:creationId xmlns:a16="http://schemas.microsoft.com/office/drawing/2014/main" id="{71F793E2-A9AF-4638-A5BB-147D5283300D}"/>
              </a:ext>
            </a:extLst>
          </p:cNvPr>
          <p:cNvSpPr>
            <a:spLocks xmlns:a="http://schemas.openxmlformats.org/drawingml/2006/main" noGrp="1"/>
          </p:cNvSpPr>
          <p:nvPr/>
        </p:nvSpPr>
        <p:spPr>
          <a:xfrm xmlns:a="http://schemas.openxmlformats.org/drawingml/2006/main">
            <a:off x="5266944"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Multi-stage Docker build + compose with healthcheck (Lab 3)</a:t>
            </a:r>
            <a:endParaRPr sz="950"/>
          </a:p>
        </p:txBody>
      </p:sp>
      <p:sp>
        <p:nvSpPr>
          <p:cNvPr id="25" name="Shape 22">
            <a:extLst xmlns:a="http://schemas.openxmlformats.org/drawingml/2006/main">
              <a:ext uri="{FF2B5EF4-FFF2-40B4-BE49-F238E27FC236}">
                <a16:creationId xmlns:a16="http://schemas.microsoft.com/office/drawing/2014/main" id="{6E077F88-2671-4064-8140-5F6D6947217D}"/>
              </a:ext>
            </a:extLst>
          </p:cNvPr>
          <p:cNvSpPr>
            <a:spLocks xmlns:a="http://schemas.openxmlformats.org/drawingml/2006/main" noGrp="1"/>
          </p:cNvSpPr>
          <p:nvPr/>
        </p:nvSpPr>
        <p:spPr>
          <a:xfrm xmlns:a="http://schemas.openxmlformats.org/drawingml/2006/main">
            <a:off x="7114032" y="3026664"/>
            <a:ext cx="274320" cy="256032"/>
          </a:xfrm>
          <a:prstGeom xmlns:a="http://schemas.openxmlformats.org/drawingml/2006/main" prst="chevron">
            <a:avLst/>
          </a:prstGeom>
          <a:solidFill xmlns:a="http://schemas.openxmlformats.org/drawingml/2006/main">
            <a:srgbClr val="00A79D"/>
          </a:solidFill>
        </p:spPr>
      </p:sp>
      <p:sp>
        <p:nvSpPr>
          <p:cNvPr id="26" name="Shape 23">
            <a:extLst xmlns:a="http://schemas.openxmlformats.org/drawingml/2006/main">
              <a:ext uri="{FF2B5EF4-FFF2-40B4-BE49-F238E27FC236}">
                <a16:creationId xmlns:a16="http://schemas.microsoft.com/office/drawing/2014/main" id="{4A162D99-A8E0-4C9D-B7B9-01D3808B288C}"/>
              </a:ext>
            </a:extLst>
          </p:cNvPr>
          <p:cNvSpPr>
            <a:spLocks xmlns:a="http://schemas.openxmlformats.org/drawingml/2006/main" noGrp="1"/>
          </p:cNvSpPr>
          <p:nvPr/>
        </p:nvSpPr>
        <p:spPr>
          <a:xfrm xmlns:a="http://schemas.openxmlformats.org/drawingml/2006/main">
            <a:off x="7443216"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27" name="Shape 24">
            <a:extLst xmlns:a="http://schemas.openxmlformats.org/drawingml/2006/main">
              <a:ext uri="{FF2B5EF4-FFF2-40B4-BE49-F238E27FC236}">
                <a16:creationId xmlns:a16="http://schemas.microsoft.com/office/drawing/2014/main" id="{02F05D92-6611-4691-B290-BE66001D7194}"/>
              </a:ext>
            </a:extLst>
          </p:cNvPr>
          <p:cNvSpPr>
            <a:spLocks xmlns:a="http://schemas.openxmlformats.org/drawingml/2006/main" noGrp="1"/>
          </p:cNvSpPr>
          <p:nvPr/>
        </p:nvSpPr>
        <p:spPr>
          <a:xfrm xmlns:a="http://schemas.openxmlformats.org/drawingml/2006/main">
            <a:off x="7443216" y="1965960"/>
            <a:ext cx="1929384" cy="82296"/>
          </a:xfrm>
          <a:prstGeom xmlns:a="http://schemas.openxmlformats.org/drawingml/2006/main" prst="rect">
            <a:avLst/>
          </a:prstGeom>
          <a:solidFill xmlns:a="http://schemas.openxmlformats.org/drawingml/2006/main">
            <a:srgbClr val="8DC63F"/>
          </a:solidFill>
        </p:spPr>
      </p:sp>
      <p:sp>
        <p:nvSpPr>
          <p:cNvPr id="28" name="Text 25">
            <a:extLst xmlns:a="http://schemas.openxmlformats.org/drawingml/2006/main">
              <a:ext uri="{FF2B5EF4-FFF2-40B4-BE49-F238E27FC236}">
                <a16:creationId xmlns:a16="http://schemas.microsoft.com/office/drawing/2014/main" id="{DF984095-ECED-4903-92C8-02FF494EAAA6}"/>
              </a:ext>
            </a:extLst>
          </p:cNvPr>
          <p:cNvSpPr>
            <a:spLocks xmlns:a="http://schemas.openxmlformats.org/drawingml/2006/main" noGrp="1"/>
          </p:cNvSpPr>
          <p:nvPr/>
        </p:nvSpPr>
        <p:spPr>
          <a:xfrm xmlns:a="http://schemas.openxmlformats.org/drawingml/2006/main">
            <a:off x="7580376"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8DC63F"/>
                </a:solidFill>
                <a:latin typeface="Calibri"/>
                <a:ea typeface="Calibri"/>
                <a:cs typeface="Calibri"/>
              </a:rPr>
              <a:t>STEP 4</a:t>
            </a:r>
            <a:endParaRPr sz="900"/>
          </a:p>
        </p:txBody>
      </p:sp>
      <p:sp>
        <p:nvSpPr>
          <p:cNvPr id="29" name="Text 26">
            <a:extLst xmlns:a="http://schemas.openxmlformats.org/drawingml/2006/main">
              <a:ext uri="{FF2B5EF4-FFF2-40B4-BE49-F238E27FC236}">
                <a16:creationId xmlns:a16="http://schemas.microsoft.com/office/drawing/2014/main" id="{79A1A061-0653-4F38-9A84-BC0C99131CA1}"/>
              </a:ext>
            </a:extLst>
          </p:cNvPr>
          <p:cNvSpPr>
            <a:spLocks xmlns:a="http://schemas.openxmlformats.org/drawingml/2006/main" noGrp="1"/>
          </p:cNvSpPr>
          <p:nvPr/>
        </p:nvSpPr>
        <p:spPr>
          <a:xfrm xmlns:a="http://schemas.openxmlformats.org/drawingml/2006/main">
            <a:off x="7580376"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Test</a:t>
            </a:r>
            <a:endParaRPr sz="1250"/>
          </a:p>
        </p:txBody>
      </p:sp>
      <p:sp>
        <p:nvSpPr>
          <p:cNvPr id="30" name="Text 27">
            <a:extLst xmlns:a="http://schemas.openxmlformats.org/drawingml/2006/main">
              <a:ext uri="{FF2B5EF4-FFF2-40B4-BE49-F238E27FC236}">
                <a16:creationId xmlns:a16="http://schemas.microsoft.com/office/drawing/2014/main" id="{C36030F9-2FEB-408D-B449-E43B1F636A41}"/>
              </a:ext>
            </a:extLst>
          </p:cNvPr>
          <p:cNvSpPr>
            <a:spLocks xmlns:a="http://schemas.openxmlformats.org/drawingml/2006/main" noGrp="1"/>
          </p:cNvSpPr>
          <p:nvPr/>
        </p:nvSpPr>
        <p:spPr>
          <a:xfrm xmlns:a="http://schemas.openxmlformats.org/drawingml/2006/main">
            <a:off x="7580376"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Unit, integration and model-behaviour suite (Lab 4)</a:t>
            </a:r>
            <a:endParaRPr sz="950"/>
          </a:p>
        </p:txBody>
      </p:sp>
      <p:sp>
        <p:nvSpPr>
          <p:cNvPr id="31" name="Shape 28">
            <a:extLst xmlns:a="http://schemas.openxmlformats.org/drawingml/2006/main">
              <a:ext uri="{FF2B5EF4-FFF2-40B4-BE49-F238E27FC236}">
                <a16:creationId xmlns:a16="http://schemas.microsoft.com/office/drawing/2014/main" id="{7AFB5335-35BF-4B8D-AED3-5C6F31390FFF}"/>
              </a:ext>
            </a:extLst>
          </p:cNvPr>
          <p:cNvSpPr>
            <a:spLocks xmlns:a="http://schemas.openxmlformats.org/drawingml/2006/main" noGrp="1"/>
          </p:cNvSpPr>
          <p:nvPr/>
        </p:nvSpPr>
        <p:spPr>
          <a:xfrm xmlns:a="http://schemas.openxmlformats.org/drawingml/2006/main">
            <a:off x="9427464" y="3026664"/>
            <a:ext cx="274320" cy="256032"/>
          </a:xfrm>
          <a:prstGeom xmlns:a="http://schemas.openxmlformats.org/drawingml/2006/main" prst="chevron">
            <a:avLst/>
          </a:prstGeom>
          <a:solidFill xmlns:a="http://schemas.openxmlformats.org/drawingml/2006/main">
            <a:srgbClr val="00A79D"/>
          </a:solidFill>
        </p:spPr>
      </p:sp>
      <p:sp>
        <p:nvSpPr>
          <p:cNvPr id="32" name="Shape 29">
            <a:extLst xmlns:a="http://schemas.openxmlformats.org/drawingml/2006/main">
              <a:ext uri="{FF2B5EF4-FFF2-40B4-BE49-F238E27FC236}">
                <a16:creationId xmlns:a16="http://schemas.microsoft.com/office/drawing/2014/main" id="{5298D67A-2DAD-4D70-A53E-6429B313724A}"/>
              </a:ext>
            </a:extLst>
          </p:cNvPr>
          <p:cNvSpPr>
            <a:spLocks xmlns:a="http://schemas.openxmlformats.org/drawingml/2006/main" noGrp="1"/>
          </p:cNvSpPr>
          <p:nvPr/>
        </p:nvSpPr>
        <p:spPr>
          <a:xfrm xmlns:a="http://schemas.openxmlformats.org/drawingml/2006/main">
            <a:off x="9756648"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33" name="Shape 30">
            <a:extLst xmlns:a="http://schemas.openxmlformats.org/drawingml/2006/main">
              <a:ext uri="{FF2B5EF4-FFF2-40B4-BE49-F238E27FC236}">
                <a16:creationId xmlns:a16="http://schemas.microsoft.com/office/drawing/2014/main" id="{609E95D8-68E3-4750-ADAC-58C9C4901DAD}"/>
              </a:ext>
            </a:extLst>
          </p:cNvPr>
          <p:cNvSpPr>
            <a:spLocks xmlns:a="http://schemas.openxmlformats.org/drawingml/2006/main" noGrp="1"/>
          </p:cNvSpPr>
          <p:nvPr/>
        </p:nvSpPr>
        <p:spPr>
          <a:xfrm xmlns:a="http://schemas.openxmlformats.org/drawingml/2006/main">
            <a:off x="9756648" y="1965960"/>
            <a:ext cx="1929384" cy="82296"/>
          </a:xfrm>
          <a:prstGeom xmlns:a="http://schemas.openxmlformats.org/drawingml/2006/main" prst="rect">
            <a:avLst/>
          </a:prstGeom>
          <a:solidFill xmlns:a="http://schemas.openxmlformats.org/drawingml/2006/main">
            <a:srgbClr val="E8503A"/>
          </a:solidFill>
        </p:spPr>
      </p:sp>
      <p:sp>
        <p:nvSpPr>
          <p:cNvPr id="34" name="Text 31">
            <a:extLst xmlns:a="http://schemas.openxmlformats.org/drawingml/2006/main">
              <a:ext uri="{FF2B5EF4-FFF2-40B4-BE49-F238E27FC236}">
                <a16:creationId xmlns:a16="http://schemas.microsoft.com/office/drawing/2014/main" id="{3765EF68-AC52-4D5C-A0C1-0950097B35E1}"/>
              </a:ext>
            </a:extLst>
          </p:cNvPr>
          <p:cNvSpPr>
            <a:spLocks xmlns:a="http://schemas.openxmlformats.org/drawingml/2006/main" noGrp="1"/>
          </p:cNvSpPr>
          <p:nvPr/>
        </p:nvSpPr>
        <p:spPr>
          <a:xfrm xmlns:a="http://schemas.openxmlformats.org/drawingml/2006/main">
            <a:off x="9893808"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E8503A"/>
                </a:solidFill>
                <a:latin typeface="Calibri"/>
                <a:ea typeface="Calibri"/>
                <a:cs typeface="Calibri"/>
              </a:rPr>
              <a:t>STEP 5</a:t>
            </a:r>
            <a:endParaRPr sz="900"/>
          </a:p>
        </p:txBody>
      </p:sp>
      <p:sp>
        <p:nvSpPr>
          <p:cNvPr id="35" name="Text 32">
            <a:extLst xmlns:a="http://schemas.openxmlformats.org/drawingml/2006/main">
              <a:ext uri="{FF2B5EF4-FFF2-40B4-BE49-F238E27FC236}">
                <a16:creationId xmlns:a16="http://schemas.microsoft.com/office/drawing/2014/main" id="{A6B32D00-E756-42D3-9D97-437AE7E85BA0}"/>
              </a:ext>
            </a:extLst>
          </p:cNvPr>
          <p:cNvSpPr>
            <a:spLocks xmlns:a="http://schemas.openxmlformats.org/drawingml/2006/main" noGrp="1"/>
          </p:cNvSpPr>
          <p:nvPr/>
        </p:nvSpPr>
        <p:spPr>
          <a:xfrm xmlns:a="http://schemas.openxmlformats.org/drawingml/2006/main">
            <a:off x="9893808"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Automate</a:t>
            </a:r>
            <a:endParaRPr sz="1250"/>
          </a:p>
        </p:txBody>
      </p:sp>
      <p:sp>
        <p:nvSpPr>
          <p:cNvPr id="36" name="Text 33">
            <a:extLst xmlns:a="http://schemas.openxmlformats.org/drawingml/2006/main">
              <a:ext uri="{FF2B5EF4-FFF2-40B4-BE49-F238E27FC236}">
                <a16:creationId xmlns:a16="http://schemas.microsoft.com/office/drawing/2014/main" id="{D63FF35E-CAD2-4317-A123-4F9F39B9718F}"/>
              </a:ext>
            </a:extLst>
          </p:cNvPr>
          <p:cNvSpPr>
            <a:spLocks xmlns:a="http://schemas.openxmlformats.org/drawingml/2006/main" noGrp="1"/>
          </p:cNvSpPr>
          <p:nvPr/>
        </p:nvSpPr>
        <p:spPr>
          <a:xfrm xmlns:a="http://schemas.openxmlformats.org/drawingml/2006/main">
            <a:off x="9893808"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CI/CD pipeline + config, secrets and logging (Labs 5-6)</a:t>
            </a:r>
            <a:endParaRPr sz="950"/>
          </a:p>
        </p:txBody>
      </p:sp>
      <p:sp>
        <p:nvSpPr>
          <p:cNvPr id="37" name="Shape 34">
            <a:extLst xmlns:a="http://schemas.openxmlformats.org/drawingml/2006/main">
              <a:ext uri="{FF2B5EF4-FFF2-40B4-BE49-F238E27FC236}">
                <a16:creationId xmlns:a16="http://schemas.microsoft.com/office/drawing/2014/main" id="{2CC88099-13C3-4493-876B-ABEF1DEE0B25}"/>
              </a:ext>
            </a:extLst>
          </p:cNvPr>
          <p:cNvSpPr>
            <a:spLocks xmlns:a="http://schemas.openxmlformats.org/drawingml/2006/main" noGrp="1"/>
          </p:cNvSpPr>
          <p:nvPr/>
        </p:nvSpPr>
        <p:spPr>
          <a:xfrm xmlns:a="http://schemas.openxmlformats.org/drawingml/2006/main">
            <a:off x="502920" y="4892040"/>
            <a:ext cx="11183112" cy="1051560"/>
          </a:xfrm>
          <a:prstGeom xmlns:a="http://schemas.openxmlformats.org/drawingml/2006/main" prst="roundRect">
            <a:avLst>
              <a:gd name="adj" fmla="val 6087"/>
            </a:avLst>
          </a:prstGeom>
          <a:solidFill xmlns:a="http://schemas.openxmlformats.org/drawingml/2006/main">
            <a:srgbClr val="D4F1EE"/>
          </a:solidFill>
        </p:spPr>
      </p:sp>
      <p:sp>
        <p:nvSpPr>
          <p:cNvPr id="38" name="Text 35">
            <a:extLst xmlns:a="http://schemas.openxmlformats.org/drawingml/2006/main">
              <a:ext uri="{FF2B5EF4-FFF2-40B4-BE49-F238E27FC236}">
                <a16:creationId xmlns:a16="http://schemas.microsoft.com/office/drawing/2014/main" id="{C7D46605-8CD9-4792-BA52-C6F5515292B2}"/>
              </a:ext>
            </a:extLst>
          </p:cNvPr>
          <p:cNvSpPr>
            <a:spLocks xmlns:a="http://schemas.openxmlformats.org/drawingml/2006/main" noGrp="1"/>
          </p:cNvSpPr>
          <p:nvPr/>
        </p:nvSpPr>
        <p:spPr>
          <a:xfrm xmlns:a="http://schemas.openxmlformats.org/drawingml/2006/main">
            <a:off x="731520" y="4892040"/>
            <a:ext cx="10789920" cy="10515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b="1">
                <a:solidFill>
                  <a:srgbClr val="056A63"/>
                </a:solidFill>
                <a:latin typeface="Calibri"/>
                <a:ea typeface="Calibri"/>
                <a:cs typeface="Calibri"/>
              </a:rPr>
              <a:t>WHY IT MATTERS   </a:t>
            </a:r>
            <a:r>
              <a:rPr sz="1100">
                <a:solidFill>
                  <a:srgbClr val="056A63"/>
                </a:solidFill>
                <a:latin typeface="Calibri"/>
                <a:ea typeface="Calibri"/>
                <a:cs typeface="Calibri"/>
              </a:rPr>
              <a:t>Every lab produces a component of the final capstone. By Day 3 each participant owns a working, tested, containerised, pipeline-validated AI service.</a:t>
            </a:r>
            <a:endParaRPr sz="950"/>
          </a:p>
        </p:txBody>
      </p:sp>
    </p:spTree>
    <p:extLst>
      <p:ext uri="{BB962C8B-B14F-4D97-AF65-F5344CB8AC3E}">
        <p14:creationId xmlns:p14="http://schemas.microsoft.com/office/powerpoint/2010/main" val="207203562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BF092E2-A502-4BBA-A7A3-9A3215797DE9}"/>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Learning outcomes</a:t>
            </a:r>
            <a:endParaRPr sz="2600"/>
          </a:p>
        </p:txBody>
      </p:sp>
      <p:sp>
        <p:nvSpPr>
          <p:cNvPr id="3" name="Text 1">
            <a:extLst xmlns:a="http://schemas.openxmlformats.org/drawingml/2006/main">
              <a:ext uri="{FF2B5EF4-FFF2-40B4-BE49-F238E27FC236}">
                <a16:creationId xmlns:a16="http://schemas.microsoft.com/office/drawing/2014/main" id="{7689D728-F34C-4B0A-B09F-2F9CBDE996CD}"/>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مخرجات التعلم</a:t>
            </a:r>
            <a:endParaRPr sz="1300"/>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4e9b8a9895e244e6"/>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13015601-63D5-4480-81B3-66872FAC3B0F}"/>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7308DFC9-5486-4B82-81A3-5BBFA5D17F49}"/>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OVERVIEW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50537EAD-EEE9-4A0B-B9C4-F730FE339C55}"/>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4</a:t>
            </a:r>
            <a:endParaRPr sz="850"/>
          </a:p>
        </p:txBody>
      </p:sp>
      <p:sp>
        <p:nvSpPr>
          <p:cNvPr id="8" name="Shape 5">
            <a:extLst xmlns:a="http://schemas.openxmlformats.org/drawingml/2006/main">
              <a:ext uri="{FF2B5EF4-FFF2-40B4-BE49-F238E27FC236}">
                <a16:creationId xmlns:a16="http://schemas.microsoft.com/office/drawing/2014/main" id="{7915A2CF-CA4D-4F46-BC31-F4243AF78A84}"/>
              </a:ext>
            </a:extLst>
          </p:cNvPr>
          <p:cNvSpPr>
            <a:spLocks xmlns:a="http://schemas.openxmlformats.org/drawingml/2006/main" noGrp="1"/>
          </p:cNvSpPr>
          <p:nvPr/>
        </p:nvSpPr>
        <p:spPr>
          <a:xfrm xmlns:a="http://schemas.openxmlformats.org/drawingml/2006/main">
            <a:off x="502920" y="1481328"/>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AFAD0907-2AB7-4CE6-9783-479961FFC204}"/>
              </a:ext>
            </a:extLst>
          </p:cNvPr>
          <p:cNvSpPr>
            <a:spLocks xmlns:a="http://schemas.openxmlformats.org/drawingml/2006/main" noGrp="1"/>
          </p:cNvSpPr>
          <p:nvPr/>
        </p:nvSpPr>
        <p:spPr>
          <a:xfrm xmlns:a="http://schemas.openxmlformats.org/drawingml/2006/main">
            <a:off x="502920" y="1481328"/>
            <a:ext cx="64008" cy="1417320"/>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4B5C46AF-5BAB-41DE-875D-1BA16AB6E863}"/>
              </a:ext>
            </a:extLst>
          </p:cNvPr>
          <p:cNvSpPr>
            <a:spLocks xmlns:a="http://schemas.openxmlformats.org/drawingml/2006/main" noGrp="1"/>
          </p:cNvSpPr>
          <p:nvPr/>
        </p:nvSpPr>
        <p:spPr>
          <a:xfrm xmlns:a="http://schemas.openxmlformats.org/drawingml/2006/main">
            <a:off x="685800" y="1609344"/>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LO1</a:t>
            </a:r>
            <a:endParaRPr sz="1200"/>
          </a:p>
        </p:txBody>
      </p:sp>
      <p:sp>
        <p:nvSpPr>
          <p:cNvPr id="11" name="Text 8">
            <a:extLst xmlns:a="http://schemas.openxmlformats.org/drawingml/2006/main">
              <a:ext uri="{FF2B5EF4-FFF2-40B4-BE49-F238E27FC236}">
                <a16:creationId xmlns:a16="http://schemas.microsoft.com/office/drawing/2014/main" id="{1E2FE580-DDA9-4F16-AB8B-52F8F729A376}"/>
              </a:ext>
            </a:extLst>
          </p:cNvPr>
          <p:cNvSpPr>
            <a:spLocks xmlns:a="http://schemas.openxmlformats.org/drawingml/2006/main" noGrp="1"/>
          </p:cNvSpPr>
          <p:nvPr/>
        </p:nvSpPr>
        <p:spPr>
          <a:xfrm xmlns:a="http://schemas.openxmlformats.org/drawingml/2006/main">
            <a:off x="4997196" y="1609344"/>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LO1</a:t>
            </a:r>
            <a:endParaRPr sz="850"/>
          </a:p>
        </p:txBody>
      </p:sp>
      <p:sp>
        <p:nvSpPr>
          <p:cNvPr id="12" name="Text 9">
            <a:extLst xmlns:a="http://schemas.openxmlformats.org/drawingml/2006/main">
              <a:ext uri="{FF2B5EF4-FFF2-40B4-BE49-F238E27FC236}">
                <a16:creationId xmlns:a16="http://schemas.microsoft.com/office/drawing/2014/main" id="{509E22B9-EA83-4903-96F8-AF579D41246D}"/>
              </a:ext>
            </a:extLst>
          </p:cNvPr>
          <p:cNvSpPr>
            <a:spLocks xmlns:a="http://schemas.openxmlformats.org/drawingml/2006/main" noGrp="1"/>
          </p:cNvSpPr>
          <p:nvPr/>
        </p:nvSpPr>
        <p:spPr>
          <a:xfrm xmlns:a="http://schemas.openxmlformats.org/drawingml/2006/main">
            <a:off x="685800" y="1901952"/>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Design RESTful APIs that expose ML models as reliable services</a:t>
            </a:r>
            <a:endParaRPr sz="1100"/>
          </a:p>
        </p:txBody>
      </p:sp>
      <p:sp>
        <p:nvSpPr>
          <p:cNvPr id="13" name="Shape 10">
            <a:extLst xmlns:a="http://schemas.openxmlformats.org/drawingml/2006/main">
              <a:ext uri="{FF2B5EF4-FFF2-40B4-BE49-F238E27FC236}">
                <a16:creationId xmlns:a16="http://schemas.microsoft.com/office/drawing/2014/main" id="{B513E3FA-D0EE-421A-8749-DD4756EF05F7}"/>
              </a:ext>
            </a:extLst>
          </p:cNvPr>
          <p:cNvSpPr>
            <a:spLocks xmlns:a="http://schemas.openxmlformats.org/drawingml/2006/main" noGrp="1"/>
          </p:cNvSpPr>
          <p:nvPr/>
        </p:nvSpPr>
        <p:spPr>
          <a:xfrm xmlns:a="http://schemas.openxmlformats.org/drawingml/2006/main">
            <a:off x="6231636" y="1481328"/>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14" name="Shape 11">
            <a:extLst xmlns:a="http://schemas.openxmlformats.org/drawingml/2006/main">
              <a:ext uri="{FF2B5EF4-FFF2-40B4-BE49-F238E27FC236}">
                <a16:creationId xmlns:a16="http://schemas.microsoft.com/office/drawing/2014/main" id="{11049CCA-D72B-4FD0-B947-FF608DE1649E}"/>
              </a:ext>
            </a:extLst>
          </p:cNvPr>
          <p:cNvSpPr>
            <a:spLocks xmlns:a="http://schemas.openxmlformats.org/drawingml/2006/main" noGrp="1"/>
          </p:cNvSpPr>
          <p:nvPr/>
        </p:nvSpPr>
        <p:spPr>
          <a:xfrm xmlns:a="http://schemas.openxmlformats.org/drawingml/2006/main">
            <a:off x="6231636" y="1481328"/>
            <a:ext cx="64008" cy="1417320"/>
          </a:xfrm>
          <a:prstGeom xmlns:a="http://schemas.openxmlformats.org/drawingml/2006/main" prst="rect">
            <a:avLst/>
          </a:prstGeom>
          <a:solidFill xmlns:a="http://schemas.openxmlformats.org/drawingml/2006/main">
            <a:srgbClr val="29ABE2"/>
          </a:solidFill>
        </p:spPr>
      </p:sp>
      <p:sp>
        <p:nvSpPr>
          <p:cNvPr id="15" name="Text 12">
            <a:extLst xmlns:a="http://schemas.openxmlformats.org/drawingml/2006/main">
              <a:ext uri="{FF2B5EF4-FFF2-40B4-BE49-F238E27FC236}">
                <a16:creationId xmlns:a16="http://schemas.microsoft.com/office/drawing/2014/main" id="{A5470E14-5255-463E-86A6-D933805EEB9D}"/>
              </a:ext>
            </a:extLst>
          </p:cNvPr>
          <p:cNvSpPr>
            <a:spLocks xmlns:a="http://schemas.openxmlformats.org/drawingml/2006/main" noGrp="1"/>
          </p:cNvSpPr>
          <p:nvPr/>
        </p:nvSpPr>
        <p:spPr>
          <a:xfrm xmlns:a="http://schemas.openxmlformats.org/drawingml/2006/main">
            <a:off x="6414516" y="1609344"/>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LO2</a:t>
            </a:r>
            <a:endParaRPr sz="1200"/>
          </a:p>
        </p:txBody>
      </p:sp>
      <p:sp>
        <p:nvSpPr>
          <p:cNvPr id="16" name="Text 13">
            <a:extLst xmlns:a="http://schemas.openxmlformats.org/drawingml/2006/main">
              <a:ext uri="{FF2B5EF4-FFF2-40B4-BE49-F238E27FC236}">
                <a16:creationId xmlns:a16="http://schemas.microsoft.com/office/drawing/2014/main" id="{9CD2FC89-C74E-456B-8098-F5FFCCC960FE}"/>
              </a:ext>
            </a:extLst>
          </p:cNvPr>
          <p:cNvSpPr>
            <a:spLocks xmlns:a="http://schemas.openxmlformats.org/drawingml/2006/main" noGrp="1"/>
          </p:cNvSpPr>
          <p:nvPr/>
        </p:nvSpPr>
        <p:spPr>
          <a:xfrm xmlns:a="http://schemas.openxmlformats.org/drawingml/2006/main">
            <a:off x="10725912" y="1609344"/>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LO2</a:t>
            </a:r>
            <a:endParaRPr sz="850"/>
          </a:p>
        </p:txBody>
      </p:sp>
      <p:sp>
        <p:nvSpPr>
          <p:cNvPr id="17" name="Text 14">
            <a:extLst xmlns:a="http://schemas.openxmlformats.org/drawingml/2006/main">
              <a:ext uri="{FF2B5EF4-FFF2-40B4-BE49-F238E27FC236}">
                <a16:creationId xmlns:a16="http://schemas.microsoft.com/office/drawing/2014/main" id="{38A2BE04-9FE5-4F5E-B2E5-4F1C7F0FCEED}"/>
              </a:ext>
            </a:extLst>
          </p:cNvPr>
          <p:cNvSpPr>
            <a:spLocks xmlns:a="http://schemas.openxmlformats.org/drawingml/2006/main" noGrp="1"/>
          </p:cNvSpPr>
          <p:nvPr/>
        </p:nvSpPr>
        <p:spPr>
          <a:xfrm xmlns:a="http://schemas.openxmlformats.org/drawingml/2006/main">
            <a:off x="6414516" y="1901952"/>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Implement containerised AI services using Docker and compose workflows</a:t>
            </a:r>
            <a:endParaRPr sz="1100"/>
          </a:p>
        </p:txBody>
      </p:sp>
      <p:sp>
        <p:nvSpPr>
          <p:cNvPr id="18" name="Shape 15">
            <a:extLst xmlns:a="http://schemas.openxmlformats.org/drawingml/2006/main">
              <a:ext uri="{FF2B5EF4-FFF2-40B4-BE49-F238E27FC236}">
                <a16:creationId xmlns:a16="http://schemas.microsoft.com/office/drawing/2014/main" id="{58621FA1-E868-43BF-976A-73740EE39C4B}"/>
              </a:ext>
            </a:extLst>
          </p:cNvPr>
          <p:cNvSpPr>
            <a:spLocks xmlns:a="http://schemas.openxmlformats.org/drawingml/2006/main" noGrp="1"/>
          </p:cNvSpPr>
          <p:nvPr/>
        </p:nvSpPr>
        <p:spPr>
          <a:xfrm xmlns:a="http://schemas.openxmlformats.org/drawingml/2006/main">
            <a:off x="502920" y="3099816"/>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19" name="Shape 16">
            <a:extLst xmlns:a="http://schemas.openxmlformats.org/drawingml/2006/main">
              <a:ext uri="{FF2B5EF4-FFF2-40B4-BE49-F238E27FC236}">
                <a16:creationId xmlns:a16="http://schemas.microsoft.com/office/drawing/2014/main" id="{C96F669B-4F85-4EF1-B3E4-4671BB7CFD71}"/>
              </a:ext>
            </a:extLst>
          </p:cNvPr>
          <p:cNvSpPr>
            <a:spLocks xmlns:a="http://schemas.openxmlformats.org/drawingml/2006/main" noGrp="1"/>
          </p:cNvSpPr>
          <p:nvPr/>
        </p:nvSpPr>
        <p:spPr>
          <a:xfrm xmlns:a="http://schemas.openxmlformats.org/drawingml/2006/main">
            <a:off x="502920" y="3099816"/>
            <a:ext cx="64008" cy="1417320"/>
          </a:xfrm>
          <a:prstGeom xmlns:a="http://schemas.openxmlformats.org/drawingml/2006/main" prst="rect">
            <a:avLst/>
          </a:prstGeom>
          <a:solidFill xmlns:a="http://schemas.openxmlformats.org/drawingml/2006/main">
            <a:srgbClr val="F58220"/>
          </a:solidFill>
        </p:spPr>
      </p:sp>
      <p:sp>
        <p:nvSpPr>
          <p:cNvPr id="20" name="Text 17">
            <a:extLst xmlns:a="http://schemas.openxmlformats.org/drawingml/2006/main">
              <a:ext uri="{FF2B5EF4-FFF2-40B4-BE49-F238E27FC236}">
                <a16:creationId xmlns:a16="http://schemas.microsoft.com/office/drawing/2014/main" id="{8BB6A0A8-4B69-4F7A-BE73-D162F94B81AE}"/>
              </a:ext>
            </a:extLst>
          </p:cNvPr>
          <p:cNvSpPr>
            <a:spLocks xmlns:a="http://schemas.openxmlformats.org/drawingml/2006/main" noGrp="1"/>
          </p:cNvSpPr>
          <p:nvPr/>
        </p:nvSpPr>
        <p:spPr>
          <a:xfrm xmlns:a="http://schemas.openxmlformats.org/drawingml/2006/main">
            <a:off x="685800" y="3227832"/>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LO3</a:t>
            </a:r>
            <a:endParaRPr sz="1200"/>
          </a:p>
        </p:txBody>
      </p:sp>
      <p:sp>
        <p:nvSpPr>
          <p:cNvPr id="21" name="Text 18">
            <a:extLst xmlns:a="http://schemas.openxmlformats.org/drawingml/2006/main">
              <a:ext uri="{FF2B5EF4-FFF2-40B4-BE49-F238E27FC236}">
                <a16:creationId xmlns:a16="http://schemas.microsoft.com/office/drawing/2014/main" id="{2B736DFD-A276-4C05-90BE-4382BF3A1C22}"/>
              </a:ext>
            </a:extLst>
          </p:cNvPr>
          <p:cNvSpPr>
            <a:spLocks xmlns:a="http://schemas.openxmlformats.org/drawingml/2006/main" noGrp="1"/>
          </p:cNvSpPr>
          <p:nvPr/>
        </p:nvSpPr>
        <p:spPr>
          <a:xfrm xmlns:a="http://schemas.openxmlformats.org/drawingml/2006/main">
            <a:off x="4997196" y="3227832"/>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LO3</a:t>
            </a:r>
            <a:endParaRPr sz="850"/>
          </a:p>
        </p:txBody>
      </p:sp>
      <p:sp>
        <p:nvSpPr>
          <p:cNvPr id="22" name="Text 19">
            <a:extLst xmlns:a="http://schemas.openxmlformats.org/drawingml/2006/main">
              <a:ext uri="{FF2B5EF4-FFF2-40B4-BE49-F238E27FC236}">
                <a16:creationId xmlns:a16="http://schemas.microsoft.com/office/drawing/2014/main" id="{C900BAAE-6119-43B0-95E6-18EE58573881}"/>
              </a:ext>
            </a:extLst>
          </p:cNvPr>
          <p:cNvSpPr>
            <a:spLocks xmlns:a="http://schemas.openxmlformats.org/drawingml/2006/main" noGrp="1"/>
          </p:cNvSpPr>
          <p:nvPr/>
        </p:nvSpPr>
        <p:spPr>
          <a:xfrm xmlns:a="http://schemas.openxmlformats.org/drawingml/2006/main">
            <a:off x="685800" y="3520440"/>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Develop automated unit, integration, and model-behaviour tests</a:t>
            </a:r>
            <a:endParaRPr sz="1100"/>
          </a:p>
        </p:txBody>
      </p:sp>
      <p:sp>
        <p:nvSpPr>
          <p:cNvPr id="23" name="Shape 20">
            <a:extLst xmlns:a="http://schemas.openxmlformats.org/drawingml/2006/main">
              <a:ext uri="{FF2B5EF4-FFF2-40B4-BE49-F238E27FC236}">
                <a16:creationId xmlns:a16="http://schemas.microsoft.com/office/drawing/2014/main" id="{A53C6CB2-A0CA-4FFC-B6F0-C6C6D5B88E76}"/>
              </a:ext>
            </a:extLst>
          </p:cNvPr>
          <p:cNvSpPr>
            <a:spLocks xmlns:a="http://schemas.openxmlformats.org/drawingml/2006/main" noGrp="1"/>
          </p:cNvSpPr>
          <p:nvPr/>
        </p:nvSpPr>
        <p:spPr>
          <a:xfrm xmlns:a="http://schemas.openxmlformats.org/drawingml/2006/main">
            <a:off x="6231636" y="3099816"/>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24" name="Shape 21">
            <a:extLst xmlns:a="http://schemas.openxmlformats.org/drawingml/2006/main">
              <a:ext uri="{FF2B5EF4-FFF2-40B4-BE49-F238E27FC236}">
                <a16:creationId xmlns:a16="http://schemas.microsoft.com/office/drawing/2014/main" id="{C701F5EA-892B-4C95-92A3-9AAEAEF6435D}"/>
              </a:ext>
            </a:extLst>
          </p:cNvPr>
          <p:cNvSpPr>
            <a:spLocks xmlns:a="http://schemas.openxmlformats.org/drawingml/2006/main" noGrp="1"/>
          </p:cNvSpPr>
          <p:nvPr/>
        </p:nvSpPr>
        <p:spPr>
          <a:xfrm xmlns:a="http://schemas.openxmlformats.org/drawingml/2006/main">
            <a:off x="6231636" y="3099816"/>
            <a:ext cx="64008" cy="1417320"/>
          </a:xfrm>
          <a:prstGeom xmlns:a="http://schemas.openxmlformats.org/drawingml/2006/main" prst="rect">
            <a:avLst/>
          </a:prstGeom>
          <a:solidFill xmlns:a="http://schemas.openxmlformats.org/drawingml/2006/main">
            <a:srgbClr val="8DC63F"/>
          </a:solidFill>
        </p:spPr>
      </p:sp>
      <p:sp>
        <p:nvSpPr>
          <p:cNvPr id="25" name="Text 22">
            <a:extLst xmlns:a="http://schemas.openxmlformats.org/drawingml/2006/main">
              <a:ext uri="{FF2B5EF4-FFF2-40B4-BE49-F238E27FC236}">
                <a16:creationId xmlns:a16="http://schemas.microsoft.com/office/drawing/2014/main" id="{64E037A4-6B2D-482E-A707-233CEE64DE28}"/>
              </a:ext>
            </a:extLst>
          </p:cNvPr>
          <p:cNvSpPr>
            <a:spLocks xmlns:a="http://schemas.openxmlformats.org/drawingml/2006/main" noGrp="1"/>
          </p:cNvSpPr>
          <p:nvPr/>
        </p:nvSpPr>
        <p:spPr>
          <a:xfrm xmlns:a="http://schemas.openxmlformats.org/drawingml/2006/main">
            <a:off x="6414516" y="3227832"/>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LO4</a:t>
            </a:r>
            <a:endParaRPr sz="1200"/>
          </a:p>
        </p:txBody>
      </p:sp>
      <p:sp>
        <p:nvSpPr>
          <p:cNvPr id="26" name="Text 23">
            <a:extLst xmlns:a="http://schemas.openxmlformats.org/drawingml/2006/main">
              <a:ext uri="{FF2B5EF4-FFF2-40B4-BE49-F238E27FC236}">
                <a16:creationId xmlns:a16="http://schemas.microsoft.com/office/drawing/2014/main" id="{999E0014-B75A-4B39-A152-505208CF6309}"/>
              </a:ext>
            </a:extLst>
          </p:cNvPr>
          <p:cNvSpPr>
            <a:spLocks xmlns:a="http://schemas.openxmlformats.org/drawingml/2006/main" noGrp="1"/>
          </p:cNvSpPr>
          <p:nvPr/>
        </p:nvSpPr>
        <p:spPr>
          <a:xfrm xmlns:a="http://schemas.openxmlformats.org/drawingml/2006/main">
            <a:off x="10725912" y="3227832"/>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LO4</a:t>
            </a:r>
            <a:endParaRPr sz="850"/>
          </a:p>
        </p:txBody>
      </p:sp>
      <p:sp>
        <p:nvSpPr>
          <p:cNvPr id="27" name="Text 24">
            <a:extLst xmlns:a="http://schemas.openxmlformats.org/drawingml/2006/main">
              <a:ext uri="{FF2B5EF4-FFF2-40B4-BE49-F238E27FC236}">
                <a16:creationId xmlns:a16="http://schemas.microsoft.com/office/drawing/2014/main" id="{38CFB73B-B57A-4376-93AA-DE276FABE074}"/>
              </a:ext>
            </a:extLst>
          </p:cNvPr>
          <p:cNvSpPr>
            <a:spLocks xmlns:a="http://schemas.openxmlformats.org/drawingml/2006/main" noGrp="1"/>
          </p:cNvSpPr>
          <p:nvPr/>
        </p:nvSpPr>
        <p:spPr>
          <a:xfrm xmlns:a="http://schemas.openxmlformats.org/drawingml/2006/main">
            <a:off x="6414516" y="3520440"/>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Build CI/CD pipelines that validate and ship AI code changes</a:t>
            </a:r>
            <a:endParaRPr sz="1100"/>
          </a:p>
        </p:txBody>
      </p:sp>
      <p:sp>
        <p:nvSpPr>
          <p:cNvPr id="28" name="Shape 25">
            <a:extLst xmlns:a="http://schemas.openxmlformats.org/drawingml/2006/main">
              <a:ext uri="{FF2B5EF4-FFF2-40B4-BE49-F238E27FC236}">
                <a16:creationId xmlns:a16="http://schemas.microsoft.com/office/drawing/2014/main" id="{2A5D9FF5-ADD0-4245-9698-5E5EADF3B4DD}"/>
              </a:ext>
            </a:extLst>
          </p:cNvPr>
          <p:cNvSpPr>
            <a:spLocks xmlns:a="http://schemas.openxmlformats.org/drawingml/2006/main" noGrp="1"/>
          </p:cNvSpPr>
          <p:nvPr/>
        </p:nvSpPr>
        <p:spPr>
          <a:xfrm xmlns:a="http://schemas.openxmlformats.org/drawingml/2006/main">
            <a:off x="502920" y="4718304"/>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29" name="Shape 26">
            <a:extLst xmlns:a="http://schemas.openxmlformats.org/drawingml/2006/main">
              <a:ext uri="{FF2B5EF4-FFF2-40B4-BE49-F238E27FC236}">
                <a16:creationId xmlns:a16="http://schemas.microsoft.com/office/drawing/2014/main" id="{D8E5AFCF-DE44-4E9D-BBC3-2A966BB5D030}"/>
              </a:ext>
            </a:extLst>
          </p:cNvPr>
          <p:cNvSpPr>
            <a:spLocks xmlns:a="http://schemas.openxmlformats.org/drawingml/2006/main" noGrp="1"/>
          </p:cNvSpPr>
          <p:nvPr/>
        </p:nvSpPr>
        <p:spPr>
          <a:xfrm xmlns:a="http://schemas.openxmlformats.org/drawingml/2006/main">
            <a:off x="502920" y="4718304"/>
            <a:ext cx="64008" cy="1417320"/>
          </a:xfrm>
          <a:prstGeom xmlns:a="http://schemas.openxmlformats.org/drawingml/2006/main" prst="rect">
            <a:avLst/>
          </a:prstGeom>
          <a:solidFill xmlns:a="http://schemas.openxmlformats.org/drawingml/2006/main">
            <a:srgbClr val="E8503A"/>
          </a:solidFill>
        </p:spPr>
      </p:sp>
      <p:sp>
        <p:nvSpPr>
          <p:cNvPr id="30" name="Text 27">
            <a:extLst xmlns:a="http://schemas.openxmlformats.org/drawingml/2006/main">
              <a:ext uri="{FF2B5EF4-FFF2-40B4-BE49-F238E27FC236}">
                <a16:creationId xmlns:a16="http://schemas.microsoft.com/office/drawing/2014/main" id="{C8211837-3197-4DF5-B88A-67699CEE6D86}"/>
              </a:ext>
            </a:extLst>
          </p:cNvPr>
          <p:cNvSpPr>
            <a:spLocks xmlns:a="http://schemas.openxmlformats.org/drawingml/2006/main" noGrp="1"/>
          </p:cNvSpPr>
          <p:nvPr/>
        </p:nvSpPr>
        <p:spPr>
          <a:xfrm xmlns:a="http://schemas.openxmlformats.org/drawingml/2006/main">
            <a:off x="685800" y="4846320"/>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LO5</a:t>
            </a:r>
            <a:endParaRPr sz="1200"/>
          </a:p>
        </p:txBody>
      </p:sp>
      <p:sp>
        <p:nvSpPr>
          <p:cNvPr id="31" name="Text 28">
            <a:extLst xmlns:a="http://schemas.openxmlformats.org/drawingml/2006/main">
              <a:ext uri="{FF2B5EF4-FFF2-40B4-BE49-F238E27FC236}">
                <a16:creationId xmlns:a16="http://schemas.microsoft.com/office/drawing/2014/main" id="{5B2C8F0B-0019-401A-83A5-5473BFC92CE4}"/>
              </a:ext>
            </a:extLst>
          </p:cNvPr>
          <p:cNvSpPr>
            <a:spLocks xmlns:a="http://schemas.openxmlformats.org/drawingml/2006/main" noGrp="1"/>
          </p:cNvSpPr>
          <p:nvPr/>
        </p:nvSpPr>
        <p:spPr>
          <a:xfrm xmlns:a="http://schemas.openxmlformats.org/drawingml/2006/main">
            <a:off x="4997196" y="4846320"/>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LO5</a:t>
            </a:r>
            <a:endParaRPr sz="850"/>
          </a:p>
        </p:txBody>
      </p:sp>
      <p:sp>
        <p:nvSpPr>
          <p:cNvPr id="32" name="Text 29">
            <a:extLst xmlns:a="http://schemas.openxmlformats.org/drawingml/2006/main">
              <a:ext uri="{FF2B5EF4-FFF2-40B4-BE49-F238E27FC236}">
                <a16:creationId xmlns:a16="http://schemas.microsoft.com/office/drawing/2014/main" id="{03FCE7B7-6A2A-4B51-BE88-16E833D291FE}"/>
              </a:ext>
            </a:extLst>
          </p:cNvPr>
          <p:cNvSpPr>
            <a:spLocks xmlns:a="http://schemas.openxmlformats.org/drawingml/2006/main" noGrp="1"/>
          </p:cNvSpPr>
          <p:nvPr/>
        </p:nvSpPr>
        <p:spPr>
          <a:xfrm xmlns:a="http://schemas.openxmlformats.org/drawingml/2006/main">
            <a:off x="685800" y="5138928"/>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Apply clean architecture and configuration-management patterns to AI codebases</a:t>
            </a:r>
            <a:endParaRPr sz="1100"/>
          </a:p>
        </p:txBody>
      </p:sp>
      <p:sp>
        <p:nvSpPr>
          <p:cNvPr id="33" name="Shape 30">
            <a:extLst xmlns:a="http://schemas.openxmlformats.org/drawingml/2006/main">
              <a:ext uri="{FF2B5EF4-FFF2-40B4-BE49-F238E27FC236}">
                <a16:creationId xmlns:a16="http://schemas.microsoft.com/office/drawing/2014/main" id="{EEDD76B0-6F46-422C-AC58-26AB462C4230}"/>
              </a:ext>
            </a:extLst>
          </p:cNvPr>
          <p:cNvSpPr>
            <a:spLocks xmlns:a="http://schemas.openxmlformats.org/drawingml/2006/main" noGrp="1"/>
          </p:cNvSpPr>
          <p:nvPr/>
        </p:nvSpPr>
        <p:spPr>
          <a:xfrm xmlns:a="http://schemas.openxmlformats.org/drawingml/2006/main">
            <a:off x="6231636" y="4718304"/>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34" name="Shape 31">
            <a:extLst xmlns:a="http://schemas.openxmlformats.org/drawingml/2006/main">
              <a:ext uri="{FF2B5EF4-FFF2-40B4-BE49-F238E27FC236}">
                <a16:creationId xmlns:a16="http://schemas.microsoft.com/office/drawing/2014/main" id="{E3B9AA97-EAED-4E39-B5DF-4DB8EBBA4EDD}"/>
              </a:ext>
            </a:extLst>
          </p:cNvPr>
          <p:cNvSpPr>
            <a:spLocks xmlns:a="http://schemas.openxmlformats.org/drawingml/2006/main" noGrp="1"/>
          </p:cNvSpPr>
          <p:nvPr/>
        </p:nvSpPr>
        <p:spPr>
          <a:xfrm xmlns:a="http://schemas.openxmlformats.org/drawingml/2006/main">
            <a:off x="6231636" y="4718304"/>
            <a:ext cx="64008" cy="1417320"/>
          </a:xfrm>
          <a:prstGeom xmlns:a="http://schemas.openxmlformats.org/drawingml/2006/main" prst="rect">
            <a:avLst/>
          </a:prstGeom>
          <a:solidFill xmlns:a="http://schemas.openxmlformats.org/drawingml/2006/main">
            <a:srgbClr val="7B61A6"/>
          </a:solidFill>
        </p:spPr>
      </p:sp>
      <p:sp>
        <p:nvSpPr>
          <p:cNvPr id="35" name="Text 32">
            <a:extLst xmlns:a="http://schemas.openxmlformats.org/drawingml/2006/main">
              <a:ext uri="{FF2B5EF4-FFF2-40B4-BE49-F238E27FC236}">
                <a16:creationId xmlns:a16="http://schemas.microsoft.com/office/drawing/2014/main" id="{7774FAFF-9262-4E04-8814-7184F9CBD56D}"/>
              </a:ext>
            </a:extLst>
          </p:cNvPr>
          <p:cNvSpPr>
            <a:spLocks xmlns:a="http://schemas.openxmlformats.org/drawingml/2006/main" noGrp="1"/>
          </p:cNvSpPr>
          <p:nvPr/>
        </p:nvSpPr>
        <p:spPr>
          <a:xfrm xmlns:a="http://schemas.openxmlformats.org/drawingml/2006/main">
            <a:off x="6414516" y="4846320"/>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LO6</a:t>
            </a:r>
            <a:endParaRPr sz="1200"/>
          </a:p>
        </p:txBody>
      </p:sp>
      <p:sp>
        <p:nvSpPr>
          <p:cNvPr id="36" name="Text 33">
            <a:extLst xmlns:a="http://schemas.openxmlformats.org/drawingml/2006/main">
              <a:ext uri="{FF2B5EF4-FFF2-40B4-BE49-F238E27FC236}">
                <a16:creationId xmlns:a16="http://schemas.microsoft.com/office/drawing/2014/main" id="{5B5ED7DA-2213-42FB-AE22-580BC679C12E}"/>
              </a:ext>
            </a:extLst>
          </p:cNvPr>
          <p:cNvSpPr>
            <a:spLocks xmlns:a="http://schemas.openxmlformats.org/drawingml/2006/main" noGrp="1"/>
          </p:cNvSpPr>
          <p:nvPr/>
        </p:nvSpPr>
        <p:spPr>
          <a:xfrm xmlns:a="http://schemas.openxmlformats.org/drawingml/2006/main">
            <a:off x="10725912" y="4846320"/>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LO6</a:t>
            </a:r>
            <a:endParaRPr sz="850"/>
          </a:p>
        </p:txBody>
      </p:sp>
      <p:sp>
        <p:nvSpPr>
          <p:cNvPr id="37" name="Text 34">
            <a:extLst xmlns:a="http://schemas.openxmlformats.org/drawingml/2006/main">
              <a:ext uri="{FF2B5EF4-FFF2-40B4-BE49-F238E27FC236}">
                <a16:creationId xmlns:a16="http://schemas.microsoft.com/office/drawing/2014/main" id="{74416837-EBD8-4963-8771-CCB2B160913C}"/>
              </a:ext>
            </a:extLst>
          </p:cNvPr>
          <p:cNvSpPr>
            <a:spLocks xmlns:a="http://schemas.openxmlformats.org/drawingml/2006/main" noGrp="1"/>
          </p:cNvSpPr>
          <p:nvPr/>
        </p:nvSpPr>
        <p:spPr>
          <a:xfrm xmlns:a="http://schemas.openxmlformats.org/drawingml/2006/main">
            <a:off x="6414516" y="5138928"/>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Evaluate code quality using reviews, linting, and static analysis</a:t>
            </a:r>
            <a:endParaRPr sz="1100"/>
          </a:p>
        </p:txBody>
      </p:sp>
      <p:sp>
        <p:nvSpPr>
          <p:cNvPr id="38" name="Text 35">
            <a:extLst xmlns:a="http://schemas.openxmlformats.org/drawingml/2006/main">
              <a:ext uri="{FF2B5EF4-FFF2-40B4-BE49-F238E27FC236}">
                <a16:creationId xmlns:a16="http://schemas.microsoft.com/office/drawing/2014/main" id="{D506984D-F15C-4DC5-A541-4CA28DB83CCD}"/>
              </a:ext>
            </a:extLst>
          </p:cNvPr>
          <p:cNvSpPr>
            <a:spLocks xmlns:a="http://schemas.openxmlformats.org/drawingml/2006/main" noGrp="1"/>
          </p:cNvSpPr>
          <p:nvPr/>
        </p:nvSpPr>
        <p:spPr>
          <a:xfrm xmlns:a="http://schemas.openxmlformats.org/drawingml/2006/main">
            <a:off x="502920" y="6080760"/>
            <a:ext cx="11155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5F6B7A"/>
                </a:solidFill>
                <a:latin typeface="Calibri"/>
                <a:ea typeface="Calibri"/>
                <a:cs typeface="Calibri"/>
              </a:rPr>
              <a:t>Each LO maps to a mandatory capstone requirement and a rubric criterion.</a:t>
            </a:r>
            <a:endParaRPr sz="1000"/>
          </a:p>
        </p:txBody>
      </p:sp>
    </p:spTree>
    <p:extLst>
      <p:ext uri="{BB962C8B-B14F-4D97-AF65-F5344CB8AC3E}">
        <p14:creationId xmlns:p14="http://schemas.microsoft.com/office/powerpoint/2010/main" val="207506770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2D4F699-96C9-4819-9771-4E9A8DD55C70}"/>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The 3-day journey</a:t>
            </a:r>
            <a:endParaRPr sz="2600"/>
          </a:p>
        </p:txBody>
      </p:sp>
      <p:sp>
        <p:nvSpPr>
          <p:cNvPr id="3" name="Text 1">
            <a:extLst xmlns:a="http://schemas.openxmlformats.org/drawingml/2006/main">
              <a:ext uri="{FF2B5EF4-FFF2-40B4-BE49-F238E27FC236}">
                <a16:creationId xmlns:a16="http://schemas.microsoft.com/office/drawing/2014/main" id="{D36C8C77-CFBB-4F30-A31D-F2B5B055D6AB}"/>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رحلة الأيام الثلاثة</a:t>
            </a:r>
            <a:endParaRPr sz="13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500ea184286f4a89"/>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F1BA76F9-A89A-49CA-9AB9-AF4ADCAEBB4D}"/>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09B1F117-4A59-4BA1-882B-D5827D2FB05B}"/>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OVERVIEW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B9A3B3B7-2F6A-4D9E-94A2-2CECCB35F9EE}"/>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5</a:t>
            </a:r>
            <a:endParaRPr sz="850"/>
          </a:p>
        </p:txBody>
      </p:sp>
      <p:graphicFrame>
        <p:nvGraphicFramePr>
          <p:cNvPr id="16" name="Table 0"/>
          <p:cNvGraphicFramePr/>
          <p:nvPr/>
        </p:nvGraphicFramePr>
        <p:xfrm>
          <a:off xmlns:a="http://schemas.openxmlformats.org/drawingml/2006/main" x="502920" y="1554480"/>
          <a:ext xmlns:a="http://schemas.openxmlformats.org/drawingml/2006/main" cx="11183112" cy="914400"/>
        </p:xfrm>
        <a:graphic xmlns:a="http://schemas.openxmlformats.org/drawingml/2006/main">
          <a:graphicData uri="http://schemas.openxmlformats.org/drawingml/2006/table">
            <a:tbl>
              <a:tblPr/>
              <a:tblGrid>
                <a:gridCol w="2236622"/>
                <a:gridCol w="2236622"/>
                <a:gridCol w="2236622"/>
                <a:gridCol w="2236622"/>
                <a:gridCol w="2236622"/>
              </a:tblGrid>
              <a:tr h="384048">
                <a:tc>
                  <a:txBody>
                    <a:bodyPr/>
                    <a:lstStyle/>
                    <a:p>
                      <a:pPr marL="0" indent="0">
                        <a:buNone/>
                      </a:pPr>
                      <a:r>
                        <a:rPr sz="1100" b="1">
                          <a:solidFill>
                            <a:srgbClr val="FFFFFF"/>
                          </a:solidFill>
                          <a:latin typeface="Calibri"/>
                          <a:ea typeface="Calibri"/>
                          <a:cs typeface="Calibri"/>
                        </a:rPr>
                        <a:t>Day</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c>
                  <a:txBody>
                    <a:bodyPr/>
                    <a:lstStyle/>
                    <a:p>
                      <a:pPr marL="0" indent="0">
                        <a:buNone/>
                      </a:pPr>
                      <a:r>
                        <a:rPr sz="1100" b="1">
                          <a:solidFill>
                            <a:srgbClr val="FFFFFF"/>
                          </a:solidFill>
                          <a:latin typeface="Calibri"/>
                          <a:ea typeface="Calibri"/>
                          <a:cs typeface="Calibri"/>
                        </a:rPr>
                        <a:t>Theme</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c>
                  <a:txBody>
                    <a:bodyPr/>
                    <a:lstStyle/>
                    <a:p>
                      <a:pPr marL="0" indent="0">
                        <a:buNone/>
                      </a:pPr>
                      <a:r>
                        <a:rPr sz="1100" b="1">
                          <a:solidFill>
                            <a:srgbClr val="FFFFFF"/>
                          </a:solidFill>
                          <a:latin typeface="Calibri"/>
                          <a:ea typeface="Calibri"/>
                          <a:cs typeface="Calibri"/>
                        </a:rPr>
                        <a:t>Modules</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c>
                  <a:txBody>
                    <a:bodyPr/>
                    <a:lstStyle/>
                    <a:p>
                      <a:pPr marL="0" indent="0">
                        <a:buNone/>
                      </a:pPr>
                      <a:r>
                        <a:rPr sz="1100" b="1">
                          <a:solidFill>
                            <a:srgbClr val="FFFFFF"/>
                          </a:solidFill>
                          <a:latin typeface="Calibri"/>
                          <a:ea typeface="Calibri"/>
                          <a:cs typeface="Calibri"/>
                        </a:rPr>
                        <a:t>Theory/Lab</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c>
                  <a:txBody>
                    <a:bodyPr/>
                    <a:lstStyle/>
                    <a:p>
                      <a:pPr marL="0" indent="0">
                        <a:buNone/>
                      </a:pPr>
                      <a:r>
                        <a:rPr sz="1100" b="1">
                          <a:solidFill>
                            <a:srgbClr val="FFFFFF"/>
                          </a:solidFill>
                          <a:latin typeface="Calibri"/>
                          <a:ea typeface="Calibri"/>
                          <a:cs typeface="Calibri"/>
                        </a:rPr>
                        <a:t>End-of-day deliverable</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r>
              <a:tr h="384048">
                <a:tc>
                  <a:txBody>
                    <a:bodyPr/>
                    <a:lstStyle/>
                    <a:p>
                      <a:pPr marL="0" indent="0">
                        <a:buNone/>
                      </a:pPr>
                      <a:r>
                        <a:rPr sz="1050" b="1">
                          <a:solidFill>
                            <a:srgbClr val="1D2A5C"/>
                          </a:solidFill>
                          <a:latin typeface="Calibri"/>
                          <a:ea typeface="Calibri"/>
                          <a:cs typeface="Calibri"/>
                        </a:rPr>
                        <a:t>Day 1</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From notebook to service</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M1 Clean Architecture · M2 APIs for Model Serving (FastAPI)</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45/55</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Clean-architecture skeleton + working FastAPI prediction endpoint</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r>
              <a:tr h="384048">
                <a:tc>
                  <a:txBody>
                    <a:bodyPr/>
                    <a:lstStyle/>
                    <a:p>
                      <a:pPr marL="0" indent="0">
                        <a:buNone/>
                      </a:pPr>
                      <a:r>
                        <a:rPr sz="1050" b="1">
                          <a:solidFill>
                            <a:srgbClr val="1D2A5C"/>
                          </a:solidFill>
                          <a:latin typeface="Calibri"/>
                          <a:ea typeface="Calibri"/>
                          <a:cs typeface="Calibri"/>
                        </a:rPr>
                        <a:t>Day 2</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Ship it in a box, prove it works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M3 Docker &amp; Containerised Services · M4 Testing Strategies for ML Code</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40/60</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Containerised service (compose) + passing unit/integration/behaviour suite</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r>
              <a:tr h="384048">
                <a:tc>
                  <a:txBody>
                    <a:bodyPr/>
                    <a:lstStyle/>
                    <a:p>
                      <a:pPr marL="0" indent="0">
                        <a:buNone/>
                      </a:pPr>
                      <a:r>
                        <a:rPr sz="1050" b="1">
                          <a:solidFill>
                            <a:srgbClr val="1D2A5C"/>
                          </a:solidFill>
                          <a:latin typeface="Calibri"/>
                          <a:ea typeface="Calibri"/>
                          <a:cs typeface="Calibri"/>
                        </a:rPr>
                        <a:t>Day 3</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Automate everything</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M5 CI/CD with GitHub Actions · M6 Config, Secrets &amp; Logging · Capstone</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30/70</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Green CI pipeline + hardened service + capstone demo</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r>
            </a:tbl>
          </a:graphicData>
        </a:graphic>
      </p:graphicFrame>
    </p:spTree>
    <p:extLst>
      <p:ext uri="{BB962C8B-B14F-4D97-AF65-F5344CB8AC3E}">
        <p14:creationId xmlns:p14="http://schemas.microsoft.com/office/powerpoint/2010/main" val="200504983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3DFB398-015C-49E3-AF3F-D5BF799598FF}"/>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Environment &amp; tooling strategy</a:t>
            </a:r>
            <a:endParaRPr sz="2600"/>
          </a:p>
        </p:txBody>
      </p:sp>
      <p:sp>
        <p:nvSpPr>
          <p:cNvPr id="3" name="Text 1">
            <a:extLst xmlns:a="http://schemas.openxmlformats.org/drawingml/2006/main">
              <a:ext uri="{FF2B5EF4-FFF2-40B4-BE49-F238E27FC236}">
                <a16:creationId xmlns:a16="http://schemas.microsoft.com/office/drawing/2014/main" id="{8EA7F7D7-4D17-434C-85D7-C7DE6A57B5DB}"/>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استراتيجية البيئة والأدوات</a:t>
            </a:r>
            <a:endParaRPr sz="1300"/>
          </a:p>
        </p:txBody>
      </p:sp>
      <p:pic>
        <p:nvPicPr>
          <p:cNvPr id="41" name="Image 0"/>
          <p:cNvPicPr>
            <a:picLocks xmlns:a="http://schemas.openxmlformats.org/drawingml/2006/main" noChangeAspect="1"/>
          </p:cNvPicPr>
          <p:nvPr/>
        </p:nvPicPr>
        <p:blipFill>
          <a:blip xmlns:r="http://schemas.openxmlformats.org/officeDocument/2006/relationships" xmlns:a="http://schemas.openxmlformats.org/drawingml/2006/main" r:embed="R62dacf52ea0044b6"/>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0BA5CD2F-1600-4BA4-9092-B4E4152B610C}"/>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63BC91CD-7077-4659-B868-7792BB56A178}"/>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OVERVIEW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5CAAED4C-85FD-4472-B09D-D79AA215F94C}"/>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6</a:t>
            </a:r>
            <a:endParaRPr sz="850"/>
          </a:p>
        </p:txBody>
      </p:sp>
      <p:sp>
        <p:nvSpPr>
          <p:cNvPr id="8" name="Shape 5">
            <a:extLst xmlns:a="http://schemas.openxmlformats.org/drawingml/2006/main">
              <a:ext uri="{FF2B5EF4-FFF2-40B4-BE49-F238E27FC236}">
                <a16:creationId xmlns:a16="http://schemas.microsoft.com/office/drawing/2014/main" id="{E81890D7-1639-42FC-85AB-4C4771911185}"/>
              </a:ext>
            </a:extLst>
          </p:cNvPr>
          <p:cNvSpPr>
            <a:spLocks xmlns:a="http://schemas.openxmlformats.org/drawingml/2006/main" noGrp="1"/>
          </p:cNvSpPr>
          <p:nvPr/>
        </p:nvSpPr>
        <p:spPr>
          <a:xfrm xmlns:a="http://schemas.openxmlformats.org/drawingml/2006/main">
            <a:off x="502920" y="1517904"/>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1CB734AC-2B03-4B77-B962-323825DE28D6}"/>
              </a:ext>
            </a:extLst>
          </p:cNvPr>
          <p:cNvSpPr>
            <a:spLocks xmlns:a="http://schemas.openxmlformats.org/drawingml/2006/main" noGrp="1"/>
          </p:cNvSpPr>
          <p:nvPr/>
        </p:nvSpPr>
        <p:spPr>
          <a:xfrm xmlns:a="http://schemas.openxmlformats.org/drawingml/2006/main">
            <a:off x="502920" y="1517904"/>
            <a:ext cx="82296" cy="2272284"/>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32062762-F6DD-4FAB-A713-DE054DC837AE}"/>
              </a:ext>
            </a:extLst>
          </p:cNvPr>
          <p:cNvSpPr>
            <a:spLocks xmlns:a="http://schemas.openxmlformats.org/drawingml/2006/main" noGrp="1"/>
          </p:cNvSpPr>
          <p:nvPr/>
        </p:nvSpPr>
        <p:spPr>
          <a:xfrm xmlns:a="http://schemas.openxmlformats.org/drawingml/2006/main">
            <a:off x="722376" y="1636776"/>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00A79D"/>
                </a:solidFill>
                <a:latin typeface="Calibri"/>
                <a:ea typeface="Calibri"/>
                <a:cs typeface="Calibri"/>
              </a:rPr>
              <a:t>PRIMARY</a:t>
            </a:r>
            <a:endParaRPr sz="900"/>
          </a:p>
        </p:txBody>
      </p:sp>
      <p:sp>
        <p:nvSpPr>
          <p:cNvPr id="11" name="Text 8">
            <a:extLst xmlns:a="http://schemas.openxmlformats.org/drawingml/2006/main">
              <a:ext uri="{FF2B5EF4-FFF2-40B4-BE49-F238E27FC236}">
                <a16:creationId xmlns:a16="http://schemas.microsoft.com/office/drawing/2014/main" id="{DB8DA918-89C4-4915-881E-9FC821721BFA}"/>
              </a:ext>
            </a:extLst>
          </p:cNvPr>
          <p:cNvSpPr>
            <a:spLocks xmlns:a="http://schemas.openxmlformats.org/drawingml/2006/main" noGrp="1"/>
          </p:cNvSpPr>
          <p:nvPr/>
        </p:nvSpPr>
        <p:spPr>
          <a:xfrm xmlns:a="http://schemas.openxmlformats.org/drawingml/2006/main">
            <a:off x="722376" y="1883664"/>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Local Docker</a:t>
            </a:r>
            <a:endParaRPr sz="1250"/>
          </a:p>
        </p:txBody>
      </p:sp>
      <p:sp>
        <p:nvSpPr>
          <p:cNvPr id="12" name="Text 9">
            <a:extLst xmlns:a="http://schemas.openxmlformats.org/drawingml/2006/main">
              <a:ext uri="{FF2B5EF4-FFF2-40B4-BE49-F238E27FC236}">
                <a16:creationId xmlns:a16="http://schemas.microsoft.com/office/drawing/2014/main" id="{761CE912-0D1D-4E6E-BD22-912E9775D71D}"/>
              </a:ext>
            </a:extLst>
          </p:cNvPr>
          <p:cNvSpPr>
            <a:spLocks xmlns:a="http://schemas.openxmlformats.org/drawingml/2006/main" noGrp="1"/>
          </p:cNvSpPr>
          <p:nvPr/>
        </p:nvSpPr>
        <p:spPr>
          <a:xfrm xmlns:a="http://schemas.openxmlformats.org/drawingml/2006/main">
            <a:off x="722376" y="2404872"/>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Docker Desktop (WSL2 on Windows) or Colima; verify docker run hello-world before Day 1</a:t>
            </a:r>
            <a:endParaRPr sz="980"/>
          </a:p>
        </p:txBody>
      </p:sp>
      <p:sp>
        <p:nvSpPr>
          <p:cNvPr id="13" name="Shape 10">
            <a:extLst xmlns:a="http://schemas.openxmlformats.org/drawingml/2006/main">
              <a:ext uri="{FF2B5EF4-FFF2-40B4-BE49-F238E27FC236}">
                <a16:creationId xmlns:a16="http://schemas.microsoft.com/office/drawing/2014/main" id="{3B028BA8-DED1-4E21-B746-F0CD333EE074}"/>
              </a:ext>
            </a:extLst>
          </p:cNvPr>
          <p:cNvSpPr>
            <a:spLocks xmlns:a="http://schemas.openxmlformats.org/drawingml/2006/main" noGrp="1"/>
          </p:cNvSpPr>
          <p:nvPr/>
        </p:nvSpPr>
        <p:spPr>
          <a:xfrm xmlns:a="http://schemas.openxmlformats.org/drawingml/2006/main">
            <a:off x="4322064" y="1517904"/>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14" name="Shape 11">
            <a:extLst xmlns:a="http://schemas.openxmlformats.org/drawingml/2006/main">
              <a:ext uri="{FF2B5EF4-FFF2-40B4-BE49-F238E27FC236}">
                <a16:creationId xmlns:a16="http://schemas.microsoft.com/office/drawing/2014/main" id="{4ABE69A1-955D-4CBE-AF08-DB73B47F3212}"/>
              </a:ext>
            </a:extLst>
          </p:cNvPr>
          <p:cNvSpPr>
            <a:spLocks xmlns:a="http://schemas.openxmlformats.org/drawingml/2006/main" noGrp="1"/>
          </p:cNvSpPr>
          <p:nvPr/>
        </p:nvSpPr>
        <p:spPr>
          <a:xfrm xmlns:a="http://schemas.openxmlformats.org/drawingml/2006/main">
            <a:off x="4322064" y="1517904"/>
            <a:ext cx="82296" cy="2272284"/>
          </a:xfrm>
          <a:prstGeom xmlns:a="http://schemas.openxmlformats.org/drawingml/2006/main" prst="rect">
            <a:avLst/>
          </a:prstGeom>
          <a:solidFill xmlns:a="http://schemas.openxmlformats.org/drawingml/2006/main">
            <a:srgbClr val="29ABE2"/>
          </a:solidFill>
        </p:spPr>
      </p:sp>
      <p:sp>
        <p:nvSpPr>
          <p:cNvPr id="15" name="Text 12">
            <a:extLst xmlns:a="http://schemas.openxmlformats.org/drawingml/2006/main">
              <a:ext uri="{FF2B5EF4-FFF2-40B4-BE49-F238E27FC236}">
                <a16:creationId xmlns:a16="http://schemas.microsoft.com/office/drawing/2014/main" id="{B709E1CD-FA51-4D01-8F9E-2B2FE7579670}"/>
              </a:ext>
            </a:extLst>
          </p:cNvPr>
          <p:cNvSpPr>
            <a:spLocks xmlns:a="http://schemas.openxmlformats.org/drawingml/2006/main" noGrp="1"/>
          </p:cNvSpPr>
          <p:nvPr/>
        </p:nvSpPr>
        <p:spPr>
          <a:xfrm xmlns:a="http://schemas.openxmlformats.org/drawingml/2006/main">
            <a:off x="4541520" y="1636776"/>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29ABE2"/>
                </a:solidFill>
                <a:latin typeface="Calibri"/>
                <a:ea typeface="Calibri"/>
                <a:cs typeface="Calibri"/>
              </a:rPr>
              <a:t>FALLBACK</a:t>
            </a:r>
            <a:endParaRPr sz="900"/>
          </a:p>
        </p:txBody>
      </p:sp>
      <p:sp>
        <p:nvSpPr>
          <p:cNvPr id="16" name="Text 13">
            <a:extLst xmlns:a="http://schemas.openxmlformats.org/drawingml/2006/main">
              <a:ext uri="{FF2B5EF4-FFF2-40B4-BE49-F238E27FC236}">
                <a16:creationId xmlns:a16="http://schemas.microsoft.com/office/drawing/2014/main" id="{5B71D9FC-4A03-4960-9A70-61DCC79E8FC0}"/>
              </a:ext>
            </a:extLst>
          </p:cNvPr>
          <p:cNvSpPr>
            <a:spLocks xmlns:a="http://schemas.openxmlformats.org/drawingml/2006/main" noGrp="1"/>
          </p:cNvSpPr>
          <p:nvPr/>
        </p:nvSpPr>
        <p:spPr>
          <a:xfrm xmlns:a="http://schemas.openxmlformats.org/drawingml/2006/main">
            <a:off x="4541520" y="1883664"/>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GitHub Codespaces</a:t>
            </a:r>
            <a:endParaRPr sz="1250"/>
          </a:p>
        </p:txBody>
      </p:sp>
      <p:sp>
        <p:nvSpPr>
          <p:cNvPr id="17" name="Text 14">
            <a:extLst xmlns:a="http://schemas.openxmlformats.org/drawingml/2006/main">
              <a:ext uri="{FF2B5EF4-FFF2-40B4-BE49-F238E27FC236}">
                <a16:creationId xmlns:a16="http://schemas.microsoft.com/office/drawing/2014/main" id="{CED70BBA-1630-4A9B-AD38-4025E69C48E5}"/>
              </a:ext>
            </a:extLst>
          </p:cNvPr>
          <p:cNvSpPr>
            <a:spLocks xmlns:a="http://schemas.openxmlformats.org/drawingml/2006/main" noGrp="1"/>
          </p:cNvSpPr>
          <p:nvPr/>
        </p:nvSpPr>
        <p:spPr>
          <a:xfrm xmlns:a="http://schemas.openxmlformats.org/drawingml/2006/main">
            <a:off x="4541520" y="2404872"/>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Devcontainer provided; verify both environments the week before delivery</a:t>
            </a:r>
            <a:endParaRPr sz="980"/>
          </a:p>
        </p:txBody>
      </p:sp>
      <p:sp>
        <p:nvSpPr>
          <p:cNvPr id="18" name="Shape 15">
            <a:extLst xmlns:a="http://schemas.openxmlformats.org/drawingml/2006/main">
              <a:ext uri="{FF2B5EF4-FFF2-40B4-BE49-F238E27FC236}">
                <a16:creationId xmlns:a16="http://schemas.microsoft.com/office/drawing/2014/main" id="{9727FF70-5A65-4611-B12C-E04D71FEFABC}"/>
              </a:ext>
            </a:extLst>
          </p:cNvPr>
          <p:cNvSpPr>
            <a:spLocks xmlns:a="http://schemas.openxmlformats.org/drawingml/2006/main" noGrp="1"/>
          </p:cNvSpPr>
          <p:nvPr/>
        </p:nvSpPr>
        <p:spPr>
          <a:xfrm xmlns:a="http://schemas.openxmlformats.org/drawingml/2006/main">
            <a:off x="8141208" y="1517904"/>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19" name="Shape 16">
            <a:extLst xmlns:a="http://schemas.openxmlformats.org/drawingml/2006/main">
              <a:ext uri="{FF2B5EF4-FFF2-40B4-BE49-F238E27FC236}">
                <a16:creationId xmlns:a16="http://schemas.microsoft.com/office/drawing/2014/main" id="{384C5136-F5F4-4CE3-A836-83F4DAA22932}"/>
              </a:ext>
            </a:extLst>
          </p:cNvPr>
          <p:cNvSpPr>
            <a:spLocks xmlns:a="http://schemas.openxmlformats.org/drawingml/2006/main" noGrp="1"/>
          </p:cNvSpPr>
          <p:nvPr/>
        </p:nvSpPr>
        <p:spPr>
          <a:xfrm xmlns:a="http://schemas.openxmlformats.org/drawingml/2006/main">
            <a:off x="8141208" y="1517904"/>
            <a:ext cx="82296" cy="2272284"/>
          </a:xfrm>
          <a:prstGeom xmlns:a="http://schemas.openxmlformats.org/drawingml/2006/main" prst="rect">
            <a:avLst/>
          </a:prstGeom>
          <a:solidFill xmlns:a="http://schemas.openxmlformats.org/drawingml/2006/main">
            <a:srgbClr val="F58220"/>
          </a:solidFill>
        </p:spPr>
      </p:sp>
      <p:sp>
        <p:nvSpPr>
          <p:cNvPr id="20" name="Text 17">
            <a:extLst xmlns:a="http://schemas.openxmlformats.org/drawingml/2006/main">
              <a:ext uri="{FF2B5EF4-FFF2-40B4-BE49-F238E27FC236}">
                <a16:creationId xmlns:a16="http://schemas.microsoft.com/office/drawing/2014/main" id="{22222741-944A-4347-956C-FEF84361AFEC}"/>
              </a:ext>
            </a:extLst>
          </p:cNvPr>
          <p:cNvSpPr>
            <a:spLocks xmlns:a="http://schemas.openxmlformats.org/drawingml/2006/main" noGrp="1"/>
          </p:cNvSpPr>
          <p:nvPr/>
        </p:nvSpPr>
        <p:spPr>
          <a:xfrm xmlns:a="http://schemas.openxmlformats.org/drawingml/2006/main">
            <a:off x="8360664" y="1636776"/>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F58220"/>
                </a:solidFill>
                <a:latin typeface="Calibri"/>
                <a:ea typeface="Calibri"/>
                <a:cs typeface="Calibri"/>
              </a:rPr>
              <a:t>SAFETY NET</a:t>
            </a:r>
            <a:endParaRPr sz="900"/>
          </a:p>
        </p:txBody>
      </p:sp>
      <p:sp>
        <p:nvSpPr>
          <p:cNvPr id="21" name="Text 18">
            <a:extLst xmlns:a="http://schemas.openxmlformats.org/drawingml/2006/main">
              <a:ext uri="{FF2B5EF4-FFF2-40B4-BE49-F238E27FC236}">
                <a16:creationId xmlns:a16="http://schemas.microsoft.com/office/drawing/2014/main" id="{644BE1E0-90F4-487D-A3EA-D1E0B5397499}"/>
              </a:ext>
            </a:extLst>
          </p:cNvPr>
          <p:cNvSpPr>
            <a:spLocks xmlns:a="http://schemas.openxmlformats.org/drawingml/2006/main" noGrp="1"/>
          </p:cNvSpPr>
          <p:nvPr/>
        </p:nvSpPr>
        <p:spPr>
          <a:xfrm xmlns:a="http://schemas.openxmlformats.org/drawingml/2006/main">
            <a:off x="8360664" y="1883664"/>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Checkpoint commits</a:t>
            </a:r>
            <a:endParaRPr sz="1250"/>
          </a:p>
        </p:txBody>
      </p:sp>
      <p:sp>
        <p:nvSpPr>
          <p:cNvPr id="22" name="Text 19">
            <a:extLst xmlns:a="http://schemas.openxmlformats.org/drawingml/2006/main">
              <a:ext uri="{FF2B5EF4-FFF2-40B4-BE49-F238E27FC236}">
                <a16:creationId xmlns:a16="http://schemas.microsoft.com/office/drawing/2014/main" id="{4217D473-00BC-427C-B1F7-3BAA416329FB}"/>
              </a:ext>
            </a:extLst>
          </p:cNvPr>
          <p:cNvSpPr>
            <a:spLocks xmlns:a="http://schemas.openxmlformats.org/drawingml/2006/main" noGrp="1"/>
          </p:cNvSpPr>
          <p:nvPr/>
        </p:nvSpPr>
        <p:spPr>
          <a:xfrm xmlns:a="http://schemas.openxmlformats.org/drawingml/2006/main">
            <a:off x="8360664" y="2404872"/>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Publish lab2-start, lab2-solution, lab3-start … so stragglers fast-forward: git checkout lab3-start</a:t>
            </a:r>
            <a:endParaRPr sz="980"/>
          </a:p>
        </p:txBody>
      </p:sp>
      <p:sp>
        <p:nvSpPr>
          <p:cNvPr id="23" name="Shape 20">
            <a:extLst xmlns:a="http://schemas.openxmlformats.org/drawingml/2006/main">
              <a:ext uri="{FF2B5EF4-FFF2-40B4-BE49-F238E27FC236}">
                <a16:creationId xmlns:a16="http://schemas.microsoft.com/office/drawing/2014/main" id="{09EECE6C-6623-4FBE-A708-813619572369}"/>
              </a:ext>
            </a:extLst>
          </p:cNvPr>
          <p:cNvSpPr>
            <a:spLocks xmlns:a="http://schemas.openxmlformats.org/drawingml/2006/main" noGrp="1"/>
          </p:cNvSpPr>
          <p:nvPr/>
        </p:nvSpPr>
        <p:spPr>
          <a:xfrm xmlns:a="http://schemas.openxmlformats.org/drawingml/2006/main">
            <a:off x="502920" y="4046220"/>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24" name="Shape 21">
            <a:extLst xmlns:a="http://schemas.openxmlformats.org/drawingml/2006/main">
              <a:ext uri="{FF2B5EF4-FFF2-40B4-BE49-F238E27FC236}">
                <a16:creationId xmlns:a16="http://schemas.microsoft.com/office/drawing/2014/main" id="{73ED3658-7120-42C9-99A1-EB6B225F919C}"/>
              </a:ext>
            </a:extLst>
          </p:cNvPr>
          <p:cNvSpPr>
            <a:spLocks xmlns:a="http://schemas.openxmlformats.org/drawingml/2006/main" noGrp="1"/>
          </p:cNvSpPr>
          <p:nvPr/>
        </p:nvSpPr>
        <p:spPr>
          <a:xfrm xmlns:a="http://schemas.openxmlformats.org/drawingml/2006/main">
            <a:off x="502920" y="4046220"/>
            <a:ext cx="82296" cy="2272284"/>
          </a:xfrm>
          <a:prstGeom xmlns:a="http://schemas.openxmlformats.org/drawingml/2006/main" prst="rect">
            <a:avLst/>
          </a:prstGeom>
          <a:solidFill xmlns:a="http://schemas.openxmlformats.org/drawingml/2006/main">
            <a:srgbClr val="8DC63F"/>
          </a:solidFill>
        </p:spPr>
      </p:sp>
      <p:sp>
        <p:nvSpPr>
          <p:cNvPr id="25" name="Text 22">
            <a:extLst xmlns:a="http://schemas.openxmlformats.org/drawingml/2006/main">
              <a:ext uri="{FF2B5EF4-FFF2-40B4-BE49-F238E27FC236}">
                <a16:creationId xmlns:a16="http://schemas.microsoft.com/office/drawing/2014/main" id="{963B0D0B-4A07-44E2-B256-D9D5D3711D31}"/>
              </a:ext>
            </a:extLst>
          </p:cNvPr>
          <p:cNvSpPr>
            <a:spLocks xmlns:a="http://schemas.openxmlformats.org/drawingml/2006/main" noGrp="1"/>
          </p:cNvSpPr>
          <p:nvPr/>
        </p:nvSpPr>
        <p:spPr>
          <a:xfrm xmlns:a="http://schemas.openxmlformats.org/drawingml/2006/main">
            <a:off x="722376" y="4165092"/>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8DC63F"/>
                </a:solidFill>
                <a:latin typeface="Calibri"/>
                <a:ea typeface="Calibri"/>
                <a:cs typeface="Calibri"/>
              </a:rPr>
              <a:t>PEOPLE</a:t>
            </a:r>
            <a:endParaRPr sz="900"/>
          </a:p>
        </p:txBody>
      </p:sp>
      <p:sp>
        <p:nvSpPr>
          <p:cNvPr id="26" name="Text 23">
            <a:extLst xmlns:a="http://schemas.openxmlformats.org/drawingml/2006/main">
              <a:ext uri="{FF2B5EF4-FFF2-40B4-BE49-F238E27FC236}">
                <a16:creationId xmlns:a16="http://schemas.microsoft.com/office/drawing/2014/main" id="{9713C5F0-C956-47DB-9EEA-37E1DECED1A8}"/>
              </a:ext>
            </a:extLst>
          </p:cNvPr>
          <p:cNvSpPr>
            <a:spLocks xmlns:a="http://schemas.openxmlformats.org/drawingml/2006/main" noGrp="1"/>
          </p:cNvSpPr>
          <p:nvPr/>
        </p:nvSpPr>
        <p:spPr>
          <a:xfrm xmlns:a="http://schemas.openxmlformats.org/drawingml/2006/main">
            <a:off x="722376" y="4411980"/>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Pairing rotation</a:t>
            </a:r>
            <a:endParaRPr sz="1250"/>
          </a:p>
        </p:txBody>
      </p:sp>
      <p:sp>
        <p:nvSpPr>
          <p:cNvPr id="27" name="Text 24">
            <a:extLst xmlns:a="http://schemas.openxmlformats.org/drawingml/2006/main">
              <a:ext uri="{FF2B5EF4-FFF2-40B4-BE49-F238E27FC236}">
                <a16:creationId xmlns:a16="http://schemas.microsoft.com/office/drawing/2014/main" id="{2D061317-7B82-487B-93D1-FBCBBFFDDCAD}"/>
              </a:ext>
            </a:extLst>
          </p:cNvPr>
          <p:cNvSpPr>
            <a:spLocks xmlns:a="http://schemas.openxmlformats.org/drawingml/2006/main" noGrp="1"/>
          </p:cNvSpPr>
          <p:nvPr/>
        </p:nvSpPr>
        <p:spPr>
          <a:xfrm xmlns:a="http://schemas.openxmlformats.org/drawingml/2006/main">
            <a:off x="722376" y="4933188"/>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Rotate pairs each day; pair strong-Python with strong-ML — the skill transfer is the point</a:t>
            </a:r>
            <a:endParaRPr sz="980"/>
          </a:p>
        </p:txBody>
      </p:sp>
      <p:sp>
        <p:nvSpPr>
          <p:cNvPr id="28" name="Shape 25">
            <a:extLst xmlns:a="http://schemas.openxmlformats.org/drawingml/2006/main">
              <a:ext uri="{FF2B5EF4-FFF2-40B4-BE49-F238E27FC236}">
                <a16:creationId xmlns:a16="http://schemas.microsoft.com/office/drawing/2014/main" id="{C8AA16F1-73D4-45F4-B294-23E7C5864FEC}"/>
              </a:ext>
            </a:extLst>
          </p:cNvPr>
          <p:cNvSpPr>
            <a:spLocks xmlns:a="http://schemas.openxmlformats.org/drawingml/2006/main" noGrp="1"/>
          </p:cNvSpPr>
          <p:nvPr/>
        </p:nvSpPr>
        <p:spPr>
          <a:xfrm xmlns:a="http://schemas.openxmlformats.org/drawingml/2006/main">
            <a:off x="4322064" y="4046220"/>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29" name="Shape 26">
            <a:extLst xmlns:a="http://schemas.openxmlformats.org/drawingml/2006/main">
              <a:ext uri="{FF2B5EF4-FFF2-40B4-BE49-F238E27FC236}">
                <a16:creationId xmlns:a16="http://schemas.microsoft.com/office/drawing/2014/main" id="{E89B0559-019C-4DC4-BFFA-EE093D6DBCD6}"/>
              </a:ext>
            </a:extLst>
          </p:cNvPr>
          <p:cNvSpPr>
            <a:spLocks xmlns:a="http://schemas.openxmlformats.org/drawingml/2006/main" noGrp="1"/>
          </p:cNvSpPr>
          <p:nvPr/>
        </p:nvSpPr>
        <p:spPr>
          <a:xfrm xmlns:a="http://schemas.openxmlformats.org/drawingml/2006/main">
            <a:off x="4322064" y="4046220"/>
            <a:ext cx="82296" cy="2272284"/>
          </a:xfrm>
          <a:prstGeom xmlns:a="http://schemas.openxmlformats.org/drawingml/2006/main" prst="rect">
            <a:avLst/>
          </a:prstGeom>
          <a:solidFill xmlns:a="http://schemas.openxmlformats.org/drawingml/2006/main">
            <a:srgbClr val="E8503A"/>
          </a:solidFill>
        </p:spPr>
      </p:sp>
      <p:sp>
        <p:nvSpPr>
          <p:cNvPr id="30" name="Text 27">
            <a:extLst xmlns:a="http://schemas.openxmlformats.org/drawingml/2006/main">
              <a:ext uri="{FF2B5EF4-FFF2-40B4-BE49-F238E27FC236}">
                <a16:creationId xmlns:a16="http://schemas.microsoft.com/office/drawing/2014/main" id="{DD0BF42A-42E6-4E9C-8098-8E52AAC6EDC7}"/>
              </a:ext>
            </a:extLst>
          </p:cNvPr>
          <p:cNvSpPr>
            <a:spLocks xmlns:a="http://schemas.openxmlformats.org/drawingml/2006/main" noGrp="1"/>
          </p:cNvSpPr>
          <p:nvPr/>
        </p:nvSpPr>
        <p:spPr>
          <a:xfrm xmlns:a="http://schemas.openxmlformats.org/drawingml/2006/main">
            <a:off x="4541520" y="4165092"/>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E8503A"/>
                </a:solidFill>
                <a:latin typeface="Calibri"/>
                <a:ea typeface="Calibri"/>
                <a:cs typeface="Calibri"/>
              </a:rPr>
              <a:t>LANGUAGE</a:t>
            </a:r>
            <a:endParaRPr sz="900"/>
          </a:p>
        </p:txBody>
      </p:sp>
      <p:sp>
        <p:nvSpPr>
          <p:cNvPr id="31" name="Text 28">
            <a:extLst xmlns:a="http://schemas.openxmlformats.org/drawingml/2006/main">
              <a:ext uri="{FF2B5EF4-FFF2-40B4-BE49-F238E27FC236}">
                <a16:creationId xmlns:a16="http://schemas.microsoft.com/office/drawing/2014/main" id="{FD5E38A8-00BE-4017-91D8-AA3288E957D2}"/>
              </a:ext>
            </a:extLst>
          </p:cNvPr>
          <p:cNvSpPr>
            <a:spLocks xmlns:a="http://schemas.openxmlformats.org/drawingml/2006/main" noGrp="1"/>
          </p:cNvSpPr>
          <p:nvPr/>
        </p:nvSpPr>
        <p:spPr>
          <a:xfrm xmlns:a="http://schemas.openxmlformats.org/drawingml/2006/main">
            <a:off x="4541520" y="4411980"/>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EN code, EN/AR delivery</a:t>
            </a:r>
            <a:endParaRPr sz="1250"/>
          </a:p>
        </p:txBody>
      </p:sp>
      <p:sp>
        <p:nvSpPr>
          <p:cNvPr id="32" name="Text 29">
            <a:extLst xmlns:a="http://schemas.openxmlformats.org/drawingml/2006/main">
              <a:ext uri="{FF2B5EF4-FFF2-40B4-BE49-F238E27FC236}">
                <a16:creationId xmlns:a16="http://schemas.microsoft.com/office/drawing/2014/main" id="{E502FE4C-2E15-40D2-9B20-0C7A4628A71B}"/>
              </a:ext>
            </a:extLst>
          </p:cNvPr>
          <p:cNvSpPr>
            <a:spLocks xmlns:a="http://schemas.openxmlformats.org/drawingml/2006/main" noGrp="1"/>
          </p:cNvSpPr>
          <p:nvPr/>
        </p:nvSpPr>
        <p:spPr>
          <a:xfrm xmlns:a="http://schemas.openxmlformats.org/drawingml/2006/main">
            <a:off x="4541520" y="4933188"/>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Keep code, identifiers, commit messages in English — mixed-language logs break grep-based operations</a:t>
            </a:r>
            <a:endParaRPr sz="980"/>
          </a:p>
        </p:txBody>
      </p:sp>
      <p:sp>
        <p:nvSpPr>
          <p:cNvPr id="33" name="Shape 30">
            <a:extLst xmlns:a="http://schemas.openxmlformats.org/drawingml/2006/main">
              <a:ext uri="{FF2B5EF4-FFF2-40B4-BE49-F238E27FC236}">
                <a16:creationId xmlns:a16="http://schemas.microsoft.com/office/drawing/2014/main" id="{BDB5E31F-BB7C-424C-B243-66CBE8C65E3C}"/>
              </a:ext>
            </a:extLst>
          </p:cNvPr>
          <p:cNvSpPr>
            <a:spLocks xmlns:a="http://schemas.openxmlformats.org/drawingml/2006/main" noGrp="1"/>
          </p:cNvSpPr>
          <p:nvPr/>
        </p:nvSpPr>
        <p:spPr>
          <a:xfrm xmlns:a="http://schemas.openxmlformats.org/drawingml/2006/main">
            <a:off x="8141208" y="4046220"/>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34" name="Shape 31">
            <a:extLst xmlns:a="http://schemas.openxmlformats.org/drawingml/2006/main">
              <a:ext uri="{FF2B5EF4-FFF2-40B4-BE49-F238E27FC236}">
                <a16:creationId xmlns:a16="http://schemas.microsoft.com/office/drawing/2014/main" id="{879ED1E2-55D4-4E19-949B-7FD60A469A50}"/>
              </a:ext>
            </a:extLst>
          </p:cNvPr>
          <p:cNvSpPr>
            <a:spLocks xmlns:a="http://schemas.openxmlformats.org/drawingml/2006/main" noGrp="1"/>
          </p:cNvSpPr>
          <p:nvPr/>
        </p:nvSpPr>
        <p:spPr>
          <a:xfrm xmlns:a="http://schemas.openxmlformats.org/drawingml/2006/main">
            <a:off x="8141208" y="4046220"/>
            <a:ext cx="82296" cy="2272284"/>
          </a:xfrm>
          <a:prstGeom xmlns:a="http://schemas.openxmlformats.org/drawingml/2006/main" prst="rect">
            <a:avLst/>
          </a:prstGeom>
          <a:solidFill xmlns:a="http://schemas.openxmlformats.org/drawingml/2006/main">
            <a:srgbClr val="7B61A6"/>
          </a:solidFill>
        </p:spPr>
      </p:sp>
      <p:sp>
        <p:nvSpPr>
          <p:cNvPr id="35" name="Text 32">
            <a:extLst xmlns:a="http://schemas.openxmlformats.org/drawingml/2006/main">
              <a:ext uri="{FF2B5EF4-FFF2-40B4-BE49-F238E27FC236}">
                <a16:creationId xmlns:a16="http://schemas.microsoft.com/office/drawing/2014/main" id="{103CF57F-2074-4DE4-8125-D74BBC82F312}"/>
              </a:ext>
            </a:extLst>
          </p:cNvPr>
          <p:cNvSpPr>
            <a:spLocks xmlns:a="http://schemas.openxmlformats.org/drawingml/2006/main" noGrp="1"/>
          </p:cNvSpPr>
          <p:nvPr/>
        </p:nvSpPr>
        <p:spPr>
          <a:xfrm xmlns:a="http://schemas.openxmlformats.org/drawingml/2006/main">
            <a:off x="8360664" y="4165092"/>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7B61A6"/>
                </a:solidFill>
                <a:latin typeface="Calibri"/>
                <a:ea typeface="Calibri"/>
                <a:cs typeface="Calibri"/>
              </a:rPr>
              <a:t>PREFLIGHT</a:t>
            </a:r>
            <a:endParaRPr sz="900"/>
          </a:p>
        </p:txBody>
      </p:sp>
      <p:sp>
        <p:nvSpPr>
          <p:cNvPr id="36" name="Text 33">
            <a:extLst xmlns:a="http://schemas.openxmlformats.org/drawingml/2006/main">
              <a:ext uri="{FF2B5EF4-FFF2-40B4-BE49-F238E27FC236}">
                <a16:creationId xmlns:a16="http://schemas.microsoft.com/office/drawing/2014/main" id="{8633F0B0-FE74-4EEB-8E4F-BF1F1B3269F2}"/>
              </a:ext>
            </a:extLst>
          </p:cNvPr>
          <p:cNvSpPr>
            <a:spLocks xmlns:a="http://schemas.openxmlformats.org/drawingml/2006/main" noGrp="1"/>
          </p:cNvSpPr>
          <p:nvPr/>
        </p:nvSpPr>
        <p:spPr>
          <a:xfrm xmlns:a="http://schemas.openxmlformats.org/drawingml/2006/main">
            <a:off x="8360664" y="4411980"/>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make doctor</a:t>
            </a:r>
            <a:endParaRPr sz="1250"/>
          </a:p>
        </p:txBody>
      </p:sp>
      <p:sp>
        <p:nvSpPr>
          <p:cNvPr id="37" name="Text 34">
            <a:extLst xmlns:a="http://schemas.openxmlformats.org/drawingml/2006/main">
              <a:ext uri="{FF2B5EF4-FFF2-40B4-BE49-F238E27FC236}">
                <a16:creationId xmlns:a16="http://schemas.microsoft.com/office/drawing/2014/main" id="{EFA73609-0DB9-4F25-A1DC-8ED3B89FAF47}"/>
              </a:ext>
            </a:extLst>
          </p:cNvPr>
          <p:cNvSpPr>
            <a:spLocks xmlns:a="http://schemas.openxmlformats.org/drawingml/2006/main" noGrp="1"/>
          </p:cNvSpPr>
          <p:nvPr/>
        </p:nvSpPr>
        <p:spPr>
          <a:xfrm xmlns:a="http://schemas.openxmlformats.org/drawingml/2006/main">
            <a:off x="8360664" y="4933188"/>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T-minus-2-days email: participants install the stack, then run make doctor — prints ✓/✗ per requirement</a:t>
            </a:r>
            <a:endParaRPr sz="980"/>
          </a:p>
        </p:txBody>
      </p:sp>
    </p:spTree>
    <p:extLst>
      <p:ext uri="{BB962C8B-B14F-4D97-AF65-F5344CB8AC3E}">
        <p14:creationId xmlns:p14="http://schemas.microsoft.com/office/powerpoint/2010/main" val="61011643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ADA5711-5CE3-4616-9698-1763ADEB94A5}"/>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How you will be assessed</a:t>
            </a:r>
            <a:endParaRPr sz="2600"/>
          </a:p>
        </p:txBody>
      </p:sp>
      <p:sp>
        <p:nvSpPr>
          <p:cNvPr id="3" name="Text 1">
            <a:extLst xmlns:a="http://schemas.openxmlformats.org/drawingml/2006/main">
              <a:ext uri="{FF2B5EF4-FFF2-40B4-BE49-F238E27FC236}">
                <a16:creationId xmlns:a16="http://schemas.microsoft.com/office/drawing/2014/main" id="{5EAA0213-ADFA-43D3-B8BA-EB10306E8783}"/>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كيف سيتم تقييمك</a:t>
            </a:r>
            <a:endParaRPr sz="1300"/>
          </a:p>
        </p:txBody>
      </p:sp>
      <p:pic>
        <p:nvPicPr>
          <p:cNvPr id="32" name="Image 0"/>
          <p:cNvPicPr>
            <a:picLocks xmlns:a="http://schemas.openxmlformats.org/drawingml/2006/main" noChangeAspect="1"/>
          </p:cNvPicPr>
          <p:nvPr/>
        </p:nvPicPr>
        <p:blipFill>
          <a:blip xmlns:r="http://schemas.openxmlformats.org/officeDocument/2006/relationships" xmlns:a="http://schemas.openxmlformats.org/drawingml/2006/main" r:embed="R0e8f530b5ba34a49"/>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3779227F-3793-4F15-9FD9-B71D21C30D3A}"/>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3369A30D-BC6A-4A3E-8E2C-76B138FA4386}"/>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OVERVIEW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67C289AB-815A-430B-BE42-7D3D46A0B8E4}"/>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7</a:t>
            </a:r>
            <a:endParaRPr sz="850"/>
          </a:p>
        </p:txBody>
      </p:sp>
      <p:sp>
        <p:nvSpPr>
          <p:cNvPr id="8" name="Shape 5">
            <a:extLst xmlns:a="http://schemas.openxmlformats.org/drawingml/2006/main">
              <a:ext uri="{FF2B5EF4-FFF2-40B4-BE49-F238E27FC236}">
                <a16:creationId xmlns:a16="http://schemas.microsoft.com/office/drawing/2014/main" id="{C9185EE9-AAC2-48F9-9CE9-62E09BC53DED}"/>
              </a:ext>
            </a:extLst>
          </p:cNvPr>
          <p:cNvSpPr>
            <a:spLocks xmlns:a="http://schemas.openxmlformats.org/drawingml/2006/main" noGrp="1"/>
          </p:cNvSpPr>
          <p:nvPr/>
        </p:nvSpPr>
        <p:spPr>
          <a:xfrm xmlns:a="http://schemas.openxmlformats.org/drawingml/2006/main">
            <a:off x="502920" y="2011680"/>
            <a:ext cx="2555748" cy="3108960"/>
          </a:xfrm>
          <a:prstGeom xmlns:a="http://schemas.openxmlformats.org/drawingml/2006/main" prst="roundRect">
            <a:avLst>
              <a:gd name="adj" fmla="val 2862"/>
            </a:avLst>
          </a:prstGeom>
          <a:solidFill xmlns:a="http://schemas.openxmlformats.org/drawingml/2006/main">
            <a:srgbClr val="EEF3FB"/>
          </a:solidFill>
        </p:spPr>
      </p:sp>
      <p:sp>
        <p:nvSpPr>
          <p:cNvPr id="9" name="Shape 6">
            <a:extLst xmlns:a="http://schemas.openxmlformats.org/drawingml/2006/main">
              <a:ext uri="{FF2B5EF4-FFF2-40B4-BE49-F238E27FC236}">
                <a16:creationId xmlns:a16="http://schemas.microsoft.com/office/drawing/2014/main" id="{9C6FBEA9-7508-4783-901E-88561F2BD738}"/>
              </a:ext>
            </a:extLst>
          </p:cNvPr>
          <p:cNvSpPr>
            <a:spLocks xmlns:a="http://schemas.openxmlformats.org/drawingml/2006/main" noGrp="1"/>
          </p:cNvSpPr>
          <p:nvPr/>
        </p:nvSpPr>
        <p:spPr>
          <a:xfrm xmlns:a="http://schemas.openxmlformats.org/drawingml/2006/main">
            <a:off x="731520" y="2331720"/>
            <a:ext cx="502920" cy="54864"/>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B16C28C4-660E-481D-AB72-BE996D947230}"/>
              </a:ext>
            </a:extLst>
          </p:cNvPr>
          <p:cNvSpPr>
            <a:spLocks xmlns:a="http://schemas.openxmlformats.org/drawingml/2006/main" noGrp="1"/>
          </p:cNvSpPr>
          <p:nvPr/>
        </p:nvSpPr>
        <p:spPr>
          <a:xfrm xmlns:a="http://schemas.openxmlformats.org/drawingml/2006/main">
            <a:off x="685800" y="2514600"/>
            <a:ext cx="2189988"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800" b="1">
                <a:solidFill>
                  <a:srgbClr val="00A79D"/>
                </a:solidFill>
                <a:latin typeface="Calibri"/>
                <a:ea typeface="Calibri"/>
                <a:cs typeface="Calibri"/>
              </a:rPr>
              <a:t>60%</a:t>
            </a:r>
            <a:endParaRPr sz="3800"/>
          </a:p>
        </p:txBody>
      </p:sp>
      <p:sp>
        <p:nvSpPr>
          <p:cNvPr id="11" name="Text 8">
            <a:extLst xmlns:a="http://schemas.openxmlformats.org/drawingml/2006/main">
              <a:ext uri="{FF2B5EF4-FFF2-40B4-BE49-F238E27FC236}">
                <a16:creationId xmlns:a16="http://schemas.microsoft.com/office/drawing/2014/main" id="{B565AE5D-BD0B-4719-894C-C9AC94E37A8E}"/>
              </a:ext>
            </a:extLst>
          </p:cNvPr>
          <p:cNvSpPr>
            <a:spLocks xmlns:a="http://schemas.openxmlformats.org/drawingml/2006/main" noGrp="1"/>
          </p:cNvSpPr>
          <p:nvPr/>
        </p:nvSpPr>
        <p:spPr>
          <a:xfrm xmlns:a="http://schemas.openxmlformats.org/drawingml/2006/main">
            <a:off x="731520" y="3429000"/>
            <a:ext cx="209854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Labs + assessments</a:t>
            </a:r>
            <a:endParaRPr sz="1250"/>
          </a:p>
        </p:txBody>
      </p:sp>
      <p:sp>
        <p:nvSpPr>
          <p:cNvPr id="12" name="Text 9">
            <a:extLst xmlns:a="http://schemas.openxmlformats.org/drawingml/2006/main">
              <a:ext uri="{FF2B5EF4-FFF2-40B4-BE49-F238E27FC236}">
                <a16:creationId xmlns:a16="http://schemas.microsoft.com/office/drawing/2014/main" id="{17BBD887-8EF4-4324-953C-67BC6C18603C}"/>
              </a:ext>
            </a:extLst>
          </p:cNvPr>
          <p:cNvSpPr>
            <a:spLocks xmlns:a="http://schemas.openxmlformats.org/drawingml/2006/main" noGrp="1"/>
          </p:cNvSpPr>
          <p:nvPr/>
        </p:nvSpPr>
        <p:spPr>
          <a:xfrm xmlns:a="http://schemas.openxmlformats.org/drawingml/2006/main">
            <a:off x="731520" y="3977640"/>
            <a:ext cx="2098548" cy="960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Lab completion 30% · PA-1/PA-2 20% · quiz 10% — evidence: checkpoint commits + outputs</a:t>
            </a:r>
            <a:endParaRPr sz="980"/>
          </a:p>
        </p:txBody>
      </p:sp>
      <p:sp>
        <p:nvSpPr>
          <p:cNvPr id="13" name="Shape 10">
            <a:extLst xmlns:a="http://schemas.openxmlformats.org/drawingml/2006/main">
              <a:ext uri="{FF2B5EF4-FFF2-40B4-BE49-F238E27FC236}">
                <a16:creationId xmlns:a16="http://schemas.microsoft.com/office/drawing/2014/main" id="{8BBFA42F-7FFD-4E26-A2CA-3CE0CF491EC6}"/>
              </a:ext>
            </a:extLst>
          </p:cNvPr>
          <p:cNvSpPr>
            <a:spLocks xmlns:a="http://schemas.openxmlformats.org/drawingml/2006/main" noGrp="1"/>
          </p:cNvSpPr>
          <p:nvPr/>
        </p:nvSpPr>
        <p:spPr>
          <a:xfrm xmlns:a="http://schemas.openxmlformats.org/drawingml/2006/main">
            <a:off x="3378708" y="2011680"/>
            <a:ext cx="2555748" cy="3108960"/>
          </a:xfrm>
          <a:prstGeom xmlns:a="http://schemas.openxmlformats.org/drawingml/2006/main" prst="roundRect">
            <a:avLst>
              <a:gd name="adj" fmla="val 2862"/>
            </a:avLst>
          </a:prstGeom>
          <a:solidFill xmlns:a="http://schemas.openxmlformats.org/drawingml/2006/main">
            <a:srgbClr val="EEF3FB"/>
          </a:solidFill>
        </p:spPr>
      </p:sp>
      <p:sp>
        <p:nvSpPr>
          <p:cNvPr id="14" name="Shape 11">
            <a:extLst xmlns:a="http://schemas.openxmlformats.org/drawingml/2006/main">
              <a:ext uri="{FF2B5EF4-FFF2-40B4-BE49-F238E27FC236}">
                <a16:creationId xmlns:a16="http://schemas.microsoft.com/office/drawing/2014/main" id="{1AA6F821-4336-4B7B-81F5-8031B56A09D1}"/>
              </a:ext>
            </a:extLst>
          </p:cNvPr>
          <p:cNvSpPr>
            <a:spLocks xmlns:a="http://schemas.openxmlformats.org/drawingml/2006/main" noGrp="1"/>
          </p:cNvSpPr>
          <p:nvPr/>
        </p:nvSpPr>
        <p:spPr>
          <a:xfrm xmlns:a="http://schemas.openxmlformats.org/drawingml/2006/main">
            <a:off x="3607308" y="2331720"/>
            <a:ext cx="502920" cy="54864"/>
          </a:xfrm>
          <a:prstGeom xmlns:a="http://schemas.openxmlformats.org/drawingml/2006/main" prst="rect">
            <a:avLst/>
          </a:prstGeom>
          <a:solidFill xmlns:a="http://schemas.openxmlformats.org/drawingml/2006/main">
            <a:srgbClr val="29ABE2"/>
          </a:solidFill>
        </p:spPr>
      </p:sp>
      <p:sp>
        <p:nvSpPr>
          <p:cNvPr id="15" name="Text 12">
            <a:extLst xmlns:a="http://schemas.openxmlformats.org/drawingml/2006/main">
              <a:ext uri="{FF2B5EF4-FFF2-40B4-BE49-F238E27FC236}">
                <a16:creationId xmlns:a16="http://schemas.microsoft.com/office/drawing/2014/main" id="{27D0562F-DBBB-4568-B768-78BB6CA28BC3}"/>
              </a:ext>
            </a:extLst>
          </p:cNvPr>
          <p:cNvSpPr>
            <a:spLocks xmlns:a="http://schemas.openxmlformats.org/drawingml/2006/main" noGrp="1"/>
          </p:cNvSpPr>
          <p:nvPr/>
        </p:nvSpPr>
        <p:spPr>
          <a:xfrm xmlns:a="http://schemas.openxmlformats.org/drawingml/2006/main">
            <a:off x="3561588" y="2514600"/>
            <a:ext cx="2189988"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800" b="1">
                <a:solidFill>
                  <a:srgbClr val="29ABE2"/>
                </a:solidFill>
                <a:latin typeface="Calibri"/>
                <a:ea typeface="Calibri"/>
                <a:cs typeface="Calibri"/>
              </a:rPr>
              <a:t>40%</a:t>
            </a:r>
            <a:endParaRPr sz="3800"/>
          </a:p>
        </p:txBody>
      </p:sp>
      <p:sp>
        <p:nvSpPr>
          <p:cNvPr id="16" name="Text 13">
            <a:extLst xmlns:a="http://schemas.openxmlformats.org/drawingml/2006/main">
              <a:ext uri="{FF2B5EF4-FFF2-40B4-BE49-F238E27FC236}">
                <a16:creationId xmlns:a16="http://schemas.microsoft.com/office/drawing/2014/main" id="{01956A0C-1BAE-45F3-9065-F5878B04CDE5}"/>
              </a:ext>
            </a:extLst>
          </p:cNvPr>
          <p:cNvSpPr>
            <a:spLocks xmlns:a="http://schemas.openxmlformats.org/drawingml/2006/main" noGrp="1"/>
          </p:cNvSpPr>
          <p:nvPr/>
        </p:nvSpPr>
        <p:spPr>
          <a:xfrm xmlns:a="http://schemas.openxmlformats.org/drawingml/2006/main">
            <a:off x="3607308" y="3429000"/>
            <a:ext cx="209854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Capstone project</a:t>
            </a:r>
            <a:endParaRPr sz="1250"/>
          </a:p>
        </p:txBody>
      </p:sp>
      <p:sp>
        <p:nvSpPr>
          <p:cNvPr id="17" name="Text 14">
            <a:extLst xmlns:a="http://schemas.openxmlformats.org/drawingml/2006/main">
              <a:ext uri="{FF2B5EF4-FFF2-40B4-BE49-F238E27FC236}">
                <a16:creationId xmlns:a16="http://schemas.microsoft.com/office/drawing/2014/main" id="{30D3C44B-3AE0-4AC4-8242-DAAB2C39623A}"/>
              </a:ext>
            </a:extLst>
          </p:cNvPr>
          <p:cNvSpPr>
            <a:spLocks xmlns:a="http://schemas.openxmlformats.org/drawingml/2006/main" noGrp="1"/>
          </p:cNvSpPr>
          <p:nvPr/>
        </p:nvSpPr>
        <p:spPr>
          <a:xfrm xmlns:a="http://schemas.openxmlformats.org/drawingml/2006/main">
            <a:off x="3607308" y="3977640"/>
            <a:ext cx="2098548" cy="960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Containerised model service, rubric-scored repo-first; pass ≥ 70, distinction ≥ 90</a:t>
            </a:r>
            <a:endParaRPr sz="980"/>
          </a:p>
        </p:txBody>
      </p:sp>
      <p:sp>
        <p:nvSpPr>
          <p:cNvPr id="18" name="Shape 15">
            <a:extLst xmlns:a="http://schemas.openxmlformats.org/drawingml/2006/main">
              <a:ext uri="{FF2B5EF4-FFF2-40B4-BE49-F238E27FC236}">
                <a16:creationId xmlns:a16="http://schemas.microsoft.com/office/drawing/2014/main" id="{E3E25D9D-E43D-423B-84E0-F76A77F7FBE9}"/>
              </a:ext>
            </a:extLst>
          </p:cNvPr>
          <p:cNvSpPr>
            <a:spLocks xmlns:a="http://schemas.openxmlformats.org/drawingml/2006/main" noGrp="1"/>
          </p:cNvSpPr>
          <p:nvPr/>
        </p:nvSpPr>
        <p:spPr>
          <a:xfrm xmlns:a="http://schemas.openxmlformats.org/drawingml/2006/main">
            <a:off x="6254496" y="2011680"/>
            <a:ext cx="2555748" cy="3108960"/>
          </a:xfrm>
          <a:prstGeom xmlns:a="http://schemas.openxmlformats.org/drawingml/2006/main" prst="roundRect">
            <a:avLst>
              <a:gd name="adj" fmla="val 2862"/>
            </a:avLst>
          </a:prstGeom>
          <a:solidFill xmlns:a="http://schemas.openxmlformats.org/drawingml/2006/main">
            <a:srgbClr val="EEF3FB"/>
          </a:solidFill>
        </p:spPr>
      </p:sp>
      <p:sp>
        <p:nvSpPr>
          <p:cNvPr id="19" name="Shape 16">
            <a:extLst xmlns:a="http://schemas.openxmlformats.org/drawingml/2006/main">
              <a:ext uri="{FF2B5EF4-FFF2-40B4-BE49-F238E27FC236}">
                <a16:creationId xmlns:a16="http://schemas.microsoft.com/office/drawing/2014/main" id="{7A9539E8-1388-4A3A-919A-491F02FD0C3A}"/>
              </a:ext>
            </a:extLst>
          </p:cNvPr>
          <p:cNvSpPr>
            <a:spLocks xmlns:a="http://schemas.openxmlformats.org/drawingml/2006/main" noGrp="1"/>
          </p:cNvSpPr>
          <p:nvPr/>
        </p:nvSpPr>
        <p:spPr>
          <a:xfrm xmlns:a="http://schemas.openxmlformats.org/drawingml/2006/main">
            <a:off x="6483096" y="2331720"/>
            <a:ext cx="502920" cy="54864"/>
          </a:xfrm>
          <a:prstGeom xmlns:a="http://schemas.openxmlformats.org/drawingml/2006/main" prst="rect">
            <a:avLst/>
          </a:prstGeom>
          <a:solidFill xmlns:a="http://schemas.openxmlformats.org/drawingml/2006/main">
            <a:srgbClr val="F58220"/>
          </a:solidFill>
        </p:spPr>
      </p:sp>
      <p:sp>
        <p:nvSpPr>
          <p:cNvPr id="20" name="Text 17">
            <a:extLst xmlns:a="http://schemas.openxmlformats.org/drawingml/2006/main">
              <a:ext uri="{FF2B5EF4-FFF2-40B4-BE49-F238E27FC236}">
                <a16:creationId xmlns:a16="http://schemas.microsoft.com/office/drawing/2014/main" id="{6074FF29-3F14-45EE-9F1D-EE7737F01AA3}"/>
              </a:ext>
            </a:extLst>
          </p:cNvPr>
          <p:cNvSpPr>
            <a:spLocks xmlns:a="http://schemas.openxmlformats.org/drawingml/2006/main" noGrp="1"/>
          </p:cNvSpPr>
          <p:nvPr/>
        </p:nvSpPr>
        <p:spPr>
          <a:xfrm xmlns:a="http://schemas.openxmlformats.org/drawingml/2006/main">
            <a:off x="6437376" y="2514600"/>
            <a:ext cx="2189988"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800" b="1">
                <a:solidFill>
                  <a:srgbClr val="F58220"/>
                </a:solidFill>
                <a:latin typeface="Calibri"/>
                <a:ea typeface="Calibri"/>
                <a:cs typeface="Calibri"/>
              </a:rPr>
              <a:t>6</a:t>
            </a:r>
            <a:endParaRPr sz="3800"/>
          </a:p>
        </p:txBody>
      </p:sp>
      <p:sp>
        <p:nvSpPr>
          <p:cNvPr id="21" name="Text 18">
            <a:extLst xmlns:a="http://schemas.openxmlformats.org/drawingml/2006/main">
              <a:ext uri="{FF2B5EF4-FFF2-40B4-BE49-F238E27FC236}">
                <a16:creationId xmlns:a16="http://schemas.microsoft.com/office/drawing/2014/main" id="{76489FA9-526C-4AD2-BD65-25930961EF66}"/>
              </a:ext>
            </a:extLst>
          </p:cNvPr>
          <p:cNvSpPr>
            <a:spLocks xmlns:a="http://schemas.openxmlformats.org/drawingml/2006/main" noGrp="1"/>
          </p:cNvSpPr>
          <p:nvPr/>
        </p:nvSpPr>
        <p:spPr>
          <a:xfrm xmlns:a="http://schemas.openxmlformats.org/drawingml/2006/main">
            <a:off x="6483096" y="3429000"/>
            <a:ext cx="209854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Labs</a:t>
            </a:r>
            <a:endParaRPr sz="1250"/>
          </a:p>
        </p:txBody>
      </p:sp>
      <p:sp>
        <p:nvSpPr>
          <p:cNvPr id="22" name="Text 19">
            <a:extLst xmlns:a="http://schemas.openxmlformats.org/drawingml/2006/main">
              <a:ext uri="{FF2B5EF4-FFF2-40B4-BE49-F238E27FC236}">
                <a16:creationId xmlns:a16="http://schemas.microsoft.com/office/drawing/2014/main" id="{5BA0B226-D8F4-4CC0-B55A-6F305E61C1DF}"/>
              </a:ext>
            </a:extLst>
          </p:cNvPr>
          <p:cNvSpPr>
            <a:spLocks xmlns:a="http://schemas.openxmlformats.org/drawingml/2006/main" noGrp="1"/>
          </p:cNvSpPr>
          <p:nvPr/>
        </p:nvSpPr>
        <p:spPr>
          <a:xfrm xmlns:a="http://schemas.openxmlformats.org/drawingml/2006/main">
            <a:off x="6483096" y="3977640"/>
            <a:ext cx="2098548" cy="960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Each lab produces a component of the capstone — nothing is throwaway</a:t>
            </a:r>
            <a:endParaRPr sz="980"/>
          </a:p>
        </p:txBody>
      </p:sp>
      <p:sp>
        <p:nvSpPr>
          <p:cNvPr id="23" name="Shape 20">
            <a:extLst xmlns:a="http://schemas.openxmlformats.org/drawingml/2006/main">
              <a:ext uri="{FF2B5EF4-FFF2-40B4-BE49-F238E27FC236}">
                <a16:creationId xmlns:a16="http://schemas.microsoft.com/office/drawing/2014/main" id="{C21B748A-022C-4649-82CE-BF2BA47AD4CC}"/>
              </a:ext>
            </a:extLst>
          </p:cNvPr>
          <p:cNvSpPr>
            <a:spLocks xmlns:a="http://schemas.openxmlformats.org/drawingml/2006/main" noGrp="1"/>
          </p:cNvSpPr>
          <p:nvPr/>
        </p:nvSpPr>
        <p:spPr>
          <a:xfrm xmlns:a="http://schemas.openxmlformats.org/drawingml/2006/main">
            <a:off x="9130284" y="2011680"/>
            <a:ext cx="2555748" cy="3108960"/>
          </a:xfrm>
          <a:prstGeom xmlns:a="http://schemas.openxmlformats.org/drawingml/2006/main" prst="roundRect">
            <a:avLst>
              <a:gd name="adj" fmla="val 2862"/>
            </a:avLst>
          </a:prstGeom>
          <a:solidFill xmlns:a="http://schemas.openxmlformats.org/drawingml/2006/main">
            <a:srgbClr val="EEF3FB"/>
          </a:solidFill>
        </p:spPr>
      </p:sp>
      <p:sp>
        <p:nvSpPr>
          <p:cNvPr id="24" name="Shape 21">
            <a:extLst xmlns:a="http://schemas.openxmlformats.org/drawingml/2006/main">
              <a:ext uri="{FF2B5EF4-FFF2-40B4-BE49-F238E27FC236}">
                <a16:creationId xmlns:a16="http://schemas.microsoft.com/office/drawing/2014/main" id="{77C37D7E-75FE-4BD7-8804-855460A21826}"/>
              </a:ext>
            </a:extLst>
          </p:cNvPr>
          <p:cNvSpPr>
            <a:spLocks xmlns:a="http://schemas.openxmlformats.org/drawingml/2006/main" noGrp="1"/>
          </p:cNvSpPr>
          <p:nvPr/>
        </p:nvSpPr>
        <p:spPr>
          <a:xfrm xmlns:a="http://schemas.openxmlformats.org/drawingml/2006/main">
            <a:off x="9358884" y="2331720"/>
            <a:ext cx="502920" cy="54864"/>
          </a:xfrm>
          <a:prstGeom xmlns:a="http://schemas.openxmlformats.org/drawingml/2006/main" prst="rect">
            <a:avLst/>
          </a:prstGeom>
          <a:solidFill xmlns:a="http://schemas.openxmlformats.org/drawingml/2006/main">
            <a:srgbClr val="8DC63F"/>
          </a:solidFill>
        </p:spPr>
      </p:sp>
      <p:sp>
        <p:nvSpPr>
          <p:cNvPr id="25" name="Text 22">
            <a:extLst xmlns:a="http://schemas.openxmlformats.org/drawingml/2006/main">
              <a:ext uri="{FF2B5EF4-FFF2-40B4-BE49-F238E27FC236}">
                <a16:creationId xmlns:a16="http://schemas.microsoft.com/office/drawing/2014/main" id="{9952C279-3B79-4467-BFE0-A1465B1CF4D6}"/>
              </a:ext>
            </a:extLst>
          </p:cNvPr>
          <p:cNvSpPr>
            <a:spLocks xmlns:a="http://schemas.openxmlformats.org/drawingml/2006/main" noGrp="1"/>
          </p:cNvSpPr>
          <p:nvPr/>
        </p:nvSpPr>
        <p:spPr>
          <a:xfrm xmlns:a="http://schemas.openxmlformats.org/drawingml/2006/main">
            <a:off x="9313164" y="2514600"/>
            <a:ext cx="2189988"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800" b="1">
                <a:solidFill>
                  <a:srgbClr val="8DC63F"/>
                </a:solidFill>
                <a:latin typeface="Calibri"/>
                <a:ea typeface="Calibri"/>
                <a:cs typeface="Calibri"/>
              </a:rPr>
              <a:t>15</a:t>
            </a:r>
            <a:endParaRPr sz="3800"/>
          </a:p>
        </p:txBody>
      </p:sp>
      <p:sp>
        <p:nvSpPr>
          <p:cNvPr id="26" name="Text 23">
            <a:extLst xmlns:a="http://schemas.openxmlformats.org/drawingml/2006/main">
              <a:ext uri="{FF2B5EF4-FFF2-40B4-BE49-F238E27FC236}">
                <a16:creationId xmlns:a16="http://schemas.microsoft.com/office/drawing/2014/main" id="{E9DB9865-D412-4F2F-A752-68415A68277C}"/>
              </a:ext>
            </a:extLst>
          </p:cNvPr>
          <p:cNvSpPr>
            <a:spLocks xmlns:a="http://schemas.openxmlformats.org/drawingml/2006/main" noGrp="1"/>
          </p:cNvSpPr>
          <p:nvPr/>
        </p:nvSpPr>
        <p:spPr>
          <a:xfrm xmlns:a="http://schemas.openxmlformats.org/drawingml/2006/main">
            <a:off x="9358884" y="3429000"/>
            <a:ext cx="209854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Learning hours</a:t>
            </a:r>
            <a:endParaRPr sz="1250"/>
          </a:p>
        </p:txBody>
      </p:sp>
      <p:sp>
        <p:nvSpPr>
          <p:cNvPr id="27" name="Text 24">
            <a:extLst xmlns:a="http://schemas.openxmlformats.org/drawingml/2006/main">
              <a:ext uri="{FF2B5EF4-FFF2-40B4-BE49-F238E27FC236}">
                <a16:creationId xmlns:a16="http://schemas.microsoft.com/office/drawing/2014/main" id="{DCDD293F-CE15-40DA-9143-D9C8E3CD7F15}"/>
              </a:ext>
            </a:extLst>
          </p:cNvPr>
          <p:cNvSpPr>
            <a:spLocks xmlns:a="http://schemas.openxmlformats.org/drawingml/2006/main" noGrp="1"/>
          </p:cNvSpPr>
          <p:nvPr/>
        </p:nvSpPr>
        <p:spPr>
          <a:xfrm xmlns:a="http://schemas.openxmlformats.org/drawingml/2006/main">
            <a:off x="9358884" y="3977640"/>
            <a:ext cx="2098548" cy="960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3 days × 5 hours; each hour is 50 min instruction + 10 min buffer</a:t>
            </a:r>
            <a:endParaRPr sz="980"/>
          </a:p>
        </p:txBody>
      </p:sp>
      <p:sp>
        <p:nvSpPr>
          <p:cNvPr id="28" name="Text 25">
            <a:extLst xmlns:a="http://schemas.openxmlformats.org/drawingml/2006/main">
              <a:ext uri="{FF2B5EF4-FFF2-40B4-BE49-F238E27FC236}">
                <a16:creationId xmlns:a16="http://schemas.microsoft.com/office/drawing/2014/main" id="{31A11D37-4619-4027-BBC5-283382C8EFC7}"/>
              </a:ext>
            </a:extLst>
          </p:cNvPr>
          <p:cNvSpPr>
            <a:spLocks xmlns:a="http://schemas.openxmlformats.org/drawingml/2006/main" noGrp="1"/>
          </p:cNvSpPr>
          <p:nvPr/>
        </p:nvSpPr>
        <p:spPr>
          <a:xfrm xmlns:a="http://schemas.openxmlformats.org/drawingml/2006/main">
            <a:off x="502920" y="5486400"/>
            <a:ext cx="11155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i="1">
                <a:solidFill>
                  <a:srgbClr val="8A96A6"/>
                </a:solidFill>
                <a:latin typeface="Calibri"/>
                <a:ea typeface="Calibri"/>
                <a:cs typeface="Calibri"/>
              </a:rPr>
              <a:t>Evaluation Criteria Summary — Assessment Package</a:t>
            </a:r>
            <a:endParaRPr sz="900"/>
          </a:p>
        </p:txBody>
      </p:sp>
    </p:spTree>
    <p:extLst>
      <p:ext uri="{BB962C8B-B14F-4D97-AF65-F5344CB8AC3E}">
        <p14:creationId xmlns:p14="http://schemas.microsoft.com/office/powerpoint/2010/main" val="138610611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DE5F17D-659E-48CC-9D2F-EC1A655C4B18}"/>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How to use this deck</a:t>
            </a:r>
            <a:endParaRPr sz="2600"/>
          </a:p>
        </p:txBody>
      </p:sp>
      <p:sp>
        <p:nvSpPr>
          <p:cNvPr id="3" name="Text 1">
            <a:extLst xmlns:a="http://schemas.openxmlformats.org/drawingml/2006/main">
              <a:ext uri="{FF2B5EF4-FFF2-40B4-BE49-F238E27FC236}">
                <a16:creationId xmlns:a16="http://schemas.microsoft.com/office/drawing/2014/main" id="{16A3C7C4-974F-4731-AE67-C6A488FEC868}"/>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كيفية استخدام هذه الشرائح</a:t>
            </a:r>
            <a:endParaRPr sz="1300"/>
          </a:p>
        </p:txBody>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f0b5f5888b3d4c02"/>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D60A61EA-B363-4398-BC98-A84121CFAE1F}"/>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BB66A3E8-A99A-4AF4-B699-7DE7040FFBAF}"/>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OVERVIEW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7667CF09-35EA-459F-AE5E-228548E764FA}"/>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8</a:t>
            </a:r>
            <a:endParaRPr sz="850"/>
          </a:p>
        </p:txBody>
      </p:sp>
      <p:sp>
        <p:nvSpPr>
          <p:cNvPr id="8" name="Text 5">
            <a:extLst xmlns:a="http://schemas.openxmlformats.org/drawingml/2006/main">
              <a:ext uri="{FF2B5EF4-FFF2-40B4-BE49-F238E27FC236}">
                <a16:creationId xmlns:a16="http://schemas.microsoft.com/office/drawing/2014/main" id="{AD1E06BF-FB27-40AC-9620-6A2C25D75C02}"/>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A85E1220-86F3-4C31-AB2B-F1DE3B7144CB}"/>
              </a:ext>
            </a:extLst>
          </p:cNvPr>
          <p:cNvSpPr>
            <a:spLocks xmlns:a="http://schemas.openxmlformats.org/drawingml/2006/main" noGrp="1"/>
          </p:cNvSpPr>
          <p:nvPr/>
        </p:nvSpPr>
        <p:spPr>
          <a:xfrm xmlns:a="http://schemas.openxmlformats.org/drawingml/2006/main">
            <a:off x="1005840" y="14996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Speaker notes drive delivery</a:t>
            </a:r>
            <a:endParaRPr sz="1350"/>
          </a:p>
        </p:txBody>
      </p:sp>
      <p:sp>
        <p:nvSpPr>
          <p:cNvPr id="10" name="Text 7">
            <a:extLst xmlns:a="http://schemas.openxmlformats.org/drawingml/2006/main">
              <a:ext uri="{FF2B5EF4-FFF2-40B4-BE49-F238E27FC236}">
                <a16:creationId xmlns:a16="http://schemas.microsoft.com/office/drawing/2014/main" id="{A82ACBC5-1BFF-4AA9-B0B0-C3F7204F9481}"/>
              </a:ext>
            </a:extLst>
          </p:cNvPr>
          <p:cNvSpPr>
            <a:spLocks xmlns:a="http://schemas.openxmlformats.org/drawingml/2006/main" noGrp="1"/>
          </p:cNvSpPr>
          <p:nvPr/>
        </p:nvSpPr>
        <p:spPr>
          <a:xfrm xmlns:a="http://schemas.openxmlformats.org/drawingml/2006/main">
            <a:off x="1005840" y="180136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Every slide carries timing cues, questions for the room and misconceptions to pre-empt. Skim each day's notes the night before.</a:t>
            </a:r>
            <a:endParaRPr sz="1050"/>
          </a:p>
        </p:txBody>
      </p:sp>
      <p:sp>
        <p:nvSpPr>
          <p:cNvPr id="11" name="Text 8">
            <a:extLst xmlns:a="http://schemas.openxmlformats.org/drawingml/2006/main">
              <a:ext uri="{FF2B5EF4-FFF2-40B4-BE49-F238E27FC236}">
                <a16:creationId xmlns:a16="http://schemas.microsoft.com/office/drawing/2014/main" id="{6E412656-5263-45AE-82D5-31AA6B396614}"/>
              </a:ext>
            </a:extLst>
          </p:cNvPr>
          <p:cNvSpPr>
            <a:spLocks xmlns:a="http://schemas.openxmlformats.org/drawingml/2006/main" noGrp="1"/>
          </p:cNvSpPr>
          <p:nvPr/>
        </p:nvSpPr>
        <p:spPr>
          <a:xfrm xmlns:a="http://schemas.openxmlformats.org/drawingml/2006/main">
            <a:off x="502920" y="280035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0736F55E-3534-4AC1-B57C-0E7933249618}"/>
              </a:ext>
            </a:extLst>
          </p:cNvPr>
          <p:cNvSpPr>
            <a:spLocks xmlns:a="http://schemas.openxmlformats.org/drawingml/2006/main" noGrp="1"/>
          </p:cNvSpPr>
          <p:nvPr/>
        </p:nvSpPr>
        <p:spPr>
          <a:xfrm xmlns:a="http://schemas.openxmlformats.org/drawingml/2006/main">
            <a:off x="1005840" y="274548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Labs are the spine</a:t>
            </a:r>
            <a:endParaRPr sz="1350"/>
          </a:p>
        </p:txBody>
      </p:sp>
      <p:sp>
        <p:nvSpPr>
          <p:cNvPr id="13" name="Text 10">
            <a:extLst xmlns:a="http://schemas.openxmlformats.org/drawingml/2006/main">
              <a:ext uri="{FF2B5EF4-FFF2-40B4-BE49-F238E27FC236}">
                <a16:creationId xmlns:a16="http://schemas.microsoft.com/office/drawing/2014/main" id="{F1DBD095-EE3F-4C72-9CC1-5BAF1DF19F2D}"/>
              </a:ext>
            </a:extLst>
          </p:cNvPr>
          <p:cNvSpPr>
            <a:spLocks xmlns:a="http://schemas.openxmlformats.org/drawingml/2006/main" noGrp="1"/>
          </p:cNvSpPr>
          <p:nvPr/>
        </p:nvSpPr>
        <p:spPr>
          <a:xfrm xmlns:a="http://schemas.openxmlformats.org/drawingml/2006/main">
            <a:off x="1005840" y="304723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Six labs, each building a capstone component. Checkpoint tags (lab2-start, lab3-start …) let stragglers fast-forward instead of stalling.</a:t>
            </a:r>
            <a:endParaRPr sz="1050"/>
          </a:p>
        </p:txBody>
      </p:sp>
      <p:sp>
        <p:nvSpPr>
          <p:cNvPr id="14" name="Text 11">
            <a:extLst xmlns:a="http://schemas.openxmlformats.org/drawingml/2006/main">
              <a:ext uri="{FF2B5EF4-FFF2-40B4-BE49-F238E27FC236}">
                <a16:creationId xmlns:a16="http://schemas.microsoft.com/office/drawing/2014/main" id="{5E6EAE5C-12C5-47A9-9452-01DF822D6446}"/>
              </a:ext>
            </a:extLst>
          </p:cNvPr>
          <p:cNvSpPr>
            <a:spLocks xmlns:a="http://schemas.openxmlformats.org/drawingml/2006/main" noGrp="1"/>
          </p:cNvSpPr>
          <p:nvPr/>
        </p:nvSpPr>
        <p:spPr>
          <a:xfrm xmlns:a="http://schemas.openxmlformats.org/drawingml/2006/main">
            <a:off x="502920" y="404622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1328E8FC-72BC-4EB6-B1D4-913BBA056ED3}"/>
              </a:ext>
            </a:extLst>
          </p:cNvPr>
          <p:cNvSpPr>
            <a:spLocks xmlns:a="http://schemas.openxmlformats.org/drawingml/2006/main" noGrp="1"/>
          </p:cNvSpPr>
          <p:nvPr/>
        </p:nvSpPr>
        <p:spPr>
          <a:xfrm xmlns:a="http://schemas.openxmlformats.org/drawingml/2006/main">
            <a:off x="1005840" y="399135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Quizzes and prompts at transitions</a:t>
            </a:r>
            <a:endParaRPr sz="1350"/>
          </a:p>
        </p:txBody>
      </p:sp>
      <p:sp>
        <p:nvSpPr>
          <p:cNvPr id="16" name="Text 13">
            <a:extLst xmlns:a="http://schemas.openxmlformats.org/drawingml/2006/main">
              <a:ext uri="{FF2B5EF4-FFF2-40B4-BE49-F238E27FC236}">
                <a16:creationId xmlns:a16="http://schemas.microsoft.com/office/drawing/2014/main" id="{3F5D62A0-6DDC-4E90-A328-72310E4B2B4B}"/>
              </a:ext>
            </a:extLst>
          </p:cNvPr>
          <p:cNvSpPr>
            <a:spLocks xmlns:a="http://schemas.openxmlformats.org/drawingml/2006/main" noGrp="1"/>
          </p:cNvSpPr>
          <p:nvPr/>
        </p:nvSpPr>
        <p:spPr>
          <a:xfrm xmlns:a="http://schemas.openxmlformats.org/drawingml/2006/main">
            <a:off x="1005840" y="429310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Use module quizzes and the instructor-guide discussion prompts between sessions; the quiz bank holds 20 questions — pick 10 per cohort.</a:t>
            </a:r>
            <a:endParaRPr sz="1050"/>
          </a:p>
        </p:txBody>
      </p:sp>
      <p:sp>
        <p:nvSpPr>
          <p:cNvPr id="17" name="Text 14">
            <a:extLst xmlns:a="http://schemas.openxmlformats.org/drawingml/2006/main">
              <a:ext uri="{FF2B5EF4-FFF2-40B4-BE49-F238E27FC236}">
                <a16:creationId xmlns:a16="http://schemas.microsoft.com/office/drawing/2014/main" id="{FB07FD8A-01E0-41A0-9EC7-11398930CF87}"/>
              </a:ext>
            </a:extLst>
          </p:cNvPr>
          <p:cNvSpPr>
            <a:spLocks xmlns:a="http://schemas.openxmlformats.org/drawingml/2006/main" noGrp="1"/>
          </p:cNvSpPr>
          <p:nvPr/>
        </p:nvSpPr>
        <p:spPr>
          <a:xfrm xmlns:a="http://schemas.openxmlformats.org/drawingml/2006/main">
            <a:off x="502920" y="5292090"/>
            <a:ext cx="329184" cy="329184"/>
          </a:xfrm>
          <a:prstGeom xmlns:a="http://schemas.openxmlformats.org/drawingml/2006/main" prst="ellipse">
            <a:avLst/>
          </a:prstGeom>
          <a:solidFill xmlns:a="http://schemas.openxmlformats.org/drawingml/2006/main">
            <a:srgbClr val="8DC63F"/>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4</a:t>
            </a:r>
            <a:endParaRPr sz="1300"/>
          </a:p>
        </p:txBody>
      </p:sp>
      <p:sp>
        <p:nvSpPr>
          <p:cNvPr id="18" name="Text 15">
            <a:extLst xmlns:a="http://schemas.openxmlformats.org/drawingml/2006/main">
              <a:ext uri="{FF2B5EF4-FFF2-40B4-BE49-F238E27FC236}">
                <a16:creationId xmlns:a16="http://schemas.microsoft.com/office/drawing/2014/main" id="{AEAF08CC-5E57-4839-B0C5-2220C8377B19}"/>
              </a:ext>
            </a:extLst>
          </p:cNvPr>
          <p:cNvSpPr>
            <a:spLocks xmlns:a="http://schemas.openxmlformats.org/drawingml/2006/main" noGrp="1"/>
          </p:cNvSpPr>
          <p:nvPr/>
        </p:nvSpPr>
        <p:spPr>
          <a:xfrm xmlns:a="http://schemas.openxmlformats.org/drawingml/2006/main">
            <a:off x="1005840" y="523722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Breaks and pacing</a:t>
            </a:r>
            <a:endParaRPr sz="1350"/>
          </a:p>
        </p:txBody>
      </p:sp>
      <p:sp>
        <p:nvSpPr>
          <p:cNvPr id="19" name="Text 16">
            <a:extLst xmlns:a="http://schemas.openxmlformats.org/drawingml/2006/main">
              <a:ext uri="{FF2B5EF4-FFF2-40B4-BE49-F238E27FC236}">
                <a16:creationId xmlns:a16="http://schemas.microsoft.com/office/drawing/2014/main" id="{7F216B22-A29B-4D51-8C78-03BE97EBA8C0}"/>
              </a:ext>
            </a:extLst>
          </p:cNvPr>
          <p:cNvSpPr>
            <a:spLocks xmlns:a="http://schemas.openxmlformats.org/drawingml/2006/main" noGrp="1"/>
          </p:cNvSpPr>
          <p:nvPr/>
        </p:nvSpPr>
        <p:spPr>
          <a:xfrm xmlns:a="http://schemas.openxmlformats.org/drawingml/2006/main">
            <a:off x="1005840" y="553897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Each "hour" is 50 min instruction + 10 min buffer; schedule the long break around Dhuhr. Day-3 afternoon is deliberately lighter on theory.</a:t>
            </a:r>
            <a:endParaRPr sz="1050"/>
          </a:p>
        </p:txBody>
      </p:sp>
    </p:spTree>
    <p:extLst>
      <p:ext uri="{BB962C8B-B14F-4D97-AF65-F5344CB8AC3E}">
        <p14:creationId xmlns:p14="http://schemas.microsoft.com/office/powerpoint/2010/main" val="97579484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DE5F17D-659E-48CC-9D2F-EC1A655C4B18}"/>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Opening diagnostic — trace the failure before touching code</a:t>
            </a:r>
            <a:endParaRPr sz="2600"/>
          </a:p>
        </p:txBody>
      </p:sp>
      <p:sp>
        <p:nvSpPr>
          <p:cNvPr id="3" name="Text 1">
            <a:extLst xmlns:a="http://schemas.openxmlformats.org/drawingml/2006/main">
              <a:ext uri="{FF2B5EF4-FFF2-40B4-BE49-F238E27FC236}">
                <a16:creationId xmlns:a16="http://schemas.microsoft.com/office/drawing/2014/main" id="{16A3C7C4-974F-4731-AE67-C6A488FEC868}"/>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تشخيص تمهيدي — تتبّع العطل قبل تعديل الشفرة</a:t>
            </a:r>
            <a:endParaRPr sz="1300"/>
          </a:p>
        </p:txBody>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f156a73f637d477b"/>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D60A61EA-B363-4398-BC98-A84121CFAE1F}"/>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BB66A3E8-A99A-4AF4-B699-7DE7040FFBAF}"/>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KICKOFF</a:t>
            </a:r>
            <a:r>
              <a:rPr sz="850" b="1" spc="100">
                <a:solidFill>
                  <a:srgbClr val="00A79D"/>
                </a:solidFill>
                <a:latin typeface="Calibri"/>
                <a:ea typeface="Calibri"/>
                <a:cs typeface="Calibri"/>
              </a:rPr>
              <a:t>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7667CF09-35EA-459F-AE5E-228548E764FA}"/>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9</a:t>
            </a:r>
            <a:endParaRPr sz="850"/>
          </a:p>
        </p:txBody>
      </p:sp>
      <p:sp>
        <p:nvSpPr>
          <p:cNvPr id="8" name="Text 5">
            <a:extLst xmlns:a="http://schemas.openxmlformats.org/drawingml/2006/main">
              <a:ext uri="{FF2B5EF4-FFF2-40B4-BE49-F238E27FC236}">
                <a16:creationId xmlns:a16="http://schemas.microsoft.com/office/drawing/2014/main" id="{AD1E06BF-FB27-40AC-9620-6A2C25D75C02}"/>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A85E1220-86F3-4C31-AB2B-F1DE3B7144CB}"/>
              </a:ext>
            </a:extLst>
          </p:cNvPr>
          <p:cNvSpPr>
            <a:spLocks xmlns:a="http://schemas.openxmlformats.org/drawingml/2006/main" noGrp="1"/>
          </p:cNvSpPr>
          <p:nvPr/>
        </p:nvSpPr>
        <p:spPr>
          <a:xfrm xmlns:a="http://schemas.openxmlformats.org/drawingml/2006/main">
            <a:off x="1005840" y="14996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Works in notebook, fails as a service</a:t>
            </a:r>
            <a:endParaRPr sz="1350"/>
          </a:p>
        </p:txBody>
      </p:sp>
      <p:sp>
        <p:nvSpPr>
          <p:cNvPr id="10" name="Text 7">
            <a:extLst xmlns:a="http://schemas.openxmlformats.org/drawingml/2006/main">
              <a:ext uri="{FF2B5EF4-FFF2-40B4-BE49-F238E27FC236}">
                <a16:creationId xmlns:a16="http://schemas.microsoft.com/office/drawing/2014/main" id="{A82ACBC5-1BFF-4AA9-B0B0-C3F7204F9481}"/>
              </a:ext>
            </a:extLst>
          </p:cNvPr>
          <p:cNvSpPr>
            <a:spLocks xmlns:a="http://schemas.openxmlformats.org/drawingml/2006/main" noGrp="1"/>
          </p:cNvSpPr>
          <p:nvPr/>
        </p:nvSpPr>
        <p:spPr>
          <a:xfrm xmlns:a="http://schemas.openxmlformats.org/drawingml/2006/main">
            <a:off x="1005840" y="180136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Name the hidden state, path, or environment assumption that production exposes.</a:t>
            </a:r>
            <a:endParaRPr sz="1050"/>
          </a:p>
        </p:txBody>
      </p:sp>
      <p:sp>
        <p:nvSpPr>
          <p:cNvPr id="11" name="Text 8">
            <a:extLst xmlns:a="http://schemas.openxmlformats.org/drawingml/2006/main">
              <a:ext uri="{FF2B5EF4-FFF2-40B4-BE49-F238E27FC236}">
                <a16:creationId xmlns:a16="http://schemas.microsoft.com/office/drawing/2014/main" id="{6E412656-5263-45AE-82D5-31AA6B396614}"/>
              </a:ext>
            </a:extLst>
          </p:cNvPr>
          <p:cNvSpPr>
            <a:spLocks xmlns:a="http://schemas.openxmlformats.org/drawingml/2006/main" noGrp="1"/>
          </p:cNvSpPr>
          <p:nvPr/>
        </p:nvSpPr>
        <p:spPr>
          <a:xfrm xmlns:a="http://schemas.openxmlformats.org/drawingml/2006/main">
            <a:off x="502920" y="280035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0736F55E-3534-4AC1-B57C-0E7933249618}"/>
              </a:ext>
            </a:extLst>
          </p:cNvPr>
          <p:cNvSpPr>
            <a:spLocks xmlns:a="http://schemas.openxmlformats.org/drawingml/2006/main" noGrp="1"/>
          </p:cNvSpPr>
          <p:nvPr/>
        </p:nvSpPr>
        <p:spPr>
          <a:xfrm xmlns:a="http://schemas.openxmlformats.org/drawingml/2006/main">
            <a:off x="1005840" y="274548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Returns 200, produces the wrong decision</a:t>
            </a:r>
            <a:endParaRPr sz="1350"/>
          </a:p>
        </p:txBody>
      </p:sp>
      <p:sp>
        <p:nvSpPr>
          <p:cNvPr id="13" name="Text 10">
            <a:extLst xmlns:a="http://schemas.openxmlformats.org/drawingml/2006/main">
              <a:ext uri="{FF2B5EF4-FFF2-40B4-BE49-F238E27FC236}">
                <a16:creationId xmlns:a16="http://schemas.microsoft.com/office/drawing/2014/main" id="{F1DBD095-EE3F-4C72-9CC1-5BAF1DF19F2D}"/>
              </a:ext>
            </a:extLst>
          </p:cNvPr>
          <p:cNvSpPr>
            <a:spLocks xmlns:a="http://schemas.openxmlformats.org/drawingml/2006/main" noGrp="1"/>
          </p:cNvSpPr>
          <p:nvPr/>
        </p:nvSpPr>
        <p:spPr>
          <a:xfrm xmlns:a="http://schemas.openxmlformats.org/drawingml/2006/main">
            <a:off x="1005840" y="304723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Separate software correctness from model-behaviour correctness.</a:t>
            </a:r>
            <a:endParaRPr sz="1050"/>
          </a:p>
        </p:txBody>
      </p:sp>
      <p:sp>
        <p:nvSpPr>
          <p:cNvPr id="14" name="Text 11">
            <a:extLst xmlns:a="http://schemas.openxmlformats.org/drawingml/2006/main">
              <a:ext uri="{FF2B5EF4-FFF2-40B4-BE49-F238E27FC236}">
                <a16:creationId xmlns:a16="http://schemas.microsoft.com/office/drawing/2014/main" id="{5E6EAE5C-12C5-47A9-9452-01DF822D6446}"/>
              </a:ext>
            </a:extLst>
          </p:cNvPr>
          <p:cNvSpPr>
            <a:spLocks xmlns:a="http://schemas.openxmlformats.org/drawingml/2006/main" noGrp="1"/>
          </p:cNvSpPr>
          <p:nvPr/>
        </p:nvSpPr>
        <p:spPr>
          <a:xfrm xmlns:a="http://schemas.openxmlformats.org/drawingml/2006/main">
            <a:off x="502920" y="404622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1328E8FC-72BC-4EB6-B1D4-913BBA056ED3}"/>
              </a:ext>
            </a:extLst>
          </p:cNvPr>
          <p:cNvSpPr>
            <a:spLocks xmlns:a="http://schemas.openxmlformats.org/drawingml/2006/main" noGrp="1"/>
          </p:cNvSpPr>
          <p:nvPr/>
        </p:nvSpPr>
        <p:spPr>
          <a:xfrm xmlns:a="http://schemas.openxmlformats.org/drawingml/2006/main">
            <a:off x="1005840" y="399135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Green locally, red inside the image</a:t>
            </a:r>
            <a:endParaRPr sz="1350"/>
          </a:p>
        </p:txBody>
      </p:sp>
      <p:sp>
        <p:nvSpPr>
          <p:cNvPr id="16" name="Text 13">
            <a:extLst xmlns:a="http://schemas.openxmlformats.org/drawingml/2006/main">
              <a:ext uri="{FF2B5EF4-FFF2-40B4-BE49-F238E27FC236}">
                <a16:creationId xmlns:a16="http://schemas.microsoft.com/office/drawing/2014/main" id="{3F5D62A0-6DDC-4E90-A328-72310E4B2B4B}"/>
              </a:ext>
            </a:extLst>
          </p:cNvPr>
          <p:cNvSpPr>
            <a:spLocks xmlns:a="http://schemas.openxmlformats.org/drawingml/2006/main" noGrp="1"/>
          </p:cNvSpPr>
          <p:nvPr/>
        </p:nvSpPr>
        <p:spPr>
          <a:xfrm xmlns:a="http://schemas.openxmlformats.org/drawingml/2006/main">
            <a:off x="1005840" y="429310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Locate the package, platform, or artefact boundary that changed.</a:t>
            </a:r>
            <a:endParaRPr sz="1050"/>
          </a:p>
        </p:txBody>
      </p:sp>
      <p:sp>
        <p:nvSpPr>
          <p:cNvPr id="17" name="Text 14">
            <a:extLst xmlns:a="http://schemas.openxmlformats.org/drawingml/2006/main">
              <a:ext uri="{FF2B5EF4-FFF2-40B4-BE49-F238E27FC236}">
                <a16:creationId xmlns:a16="http://schemas.microsoft.com/office/drawing/2014/main" id="{FB07FD8A-01E0-41A0-9EC7-11398930CF87}"/>
              </a:ext>
            </a:extLst>
          </p:cNvPr>
          <p:cNvSpPr>
            <a:spLocks xmlns:a="http://schemas.openxmlformats.org/drawingml/2006/main" noGrp="1"/>
          </p:cNvSpPr>
          <p:nvPr/>
        </p:nvSpPr>
        <p:spPr>
          <a:xfrm xmlns:a="http://schemas.openxmlformats.org/drawingml/2006/main">
            <a:off x="502920" y="5292090"/>
            <a:ext cx="329184" cy="329184"/>
          </a:xfrm>
          <a:prstGeom xmlns:a="http://schemas.openxmlformats.org/drawingml/2006/main" prst="ellipse">
            <a:avLst/>
          </a:prstGeom>
          <a:solidFill xmlns:a="http://schemas.openxmlformats.org/drawingml/2006/main">
            <a:srgbClr val="8DC63F"/>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4</a:t>
            </a:r>
            <a:endParaRPr sz="1300"/>
          </a:p>
        </p:txBody>
      </p:sp>
      <p:sp>
        <p:nvSpPr>
          <p:cNvPr id="18" name="Text 15">
            <a:extLst xmlns:a="http://schemas.openxmlformats.org/drawingml/2006/main">
              <a:ext uri="{FF2B5EF4-FFF2-40B4-BE49-F238E27FC236}">
                <a16:creationId xmlns:a16="http://schemas.microsoft.com/office/drawing/2014/main" id="{AEAF08CC-5E57-4839-B0C5-2220C8377B19}"/>
              </a:ext>
            </a:extLst>
          </p:cNvPr>
          <p:cNvSpPr>
            <a:spLocks xmlns:a="http://schemas.openxmlformats.org/drawingml/2006/main" noGrp="1"/>
          </p:cNvSpPr>
          <p:nvPr/>
        </p:nvSpPr>
        <p:spPr>
          <a:xfrm xmlns:a="http://schemas.openxmlformats.org/drawingml/2006/main">
            <a:off x="1005840" y="523722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A committed key was deleted</a:t>
            </a:r>
            <a:endParaRPr sz="1350"/>
          </a:p>
        </p:txBody>
      </p:sp>
      <p:sp>
        <p:nvSpPr>
          <p:cNvPr id="19" name="Text 16">
            <a:extLst xmlns:a="http://schemas.openxmlformats.org/drawingml/2006/main">
              <a:ext uri="{FF2B5EF4-FFF2-40B4-BE49-F238E27FC236}">
                <a16:creationId xmlns:a16="http://schemas.microsoft.com/office/drawing/2014/main" id="{7F216B22-A29B-4D51-8C78-03BE97EBA8C0}"/>
              </a:ext>
            </a:extLst>
          </p:cNvPr>
          <p:cNvSpPr>
            <a:spLocks xmlns:a="http://schemas.openxmlformats.org/drawingml/2006/main" noGrp="1"/>
          </p:cNvSpPr>
          <p:nvPr/>
        </p:nvSpPr>
        <p:spPr>
          <a:xfrm xmlns:a="http://schemas.openxmlformats.org/drawingml/2006/main">
            <a:off x="1005840" y="553897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State the incident order: rotate first, then clean history and add prevention.</a:t>
            </a:r>
            <a:endParaRPr sz="1050"/>
          </a:p>
        </p:txBody>
      </p:sp>
    </p:spTree>
    <p:extLst>
      <p:ext uri="{BB962C8B-B14F-4D97-AF65-F5344CB8AC3E}">
        <p14:creationId xmlns:p14="http://schemas.microsoft.com/office/powerpoint/2010/main" val="97579484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45F1F55-80C2-47AF-A57E-235B7DCA4ED8}"/>
              </a:ext>
            </a:extLst>
          </p:cNvPr>
          <p:cNvSpPr>
            <a:spLocks xmlns:a="http://schemas.openxmlformats.org/drawingml/2006/main" noGrp="1"/>
          </p:cNvSpPr>
          <p:nvPr/>
        </p:nvSpPr>
        <p:spPr>
          <a:xfrm xmlns:a="http://schemas.openxmlformats.org/drawingml/2006/main" rot="5400000" flipH="1">
            <a:off x="9692640" y="1124712"/>
            <a:ext cx="329184" cy="288036"/>
          </a:xfrm>
          <a:prstGeom xmlns:a="http://schemas.openxmlformats.org/drawingml/2006/main" prst="triangle">
            <a:avLst/>
          </a:prstGeom>
          <a:solidFill xmlns:a="http://schemas.openxmlformats.org/drawingml/2006/main">
            <a:srgbClr val="00A79D"/>
          </a:solidFill>
        </p:spPr>
      </p:sp>
      <p:sp>
        <p:nvSpPr>
          <p:cNvPr id="3" name="Shape 1">
            <a:extLst xmlns:a="http://schemas.openxmlformats.org/drawingml/2006/main">
              <a:ext uri="{FF2B5EF4-FFF2-40B4-BE49-F238E27FC236}">
                <a16:creationId xmlns:a16="http://schemas.microsoft.com/office/drawing/2014/main" id="{69CB52F6-3EBE-4443-9F74-B95D23BB90CB}"/>
              </a:ext>
            </a:extLst>
          </p:cNvPr>
          <p:cNvSpPr>
            <a:spLocks xmlns:a="http://schemas.openxmlformats.org/drawingml/2006/main" noGrp="1"/>
          </p:cNvSpPr>
          <p:nvPr/>
        </p:nvSpPr>
        <p:spPr>
          <a:xfrm xmlns:a="http://schemas.openxmlformats.org/drawingml/2006/main" rot="5400000">
            <a:off x="10041575" y="836676"/>
            <a:ext cx="329184" cy="288036"/>
          </a:xfrm>
          <a:prstGeom xmlns:a="http://schemas.openxmlformats.org/drawingml/2006/main" prst="triangle">
            <a:avLst/>
          </a:prstGeom>
          <a:solidFill xmlns:a="http://schemas.openxmlformats.org/drawingml/2006/main">
            <a:srgbClr val="29ABE2"/>
          </a:solidFill>
        </p:spPr>
      </p:sp>
      <p:sp>
        <p:nvSpPr>
          <p:cNvPr id="4" name="Shape 2">
            <a:extLst xmlns:a="http://schemas.openxmlformats.org/drawingml/2006/main">
              <a:ext uri="{FF2B5EF4-FFF2-40B4-BE49-F238E27FC236}">
                <a16:creationId xmlns:a16="http://schemas.microsoft.com/office/drawing/2014/main" id="{FB73EE89-7AD3-4834-8B19-9D1A6562A1C2}"/>
              </a:ext>
            </a:extLst>
          </p:cNvPr>
          <p:cNvSpPr>
            <a:spLocks xmlns:a="http://schemas.openxmlformats.org/drawingml/2006/main" noGrp="1"/>
          </p:cNvSpPr>
          <p:nvPr/>
        </p:nvSpPr>
        <p:spPr>
          <a:xfrm xmlns:a="http://schemas.openxmlformats.org/drawingml/2006/main" rot="5400000">
            <a:off x="10041575" y="1412748"/>
            <a:ext cx="329184" cy="288036"/>
          </a:xfrm>
          <a:prstGeom xmlns:a="http://schemas.openxmlformats.org/drawingml/2006/main" prst="triangle">
            <a:avLst/>
          </a:prstGeom>
          <a:solidFill xmlns:a="http://schemas.openxmlformats.org/drawingml/2006/main">
            <a:srgbClr val="F58220"/>
          </a:solidFill>
        </p:spPr>
      </p:sp>
      <p:sp>
        <p:nvSpPr>
          <p:cNvPr id="5" name="Shape 3">
            <a:extLst xmlns:a="http://schemas.openxmlformats.org/drawingml/2006/main">
              <a:ext uri="{FF2B5EF4-FFF2-40B4-BE49-F238E27FC236}">
                <a16:creationId xmlns:a16="http://schemas.microsoft.com/office/drawing/2014/main" id="{BF030D6D-657C-42A4-A5D9-8E671ED450AA}"/>
              </a:ext>
            </a:extLst>
          </p:cNvPr>
          <p:cNvSpPr>
            <a:spLocks xmlns:a="http://schemas.openxmlformats.org/drawingml/2006/main" noGrp="1"/>
          </p:cNvSpPr>
          <p:nvPr/>
        </p:nvSpPr>
        <p:spPr>
          <a:xfrm xmlns:a="http://schemas.openxmlformats.org/drawingml/2006/main" rot="5400000" flipH="1">
            <a:off x="10390510" y="548640"/>
            <a:ext cx="329184" cy="288036"/>
          </a:xfrm>
          <a:prstGeom xmlns:a="http://schemas.openxmlformats.org/drawingml/2006/main" prst="triangle">
            <a:avLst/>
          </a:prstGeom>
          <a:solidFill xmlns:a="http://schemas.openxmlformats.org/drawingml/2006/main">
            <a:srgbClr val="8DC63F"/>
          </a:solidFill>
        </p:spPr>
      </p:sp>
      <p:sp>
        <p:nvSpPr>
          <p:cNvPr id="6" name="Shape 4">
            <a:extLst xmlns:a="http://schemas.openxmlformats.org/drawingml/2006/main">
              <a:ext uri="{FF2B5EF4-FFF2-40B4-BE49-F238E27FC236}">
                <a16:creationId xmlns:a16="http://schemas.microsoft.com/office/drawing/2014/main" id="{70AF92A7-DB0D-4692-81C7-06C353D174C2}"/>
              </a:ext>
            </a:extLst>
          </p:cNvPr>
          <p:cNvSpPr>
            <a:spLocks xmlns:a="http://schemas.openxmlformats.org/drawingml/2006/main" noGrp="1"/>
          </p:cNvSpPr>
          <p:nvPr/>
        </p:nvSpPr>
        <p:spPr>
          <a:xfrm xmlns:a="http://schemas.openxmlformats.org/drawingml/2006/main" rot="5400000">
            <a:off x="10390510" y="1124712"/>
            <a:ext cx="329184" cy="288036"/>
          </a:xfrm>
          <a:prstGeom xmlns:a="http://schemas.openxmlformats.org/drawingml/2006/main" prst="triangle">
            <a:avLst/>
          </a:prstGeom>
          <a:solidFill xmlns:a="http://schemas.openxmlformats.org/drawingml/2006/main">
            <a:srgbClr val="B9C8E8"/>
          </a:solidFill>
        </p:spPr>
      </p:sp>
      <p:sp>
        <p:nvSpPr>
          <p:cNvPr id="7" name="Shape 5">
            <a:extLst xmlns:a="http://schemas.openxmlformats.org/drawingml/2006/main">
              <a:ext uri="{FF2B5EF4-FFF2-40B4-BE49-F238E27FC236}">
                <a16:creationId xmlns:a16="http://schemas.microsoft.com/office/drawing/2014/main" id="{3ECAE6A7-F91A-4860-8774-F68977EA2455}"/>
              </a:ext>
            </a:extLst>
          </p:cNvPr>
          <p:cNvSpPr>
            <a:spLocks xmlns:a="http://schemas.openxmlformats.org/drawingml/2006/main" noGrp="1"/>
          </p:cNvSpPr>
          <p:nvPr/>
        </p:nvSpPr>
        <p:spPr>
          <a:xfrm xmlns:a="http://schemas.openxmlformats.org/drawingml/2006/main" rot="5400000">
            <a:off x="10739445" y="836676"/>
            <a:ext cx="329184" cy="288036"/>
          </a:xfrm>
          <a:prstGeom xmlns:a="http://schemas.openxmlformats.org/drawingml/2006/main" prst="triangle">
            <a:avLst/>
          </a:prstGeom>
          <a:solidFill xmlns:a="http://schemas.openxmlformats.org/drawingml/2006/main">
            <a:srgbClr val="00A79D"/>
          </a:solidFill>
        </p:spPr>
      </p:sp>
      <p:sp>
        <p:nvSpPr>
          <p:cNvPr id="8" name="Shape 6">
            <a:extLst xmlns:a="http://schemas.openxmlformats.org/drawingml/2006/main">
              <a:ext uri="{FF2B5EF4-FFF2-40B4-BE49-F238E27FC236}">
                <a16:creationId xmlns:a16="http://schemas.microsoft.com/office/drawing/2014/main" id="{DBF912CB-C96F-4243-9E69-5FAA2620DF0B}"/>
              </a:ext>
            </a:extLst>
          </p:cNvPr>
          <p:cNvSpPr>
            <a:spLocks xmlns:a="http://schemas.openxmlformats.org/drawingml/2006/main" noGrp="1"/>
          </p:cNvSpPr>
          <p:nvPr/>
        </p:nvSpPr>
        <p:spPr>
          <a:xfrm xmlns:a="http://schemas.openxmlformats.org/drawingml/2006/main" rot="5400000" flipH="1">
            <a:off x="10739445" y="1412748"/>
            <a:ext cx="329184" cy="288036"/>
          </a:xfrm>
          <a:prstGeom xmlns:a="http://schemas.openxmlformats.org/drawingml/2006/main" prst="triangle">
            <a:avLst/>
          </a:prstGeom>
          <a:solidFill xmlns:a="http://schemas.openxmlformats.org/drawingml/2006/main">
            <a:srgbClr val="29ABE2"/>
          </a:solidFill>
        </p:spPr>
      </p:sp>
      <p:sp>
        <p:nvSpPr>
          <p:cNvPr id="9" name="Shape 7">
            <a:extLst xmlns:a="http://schemas.openxmlformats.org/drawingml/2006/main">
              <a:ext uri="{FF2B5EF4-FFF2-40B4-BE49-F238E27FC236}">
                <a16:creationId xmlns:a16="http://schemas.microsoft.com/office/drawing/2014/main" id="{A09CA3D4-5927-4BD5-B5D6-FDCA7AFD082B}"/>
              </a:ext>
            </a:extLst>
          </p:cNvPr>
          <p:cNvSpPr>
            <a:spLocks xmlns:a="http://schemas.openxmlformats.org/drawingml/2006/main" noGrp="1"/>
          </p:cNvSpPr>
          <p:nvPr/>
        </p:nvSpPr>
        <p:spPr>
          <a:xfrm xmlns:a="http://schemas.openxmlformats.org/drawingml/2006/main" rot="5400000">
            <a:off x="11088380" y="1124712"/>
            <a:ext cx="329184" cy="288036"/>
          </a:xfrm>
          <a:prstGeom xmlns:a="http://schemas.openxmlformats.org/drawingml/2006/main" prst="triangle">
            <a:avLst/>
          </a:prstGeom>
          <a:solidFill xmlns:a="http://schemas.openxmlformats.org/drawingml/2006/main">
            <a:srgbClr val="F58220"/>
          </a:solidFill>
        </p:spPr>
      </p:sp>
      <p:sp>
        <p:nvSpPr>
          <p:cNvPr id="10" name="Shape 8">
            <a:extLst xmlns:a="http://schemas.openxmlformats.org/drawingml/2006/main">
              <a:ext uri="{FF2B5EF4-FFF2-40B4-BE49-F238E27FC236}">
                <a16:creationId xmlns:a16="http://schemas.microsoft.com/office/drawing/2014/main" id="{27D78882-C44F-40BD-A3EB-0A7E7E69DEA1}"/>
              </a:ext>
            </a:extLst>
          </p:cNvPr>
          <p:cNvSpPr>
            <a:spLocks xmlns:a="http://schemas.openxmlformats.org/drawingml/2006/main" noGrp="1"/>
          </p:cNvSpPr>
          <p:nvPr/>
        </p:nvSpPr>
        <p:spPr>
          <a:xfrm xmlns:a="http://schemas.openxmlformats.org/drawingml/2006/main" rot="5400000" flipH="1">
            <a:off x="640080" y="5875020"/>
            <a:ext cx="274320" cy="240030"/>
          </a:xfrm>
          <a:prstGeom xmlns:a="http://schemas.openxmlformats.org/drawingml/2006/main" prst="triangle">
            <a:avLst/>
          </a:prstGeom>
          <a:solidFill xmlns:a="http://schemas.openxmlformats.org/drawingml/2006/main">
            <a:srgbClr val="B9C8E8"/>
          </a:solidFill>
        </p:spPr>
      </p:sp>
      <p:sp>
        <p:nvSpPr>
          <p:cNvPr id="11" name="Shape 9">
            <a:extLst xmlns:a="http://schemas.openxmlformats.org/drawingml/2006/main">
              <a:ext uri="{FF2B5EF4-FFF2-40B4-BE49-F238E27FC236}">
                <a16:creationId xmlns:a16="http://schemas.microsoft.com/office/drawing/2014/main" id="{2AB46EAB-2DF8-4CC4-A247-4569D8D562E7}"/>
              </a:ext>
            </a:extLst>
          </p:cNvPr>
          <p:cNvSpPr>
            <a:spLocks xmlns:a="http://schemas.openxmlformats.org/drawingml/2006/main" noGrp="1"/>
          </p:cNvSpPr>
          <p:nvPr/>
        </p:nvSpPr>
        <p:spPr>
          <a:xfrm xmlns:a="http://schemas.openxmlformats.org/drawingml/2006/main" rot="5400000">
            <a:off x="930859" y="5634990"/>
            <a:ext cx="274320" cy="240030"/>
          </a:xfrm>
          <a:prstGeom xmlns:a="http://schemas.openxmlformats.org/drawingml/2006/main" prst="triangle">
            <a:avLst/>
          </a:prstGeom>
          <a:solidFill xmlns:a="http://schemas.openxmlformats.org/drawingml/2006/main">
            <a:srgbClr val="DCE6F8"/>
          </a:solidFill>
        </p:spPr>
      </p:sp>
      <p:sp>
        <p:nvSpPr>
          <p:cNvPr id="12" name="Shape 10">
            <a:extLst xmlns:a="http://schemas.openxmlformats.org/drawingml/2006/main">
              <a:ext uri="{FF2B5EF4-FFF2-40B4-BE49-F238E27FC236}">
                <a16:creationId xmlns:a16="http://schemas.microsoft.com/office/drawing/2014/main" id="{31A9FF10-FA95-4588-A245-7992DE654F7A}"/>
              </a:ext>
            </a:extLst>
          </p:cNvPr>
          <p:cNvSpPr>
            <a:spLocks xmlns:a="http://schemas.openxmlformats.org/drawingml/2006/main" noGrp="1"/>
          </p:cNvSpPr>
          <p:nvPr/>
        </p:nvSpPr>
        <p:spPr>
          <a:xfrm xmlns:a="http://schemas.openxmlformats.org/drawingml/2006/main" rot="5400000">
            <a:off x="930859" y="6115050"/>
            <a:ext cx="274320" cy="240030"/>
          </a:xfrm>
          <a:prstGeom xmlns:a="http://schemas.openxmlformats.org/drawingml/2006/main" prst="triangle">
            <a:avLst/>
          </a:prstGeom>
          <a:solidFill xmlns:a="http://schemas.openxmlformats.org/drawingml/2006/main">
            <a:srgbClr val="00A79D"/>
          </a:solidFill>
        </p:spPr>
      </p:sp>
      <p:sp>
        <p:nvSpPr>
          <p:cNvPr id="13" name="Shape 11">
            <a:extLst xmlns:a="http://schemas.openxmlformats.org/drawingml/2006/main">
              <a:ext uri="{FF2B5EF4-FFF2-40B4-BE49-F238E27FC236}">
                <a16:creationId xmlns:a16="http://schemas.microsoft.com/office/drawing/2014/main" id="{52D54B49-51E0-4279-96C6-A817A00A5625}"/>
              </a:ext>
            </a:extLst>
          </p:cNvPr>
          <p:cNvSpPr>
            <a:spLocks xmlns:a="http://schemas.openxmlformats.org/drawingml/2006/main" noGrp="1"/>
          </p:cNvSpPr>
          <p:nvPr/>
        </p:nvSpPr>
        <p:spPr>
          <a:xfrm xmlns:a="http://schemas.openxmlformats.org/drawingml/2006/main" rot="5400000" flipH="1">
            <a:off x="1221638" y="5394960"/>
            <a:ext cx="274320" cy="240030"/>
          </a:xfrm>
          <a:prstGeom xmlns:a="http://schemas.openxmlformats.org/drawingml/2006/main" prst="triangle">
            <a:avLst/>
          </a:prstGeom>
          <a:solidFill xmlns:a="http://schemas.openxmlformats.org/drawingml/2006/main">
            <a:srgbClr val="29ABE2"/>
          </a:solidFill>
        </p:spPr>
      </p:sp>
      <p:sp>
        <p:nvSpPr>
          <p:cNvPr id="14" name="Shape 12">
            <a:extLst xmlns:a="http://schemas.openxmlformats.org/drawingml/2006/main">
              <a:ext uri="{FF2B5EF4-FFF2-40B4-BE49-F238E27FC236}">
                <a16:creationId xmlns:a16="http://schemas.microsoft.com/office/drawing/2014/main" id="{57A84998-A2C9-4857-A2C8-254FA5533DD6}"/>
              </a:ext>
            </a:extLst>
          </p:cNvPr>
          <p:cNvSpPr>
            <a:spLocks xmlns:a="http://schemas.openxmlformats.org/drawingml/2006/main" noGrp="1"/>
          </p:cNvSpPr>
          <p:nvPr/>
        </p:nvSpPr>
        <p:spPr>
          <a:xfrm xmlns:a="http://schemas.openxmlformats.org/drawingml/2006/main" rot="5400000">
            <a:off x="1221638" y="5875020"/>
            <a:ext cx="274320" cy="240030"/>
          </a:xfrm>
          <a:prstGeom xmlns:a="http://schemas.openxmlformats.org/drawingml/2006/main" prst="triangle">
            <a:avLst/>
          </a:prstGeom>
          <a:solidFill xmlns:a="http://schemas.openxmlformats.org/drawingml/2006/main">
            <a:srgbClr val="B9C8E8"/>
          </a:solidFill>
        </p:spPr>
      </p:sp>
      <p:sp>
        <p:nvSpPr>
          <p:cNvPr id="15" name="Shape 13">
            <a:extLst xmlns:a="http://schemas.openxmlformats.org/drawingml/2006/main">
              <a:ext uri="{FF2B5EF4-FFF2-40B4-BE49-F238E27FC236}">
                <a16:creationId xmlns:a16="http://schemas.microsoft.com/office/drawing/2014/main" id="{223379C2-EA32-4BBA-972B-1DD91D073AC9}"/>
              </a:ext>
            </a:extLst>
          </p:cNvPr>
          <p:cNvSpPr>
            <a:spLocks xmlns:a="http://schemas.openxmlformats.org/drawingml/2006/main" noGrp="1"/>
          </p:cNvSpPr>
          <p:nvPr/>
        </p:nvSpPr>
        <p:spPr>
          <a:xfrm xmlns:a="http://schemas.openxmlformats.org/drawingml/2006/main" rot="5400000">
            <a:off x="1512418" y="5634990"/>
            <a:ext cx="274320" cy="240030"/>
          </a:xfrm>
          <a:prstGeom xmlns:a="http://schemas.openxmlformats.org/drawingml/2006/main" prst="triangle">
            <a:avLst/>
          </a:prstGeom>
          <a:solidFill xmlns:a="http://schemas.openxmlformats.org/drawingml/2006/main">
            <a:srgbClr val="DCE6F8"/>
          </a:solidFill>
        </p:spPr>
      </p:sp>
      <p:sp>
        <p:nvSpPr>
          <p:cNvPr id="16" name="Shape 14">
            <a:extLst xmlns:a="http://schemas.openxmlformats.org/drawingml/2006/main">
              <a:ext uri="{FF2B5EF4-FFF2-40B4-BE49-F238E27FC236}">
                <a16:creationId xmlns:a16="http://schemas.microsoft.com/office/drawing/2014/main" id="{DFD520E1-1F7F-4CCE-BE93-79A611A45472}"/>
              </a:ext>
            </a:extLst>
          </p:cNvPr>
          <p:cNvSpPr>
            <a:spLocks xmlns:a="http://schemas.openxmlformats.org/drawingml/2006/main" noGrp="1"/>
          </p:cNvSpPr>
          <p:nvPr/>
        </p:nvSpPr>
        <p:spPr>
          <a:xfrm xmlns:a="http://schemas.openxmlformats.org/drawingml/2006/main" rot="5400000" flipH="1">
            <a:off x="1512418" y="6115050"/>
            <a:ext cx="274320" cy="240030"/>
          </a:xfrm>
          <a:prstGeom xmlns:a="http://schemas.openxmlformats.org/drawingml/2006/main" prst="triangle">
            <a:avLst/>
          </a:prstGeom>
          <a:solidFill xmlns:a="http://schemas.openxmlformats.org/drawingml/2006/main">
            <a:srgbClr val="00A79D"/>
          </a:solidFill>
        </p:spPr>
      </p:sp>
      <p:sp>
        <p:nvSpPr>
          <p:cNvPr id="17" name="Shape 15">
            <a:extLst xmlns:a="http://schemas.openxmlformats.org/drawingml/2006/main">
              <a:ext uri="{FF2B5EF4-FFF2-40B4-BE49-F238E27FC236}">
                <a16:creationId xmlns:a16="http://schemas.microsoft.com/office/drawing/2014/main" id="{C80E02DE-54F0-46BB-ACAF-3BC7BF42C690}"/>
              </a:ext>
            </a:extLst>
          </p:cNvPr>
          <p:cNvSpPr>
            <a:spLocks xmlns:a="http://schemas.openxmlformats.org/drawingml/2006/main" noGrp="1"/>
          </p:cNvSpPr>
          <p:nvPr/>
        </p:nvSpPr>
        <p:spPr>
          <a:xfrm xmlns:a="http://schemas.openxmlformats.org/drawingml/2006/main" rot="5400000">
            <a:off x="1803197" y="5875020"/>
            <a:ext cx="274320" cy="240030"/>
          </a:xfrm>
          <a:prstGeom xmlns:a="http://schemas.openxmlformats.org/drawingml/2006/main" prst="triangle">
            <a:avLst/>
          </a:prstGeom>
          <a:solidFill xmlns:a="http://schemas.openxmlformats.org/drawingml/2006/main">
            <a:srgbClr val="29ABE2"/>
          </a:solidFill>
        </p:spPr>
      </p:sp>
      <p:sp>
        <p:nvSpPr>
          <p:cNvPr id="18" name="Text 16">
            <a:extLst xmlns:a="http://schemas.openxmlformats.org/drawingml/2006/main">
              <a:ext uri="{FF2B5EF4-FFF2-40B4-BE49-F238E27FC236}">
                <a16:creationId xmlns:a16="http://schemas.microsoft.com/office/drawing/2014/main" id="{BB9CAC33-7239-4BBC-8F7B-F0D532AC3FA8}"/>
              </a:ext>
            </a:extLst>
          </p:cNvPr>
          <p:cNvSpPr>
            <a:spLocks xmlns:a="http://schemas.openxmlformats.org/drawingml/2006/main" noGrp="1"/>
          </p:cNvSpPr>
          <p:nvPr/>
        </p:nvSpPr>
        <p:spPr>
          <a:xfrm xmlns:a="http://schemas.openxmlformats.org/drawingml/2006/main">
            <a:off x="1097280" y="192024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spc="300">
                <a:solidFill>
                  <a:srgbClr val="00A79D"/>
                </a:solidFill>
                <a:latin typeface="Calibri"/>
                <a:ea typeface="Calibri"/>
                <a:cs typeface="Calibri"/>
              </a:rPr>
              <a:t>KICKOFF</a:t>
            </a:r>
            <a:endParaRPr sz="1300"/>
          </a:p>
        </p:txBody>
      </p:sp>
      <p:sp>
        <p:nvSpPr>
          <p:cNvPr id="19" name="Text 17">
            <a:extLst xmlns:a="http://schemas.openxmlformats.org/drawingml/2006/main">
              <a:ext uri="{FF2B5EF4-FFF2-40B4-BE49-F238E27FC236}">
                <a16:creationId xmlns:a16="http://schemas.microsoft.com/office/drawing/2014/main" id="{3CF2EECF-7C56-49BC-960F-DAC029253452}"/>
              </a:ext>
            </a:extLst>
          </p:cNvPr>
          <p:cNvSpPr>
            <a:spLocks xmlns:a="http://schemas.openxmlformats.org/drawingml/2006/main" noGrp="1"/>
          </p:cNvSpPr>
          <p:nvPr/>
        </p:nvSpPr>
        <p:spPr>
          <a:xfrm xmlns:a="http://schemas.openxmlformats.org/drawingml/2006/main">
            <a:off x="1097280" y="2377440"/>
            <a:ext cx="9994392" cy="1737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3000" b="1">
                <a:solidFill>
                  <a:srgbClr val="1D2A5C"/>
                </a:solidFill>
                <a:latin typeface="Calibri"/>
                <a:ea typeface="Calibri"/>
                <a:cs typeface="Calibri"/>
              </a:rPr>
              <a:t>Production discipline is what turns a model into a product.</a:t>
            </a:r>
            <a:endParaRPr sz="3000"/>
          </a:p>
        </p:txBody>
      </p:sp>
      <p:sp>
        <p:nvSpPr>
          <p:cNvPr id="20" name="Text 18">
            <a:extLst xmlns:a="http://schemas.openxmlformats.org/drawingml/2006/main">
              <a:ext uri="{FF2B5EF4-FFF2-40B4-BE49-F238E27FC236}">
                <a16:creationId xmlns:a16="http://schemas.microsoft.com/office/drawing/2014/main" id="{B0DA3EE6-681A-432D-B44F-3444044D8148}"/>
              </a:ext>
            </a:extLst>
          </p:cNvPr>
          <p:cNvSpPr>
            <a:spLocks xmlns:a="http://schemas.openxmlformats.org/drawingml/2006/main" noGrp="1"/>
          </p:cNvSpPr>
          <p:nvPr/>
        </p:nvSpPr>
        <p:spPr>
          <a:xfrm xmlns:a="http://schemas.openxmlformats.org/drawingml/2006/main">
            <a:off x="2011680" y="4251960"/>
            <a:ext cx="8165592"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350">
                <a:solidFill>
                  <a:srgbClr val="5F6B7A"/>
                </a:solidFill>
                <a:latin typeface="Calibri"/>
                <a:ea typeface="Calibri"/>
                <a:cs typeface="Calibri"/>
              </a:rPr>
              <a:t>Three days, one evolving fraud-detection service — refactored, served, containerised, tested, and shipped through CI.</a:t>
            </a:r>
            <a:endParaRPr sz="1350"/>
          </a:p>
        </p:txBody>
      </p:sp>
      <p:pic>
        <p:nvPicPr>
          <p:cNvPr id="44" name="Image 0"/>
          <p:cNvPicPr>
            <a:picLocks xmlns:a="http://schemas.openxmlformats.org/drawingml/2006/main" noChangeAspect="1"/>
          </p:cNvPicPr>
          <p:nvPr/>
        </p:nvPicPr>
        <p:blipFill>
          <a:blip xmlns:r="http://schemas.openxmlformats.org/officeDocument/2006/relationships" xmlns:a="http://schemas.openxmlformats.org/drawingml/2006/main" r:embed="Rf7cf2188f9a74d63"/>
          <a:stretch xmlns:a="http://schemas.openxmlformats.org/drawingml/2006/main">
            <a:fillRect l="0" t="0" r="0" b="0"/>
          </a:stretch>
        </p:blipFill>
        <p:spPr>
          <a:xfrm xmlns:a="http://schemas.openxmlformats.org/drawingml/2006/main">
            <a:off x="5559552" y="6172200"/>
            <a:ext cx="1078992" cy="265176"/>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D7C5F9F8-6F4E-4D16-86C6-F5040FCEEA47}"/>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OVERVIEW   </a:t>
            </a:r>
            <a:r>
              <a:rPr sz="850" spc="100">
                <a:solidFill>
                  <a:srgbClr val="8A96A6"/>
                </a:solidFill>
                <a:latin typeface="Calibri"/>
                <a:ea typeface="Calibri"/>
                <a:cs typeface="Calibri"/>
              </a:rPr>
              <a:t>SDA-AIE-113 · Software Engineering Practices for AI Systems</a:t>
            </a:r>
            <a:endParaRPr sz="850"/>
          </a:p>
        </p:txBody>
      </p:sp>
      <p:sp>
        <p:nvSpPr>
          <p:cNvPr id="23" name="Text 20">
            <a:extLst xmlns:a="http://schemas.openxmlformats.org/drawingml/2006/main">
              <a:ext uri="{FF2B5EF4-FFF2-40B4-BE49-F238E27FC236}">
                <a16:creationId xmlns:a16="http://schemas.microsoft.com/office/drawing/2014/main" id="{9D972253-FD7C-4356-A041-BD2A566297B7}"/>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10</a:t>
            </a:r>
            <a:endParaRPr sz="850"/>
          </a:p>
        </p:txBody>
      </p:sp>
    </p:spTree>
    <p:extLst>
      <p:ext uri="{BB962C8B-B14F-4D97-AF65-F5344CB8AC3E}">
        <p14:creationId xmlns:p14="http://schemas.microsoft.com/office/powerpoint/2010/main" val="530675693"/>
      </p:ext>
    </p:extLst>
  </p:cSld>
</p:sld>
</file>

<file path=ppt/slides/slide11.xml><?xml version="1.0" encoding="utf-8"?>
<p:sld xmlns:p="http://schemas.openxmlformats.org/presentationml/2006/main">
  <p:cSld>
    <p:bg>
      <p:bgPr>
        <a:solidFill xmlns:a="http://schemas.openxmlformats.org/drawingml/2006/main">
          <a:srgbClr val="1D2A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6AEDD35-883D-4268-B514-CE5C63DAE96D}"/>
              </a:ext>
            </a:extLst>
          </p:cNvPr>
          <p:cNvSpPr>
            <a:spLocks xmlns:a="http://schemas.openxmlformats.org/drawingml/2006/main" noGrp="1"/>
          </p:cNvSpPr>
          <p:nvPr/>
        </p:nvSpPr>
        <p:spPr>
          <a:xfrm xmlns:a="http://schemas.openxmlformats.org/drawingml/2006/main" rot="5400000" flipH="1">
            <a:off x="9235440" y="1298448"/>
            <a:ext cx="402336" cy="352044"/>
          </a:xfrm>
          <a:prstGeom xmlns:a="http://schemas.openxmlformats.org/drawingml/2006/main" prst="triangle">
            <a:avLst/>
          </a:prstGeom>
          <a:solidFill xmlns:a="http://schemas.openxmlformats.org/drawingml/2006/main">
            <a:srgbClr val="00A79D"/>
          </a:solidFill>
        </p:spPr>
      </p:sp>
      <p:sp>
        <p:nvSpPr>
          <p:cNvPr id="3" name="Shape 1">
            <a:extLst xmlns:a="http://schemas.openxmlformats.org/drawingml/2006/main">
              <a:ext uri="{FF2B5EF4-FFF2-40B4-BE49-F238E27FC236}">
                <a16:creationId xmlns:a16="http://schemas.microsoft.com/office/drawing/2014/main" id="{DC5220DF-E203-4877-979B-90E7EF606E19}"/>
              </a:ext>
            </a:extLst>
          </p:cNvPr>
          <p:cNvSpPr>
            <a:spLocks xmlns:a="http://schemas.openxmlformats.org/drawingml/2006/main" noGrp="1"/>
          </p:cNvSpPr>
          <p:nvPr/>
        </p:nvSpPr>
        <p:spPr>
          <a:xfrm xmlns:a="http://schemas.openxmlformats.org/drawingml/2006/main" rot="5400000">
            <a:off x="9661916" y="946404"/>
            <a:ext cx="402336" cy="352044"/>
          </a:xfrm>
          <a:prstGeom xmlns:a="http://schemas.openxmlformats.org/drawingml/2006/main" prst="triangle">
            <a:avLst/>
          </a:prstGeom>
          <a:solidFill xmlns:a="http://schemas.openxmlformats.org/drawingml/2006/main">
            <a:srgbClr val="29ABE2"/>
          </a:solidFill>
        </p:spPr>
      </p:sp>
      <p:sp>
        <p:nvSpPr>
          <p:cNvPr id="4" name="Shape 2">
            <a:extLst xmlns:a="http://schemas.openxmlformats.org/drawingml/2006/main">
              <a:ext uri="{FF2B5EF4-FFF2-40B4-BE49-F238E27FC236}">
                <a16:creationId xmlns:a16="http://schemas.microsoft.com/office/drawing/2014/main" id="{D29A770B-6EEA-4C7E-BB7A-6FC9E8D2BC43}"/>
              </a:ext>
            </a:extLst>
          </p:cNvPr>
          <p:cNvSpPr>
            <a:spLocks xmlns:a="http://schemas.openxmlformats.org/drawingml/2006/main" noGrp="1"/>
          </p:cNvSpPr>
          <p:nvPr/>
        </p:nvSpPr>
        <p:spPr>
          <a:xfrm xmlns:a="http://schemas.openxmlformats.org/drawingml/2006/main" rot="5400000">
            <a:off x="9661916" y="1650492"/>
            <a:ext cx="402336" cy="352044"/>
          </a:xfrm>
          <a:prstGeom xmlns:a="http://schemas.openxmlformats.org/drawingml/2006/main" prst="triangle">
            <a:avLst/>
          </a:prstGeom>
          <a:solidFill xmlns:a="http://schemas.openxmlformats.org/drawingml/2006/main">
            <a:srgbClr val="F58220"/>
          </a:solidFill>
        </p:spPr>
      </p:sp>
      <p:sp>
        <p:nvSpPr>
          <p:cNvPr id="5" name="Shape 3">
            <a:extLst xmlns:a="http://schemas.openxmlformats.org/drawingml/2006/main">
              <a:ext uri="{FF2B5EF4-FFF2-40B4-BE49-F238E27FC236}">
                <a16:creationId xmlns:a16="http://schemas.microsoft.com/office/drawing/2014/main" id="{49A429C0-6268-4AC8-A8A0-8F318E45410C}"/>
              </a:ext>
            </a:extLst>
          </p:cNvPr>
          <p:cNvSpPr>
            <a:spLocks xmlns:a="http://schemas.openxmlformats.org/drawingml/2006/main" noGrp="1"/>
          </p:cNvSpPr>
          <p:nvPr/>
        </p:nvSpPr>
        <p:spPr>
          <a:xfrm xmlns:a="http://schemas.openxmlformats.org/drawingml/2006/main" rot="5400000" flipH="1">
            <a:off x="10088392" y="594360"/>
            <a:ext cx="402336" cy="352044"/>
          </a:xfrm>
          <a:prstGeom xmlns:a="http://schemas.openxmlformats.org/drawingml/2006/main" prst="triangle">
            <a:avLst/>
          </a:prstGeom>
          <a:solidFill xmlns:a="http://schemas.openxmlformats.org/drawingml/2006/main">
            <a:srgbClr val="8DC63F"/>
          </a:solidFill>
        </p:spPr>
      </p:sp>
      <p:sp>
        <p:nvSpPr>
          <p:cNvPr id="6" name="Shape 4">
            <a:extLst xmlns:a="http://schemas.openxmlformats.org/drawingml/2006/main">
              <a:ext uri="{FF2B5EF4-FFF2-40B4-BE49-F238E27FC236}">
                <a16:creationId xmlns:a16="http://schemas.microsoft.com/office/drawing/2014/main" id="{987C0066-7BF0-44F0-AC34-31A7B0805975}"/>
              </a:ext>
            </a:extLst>
          </p:cNvPr>
          <p:cNvSpPr>
            <a:spLocks xmlns:a="http://schemas.openxmlformats.org/drawingml/2006/main" noGrp="1"/>
          </p:cNvSpPr>
          <p:nvPr/>
        </p:nvSpPr>
        <p:spPr>
          <a:xfrm xmlns:a="http://schemas.openxmlformats.org/drawingml/2006/main" rot="5400000">
            <a:off x="10088392" y="1298448"/>
            <a:ext cx="402336" cy="352044"/>
          </a:xfrm>
          <a:prstGeom xmlns:a="http://schemas.openxmlformats.org/drawingml/2006/main" prst="triangle">
            <a:avLst/>
          </a:prstGeom>
          <a:solidFill xmlns:a="http://schemas.openxmlformats.org/drawingml/2006/main">
            <a:srgbClr val="00A79D"/>
          </a:solidFill>
        </p:spPr>
      </p:sp>
      <p:sp>
        <p:nvSpPr>
          <p:cNvPr id="7" name="Shape 5">
            <a:extLst xmlns:a="http://schemas.openxmlformats.org/drawingml/2006/main">
              <a:ext uri="{FF2B5EF4-FFF2-40B4-BE49-F238E27FC236}">
                <a16:creationId xmlns:a16="http://schemas.microsoft.com/office/drawing/2014/main" id="{BFEC923F-E93F-4FDD-A839-F9205CD9AF2F}"/>
              </a:ext>
            </a:extLst>
          </p:cNvPr>
          <p:cNvSpPr>
            <a:spLocks xmlns:a="http://schemas.openxmlformats.org/drawingml/2006/main" noGrp="1"/>
          </p:cNvSpPr>
          <p:nvPr/>
        </p:nvSpPr>
        <p:spPr>
          <a:xfrm xmlns:a="http://schemas.openxmlformats.org/drawingml/2006/main" rot="5400000">
            <a:off x="10514868" y="946404"/>
            <a:ext cx="402336" cy="352044"/>
          </a:xfrm>
          <a:prstGeom xmlns:a="http://schemas.openxmlformats.org/drawingml/2006/main" prst="triangle">
            <a:avLst/>
          </a:prstGeom>
          <a:solidFill xmlns:a="http://schemas.openxmlformats.org/drawingml/2006/main">
            <a:srgbClr val="29ABE2"/>
          </a:solidFill>
        </p:spPr>
      </p:sp>
      <p:sp>
        <p:nvSpPr>
          <p:cNvPr id="8" name="Shape 6">
            <a:extLst xmlns:a="http://schemas.openxmlformats.org/drawingml/2006/main">
              <a:ext uri="{FF2B5EF4-FFF2-40B4-BE49-F238E27FC236}">
                <a16:creationId xmlns:a16="http://schemas.microsoft.com/office/drawing/2014/main" id="{D404F270-678A-42FE-85A8-B97DFCBF7EB2}"/>
              </a:ext>
            </a:extLst>
          </p:cNvPr>
          <p:cNvSpPr>
            <a:spLocks xmlns:a="http://schemas.openxmlformats.org/drawingml/2006/main" noGrp="1"/>
          </p:cNvSpPr>
          <p:nvPr/>
        </p:nvSpPr>
        <p:spPr>
          <a:xfrm xmlns:a="http://schemas.openxmlformats.org/drawingml/2006/main" rot="5400000" flipH="1">
            <a:off x="10514868" y="1650492"/>
            <a:ext cx="402336" cy="352044"/>
          </a:xfrm>
          <a:prstGeom xmlns:a="http://schemas.openxmlformats.org/drawingml/2006/main" prst="triangle">
            <a:avLst/>
          </a:prstGeom>
          <a:solidFill xmlns:a="http://schemas.openxmlformats.org/drawingml/2006/main">
            <a:srgbClr val="F58220"/>
          </a:solidFill>
        </p:spPr>
      </p:sp>
      <p:sp>
        <p:nvSpPr>
          <p:cNvPr id="9" name="Shape 7">
            <a:extLst xmlns:a="http://schemas.openxmlformats.org/drawingml/2006/main">
              <a:ext uri="{FF2B5EF4-FFF2-40B4-BE49-F238E27FC236}">
                <a16:creationId xmlns:a16="http://schemas.microsoft.com/office/drawing/2014/main" id="{F63A0895-4261-4A6D-992B-75AF7107F671}"/>
              </a:ext>
            </a:extLst>
          </p:cNvPr>
          <p:cNvSpPr>
            <a:spLocks xmlns:a="http://schemas.openxmlformats.org/drawingml/2006/main" noGrp="1"/>
          </p:cNvSpPr>
          <p:nvPr/>
        </p:nvSpPr>
        <p:spPr>
          <a:xfrm xmlns:a="http://schemas.openxmlformats.org/drawingml/2006/main" rot="5400000">
            <a:off x="10941345" y="1298448"/>
            <a:ext cx="402336" cy="352044"/>
          </a:xfrm>
          <a:prstGeom xmlns:a="http://schemas.openxmlformats.org/drawingml/2006/main" prst="triangle">
            <a:avLst/>
          </a:prstGeom>
          <a:solidFill xmlns:a="http://schemas.openxmlformats.org/drawingml/2006/main">
            <a:srgbClr val="8DC63F"/>
          </a:solidFill>
        </p:spPr>
      </p:sp>
      <p:sp>
        <p:nvSpPr>
          <p:cNvPr id="10" name="Text 8">
            <a:extLst xmlns:a="http://schemas.openxmlformats.org/drawingml/2006/main">
              <a:ext uri="{FF2B5EF4-FFF2-40B4-BE49-F238E27FC236}">
                <a16:creationId xmlns:a16="http://schemas.microsoft.com/office/drawing/2014/main" id="{FBF3FF35-89EA-4A8C-852E-76E52F567662}"/>
              </a:ext>
            </a:extLst>
          </p:cNvPr>
          <p:cNvSpPr>
            <a:spLocks xmlns:a="http://schemas.openxmlformats.org/drawingml/2006/main" noGrp="1"/>
          </p:cNvSpPr>
          <p:nvPr/>
        </p:nvSpPr>
        <p:spPr>
          <a:xfrm xmlns:a="http://schemas.openxmlformats.org/drawingml/2006/main">
            <a:off x="777240" y="1417320"/>
            <a:ext cx="731520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spc="400">
                <a:solidFill>
                  <a:srgbClr val="00A79D"/>
                </a:solidFill>
                <a:latin typeface="Calibri"/>
                <a:ea typeface="Calibri"/>
                <a:cs typeface="Calibri"/>
              </a:rPr>
              <a:t>DAY 1 — FROM NOTEBOOK TO SERVICE</a:t>
            </a:r>
            <a:endParaRPr sz="1500"/>
          </a:p>
        </p:txBody>
      </p:sp>
      <p:sp>
        <p:nvSpPr>
          <p:cNvPr id="11" name="Text 9">
            <a:extLst xmlns:a="http://schemas.openxmlformats.org/drawingml/2006/main">
              <a:ext uri="{FF2B5EF4-FFF2-40B4-BE49-F238E27FC236}">
                <a16:creationId xmlns:a16="http://schemas.microsoft.com/office/drawing/2014/main" id="{A5BBFE91-31D9-4698-8B82-2EAEC615EA57}"/>
              </a:ext>
            </a:extLst>
          </p:cNvPr>
          <p:cNvSpPr>
            <a:spLocks xmlns:a="http://schemas.openxmlformats.org/drawingml/2006/main" noGrp="1"/>
          </p:cNvSpPr>
          <p:nvPr/>
        </p:nvSpPr>
        <p:spPr>
          <a:xfrm xmlns:a="http://schemas.openxmlformats.org/drawingml/2006/main">
            <a:off x="749808" y="1874520"/>
            <a:ext cx="106070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600" b="1">
                <a:solidFill>
                  <a:srgbClr val="FFFFFF"/>
                </a:solidFill>
                <a:latin typeface="Calibri"/>
                <a:ea typeface="Calibri"/>
                <a:cs typeface="Calibri"/>
              </a:rPr>
              <a:t>From Notebook to Service</a:t>
            </a:r>
            <a:endParaRPr sz="3600"/>
          </a:p>
        </p:txBody>
      </p:sp>
      <p:sp>
        <p:nvSpPr>
          <p:cNvPr id="12" name="Text 10">
            <a:extLst xmlns:a="http://schemas.openxmlformats.org/drawingml/2006/main">
              <a:ext uri="{FF2B5EF4-FFF2-40B4-BE49-F238E27FC236}">
                <a16:creationId xmlns:a16="http://schemas.microsoft.com/office/drawing/2014/main" id="{AAE99BE2-A7DD-4377-AD45-2F7B0E1507AD}"/>
              </a:ext>
            </a:extLst>
          </p:cNvPr>
          <p:cNvSpPr>
            <a:spLocks xmlns:a="http://schemas.openxmlformats.org/drawingml/2006/main" noGrp="1"/>
          </p:cNvSpPr>
          <p:nvPr/>
        </p:nvSpPr>
        <p:spPr>
          <a:xfrm xmlns:a="http://schemas.openxmlformats.org/drawingml/2006/main">
            <a:off x="777240" y="2761488"/>
            <a:ext cx="100584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a:solidFill>
                  <a:srgbClr val="B9C8E8"/>
                </a:solidFill>
                <a:latin typeface="Calibri"/>
                <a:ea typeface="Calibri"/>
                <a:cs typeface="Calibri"/>
              </a:rPr>
              <a:t>من الدفتر إلى الخدمة</a:t>
            </a:r>
            <a:endParaRPr sz="1700"/>
          </a:p>
        </p:txBody>
      </p:sp>
      <p:sp>
        <p:nvSpPr>
          <p:cNvPr id="13" name="Shape 11">
            <a:extLst xmlns:a="http://schemas.openxmlformats.org/drawingml/2006/main">
              <a:ext uri="{FF2B5EF4-FFF2-40B4-BE49-F238E27FC236}">
                <a16:creationId xmlns:a16="http://schemas.microsoft.com/office/drawing/2014/main" id="{048B610B-D8A7-4BE1-A56F-2B698901A075}"/>
              </a:ext>
            </a:extLst>
          </p:cNvPr>
          <p:cNvSpPr>
            <a:spLocks xmlns:a="http://schemas.openxmlformats.org/drawingml/2006/main" noGrp="1"/>
          </p:cNvSpPr>
          <p:nvPr/>
        </p:nvSpPr>
        <p:spPr>
          <a:xfrm xmlns:a="http://schemas.openxmlformats.org/drawingml/2006/main">
            <a:off x="777240"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14" name="Text 12">
            <a:extLst xmlns:a="http://schemas.openxmlformats.org/drawingml/2006/main">
              <a:ext uri="{FF2B5EF4-FFF2-40B4-BE49-F238E27FC236}">
                <a16:creationId xmlns:a16="http://schemas.microsoft.com/office/drawing/2014/main" id="{E437D47F-C30A-4F11-AA96-938543F1E64B}"/>
              </a:ext>
            </a:extLst>
          </p:cNvPr>
          <p:cNvSpPr>
            <a:spLocks xmlns:a="http://schemas.openxmlformats.org/drawingml/2006/main" noGrp="1"/>
          </p:cNvSpPr>
          <p:nvPr/>
        </p:nvSpPr>
        <p:spPr>
          <a:xfrm xmlns:a="http://schemas.openxmlformats.org/drawingml/2006/main">
            <a:off x="923544"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A79D"/>
                </a:solidFill>
                <a:latin typeface="Calibri"/>
                <a:ea typeface="Calibri"/>
                <a:cs typeface="Calibri"/>
              </a:rPr>
              <a:t>01</a:t>
            </a:r>
            <a:endParaRPr sz="1400"/>
          </a:p>
        </p:txBody>
      </p:sp>
      <p:sp>
        <p:nvSpPr>
          <p:cNvPr id="15" name="Text 13">
            <a:extLst xmlns:a="http://schemas.openxmlformats.org/drawingml/2006/main">
              <a:ext uri="{FF2B5EF4-FFF2-40B4-BE49-F238E27FC236}">
                <a16:creationId xmlns:a16="http://schemas.microsoft.com/office/drawing/2014/main" id="{3028A9C6-B28E-4F98-BC3D-064B023CF198}"/>
              </a:ext>
            </a:extLst>
          </p:cNvPr>
          <p:cNvSpPr>
            <a:spLocks xmlns:a="http://schemas.openxmlformats.org/drawingml/2006/main" noGrp="1"/>
          </p:cNvSpPr>
          <p:nvPr/>
        </p:nvSpPr>
        <p:spPr>
          <a:xfrm xmlns:a="http://schemas.openxmlformats.org/drawingml/2006/main">
            <a:off x="923544"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Why AI fails in production</a:t>
            </a:r>
            <a:endParaRPr sz="1200"/>
          </a:p>
        </p:txBody>
      </p:sp>
      <p:sp>
        <p:nvSpPr>
          <p:cNvPr id="16" name="Text 14">
            <a:extLst xmlns:a="http://schemas.openxmlformats.org/drawingml/2006/main">
              <a:ext uri="{FF2B5EF4-FFF2-40B4-BE49-F238E27FC236}">
                <a16:creationId xmlns:a16="http://schemas.microsoft.com/office/drawing/2014/main" id="{C8C5EC30-D514-45A8-A45B-D0F29DE8A148}"/>
              </a:ext>
            </a:extLst>
          </p:cNvPr>
          <p:cNvSpPr>
            <a:spLocks xmlns:a="http://schemas.openxmlformats.org/drawingml/2006/main" noGrp="1"/>
          </p:cNvSpPr>
          <p:nvPr/>
        </p:nvSpPr>
        <p:spPr>
          <a:xfrm xmlns:a="http://schemas.openxmlformats.org/drawingml/2006/main">
            <a:off x="923544"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The notebook-to-production gap — four failure modes worth naming</a:t>
            </a:r>
            <a:endParaRPr sz="950"/>
          </a:p>
        </p:txBody>
      </p:sp>
      <p:sp>
        <p:nvSpPr>
          <p:cNvPr id="17" name="Shape 15">
            <a:extLst xmlns:a="http://schemas.openxmlformats.org/drawingml/2006/main">
              <a:ext uri="{FF2B5EF4-FFF2-40B4-BE49-F238E27FC236}">
                <a16:creationId xmlns:a16="http://schemas.microsoft.com/office/drawing/2014/main" id="{34363F4A-8646-487E-8555-CDAAFD9D14A0}"/>
              </a:ext>
            </a:extLst>
          </p:cNvPr>
          <p:cNvSpPr>
            <a:spLocks xmlns:a="http://schemas.openxmlformats.org/drawingml/2006/main" noGrp="1"/>
          </p:cNvSpPr>
          <p:nvPr/>
        </p:nvSpPr>
        <p:spPr>
          <a:xfrm xmlns:a="http://schemas.openxmlformats.org/drawingml/2006/main">
            <a:off x="3493008"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18" name="Text 16">
            <a:extLst xmlns:a="http://schemas.openxmlformats.org/drawingml/2006/main">
              <a:ext uri="{FF2B5EF4-FFF2-40B4-BE49-F238E27FC236}">
                <a16:creationId xmlns:a16="http://schemas.microsoft.com/office/drawing/2014/main" id="{6089121A-135E-4AD8-B6D2-69C44314922D}"/>
              </a:ext>
            </a:extLst>
          </p:cNvPr>
          <p:cNvSpPr>
            <a:spLocks xmlns:a="http://schemas.openxmlformats.org/drawingml/2006/main" noGrp="1"/>
          </p:cNvSpPr>
          <p:nvPr/>
        </p:nvSpPr>
        <p:spPr>
          <a:xfrm xmlns:a="http://schemas.openxmlformats.org/drawingml/2006/main">
            <a:off x="3639312"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29ABE2"/>
                </a:solidFill>
                <a:latin typeface="Calibri"/>
                <a:ea typeface="Calibri"/>
                <a:cs typeface="Calibri"/>
              </a:rPr>
              <a:t>02</a:t>
            </a:r>
            <a:endParaRPr sz="1400"/>
          </a:p>
        </p:txBody>
      </p:sp>
      <p:sp>
        <p:nvSpPr>
          <p:cNvPr id="19" name="Text 17">
            <a:extLst xmlns:a="http://schemas.openxmlformats.org/drawingml/2006/main">
              <a:ext uri="{FF2B5EF4-FFF2-40B4-BE49-F238E27FC236}">
                <a16:creationId xmlns:a16="http://schemas.microsoft.com/office/drawing/2014/main" id="{239BE1AA-47BE-421E-83AE-8A427ACC249E}"/>
              </a:ext>
            </a:extLst>
          </p:cNvPr>
          <p:cNvSpPr>
            <a:spLocks xmlns:a="http://schemas.openxmlformats.org/drawingml/2006/main" noGrp="1"/>
          </p:cNvSpPr>
          <p:nvPr/>
        </p:nvSpPr>
        <p:spPr>
          <a:xfrm xmlns:a="http://schemas.openxmlformats.org/drawingml/2006/main">
            <a:off x="3639312"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Clean architecture for ML</a:t>
            </a:r>
            <a:endParaRPr sz="1200"/>
          </a:p>
        </p:txBody>
      </p:sp>
      <p:sp>
        <p:nvSpPr>
          <p:cNvPr id="20" name="Text 18">
            <a:extLst xmlns:a="http://schemas.openxmlformats.org/drawingml/2006/main">
              <a:ext uri="{FF2B5EF4-FFF2-40B4-BE49-F238E27FC236}">
                <a16:creationId xmlns:a16="http://schemas.microsoft.com/office/drawing/2014/main" id="{90573D23-5136-46E4-B13A-110BA7254141}"/>
              </a:ext>
            </a:extLst>
          </p:cNvPr>
          <p:cNvSpPr>
            <a:spLocks xmlns:a="http://schemas.openxmlformats.org/drawingml/2006/main" noGrp="1"/>
          </p:cNvSpPr>
          <p:nvPr/>
        </p:nvSpPr>
        <p:spPr>
          <a:xfrm xmlns:a="http://schemas.openxmlformats.org/drawingml/2006/main">
            <a:off x="3639312"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Layers, the dependency rule, src-layout, the model as an adapter</a:t>
            </a:r>
            <a:endParaRPr sz="950"/>
          </a:p>
        </p:txBody>
      </p:sp>
      <p:sp>
        <p:nvSpPr>
          <p:cNvPr id="21" name="Shape 19">
            <a:extLst xmlns:a="http://schemas.openxmlformats.org/drawingml/2006/main">
              <a:ext uri="{FF2B5EF4-FFF2-40B4-BE49-F238E27FC236}">
                <a16:creationId xmlns:a16="http://schemas.microsoft.com/office/drawing/2014/main" id="{12247A16-2D9F-4402-916B-E339E102452E}"/>
              </a:ext>
            </a:extLst>
          </p:cNvPr>
          <p:cNvSpPr>
            <a:spLocks xmlns:a="http://schemas.openxmlformats.org/drawingml/2006/main" noGrp="1"/>
          </p:cNvSpPr>
          <p:nvPr/>
        </p:nvSpPr>
        <p:spPr>
          <a:xfrm xmlns:a="http://schemas.openxmlformats.org/drawingml/2006/main">
            <a:off x="6208776"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22" name="Text 20">
            <a:extLst xmlns:a="http://schemas.openxmlformats.org/drawingml/2006/main">
              <a:ext uri="{FF2B5EF4-FFF2-40B4-BE49-F238E27FC236}">
                <a16:creationId xmlns:a16="http://schemas.microsoft.com/office/drawing/2014/main" id="{F06B19E6-BF3F-4377-A822-2EF2DE6E27C9}"/>
              </a:ext>
            </a:extLst>
          </p:cNvPr>
          <p:cNvSpPr>
            <a:spLocks xmlns:a="http://schemas.openxmlformats.org/drawingml/2006/main" noGrp="1"/>
          </p:cNvSpPr>
          <p:nvPr/>
        </p:nvSpPr>
        <p:spPr>
          <a:xfrm xmlns:a="http://schemas.openxmlformats.org/drawingml/2006/main">
            <a:off x="6355080"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F58220"/>
                </a:solidFill>
                <a:latin typeface="Calibri"/>
                <a:ea typeface="Calibri"/>
                <a:cs typeface="Calibri"/>
              </a:rPr>
              <a:t>03</a:t>
            </a:r>
            <a:endParaRPr sz="1400"/>
          </a:p>
        </p:txBody>
      </p:sp>
      <p:sp>
        <p:nvSpPr>
          <p:cNvPr id="23" name="Text 21">
            <a:extLst xmlns:a="http://schemas.openxmlformats.org/drawingml/2006/main">
              <a:ext uri="{FF2B5EF4-FFF2-40B4-BE49-F238E27FC236}">
                <a16:creationId xmlns:a16="http://schemas.microsoft.com/office/drawing/2014/main" id="{1805FA5B-CAA4-4359-9EC4-EDDF2644708A}"/>
              </a:ext>
            </a:extLst>
          </p:cNvPr>
          <p:cNvSpPr>
            <a:spLocks xmlns:a="http://schemas.openxmlformats.org/drawingml/2006/main" noGrp="1"/>
          </p:cNvSpPr>
          <p:nvPr/>
        </p:nvSpPr>
        <p:spPr>
          <a:xfrm xmlns:a="http://schemas.openxmlformats.org/drawingml/2006/main">
            <a:off x="6355080"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Lab 1 — Refactor the notebook</a:t>
            </a:r>
            <a:endParaRPr sz="1200"/>
          </a:p>
        </p:txBody>
      </p:sp>
      <p:sp>
        <p:nvSpPr>
          <p:cNvPr id="24" name="Text 22">
            <a:extLst xmlns:a="http://schemas.openxmlformats.org/drawingml/2006/main">
              <a:ext uri="{FF2B5EF4-FFF2-40B4-BE49-F238E27FC236}">
                <a16:creationId xmlns:a16="http://schemas.microsoft.com/office/drawing/2014/main" id="{DDEE276B-1435-4DCD-8BD4-C5DF03AE03FF}"/>
              </a:ext>
            </a:extLst>
          </p:cNvPr>
          <p:cNvSpPr>
            <a:spLocks xmlns:a="http://schemas.openxmlformats.org/drawingml/2006/main" noGrp="1"/>
          </p:cNvSpPr>
          <p:nvPr/>
        </p:nvSpPr>
        <p:spPr>
          <a:xfrm xmlns:a="http://schemas.openxmlformats.org/drawingml/2006/main">
            <a:off x="6355080"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Messy fraud-detection notebook → clean src-layout package</a:t>
            </a:r>
            <a:endParaRPr sz="950"/>
          </a:p>
        </p:txBody>
      </p:sp>
      <p:sp>
        <p:nvSpPr>
          <p:cNvPr id="25" name="Shape 23">
            <a:extLst xmlns:a="http://schemas.openxmlformats.org/drawingml/2006/main">
              <a:ext uri="{FF2B5EF4-FFF2-40B4-BE49-F238E27FC236}">
                <a16:creationId xmlns:a16="http://schemas.microsoft.com/office/drawing/2014/main" id="{36117645-3909-4DB4-8317-4F21060839CA}"/>
              </a:ext>
            </a:extLst>
          </p:cNvPr>
          <p:cNvSpPr>
            <a:spLocks xmlns:a="http://schemas.openxmlformats.org/drawingml/2006/main" noGrp="1"/>
          </p:cNvSpPr>
          <p:nvPr/>
        </p:nvSpPr>
        <p:spPr>
          <a:xfrm xmlns:a="http://schemas.openxmlformats.org/drawingml/2006/main">
            <a:off x="8924544"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26" name="Text 24">
            <a:extLst xmlns:a="http://schemas.openxmlformats.org/drawingml/2006/main">
              <a:ext uri="{FF2B5EF4-FFF2-40B4-BE49-F238E27FC236}">
                <a16:creationId xmlns:a16="http://schemas.microsoft.com/office/drawing/2014/main" id="{25AF5996-EE8B-428F-86ED-60596904871D}"/>
              </a:ext>
            </a:extLst>
          </p:cNvPr>
          <p:cNvSpPr>
            <a:spLocks xmlns:a="http://schemas.openxmlformats.org/drawingml/2006/main" noGrp="1"/>
          </p:cNvSpPr>
          <p:nvPr/>
        </p:nvSpPr>
        <p:spPr>
          <a:xfrm xmlns:a="http://schemas.openxmlformats.org/drawingml/2006/main">
            <a:off x="9070848"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8DC63F"/>
                </a:solidFill>
                <a:latin typeface="Calibri"/>
                <a:ea typeface="Calibri"/>
                <a:cs typeface="Calibri"/>
              </a:rPr>
              <a:t>04</a:t>
            </a:r>
            <a:endParaRPr sz="1400"/>
          </a:p>
        </p:txBody>
      </p:sp>
      <p:sp>
        <p:nvSpPr>
          <p:cNvPr id="27" name="Text 25">
            <a:extLst xmlns:a="http://schemas.openxmlformats.org/drawingml/2006/main">
              <a:ext uri="{FF2B5EF4-FFF2-40B4-BE49-F238E27FC236}">
                <a16:creationId xmlns:a16="http://schemas.microsoft.com/office/drawing/2014/main" id="{B8981218-CB85-4A73-AE2D-F6D7EB65D014}"/>
              </a:ext>
            </a:extLst>
          </p:cNvPr>
          <p:cNvSpPr>
            <a:spLocks xmlns:a="http://schemas.openxmlformats.org/drawingml/2006/main" noGrp="1"/>
          </p:cNvSpPr>
          <p:nvPr/>
        </p:nvSpPr>
        <p:spPr>
          <a:xfrm xmlns:a="http://schemas.openxmlformats.org/drawingml/2006/main">
            <a:off x="9070848"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FastAPI model serving + Lab 2</a:t>
            </a:r>
            <a:endParaRPr sz="1200"/>
          </a:p>
        </p:txBody>
      </p:sp>
      <p:sp>
        <p:nvSpPr>
          <p:cNvPr id="28" name="Text 26">
            <a:extLst xmlns:a="http://schemas.openxmlformats.org/drawingml/2006/main">
              <a:ext uri="{FF2B5EF4-FFF2-40B4-BE49-F238E27FC236}">
                <a16:creationId xmlns:a16="http://schemas.microsoft.com/office/drawing/2014/main" id="{A268EEE5-9F7C-4DBA-9DF8-990230413DCF}"/>
              </a:ext>
            </a:extLst>
          </p:cNvPr>
          <p:cNvSpPr>
            <a:spLocks xmlns:a="http://schemas.openxmlformats.org/drawingml/2006/main" noGrp="1"/>
          </p:cNvSpPr>
          <p:nvPr/>
        </p:nvSpPr>
        <p:spPr>
          <a:xfrm xmlns:a="http://schemas.openxmlformats.org/drawingml/2006/main">
            <a:off x="9070848"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REST design, pydantic contracts, health checks, /v1/predict</a:t>
            </a:r>
            <a:endParaRPr sz="950"/>
          </a:p>
        </p:txBody>
      </p:sp>
      <p:sp>
        <p:nvSpPr>
          <p:cNvPr id="29" name="Text 27">
            <a:extLst xmlns:a="http://schemas.openxmlformats.org/drawingml/2006/main">
              <a:ext uri="{FF2B5EF4-FFF2-40B4-BE49-F238E27FC236}">
                <a16:creationId xmlns:a16="http://schemas.microsoft.com/office/drawing/2014/main" id="{CD2400A4-D1B2-4330-BD26-3A18E7904340}"/>
              </a:ext>
            </a:extLst>
          </p:cNvPr>
          <p:cNvSpPr>
            <a:spLocks xmlns:a="http://schemas.openxmlformats.org/drawingml/2006/main" noGrp="1"/>
          </p:cNvSpPr>
          <p:nvPr/>
        </p:nvSpPr>
        <p:spPr>
          <a:xfrm xmlns:a="http://schemas.openxmlformats.org/drawingml/2006/main">
            <a:off x="777240" y="5806440"/>
            <a:ext cx="100584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8A96C8"/>
                </a:solidFill>
                <a:latin typeface="Calibri"/>
                <a:ea typeface="Calibri"/>
                <a:cs typeface="Calibri"/>
              </a:rPr>
              <a:t>5 hours · 45% theory / 55% lab</a:t>
            </a:r>
            <a:endParaRPr sz="1100"/>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a88f6f604e9a42d4"/>
          <a:stretch xmlns:a="http://schemas.openxmlformats.org/drawingml/2006/main">
            <a:fillRect l="0" t="0" r="0" b="0"/>
          </a:stretch>
        </p:blipFill>
        <p:spPr>
          <a:xfrm xmlns:a="http://schemas.openxmlformats.org/drawingml/2006/main">
            <a:off x="777240" y="6309360"/>
            <a:ext cx="1078992" cy="265176"/>
          </a:xfrm>
          <a:prstGeom xmlns:a="http://schemas.openxmlformats.org/drawingml/2006/main" prst="rect">
            <a:avLst/>
          </a:prstGeom>
        </p:spPr>
      </p:pic>
    </p:spTree>
    <p:extLst>
      <p:ext uri="{BB962C8B-B14F-4D97-AF65-F5344CB8AC3E}">
        <p14:creationId xmlns:p14="http://schemas.microsoft.com/office/powerpoint/2010/main" val="129859169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A326B96-9EFB-44ED-850C-7109C25A1263}"/>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Day 1 — Hour by Hour</a:t>
            </a:r>
            <a:endParaRPr sz="2600"/>
          </a:p>
        </p:txBody>
      </p:sp>
      <p:sp>
        <p:nvSpPr>
          <p:cNvPr id="3" name="Text 1">
            <a:extLst xmlns:a="http://schemas.openxmlformats.org/drawingml/2006/main">
              <a:ext uri="{FF2B5EF4-FFF2-40B4-BE49-F238E27FC236}">
                <a16:creationId xmlns:a16="http://schemas.microsoft.com/office/drawing/2014/main" id="{EE5FAD0D-FE6D-489C-B2B3-9F7C5E75999C}"/>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اليوم الأول — ساعة بساعة</a:t>
            </a:r>
            <a:endParaRPr sz="1300"/>
          </a:p>
        </p:txBody>
      </p:sp>
      <p:pic>
        <p:nvPicPr>
          <p:cNvPr id="51" name="Image 0"/>
          <p:cNvPicPr>
            <a:picLocks xmlns:a="http://schemas.openxmlformats.org/drawingml/2006/main" noChangeAspect="1"/>
          </p:cNvPicPr>
          <p:nvPr/>
        </p:nvPicPr>
        <p:blipFill>
          <a:blip xmlns:r="http://schemas.openxmlformats.org/officeDocument/2006/relationships" xmlns:a="http://schemas.openxmlformats.org/drawingml/2006/main" r:embed="R760cad96f436496b"/>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16B20D95-0D5F-402B-B324-CD0D47B3D788}"/>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86B42839-33DA-4FEC-8B96-A5A795A943AF}"/>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3F33AF79-1AA2-4D93-8062-907D08781C4A}"/>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12</a:t>
            </a:r>
            <a:endParaRPr sz="850"/>
          </a:p>
        </p:txBody>
      </p:sp>
      <p:sp>
        <p:nvSpPr>
          <p:cNvPr id="8" name="Shape 5">
            <a:extLst xmlns:a="http://schemas.openxmlformats.org/drawingml/2006/main">
              <a:ext uri="{FF2B5EF4-FFF2-40B4-BE49-F238E27FC236}">
                <a16:creationId xmlns:a16="http://schemas.microsoft.com/office/drawing/2014/main" id="{9B9661CD-D9C3-48C5-BAD7-4979FF3E6CFE}"/>
              </a:ext>
            </a:extLst>
          </p:cNvPr>
          <p:cNvSpPr>
            <a:spLocks xmlns:a="http://schemas.openxmlformats.org/drawingml/2006/main" noGrp="1"/>
          </p:cNvSpPr>
          <p:nvPr/>
        </p:nvSpPr>
        <p:spPr>
          <a:xfrm xmlns:a="http://schemas.openxmlformats.org/drawingml/2006/main">
            <a:off x="502920" y="1481328"/>
            <a:ext cx="11183112" cy="82296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D9E4F5"/>
            </a:solidFill>
            <a:prstDash val="solid"/>
          </a:ln>
        </p:spPr>
      </p:sp>
      <p:sp>
        <p:nvSpPr>
          <p:cNvPr id="9" name="Text 6">
            <a:extLst xmlns:a="http://schemas.openxmlformats.org/drawingml/2006/main">
              <a:ext uri="{FF2B5EF4-FFF2-40B4-BE49-F238E27FC236}">
                <a16:creationId xmlns:a16="http://schemas.microsoft.com/office/drawing/2014/main" id="{8926C49D-0ED6-4684-9DE1-5BEA504BC35E}"/>
              </a:ext>
            </a:extLst>
          </p:cNvPr>
          <p:cNvSpPr>
            <a:spLocks xmlns:a="http://schemas.openxmlformats.org/drawingml/2006/main" noGrp="1"/>
          </p:cNvSpPr>
          <p:nvPr/>
        </p:nvSpPr>
        <p:spPr>
          <a:xfrm xmlns:a="http://schemas.openxmlformats.org/drawingml/2006/main">
            <a:off x="685800" y="1655064"/>
            <a:ext cx="475488" cy="475488"/>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H1</a:t>
            </a:r>
            <a:endParaRPr sz="1300"/>
          </a:p>
        </p:txBody>
      </p:sp>
      <p:sp>
        <p:nvSpPr>
          <p:cNvPr id="10" name="Text 7">
            <a:extLst xmlns:a="http://schemas.openxmlformats.org/drawingml/2006/main">
              <a:ext uri="{FF2B5EF4-FFF2-40B4-BE49-F238E27FC236}">
                <a16:creationId xmlns:a16="http://schemas.microsoft.com/office/drawing/2014/main" id="{39CB66B2-D949-44BB-8900-2537D3ADF677}"/>
              </a:ext>
            </a:extLst>
          </p:cNvPr>
          <p:cNvSpPr>
            <a:spLocks xmlns:a="http://schemas.openxmlformats.org/drawingml/2006/main" noGrp="1"/>
          </p:cNvSpPr>
          <p:nvPr/>
        </p:nvSpPr>
        <p:spPr>
          <a:xfrm xmlns:a="http://schemas.openxmlformats.org/drawingml/2006/main">
            <a:off x="1353312" y="1572768"/>
            <a:ext cx="603504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Why AI systems fail in production + kickoff</a:t>
            </a:r>
            <a:endParaRPr sz="1350"/>
          </a:p>
        </p:txBody>
      </p:sp>
      <p:sp>
        <p:nvSpPr>
          <p:cNvPr id="11" name="Text 8">
            <a:extLst xmlns:a="http://schemas.openxmlformats.org/drawingml/2006/main">
              <a:ext uri="{FF2B5EF4-FFF2-40B4-BE49-F238E27FC236}">
                <a16:creationId xmlns:a16="http://schemas.microsoft.com/office/drawing/2014/main" id="{8A7CECA5-DCBC-4BCA-B5FA-FADB9BCE935C}"/>
              </a:ext>
            </a:extLst>
          </p:cNvPr>
          <p:cNvSpPr>
            <a:spLocks xmlns:a="http://schemas.openxmlformats.org/drawingml/2006/main" noGrp="1"/>
          </p:cNvSpPr>
          <p:nvPr/>
        </p:nvSpPr>
        <p:spPr>
          <a:xfrm xmlns:a="http://schemas.openxmlformats.org/drawingml/2006/main">
            <a:off x="1353312" y="1883664"/>
            <a:ext cx="6035040" cy="3840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5F6B7A"/>
                </a:solidFill>
                <a:latin typeface="Calibri"/>
                <a:ea typeface="Calibri"/>
                <a:cs typeface="Calibri"/>
              </a:rPr>
              <a:t>Recognise the notebook-vs-production gap; identify the 6 engineering practices covered</a:t>
            </a:r>
            <a:endParaRPr sz="1000"/>
          </a:p>
        </p:txBody>
      </p:sp>
      <p:sp>
        <p:nvSpPr>
          <p:cNvPr id="12" name="Text 9">
            <a:extLst xmlns:a="http://schemas.openxmlformats.org/drawingml/2006/main">
              <a:ext uri="{FF2B5EF4-FFF2-40B4-BE49-F238E27FC236}">
                <a16:creationId xmlns:a16="http://schemas.microsoft.com/office/drawing/2014/main" id="{313E4DDB-D9C7-45CC-B7E6-9D4C1980AD6C}"/>
              </a:ext>
            </a:extLst>
          </p:cNvPr>
          <p:cNvSpPr>
            <a:spLocks xmlns:a="http://schemas.openxmlformats.org/drawingml/2006/main" noGrp="1"/>
          </p:cNvSpPr>
          <p:nvPr/>
        </p:nvSpPr>
        <p:spPr>
          <a:xfrm xmlns:a="http://schemas.openxmlformats.org/drawingml/2006/main">
            <a:off x="7589520" y="1737360"/>
            <a:ext cx="1783080" cy="310896"/>
          </a:xfrm>
          <a:prstGeom xmlns:a="http://schemas.openxmlformats.org/drawingml/2006/main" prst="roundRect">
            <a:avLst>
              <a:gd name="adj" fmla="val 17647"/>
            </a:avLst>
          </a:prstGeom>
          <a:solidFill xmlns:a="http://schemas.openxmlformats.org/drawingml/2006/main">
            <a:srgbClr val="D4F1EE"/>
          </a:solidFill>
        </p:spPr>
        <p:txBody>
          <a:bodyPr xmlns:a="http://schemas.openxmlformats.org/drawingml/2006/main" wrap="square" anchor="ctr"/>
          <a:lstStyle xmlns:a="http://schemas.openxmlformats.org/drawingml/2006/main"/>
          <a:p xmlns:a="http://schemas.openxmlformats.org/drawingml/2006/main">
            <a:pPr marL="0" indent="0" algn="ctr">
              <a:buNone/>
            </a:pPr>
            <a:r>
              <a:rPr sz="950" b="1">
                <a:solidFill>
                  <a:srgbClr val="056A63"/>
                </a:solidFill>
                <a:latin typeface="Calibri"/>
                <a:ea typeface="Calibri"/>
                <a:cs typeface="Calibri"/>
              </a:rPr>
              <a:t>Lecture + discussion</a:t>
            </a:r>
            <a:endParaRPr sz="950"/>
          </a:p>
        </p:txBody>
      </p:sp>
      <p:sp>
        <p:nvSpPr>
          <p:cNvPr id="13" name="Shape 10">
            <a:extLst xmlns:a="http://schemas.openxmlformats.org/drawingml/2006/main">
              <a:ext uri="{FF2B5EF4-FFF2-40B4-BE49-F238E27FC236}">
                <a16:creationId xmlns:a16="http://schemas.microsoft.com/office/drawing/2014/main" id="{5534A1AD-07BD-4BD4-BA41-F7393C19963A}"/>
              </a:ext>
            </a:extLst>
          </p:cNvPr>
          <p:cNvSpPr>
            <a:spLocks xmlns:a="http://schemas.openxmlformats.org/drawingml/2006/main" noGrp="1"/>
          </p:cNvSpPr>
          <p:nvPr/>
        </p:nvSpPr>
        <p:spPr>
          <a:xfrm xmlns:a="http://schemas.openxmlformats.org/drawingml/2006/main">
            <a:off x="9555480" y="1810512"/>
            <a:ext cx="1389888" cy="164592"/>
          </a:xfrm>
          <a:prstGeom xmlns:a="http://schemas.openxmlformats.org/drawingml/2006/main" prst="rect">
            <a:avLst/>
          </a:prstGeom>
          <a:solidFill xmlns:a="http://schemas.openxmlformats.org/drawingml/2006/main">
            <a:srgbClr val="1D2A5C"/>
          </a:solidFill>
        </p:spPr>
      </p:sp>
      <p:sp>
        <p:nvSpPr>
          <p:cNvPr id="14" name="Shape 11">
            <a:extLst xmlns:a="http://schemas.openxmlformats.org/drawingml/2006/main">
              <a:ext uri="{FF2B5EF4-FFF2-40B4-BE49-F238E27FC236}">
                <a16:creationId xmlns:a16="http://schemas.microsoft.com/office/drawing/2014/main" id="{89556D7C-A0B8-451A-B814-4268DC3C9DCA}"/>
              </a:ext>
            </a:extLst>
          </p:cNvPr>
          <p:cNvSpPr>
            <a:spLocks xmlns:a="http://schemas.openxmlformats.org/drawingml/2006/main" noGrp="1"/>
          </p:cNvSpPr>
          <p:nvPr/>
        </p:nvSpPr>
        <p:spPr>
          <a:xfrm xmlns:a="http://schemas.openxmlformats.org/drawingml/2006/main">
            <a:off x="10945368" y="1810512"/>
            <a:ext cx="347472" cy="164592"/>
          </a:xfrm>
          <a:prstGeom xmlns:a="http://schemas.openxmlformats.org/drawingml/2006/main" prst="rect">
            <a:avLst/>
          </a:prstGeom>
          <a:solidFill xmlns:a="http://schemas.openxmlformats.org/drawingml/2006/main">
            <a:srgbClr val="00A79D"/>
          </a:solidFill>
        </p:spPr>
      </p:sp>
      <p:sp>
        <p:nvSpPr>
          <p:cNvPr id="15" name="Text 12">
            <a:extLst xmlns:a="http://schemas.openxmlformats.org/drawingml/2006/main">
              <a:ext uri="{FF2B5EF4-FFF2-40B4-BE49-F238E27FC236}">
                <a16:creationId xmlns:a16="http://schemas.microsoft.com/office/drawing/2014/main" id="{B2643FE4-A31B-4830-A0D1-FB3B3A5871F0}"/>
              </a:ext>
            </a:extLst>
          </p:cNvPr>
          <p:cNvSpPr>
            <a:spLocks xmlns:a="http://schemas.openxmlformats.org/drawingml/2006/main" noGrp="1"/>
          </p:cNvSpPr>
          <p:nvPr/>
        </p:nvSpPr>
        <p:spPr>
          <a:xfrm xmlns:a="http://schemas.openxmlformats.org/drawingml/2006/main">
            <a:off x="9509760" y="1993392"/>
            <a:ext cx="182880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50">
                <a:solidFill>
                  <a:srgbClr val="8A96A6"/>
                </a:solidFill>
                <a:latin typeface="Calibri"/>
                <a:ea typeface="Calibri"/>
                <a:cs typeface="Calibri"/>
              </a:rPr>
              <a:t>80% theory · 20% lab</a:t>
            </a:r>
            <a:endParaRPr sz="750"/>
          </a:p>
        </p:txBody>
      </p:sp>
      <p:sp>
        <p:nvSpPr>
          <p:cNvPr id="16" name="Shape 13">
            <a:extLst xmlns:a="http://schemas.openxmlformats.org/drawingml/2006/main">
              <a:ext uri="{FF2B5EF4-FFF2-40B4-BE49-F238E27FC236}">
                <a16:creationId xmlns:a16="http://schemas.microsoft.com/office/drawing/2014/main" id="{998472DB-3FE7-4F3C-A696-E8F84F2D0CBE}"/>
              </a:ext>
            </a:extLst>
          </p:cNvPr>
          <p:cNvSpPr>
            <a:spLocks xmlns:a="http://schemas.openxmlformats.org/drawingml/2006/main" noGrp="1"/>
          </p:cNvSpPr>
          <p:nvPr/>
        </p:nvSpPr>
        <p:spPr>
          <a:xfrm xmlns:a="http://schemas.openxmlformats.org/drawingml/2006/main">
            <a:off x="502920" y="2414016"/>
            <a:ext cx="11183112" cy="822960"/>
          </a:xfrm>
          <a:prstGeom xmlns:a="http://schemas.openxmlformats.org/drawingml/2006/main" prst="roundRect">
            <a:avLst>
              <a:gd name="adj" fmla="val 5556"/>
            </a:avLst>
          </a:prstGeom>
          <a:solidFill xmlns:a="http://schemas.openxmlformats.org/drawingml/2006/main">
            <a:srgbClr val="EEF3FB"/>
          </a:solidFill>
          <a:ln xmlns:a="http://schemas.openxmlformats.org/drawingml/2006/main" w="9525">
            <a:solidFill>
              <a:srgbClr val="D9E4F5"/>
            </a:solidFill>
            <a:prstDash val="solid"/>
          </a:ln>
        </p:spPr>
      </p:sp>
      <p:sp>
        <p:nvSpPr>
          <p:cNvPr id="17" name="Text 14">
            <a:extLst xmlns:a="http://schemas.openxmlformats.org/drawingml/2006/main">
              <a:ext uri="{FF2B5EF4-FFF2-40B4-BE49-F238E27FC236}">
                <a16:creationId xmlns:a16="http://schemas.microsoft.com/office/drawing/2014/main" id="{F8D956DA-6790-45B3-AB80-672DE945A638}"/>
              </a:ext>
            </a:extLst>
          </p:cNvPr>
          <p:cNvSpPr>
            <a:spLocks xmlns:a="http://schemas.openxmlformats.org/drawingml/2006/main" noGrp="1"/>
          </p:cNvSpPr>
          <p:nvPr/>
        </p:nvSpPr>
        <p:spPr>
          <a:xfrm xmlns:a="http://schemas.openxmlformats.org/drawingml/2006/main">
            <a:off x="685800" y="2587752"/>
            <a:ext cx="475488" cy="475488"/>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H2</a:t>
            </a:r>
            <a:endParaRPr sz="1300"/>
          </a:p>
        </p:txBody>
      </p:sp>
      <p:sp>
        <p:nvSpPr>
          <p:cNvPr id="18" name="Text 15">
            <a:extLst xmlns:a="http://schemas.openxmlformats.org/drawingml/2006/main">
              <a:ext uri="{FF2B5EF4-FFF2-40B4-BE49-F238E27FC236}">
                <a16:creationId xmlns:a16="http://schemas.microsoft.com/office/drawing/2014/main" id="{EA0999CF-A464-44E2-856E-1A0C1633CF5F}"/>
              </a:ext>
            </a:extLst>
          </p:cNvPr>
          <p:cNvSpPr>
            <a:spLocks xmlns:a="http://schemas.openxmlformats.org/drawingml/2006/main" noGrp="1"/>
          </p:cNvSpPr>
          <p:nvPr/>
        </p:nvSpPr>
        <p:spPr>
          <a:xfrm xmlns:a="http://schemas.openxmlformats.org/drawingml/2006/main">
            <a:off x="1353312" y="2505456"/>
            <a:ext cx="603504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Clean architecture for ML codebases (M1)</a:t>
            </a:r>
            <a:endParaRPr sz="1350"/>
          </a:p>
        </p:txBody>
      </p:sp>
      <p:sp>
        <p:nvSpPr>
          <p:cNvPr id="19" name="Text 16">
            <a:extLst xmlns:a="http://schemas.openxmlformats.org/drawingml/2006/main">
              <a:ext uri="{FF2B5EF4-FFF2-40B4-BE49-F238E27FC236}">
                <a16:creationId xmlns:a16="http://schemas.microsoft.com/office/drawing/2014/main" id="{5C065BCD-554A-40E9-A358-F909723B4163}"/>
              </a:ext>
            </a:extLst>
          </p:cNvPr>
          <p:cNvSpPr>
            <a:spLocks xmlns:a="http://schemas.openxmlformats.org/drawingml/2006/main" noGrp="1"/>
          </p:cNvSpPr>
          <p:nvPr/>
        </p:nvSpPr>
        <p:spPr>
          <a:xfrm xmlns:a="http://schemas.openxmlformats.org/drawingml/2006/main">
            <a:off x="1353312" y="2816352"/>
            <a:ext cx="6035040" cy="3840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5F6B7A"/>
                </a:solidFill>
                <a:latin typeface="Calibri"/>
                <a:ea typeface="Calibri"/>
                <a:cs typeface="Calibri"/>
              </a:rPr>
              <a:t>Layered design; dependency rule; separating domain, model and infrastructure; src-layout</a:t>
            </a:r>
            <a:endParaRPr sz="1000"/>
          </a:p>
        </p:txBody>
      </p:sp>
      <p:sp>
        <p:nvSpPr>
          <p:cNvPr id="20" name="Text 17">
            <a:extLst xmlns:a="http://schemas.openxmlformats.org/drawingml/2006/main">
              <a:ext uri="{FF2B5EF4-FFF2-40B4-BE49-F238E27FC236}">
                <a16:creationId xmlns:a16="http://schemas.microsoft.com/office/drawing/2014/main" id="{48768EA3-EB35-4D0B-B7CF-4CBA31821B9D}"/>
              </a:ext>
            </a:extLst>
          </p:cNvPr>
          <p:cNvSpPr>
            <a:spLocks xmlns:a="http://schemas.openxmlformats.org/drawingml/2006/main" noGrp="1"/>
          </p:cNvSpPr>
          <p:nvPr/>
        </p:nvSpPr>
        <p:spPr>
          <a:xfrm xmlns:a="http://schemas.openxmlformats.org/drawingml/2006/main">
            <a:off x="7589520" y="2670048"/>
            <a:ext cx="1783080" cy="310896"/>
          </a:xfrm>
          <a:prstGeom xmlns:a="http://schemas.openxmlformats.org/drawingml/2006/main" prst="roundRect">
            <a:avLst>
              <a:gd name="adj" fmla="val 17647"/>
            </a:avLst>
          </a:prstGeom>
          <a:solidFill xmlns:a="http://schemas.openxmlformats.org/drawingml/2006/main">
            <a:srgbClr val="D4F1EE"/>
          </a:solidFill>
        </p:spPr>
        <p:txBody>
          <a:bodyPr xmlns:a="http://schemas.openxmlformats.org/drawingml/2006/main" wrap="square" anchor="ctr"/>
          <a:lstStyle xmlns:a="http://schemas.openxmlformats.org/drawingml/2006/main"/>
          <a:p xmlns:a="http://schemas.openxmlformats.org/drawingml/2006/main">
            <a:pPr marL="0" indent="0" algn="ctr">
              <a:buNone/>
            </a:pPr>
            <a:r>
              <a:rPr sz="950" b="1">
                <a:solidFill>
                  <a:srgbClr val="056A63"/>
                </a:solidFill>
                <a:latin typeface="Calibri"/>
                <a:ea typeface="Calibri"/>
                <a:cs typeface="Calibri"/>
              </a:rPr>
              <a:t>Lecture + live refactor</a:t>
            </a:r>
            <a:endParaRPr sz="950"/>
          </a:p>
        </p:txBody>
      </p:sp>
      <p:sp>
        <p:nvSpPr>
          <p:cNvPr id="21" name="Shape 18">
            <a:extLst xmlns:a="http://schemas.openxmlformats.org/drawingml/2006/main">
              <a:ext uri="{FF2B5EF4-FFF2-40B4-BE49-F238E27FC236}">
                <a16:creationId xmlns:a16="http://schemas.microsoft.com/office/drawing/2014/main" id="{D0C32F8B-A0CE-4880-8D2D-46EF3BECA9EB}"/>
              </a:ext>
            </a:extLst>
          </p:cNvPr>
          <p:cNvSpPr>
            <a:spLocks xmlns:a="http://schemas.openxmlformats.org/drawingml/2006/main" noGrp="1"/>
          </p:cNvSpPr>
          <p:nvPr/>
        </p:nvSpPr>
        <p:spPr>
          <a:xfrm xmlns:a="http://schemas.openxmlformats.org/drawingml/2006/main">
            <a:off x="9555480" y="2743200"/>
            <a:ext cx="1216152" cy="164592"/>
          </a:xfrm>
          <a:prstGeom xmlns:a="http://schemas.openxmlformats.org/drawingml/2006/main" prst="rect">
            <a:avLst/>
          </a:prstGeom>
          <a:solidFill xmlns:a="http://schemas.openxmlformats.org/drawingml/2006/main">
            <a:srgbClr val="1D2A5C"/>
          </a:solidFill>
        </p:spPr>
      </p:sp>
      <p:sp>
        <p:nvSpPr>
          <p:cNvPr id="22" name="Shape 19">
            <a:extLst xmlns:a="http://schemas.openxmlformats.org/drawingml/2006/main">
              <a:ext uri="{FF2B5EF4-FFF2-40B4-BE49-F238E27FC236}">
                <a16:creationId xmlns:a16="http://schemas.microsoft.com/office/drawing/2014/main" id="{5538B0E9-00BD-4ED0-8E93-7536BCCB842A}"/>
              </a:ext>
            </a:extLst>
          </p:cNvPr>
          <p:cNvSpPr>
            <a:spLocks xmlns:a="http://schemas.openxmlformats.org/drawingml/2006/main" noGrp="1"/>
          </p:cNvSpPr>
          <p:nvPr/>
        </p:nvSpPr>
        <p:spPr>
          <a:xfrm xmlns:a="http://schemas.openxmlformats.org/drawingml/2006/main">
            <a:off x="10771632" y="2743200"/>
            <a:ext cx="521208" cy="164592"/>
          </a:xfrm>
          <a:prstGeom xmlns:a="http://schemas.openxmlformats.org/drawingml/2006/main" prst="rect">
            <a:avLst/>
          </a:prstGeom>
          <a:solidFill xmlns:a="http://schemas.openxmlformats.org/drawingml/2006/main">
            <a:srgbClr val="00A79D"/>
          </a:solidFill>
        </p:spPr>
      </p:sp>
      <p:sp>
        <p:nvSpPr>
          <p:cNvPr id="23" name="Text 20">
            <a:extLst xmlns:a="http://schemas.openxmlformats.org/drawingml/2006/main">
              <a:ext uri="{FF2B5EF4-FFF2-40B4-BE49-F238E27FC236}">
                <a16:creationId xmlns:a16="http://schemas.microsoft.com/office/drawing/2014/main" id="{6CBE9EE6-B38B-4F32-9BE9-C76277CB4808}"/>
              </a:ext>
            </a:extLst>
          </p:cNvPr>
          <p:cNvSpPr>
            <a:spLocks xmlns:a="http://schemas.openxmlformats.org/drawingml/2006/main" noGrp="1"/>
          </p:cNvSpPr>
          <p:nvPr/>
        </p:nvSpPr>
        <p:spPr>
          <a:xfrm xmlns:a="http://schemas.openxmlformats.org/drawingml/2006/main">
            <a:off x="9509760" y="2926080"/>
            <a:ext cx="182880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50">
                <a:solidFill>
                  <a:srgbClr val="8A96A6"/>
                </a:solidFill>
                <a:latin typeface="Calibri"/>
                <a:ea typeface="Calibri"/>
                <a:cs typeface="Calibri"/>
              </a:rPr>
              <a:t>70% theory · 30% lab</a:t>
            </a:r>
            <a:endParaRPr sz="750"/>
          </a:p>
        </p:txBody>
      </p:sp>
      <p:sp>
        <p:nvSpPr>
          <p:cNvPr id="24" name="Shape 21">
            <a:extLst xmlns:a="http://schemas.openxmlformats.org/drawingml/2006/main">
              <a:ext uri="{FF2B5EF4-FFF2-40B4-BE49-F238E27FC236}">
                <a16:creationId xmlns:a16="http://schemas.microsoft.com/office/drawing/2014/main" id="{2824E1A3-53A4-4029-8580-11926DACEC2C}"/>
              </a:ext>
            </a:extLst>
          </p:cNvPr>
          <p:cNvSpPr>
            <a:spLocks xmlns:a="http://schemas.openxmlformats.org/drawingml/2006/main" noGrp="1"/>
          </p:cNvSpPr>
          <p:nvPr/>
        </p:nvSpPr>
        <p:spPr>
          <a:xfrm xmlns:a="http://schemas.openxmlformats.org/drawingml/2006/main">
            <a:off x="502920" y="3346704"/>
            <a:ext cx="11183112" cy="82296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D9E4F5"/>
            </a:solidFill>
            <a:prstDash val="solid"/>
          </a:ln>
        </p:spPr>
      </p:sp>
      <p:sp>
        <p:nvSpPr>
          <p:cNvPr id="25" name="Text 22">
            <a:extLst xmlns:a="http://schemas.openxmlformats.org/drawingml/2006/main">
              <a:ext uri="{FF2B5EF4-FFF2-40B4-BE49-F238E27FC236}">
                <a16:creationId xmlns:a16="http://schemas.microsoft.com/office/drawing/2014/main" id="{2D540B8E-61B5-4910-BBE1-859712127201}"/>
              </a:ext>
            </a:extLst>
          </p:cNvPr>
          <p:cNvSpPr>
            <a:spLocks xmlns:a="http://schemas.openxmlformats.org/drawingml/2006/main" noGrp="1"/>
          </p:cNvSpPr>
          <p:nvPr/>
        </p:nvSpPr>
        <p:spPr>
          <a:xfrm xmlns:a="http://schemas.openxmlformats.org/drawingml/2006/main">
            <a:off x="685800" y="3520440"/>
            <a:ext cx="475488" cy="475488"/>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H3</a:t>
            </a:r>
            <a:endParaRPr sz="1300"/>
          </a:p>
        </p:txBody>
      </p:sp>
      <p:sp>
        <p:nvSpPr>
          <p:cNvPr id="26" name="Text 23">
            <a:extLst xmlns:a="http://schemas.openxmlformats.org/drawingml/2006/main">
              <a:ext uri="{FF2B5EF4-FFF2-40B4-BE49-F238E27FC236}">
                <a16:creationId xmlns:a16="http://schemas.microsoft.com/office/drawing/2014/main" id="{713053B1-D858-4A46-8D16-E799BE260F89}"/>
              </a:ext>
            </a:extLst>
          </p:cNvPr>
          <p:cNvSpPr>
            <a:spLocks xmlns:a="http://schemas.openxmlformats.org/drawingml/2006/main" noGrp="1"/>
          </p:cNvSpPr>
          <p:nvPr/>
        </p:nvSpPr>
        <p:spPr>
          <a:xfrm xmlns:a="http://schemas.openxmlformats.org/drawingml/2006/main">
            <a:off x="1353312" y="3438144"/>
            <a:ext cx="603504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Lab 1 — Refactor the notebook</a:t>
            </a:r>
            <a:endParaRPr sz="1350"/>
          </a:p>
        </p:txBody>
      </p:sp>
      <p:sp>
        <p:nvSpPr>
          <p:cNvPr id="27" name="Text 24">
            <a:extLst xmlns:a="http://schemas.openxmlformats.org/drawingml/2006/main">
              <a:ext uri="{FF2B5EF4-FFF2-40B4-BE49-F238E27FC236}">
                <a16:creationId xmlns:a16="http://schemas.microsoft.com/office/drawing/2014/main" id="{B351E41E-4C86-4922-9302-10BBE5E4B0C6}"/>
              </a:ext>
            </a:extLst>
          </p:cNvPr>
          <p:cNvSpPr>
            <a:spLocks xmlns:a="http://schemas.openxmlformats.org/drawingml/2006/main" noGrp="1"/>
          </p:cNvSpPr>
          <p:nvPr/>
        </p:nvSpPr>
        <p:spPr>
          <a:xfrm xmlns:a="http://schemas.openxmlformats.org/drawingml/2006/main">
            <a:off x="1353312" y="3749040"/>
            <a:ext cx="6035040" cy="3840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5F6B7A"/>
                </a:solidFill>
                <a:latin typeface="Calibri"/>
                <a:ea typeface="Calibri"/>
                <a:cs typeface="Calibri"/>
              </a:rPr>
              <a:t>Convert a messy fraud-detection notebook into a clean src-layout package</a:t>
            </a:r>
            <a:endParaRPr sz="1000"/>
          </a:p>
        </p:txBody>
      </p:sp>
      <p:sp>
        <p:nvSpPr>
          <p:cNvPr id="28" name="Text 25">
            <a:extLst xmlns:a="http://schemas.openxmlformats.org/drawingml/2006/main">
              <a:ext uri="{FF2B5EF4-FFF2-40B4-BE49-F238E27FC236}">
                <a16:creationId xmlns:a16="http://schemas.microsoft.com/office/drawing/2014/main" id="{956D4402-8E5B-4189-9C2C-B0409FADD253}"/>
              </a:ext>
            </a:extLst>
          </p:cNvPr>
          <p:cNvSpPr>
            <a:spLocks xmlns:a="http://schemas.openxmlformats.org/drawingml/2006/main" noGrp="1"/>
          </p:cNvSpPr>
          <p:nvPr/>
        </p:nvSpPr>
        <p:spPr>
          <a:xfrm xmlns:a="http://schemas.openxmlformats.org/drawingml/2006/main">
            <a:off x="7589520" y="3602736"/>
            <a:ext cx="1783080" cy="310896"/>
          </a:xfrm>
          <a:prstGeom xmlns:a="http://schemas.openxmlformats.org/drawingml/2006/main" prst="roundRect">
            <a:avLst>
              <a:gd name="adj" fmla="val 17647"/>
            </a:avLst>
          </a:prstGeom>
          <a:solidFill xmlns:a="http://schemas.openxmlformats.org/drawingml/2006/main">
            <a:srgbClr val="D4F1EE"/>
          </a:solidFill>
        </p:spPr>
        <p:txBody>
          <a:bodyPr xmlns:a="http://schemas.openxmlformats.org/drawingml/2006/main" wrap="square" anchor="ctr"/>
          <a:lstStyle xmlns:a="http://schemas.openxmlformats.org/drawingml/2006/main"/>
          <a:p xmlns:a="http://schemas.openxmlformats.org/drawingml/2006/main">
            <a:pPr marL="0" indent="0" algn="ctr">
              <a:buNone/>
            </a:pPr>
            <a:r>
              <a:rPr sz="950" b="1">
                <a:solidFill>
                  <a:srgbClr val="056A63"/>
                </a:solidFill>
                <a:latin typeface="Calibri"/>
                <a:ea typeface="Calibri"/>
                <a:cs typeface="Calibri"/>
              </a:rPr>
              <a:t>Guided lab (pairs)</a:t>
            </a:r>
            <a:endParaRPr sz="950"/>
          </a:p>
        </p:txBody>
      </p:sp>
      <p:sp>
        <p:nvSpPr>
          <p:cNvPr id="29" name="Shape 26">
            <a:extLst xmlns:a="http://schemas.openxmlformats.org/drawingml/2006/main">
              <a:ext uri="{FF2B5EF4-FFF2-40B4-BE49-F238E27FC236}">
                <a16:creationId xmlns:a16="http://schemas.microsoft.com/office/drawing/2014/main" id="{3EA22D8A-9B27-4D8C-ADC5-69A73E85317B}"/>
              </a:ext>
            </a:extLst>
          </p:cNvPr>
          <p:cNvSpPr>
            <a:spLocks xmlns:a="http://schemas.openxmlformats.org/drawingml/2006/main" noGrp="1"/>
          </p:cNvSpPr>
          <p:nvPr/>
        </p:nvSpPr>
        <p:spPr>
          <a:xfrm xmlns:a="http://schemas.openxmlformats.org/drawingml/2006/main">
            <a:off x="9555480" y="3675888"/>
            <a:ext cx="173736" cy="164592"/>
          </a:xfrm>
          <a:prstGeom xmlns:a="http://schemas.openxmlformats.org/drawingml/2006/main" prst="rect">
            <a:avLst/>
          </a:prstGeom>
          <a:solidFill xmlns:a="http://schemas.openxmlformats.org/drawingml/2006/main">
            <a:srgbClr val="1D2A5C"/>
          </a:solidFill>
        </p:spPr>
      </p:sp>
      <p:sp>
        <p:nvSpPr>
          <p:cNvPr id="30" name="Shape 27">
            <a:extLst xmlns:a="http://schemas.openxmlformats.org/drawingml/2006/main">
              <a:ext uri="{FF2B5EF4-FFF2-40B4-BE49-F238E27FC236}">
                <a16:creationId xmlns:a16="http://schemas.microsoft.com/office/drawing/2014/main" id="{8CA486C4-A3B8-4576-8DBD-718293A1FE69}"/>
              </a:ext>
            </a:extLst>
          </p:cNvPr>
          <p:cNvSpPr>
            <a:spLocks xmlns:a="http://schemas.openxmlformats.org/drawingml/2006/main" noGrp="1"/>
          </p:cNvSpPr>
          <p:nvPr/>
        </p:nvSpPr>
        <p:spPr>
          <a:xfrm xmlns:a="http://schemas.openxmlformats.org/drawingml/2006/main">
            <a:off x="9729216" y="3675888"/>
            <a:ext cx="1563624" cy="164592"/>
          </a:xfrm>
          <a:prstGeom xmlns:a="http://schemas.openxmlformats.org/drawingml/2006/main" prst="rect">
            <a:avLst/>
          </a:prstGeom>
          <a:solidFill xmlns:a="http://schemas.openxmlformats.org/drawingml/2006/main">
            <a:srgbClr val="00A79D"/>
          </a:solidFill>
        </p:spPr>
      </p:sp>
      <p:sp>
        <p:nvSpPr>
          <p:cNvPr id="31" name="Text 28">
            <a:extLst xmlns:a="http://schemas.openxmlformats.org/drawingml/2006/main">
              <a:ext uri="{FF2B5EF4-FFF2-40B4-BE49-F238E27FC236}">
                <a16:creationId xmlns:a16="http://schemas.microsoft.com/office/drawing/2014/main" id="{60D4297A-BBDD-4202-95B7-7E4FBC2FBA00}"/>
              </a:ext>
            </a:extLst>
          </p:cNvPr>
          <p:cNvSpPr>
            <a:spLocks xmlns:a="http://schemas.openxmlformats.org/drawingml/2006/main" noGrp="1"/>
          </p:cNvSpPr>
          <p:nvPr/>
        </p:nvSpPr>
        <p:spPr>
          <a:xfrm xmlns:a="http://schemas.openxmlformats.org/drawingml/2006/main">
            <a:off x="9509760" y="3858768"/>
            <a:ext cx="182880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50">
                <a:solidFill>
                  <a:srgbClr val="8A96A6"/>
                </a:solidFill>
                <a:latin typeface="Calibri"/>
                <a:ea typeface="Calibri"/>
                <a:cs typeface="Calibri"/>
              </a:rPr>
              <a:t>10% theory · 90% lab</a:t>
            </a:r>
            <a:endParaRPr sz="750"/>
          </a:p>
        </p:txBody>
      </p:sp>
      <p:sp>
        <p:nvSpPr>
          <p:cNvPr id="32" name="Shape 29">
            <a:extLst xmlns:a="http://schemas.openxmlformats.org/drawingml/2006/main">
              <a:ext uri="{FF2B5EF4-FFF2-40B4-BE49-F238E27FC236}">
                <a16:creationId xmlns:a16="http://schemas.microsoft.com/office/drawing/2014/main" id="{67A14E99-C2A2-4DF5-905D-F461CB144D17}"/>
              </a:ext>
            </a:extLst>
          </p:cNvPr>
          <p:cNvSpPr>
            <a:spLocks xmlns:a="http://schemas.openxmlformats.org/drawingml/2006/main" noGrp="1"/>
          </p:cNvSpPr>
          <p:nvPr/>
        </p:nvSpPr>
        <p:spPr>
          <a:xfrm xmlns:a="http://schemas.openxmlformats.org/drawingml/2006/main">
            <a:off x="502920" y="4279392"/>
            <a:ext cx="11183112" cy="822960"/>
          </a:xfrm>
          <a:prstGeom xmlns:a="http://schemas.openxmlformats.org/drawingml/2006/main" prst="roundRect">
            <a:avLst>
              <a:gd name="adj" fmla="val 5556"/>
            </a:avLst>
          </a:prstGeom>
          <a:solidFill xmlns:a="http://schemas.openxmlformats.org/drawingml/2006/main">
            <a:srgbClr val="EEF3FB"/>
          </a:solidFill>
          <a:ln xmlns:a="http://schemas.openxmlformats.org/drawingml/2006/main" w="9525">
            <a:solidFill>
              <a:srgbClr val="D9E4F5"/>
            </a:solidFill>
            <a:prstDash val="solid"/>
          </a:ln>
        </p:spPr>
      </p:sp>
      <p:sp>
        <p:nvSpPr>
          <p:cNvPr id="33" name="Text 30">
            <a:extLst xmlns:a="http://schemas.openxmlformats.org/drawingml/2006/main">
              <a:ext uri="{FF2B5EF4-FFF2-40B4-BE49-F238E27FC236}">
                <a16:creationId xmlns:a16="http://schemas.microsoft.com/office/drawing/2014/main" id="{A9CFB944-8B66-4422-A6EC-2680E78B8DEA}"/>
              </a:ext>
            </a:extLst>
          </p:cNvPr>
          <p:cNvSpPr>
            <a:spLocks xmlns:a="http://schemas.openxmlformats.org/drawingml/2006/main" noGrp="1"/>
          </p:cNvSpPr>
          <p:nvPr/>
        </p:nvSpPr>
        <p:spPr>
          <a:xfrm xmlns:a="http://schemas.openxmlformats.org/drawingml/2006/main">
            <a:off x="685800" y="4453128"/>
            <a:ext cx="475488" cy="475488"/>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H4</a:t>
            </a:r>
            <a:endParaRPr sz="1300"/>
          </a:p>
        </p:txBody>
      </p:sp>
      <p:sp>
        <p:nvSpPr>
          <p:cNvPr id="34" name="Text 31">
            <a:extLst xmlns:a="http://schemas.openxmlformats.org/drawingml/2006/main">
              <a:ext uri="{FF2B5EF4-FFF2-40B4-BE49-F238E27FC236}">
                <a16:creationId xmlns:a16="http://schemas.microsoft.com/office/drawing/2014/main" id="{6F09C4E2-1A64-4BA3-9035-6394368752EA}"/>
              </a:ext>
            </a:extLst>
          </p:cNvPr>
          <p:cNvSpPr>
            <a:spLocks xmlns:a="http://schemas.openxmlformats.org/drawingml/2006/main" noGrp="1"/>
          </p:cNvSpPr>
          <p:nvPr/>
        </p:nvSpPr>
        <p:spPr>
          <a:xfrm xmlns:a="http://schemas.openxmlformats.org/drawingml/2006/main">
            <a:off x="1353312" y="4370832"/>
            <a:ext cx="603504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REST API design for model serving (M2)</a:t>
            </a:r>
            <a:endParaRPr sz="1350"/>
          </a:p>
        </p:txBody>
      </p:sp>
      <p:sp>
        <p:nvSpPr>
          <p:cNvPr id="35" name="Text 32">
            <a:extLst xmlns:a="http://schemas.openxmlformats.org/drawingml/2006/main">
              <a:ext uri="{FF2B5EF4-FFF2-40B4-BE49-F238E27FC236}">
                <a16:creationId xmlns:a16="http://schemas.microsoft.com/office/drawing/2014/main" id="{BFD21D68-C58C-493E-B26A-B7D6EE15E44D}"/>
              </a:ext>
            </a:extLst>
          </p:cNvPr>
          <p:cNvSpPr>
            <a:spLocks xmlns:a="http://schemas.openxmlformats.org/drawingml/2006/main" noGrp="1"/>
          </p:cNvSpPr>
          <p:nvPr/>
        </p:nvSpPr>
        <p:spPr>
          <a:xfrm xmlns:a="http://schemas.openxmlformats.org/drawingml/2006/main">
            <a:off x="1353312" y="4681728"/>
            <a:ext cx="6035040" cy="3840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5F6B7A"/>
                </a:solidFill>
                <a:latin typeface="Calibri"/>
                <a:ea typeface="Calibri"/>
                <a:cs typeface="Calibri"/>
              </a:rPr>
              <a:t>Resource design, pydantic validation, error contracts, health/readiness, versioning</a:t>
            </a:r>
            <a:endParaRPr sz="1000"/>
          </a:p>
        </p:txBody>
      </p:sp>
      <p:sp>
        <p:nvSpPr>
          <p:cNvPr id="36" name="Text 33">
            <a:extLst xmlns:a="http://schemas.openxmlformats.org/drawingml/2006/main">
              <a:ext uri="{FF2B5EF4-FFF2-40B4-BE49-F238E27FC236}">
                <a16:creationId xmlns:a16="http://schemas.microsoft.com/office/drawing/2014/main" id="{BA9C8785-DB1D-44C2-A133-8ED5575A3842}"/>
              </a:ext>
            </a:extLst>
          </p:cNvPr>
          <p:cNvSpPr>
            <a:spLocks xmlns:a="http://schemas.openxmlformats.org/drawingml/2006/main" noGrp="1"/>
          </p:cNvSpPr>
          <p:nvPr/>
        </p:nvSpPr>
        <p:spPr>
          <a:xfrm xmlns:a="http://schemas.openxmlformats.org/drawingml/2006/main">
            <a:off x="7589520" y="4535424"/>
            <a:ext cx="1783080" cy="310896"/>
          </a:xfrm>
          <a:prstGeom xmlns:a="http://schemas.openxmlformats.org/drawingml/2006/main" prst="roundRect">
            <a:avLst>
              <a:gd name="adj" fmla="val 17647"/>
            </a:avLst>
          </a:prstGeom>
          <a:solidFill xmlns:a="http://schemas.openxmlformats.org/drawingml/2006/main">
            <a:srgbClr val="D4F1EE"/>
          </a:solidFill>
        </p:spPr>
        <p:txBody>
          <a:bodyPr xmlns:a="http://schemas.openxmlformats.org/drawingml/2006/main" wrap="square" anchor="ctr"/>
          <a:lstStyle xmlns:a="http://schemas.openxmlformats.org/drawingml/2006/main"/>
          <a:p xmlns:a="http://schemas.openxmlformats.org/drawingml/2006/main">
            <a:pPr marL="0" indent="0" algn="ctr">
              <a:buNone/>
            </a:pPr>
            <a:r>
              <a:rPr sz="950" b="1">
                <a:solidFill>
                  <a:srgbClr val="056A63"/>
                </a:solidFill>
                <a:latin typeface="Calibri"/>
                <a:ea typeface="Calibri"/>
                <a:cs typeface="Calibri"/>
              </a:rPr>
              <a:t>Lecture + walkthrough</a:t>
            </a:r>
            <a:endParaRPr sz="950"/>
          </a:p>
        </p:txBody>
      </p:sp>
      <p:sp>
        <p:nvSpPr>
          <p:cNvPr id="37" name="Shape 34">
            <a:extLst xmlns:a="http://schemas.openxmlformats.org/drawingml/2006/main">
              <a:ext uri="{FF2B5EF4-FFF2-40B4-BE49-F238E27FC236}">
                <a16:creationId xmlns:a16="http://schemas.microsoft.com/office/drawing/2014/main" id="{707D5450-3DE2-4BCD-AF6B-83B76A5D9817}"/>
              </a:ext>
            </a:extLst>
          </p:cNvPr>
          <p:cNvSpPr>
            <a:spLocks xmlns:a="http://schemas.openxmlformats.org/drawingml/2006/main" noGrp="1"/>
          </p:cNvSpPr>
          <p:nvPr/>
        </p:nvSpPr>
        <p:spPr>
          <a:xfrm xmlns:a="http://schemas.openxmlformats.org/drawingml/2006/main">
            <a:off x="9555480" y="4608576"/>
            <a:ext cx="1216152" cy="164592"/>
          </a:xfrm>
          <a:prstGeom xmlns:a="http://schemas.openxmlformats.org/drawingml/2006/main" prst="rect">
            <a:avLst/>
          </a:prstGeom>
          <a:solidFill xmlns:a="http://schemas.openxmlformats.org/drawingml/2006/main">
            <a:srgbClr val="1D2A5C"/>
          </a:solidFill>
        </p:spPr>
      </p:sp>
      <p:sp>
        <p:nvSpPr>
          <p:cNvPr id="38" name="Shape 35">
            <a:extLst xmlns:a="http://schemas.openxmlformats.org/drawingml/2006/main">
              <a:ext uri="{FF2B5EF4-FFF2-40B4-BE49-F238E27FC236}">
                <a16:creationId xmlns:a16="http://schemas.microsoft.com/office/drawing/2014/main" id="{25D2A149-0E8B-4A5B-93D3-A11681D37215}"/>
              </a:ext>
            </a:extLst>
          </p:cNvPr>
          <p:cNvSpPr>
            <a:spLocks xmlns:a="http://schemas.openxmlformats.org/drawingml/2006/main" noGrp="1"/>
          </p:cNvSpPr>
          <p:nvPr/>
        </p:nvSpPr>
        <p:spPr>
          <a:xfrm xmlns:a="http://schemas.openxmlformats.org/drawingml/2006/main">
            <a:off x="10771632" y="4608576"/>
            <a:ext cx="521208" cy="164592"/>
          </a:xfrm>
          <a:prstGeom xmlns:a="http://schemas.openxmlformats.org/drawingml/2006/main" prst="rect">
            <a:avLst/>
          </a:prstGeom>
          <a:solidFill xmlns:a="http://schemas.openxmlformats.org/drawingml/2006/main">
            <a:srgbClr val="00A79D"/>
          </a:solidFill>
        </p:spPr>
      </p:sp>
      <p:sp>
        <p:nvSpPr>
          <p:cNvPr id="39" name="Text 36">
            <a:extLst xmlns:a="http://schemas.openxmlformats.org/drawingml/2006/main">
              <a:ext uri="{FF2B5EF4-FFF2-40B4-BE49-F238E27FC236}">
                <a16:creationId xmlns:a16="http://schemas.microsoft.com/office/drawing/2014/main" id="{D49FAFA2-E340-47CC-91CB-9F2528D439F8}"/>
              </a:ext>
            </a:extLst>
          </p:cNvPr>
          <p:cNvSpPr>
            <a:spLocks xmlns:a="http://schemas.openxmlformats.org/drawingml/2006/main" noGrp="1"/>
          </p:cNvSpPr>
          <p:nvPr/>
        </p:nvSpPr>
        <p:spPr>
          <a:xfrm xmlns:a="http://schemas.openxmlformats.org/drawingml/2006/main">
            <a:off x="9509760" y="4791456"/>
            <a:ext cx="182880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50">
                <a:solidFill>
                  <a:srgbClr val="8A96A6"/>
                </a:solidFill>
                <a:latin typeface="Calibri"/>
                <a:ea typeface="Calibri"/>
                <a:cs typeface="Calibri"/>
              </a:rPr>
              <a:t>70% theory · 30% lab</a:t>
            </a:r>
            <a:endParaRPr sz="750"/>
          </a:p>
        </p:txBody>
      </p:sp>
      <p:sp>
        <p:nvSpPr>
          <p:cNvPr id="40" name="Shape 37">
            <a:extLst xmlns:a="http://schemas.openxmlformats.org/drawingml/2006/main">
              <a:ext uri="{FF2B5EF4-FFF2-40B4-BE49-F238E27FC236}">
                <a16:creationId xmlns:a16="http://schemas.microsoft.com/office/drawing/2014/main" id="{BD4EDD2B-BFAF-4DC0-8166-AB637808B8E1}"/>
              </a:ext>
            </a:extLst>
          </p:cNvPr>
          <p:cNvSpPr>
            <a:spLocks xmlns:a="http://schemas.openxmlformats.org/drawingml/2006/main" noGrp="1"/>
          </p:cNvSpPr>
          <p:nvPr/>
        </p:nvSpPr>
        <p:spPr>
          <a:xfrm xmlns:a="http://schemas.openxmlformats.org/drawingml/2006/main">
            <a:off x="502920" y="5212080"/>
            <a:ext cx="11183112" cy="82296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D9E4F5"/>
            </a:solidFill>
            <a:prstDash val="solid"/>
          </a:ln>
        </p:spPr>
      </p:sp>
      <p:sp>
        <p:nvSpPr>
          <p:cNvPr id="41" name="Text 38">
            <a:extLst xmlns:a="http://schemas.openxmlformats.org/drawingml/2006/main">
              <a:ext uri="{FF2B5EF4-FFF2-40B4-BE49-F238E27FC236}">
                <a16:creationId xmlns:a16="http://schemas.microsoft.com/office/drawing/2014/main" id="{FBAAF883-211D-485A-B2ED-52F3C50A0158}"/>
              </a:ext>
            </a:extLst>
          </p:cNvPr>
          <p:cNvSpPr>
            <a:spLocks xmlns:a="http://schemas.openxmlformats.org/drawingml/2006/main" noGrp="1"/>
          </p:cNvSpPr>
          <p:nvPr/>
        </p:nvSpPr>
        <p:spPr>
          <a:xfrm xmlns:a="http://schemas.openxmlformats.org/drawingml/2006/main">
            <a:off x="685800" y="5385816"/>
            <a:ext cx="475488" cy="475488"/>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H5</a:t>
            </a:r>
            <a:endParaRPr sz="1300"/>
          </a:p>
        </p:txBody>
      </p:sp>
      <p:sp>
        <p:nvSpPr>
          <p:cNvPr id="42" name="Text 39">
            <a:extLst xmlns:a="http://schemas.openxmlformats.org/drawingml/2006/main">
              <a:ext uri="{FF2B5EF4-FFF2-40B4-BE49-F238E27FC236}">
                <a16:creationId xmlns:a16="http://schemas.microsoft.com/office/drawing/2014/main" id="{D91F17DD-EFB8-4027-B3B5-174F418E780E}"/>
              </a:ext>
            </a:extLst>
          </p:cNvPr>
          <p:cNvSpPr>
            <a:spLocks xmlns:a="http://schemas.openxmlformats.org/drawingml/2006/main" noGrp="1"/>
          </p:cNvSpPr>
          <p:nvPr/>
        </p:nvSpPr>
        <p:spPr>
          <a:xfrm xmlns:a="http://schemas.openxmlformats.org/drawingml/2006/main">
            <a:off x="1353312" y="5303520"/>
            <a:ext cx="603504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Lab 2a — Build the prediction API</a:t>
            </a:r>
            <a:endParaRPr sz="1350"/>
          </a:p>
        </p:txBody>
      </p:sp>
      <p:sp>
        <p:nvSpPr>
          <p:cNvPr id="43" name="Text 40">
            <a:extLst xmlns:a="http://schemas.openxmlformats.org/drawingml/2006/main">
              <a:ext uri="{FF2B5EF4-FFF2-40B4-BE49-F238E27FC236}">
                <a16:creationId xmlns:a16="http://schemas.microsoft.com/office/drawing/2014/main" id="{55ADB607-9295-41DF-91ED-83E067C30334}"/>
              </a:ext>
            </a:extLst>
          </p:cNvPr>
          <p:cNvSpPr>
            <a:spLocks xmlns:a="http://schemas.openxmlformats.org/drawingml/2006/main" noGrp="1"/>
          </p:cNvSpPr>
          <p:nvPr/>
        </p:nvSpPr>
        <p:spPr>
          <a:xfrm xmlns:a="http://schemas.openxmlformats.org/drawingml/2006/main">
            <a:off x="1353312" y="5614416"/>
            <a:ext cx="6035040" cy="3840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5F6B7A"/>
                </a:solidFill>
                <a:latin typeface="Calibri"/>
                <a:ea typeface="Calibri"/>
                <a:cs typeface="Calibri"/>
              </a:rPr>
              <a:t>Implement /v1/predict, /health, schemas and error handling in FastAPI</a:t>
            </a:r>
            <a:endParaRPr sz="1000"/>
          </a:p>
        </p:txBody>
      </p:sp>
      <p:sp>
        <p:nvSpPr>
          <p:cNvPr id="44" name="Text 41">
            <a:extLst xmlns:a="http://schemas.openxmlformats.org/drawingml/2006/main">
              <a:ext uri="{FF2B5EF4-FFF2-40B4-BE49-F238E27FC236}">
                <a16:creationId xmlns:a16="http://schemas.microsoft.com/office/drawing/2014/main" id="{6703B04A-7894-4129-AB57-3C74B16C077F}"/>
              </a:ext>
            </a:extLst>
          </p:cNvPr>
          <p:cNvSpPr>
            <a:spLocks xmlns:a="http://schemas.openxmlformats.org/drawingml/2006/main" noGrp="1"/>
          </p:cNvSpPr>
          <p:nvPr/>
        </p:nvSpPr>
        <p:spPr>
          <a:xfrm xmlns:a="http://schemas.openxmlformats.org/drawingml/2006/main">
            <a:off x="7589520" y="5468112"/>
            <a:ext cx="1783080" cy="310896"/>
          </a:xfrm>
          <a:prstGeom xmlns:a="http://schemas.openxmlformats.org/drawingml/2006/main" prst="roundRect">
            <a:avLst>
              <a:gd name="adj" fmla="val 17647"/>
            </a:avLst>
          </a:prstGeom>
          <a:solidFill xmlns:a="http://schemas.openxmlformats.org/drawingml/2006/main">
            <a:srgbClr val="D4F1EE"/>
          </a:solidFill>
        </p:spPr>
        <p:txBody>
          <a:bodyPr xmlns:a="http://schemas.openxmlformats.org/drawingml/2006/main" wrap="square" anchor="ctr"/>
          <a:lstStyle xmlns:a="http://schemas.openxmlformats.org/drawingml/2006/main"/>
          <a:p xmlns:a="http://schemas.openxmlformats.org/drawingml/2006/main">
            <a:pPr marL="0" indent="0" algn="ctr">
              <a:buNone/>
            </a:pPr>
            <a:r>
              <a:rPr sz="950" b="1">
                <a:solidFill>
                  <a:srgbClr val="056A63"/>
                </a:solidFill>
                <a:latin typeface="Calibri"/>
                <a:ea typeface="Calibri"/>
                <a:cs typeface="Calibri"/>
              </a:rPr>
              <a:t>Guided lab (pairs)</a:t>
            </a:r>
            <a:endParaRPr sz="950"/>
          </a:p>
        </p:txBody>
      </p:sp>
      <p:sp>
        <p:nvSpPr>
          <p:cNvPr id="45" name="Shape 42">
            <a:extLst xmlns:a="http://schemas.openxmlformats.org/drawingml/2006/main">
              <a:ext uri="{FF2B5EF4-FFF2-40B4-BE49-F238E27FC236}">
                <a16:creationId xmlns:a16="http://schemas.microsoft.com/office/drawing/2014/main" id="{8395D828-F9CA-49EF-B432-1B07E686A19F}"/>
              </a:ext>
            </a:extLst>
          </p:cNvPr>
          <p:cNvSpPr>
            <a:spLocks xmlns:a="http://schemas.openxmlformats.org/drawingml/2006/main" noGrp="1"/>
          </p:cNvSpPr>
          <p:nvPr/>
        </p:nvSpPr>
        <p:spPr>
          <a:xfrm xmlns:a="http://schemas.openxmlformats.org/drawingml/2006/main">
            <a:off x="9555480" y="5541264"/>
            <a:ext cx="173736" cy="164592"/>
          </a:xfrm>
          <a:prstGeom xmlns:a="http://schemas.openxmlformats.org/drawingml/2006/main" prst="rect">
            <a:avLst/>
          </a:prstGeom>
          <a:solidFill xmlns:a="http://schemas.openxmlformats.org/drawingml/2006/main">
            <a:srgbClr val="1D2A5C"/>
          </a:solidFill>
        </p:spPr>
      </p:sp>
      <p:sp>
        <p:nvSpPr>
          <p:cNvPr id="46" name="Shape 43">
            <a:extLst xmlns:a="http://schemas.openxmlformats.org/drawingml/2006/main">
              <a:ext uri="{FF2B5EF4-FFF2-40B4-BE49-F238E27FC236}">
                <a16:creationId xmlns:a16="http://schemas.microsoft.com/office/drawing/2014/main" id="{F27CAFB4-C8EC-4745-A3C8-4300CD02EF25}"/>
              </a:ext>
            </a:extLst>
          </p:cNvPr>
          <p:cNvSpPr>
            <a:spLocks xmlns:a="http://schemas.openxmlformats.org/drawingml/2006/main" noGrp="1"/>
          </p:cNvSpPr>
          <p:nvPr/>
        </p:nvSpPr>
        <p:spPr>
          <a:xfrm xmlns:a="http://schemas.openxmlformats.org/drawingml/2006/main">
            <a:off x="9729216" y="5541264"/>
            <a:ext cx="1563624" cy="164592"/>
          </a:xfrm>
          <a:prstGeom xmlns:a="http://schemas.openxmlformats.org/drawingml/2006/main" prst="rect">
            <a:avLst/>
          </a:prstGeom>
          <a:solidFill xmlns:a="http://schemas.openxmlformats.org/drawingml/2006/main">
            <a:srgbClr val="00A79D"/>
          </a:solidFill>
        </p:spPr>
      </p:sp>
      <p:sp>
        <p:nvSpPr>
          <p:cNvPr id="47" name="Text 44">
            <a:extLst xmlns:a="http://schemas.openxmlformats.org/drawingml/2006/main">
              <a:ext uri="{FF2B5EF4-FFF2-40B4-BE49-F238E27FC236}">
                <a16:creationId xmlns:a16="http://schemas.microsoft.com/office/drawing/2014/main" id="{A2BC5C7B-A457-46A2-963D-7491BB3B086A}"/>
              </a:ext>
            </a:extLst>
          </p:cNvPr>
          <p:cNvSpPr>
            <a:spLocks xmlns:a="http://schemas.openxmlformats.org/drawingml/2006/main" noGrp="1"/>
          </p:cNvSpPr>
          <p:nvPr/>
        </p:nvSpPr>
        <p:spPr>
          <a:xfrm xmlns:a="http://schemas.openxmlformats.org/drawingml/2006/main">
            <a:off x="9509760" y="5724144"/>
            <a:ext cx="182880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50">
                <a:solidFill>
                  <a:srgbClr val="8A96A6"/>
                </a:solidFill>
                <a:latin typeface="Calibri"/>
                <a:ea typeface="Calibri"/>
                <a:cs typeface="Calibri"/>
              </a:rPr>
              <a:t>10% theory · 90% lab</a:t>
            </a:r>
            <a:endParaRPr sz="750"/>
          </a:p>
        </p:txBody>
      </p:sp>
    </p:spTree>
    <p:extLst>
      <p:ext uri="{BB962C8B-B14F-4D97-AF65-F5344CB8AC3E}">
        <p14:creationId xmlns:p14="http://schemas.microsoft.com/office/powerpoint/2010/main" val="115300638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DE5F17D-659E-48CC-9D2F-EC1A655C4B18}"/>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Lab operating agreement — protect flow and preserve evidence</a:t>
            </a:r>
            <a:endParaRPr sz="2600"/>
          </a:p>
        </p:txBody>
      </p:sp>
      <p:sp>
        <p:nvSpPr>
          <p:cNvPr id="3" name="Text 1">
            <a:extLst xmlns:a="http://schemas.openxmlformats.org/drawingml/2006/main">
              <a:ext uri="{FF2B5EF4-FFF2-40B4-BE49-F238E27FC236}">
                <a16:creationId xmlns:a16="http://schemas.microsoft.com/office/drawing/2014/main" id="{16A3C7C4-974F-4731-AE67-C6A488FEC868}"/>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اتفاقية العمل في المختبر — حافظ على التدفق والأدلة</a:t>
            </a:r>
            <a:endParaRPr sz="1300"/>
          </a:p>
        </p:txBody>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609d6be6ae1642e5"/>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D60A61EA-B363-4398-BC98-A84121CFAE1F}"/>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BB66A3E8-A99A-4AF4-B699-7DE7040FFBAF}"/>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a:t>
            </a:r>
            <a:r>
              <a:rPr sz="850" b="1" spc="100">
                <a:solidFill>
                  <a:srgbClr val="00A79D"/>
                </a:solidFill>
                <a:latin typeface="Calibri"/>
                <a:ea typeface="Calibri"/>
                <a:cs typeface="Calibri"/>
              </a:rPr>
              <a:t>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7667CF09-35EA-459F-AE5E-228548E764FA}"/>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13</a:t>
            </a:r>
            <a:endParaRPr sz="850"/>
          </a:p>
        </p:txBody>
      </p:sp>
      <p:sp>
        <p:nvSpPr>
          <p:cNvPr id="8" name="Text 5">
            <a:extLst xmlns:a="http://schemas.openxmlformats.org/drawingml/2006/main">
              <a:ext uri="{FF2B5EF4-FFF2-40B4-BE49-F238E27FC236}">
                <a16:creationId xmlns:a16="http://schemas.microsoft.com/office/drawing/2014/main" id="{AD1E06BF-FB27-40AC-9620-6A2C25D75C02}"/>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A85E1220-86F3-4C31-AB2B-F1DE3B7144CB}"/>
              </a:ext>
            </a:extLst>
          </p:cNvPr>
          <p:cNvSpPr>
            <a:spLocks xmlns:a="http://schemas.openxmlformats.org/drawingml/2006/main" noGrp="1"/>
          </p:cNvSpPr>
          <p:nvPr/>
        </p:nvSpPr>
        <p:spPr>
          <a:xfrm xmlns:a="http://schemas.openxmlformats.org/drawingml/2006/main">
            <a:off x="1005840" y="14996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Work in rotating pairs</a:t>
            </a:r>
            <a:endParaRPr sz="1350"/>
          </a:p>
        </p:txBody>
      </p:sp>
      <p:sp>
        <p:nvSpPr>
          <p:cNvPr id="10" name="Text 7">
            <a:extLst xmlns:a="http://schemas.openxmlformats.org/drawingml/2006/main">
              <a:ext uri="{FF2B5EF4-FFF2-40B4-BE49-F238E27FC236}">
                <a16:creationId xmlns:a16="http://schemas.microsoft.com/office/drawing/2014/main" id="{A82ACBC5-1BFF-4AA9-B0B0-C3F7204F9481}"/>
              </a:ext>
            </a:extLst>
          </p:cNvPr>
          <p:cNvSpPr>
            <a:spLocks xmlns:a="http://schemas.openxmlformats.org/drawingml/2006/main" noGrp="1"/>
          </p:cNvSpPr>
          <p:nvPr/>
        </p:nvSpPr>
        <p:spPr>
          <a:xfrm xmlns:a="http://schemas.openxmlformats.org/drawingml/2006/main">
            <a:off x="1005840" y="180136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One drives, one reviews the boundary or contract; switch halfway through each lab.</a:t>
            </a:r>
            <a:endParaRPr sz="1050"/>
          </a:p>
        </p:txBody>
      </p:sp>
      <p:sp>
        <p:nvSpPr>
          <p:cNvPr id="11" name="Text 8">
            <a:extLst xmlns:a="http://schemas.openxmlformats.org/drawingml/2006/main">
              <a:ext uri="{FF2B5EF4-FFF2-40B4-BE49-F238E27FC236}">
                <a16:creationId xmlns:a16="http://schemas.microsoft.com/office/drawing/2014/main" id="{6E412656-5263-45AE-82D5-31AA6B396614}"/>
              </a:ext>
            </a:extLst>
          </p:cNvPr>
          <p:cNvSpPr>
            <a:spLocks xmlns:a="http://schemas.openxmlformats.org/drawingml/2006/main" noGrp="1"/>
          </p:cNvSpPr>
          <p:nvPr/>
        </p:nvSpPr>
        <p:spPr>
          <a:xfrm xmlns:a="http://schemas.openxmlformats.org/drawingml/2006/main">
            <a:off x="502920" y="280035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0736F55E-3534-4AC1-B57C-0E7933249618}"/>
              </a:ext>
            </a:extLst>
          </p:cNvPr>
          <p:cNvSpPr>
            <a:spLocks xmlns:a="http://schemas.openxmlformats.org/drawingml/2006/main" noGrp="1"/>
          </p:cNvSpPr>
          <p:nvPr/>
        </p:nvSpPr>
        <p:spPr>
          <a:xfrm xmlns:a="http://schemas.openxmlformats.org/drawingml/2006/main">
            <a:off x="1005840" y="274548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Use checkpoint tags deliberately</a:t>
            </a:r>
            <a:endParaRPr sz="1350"/>
          </a:p>
        </p:txBody>
      </p:sp>
      <p:sp>
        <p:nvSpPr>
          <p:cNvPr id="13" name="Text 10">
            <a:extLst xmlns:a="http://schemas.openxmlformats.org/drawingml/2006/main">
              <a:ext uri="{FF2B5EF4-FFF2-40B4-BE49-F238E27FC236}">
                <a16:creationId xmlns:a16="http://schemas.microsoft.com/office/drawing/2014/main" id="{F1DBD095-EE3F-4C72-9CC1-5BAF1DF19F2D}"/>
              </a:ext>
            </a:extLst>
          </p:cNvPr>
          <p:cNvSpPr>
            <a:spLocks xmlns:a="http://schemas.openxmlformats.org/drawingml/2006/main" noGrp="1"/>
          </p:cNvSpPr>
          <p:nvPr/>
        </p:nvSpPr>
        <p:spPr>
          <a:xfrm xmlns:a="http://schemas.openxmlformats.org/drawingml/2006/main">
            <a:off x="1005840" y="304723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Fast-forward when blocked for 10 minutes; record the diagnosis before switching.</a:t>
            </a:r>
            <a:endParaRPr sz="1050"/>
          </a:p>
        </p:txBody>
      </p:sp>
      <p:sp>
        <p:nvSpPr>
          <p:cNvPr id="14" name="Text 11">
            <a:extLst xmlns:a="http://schemas.openxmlformats.org/drawingml/2006/main">
              <a:ext uri="{FF2B5EF4-FFF2-40B4-BE49-F238E27FC236}">
                <a16:creationId xmlns:a16="http://schemas.microsoft.com/office/drawing/2014/main" id="{5E6EAE5C-12C5-47A9-9452-01DF822D6446}"/>
              </a:ext>
            </a:extLst>
          </p:cNvPr>
          <p:cNvSpPr>
            <a:spLocks xmlns:a="http://schemas.openxmlformats.org/drawingml/2006/main" noGrp="1"/>
          </p:cNvSpPr>
          <p:nvPr/>
        </p:nvSpPr>
        <p:spPr>
          <a:xfrm xmlns:a="http://schemas.openxmlformats.org/drawingml/2006/main">
            <a:off x="502920" y="404622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1328E8FC-72BC-4EB6-B1D4-913BBA056ED3}"/>
              </a:ext>
            </a:extLst>
          </p:cNvPr>
          <p:cNvSpPr>
            <a:spLocks xmlns:a="http://schemas.openxmlformats.org/drawingml/2006/main" noGrp="1"/>
          </p:cNvSpPr>
          <p:nvPr/>
        </p:nvSpPr>
        <p:spPr>
          <a:xfrm xmlns:a="http://schemas.openxmlformats.org/drawingml/2006/main">
            <a:off x="1005840" y="399135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Commit the evidence</a:t>
            </a:r>
            <a:endParaRPr sz="1350"/>
          </a:p>
        </p:txBody>
      </p:sp>
      <p:sp>
        <p:nvSpPr>
          <p:cNvPr id="16" name="Text 13">
            <a:extLst xmlns:a="http://schemas.openxmlformats.org/drawingml/2006/main">
              <a:ext uri="{FF2B5EF4-FFF2-40B4-BE49-F238E27FC236}">
                <a16:creationId xmlns:a16="http://schemas.microsoft.com/office/drawing/2014/main" id="{3F5D62A0-6DDC-4E90-A328-72310E4B2B4B}"/>
              </a:ext>
            </a:extLst>
          </p:cNvPr>
          <p:cNvSpPr>
            <a:spLocks xmlns:a="http://schemas.openxmlformats.org/drawingml/2006/main" noGrp="1"/>
          </p:cNvSpPr>
          <p:nvPr/>
        </p:nvSpPr>
        <p:spPr>
          <a:xfrm xmlns:a="http://schemas.openxmlformats.org/drawingml/2006/main">
            <a:off x="1005840" y="429310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Expected outputs, benchmark numbers, and fixes belong in the repository history.</a:t>
            </a:r>
            <a:endParaRPr sz="1050"/>
          </a:p>
        </p:txBody>
      </p:sp>
      <p:sp>
        <p:nvSpPr>
          <p:cNvPr id="17" name="Text 14">
            <a:extLst xmlns:a="http://schemas.openxmlformats.org/drawingml/2006/main">
              <a:ext uri="{FF2B5EF4-FFF2-40B4-BE49-F238E27FC236}">
                <a16:creationId xmlns:a16="http://schemas.microsoft.com/office/drawing/2014/main" id="{FB07FD8A-01E0-41A0-9EC7-11398930CF87}"/>
              </a:ext>
            </a:extLst>
          </p:cNvPr>
          <p:cNvSpPr>
            <a:spLocks xmlns:a="http://schemas.openxmlformats.org/drawingml/2006/main" noGrp="1"/>
          </p:cNvSpPr>
          <p:nvPr/>
        </p:nvSpPr>
        <p:spPr>
          <a:xfrm xmlns:a="http://schemas.openxmlformats.org/drawingml/2006/main">
            <a:off x="502920" y="5292090"/>
            <a:ext cx="329184" cy="329184"/>
          </a:xfrm>
          <a:prstGeom xmlns:a="http://schemas.openxmlformats.org/drawingml/2006/main" prst="ellipse">
            <a:avLst/>
          </a:prstGeom>
          <a:solidFill xmlns:a="http://schemas.openxmlformats.org/drawingml/2006/main">
            <a:srgbClr val="8DC63F"/>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4</a:t>
            </a:r>
            <a:endParaRPr sz="1300"/>
          </a:p>
        </p:txBody>
      </p:sp>
      <p:sp>
        <p:nvSpPr>
          <p:cNvPr id="18" name="Text 15">
            <a:extLst xmlns:a="http://schemas.openxmlformats.org/drawingml/2006/main">
              <a:ext uri="{FF2B5EF4-FFF2-40B4-BE49-F238E27FC236}">
                <a16:creationId xmlns:a16="http://schemas.microsoft.com/office/drawing/2014/main" id="{AEAF08CC-5E57-4839-B0C5-2220C8377B19}"/>
              </a:ext>
            </a:extLst>
          </p:cNvPr>
          <p:cNvSpPr>
            <a:spLocks xmlns:a="http://schemas.openxmlformats.org/drawingml/2006/main" noGrp="1"/>
          </p:cNvSpPr>
          <p:nvPr/>
        </p:nvSpPr>
        <p:spPr>
          <a:xfrm xmlns:a="http://schemas.openxmlformats.org/drawingml/2006/main">
            <a:off x="1005840" y="523722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Escalate with a minimal report</a:t>
            </a:r>
            <a:endParaRPr sz="1350"/>
          </a:p>
        </p:txBody>
      </p:sp>
      <p:sp>
        <p:nvSpPr>
          <p:cNvPr id="19" name="Text 16">
            <a:extLst xmlns:a="http://schemas.openxmlformats.org/drawingml/2006/main">
              <a:ext uri="{FF2B5EF4-FFF2-40B4-BE49-F238E27FC236}">
                <a16:creationId xmlns:a16="http://schemas.microsoft.com/office/drawing/2014/main" id="{7F216B22-A29B-4D51-8C78-03BE97EBA8C0}"/>
              </a:ext>
            </a:extLst>
          </p:cNvPr>
          <p:cNvSpPr>
            <a:spLocks xmlns:a="http://schemas.openxmlformats.org/drawingml/2006/main" noGrp="1"/>
          </p:cNvSpPr>
          <p:nvPr/>
        </p:nvSpPr>
        <p:spPr>
          <a:xfrm xmlns:a="http://schemas.openxmlformats.org/drawingml/2006/main">
            <a:off x="1005840" y="553897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Share the command, observed output, expected output, and the last change made.</a:t>
            </a:r>
            <a:endParaRPr sz="1050"/>
          </a:p>
        </p:txBody>
      </p:sp>
    </p:spTree>
    <p:extLst>
      <p:ext uri="{BB962C8B-B14F-4D97-AF65-F5344CB8AC3E}">
        <p14:creationId xmlns:p14="http://schemas.microsoft.com/office/powerpoint/2010/main" val="975794841"/>
      </p:ext>
    </p:extLst>
  </p:cSld>
</p:sld>
</file>

<file path=ppt/slides/slide14.xml><?xml version="1.0" encoding="utf-8"?>
<p:sld xmlns:p="http://schemas.openxmlformats.org/presentationml/2006/main">
  <p:cSld>
    <p:bg>
      <p:bgPr>
        <a:solidFill xmlns:a="http://schemas.openxmlformats.org/drawingml/2006/main">
          <a:srgbClr val="1D2A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6C7F187-5D3A-4905-A9B1-932AFCDF4AF3}"/>
              </a:ext>
            </a:extLst>
          </p:cNvPr>
          <p:cNvSpPr>
            <a:spLocks xmlns:a="http://schemas.openxmlformats.org/drawingml/2006/main" noGrp="1"/>
          </p:cNvSpPr>
          <p:nvPr/>
        </p:nvSpPr>
        <p:spPr>
          <a:xfrm xmlns:a="http://schemas.openxmlformats.org/drawingml/2006/main" rot="5400000" flipH="1">
            <a:off x="9235440" y="1298448"/>
            <a:ext cx="402336" cy="352044"/>
          </a:xfrm>
          <a:prstGeom xmlns:a="http://schemas.openxmlformats.org/drawingml/2006/main" prst="triangle">
            <a:avLst/>
          </a:prstGeom>
          <a:solidFill xmlns:a="http://schemas.openxmlformats.org/drawingml/2006/main">
            <a:srgbClr val="00A79D"/>
          </a:solidFill>
        </p:spPr>
      </p:sp>
      <p:sp>
        <p:nvSpPr>
          <p:cNvPr id="3" name="Shape 1">
            <a:extLst xmlns:a="http://schemas.openxmlformats.org/drawingml/2006/main">
              <a:ext uri="{FF2B5EF4-FFF2-40B4-BE49-F238E27FC236}">
                <a16:creationId xmlns:a16="http://schemas.microsoft.com/office/drawing/2014/main" id="{C35B189D-84DE-4F15-AF57-C44C79E3D74E}"/>
              </a:ext>
            </a:extLst>
          </p:cNvPr>
          <p:cNvSpPr>
            <a:spLocks xmlns:a="http://schemas.openxmlformats.org/drawingml/2006/main" noGrp="1"/>
          </p:cNvSpPr>
          <p:nvPr/>
        </p:nvSpPr>
        <p:spPr>
          <a:xfrm xmlns:a="http://schemas.openxmlformats.org/drawingml/2006/main" rot="5400000">
            <a:off x="9661916" y="946404"/>
            <a:ext cx="402336" cy="352044"/>
          </a:xfrm>
          <a:prstGeom xmlns:a="http://schemas.openxmlformats.org/drawingml/2006/main" prst="triangle">
            <a:avLst/>
          </a:prstGeom>
          <a:solidFill xmlns:a="http://schemas.openxmlformats.org/drawingml/2006/main">
            <a:srgbClr val="29ABE2"/>
          </a:solidFill>
        </p:spPr>
      </p:sp>
      <p:sp>
        <p:nvSpPr>
          <p:cNvPr id="4" name="Shape 2">
            <a:extLst xmlns:a="http://schemas.openxmlformats.org/drawingml/2006/main">
              <a:ext uri="{FF2B5EF4-FFF2-40B4-BE49-F238E27FC236}">
                <a16:creationId xmlns:a16="http://schemas.microsoft.com/office/drawing/2014/main" id="{8D8BD577-4EB4-4E7B-8D1C-B61E91A10EAE}"/>
              </a:ext>
            </a:extLst>
          </p:cNvPr>
          <p:cNvSpPr>
            <a:spLocks xmlns:a="http://schemas.openxmlformats.org/drawingml/2006/main" noGrp="1"/>
          </p:cNvSpPr>
          <p:nvPr/>
        </p:nvSpPr>
        <p:spPr>
          <a:xfrm xmlns:a="http://schemas.openxmlformats.org/drawingml/2006/main" rot="5400000">
            <a:off x="9661916" y="1650492"/>
            <a:ext cx="402336" cy="352044"/>
          </a:xfrm>
          <a:prstGeom xmlns:a="http://schemas.openxmlformats.org/drawingml/2006/main" prst="triangle">
            <a:avLst/>
          </a:prstGeom>
          <a:solidFill xmlns:a="http://schemas.openxmlformats.org/drawingml/2006/main">
            <a:srgbClr val="F58220"/>
          </a:solidFill>
        </p:spPr>
      </p:sp>
      <p:sp>
        <p:nvSpPr>
          <p:cNvPr id="5" name="Shape 3">
            <a:extLst xmlns:a="http://schemas.openxmlformats.org/drawingml/2006/main">
              <a:ext uri="{FF2B5EF4-FFF2-40B4-BE49-F238E27FC236}">
                <a16:creationId xmlns:a16="http://schemas.microsoft.com/office/drawing/2014/main" id="{C28A6FA5-EE51-46EC-95DB-A5FC99DB2612}"/>
              </a:ext>
            </a:extLst>
          </p:cNvPr>
          <p:cNvSpPr>
            <a:spLocks xmlns:a="http://schemas.openxmlformats.org/drawingml/2006/main" noGrp="1"/>
          </p:cNvSpPr>
          <p:nvPr/>
        </p:nvSpPr>
        <p:spPr>
          <a:xfrm xmlns:a="http://schemas.openxmlformats.org/drawingml/2006/main" rot="5400000" flipH="1">
            <a:off x="10088392" y="594360"/>
            <a:ext cx="402336" cy="352044"/>
          </a:xfrm>
          <a:prstGeom xmlns:a="http://schemas.openxmlformats.org/drawingml/2006/main" prst="triangle">
            <a:avLst/>
          </a:prstGeom>
          <a:solidFill xmlns:a="http://schemas.openxmlformats.org/drawingml/2006/main">
            <a:srgbClr val="8DC63F"/>
          </a:solidFill>
        </p:spPr>
      </p:sp>
      <p:sp>
        <p:nvSpPr>
          <p:cNvPr id="6" name="Shape 4">
            <a:extLst xmlns:a="http://schemas.openxmlformats.org/drawingml/2006/main">
              <a:ext uri="{FF2B5EF4-FFF2-40B4-BE49-F238E27FC236}">
                <a16:creationId xmlns:a16="http://schemas.microsoft.com/office/drawing/2014/main" id="{7256AC95-8F8B-459A-A532-94D243CE791F}"/>
              </a:ext>
            </a:extLst>
          </p:cNvPr>
          <p:cNvSpPr>
            <a:spLocks xmlns:a="http://schemas.openxmlformats.org/drawingml/2006/main" noGrp="1"/>
          </p:cNvSpPr>
          <p:nvPr/>
        </p:nvSpPr>
        <p:spPr>
          <a:xfrm xmlns:a="http://schemas.openxmlformats.org/drawingml/2006/main" rot="5400000">
            <a:off x="10088392" y="1298448"/>
            <a:ext cx="402336" cy="352044"/>
          </a:xfrm>
          <a:prstGeom xmlns:a="http://schemas.openxmlformats.org/drawingml/2006/main" prst="triangle">
            <a:avLst/>
          </a:prstGeom>
          <a:solidFill xmlns:a="http://schemas.openxmlformats.org/drawingml/2006/main">
            <a:srgbClr val="00A79D"/>
          </a:solidFill>
        </p:spPr>
      </p:sp>
      <p:sp>
        <p:nvSpPr>
          <p:cNvPr id="7" name="Shape 5">
            <a:extLst xmlns:a="http://schemas.openxmlformats.org/drawingml/2006/main">
              <a:ext uri="{FF2B5EF4-FFF2-40B4-BE49-F238E27FC236}">
                <a16:creationId xmlns:a16="http://schemas.microsoft.com/office/drawing/2014/main" id="{C391843E-82B0-4E53-8085-F6CA06643DD7}"/>
              </a:ext>
            </a:extLst>
          </p:cNvPr>
          <p:cNvSpPr>
            <a:spLocks xmlns:a="http://schemas.openxmlformats.org/drawingml/2006/main" noGrp="1"/>
          </p:cNvSpPr>
          <p:nvPr/>
        </p:nvSpPr>
        <p:spPr>
          <a:xfrm xmlns:a="http://schemas.openxmlformats.org/drawingml/2006/main" rot="5400000">
            <a:off x="10514868" y="946404"/>
            <a:ext cx="402336" cy="352044"/>
          </a:xfrm>
          <a:prstGeom xmlns:a="http://schemas.openxmlformats.org/drawingml/2006/main" prst="triangle">
            <a:avLst/>
          </a:prstGeom>
          <a:solidFill xmlns:a="http://schemas.openxmlformats.org/drawingml/2006/main">
            <a:srgbClr val="29ABE2"/>
          </a:solidFill>
        </p:spPr>
      </p:sp>
      <p:sp>
        <p:nvSpPr>
          <p:cNvPr id="8" name="Shape 6">
            <a:extLst xmlns:a="http://schemas.openxmlformats.org/drawingml/2006/main">
              <a:ext uri="{FF2B5EF4-FFF2-40B4-BE49-F238E27FC236}">
                <a16:creationId xmlns:a16="http://schemas.microsoft.com/office/drawing/2014/main" id="{09EB1E48-44B7-4576-AC77-8DB1E95C4AD8}"/>
              </a:ext>
            </a:extLst>
          </p:cNvPr>
          <p:cNvSpPr>
            <a:spLocks xmlns:a="http://schemas.openxmlformats.org/drawingml/2006/main" noGrp="1"/>
          </p:cNvSpPr>
          <p:nvPr/>
        </p:nvSpPr>
        <p:spPr>
          <a:xfrm xmlns:a="http://schemas.openxmlformats.org/drawingml/2006/main" rot="5400000" flipH="1">
            <a:off x="10514868" y="1650492"/>
            <a:ext cx="402336" cy="352044"/>
          </a:xfrm>
          <a:prstGeom xmlns:a="http://schemas.openxmlformats.org/drawingml/2006/main" prst="triangle">
            <a:avLst/>
          </a:prstGeom>
          <a:solidFill xmlns:a="http://schemas.openxmlformats.org/drawingml/2006/main">
            <a:srgbClr val="F58220"/>
          </a:solidFill>
        </p:spPr>
      </p:sp>
      <p:sp>
        <p:nvSpPr>
          <p:cNvPr id="9" name="Shape 7">
            <a:extLst xmlns:a="http://schemas.openxmlformats.org/drawingml/2006/main">
              <a:ext uri="{FF2B5EF4-FFF2-40B4-BE49-F238E27FC236}">
                <a16:creationId xmlns:a16="http://schemas.microsoft.com/office/drawing/2014/main" id="{87F3105A-0F50-4C4C-A851-AFDA8EE9F245}"/>
              </a:ext>
            </a:extLst>
          </p:cNvPr>
          <p:cNvSpPr>
            <a:spLocks xmlns:a="http://schemas.openxmlformats.org/drawingml/2006/main" noGrp="1"/>
          </p:cNvSpPr>
          <p:nvPr/>
        </p:nvSpPr>
        <p:spPr>
          <a:xfrm xmlns:a="http://schemas.openxmlformats.org/drawingml/2006/main" rot="5400000">
            <a:off x="10941345" y="1298448"/>
            <a:ext cx="402336" cy="352044"/>
          </a:xfrm>
          <a:prstGeom xmlns:a="http://schemas.openxmlformats.org/drawingml/2006/main" prst="triangle">
            <a:avLst/>
          </a:prstGeom>
          <a:solidFill xmlns:a="http://schemas.openxmlformats.org/drawingml/2006/main">
            <a:srgbClr val="8DC63F"/>
          </a:solidFill>
        </p:spPr>
      </p:sp>
      <p:sp>
        <p:nvSpPr>
          <p:cNvPr id="10" name="Text 8">
            <a:extLst xmlns:a="http://schemas.openxmlformats.org/drawingml/2006/main">
              <a:ext uri="{FF2B5EF4-FFF2-40B4-BE49-F238E27FC236}">
                <a16:creationId xmlns:a16="http://schemas.microsoft.com/office/drawing/2014/main" id="{663F3F54-EA2E-496A-8A7F-56B5968E0B11}"/>
              </a:ext>
            </a:extLst>
          </p:cNvPr>
          <p:cNvSpPr>
            <a:spLocks xmlns:a="http://schemas.openxmlformats.org/drawingml/2006/main" noGrp="1"/>
          </p:cNvSpPr>
          <p:nvPr/>
        </p:nvSpPr>
        <p:spPr>
          <a:xfrm xmlns:a="http://schemas.openxmlformats.org/drawingml/2006/main">
            <a:off x="777240" y="1417320"/>
            <a:ext cx="731520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spc="400">
                <a:solidFill>
                  <a:srgbClr val="00A79D"/>
                </a:solidFill>
                <a:latin typeface="Calibri"/>
                <a:ea typeface="Calibri"/>
                <a:cs typeface="Calibri"/>
              </a:rPr>
              <a:t>DAY 1 · MODULE 1</a:t>
            </a:r>
            <a:endParaRPr sz="1500"/>
          </a:p>
        </p:txBody>
      </p:sp>
      <p:sp>
        <p:nvSpPr>
          <p:cNvPr id="11" name="Text 9">
            <a:extLst xmlns:a="http://schemas.openxmlformats.org/drawingml/2006/main">
              <a:ext uri="{FF2B5EF4-FFF2-40B4-BE49-F238E27FC236}">
                <a16:creationId xmlns:a16="http://schemas.microsoft.com/office/drawing/2014/main" id="{BFC4C57D-286F-4E20-9C88-F3F97383F89F}"/>
              </a:ext>
            </a:extLst>
          </p:cNvPr>
          <p:cNvSpPr>
            <a:spLocks xmlns:a="http://schemas.openxmlformats.org/drawingml/2006/main" noGrp="1"/>
          </p:cNvSpPr>
          <p:nvPr/>
        </p:nvSpPr>
        <p:spPr>
          <a:xfrm xmlns:a="http://schemas.openxmlformats.org/drawingml/2006/main">
            <a:off x="749808" y="1874520"/>
            <a:ext cx="106070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600" b="1">
                <a:solidFill>
                  <a:srgbClr val="FFFFFF"/>
                </a:solidFill>
                <a:latin typeface="Calibri"/>
                <a:ea typeface="Calibri"/>
                <a:cs typeface="Calibri"/>
              </a:rPr>
              <a:t>Structuring AI Projects &amp; Clean Architecture</a:t>
            </a:r>
            <a:endParaRPr sz="3600"/>
          </a:p>
        </p:txBody>
      </p:sp>
      <p:sp>
        <p:nvSpPr>
          <p:cNvPr id="12" name="Text 10">
            <a:extLst xmlns:a="http://schemas.openxmlformats.org/drawingml/2006/main">
              <a:ext uri="{FF2B5EF4-FFF2-40B4-BE49-F238E27FC236}">
                <a16:creationId xmlns:a16="http://schemas.microsoft.com/office/drawing/2014/main" id="{9B4B445B-DB3F-427F-8358-F54A328BEB99}"/>
              </a:ext>
            </a:extLst>
          </p:cNvPr>
          <p:cNvSpPr>
            <a:spLocks xmlns:a="http://schemas.openxmlformats.org/drawingml/2006/main" noGrp="1"/>
          </p:cNvSpPr>
          <p:nvPr/>
        </p:nvSpPr>
        <p:spPr>
          <a:xfrm xmlns:a="http://schemas.openxmlformats.org/drawingml/2006/main">
            <a:off x="777240" y="2761488"/>
            <a:ext cx="100584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a:solidFill>
                  <a:srgbClr val="B9C8E8"/>
                </a:solidFill>
                <a:latin typeface="Calibri"/>
                <a:ea typeface="Calibri"/>
                <a:cs typeface="Calibri"/>
              </a:rPr>
              <a:t>هيكلة مشاريع الذكاء الاصطناعي والعمارة النظيفة</a:t>
            </a:r>
            <a:endParaRPr sz="1700"/>
          </a:p>
        </p:txBody>
      </p:sp>
      <p:sp>
        <p:nvSpPr>
          <p:cNvPr id="13" name="Shape 11">
            <a:extLst xmlns:a="http://schemas.openxmlformats.org/drawingml/2006/main">
              <a:ext uri="{FF2B5EF4-FFF2-40B4-BE49-F238E27FC236}">
                <a16:creationId xmlns:a16="http://schemas.microsoft.com/office/drawing/2014/main" id="{8892A816-3440-42F3-9E34-730097ECFAB8}"/>
              </a:ext>
            </a:extLst>
          </p:cNvPr>
          <p:cNvSpPr>
            <a:spLocks xmlns:a="http://schemas.openxmlformats.org/drawingml/2006/main" noGrp="1"/>
          </p:cNvSpPr>
          <p:nvPr/>
        </p:nvSpPr>
        <p:spPr>
          <a:xfrm xmlns:a="http://schemas.openxmlformats.org/drawingml/2006/main">
            <a:off x="777240"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14" name="Text 12">
            <a:extLst xmlns:a="http://schemas.openxmlformats.org/drawingml/2006/main">
              <a:ext uri="{FF2B5EF4-FFF2-40B4-BE49-F238E27FC236}">
                <a16:creationId xmlns:a16="http://schemas.microsoft.com/office/drawing/2014/main" id="{4DD95FC1-1165-43AC-BC11-E78F8E4BFBDB}"/>
              </a:ext>
            </a:extLst>
          </p:cNvPr>
          <p:cNvSpPr>
            <a:spLocks xmlns:a="http://schemas.openxmlformats.org/drawingml/2006/main" noGrp="1"/>
          </p:cNvSpPr>
          <p:nvPr/>
        </p:nvSpPr>
        <p:spPr>
          <a:xfrm xmlns:a="http://schemas.openxmlformats.org/drawingml/2006/main">
            <a:off x="923544"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A79D"/>
                </a:solidFill>
                <a:latin typeface="Calibri"/>
                <a:ea typeface="Calibri"/>
                <a:cs typeface="Calibri"/>
              </a:rPr>
              <a:t>01</a:t>
            </a:r>
            <a:endParaRPr sz="1400"/>
          </a:p>
        </p:txBody>
      </p:sp>
      <p:sp>
        <p:nvSpPr>
          <p:cNvPr id="15" name="Text 13">
            <a:extLst xmlns:a="http://schemas.openxmlformats.org/drawingml/2006/main">
              <a:ext uri="{FF2B5EF4-FFF2-40B4-BE49-F238E27FC236}">
                <a16:creationId xmlns:a16="http://schemas.microsoft.com/office/drawing/2014/main" id="{A25665E9-F304-441F-B3DB-E5E82FAF5DC0}"/>
              </a:ext>
            </a:extLst>
          </p:cNvPr>
          <p:cNvSpPr>
            <a:spLocks xmlns:a="http://schemas.openxmlformats.org/drawingml/2006/main" noGrp="1"/>
          </p:cNvSpPr>
          <p:nvPr/>
        </p:nvSpPr>
        <p:spPr>
          <a:xfrm xmlns:a="http://schemas.openxmlformats.org/drawingml/2006/main">
            <a:off x="923544"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The notebook-production gap</a:t>
            </a:r>
            <a:endParaRPr sz="1200"/>
          </a:p>
        </p:txBody>
      </p:sp>
      <p:sp>
        <p:nvSpPr>
          <p:cNvPr id="16" name="Text 14">
            <a:extLst xmlns:a="http://schemas.openxmlformats.org/drawingml/2006/main">
              <a:ext uri="{FF2B5EF4-FFF2-40B4-BE49-F238E27FC236}">
                <a16:creationId xmlns:a16="http://schemas.microsoft.com/office/drawing/2014/main" id="{0662E650-8E90-403A-A09D-FFDD373DFC97}"/>
              </a:ext>
            </a:extLst>
          </p:cNvPr>
          <p:cNvSpPr>
            <a:spLocks xmlns:a="http://schemas.openxmlformats.org/drawingml/2006/main" noGrp="1"/>
          </p:cNvSpPr>
          <p:nvPr/>
        </p:nvSpPr>
        <p:spPr>
          <a:xfrm xmlns:a="http://schemas.openxmlformats.org/drawingml/2006/main">
            <a:off x="923544"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Hidden state, environment coupling, import-time side effects, no seams</a:t>
            </a:r>
            <a:endParaRPr sz="950"/>
          </a:p>
        </p:txBody>
      </p:sp>
      <p:sp>
        <p:nvSpPr>
          <p:cNvPr id="17" name="Shape 15">
            <a:extLst xmlns:a="http://schemas.openxmlformats.org/drawingml/2006/main">
              <a:ext uri="{FF2B5EF4-FFF2-40B4-BE49-F238E27FC236}">
                <a16:creationId xmlns:a16="http://schemas.microsoft.com/office/drawing/2014/main" id="{AFF0BA70-6E49-42B9-9812-C8C37F1153C1}"/>
              </a:ext>
            </a:extLst>
          </p:cNvPr>
          <p:cNvSpPr>
            <a:spLocks xmlns:a="http://schemas.openxmlformats.org/drawingml/2006/main" noGrp="1"/>
          </p:cNvSpPr>
          <p:nvPr/>
        </p:nvSpPr>
        <p:spPr>
          <a:xfrm xmlns:a="http://schemas.openxmlformats.org/drawingml/2006/main">
            <a:off x="3493008"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18" name="Text 16">
            <a:extLst xmlns:a="http://schemas.openxmlformats.org/drawingml/2006/main">
              <a:ext uri="{FF2B5EF4-FFF2-40B4-BE49-F238E27FC236}">
                <a16:creationId xmlns:a16="http://schemas.microsoft.com/office/drawing/2014/main" id="{D91A2F50-BD0D-4405-BDAE-B3851A03AB26}"/>
              </a:ext>
            </a:extLst>
          </p:cNvPr>
          <p:cNvSpPr>
            <a:spLocks xmlns:a="http://schemas.openxmlformats.org/drawingml/2006/main" noGrp="1"/>
          </p:cNvSpPr>
          <p:nvPr/>
        </p:nvSpPr>
        <p:spPr>
          <a:xfrm xmlns:a="http://schemas.openxmlformats.org/drawingml/2006/main">
            <a:off x="3639312"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29ABE2"/>
                </a:solidFill>
                <a:latin typeface="Calibri"/>
                <a:ea typeface="Calibri"/>
                <a:cs typeface="Calibri"/>
              </a:rPr>
              <a:t>02</a:t>
            </a:r>
            <a:endParaRPr sz="1400"/>
          </a:p>
        </p:txBody>
      </p:sp>
      <p:sp>
        <p:nvSpPr>
          <p:cNvPr id="19" name="Text 17">
            <a:extLst xmlns:a="http://schemas.openxmlformats.org/drawingml/2006/main">
              <a:ext uri="{FF2B5EF4-FFF2-40B4-BE49-F238E27FC236}">
                <a16:creationId xmlns:a16="http://schemas.microsoft.com/office/drawing/2014/main" id="{9EBA937A-8C24-499A-AEF7-7278A2DDFABB}"/>
              </a:ext>
            </a:extLst>
          </p:cNvPr>
          <p:cNvSpPr>
            <a:spLocks xmlns:a="http://schemas.openxmlformats.org/drawingml/2006/main" noGrp="1"/>
          </p:cNvSpPr>
          <p:nvPr/>
        </p:nvSpPr>
        <p:spPr>
          <a:xfrm xmlns:a="http://schemas.openxmlformats.org/drawingml/2006/main">
            <a:off x="3639312"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Layers + the dependency rule</a:t>
            </a:r>
            <a:endParaRPr sz="1200"/>
          </a:p>
        </p:txBody>
      </p:sp>
      <p:sp>
        <p:nvSpPr>
          <p:cNvPr id="20" name="Text 18">
            <a:extLst xmlns:a="http://schemas.openxmlformats.org/drawingml/2006/main">
              <a:ext uri="{FF2B5EF4-FFF2-40B4-BE49-F238E27FC236}">
                <a16:creationId xmlns:a16="http://schemas.microsoft.com/office/drawing/2014/main" id="{941E8B36-81B5-406E-A508-20793FEF0AB8}"/>
              </a:ext>
            </a:extLst>
          </p:cNvPr>
          <p:cNvSpPr>
            <a:spLocks xmlns:a="http://schemas.openxmlformats.org/drawingml/2006/main" noGrp="1"/>
          </p:cNvSpPr>
          <p:nvPr/>
        </p:nvSpPr>
        <p:spPr>
          <a:xfrm xmlns:a="http://schemas.openxmlformats.org/drawingml/2006/main">
            <a:off x="3639312"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Domain, service, adapters, entrypoints — imports point inward only</a:t>
            </a:r>
            <a:endParaRPr sz="950"/>
          </a:p>
        </p:txBody>
      </p:sp>
      <p:sp>
        <p:nvSpPr>
          <p:cNvPr id="21" name="Shape 19">
            <a:extLst xmlns:a="http://schemas.openxmlformats.org/drawingml/2006/main">
              <a:ext uri="{FF2B5EF4-FFF2-40B4-BE49-F238E27FC236}">
                <a16:creationId xmlns:a16="http://schemas.microsoft.com/office/drawing/2014/main" id="{C44BA131-0533-46DD-8707-53839F245D59}"/>
              </a:ext>
            </a:extLst>
          </p:cNvPr>
          <p:cNvSpPr>
            <a:spLocks xmlns:a="http://schemas.openxmlformats.org/drawingml/2006/main" noGrp="1"/>
          </p:cNvSpPr>
          <p:nvPr/>
        </p:nvSpPr>
        <p:spPr>
          <a:xfrm xmlns:a="http://schemas.openxmlformats.org/drawingml/2006/main">
            <a:off x="6208776"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22" name="Text 20">
            <a:extLst xmlns:a="http://schemas.openxmlformats.org/drawingml/2006/main">
              <a:ext uri="{FF2B5EF4-FFF2-40B4-BE49-F238E27FC236}">
                <a16:creationId xmlns:a16="http://schemas.microsoft.com/office/drawing/2014/main" id="{20C0A133-82BE-42C8-A2D5-965183F12085}"/>
              </a:ext>
            </a:extLst>
          </p:cNvPr>
          <p:cNvSpPr>
            <a:spLocks xmlns:a="http://schemas.openxmlformats.org/drawingml/2006/main" noGrp="1"/>
          </p:cNvSpPr>
          <p:nvPr/>
        </p:nvSpPr>
        <p:spPr>
          <a:xfrm xmlns:a="http://schemas.openxmlformats.org/drawingml/2006/main">
            <a:off x="6355080"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F58220"/>
                </a:solidFill>
                <a:latin typeface="Calibri"/>
                <a:ea typeface="Calibri"/>
                <a:cs typeface="Calibri"/>
              </a:rPr>
              <a:t>03</a:t>
            </a:r>
            <a:endParaRPr sz="1400"/>
          </a:p>
        </p:txBody>
      </p:sp>
      <p:sp>
        <p:nvSpPr>
          <p:cNvPr id="23" name="Text 21">
            <a:extLst xmlns:a="http://schemas.openxmlformats.org/drawingml/2006/main">
              <a:ext uri="{FF2B5EF4-FFF2-40B4-BE49-F238E27FC236}">
                <a16:creationId xmlns:a16="http://schemas.microsoft.com/office/drawing/2014/main" id="{DE6090E5-BB41-40A7-8106-1875E9AB4113}"/>
              </a:ext>
            </a:extLst>
          </p:cNvPr>
          <p:cNvSpPr>
            <a:spLocks xmlns:a="http://schemas.openxmlformats.org/drawingml/2006/main" noGrp="1"/>
          </p:cNvSpPr>
          <p:nvPr/>
        </p:nvSpPr>
        <p:spPr>
          <a:xfrm xmlns:a="http://schemas.openxmlformats.org/drawingml/2006/main">
            <a:off x="6355080"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The model is an adapter</a:t>
            </a:r>
            <a:endParaRPr sz="1200"/>
          </a:p>
        </p:txBody>
      </p:sp>
      <p:sp>
        <p:nvSpPr>
          <p:cNvPr id="24" name="Text 22">
            <a:extLst xmlns:a="http://schemas.openxmlformats.org/drawingml/2006/main">
              <a:ext uri="{FF2B5EF4-FFF2-40B4-BE49-F238E27FC236}">
                <a16:creationId xmlns:a16="http://schemas.microsoft.com/office/drawing/2014/main" id="{8758D46C-C63E-4B2D-8AE1-8061C7AE5A3F}"/>
              </a:ext>
            </a:extLst>
          </p:cNvPr>
          <p:cNvSpPr>
            <a:spLocks xmlns:a="http://schemas.openxmlformats.org/drawingml/2006/main" noGrp="1"/>
          </p:cNvSpPr>
          <p:nvPr/>
        </p:nvSpPr>
        <p:spPr>
          <a:xfrm xmlns:a="http://schemas.openxmlformats.org/drawingml/2006/main">
            <a:off x="6355080"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Protocols + constructor injection keep the ML framework at the edge</a:t>
            </a:r>
            <a:endParaRPr sz="950"/>
          </a:p>
        </p:txBody>
      </p:sp>
      <p:sp>
        <p:nvSpPr>
          <p:cNvPr id="25" name="Shape 23">
            <a:extLst xmlns:a="http://schemas.openxmlformats.org/drawingml/2006/main">
              <a:ext uri="{FF2B5EF4-FFF2-40B4-BE49-F238E27FC236}">
                <a16:creationId xmlns:a16="http://schemas.microsoft.com/office/drawing/2014/main" id="{CB339B36-D26A-4A95-B32B-457E13629D7F}"/>
              </a:ext>
            </a:extLst>
          </p:cNvPr>
          <p:cNvSpPr>
            <a:spLocks xmlns:a="http://schemas.openxmlformats.org/drawingml/2006/main" noGrp="1"/>
          </p:cNvSpPr>
          <p:nvPr/>
        </p:nvSpPr>
        <p:spPr>
          <a:xfrm xmlns:a="http://schemas.openxmlformats.org/drawingml/2006/main">
            <a:off x="8924544"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26" name="Text 24">
            <a:extLst xmlns:a="http://schemas.openxmlformats.org/drawingml/2006/main">
              <a:ext uri="{FF2B5EF4-FFF2-40B4-BE49-F238E27FC236}">
                <a16:creationId xmlns:a16="http://schemas.microsoft.com/office/drawing/2014/main" id="{93920914-DF16-492E-BF24-555B363E1B1B}"/>
              </a:ext>
            </a:extLst>
          </p:cNvPr>
          <p:cNvSpPr>
            <a:spLocks xmlns:a="http://schemas.openxmlformats.org/drawingml/2006/main" noGrp="1"/>
          </p:cNvSpPr>
          <p:nvPr/>
        </p:nvSpPr>
        <p:spPr>
          <a:xfrm xmlns:a="http://schemas.openxmlformats.org/drawingml/2006/main">
            <a:off x="9070848"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8DC63F"/>
                </a:solidFill>
                <a:latin typeface="Calibri"/>
                <a:ea typeface="Calibri"/>
                <a:cs typeface="Calibri"/>
              </a:rPr>
              <a:t>04</a:t>
            </a:r>
            <a:endParaRPr sz="1400"/>
          </a:p>
        </p:txBody>
      </p:sp>
      <p:sp>
        <p:nvSpPr>
          <p:cNvPr id="27" name="Text 25">
            <a:extLst xmlns:a="http://schemas.openxmlformats.org/drawingml/2006/main">
              <a:ext uri="{FF2B5EF4-FFF2-40B4-BE49-F238E27FC236}">
                <a16:creationId xmlns:a16="http://schemas.microsoft.com/office/drawing/2014/main" id="{627B21C1-F9B8-410F-A980-A19ED8555381}"/>
              </a:ext>
            </a:extLst>
          </p:cNvPr>
          <p:cNvSpPr>
            <a:spLocks xmlns:a="http://schemas.openxmlformats.org/drawingml/2006/main" noGrp="1"/>
          </p:cNvSpPr>
          <p:nvPr/>
        </p:nvSpPr>
        <p:spPr>
          <a:xfrm xmlns:a="http://schemas.openxmlformats.org/drawingml/2006/main">
            <a:off x="9070848"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Lab 1 + case study</a:t>
            </a:r>
            <a:endParaRPr sz="1200"/>
          </a:p>
        </p:txBody>
      </p:sp>
      <p:sp>
        <p:nvSpPr>
          <p:cNvPr id="28" name="Text 26">
            <a:extLst xmlns:a="http://schemas.openxmlformats.org/drawingml/2006/main">
              <a:ext uri="{FF2B5EF4-FFF2-40B4-BE49-F238E27FC236}">
                <a16:creationId xmlns:a16="http://schemas.microsoft.com/office/drawing/2014/main" id="{D620041D-0352-4099-9F83-9CD6677F5D5E}"/>
              </a:ext>
            </a:extLst>
          </p:cNvPr>
          <p:cNvSpPr>
            <a:spLocks xmlns:a="http://schemas.openxmlformats.org/drawingml/2006/main" noGrp="1"/>
          </p:cNvSpPr>
          <p:nvPr/>
        </p:nvSpPr>
        <p:spPr>
          <a:xfrm xmlns:a="http://schemas.openxmlformats.org/drawingml/2006/main">
            <a:off x="9070848"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Refactor the notebook; SouqPlus monolith strangler-fig discussion</a:t>
            </a:r>
            <a:endParaRPr sz="950"/>
          </a:p>
        </p:txBody>
      </p:sp>
      <p:sp>
        <p:nvSpPr>
          <p:cNvPr id="29" name="Text 27">
            <a:extLst xmlns:a="http://schemas.openxmlformats.org/drawingml/2006/main">
              <a:ext uri="{FF2B5EF4-FFF2-40B4-BE49-F238E27FC236}">
                <a16:creationId xmlns:a16="http://schemas.microsoft.com/office/drawing/2014/main" id="{D72FB741-B7DD-4C10-9373-DBD59DB2951A}"/>
              </a:ext>
            </a:extLst>
          </p:cNvPr>
          <p:cNvSpPr>
            <a:spLocks xmlns:a="http://schemas.openxmlformats.org/drawingml/2006/main" noGrp="1"/>
          </p:cNvSpPr>
          <p:nvPr/>
        </p:nvSpPr>
        <p:spPr>
          <a:xfrm xmlns:a="http://schemas.openxmlformats.org/drawingml/2006/main">
            <a:off x="777240" y="5806440"/>
            <a:ext cx="100584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8A96C8"/>
                </a:solidFill>
                <a:latin typeface="Calibri"/>
                <a:ea typeface="Calibri"/>
                <a:cs typeface="Calibri"/>
              </a:rPr>
              <a:t>2 hours · lecture + live refactor demo + 50-min lab</a:t>
            </a:r>
            <a:endParaRPr sz="1100"/>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be2010e4d56b4575"/>
          <a:stretch xmlns:a="http://schemas.openxmlformats.org/drawingml/2006/main">
            <a:fillRect l="0" t="0" r="0" b="0"/>
          </a:stretch>
        </p:blipFill>
        <p:spPr>
          <a:xfrm xmlns:a="http://schemas.openxmlformats.org/drawingml/2006/main">
            <a:off x="777240" y="6309360"/>
            <a:ext cx="1078992" cy="265176"/>
          </a:xfrm>
          <a:prstGeom xmlns:a="http://schemas.openxmlformats.org/drawingml/2006/main" prst="rect">
            <a:avLst/>
          </a:prstGeom>
        </p:spPr>
      </p:pic>
    </p:spTree>
    <p:extLst>
      <p:ext uri="{BB962C8B-B14F-4D97-AF65-F5344CB8AC3E}">
        <p14:creationId xmlns:p14="http://schemas.microsoft.com/office/powerpoint/2010/main" val="109163662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F38C533-89F1-4AF5-9733-DA82E2E3F793}"/>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Module 1 — Learning Objectives</a:t>
            </a:r>
            <a:endParaRPr sz="2600"/>
          </a:p>
        </p:txBody>
      </p:sp>
      <p:sp>
        <p:nvSpPr>
          <p:cNvPr id="3" name="Text 1">
            <a:extLst xmlns:a="http://schemas.openxmlformats.org/drawingml/2006/main">
              <a:ext uri="{FF2B5EF4-FFF2-40B4-BE49-F238E27FC236}">
                <a16:creationId xmlns:a16="http://schemas.microsoft.com/office/drawing/2014/main" id="{33419E4C-FA48-487D-9C8D-F39196D5941D}"/>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أهداف التعلم — الوحدة الأولى</a:t>
            </a:r>
            <a:endParaRPr sz="1300"/>
          </a:p>
        </p:txBody>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48432b4e725046c0"/>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9430E1A6-2EF9-4420-9085-57C855F1B020}"/>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B5E1CFB1-D3DE-45DC-B283-D587BA86384D}"/>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1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47DA6E78-0E5F-4394-9FFA-BF71AF650B7D}"/>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15</a:t>
            </a:r>
            <a:endParaRPr sz="850"/>
          </a:p>
        </p:txBody>
      </p:sp>
      <p:sp>
        <p:nvSpPr>
          <p:cNvPr id="8" name="Shape 5">
            <a:extLst xmlns:a="http://schemas.openxmlformats.org/drawingml/2006/main">
              <a:ext uri="{FF2B5EF4-FFF2-40B4-BE49-F238E27FC236}">
                <a16:creationId xmlns:a16="http://schemas.microsoft.com/office/drawing/2014/main" id="{58FEC830-49E1-4CFF-88A0-AD757AAE3A0D}"/>
              </a:ext>
            </a:extLst>
          </p:cNvPr>
          <p:cNvSpPr>
            <a:spLocks xmlns:a="http://schemas.openxmlformats.org/drawingml/2006/main" noGrp="1"/>
          </p:cNvSpPr>
          <p:nvPr/>
        </p:nvSpPr>
        <p:spPr>
          <a:xfrm xmlns:a="http://schemas.openxmlformats.org/drawingml/2006/main">
            <a:off x="502920" y="1481328"/>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E8F2D43A-6856-4542-904C-750746699292}"/>
              </a:ext>
            </a:extLst>
          </p:cNvPr>
          <p:cNvSpPr>
            <a:spLocks xmlns:a="http://schemas.openxmlformats.org/drawingml/2006/main" noGrp="1"/>
          </p:cNvSpPr>
          <p:nvPr/>
        </p:nvSpPr>
        <p:spPr>
          <a:xfrm xmlns:a="http://schemas.openxmlformats.org/drawingml/2006/main">
            <a:off x="502920" y="1481328"/>
            <a:ext cx="64008" cy="1417320"/>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7DF0EADF-9163-496A-A530-8CBD4659D0F9}"/>
              </a:ext>
            </a:extLst>
          </p:cNvPr>
          <p:cNvSpPr>
            <a:spLocks xmlns:a="http://schemas.openxmlformats.org/drawingml/2006/main" noGrp="1"/>
          </p:cNvSpPr>
          <p:nvPr/>
        </p:nvSpPr>
        <p:spPr>
          <a:xfrm xmlns:a="http://schemas.openxmlformats.org/drawingml/2006/main">
            <a:off x="685800" y="1609344"/>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1.1</a:t>
            </a:r>
            <a:endParaRPr sz="1200"/>
          </a:p>
        </p:txBody>
      </p:sp>
      <p:sp>
        <p:nvSpPr>
          <p:cNvPr id="11" name="Text 8">
            <a:extLst xmlns:a="http://schemas.openxmlformats.org/drawingml/2006/main">
              <a:ext uri="{FF2B5EF4-FFF2-40B4-BE49-F238E27FC236}">
                <a16:creationId xmlns:a16="http://schemas.microsoft.com/office/drawing/2014/main" id="{EC94DF0D-5CA2-4D5B-BCF1-87E423346D69}"/>
              </a:ext>
            </a:extLst>
          </p:cNvPr>
          <p:cNvSpPr>
            <a:spLocks xmlns:a="http://schemas.openxmlformats.org/drawingml/2006/main" noGrp="1"/>
          </p:cNvSpPr>
          <p:nvPr/>
        </p:nvSpPr>
        <p:spPr>
          <a:xfrm xmlns:a="http://schemas.openxmlformats.org/drawingml/2006/main">
            <a:off x="4997196" y="1609344"/>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LO5</a:t>
            </a:r>
            <a:endParaRPr sz="850"/>
          </a:p>
        </p:txBody>
      </p:sp>
      <p:sp>
        <p:nvSpPr>
          <p:cNvPr id="12" name="Text 9">
            <a:extLst xmlns:a="http://schemas.openxmlformats.org/drawingml/2006/main">
              <a:ext uri="{FF2B5EF4-FFF2-40B4-BE49-F238E27FC236}">
                <a16:creationId xmlns:a16="http://schemas.microsoft.com/office/drawing/2014/main" id="{D1F81A71-BE0A-4E08-9402-131397860940}"/>
              </a:ext>
            </a:extLst>
          </p:cNvPr>
          <p:cNvSpPr>
            <a:spLocks xmlns:a="http://schemas.openxmlformats.org/drawingml/2006/main" noGrp="1"/>
          </p:cNvSpPr>
          <p:nvPr/>
        </p:nvSpPr>
        <p:spPr>
          <a:xfrm xmlns:a="http://schemas.openxmlformats.org/drawingml/2006/main">
            <a:off x="685800" y="1901952"/>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Explain why notebook-style code fails production review, with concrete failure modes</a:t>
            </a:r>
            <a:endParaRPr sz="1100"/>
          </a:p>
        </p:txBody>
      </p:sp>
      <p:sp>
        <p:nvSpPr>
          <p:cNvPr id="13" name="Shape 10">
            <a:extLst xmlns:a="http://schemas.openxmlformats.org/drawingml/2006/main">
              <a:ext uri="{FF2B5EF4-FFF2-40B4-BE49-F238E27FC236}">
                <a16:creationId xmlns:a16="http://schemas.microsoft.com/office/drawing/2014/main" id="{5DA4EDFB-2829-4F01-8D6E-1B423DE43254}"/>
              </a:ext>
            </a:extLst>
          </p:cNvPr>
          <p:cNvSpPr>
            <a:spLocks xmlns:a="http://schemas.openxmlformats.org/drawingml/2006/main" noGrp="1"/>
          </p:cNvSpPr>
          <p:nvPr/>
        </p:nvSpPr>
        <p:spPr>
          <a:xfrm xmlns:a="http://schemas.openxmlformats.org/drawingml/2006/main">
            <a:off x="6231636" y="1481328"/>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14" name="Shape 11">
            <a:extLst xmlns:a="http://schemas.openxmlformats.org/drawingml/2006/main">
              <a:ext uri="{FF2B5EF4-FFF2-40B4-BE49-F238E27FC236}">
                <a16:creationId xmlns:a16="http://schemas.microsoft.com/office/drawing/2014/main" id="{85DD5548-30B7-444C-8AB6-17430AB8AB05}"/>
              </a:ext>
            </a:extLst>
          </p:cNvPr>
          <p:cNvSpPr>
            <a:spLocks xmlns:a="http://schemas.openxmlformats.org/drawingml/2006/main" noGrp="1"/>
          </p:cNvSpPr>
          <p:nvPr/>
        </p:nvSpPr>
        <p:spPr>
          <a:xfrm xmlns:a="http://schemas.openxmlformats.org/drawingml/2006/main">
            <a:off x="6231636" y="1481328"/>
            <a:ext cx="64008" cy="1417320"/>
          </a:xfrm>
          <a:prstGeom xmlns:a="http://schemas.openxmlformats.org/drawingml/2006/main" prst="rect">
            <a:avLst/>
          </a:prstGeom>
          <a:solidFill xmlns:a="http://schemas.openxmlformats.org/drawingml/2006/main">
            <a:srgbClr val="29ABE2"/>
          </a:solidFill>
        </p:spPr>
      </p:sp>
      <p:sp>
        <p:nvSpPr>
          <p:cNvPr id="15" name="Text 12">
            <a:extLst xmlns:a="http://schemas.openxmlformats.org/drawingml/2006/main">
              <a:ext uri="{FF2B5EF4-FFF2-40B4-BE49-F238E27FC236}">
                <a16:creationId xmlns:a16="http://schemas.microsoft.com/office/drawing/2014/main" id="{2A9837DE-DBBD-449F-B8AD-3DFD135C19BD}"/>
              </a:ext>
            </a:extLst>
          </p:cNvPr>
          <p:cNvSpPr>
            <a:spLocks xmlns:a="http://schemas.openxmlformats.org/drawingml/2006/main" noGrp="1"/>
          </p:cNvSpPr>
          <p:nvPr/>
        </p:nvSpPr>
        <p:spPr>
          <a:xfrm xmlns:a="http://schemas.openxmlformats.org/drawingml/2006/main">
            <a:off x="6414516" y="1609344"/>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1.2</a:t>
            </a:r>
            <a:endParaRPr sz="1200"/>
          </a:p>
        </p:txBody>
      </p:sp>
      <p:sp>
        <p:nvSpPr>
          <p:cNvPr id="16" name="Text 13">
            <a:extLst xmlns:a="http://schemas.openxmlformats.org/drawingml/2006/main">
              <a:ext uri="{FF2B5EF4-FFF2-40B4-BE49-F238E27FC236}">
                <a16:creationId xmlns:a16="http://schemas.microsoft.com/office/drawing/2014/main" id="{2201FADA-D402-4C02-9733-585EFD933F0D}"/>
              </a:ext>
            </a:extLst>
          </p:cNvPr>
          <p:cNvSpPr>
            <a:spLocks xmlns:a="http://schemas.openxmlformats.org/drawingml/2006/main" noGrp="1"/>
          </p:cNvSpPr>
          <p:nvPr/>
        </p:nvSpPr>
        <p:spPr>
          <a:xfrm xmlns:a="http://schemas.openxmlformats.org/drawingml/2006/main">
            <a:off x="10725912" y="1609344"/>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LO5</a:t>
            </a:r>
            <a:endParaRPr sz="850"/>
          </a:p>
        </p:txBody>
      </p:sp>
      <p:sp>
        <p:nvSpPr>
          <p:cNvPr id="17" name="Text 14">
            <a:extLst xmlns:a="http://schemas.openxmlformats.org/drawingml/2006/main">
              <a:ext uri="{FF2B5EF4-FFF2-40B4-BE49-F238E27FC236}">
                <a16:creationId xmlns:a16="http://schemas.microsoft.com/office/drawing/2014/main" id="{3A8B5C2C-4E21-48BB-8FC7-1A2A109D7C3F}"/>
              </a:ext>
            </a:extLst>
          </p:cNvPr>
          <p:cNvSpPr>
            <a:spLocks xmlns:a="http://schemas.openxmlformats.org/drawingml/2006/main" noGrp="1"/>
          </p:cNvSpPr>
          <p:nvPr/>
        </p:nvSpPr>
        <p:spPr>
          <a:xfrm xmlns:a="http://schemas.openxmlformats.org/drawingml/2006/main">
            <a:off x="6414516" y="1901952"/>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Structure an AI repository using src-layout with separated layers</a:t>
            </a:r>
            <a:endParaRPr sz="1100"/>
          </a:p>
        </p:txBody>
      </p:sp>
      <p:sp>
        <p:nvSpPr>
          <p:cNvPr id="18" name="Shape 15">
            <a:extLst xmlns:a="http://schemas.openxmlformats.org/drawingml/2006/main">
              <a:ext uri="{FF2B5EF4-FFF2-40B4-BE49-F238E27FC236}">
                <a16:creationId xmlns:a16="http://schemas.microsoft.com/office/drawing/2014/main" id="{5613F324-4161-4C5F-B52E-CBAE0367185B}"/>
              </a:ext>
            </a:extLst>
          </p:cNvPr>
          <p:cNvSpPr>
            <a:spLocks xmlns:a="http://schemas.openxmlformats.org/drawingml/2006/main" noGrp="1"/>
          </p:cNvSpPr>
          <p:nvPr/>
        </p:nvSpPr>
        <p:spPr>
          <a:xfrm xmlns:a="http://schemas.openxmlformats.org/drawingml/2006/main">
            <a:off x="502920" y="3099816"/>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19" name="Shape 16">
            <a:extLst xmlns:a="http://schemas.openxmlformats.org/drawingml/2006/main">
              <a:ext uri="{FF2B5EF4-FFF2-40B4-BE49-F238E27FC236}">
                <a16:creationId xmlns:a16="http://schemas.microsoft.com/office/drawing/2014/main" id="{B3C4BB53-08AD-4579-881A-1526B243336A}"/>
              </a:ext>
            </a:extLst>
          </p:cNvPr>
          <p:cNvSpPr>
            <a:spLocks xmlns:a="http://schemas.openxmlformats.org/drawingml/2006/main" noGrp="1"/>
          </p:cNvSpPr>
          <p:nvPr/>
        </p:nvSpPr>
        <p:spPr>
          <a:xfrm xmlns:a="http://schemas.openxmlformats.org/drawingml/2006/main">
            <a:off x="502920" y="3099816"/>
            <a:ext cx="64008" cy="1417320"/>
          </a:xfrm>
          <a:prstGeom xmlns:a="http://schemas.openxmlformats.org/drawingml/2006/main" prst="rect">
            <a:avLst/>
          </a:prstGeom>
          <a:solidFill xmlns:a="http://schemas.openxmlformats.org/drawingml/2006/main">
            <a:srgbClr val="F58220"/>
          </a:solidFill>
        </p:spPr>
      </p:sp>
      <p:sp>
        <p:nvSpPr>
          <p:cNvPr id="20" name="Text 17">
            <a:extLst xmlns:a="http://schemas.openxmlformats.org/drawingml/2006/main">
              <a:ext uri="{FF2B5EF4-FFF2-40B4-BE49-F238E27FC236}">
                <a16:creationId xmlns:a16="http://schemas.microsoft.com/office/drawing/2014/main" id="{11F5CFEA-D047-4BB6-B6D5-92E8BFACDABC}"/>
              </a:ext>
            </a:extLst>
          </p:cNvPr>
          <p:cNvSpPr>
            <a:spLocks xmlns:a="http://schemas.openxmlformats.org/drawingml/2006/main" noGrp="1"/>
          </p:cNvSpPr>
          <p:nvPr/>
        </p:nvSpPr>
        <p:spPr>
          <a:xfrm xmlns:a="http://schemas.openxmlformats.org/drawingml/2006/main">
            <a:off x="685800" y="3227832"/>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1.3</a:t>
            </a:r>
            <a:endParaRPr sz="1200"/>
          </a:p>
        </p:txBody>
      </p:sp>
      <p:sp>
        <p:nvSpPr>
          <p:cNvPr id="21" name="Text 18">
            <a:extLst xmlns:a="http://schemas.openxmlformats.org/drawingml/2006/main">
              <a:ext uri="{FF2B5EF4-FFF2-40B4-BE49-F238E27FC236}">
                <a16:creationId xmlns:a16="http://schemas.microsoft.com/office/drawing/2014/main" id="{8AE2477D-7FDD-46D7-B187-A8ABBB7AF70F}"/>
              </a:ext>
            </a:extLst>
          </p:cNvPr>
          <p:cNvSpPr>
            <a:spLocks xmlns:a="http://schemas.openxmlformats.org/drawingml/2006/main" noGrp="1"/>
          </p:cNvSpPr>
          <p:nvPr/>
        </p:nvSpPr>
        <p:spPr>
          <a:xfrm xmlns:a="http://schemas.openxmlformats.org/drawingml/2006/main">
            <a:off x="4997196" y="3227832"/>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LO5</a:t>
            </a:r>
            <a:endParaRPr sz="850"/>
          </a:p>
        </p:txBody>
      </p:sp>
      <p:sp>
        <p:nvSpPr>
          <p:cNvPr id="22" name="Text 19">
            <a:extLst xmlns:a="http://schemas.openxmlformats.org/drawingml/2006/main">
              <a:ext uri="{FF2B5EF4-FFF2-40B4-BE49-F238E27FC236}">
                <a16:creationId xmlns:a16="http://schemas.microsoft.com/office/drawing/2014/main" id="{DA3BC0DF-C01E-4B37-B4E1-F11691A4943F}"/>
              </a:ext>
            </a:extLst>
          </p:cNvPr>
          <p:cNvSpPr>
            <a:spLocks xmlns:a="http://schemas.openxmlformats.org/drawingml/2006/main" noGrp="1"/>
          </p:cNvSpPr>
          <p:nvPr/>
        </p:nvSpPr>
        <p:spPr>
          <a:xfrm xmlns:a="http://schemas.openxmlformats.org/drawingml/2006/main">
            <a:off x="685800" y="3520440"/>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Apply the dependency rule: domain code imports nothing from infrastructure</a:t>
            </a:r>
            <a:endParaRPr sz="1100"/>
          </a:p>
        </p:txBody>
      </p:sp>
      <p:sp>
        <p:nvSpPr>
          <p:cNvPr id="23" name="Shape 20">
            <a:extLst xmlns:a="http://schemas.openxmlformats.org/drawingml/2006/main">
              <a:ext uri="{FF2B5EF4-FFF2-40B4-BE49-F238E27FC236}">
                <a16:creationId xmlns:a16="http://schemas.microsoft.com/office/drawing/2014/main" id="{392EC67A-4ABB-4BE8-A607-3CE5774B3D76}"/>
              </a:ext>
            </a:extLst>
          </p:cNvPr>
          <p:cNvSpPr>
            <a:spLocks xmlns:a="http://schemas.openxmlformats.org/drawingml/2006/main" noGrp="1"/>
          </p:cNvSpPr>
          <p:nvPr/>
        </p:nvSpPr>
        <p:spPr>
          <a:xfrm xmlns:a="http://schemas.openxmlformats.org/drawingml/2006/main">
            <a:off x="6231636" y="3099816"/>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24" name="Shape 21">
            <a:extLst xmlns:a="http://schemas.openxmlformats.org/drawingml/2006/main">
              <a:ext uri="{FF2B5EF4-FFF2-40B4-BE49-F238E27FC236}">
                <a16:creationId xmlns:a16="http://schemas.microsoft.com/office/drawing/2014/main" id="{B5A9839E-3462-4109-9711-2B63A22F4F37}"/>
              </a:ext>
            </a:extLst>
          </p:cNvPr>
          <p:cNvSpPr>
            <a:spLocks xmlns:a="http://schemas.openxmlformats.org/drawingml/2006/main" noGrp="1"/>
          </p:cNvSpPr>
          <p:nvPr/>
        </p:nvSpPr>
        <p:spPr>
          <a:xfrm xmlns:a="http://schemas.openxmlformats.org/drawingml/2006/main">
            <a:off x="6231636" y="3099816"/>
            <a:ext cx="64008" cy="1417320"/>
          </a:xfrm>
          <a:prstGeom xmlns:a="http://schemas.openxmlformats.org/drawingml/2006/main" prst="rect">
            <a:avLst/>
          </a:prstGeom>
          <a:solidFill xmlns:a="http://schemas.openxmlformats.org/drawingml/2006/main">
            <a:srgbClr val="8DC63F"/>
          </a:solidFill>
        </p:spPr>
      </p:sp>
      <p:sp>
        <p:nvSpPr>
          <p:cNvPr id="25" name="Text 22">
            <a:extLst xmlns:a="http://schemas.openxmlformats.org/drawingml/2006/main">
              <a:ext uri="{FF2B5EF4-FFF2-40B4-BE49-F238E27FC236}">
                <a16:creationId xmlns:a16="http://schemas.microsoft.com/office/drawing/2014/main" id="{49B4E3D5-5EED-4C89-A325-EF4FC946AD23}"/>
              </a:ext>
            </a:extLst>
          </p:cNvPr>
          <p:cNvSpPr>
            <a:spLocks xmlns:a="http://schemas.openxmlformats.org/drawingml/2006/main" noGrp="1"/>
          </p:cNvSpPr>
          <p:nvPr/>
        </p:nvSpPr>
        <p:spPr>
          <a:xfrm xmlns:a="http://schemas.openxmlformats.org/drawingml/2006/main">
            <a:off x="6414516" y="3227832"/>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1.4</a:t>
            </a:r>
            <a:endParaRPr sz="1200"/>
          </a:p>
        </p:txBody>
      </p:sp>
      <p:sp>
        <p:nvSpPr>
          <p:cNvPr id="26" name="Text 23">
            <a:extLst xmlns:a="http://schemas.openxmlformats.org/drawingml/2006/main">
              <a:ext uri="{FF2B5EF4-FFF2-40B4-BE49-F238E27FC236}">
                <a16:creationId xmlns:a16="http://schemas.microsoft.com/office/drawing/2014/main" id="{A39F4A1C-8DB3-4805-B59B-B7C874933E93}"/>
              </a:ext>
            </a:extLst>
          </p:cNvPr>
          <p:cNvSpPr>
            <a:spLocks xmlns:a="http://schemas.openxmlformats.org/drawingml/2006/main" noGrp="1"/>
          </p:cNvSpPr>
          <p:nvPr/>
        </p:nvSpPr>
        <p:spPr>
          <a:xfrm xmlns:a="http://schemas.openxmlformats.org/drawingml/2006/main">
            <a:off x="10725912" y="3227832"/>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LO5 · LO1</a:t>
            </a:r>
            <a:endParaRPr sz="850"/>
          </a:p>
        </p:txBody>
      </p:sp>
      <p:sp>
        <p:nvSpPr>
          <p:cNvPr id="27" name="Text 24">
            <a:extLst xmlns:a="http://schemas.openxmlformats.org/drawingml/2006/main">
              <a:ext uri="{FF2B5EF4-FFF2-40B4-BE49-F238E27FC236}">
                <a16:creationId xmlns:a16="http://schemas.microsoft.com/office/drawing/2014/main" id="{D91F8AFE-03C3-4723-9222-DDBD2B459439}"/>
              </a:ext>
            </a:extLst>
          </p:cNvPr>
          <p:cNvSpPr>
            <a:spLocks xmlns:a="http://schemas.openxmlformats.org/drawingml/2006/main" noGrp="1"/>
          </p:cNvSpPr>
          <p:nvPr/>
        </p:nvSpPr>
        <p:spPr>
          <a:xfrm xmlns:a="http://schemas.openxmlformats.org/drawingml/2006/main">
            <a:off x="6414516" y="3520440"/>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Define a model-loading interface that isolates the ML framework from the service</a:t>
            </a:r>
            <a:endParaRPr sz="1100"/>
          </a:p>
        </p:txBody>
      </p:sp>
      <p:sp>
        <p:nvSpPr>
          <p:cNvPr id="28" name="Shape 25">
            <a:extLst xmlns:a="http://schemas.openxmlformats.org/drawingml/2006/main">
              <a:ext uri="{FF2B5EF4-FFF2-40B4-BE49-F238E27FC236}">
                <a16:creationId xmlns:a16="http://schemas.microsoft.com/office/drawing/2014/main" id="{875D7B7B-A367-4749-8E4B-E05DDF7E53AD}"/>
              </a:ext>
            </a:extLst>
          </p:cNvPr>
          <p:cNvSpPr>
            <a:spLocks xmlns:a="http://schemas.openxmlformats.org/drawingml/2006/main" noGrp="1"/>
          </p:cNvSpPr>
          <p:nvPr/>
        </p:nvSpPr>
        <p:spPr>
          <a:xfrm xmlns:a="http://schemas.openxmlformats.org/drawingml/2006/main">
            <a:off x="502920" y="4718304"/>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29" name="Shape 26">
            <a:extLst xmlns:a="http://schemas.openxmlformats.org/drawingml/2006/main">
              <a:ext uri="{FF2B5EF4-FFF2-40B4-BE49-F238E27FC236}">
                <a16:creationId xmlns:a16="http://schemas.microsoft.com/office/drawing/2014/main" id="{F5C55047-9E76-44C3-925A-8C8ED67699CE}"/>
              </a:ext>
            </a:extLst>
          </p:cNvPr>
          <p:cNvSpPr>
            <a:spLocks xmlns:a="http://schemas.openxmlformats.org/drawingml/2006/main" noGrp="1"/>
          </p:cNvSpPr>
          <p:nvPr/>
        </p:nvSpPr>
        <p:spPr>
          <a:xfrm xmlns:a="http://schemas.openxmlformats.org/drawingml/2006/main">
            <a:off x="502920" y="4718304"/>
            <a:ext cx="64008" cy="1417320"/>
          </a:xfrm>
          <a:prstGeom xmlns:a="http://schemas.openxmlformats.org/drawingml/2006/main" prst="rect">
            <a:avLst/>
          </a:prstGeom>
          <a:solidFill xmlns:a="http://schemas.openxmlformats.org/drawingml/2006/main">
            <a:srgbClr val="E8503A"/>
          </a:solidFill>
        </p:spPr>
      </p:sp>
      <p:sp>
        <p:nvSpPr>
          <p:cNvPr id="30" name="Text 27">
            <a:extLst xmlns:a="http://schemas.openxmlformats.org/drawingml/2006/main">
              <a:ext uri="{FF2B5EF4-FFF2-40B4-BE49-F238E27FC236}">
                <a16:creationId xmlns:a16="http://schemas.microsoft.com/office/drawing/2014/main" id="{82D2CBB6-D0F0-4B6F-8C7F-AB657022075E}"/>
              </a:ext>
            </a:extLst>
          </p:cNvPr>
          <p:cNvSpPr>
            <a:spLocks xmlns:a="http://schemas.openxmlformats.org/drawingml/2006/main" noGrp="1"/>
          </p:cNvSpPr>
          <p:nvPr/>
        </p:nvSpPr>
        <p:spPr>
          <a:xfrm xmlns:a="http://schemas.openxmlformats.org/drawingml/2006/main">
            <a:off x="685800" y="4846320"/>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1.5</a:t>
            </a:r>
            <a:endParaRPr sz="1200"/>
          </a:p>
        </p:txBody>
      </p:sp>
      <p:sp>
        <p:nvSpPr>
          <p:cNvPr id="31" name="Text 28">
            <a:extLst xmlns:a="http://schemas.openxmlformats.org/drawingml/2006/main">
              <a:ext uri="{FF2B5EF4-FFF2-40B4-BE49-F238E27FC236}">
                <a16:creationId xmlns:a16="http://schemas.microsoft.com/office/drawing/2014/main" id="{68C71C7B-1F0A-4353-AABC-488921A4B004}"/>
              </a:ext>
            </a:extLst>
          </p:cNvPr>
          <p:cNvSpPr>
            <a:spLocks xmlns:a="http://schemas.openxmlformats.org/drawingml/2006/main" noGrp="1"/>
          </p:cNvSpPr>
          <p:nvPr/>
        </p:nvSpPr>
        <p:spPr>
          <a:xfrm xmlns:a="http://schemas.openxmlformats.org/drawingml/2006/main">
            <a:off x="4997196" y="4846320"/>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LO6</a:t>
            </a:r>
            <a:endParaRPr sz="850"/>
          </a:p>
        </p:txBody>
      </p:sp>
      <p:sp>
        <p:nvSpPr>
          <p:cNvPr id="32" name="Text 29">
            <a:extLst xmlns:a="http://schemas.openxmlformats.org/drawingml/2006/main">
              <a:ext uri="{FF2B5EF4-FFF2-40B4-BE49-F238E27FC236}">
                <a16:creationId xmlns:a16="http://schemas.microsoft.com/office/drawing/2014/main" id="{CBC28349-140B-4479-8992-AAB95ADE781E}"/>
              </a:ext>
            </a:extLst>
          </p:cNvPr>
          <p:cNvSpPr>
            <a:spLocks xmlns:a="http://schemas.openxmlformats.org/drawingml/2006/main" noGrp="1"/>
          </p:cNvSpPr>
          <p:nvPr/>
        </p:nvSpPr>
        <p:spPr>
          <a:xfrm xmlns:a="http://schemas.openxmlformats.org/drawingml/2006/main">
            <a:off x="685800" y="5138928"/>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Evaluate a peer's project structure against a review checklist</a:t>
            </a:r>
            <a:endParaRPr sz="1100"/>
          </a:p>
        </p:txBody>
      </p:sp>
      <p:sp>
        <p:nvSpPr>
          <p:cNvPr id="33" name="Text 30">
            <a:extLst xmlns:a="http://schemas.openxmlformats.org/drawingml/2006/main">
              <a:ext uri="{FF2B5EF4-FFF2-40B4-BE49-F238E27FC236}">
                <a16:creationId xmlns:a16="http://schemas.microsoft.com/office/drawing/2014/main" id="{2A2D7E5C-58F5-474D-BC44-E195A95D511F}"/>
              </a:ext>
            </a:extLst>
          </p:cNvPr>
          <p:cNvSpPr>
            <a:spLocks xmlns:a="http://schemas.openxmlformats.org/drawingml/2006/main" noGrp="1"/>
          </p:cNvSpPr>
          <p:nvPr/>
        </p:nvSpPr>
        <p:spPr>
          <a:xfrm xmlns:a="http://schemas.openxmlformats.org/drawingml/2006/main">
            <a:off x="502920" y="6080760"/>
            <a:ext cx="11155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5F6B7A"/>
                </a:solidFill>
                <a:latin typeface="Calibri"/>
                <a:ea typeface="Calibri"/>
                <a:cs typeface="Calibri"/>
              </a:rPr>
              <a:t>Expected competency: lay out an AI repo, defend the structure in a code review</a:t>
            </a:r>
            <a:endParaRPr sz="1000"/>
          </a:p>
        </p:txBody>
      </p:sp>
    </p:spTree>
    <p:extLst>
      <p:ext uri="{BB962C8B-B14F-4D97-AF65-F5344CB8AC3E}">
        <p14:creationId xmlns:p14="http://schemas.microsoft.com/office/powerpoint/2010/main" val="99087884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3DD3668-E74B-4DB4-BDDD-77622F48D97B}"/>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The Notebook-to-Production Gap</a:t>
            </a:r>
            <a:endParaRPr sz="2600"/>
          </a:p>
        </p:txBody>
      </p:sp>
      <p:sp>
        <p:nvSpPr>
          <p:cNvPr id="3" name="Text 1">
            <a:extLst xmlns:a="http://schemas.openxmlformats.org/drawingml/2006/main">
              <a:ext uri="{FF2B5EF4-FFF2-40B4-BE49-F238E27FC236}">
                <a16:creationId xmlns:a16="http://schemas.microsoft.com/office/drawing/2014/main" id="{62042E14-B00A-42E8-8F27-4ADF7B66E2CF}"/>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الفجوة بين الدفتر والإنتاج</a:t>
            </a:r>
            <a:endParaRPr sz="1300"/>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144c678b140448ef"/>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B6380522-81ED-4DBD-AECD-7D09EF6AE096}"/>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4A07ADEF-8663-41AC-85B9-55A7CE973180}"/>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1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E76CC321-EC29-4364-927C-585B1AAC24BC}"/>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16</a:t>
            </a:r>
            <a:endParaRPr sz="850"/>
          </a:p>
        </p:txBody>
      </p:sp>
      <p:sp>
        <p:nvSpPr>
          <p:cNvPr id="8" name="Shape 5">
            <a:extLst xmlns:a="http://schemas.openxmlformats.org/drawingml/2006/main">
              <a:ext uri="{FF2B5EF4-FFF2-40B4-BE49-F238E27FC236}">
                <a16:creationId xmlns:a16="http://schemas.microsoft.com/office/drawing/2014/main" id="{119AD20A-9EA8-47B4-9B32-8C9EC8E5752C}"/>
              </a:ext>
            </a:extLst>
          </p:cNvPr>
          <p:cNvSpPr>
            <a:spLocks xmlns:a="http://schemas.openxmlformats.org/drawingml/2006/main" noGrp="1"/>
          </p:cNvSpPr>
          <p:nvPr/>
        </p:nvSpPr>
        <p:spPr>
          <a:xfrm xmlns:a="http://schemas.openxmlformats.org/drawingml/2006/main">
            <a:off x="502920" y="1517904"/>
            <a:ext cx="5454396"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FD6C6DD6-A53A-446B-961A-A4A347FF7BB3}"/>
              </a:ext>
            </a:extLst>
          </p:cNvPr>
          <p:cNvSpPr>
            <a:spLocks xmlns:a="http://schemas.openxmlformats.org/drawingml/2006/main" noGrp="1"/>
          </p:cNvSpPr>
          <p:nvPr/>
        </p:nvSpPr>
        <p:spPr>
          <a:xfrm xmlns:a="http://schemas.openxmlformats.org/drawingml/2006/main">
            <a:off x="502920" y="1517904"/>
            <a:ext cx="82296" cy="2272284"/>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9AC01213-0AF3-4FB6-BB85-D3CC0CFD9043}"/>
              </a:ext>
            </a:extLst>
          </p:cNvPr>
          <p:cNvSpPr>
            <a:spLocks xmlns:a="http://schemas.openxmlformats.org/drawingml/2006/main" noGrp="1"/>
          </p:cNvSpPr>
          <p:nvPr/>
        </p:nvSpPr>
        <p:spPr>
          <a:xfrm xmlns:a="http://schemas.openxmlformats.org/drawingml/2006/main">
            <a:off x="722376" y="1636776"/>
            <a:ext cx="501548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00A79D"/>
                </a:solidFill>
                <a:latin typeface="Calibri"/>
                <a:ea typeface="Calibri"/>
                <a:cs typeface="Calibri"/>
              </a:rPr>
              <a:t>FAILURE MODE 1</a:t>
            </a:r>
            <a:endParaRPr sz="900"/>
          </a:p>
        </p:txBody>
      </p:sp>
      <p:sp>
        <p:nvSpPr>
          <p:cNvPr id="11" name="Text 8">
            <a:extLst xmlns:a="http://schemas.openxmlformats.org/drawingml/2006/main">
              <a:ext uri="{FF2B5EF4-FFF2-40B4-BE49-F238E27FC236}">
                <a16:creationId xmlns:a16="http://schemas.microsoft.com/office/drawing/2014/main" id="{99BAEACF-C7CE-43FA-B405-ACEA9FE4EF15}"/>
              </a:ext>
            </a:extLst>
          </p:cNvPr>
          <p:cNvSpPr>
            <a:spLocks xmlns:a="http://schemas.openxmlformats.org/drawingml/2006/main" noGrp="1"/>
          </p:cNvSpPr>
          <p:nvPr/>
        </p:nvSpPr>
        <p:spPr>
          <a:xfrm xmlns:a="http://schemas.openxmlformats.org/drawingml/2006/main">
            <a:off x="722376" y="1883664"/>
            <a:ext cx="501548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Hidden state</a:t>
            </a:r>
            <a:endParaRPr sz="1250"/>
          </a:p>
        </p:txBody>
      </p:sp>
      <p:sp>
        <p:nvSpPr>
          <p:cNvPr id="12" name="Text 9">
            <a:extLst xmlns:a="http://schemas.openxmlformats.org/drawingml/2006/main">
              <a:ext uri="{FF2B5EF4-FFF2-40B4-BE49-F238E27FC236}">
                <a16:creationId xmlns:a16="http://schemas.microsoft.com/office/drawing/2014/main" id="{9DC1B230-87AB-4015-A94A-9E57803DB212}"/>
              </a:ext>
            </a:extLst>
          </p:cNvPr>
          <p:cNvSpPr>
            <a:spLocks xmlns:a="http://schemas.openxmlformats.org/drawingml/2006/main" noGrp="1"/>
          </p:cNvSpPr>
          <p:nvPr/>
        </p:nvSpPr>
        <p:spPr>
          <a:xfrm xmlns:a="http://schemas.openxmlformats.org/drawingml/2006/main">
            <a:off x="722376" y="2404872"/>
            <a:ext cx="5015484"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model trained in cell 12, used in cell 38 — after cell 25 mutated the feature list. Execution order lives in human memory. In production this becomes "works on my machine".</a:t>
            </a:r>
            <a:endParaRPr sz="980"/>
          </a:p>
        </p:txBody>
      </p:sp>
      <p:sp>
        <p:nvSpPr>
          <p:cNvPr id="13" name="Shape 10">
            <a:extLst xmlns:a="http://schemas.openxmlformats.org/drawingml/2006/main">
              <a:ext uri="{FF2B5EF4-FFF2-40B4-BE49-F238E27FC236}">
                <a16:creationId xmlns:a16="http://schemas.microsoft.com/office/drawing/2014/main" id="{4459C221-BBE8-4002-854C-E6AA652C8929}"/>
              </a:ext>
            </a:extLst>
          </p:cNvPr>
          <p:cNvSpPr>
            <a:spLocks xmlns:a="http://schemas.openxmlformats.org/drawingml/2006/main" noGrp="1"/>
          </p:cNvSpPr>
          <p:nvPr/>
        </p:nvSpPr>
        <p:spPr>
          <a:xfrm xmlns:a="http://schemas.openxmlformats.org/drawingml/2006/main">
            <a:off x="6231636" y="1517904"/>
            <a:ext cx="5454396"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14" name="Shape 11">
            <a:extLst xmlns:a="http://schemas.openxmlformats.org/drawingml/2006/main">
              <a:ext uri="{FF2B5EF4-FFF2-40B4-BE49-F238E27FC236}">
                <a16:creationId xmlns:a16="http://schemas.microsoft.com/office/drawing/2014/main" id="{31CA7003-2841-4F66-A3F2-42403FD11CAD}"/>
              </a:ext>
            </a:extLst>
          </p:cNvPr>
          <p:cNvSpPr>
            <a:spLocks xmlns:a="http://schemas.openxmlformats.org/drawingml/2006/main" noGrp="1"/>
          </p:cNvSpPr>
          <p:nvPr/>
        </p:nvSpPr>
        <p:spPr>
          <a:xfrm xmlns:a="http://schemas.openxmlformats.org/drawingml/2006/main">
            <a:off x="6231636" y="1517904"/>
            <a:ext cx="82296" cy="2272284"/>
          </a:xfrm>
          <a:prstGeom xmlns:a="http://schemas.openxmlformats.org/drawingml/2006/main" prst="rect">
            <a:avLst/>
          </a:prstGeom>
          <a:solidFill xmlns:a="http://schemas.openxmlformats.org/drawingml/2006/main">
            <a:srgbClr val="29ABE2"/>
          </a:solidFill>
        </p:spPr>
      </p:sp>
      <p:sp>
        <p:nvSpPr>
          <p:cNvPr id="15" name="Text 12">
            <a:extLst xmlns:a="http://schemas.openxmlformats.org/drawingml/2006/main">
              <a:ext uri="{FF2B5EF4-FFF2-40B4-BE49-F238E27FC236}">
                <a16:creationId xmlns:a16="http://schemas.microsoft.com/office/drawing/2014/main" id="{E2855540-F4F7-41CA-8E8E-4AAD9B125BF5}"/>
              </a:ext>
            </a:extLst>
          </p:cNvPr>
          <p:cNvSpPr>
            <a:spLocks xmlns:a="http://schemas.openxmlformats.org/drawingml/2006/main" noGrp="1"/>
          </p:cNvSpPr>
          <p:nvPr/>
        </p:nvSpPr>
        <p:spPr>
          <a:xfrm xmlns:a="http://schemas.openxmlformats.org/drawingml/2006/main">
            <a:off x="6451092" y="1636776"/>
            <a:ext cx="501548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29ABE2"/>
                </a:solidFill>
                <a:latin typeface="Calibri"/>
                <a:ea typeface="Calibri"/>
                <a:cs typeface="Calibri"/>
              </a:rPr>
              <a:t>FAILURE MODE 2</a:t>
            </a:r>
            <a:endParaRPr sz="900"/>
          </a:p>
        </p:txBody>
      </p:sp>
      <p:sp>
        <p:nvSpPr>
          <p:cNvPr id="16" name="Text 13">
            <a:extLst xmlns:a="http://schemas.openxmlformats.org/drawingml/2006/main">
              <a:ext uri="{FF2B5EF4-FFF2-40B4-BE49-F238E27FC236}">
                <a16:creationId xmlns:a16="http://schemas.microsoft.com/office/drawing/2014/main" id="{B9A7D94E-EDFB-489C-8312-51C8B6270963}"/>
              </a:ext>
            </a:extLst>
          </p:cNvPr>
          <p:cNvSpPr>
            <a:spLocks xmlns:a="http://schemas.openxmlformats.org/drawingml/2006/main" noGrp="1"/>
          </p:cNvSpPr>
          <p:nvPr/>
        </p:nvSpPr>
        <p:spPr>
          <a:xfrm xmlns:a="http://schemas.openxmlformats.org/drawingml/2006/main">
            <a:off x="6451092" y="1883664"/>
            <a:ext cx="501548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Environment coupling</a:t>
            </a:r>
            <a:endParaRPr sz="1250"/>
          </a:p>
        </p:txBody>
      </p:sp>
      <p:sp>
        <p:nvSpPr>
          <p:cNvPr id="17" name="Text 14">
            <a:extLst xmlns:a="http://schemas.openxmlformats.org/drawingml/2006/main">
              <a:ext uri="{FF2B5EF4-FFF2-40B4-BE49-F238E27FC236}">
                <a16:creationId xmlns:a16="http://schemas.microsoft.com/office/drawing/2014/main" id="{AD367A6B-EB0E-4541-BA36-D2701FD8767F}"/>
              </a:ext>
            </a:extLst>
          </p:cNvPr>
          <p:cNvSpPr>
            <a:spLocks xmlns:a="http://schemas.openxmlformats.org/drawingml/2006/main" noGrp="1"/>
          </p:cNvSpPr>
          <p:nvPr/>
        </p:nvSpPr>
        <p:spPr>
          <a:xfrm xmlns:a="http://schemas.openxmlformats.org/drawingml/2006/main">
            <a:off x="6451092" y="2404872"/>
            <a:ext cx="5015484"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pd.read_csv("/Users/aisha/data/txns.csv") — the path IS the bug. Every I/O location must be injected configuration, never a literal.</a:t>
            </a:r>
            <a:endParaRPr sz="980"/>
          </a:p>
        </p:txBody>
      </p:sp>
      <p:sp>
        <p:nvSpPr>
          <p:cNvPr id="18" name="Shape 15">
            <a:extLst xmlns:a="http://schemas.openxmlformats.org/drawingml/2006/main">
              <a:ext uri="{FF2B5EF4-FFF2-40B4-BE49-F238E27FC236}">
                <a16:creationId xmlns:a16="http://schemas.microsoft.com/office/drawing/2014/main" id="{90529B79-AAD6-43E3-AD31-FC667F616B30}"/>
              </a:ext>
            </a:extLst>
          </p:cNvPr>
          <p:cNvSpPr>
            <a:spLocks xmlns:a="http://schemas.openxmlformats.org/drawingml/2006/main" noGrp="1"/>
          </p:cNvSpPr>
          <p:nvPr/>
        </p:nvSpPr>
        <p:spPr>
          <a:xfrm xmlns:a="http://schemas.openxmlformats.org/drawingml/2006/main">
            <a:off x="502920" y="4046220"/>
            <a:ext cx="5454396"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19" name="Shape 16">
            <a:extLst xmlns:a="http://schemas.openxmlformats.org/drawingml/2006/main">
              <a:ext uri="{FF2B5EF4-FFF2-40B4-BE49-F238E27FC236}">
                <a16:creationId xmlns:a16="http://schemas.microsoft.com/office/drawing/2014/main" id="{82D14096-319C-4AF7-AAAB-0E97D3715F23}"/>
              </a:ext>
            </a:extLst>
          </p:cNvPr>
          <p:cNvSpPr>
            <a:spLocks xmlns:a="http://schemas.openxmlformats.org/drawingml/2006/main" noGrp="1"/>
          </p:cNvSpPr>
          <p:nvPr/>
        </p:nvSpPr>
        <p:spPr>
          <a:xfrm xmlns:a="http://schemas.openxmlformats.org/drawingml/2006/main">
            <a:off x="502920" y="4046220"/>
            <a:ext cx="82296" cy="2272284"/>
          </a:xfrm>
          <a:prstGeom xmlns:a="http://schemas.openxmlformats.org/drawingml/2006/main" prst="rect">
            <a:avLst/>
          </a:prstGeom>
          <a:solidFill xmlns:a="http://schemas.openxmlformats.org/drawingml/2006/main">
            <a:srgbClr val="F58220"/>
          </a:solidFill>
        </p:spPr>
      </p:sp>
      <p:sp>
        <p:nvSpPr>
          <p:cNvPr id="20" name="Text 17">
            <a:extLst xmlns:a="http://schemas.openxmlformats.org/drawingml/2006/main">
              <a:ext uri="{FF2B5EF4-FFF2-40B4-BE49-F238E27FC236}">
                <a16:creationId xmlns:a16="http://schemas.microsoft.com/office/drawing/2014/main" id="{B97308CB-B534-4267-AD8C-9633073914D0}"/>
              </a:ext>
            </a:extLst>
          </p:cNvPr>
          <p:cNvSpPr>
            <a:spLocks xmlns:a="http://schemas.openxmlformats.org/drawingml/2006/main" noGrp="1"/>
          </p:cNvSpPr>
          <p:nvPr/>
        </p:nvSpPr>
        <p:spPr>
          <a:xfrm xmlns:a="http://schemas.openxmlformats.org/drawingml/2006/main">
            <a:off x="722376" y="4165092"/>
            <a:ext cx="501548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F58220"/>
                </a:solidFill>
                <a:latin typeface="Calibri"/>
                <a:ea typeface="Calibri"/>
                <a:cs typeface="Calibri"/>
              </a:rPr>
              <a:t>FAILURE MODE 3</a:t>
            </a:r>
            <a:endParaRPr sz="900"/>
          </a:p>
        </p:txBody>
      </p:sp>
      <p:sp>
        <p:nvSpPr>
          <p:cNvPr id="21" name="Text 18">
            <a:extLst xmlns:a="http://schemas.openxmlformats.org/drawingml/2006/main">
              <a:ext uri="{FF2B5EF4-FFF2-40B4-BE49-F238E27FC236}">
                <a16:creationId xmlns:a16="http://schemas.microsoft.com/office/drawing/2014/main" id="{089B1B14-2545-4FE1-910F-BCBEDF84DE9A}"/>
              </a:ext>
            </a:extLst>
          </p:cNvPr>
          <p:cNvSpPr>
            <a:spLocks xmlns:a="http://schemas.openxmlformats.org/drawingml/2006/main" noGrp="1"/>
          </p:cNvSpPr>
          <p:nvPr/>
        </p:nvSpPr>
        <p:spPr>
          <a:xfrm xmlns:a="http://schemas.openxmlformats.org/drawingml/2006/main">
            <a:off x="722376" y="4411980"/>
            <a:ext cx="501548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Import-time side effects</a:t>
            </a:r>
            <a:endParaRPr sz="1250"/>
          </a:p>
        </p:txBody>
      </p:sp>
      <p:sp>
        <p:nvSpPr>
          <p:cNvPr id="22" name="Text 19">
            <a:extLst xmlns:a="http://schemas.openxmlformats.org/drawingml/2006/main">
              <a:ext uri="{FF2B5EF4-FFF2-40B4-BE49-F238E27FC236}">
                <a16:creationId xmlns:a16="http://schemas.microsoft.com/office/drawing/2014/main" id="{1DF6D318-C32E-42D4-A246-5EF3B677D393}"/>
              </a:ext>
            </a:extLst>
          </p:cNvPr>
          <p:cNvSpPr>
            <a:spLocks xmlns:a="http://schemas.openxmlformats.org/drawingml/2006/main" noGrp="1"/>
          </p:cNvSpPr>
          <p:nvPr/>
        </p:nvSpPr>
        <p:spPr>
          <a:xfrm xmlns:a="http://schemas.openxmlformats.org/drawingml/2006/main">
            <a:off x="722376" y="4933188"/>
            <a:ext cx="5015484"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A 2 GB model loaded at module import makes every tool pay the cost — test runner, linter worker, docs builder — and the server cannot control when loading happens or handle its failure.</a:t>
            </a:r>
            <a:endParaRPr sz="980"/>
          </a:p>
        </p:txBody>
      </p:sp>
      <p:sp>
        <p:nvSpPr>
          <p:cNvPr id="23" name="Shape 20">
            <a:extLst xmlns:a="http://schemas.openxmlformats.org/drawingml/2006/main">
              <a:ext uri="{FF2B5EF4-FFF2-40B4-BE49-F238E27FC236}">
                <a16:creationId xmlns:a16="http://schemas.microsoft.com/office/drawing/2014/main" id="{62265DA3-5941-4796-9323-1FC8B52AFF7A}"/>
              </a:ext>
            </a:extLst>
          </p:cNvPr>
          <p:cNvSpPr>
            <a:spLocks xmlns:a="http://schemas.openxmlformats.org/drawingml/2006/main" noGrp="1"/>
          </p:cNvSpPr>
          <p:nvPr/>
        </p:nvSpPr>
        <p:spPr>
          <a:xfrm xmlns:a="http://schemas.openxmlformats.org/drawingml/2006/main">
            <a:off x="6231636" y="4046220"/>
            <a:ext cx="5454396"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24" name="Shape 21">
            <a:extLst xmlns:a="http://schemas.openxmlformats.org/drawingml/2006/main">
              <a:ext uri="{FF2B5EF4-FFF2-40B4-BE49-F238E27FC236}">
                <a16:creationId xmlns:a16="http://schemas.microsoft.com/office/drawing/2014/main" id="{01FEF4D6-2B6B-4A16-9C92-476CE7BB7ADB}"/>
              </a:ext>
            </a:extLst>
          </p:cNvPr>
          <p:cNvSpPr>
            <a:spLocks xmlns:a="http://schemas.openxmlformats.org/drawingml/2006/main" noGrp="1"/>
          </p:cNvSpPr>
          <p:nvPr/>
        </p:nvSpPr>
        <p:spPr>
          <a:xfrm xmlns:a="http://schemas.openxmlformats.org/drawingml/2006/main">
            <a:off x="6231636" y="4046220"/>
            <a:ext cx="82296" cy="2272284"/>
          </a:xfrm>
          <a:prstGeom xmlns:a="http://schemas.openxmlformats.org/drawingml/2006/main" prst="rect">
            <a:avLst/>
          </a:prstGeom>
          <a:solidFill xmlns:a="http://schemas.openxmlformats.org/drawingml/2006/main">
            <a:srgbClr val="8DC63F"/>
          </a:solidFill>
        </p:spPr>
      </p:sp>
      <p:sp>
        <p:nvSpPr>
          <p:cNvPr id="25" name="Text 22">
            <a:extLst xmlns:a="http://schemas.openxmlformats.org/drawingml/2006/main">
              <a:ext uri="{FF2B5EF4-FFF2-40B4-BE49-F238E27FC236}">
                <a16:creationId xmlns:a16="http://schemas.microsoft.com/office/drawing/2014/main" id="{5A1B4B93-1234-461F-94F5-C917ED6D6980}"/>
              </a:ext>
            </a:extLst>
          </p:cNvPr>
          <p:cNvSpPr>
            <a:spLocks xmlns:a="http://schemas.openxmlformats.org/drawingml/2006/main" noGrp="1"/>
          </p:cNvSpPr>
          <p:nvPr/>
        </p:nvSpPr>
        <p:spPr>
          <a:xfrm xmlns:a="http://schemas.openxmlformats.org/drawingml/2006/main">
            <a:off x="6451092" y="4165092"/>
            <a:ext cx="501548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8DC63F"/>
                </a:solidFill>
                <a:latin typeface="Calibri"/>
                <a:ea typeface="Calibri"/>
                <a:cs typeface="Calibri"/>
              </a:rPr>
              <a:t>FAILURE MODE 4</a:t>
            </a:r>
            <a:endParaRPr sz="900"/>
          </a:p>
        </p:txBody>
      </p:sp>
      <p:sp>
        <p:nvSpPr>
          <p:cNvPr id="26" name="Text 23">
            <a:extLst xmlns:a="http://schemas.openxmlformats.org/drawingml/2006/main">
              <a:ext uri="{FF2B5EF4-FFF2-40B4-BE49-F238E27FC236}">
                <a16:creationId xmlns:a16="http://schemas.microsoft.com/office/drawing/2014/main" id="{D40FB5B0-BD73-4BAE-A3DD-CDF837CA3B30}"/>
              </a:ext>
            </a:extLst>
          </p:cNvPr>
          <p:cNvSpPr>
            <a:spLocks xmlns:a="http://schemas.openxmlformats.org/drawingml/2006/main" noGrp="1"/>
          </p:cNvSpPr>
          <p:nvPr/>
        </p:nvSpPr>
        <p:spPr>
          <a:xfrm xmlns:a="http://schemas.openxmlformats.org/drawingml/2006/main">
            <a:off x="6451092" y="4411980"/>
            <a:ext cx="501548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No seams</a:t>
            </a:r>
            <a:endParaRPr sz="1250"/>
          </a:p>
        </p:txBody>
      </p:sp>
      <p:sp>
        <p:nvSpPr>
          <p:cNvPr id="27" name="Text 24">
            <a:extLst xmlns:a="http://schemas.openxmlformats.org/drawingml/2006/main">
              <a:ext uri="{FF2B5EF4-FFF2-40B4-BE49-F238E27FC236}">
                <a16:creationId xmlns:a16="http://schemas.microsoft.com/office/drawing/2014/main" id="{4EF91453-E670-455C-B7D1-7276F223F754}"/>
              </a:ext>
            </a:extLst>
          </p:cNvPr>
          <p:cNvSpPr>
            <a:spLocks xmlns:a="http://schemas.openxmlformats.org/drawingml/2006/main" noGrp="1"/>
          </p:cNvSpPr>
          <p:nvPr/>
        </p:nvSpPr>
        <p:spPr>
          <a:xfrm xmlns:a="http://schemas.openxmlformats.org/drawingml/2006/main">
            <a:off x="6451092" y="4933188"/>
            <a:ext cx="5015484"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Predict logic, feature engineering and database access in one 300-line function: nowhere to attach a test, a mock, or a cache.</a:t>
            </a:r>
            <a:endParaRPr sz="980"/>
          </a:p>
        </p:txBody>
      </p:sp>
    </p:spTree>
    <p:extLst>
      <p:ext uri="{BB962C8B-B14F-4D97-AF65-F5344CB8AC3E}">
        <p14:creationId xmlns:p14="http://schemas.microsoft.com/office/powerpoint/2010/main" val="67971933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A9E8C67-462E-4C7D-853D-E7CD36F04222}"/>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Two Optimisation Targets, One Codebase</a:t>
            </a:r>
            <a:endParaRPr sz="2600"/>
          </a:p>
        </p:txBody>
      </p:sp>
      <p:sp>
        <p:nvSpPr>
          <p:cNvPr id="3" name="Text 1">
            <a:extLst xmlns:a="http://schemas.openxmlformats.org/drawingml/2006/main">
              <a:ext uri="{FF2B5EF4-FFF2-40B4-BE49-F238E27FC236}">
                <a16:creationId xmlns:a16="http://schemas.microsoft.com/office/drawing/2014/main" id="{39D0744A-719E-4E6C-8831-5FC5B36CA712}"/>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هدفان مختلفان للتحسين، قاعدة كود واحدة</a:t>
            </a:r>
            <a:endParaRPr sz="1300"/>
          </a:p>
        </p:txBody>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a66acd7a4bde41ae"/>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F951B35A-891D-4475-B728-5B0ACF9247A2}"/>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C33C3B7F-DCF9-497A-921B-56A4488BAE14}"/>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1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DF418ACF-D7FA-4178-9F4A-BC63E8FA1D33}"/>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17</a:t>
            </a:r>
            <a:endParaRPr sz="850"/>
          </a:p>
        </p:txBody>
      </p:sp>
      <p:sp>
        <p:nvSpPr>
          <p:cNvPr id="8" name="Shape 5">
            <a:extLst xmlns:a="http://schemas.openxmlformats.org/drawingml/2006/main">
              <a:ext uri="{FF2B5EF4-FFF2-40B4-BE49-F238E27FC236}">
                <a16:creationId xmlns:a16="http://schemas.microsoft.com/office/drawing/2014/main" id="{0F686071-E24C-4E9F-A0CE-1C0A3C67E670}"/>
              </a:ext>
            </a:extLst>
          </p:cNvPr>
          <p:cNvSpPr>
            <a:spLocks xmlns:a="http://schemas.openxmlformats.org/drawingml/2006/main" noGrp="1"/>
          </p:cNvSpPr>
          <p:nvPr/>
        </p:nvSpPr>
        <p:spPr>
          <a:xfrm xmlns:a="http://schemas.openxmlformats.org/drawingml/2006/main">
            <a:off x="502920" y="1508760"/>
            <a:ext cx="5440680" cy="3977640"/>
          </a:xfrm>
          <a:prstGeom xmlns:a="http://schemas.openxmlformats.org/drawingml/2006/main" prst="roundRect">
            <a:avLst>
              <a:gd name="adj" fmla="val 1609"/>
            </a:avLst>
          </a:prstGeom>
          <a:solidFill xmlns:a="http://schemas.openxmlformats.org/drawingml/2006/main">
            <a:srgbClr val="FFFFFF"/>
          </a:solidFill>
          <a:ln xmlns:a="http://schemas.openxmlformats.org/drawingml/2006/main" w="12700">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160639F3-1918-46EB-82E3-C88D79AE2E64}"/>
              </a:ext>
            </a:extLst>
          </p:cNvPr>
          <p:cNvSpPr>
            <a:spLocks xmlns:a="http://schemas.openxmlformats.org/drawingml/2006/main" noGrp="1"/>
          </p:cNvSpPr>
          <p:nvPr/>
        </p:nvSpPr>
        <p:spPr>
          <a:xfrm xmlns:a="http://schemas.openxmlformats.org/drawingml/2006/main">
            <a:off x="502920" y="1508760"/>
            <a:ext cx="5440680" cy="475488"/>
          </a:xfrm>
          <a:prstGeom xmlns:a="http://schemas.openxmlformats.org/drawingml/2006/main" prst="roundRect">
            <a:avLst>
              <a:gd name="adj" fmla="val 13462"/>
            </a:avLst>
          </a:prstGeom>
          <a:solidFill xmlns:a="http://schemas.openxmlformats.org/drawingml/2006/main">
            <a:srgbClr val="FADDD8"/>
          </a:solidFill>
        </p:spPr>
      </p:sp>
      <p:sp>
        <p:nvSpPr>
          <p:cNvPr id="10" name="Text 7">
            <a:extLst xmlns:a="http://schemas.openxmlformats.org/drawingml/2006/main">
              <a:ext uri="{FF2B5EF4-FFF2-40B4-BE49-F238E27FC236}">
                <a16:creationId xmlns:a16="http://schemas.microsoft.com/office/drawing/2014/main" id="{230B1861-1ACF-44E0-B79A-8AE95E5D549C}"/>
              </a:ext>
            </a:extLst>
          </p:cNvPr>
          <p:cNvSpPr>
            <a:spLocks xmlns:a="http://schemas.openxmlformats.org/drawingml/2006/main" noGrp="1"/>
          </p:cNvSpPr>
          <p:nvPr/>
        </p:nvSpPr>
        <p:spPr>
          <a:xfrm xmlns:a="http://schemas.openxmlformats.org/drawingml/2006/main">
            <a:off x="685800" y="1545336"/>
            <a:ext cx="5074920"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E8503A"/>
                </a:solidFill>
                <a:latin typeface="Calibri"/>
                <a:ea typeface="Calibri"/>
                <a:cs typeface="Calibri"/>
              </a:rPr>
              <a:t>Notebook: iteration speed</a:t>
            </a:r>
            <a:endParaRPr sz="1300"/>
          </a:p>
        </p:txBody>
      </p:sp>
      <p:sp>
        <p:nvSpPr>
          <p:cNvPr id="11" name="Text 8">
            <a:extLst xmlns:a="http://schemas.openxmlformats.org/drawingml/2006/main">
              <a:ext uri="{FF2B5EF4-FFF2-40B4-BE49-F238E27FC236}">
                <a16:creationId xmlns:a16="http://schemas.microsoft.com/office/drawing/2014/main" id="{C04B9739-CF01-4DDA-B2E2-C6D2C007EAC8}"/>
              </a:ext>
            </a:extLst>
          </p:cNvPr>
          <p:cNvSpPr>
            <a:spLocks xmlns:a="http://schemas.openxmlformats.org/drawingml/2006/main" noGrp="1"/>
          </p:cNvSpPr>
          <p:nvPr/>
        </p:nvSpPr>
        <p:spPr>
          <a:xfrm xmlns:a="http://schemas.openxmlformats.org/drawingml/2006/main">
            <a:off x="667512" y="21671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8503A"/>
                </a:solidFill>
                <a:latin typeface="Calibri"/>
                <a:ea typeface="Calibri"/>
                <a:cs typeface="Calibri"/>
              </a:rPr>
              <a:t>✕</a:t>
            </a:r>
            <a:endParaRPr sz="1200"/>
          </a:p>
        </p:txBody>
      </p:sp>
      <p:sp>
        <p:nvSpPr>
          <p:cNvPr id="12" name="Text 9">
            <a:extLst xmlns:a="http://schemas.openxmlformats.org/drawingml/2006/main">
              <a:ext uri="{FF2B5EF4-FFF2-40B4-BE49-F238E27FC236}">
                <a16:creationId xmlns:a16="http://schemas.microsoft.com/office/drawing/2014/main" id="{C6E059AB-BA48-413A-B060-B7A1C92775C1}"/>
              </a:ext>
            </a:extLst>
          </p:cNvPr>
          <p:cNvSpPr>
            <a:spLocks xmlns:a="http://schemas.openxmlformats.org/drawingml/2006/main" noGrp="1"/>
          </p:cNvSpPr>
          <p:nvPr/>
        </p:nvSpPr>
        <p:spPr>
          <a:xfrm xmlns:a="http://schemas.openxmlformats.org/drawingml/2006/main">
            <a:off x="978408" y="21396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Everything global, everything mutable</a:t>
            </a:r>
            <a:endParaRPr sz="1050"/>
          </a:p>
        </p:txBody>
      </p:sp>
      <p:sp>
        <p:nvSpPr>
          <p:cNvPr id="13" name="Text 10">
            <a:extLst xmlns:a="http://schemas.openxmlformats.org/drawingml/2006/main">
              <a:ext uri="{FF2B5EF4-FFF2-40B4-BE49-F238E27FC236}">
                <a16:creationId xmlns:a16="http://schemas.microsoft.com/office/drawing/2014/main" id="{47C27631-49DF-4DD9-952B-E204A5F4DEF4}"/>
              </a:ext>
            </a:extLst>
          </p:cNvPr>
          <p:cNvSpPr>
            <a:spLocks xmlns:a="http://schemas.openxmlformats.org/drawingml/2006/main" noGrp="1"/>
          </p:cNvSpPr>
          <p:nvPr/>
        </p:nvSpPr>
        <p:spPr>
          <a:xfrm xmlns:a="http://schemas.openxmlformats.org/drawingml/2006/main">
            <a:off x="667512" y="29672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8503A"/>
                </a:solidFill>
                <a:latin typeface="Calibri"/>
                <a:ea typeface="Calibri"/>
                <a:cs typeface="Calibri"/>
              </a:rPr>
              <a:t>✕</a:t>
            </a:r>
            <a:endParaRPr sz="1200"/>
          </a:p>
        </p:txBody>
      </p:sp>
      <p:sp>
        <p:nvSpPr>
          <p:cNvPr id="14" name="Text 11">
            <a:extLst xmlns:a="http://schemas.openxmlformats.org/drawingml/2006/main">
              <a:ext uri="{FF2B5EF4-FFF2-40B4-BE49-F238E27FC236}">
                <a16:creationId xmlns:a16="http://schemas.microsoft.com/office/drawing/2014/main" id="{29AB2C90-1A28-4AF8-8B24-38EC715D2AD0}"/>
              </a:ext>
            </a:extLst>
          </p:cNvPr>
          <p:cNvSpPr>
            <a:spLocks xmlns:a="http://schemas.openxmlformats.org/drawingml/2006/main" noGrp="1"/>
          </p:cNvSpPr>
          <p:nvPr/>
        </p:nvSpPr>
        <p:spPr>
          <a:xfrm xmlns:a="http://schemas.openxmlformats.org/drawingml/2006/main">
            <a:off x="978408" y="29397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Execution order defined by human memory</a:t>
            </a:r>
            <a:endParaRPr sz="1050"/>
          </a:p>
        </p:txBody>
      </p:sp>
      <p:sp>
        <p:nvSpPr>
          <p:cNvPr id="15" name="Text 12">
            <a:extLst xmlns:a="http://schemas.openxmlformats.org/drawingml/2006/main">
              <a:ext uri="{FF2B5EF4-FFF2-40B4-BE49-F238E27FC236}">
                <a16:creationId xmlns:a16="http://schemas.microsoft.com/office/drawing/2014/main" id="{F533166C-2780-4B4B-995B-E8751ECA2812}"/>
              </a:ext>
            </a:extLst>
          </p:cNvPr>
          <p:cNvSpPr>
            <a:spLocks xmlns:a="http://schemas.openxmlformats.org/drawingml/2006/main" noGrp="1"/>
          </p:cNvSpPr>
          <p:nvPr/>
        </p:nvSpPr>
        <p:spPr>
          <a:xfrm xmlns:a="http://schemas.openxmlformats.org/drawingml/2006/main">
            <a:off x="667512" y="37673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8503A"/>
                </a:solidFill>
                <a:latin typeface="Calibri"/>
                <a:ea typeface="Calibri"/>
                <a:cs typeface="Calibri"/>
              </a:rPr>
              <a:t>✕</a:t>
            </a:r>
            <a:endParaRPr sz="1200"/>
          </a:p>
        </p:txBody>
      </p:sp>
      <p:sp>
        <p:nvSpPr>
          <p:cNvPr id="16" name="Text 13">
            <a:extLst xmlns:a="http://schemas.openxmlformats.org/drawingml/2006/main">
              <a:ext uri="{FF2B5EF4-FFF2-40B4-BE49-F238E27FC236}">
                <a16:creationId xmlns:a16="http://schemas.microsoft.com/office/drawing/2014/main" id="{0877F02E-FE79-4E8D-8B0E-86F79380D8F6}"/>
              </a:ext>
            </a:extLst>
          </p:cNvPr>
          <p:cNvSpPr>
            <a:spLocks xmlns:a="http://schemas.openxmlformats.org/drawingml/2006/main" noGrp="1"/>
          </p:cNvSpPr>
          <p:nvPr/>
        </p:nvSpPr>
        <p:spPr>
          <a:xfrm xmlns:a="http://schemas.openxmlformats.org/drawingml/2006/main">
            <a:off x="978408" y="37398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Paths, thresholds and secrets inline</a:t>
            </a:r>
            <a:endParaRPr sz="1050"/>
          </a:p>
        </p:txBody>
      </p:sp>
      <p:sp>
        <p:nvSpPr>
          <p:cNvPr id="17" name="Text 14">
            <a:extLst xmlns:a="http://schemas.openxmlformats.org/drawingml/2006/main">
              <a:ext uri="{FF2B5EF4-FFF2-40B4-BE49-F238E27FC236}">
                <a16:creationId xmlns:a16="http://schemas.microsoft.com/office/drawing/2014/main" id="{7517E866-DE95-4472-9AA2-D66E13231292}"/>
              </a:ext>
            </a:extLst>
          </p:cNvPr>
          <p:cNvSpPr>
            <a:spLocks xmlns:a="http://schemas.openxmlformats.org/drawingml/2006/main" noGrp="1"/>
          </p:cNvSpPr>
          <p:nvPr/>
        </p:nvSpPr>
        <p:spPr>
          <a:xfrm xmlns:a="http://schemas.openxmlformats.org/drawingml/2006/main">
            <a:off x="667512" y="45674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8503A"/>
                </a:solidFill>
                <a:latin typeface="Calibri"/>
                <a:ea typeface="Calibri"/>
                <a:cs typeface="Calibri"/>
              </a:rPr>
              <a:t>✕</a:t>
            </a:r>
            <a:endParaRPr sz="1200"/>
          </a:p>
        </p:txBody>
      </p:sp>
      <p:sp>
        <p:nvSpPr>
          <p:cNvPr id="18" name="Text 15">
            <a:extLst xmlns:a="http://schemas.openxmlformats.org/drawingml/2006/main">
              <a:ext uri="{FF2B5EF4-FFF2-40B4-BE49-F238E27FC236}">
                <a16:creationId xmlns:a16="http://schemas.microsoft.com/office/drawing/2014/main" id="{FC8CA689-8AB6-4E21-8D64-2C96E2B30F46}"/>
              </a:ext>
            </a:extLst>
          </p:cNvPr>
          <p:cNvSpPr>
            <a:spLocks xmlns:a="http://schemas.openxmlformats.org/drawingml/2006/main" noGrp="1"/>
          </p:cNvSpPr>
          <p:nvPr/>
        </p:nvSpPr>
        <p:spPr>
          <a:xfrm xmlns:a="http://schemas.openxmlformats.org/drawingml/2006/main">
            <a:off x="978408" y="45399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One giant cell does featurise + predict + I/O</a:t>
            </a:r>
            <a:endParaRPr sz="1050"/>
          </a:p>
        </p:txBody>
      </p:sp>
      <p:sp>
        <p:nvSpPr>
          <p:cNvPr id="19" name="Shape 16">
            <a:extLst xmlns:a="http://schemas.openxmlformats.org/drawingml/2006/main">
              <a:ext uri="{FF2B5EF4-FFF2-40B4-BE49-F238E27FC236}">
                <a16:creationId xmlns:a16="http://schemas.microsoft.com/office/drawing/2014/main" id="{72035806-876F-480A-9484-7B81A533DFD9}"/>
              </a:ext>
            </a:extLst>
          </p:cNvPr>
          <p:cNvSpPr>
            <a:spLocks xmlns:a="http://schemas.openxmlformats.org/drawingml/2006/main" noGrp="1"/>
          </p:cNvSpPr>
          <p:nvPr/>
        </p:nvSpPr>
        <p:spPr>
          <a:xfrm xmlns:a="http://schemas.openxmlformats.org/drawingml/2006/main">
            <a:off x="6245352" y="1508760"/>
            <a:ext cx="5440680" cy="3977640"/>
          </a:xfrm>
          <a:prstGeom xmlns:a="http://schemas.openxmlformats.org/drawingml/2006/main" prst="roundRect">
            <a:avLst>
              <a:gd name="adj" fmla="val 1609"/>
            </a:avLst>
          </a:prstGeom>
          <a:solidFill xmlns:a="http://schemas.openxmlformats.org/drawingml/2006/main">
            <a:srgbClr val="FFFFFF"/>
          </a:solidFill>
          <a:ln xmlns:a="http://schemas.openxmlformats.org/drawingml/2006/main" w="12700">
            <a:solidFill>
              <a:srgbClr val="D9E4F5"/>
            </a:solidFill>
            <a:prstDash val="solid"/>
          </a:ln>
        </p:spPr>
      </p:sp>
      <p:sp>
        <p:nvSpPr>
          <p:cNvPr id="20" name="Shape 17">
            <a:extLst xmlns:a="http://schemas.openxmlformats.org/drawingml/2006/main">
              <a:ext uri="{FF2B5EF4-FFF2-40B4-BE49-F238E27FC236}">
                <a16:creationId xmlns:a16="http://schemas.microsoft.com/office/drawing/2014/main" id="{EFC2948F-A2DC-414B-BA7B-5DFA7F5EB69D}"/>
              </a:ext>
            </a:extLst>
          </p:cNvPr>
          <p:cNvSpPr>
            <a:spLocks xmlns:a="http://schemas.openxmlformats.org/drawingml/2006/main" noGrp="1"/>
          </p:cNvSpPr>
          <p:nvPr/>
        </p:nvSpPr>
        <p:spPr>
          <a:xfrm xmlns:a="http://schemas.openxmlformats.org/drawingml/2006/main">
            <a:off x="6245352" y="1508760"/>
            <a:ext cx="5440680" cy="475488"/>
          </a:xfrm>
          <a:prstGeom xmlns:a="http://schemas.openxmlformats.org/drawingml/2006/main" prst="roundRect">
            <a:avLst>
              <a:gd name="adj" fmla="val 13462"/>
            </a:avLst>
          </a:prstGeom>
          <a:solidFill xmlns:a="http://schemas.openxmlformats.org/drawingml/2006/main">
            <a:srgbClr val="EAF4DC"/>
          </a:solidFill>
        </p:spPr>
      </p:sp>
      <p:sp>
        <p:nvSpPr>
          <p:cNvPr id="21" name="Text 18">
            <a:extLst xmlns:a="http://schemas.openxmlformats.org/drawingml/2006/main">
              <a:ext uri="{FF2B5EF4-FFF2-40B4-BE49-F238E27FC236}">
                <a16:creationId xmlns:a16="http://schemas.microsoft.com/office/drawing/2014/main" id="{F17A1AD8-E508-4390-A7C7-091BE027BA07}"/>
              </a:ext>
            </a:extLst>
          </p:cNvPr>
          <p:cNvSpPr>
            <a:spLocks xmlns:a="http://schemas.openxmlformats.org/drawingml/2006/main" noGrp="1"/>
          </p:cNvSpPr>
          <p:nvPr/>
        </p:nvSpPr>
        <p:spPr>
          <a:xfrm xmlns:a="http://schemas.openxmlformats.org/drawingml/2006/main">
            <a:off x="6428232" y="1545336"/>
            <a:ext cx="5074920"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5A8F1F"/>
                </a:solidFill>
                <a:latin typeface="Calibri"/>
                <a:ea typeface="Calibri"/>
                <a:cs typeface="Calibri"/>
              </a:rPr>
              <a:t>Production: change safety</a:t>
            </a:r>
            <a:endParaRPr sz="1300"/>
          </a:p>
        </p:txBody>
      </p:sp>
      <p:sp>
        <p:nvSpPr>
          <p:cNvPr id="22" name="Text 19">
            <a:extLst xmlns:a="http://schemas.openxmlformats.org/drawingml/2006/main">
              <a:ext uri="{FF2B5EF4-FFF2-40B4-BE49-F238E27FC236}">
                <a16:creationId xmlns:a16="http://schemas.microsoft.com/office/drawing/2014/main" id="{4863B304-928C-46D0-A409-017C7BDEF4D7}"/>
              </a:ext>
            </a:extLst>
          </p:cNvPr>
          <p:cNvSpPr>
            <a:spLocks xmlns:a="http://schemas.openxmlformats.org/drawingml/2006/main" noGrp="1"/>
          </p:cNvSpPr>
          <p:nvPr/>
        </p:nvSpPr>
        <p:spPr>
          <a:xfrm xmlns:a="http://schemas.openxmlformats.org/drawingml/2006/main">
            <a:off x="6409944" y="21671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5A8F1F"/>
                </a:solidFill>
                <a:latin typeface="Calibri"/>
                <a:ea typeface="Calibri"/>
                <a:cs typeface="Calibri"/>
              </a:rPr>
              <a:t>✓</a:t>
            </a:r>
            <a:endParaRPr sz="1200"/>
          </a:p>
        </p:txBody>
      </p:sp>
      <p:sp>
        <p:nvSpPr>
          <p:cNvPr id="23" name="Text 20">
            <a:extLst xmlns:a="http://schemas.openxmlformats.org/drawingml/2006/main">
              <a:ext uri="{FF2B5EF4-FFF2-40B4-BE49-F238E27FC236}">
                <a16:creationId xmlns:a16="http://schemas.microsoft.com/office/drawing/2014/main" id="{835D8BFC-3D7D-478F-94C2-3F5C9B784B72}"/>
              </a:ext>
            </a:extLst>
          </p:cNvPr>
          <p:cNvSpPr>
            <a:spLocks xmlns:a="http://schemas.openxmlformats.org/drawingml/2006/main" noGrp="1"/>
          </p:cNvSpPr>
          <p:nvPr/>
        </p:nvSpPr>
        <p:spPr>
          <a:xfrm xmlns:a="http://schemas.openxmlformats.org/drawingml/2006/main">
            <a:off x="6720840" y="21396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Explicit inputs and outputs</a:t>
            </a:r>
            <a:endParaRPr sz="1050"/>
          </a:p>
        </p:txBody>
      </p:sp>
      <p:sp>
        <p:nvSpPr>
          <p:cNvPr id="24" name="Text 21">
            <a:extLst xmlns:a="http://schemas.openxmlformats.org/drawingml/2006/main">
              <a:ext uri="{FF2B5EF4-FFF2-40B4-BE49-F238E27FC236}">
                <a16:creationId xmlns:a16="http://schemas.microsoft.com/office/drawing/2014/main" id="{4932E14A-6A41-4520-9887-AA60971816A7}"/>
              </a:ext>
            </a:extLst>
          </p:cNvPr>
          <p:cNvSpPr>
            <a:spLocks xmlns:a="http://schemas.openxmlformats.org/drawingml/2006/main" noGrp="1"/>
          </p:cNvSpPr>
          <p:nvPr/>
        </p:nvSpPr>
        <p:spPr>
          <a:xfrm xmlns:a="http://schemas.openxmlformats.org/drawingml/2006/main">
            <a:off x="6409944" y="29672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5A8F1F"/>
                </a:solidFill>
                <a:latin typeface="Calibri"/>
                <a:ea typeface="Calibri"/>
                <a:cs typeface="Calibri"/>
              </a:rPr>
              <a:t>✓</a:t>
            </a:r>
            <a:endParaRPr sz="1200"/>
          </a:p>
        </p:txBody>
      </p:sp>
      <p:sp>
        <p:nvSpPr>
          <p:cNvPr id="25" name="Text 22">
            <a:extLst xmlns:a="http://schemas.openxmlformats.org/drawingml/2006/main">
              <a:ext uri="{FF2B5EF4-FFF2-40B4-BE49-F238E27FC236}">
                <a16:creationId xmlns:a16="http://schemas.microsoft.com/office/drawing/2014/main" id="{DA2105FB-E346-458F-A4A6-8FA1CFC8AE48}"/>
              </a:ext>
            </a:extLst>
          </p:cNvPr>
          <p:cNvSpPr>
            <a:spLocks xmlns:a="http://schemas.openxmlformats.org/drawingml/2006/main" noGrp="1"/>
          </p:cNvSpPr>
          <p:nvPr/>
        </p:nvSpPr>
        <p:spPr>
          <a:xfrm xmlns:a="http://schemas.openxmlformats.org/drawingml/2006/main">
            <a:off x="6720840" y="29397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Deterministic execution, any order of tools</a:t>
            </a:r>
            <a:endParaRPr sz="1050"/>
          </a:p>
        </p:txBody>
      </p:sp>
      <p:sp>
        <p:nvSpPr>
          <p:cNvPr id="26" name="Text 23">
            <a:extLst xmlns:a="http://schemas.openxmlformats.org/drawingml/2006/main">
              <a:ext uri="{FF2B5EF4-FFF2-40B4-BE49-F238E27FC236}">
                <a16:creationId xmlns:a16="http://schemas.microsoft.com/office/drawing/2014/main" id="{CA53E183-B83C-4DBB-8E9A-6C69C151DEAA}"/>
              </a:ext>
            </a:extLst>
          </p:cNvPr>
          <p:cNvSpPr>
            <a:spLocks xmlns:a="http://schemas.openxmlformats.org/drawingml/2006/main" noGrp="1"/>
          </p:cNvSpPr>
          <p:nvPr/>
        </p:nvSpPr>
        <p:spPr>
          <a:xfrm xmlns:a="http://schemas.openxmlformats.org/drawingml/2006/main">
            <a:off x="6409944" y="37673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5A8F1F"/>
                </a:solidFill>
                <a:latin typeface="Calibri"/>
                <a:ea typeface="Calibri"/>
                <a:cs typeface="Calibri"/>
              </a:rPr>
              <a:t>✓</a:t>
            </a:r>
            <a:endParaRPr sz="1200"/>
          </a:p>
        </p:txBody>
      </p:sp>
      <p:sp>
        <p:nvSpPr>
          <p:cNvPr id="27" name="Text 24">
            <a:extLst xmlns:a="http://schemas.openxmlformats.org/drawingml/2006/main">
              <a:ext uri="{FF2B5EF4-FFF2-40B4-BE49-F238E27FC236}">
                <a16:creationId xmlns:a16="http://schemas.microsoft.com/office/drawing/2014/main" id="{6A6E33BA-4516-4E4E-B73B-C04CE90B2765}"/>
              </a:ext>
            </a:extLst>
          </p:cNvPr>
          <p:cNvSpPr>
            <a:spLocks xmlns:a="http://schemas.openxmlformats.org/drawingml/2006/main" noGrp="1"/>
          </p:cNvSpPr>
          <p:nvPr/>
        </p:nvSpPr>
        <p:spPr>
          <a:xfrm xmlns:a="http://schemas.openxmlformats.org/drawingml/2006/main">
            <a:off x="6720840" y="37398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Every I/O location is injected configuration</a:t>
            </a:r>
            <a:endParaRPr sz="1050"/>
          </a:p>
        </p:txBody>
      </p:sp>
      <p:sp>
        <p:nvSpPr>
          <p:cNvPr id="28" name="Text 25">
            <a:extLst xmlns:a="http://schemas.openxmlformats.org/drawingml/2006/main">
              <a:ext uri="{FF2B5EF4-FFF2-40B4-BE49-F238E27FC236}">
                <a16:creationId xmlns:a16="http://schemas.microsoft.com/office/drawing/2014/main" id="{DDA4610D-C368-4EA4-961D-5562137C07E8}"/>
              </a:ext>
            </a:extLst>
          </p:cNvPr>
          <p:cNvSpPr>
            <a:spLocks xmlns:a="http://schemas.openxmlformats.org/drawingml/2006/main" noGrp="1"/>
          </p:cNvSpPr>
          <p:nvPr/>
        </p:nvSpPr>
        <p:spPr>
          <a:xfrm xmlns:a="http://schemas.openxmlformats.org/drawingml/2006/main">
            <a:off x="6409944" y="45674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5A8F1F"/>
                </a:solidFill>
                <a:latin typeface="Calibri"/>
                <a:ea typeface="Calibri"/>
                <a:cs typeface="Calibri"/>
              </a:rPr>
              <a:t>✓</a:t>
            </a:r>
            <a:endParaRPr sz="1200"/>
          </a:p>
        </p:txBody>
      </p:sp>
      <p:sp>
        <p:nvSpPr>
          <p:cNvPr id="29" name="Text 26">
            <a:extLst xmlns:a="http://schemas.openxmlformats.org/drawingml/2006/main">
              <a:ext uri="{FF2B5EF4-FFF2-40B4-BE49-F238E27FC236}">
                <a16:creationId xmlns:a16="http://schemas.microsoft.com/office/drawing/2014/main" id="{A34B8DF6-0C1B-4A3F-8C18-02D7B0DA9E4D}"/>
              </a:ext>
            </a:extLst>
          </p:cNvPr>
          <p:cNvSpPr>
            <a:spLocks xmlns:a="http://schemas.openxmlformats.org/drawingml/2006/main" noGrp="1"/>
          </p:cNvSpPr>
          <p:nvPr/>
        </p:nvSpPr>
        <p:spPr>
          <a:xfrm xmlns:a="http://schemas.openxmlformats.org/drawingml/2006/main">
            <a:off x="6720840" y="45399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Change one thing without breaking five others</a:t>
            </a:r>
            <a:endParaRPr sz="1050"/>
          </a:p>
        </p:txBody>
      </p:sp>
      <p:sp>
        <p:nvSpPr>
          <p:cNvPr id="30" name="Shape 27">
            <a:extLst xmlns:a="http://schemas.openxmlformats.org/drawingml/2006/main">
              <a:ext uri="{FF2B5EF4-FFF2-40B4-BE49-F238E27FC236}">
                <a16:creationId xmlns:a16="http://schemas.microsoft.com/office/drawing/2014/main" id="{9B520BE8-078E-4C52-B3CF-528536AB5343}"/>
              </a:ext>
            </a:extLst>
          </p:cNvPr>
          <p:cNvSpPr>
            <a:spLocks xmlns:a="http://schemas.openxmlformats.org/drawingml/2006/main" noGrp="1"/>
          </p:cNvSpPr>
          <p:nvPr/>
        </p:nvSpPr>
        <p:spPr>
          <a:xfrm xmlns:a="http://schemas.openxmlformats.org/drawingml/2006/main">
            <a:off x="502920" y="5650992"/>
            <a:ext cx="11183112" cy="566928"/>
          </a:xfrm>
          <a:prstGeom xmlns:a="http://schemas.openxmlformats.org/drawingml/2006/main" prst="roundRect">
            <a:avLst>
              <a:gd name="adj" fmla="val 11290"/>
            </a:avLst>
          </a:prstGeom>
          <a:solidFill xmlns:a="http://schemas.openxmlformats.org/drawingml/2006/main">
            <a:srgbClr val="1D2A5C"/>
          </a:solidFill>
        </p:spPr>
      </p:sp>
      <p:sp>
        <p:nvSpPr>
          <p:cNvPr id="31" name="Text 28">
            <a:extLst xmlns:a="http://schemas.openxmlformats.org/drawingml/2006/main">
              <a:ext uri="{FF2B5EF4-FFF2-40B4-BE49-F238E27FC236}">
                <a16:creationId xmlns:a16="http://schemas.microsoft.com/office/drawing/2014/main" id="{4751D18F-CE46-4430-98EB-7994D3A41A32}"/>
              </a:ext>
            </a:extLst>
          </p:cNvPr>
          <p:cNvSpPr>
            <a:spLocks xmlns:a="http://schemas.openxmlformats.org/drawingml/2006/main" noGrp="1"/>
          </p:cNvSpPr>
          <p:nvPr/>
        </p:nvSpPr>
        <p:spPr>
          <a:xfrm xmlns:a="http://schemas.openxmlformats.org/drawingml/2006/main">
            <a:off x="777240" y="5650992"/>
            <a:ext cx="1069848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00A79D"/>
                </a:solidFill>
                <a:latin typeface="Calibri"/>
                <a:ea typeface="Calibri"/>
                <a:cs typeface="Calibri"/>
              </a:rPr>
              <a:t>TAKEAWAY   </a:t>
            </a:r>
            <a:r>
              <a:rPr sz="1150">
                <a:solidFill>
                  <a:srgbClr val="FFFFFF"/>
                </a:solidFill>
                <a:latin typeface="Calibri"/>
                <a:ea typeface="Calibri"/>
                <a:cs typeface="Calibri"/>
              </a:rPr>
              <a:t>Neither is wrong — they optimise for different things. The refactor is a translation between the two, not a rewrite.</a:t>
            </a:r>
            <a:endParaRPr sz="1000"/>
          </a:p>
        </p:txBody>
      </p:sp>
    </p:spTree>
    <p:extLst>
      <p:ext uri="{BB962C8B-B14F-4D97-AF65-F5344CB8AC3E}">
        <p14:creationId xmlns:p14="http://schemas.microsoft.com/office/powerpoint/2010/main" val="75573721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42265E0-DD3A-4314-B524-255D17936DF8}"/>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Clean Architecture Applied to ML Services</a:t>
            </a:r>
            <a:endParaRPr sz="2600"/>
          </a:p>
        </p:txBody>
      </p:sp>
      <p:sp>
        <p:nvSpPr>
          <p:cNvPr id="3" name="Text 1">
            <a:extLst xmlns:a="http://schemas.openxmlformats.org/drawingml/2006/main">
              <a:ext uri="{FF2B5EF4-FFF2-40B4-BE49-F238E27FC236}">
                <a16:creationId xmlns:a16="http://schemas.microsoft.com/office/drawing/2014/main" id="{96B2779A-396D-4C97-97BF-9969340AB750}"/>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العمارة النظيفة مطبقة على خدمات تعلم الآلة</a:t>
            </a:r>
            <a:endParaRPr sz="1300"/>
          </a:p>
        </p:txBody>
      </p:sp>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c82d75c7e57a45cb"/>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2850F202-9686-4B1E-A1D0-F3492054F7E0}"/>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456B8DA8-C4B4-4A38-9BA7-AA3AC548BEA1}"/>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1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C6D172C4-92BC-4406-BFCB-8D584F7C37FF}"/>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18</a:t>
            </a:r>
            <a:endParaRPr sz="850"/>
          </a:p>
        </p:txBody>
      </p:sp>
      <p:sp>
        <p:nvSpPr>
          <p:cNvPr id="8" name="Shape 5">
            <a:extLst xmlns:a="http://schemas.openxmlformats.org/drawingml/2006/main">
              <a:ext uri="{FF2B5EF4-FFF2-40B4-BE49-F238E27FC236}">
                <a16:creationId xmlns:a16="http://schemas.microsoft.com/office/drawing/2014/main" id="{7435A223-54D5-4429-93AE-3E8BF5104AAB}"/>
              </a:ext>
            </a:extLst>
          </p:cNvPr>
          <p:cNvSpPr>
            <a:spLocks xmlns:a="http://schemas.openxmlformats.org/drawingml/2006/main" noGrp="1"/>
          </p:cNvSpPr>
          <p:nvPr/>
        </p:nvSpPr>
        <p:spPr>
          <a:xfrm xmlns:a="http://schemas.openxmlformats.org/drawingml/2006/main">
            <a:off x="502920" y="1600200"/>
            <a:ext cx="6949440" cy="1033272"/>
          </a:xfrm>
          <a:prstGeom xmlns:a="http://schemas.openxmlformats.org/drawingml/2006/main" prst="roundRect">
            <a:avLst>
              <a:gd name="adj" fmla="val 5310"/>
            </a:avLst>
          </a:prstGeom>
          <a:solidFill xmlns:a="http://schemas.openxmlformats.org/drawingml/2006/main">
            <a:srgbClr val="D4F1EE"/>
          </a:solidFill>
          <a:ln xmlns:a="http://schemas.openxmlformats.org/drawingml/2006/main" w="15875">
            <a:solidFill>
              <a:srgbClr val="00A79D"/>
            </a:solidFill>
            <a:prstDash val="solid"/>
          </a:ln>
        </p:spPr>
      </p:sp>
      <p:sp>
        <p:nvSpPr>
          <p:cNvPr id="9" name="Text 6">
            <a:extLst xmlns:a="http://schemas.openxmlformats.org/drawingml/2006/main">
              <a:ext uri="{FF2B5EF4-FFF2-40B4-BE49-F238E27FC236}">
                <a16:creationId xmlns:a16="http://schemas.microsoft.com/office/drawing/2014/main" id="{086977CA-5C0A-4CB1-9EC3-2688B1C7CEC5}"/>
              </a:ext>
            </a:extLst>
          </p:cNvPr>
          <p:cNvSpPr>
            <a:spLocks xmlns:a="http://schemas.openxmlformats.org/drawingml/2006/main" noGrp="1"/>
          </p:cNvSpPr>
          <p:nvPr/>
        </p:nvSpPr>
        <p:spPr>
          <a:xfrm xmlns:a="http://schemas.openxmlformats.org/drawingml/2006/main">
            <a:off x="731520" y="1673352"/>
            <a:ext cx="2362810" cy="8869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D2A5C"/>
                </a:solidFill>
                <a:latin typeface="Calibri"/>
                <a:ea typeface="Calibri"/>
                <a:cs typeface="Calibri"/>
              </a:rPr>
              <a:t>Entrypoints</a:t>
            </a:r>
            <a:endParaRPr sz="1300"/>
          </a:p>
        </p:txBody>
      </p:sp>
      <p:sp>
        <p:nvSpPr>
          <p:cNvPr id="10" name="Text 7">
            <a:extLst xmlns:a="http://schemas.openxmlformats.org/drawingml/2006/main">
              <a:ext uri="{FF2B5EF4-FFF2-40B4-BE49-F238E27FC236}">
                <a16:creationId xmlns:a16="http://schemas.microsoft.com/office/drawing/2014/main" id="{DD09DF5E-6BF2-4B9F-9E66-8497A934FAD6}"/>
              </a:ext>
            </a:extLst>
          </p:cNvPr>
          <p:cNvSpPr>
            <a:spLocks xmlns:a="http://schemas.openxmlformats.org/drawingml/2006/main" noGrp="1"/>
          </p:cNvSpPr>
          <p:nvPr/>
        </p:nvSpPr>
        <p:spPr>
          <a:xfrm xmlns:a="http://schemas.openxmlformats.org/drawingml/2006/main">
            <a:off x="3004718" y="1673352"/>
            <a:ext cx="4308653" cy="8869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a:solidFill>
                  <a:srgbClr val="5F6B7A"/>
                </a:solidFill>
                <a:latin typeface="Calibri"/>
                <a:ea typeface="Calibri"/>
                <a:cs typeface="Calibri"/>
              </a:rPr>
              <a:t>FastAPI app, CLI, batch job — may import everything below</a:t>
            </a:r>
            <a:endParaRPr sz="1000"/>
          </a:p>
        </p:txBody>
      </p:sp>
      <p:sp>
        <p:nvSpPr>
          <p:cNvPr id="11" name="Shape 8">
            <a:extLst xmlns:a="http://schemas.openxmlformats.org/drawingml/2006/main">
              <a:ext uri="{FF2B5EF4-FFF2-40B4-BE49-F238E27FC236}">
                <a16:creationId xmlns:a16="http://schemas.microsoft.com/office/drawing/2014/main" id="{39125FDC-018D-423A-90FD-8863154CAE35}"/>
              </a:ext>
            </a:extLst>
          </p:cNvPr>
          <p:cNvSpPr>
            <a:spLocks xmlns:a="http://schemas.openxmlformats.org/drawingml/2006/main" noGrp="1"/>
          </p:cNvSpPr>
          <p:nvPr/>
        </p:nvSpPr>
        <p:spPr>
          <a:xfrm xmlns:a="http://schemas.openxmlformats.org/drawingml/2006/main" rot="10800000">
            <a:off x="3895344" y="2638044"/>
            <a:ext cx="164592" cy="128016"/>
          </a:xfrm>
          <a:prstGeom xmlns:a="http://schemas.openxmlformats.org/drawingml/2006/main" prst="triangle">
            <a:avLst/>
          </a:prstGeom>
          <a:solidFill xmlns:a="http://schemas.openxmlformats.org/drawingml/2006/main">
            <a:srgbClr val="8A96A6"/>
          </a:solidFill>
        </p:spPr>
      </p:sp>
      <p:sp>
        <p:nvSpPr>
          <p:cNvPr id="12" name="Shape 9">
            <a:extLst xmlns:a="http://schemas.openxmlformats.org/drawingml/2006/main">
              <a:ext uri="{FF2B5EF4-FFF2-40B4-BE49-F238E27FC236}">
                <a16:creationId xmlns:a16="http://schemas.microsoft.com/office/drawing/2014/main" id="{6304695B-8E1A-4A95-A37A-31E3D263215C}"/>
              </a:ext>
            </a:extLst>
          </p:cNvPr>
          <p:cNvSpPr>
            <a:spLocks xmlns:a="http://schemas.openxmlformats.org/drawingml/2006/main" noGrp="1"/>
          </p:cNvSpPr>
          <p:nvPr/>
        </p:nvSpPr>
        <p:spPr>
          <a:xfrm xmlns:a="http://schemas.openxmlformats.org/drawingml/2006/main">
            <a:off x="502920" y="2779776"/>
            <a:ext cx="6949440" cy="1033272"/>
          </a:xfrm>
          <a:prstGeom xmlns:a="http://schemas.openxmlformats.org/drawingml/2006/main" prst="roundRect">
            <a:avLst>
              <a:gd name="adj" fmla="val 5310"/>
            </a:avLst>
          </a:prstGeom>
          <a:solidFill xmlns:a="http://schemas.openxmlformats.org/drawingml/2006/main">
            <a:srgbClr val="D9F0FA"/>
          </a:solidFill>
          <a:ln xmlns:a="http://schemas.openxmlformats.org/drawingml/2006/main" w="15875">
            <a:solidFill>
              <a:srgbClr val="29ABE2"/>
            </a:solidFill>
            <a:prstDash val="solid"/>
          </a:ln>
        </p:spPr>
      </p:sp>
      <p:sp>
        <p:nvSpPr>
          <p:cNvPr id="13" name="Text 10">
            <a:extLst xmlns:a="http://schemas.openxmlformats.org/drawingml/2006/main">
              <a:ext uri="{FF2B5EF4-FFF2-40B4-BE49-F238E27FC236}">
                <a16:creationId xmlns:a16="http://schemas.microsoft.com/office/drawing/2014/main" id="{AB52BFA0-71A5-4DC2-A510-B5F6FC92A53B}"/>
              </a:ext>
            </a:extLst>
          </p:cNvPr>
          <p:cNvSpPr>
            <a:spLocks xmlns:a="http://schemas.openxmlformats.org/drawingml/2006/main" noGrp="1"/>
          </p:cNvSpPr>
          <p:nvPr/>
        </p:nvSpPr>
        <p:spPr>
          <a:xfrm xmlns:a="http://schemas.openxmlformats.org/drawingml/2006/main">
            <a:off x="731520" y="2852928"/>
            <a:ext cx="2362810" cy="8869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D2A5C"/>
                </a:solidFill>
                <a:latin typeface="Calibri"/>
                <a:ea typeface="Calibri"/>
                <a:cs typeface="Calibri"/>
              </a:rPr>
              <a:t>Adapters / Infrastructure</a:t>
            </a:r>
            <a:endParaRPr sz="1300"/>
          </a:p>
        </p:txBody>
      </p:sp>
      <p:sp>
        <p:nvSpPr>
          <p:cNvPr id="14" name="Text 11">
            <a:extLst xmlns:a="http://schemas.openxmlformats.org/drawingml/2006/main">
              <a:ext uri="{FF2B5EF4-FFF2-40B4-BE49-F238E27FC236}">
                <a16:creationId xmlns:a16="http://schemas.microsoft.com/office/drawing/2014/main" id="{982DD6E2-5E27-4221-AB82-302371D8B4DF}"/>
              </a:ext>
            </a:extLst>
          </p:cNvPr>
          <p:cNvSpPr>
            <a:spLocks xmlns:a="http://schemas.openxmlformats.org/drawingml/2006/main" noGrp="1"/>
          </p:cNvSpPr>
          <p:nvPr/>
        </p:nvSpPr>
        <p:spPr>
          <a:xfrm xmlns:a="http://schemas.openxmlformats.org/drawingml/2006/main">
            <a:off x="3004718" y="2852928"/>
            <a:ext cx="4308653" cy="8869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a:solidFill>
                  <a:srgbClr val="5F6B7A"/>
                </a:solidFill>
                <a:latin typeface="Calibri"/>
                <a:ea typeface="Calibri"/>
                <a:cs typeface="Calibri"/>
              </a:rPr>
              <a:t>Model loaders (joblib/ONNX), feature store client, DB repositories</a:t>
            </a:r>
            <a:endParaRPr sz="1000"/>
          </a:p>
        </p:txBody>
      </p:sp>
      <p:sp>
        <p:nvSpPr>
          <p:cNvPr id="15" name="Shape 12">
            <a:extLst xmlns:a="http://schemas.openxmlformats.org/drawingml/2006/main">
              <a:ext uri="{FF2B5EF4-FFF2-40B4-BE49-F238E27FC236}">
                <a16:creationId xmlns:a16="http://schemas.microsoft.com/office/drawing/2014/main" id="{F0E42E0C-D498-44EE-993D-CB1D0221BCB0}"/>
              </a:ext>
            </a:extLst>
          </p:cNvPr>
          <p:cNvSpPr>
            <a:spLocks xmlns:a="http://schemas.openxmlformats.org/drawingml/2006/main" noGrp="1"/>
          </p:cNvSpPr>
          <p:nvPr/>
        </p:nvSpPr>
        <p:spPr>
          <a:xfrm xmlns:a="http://schemas.openxmlformats.org/drawingml/2006/main" rot="10800000">
            <a:off x="3895344" y="3817620"/>
            <a:ext cx="164592" cy="128016"/>
          </a:xfrm>
          <a:prstGeom xmlns:a="http://schemas.openxmlformats.org/drawingml/2006/main" prst="triangle">
            <a:avLst/>
          </a:prstGeom>
          <a:solidFill xmlns:a="http://schemas.openxmlformats.org/drawingml/2006/main">
            <a:srgbClr val="8A96A6"/>
          </a:solidFill>
        </p:spPr>
      </p:sp>
      <p:sp>
        <p:nvSpPr>
          <p:cNvPr id="16" name="Shape 13">
            <a:extLst xmlns:a="http://schemas.openxmlformats.org/drawingml/2006/main">
              <a:ext uri="{FF2B5EF4-FFF2-40B4-BE49-F238E27FC236}">
                <a16:creationId xmlns:a16="http://schemas.microsoft.com/office/drawing/2014/main" id="{B721DAA2-8B2C-4F38-BDF0-B21B77991BE1}"/>
              </a:ext>
            </a:extLst>
          </p:cNvPr>
          <p:cNvSpPr>
            <a:spLocks xmlns:a="http://schemas.openxmlformats.org/drawingml/2006/main" noGrp="1"/>
          </p:cNvSpPr>
          <p:nvPr/>
        </p:nvSpPr>
        <p:spPr>
          <a:xfrm xmlns:a="http://schemas.openxmlformats.org/drawingml/2006/main">
            <a:off x="502920" y="3959352"/>
            <a:ext cx="6949440" cy="1033272"/>
          </a:xfrm>
          <a:prstGeom xmlns:a="http://schemas.openxmlformats.org/drawingml/2006/main" prst="roundRect">
            <a:avLst>
              <a:gd name="adj" fmla="val 5310"/>
            </a:avLst>
          </a:prstGeom>
          <a:solidFill xmlns:a="http://schemas.openxmlformats.org/drawingml/2006/main">
            <a:srgbClr val="FDEBD7"/>
          </a:solidFill>
          <a:ln xmlns:a="http://schemas.openxmlformats.org/drawingml/2006/main" w="15875">
            <a:solidFill>
              <a:srgbClr val="F58220"/>
            </a:solidFill>
            <a:prstDash val="solid"/>
          </a:ln>
        </p:spPr>
      </p:sp>
      <p:sp>
        <p:nvSpPr>
          <p:cNvPr id="17" name="Text 14">
            <a:extLst xmlns:a="http://schemas.openxmlformats.org/drawingml/2006/main">
              <a:ext uri="{FF2B5EF4-FFF2-40B4-BE49-F238E27FC236}">
                <a16:creationId xmlns:a16="http://schemas.microsoft.com/office/drawing/2014/main" id="{F1A09A4F-47A6-4231-8924-0D31E9069A60}"/>
              </a:ext>
            </a:extLst>
          </p:cNvPr>
          <p:cNvSpPr>
            <a:spLocks xmlns:a="http://schemas.openxmlformats.org/drawingml/2006/main" noGrp="1"/>
          </p:cNvSpPr>
          <p:nvPr/>
        </p:nvSpPr>
        <p:spPr>
          <a:xfrm xmlns:a="http://schemas.openxmlformats.org/drawingml/2006/main">
            <a:off x="731520" y="4032504"/>
            <a:ext cx="2362810" cy="8869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D2A5C"/>
                </a:solidFill>
                <a:latin typeface="Calibri"/>
                <a:ea typeface="Calibri"/>
                <a:cs typeface="Calibri"/>
              </a:rPr>
              <a:t>Service (use-case)</a:t>
            </a:r>
            <a:endParaRPr sz="1300"/>
          </a:p>
        </p:txBody>
      </p:sp>
      <p:sp>
        <p:nvSpPr>
          <p:cNvPr id="18" name="Text 15">
            <a:extLst xmlns:a="http://schemas.openxmlformats.org/drawingml/2006/main">
              <a:ext uri="{FF2B5EF4-FFF2-40B4-BE49-F238E27FC236}">
                <a16:creationId xmlns:a16="http://schemas.microsoft.com/office/drawing/2014/main" id="{CB4A2207-7D65-4628-B00E-6572D8E0DC20}"/>
              </a:ext>
            </a:extLst>
          </p:cNvPr>
          <p:cNvSpPr>
            <a:spLocks xmlns:a="http://schemas.openxmlformats.org/drawingml/2006/main" noGrp="1"/>
          </p:cNvSpPr>
          <p:nvPr/>
        </p:nvSpPr>
        <p:spPr>
          <a:xfrm xmlns:a="http://schemas.openxmlformats.org/drawingml/2006/main">
            <a:off x="3004718" y="4032504"/>
            <a:ext cx="4308653" cy="8869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a:solidFill>
                  <a:srgbClr val="5F6B7A"/>
                </a:solidFill>
                <a:latin typeface="Calibri"/>
                <a:ea typeface="Calibri"/>
                <a:cs typeface="Calibri"/>
              </a:rPr>
              <a:t>FraudScorer.score(txn): validate → featurise → predict → apply policy</a:t>
            </a:r>
            <a:endParaRPr sz="1000"/>
          </a:p>
        </p:txBody>
      </p:sp>
      <p:sp>
        <p:nvSpPr>
          <p:cNvPr id="19" name="Shape 16">
            <a:extLst xmlns:a="http://schemas.openxmlformats.org/drawingml/2006/main">
              <a:ext uri="{FF2B5EF4-FFF2-40B4-BE49-F238E27FC236}">
                <a16:creationId xmlns:a16="http://schemas.microsoft.com/office/drawing/2014/main" id="{4DF68EBD-65ED-4A89-8D99-A05450BC3424}"/>
              </a:ext>
            </a:extLst>
          </p:cNvPr>
          <p:cNvSpPr>
            <a:spLocks xmlns:a="http://schemas.openxmlformats.org/drawingml/2006/main" noGrp="1"/>
          </p:cNvSpPr>
          <p:nvPr/>
        </p:nvSpPr>
        <p:spPr>
          <a:xfrm xmlns:a="http://schemas.openxmlformats.org/drawingml/2006/main" rot="10800000">
            <a:off x="3895344" y="4997196"/>
            <a:ext cx="164592" cy="128016"/>
          </a:xfrm>
          <a:prstGeom xmlns:a="http://schemas.openxmlformats.org/drawingml/2006/main" prst="triangle">
            <a:avLst/>
          </a:prstGeom>
          <a:solidFill xmlns:a="http://schemas.openxmlformats.org/drawingml/2006/main">
            <a:srgbClr val="8A96A6"/>
          </a:solidFill>
        </p:spPr>
      </p:sp>
      <p:sp>
        <p:nvSpPr>
          <p:cNvPr id="20" name="Shape 17">
            <a:extLst xmlns:a="http://schemas.openxmlformats.org/drawingml/2006/main">
              <a:ext uri="{FF2B5EF4-FFF2-40B4-BE49-F238E27FC236}">
                <a16:creationId xmlns:a16="http://schemas.microsoft.com/office/drawing/2014/main" id="{38A9DF3D-E88B-4234-93F4-068617FFBCA4}"/>
              </a:ext>
            </a:extLst>
          </p:cNvPr>
          <p:cNvSpPr>
            <a:spLocks xmlns:a="http://schemas.openxmlformats.org/drawingml/2006/main" noGrp="1"/>
          </p:cNvSpPr>
          <p:nvPr/>
        </p:nvSpPr>
        <p:spPr>
          <a:xfrm xmlns:a="http://schemas.openxmlformats.org/drawingml/2006/main">
            <a:off x="502920" y="5138928"/>
            <a:ext cx="6949440" cy="1033272"/>
          </a:xfrm>
          <a:prstGeom xmlns:a="http://schemas.openxmlformats.org/drawingml/2006/main" prst="roundRect">
            <a:avLst>
              <a:gd name="adj" fmla="val 5310"/>
            </a:avLst>
          </a:prstGeom>
          <a:solidFill xmlns:a="http://schemas.openxmlformats.org/drawingml/2006/main">
            <a:srgbClr val="EAF4DC"/>
          </a:solidFill>
          <a:ln xmlns:a="http://schemas.openxmlformats.org/drawingml/2006/main" w="15875">
            <a:solidFill>
              <a:srgbClr val="8DC63F"/>
            </a:solidFill>
            <a:prstDash val="solid"/>
          </a:ln>
        </p:spPr>
      </p:sp>
      <p:sp>
        <p:nvSpPr>
          <p:cNvPr id="21" name="Text 18">
            <a:extLst xmlns:a="http://schemas.openxmlformats.org/drawingml/2006/main">
              <a:ext uri="{FF2B5EF4-FFF2-40B4-BE49-F238E27FC236}">
                <a16:creationId xmlns:a16="http://schemas.microsoft.com/office/drawing/2014/main" id="{8E69BD62-D3D4-440A-AC4C-F60A91687983}"/>
              </a:ext>
            </a:extLst>
          </p:cNvPr>
          <p:cNvSpPr>
            <a:spLocks xmlns:a="http://schemas.openxmlformats.org/drawingml/2006/main" noGrp="1"/>
          </p:cNvSpPr>
          <p:nvPr/>
        </p:nvSpPr>
        <p:spPr>
          <a:xfrm xmlns:a="http://schemas.openxmlformats.org/drawingml/2006/main">
            <a:off x="731520" y="5212080"/>
            <a:ext cx="2362810" cy="8869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D2A5C"/>
                </a:solidFill>
                <a:latin typeface="Calibri"/>
                <a:ea typeface="Calibri"/>
                <a:cs typeface="Calibri"/>
              </a:rPr>
              <a:t>Domain</a:t>
            </a:r>
            <a:endParaRPr sz="1300"/>
          </a:p>
        </p:txBody>
      </p:sp>
      <p:sp>
        <p:nvSpPr>
          <p:cNvPr id="22" name="Text 19">
            <a:extLst xmlns:a="http://schemas.openxmlformats.org/drawingml/2006/main">
              <a:ext uri="{FF2B5EF4-FFF2-40B4-BE49-F238E27FC236}">
                <a16:creationId xmlns:a16="http://schemas.microsoft.com/office/drawing/2014/main" id="{A0C860B6-D862-4D7F-9170-D82770D029AA}"/>
              </a:ext>
            </a:extLst>
          </p:cNvPr>
          <p:cNvSpPr>
            <a:spLocks xmlns:a="http://schemas.openxmlformats.org/drawingml/2006/main" noGrp="1"/>
          </p:cNvSpPr>
          <p:nvPr/>
        </p:nvSpPr>
        <p:spPr>
          <a:xfrm xmlns:a="http://schemas.openxmlformats.org/drawingml/2006/main">
            <a:off x="3004718" y="5212080"/>
            <a:ext cx="4308653" cy="8869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a:solidFill>
                  <a:srgbClr val="5F6B7A"/>
                </a:solidFill>
                <a:latin typeface="Calibri"/>
                <a:ea typeface="Calibri"/>
                <a:cs typeface="Calibri"/>
              </a:rPr>
              <a:t>Transaction and score types, feature definitions, business rules</a:t>
            </a:r>
            <a:endParaRPr sz="1000"/>
          </a:p>
        </p:txBody>
      </p:sp>
      <p:sp>
        <p:nvSpPr>
          <p:cNvPr id="23" name="Shape 20">
            <a:extLst xmlns:a="http://schemas.openxmlformats.org/drawingml/2006/main">
              <a:ext uri="{FF2B5EF4-FFF2-40B4-BE49-F238E27FC236}">
                <a16:creationId xmlns:a16="http://schemas.microsoft.com/office/drawing/2014/main" id="{C7F73EA3-C934-4AE8-A9F6-10C7F3397F3D}"/>
              </a:ext>
            </a:extLst>
          </p:cNvPr>
          <p:cNvSpPr>
            <a:spLocks xmlns:a="http://schemas.openxmlformats.org/drawingml/2006/main" noGrp="1"/>
          </p:cNvSpPr>
          <p:nvPr/>
        </p:nvSpPr>
        <p:spPr>
          <a:xfrm xmlns:a="http://schemas.openxmlformats.org/drawingml/2006/main">
            <a:off x="7772400" y="1600200"/>
            <a:ext cx="3913632" cy="4572000"/>
          </a:xfrm>
          <a:prstGeom xmlns:a="http://schemas.openxmlformats.org/drawingml/2006/main" prst="roundRect">
            <a:avLst>
              <a:gd name="adj" fmla="val 1636"/>
            </a:avLst>
          </a:prstGeom>
          <a:solidFill xmlns:a="http://schemas.openxmlformats.org/drawingml/2006/main">
            <a:srgbClr val="1D2A5C"/>
          </a:solidFill>
        </p:spPr>
      </p:sp>
      <p:sp>
        <p:nvSpPr>
          <p:cNvPr id="24" name="Text 21">
            <a:extLst xmlns:a="http://schemas.openxmlformats.org/drawingml/2006/main">
              <a:ext uri="{FF2B5EF4-FFF2-40B4-BE49-F238E27FC236}">
                <a16:creationId xmlns:a16="http://schemas.microsoft.com/office/drawing/2014/main" id="{66F8BAAF-7244-46CD-BECB-AD1C3A034630}"/>
              </a:ext>
            </a:extLst>
          </p:cNvPr>
          <p:cNvSpPr>
            <a:spLocks xmlns:a="http://schemas.openxmlformats.org/drawingml/2006/main" noGrp="1"/>
          </p:cNvSpPr>
          <p:nvPr/>
        </p:nvSpPr>
        <p:spPr>
          <a:xfrm xmlns:a="http://schemas.openxmlformats.org/drawingml/2006/main">
            <a:off x="7973568" y="1783080"/>
            <a:ext cx="35204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00A79D"/>
                </a:solidFill>
                <a:latin typeface="Calibri"/>
                <a:ea typeface="Calibri"/>
                <a:cs typeface="Calibri"/>
              </a:rPr>
              <a:t>The dependency rule</a:t>
            </a:r>
            <a:endParaRPr sz="1300"/>
          </a:p>
        </p:txBody>
      </p:sp>
      <p:sp>
        <p:nvSpPr>
          <p:cNvPr id="25" name="Text 22">
            <a:extLst xmlns:a="http://schemas.openxmlformats.org/drawingml/2006/main">
              <a:ext uri="{FF2B5EF4-FFF2-40B4-BE49-F238E27FC236}">
                <a16:creationId xmlns:a16="http://schemas.microsoft.com/office/drawing/2014/main" id="{44A69CEE-1A1F-4181-B37B-C0DB84944408}"/>
              </a:ext>
            </a:extLst>
          </p:cNvPr>
          <p:cNvSpPr>
            <a:spLocks xmlns:a="http://schemas.openxmlformats.org/drawingml/2006/main" noGrp="1"/>
          </p:cNvSpPr>
          <p:nvPr/>
        </p:nvSpPr>
        <p:spPr>
          <a:xfrm xmlns:a="http://schemas.openxmlformats.org/drawingml/2006/main">
            <a:off x="7973568" y="2194560"/>
            <a:ext cx="3520440" cy="3749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1500"/>
              </a:lnSpc>
              <a:buNone/>
            </a:pPr>
            <a:r>
              <a:rPr sz="1050">
                <a:solidFill>
                  <a:srgbClr val="D9E4F5"/>
                </a:solidFill>
                <a:latin typeface="Calibri"/>
                <a:ea typeface="Calibri"/>
                <a:cs typeface="Calibri"/>
              </a:rPr>
              <a:t>Onion, hexagonal, clean — the names differ, the idea does not: dependencies point inward. Domain imports stdlib and pydantic only; it must never import FastAPI, sklearn, boto3 or SQL drivers. Enforce mechanically with import-linter contracts in CI — Module 5 wires that gate into the pipeline.</a:t>
            </a:r>
            <a:endParaRPr sz="1050"/>
          </a:p>
        </p:txBody>
      </p:sp>
    </p:spTree>
    <p:extLst>
      <p:ext uri="{BB962C8B-B14F-4D97-AF65-F5344CB8AC3E}">
        <p14:creationId xmlns:p14="http://schemas.microsoft.com/office/powerpoint/2010/main" val="202799812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B4F340E-E071-4782-B249-DF19C265C70D}"/>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Import Rules by Layer</a:t>
            </a:r>
            <a:endParaRPr sz="2600"/>
          </a:p>
        </p:txBody>
      </p:sp>
      <p:sp>
        <p:nvSpPr>
          <p:cNvPr id="3" name="Text 1">
            <a:extLst xmlns:a="http://schemas.openxmlformats.org/drawingml/2006/main">
              <a:ext uri="{FF2B5EF4-FFF2-40B4-BE49-F238E27FC236}">
                <a16:creationId xmlns:a16="http://schemas.microsoft.com/office/drawing/2014/main" id="{30823F98-5039-47E2-A456-E2D19784FD6F}"/>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قواعد الاستيراد لكل طبقة</a:t>
            </a:r>
            <a:endParaRPr sz="1300"/>
          </a:p>
        </p:txBody>
      </p:sp>
      <p:pic>
        <p:nvPicPr>
          <p:cNvPr id="14" name="Image 0"/>
          <p:cNvPicPr>
            <a:picLocks xmlns:a="http://schemas.openxmlformats.org/drawingml/2006/main" noChangeAspect="1"/>
          </p:cNvPicPr>
          <p:nvPr/>
        </p:nvPicPr>
        <p:blipFill>
          <a:blip xmlns:r="http://schemas.openxmlformats.org/officeDocument/2006/relationships" xmlns:a="http://schemas.openxmlformats.org/drawingml/2006/main" r:embed="R6b66728ceaf44042"/>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F159C6AC-8E7A-49B4-9CF9-4204FA245601}"/>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85436A93-84A5-49F4-9810-4599211AEDE4}"/>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1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98DB0857-2EF8-4E71-B3E0-469B4B725EFB}"/>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19</a:t>
            </a:r>
            <a:endParaRPr sz="850"/>
          </a:p>
        </p:txBody>
      </p:sp>
      <p:graphicFrame>
        <p:nvGraphicFramePr>
          <p:cNvPr id="18" name="Table 0"/>
          <p:cNvGraphicFramePr/>
          <p:nvPr/>
        </p:nvGraphicFramePr>
        <p:xfrm>
          <a:off xmlns:a="http://schemas.openxmlformats.org/drawingml/2006/main" x="502920" y="1554480"/>
          <a:ext xmlns:a="http://schemas.openxmlformats.org/drawingml/2006/main" cx="11183112" cy="914400"/>
        </p:xfrm>
        <a:graphic xmlns:a="http://schemas.openxmlformats.org/drawingml/2006/main">
          <a:graphicData uri="http://schemas.openxmlformats.org/drawingml/2006/table">
            <a:tbl>
              <a:tblPr/>
              <a:tblGrid>
                <a:gridCol w="2795778"/>
                <a:gridCol w="2795778"/>
                <a:gridCol w="2795778"/>
                <a:gridCol w="2795778"/>
              </a:tblGrid>
              <a:tr h="384048">
                <a:tc>
                  <a:txBody>
                    <a:bodyPr/>
                    <a:lstStyle/>
                    <a:p>
                      <a:pPr marL="0" indent="0">
                        <a:buNone/>
                      </a:pPr>
                      <a:r>
                        <a:rPr sz="1100" b="1">
                          <a:solidFill>
                            <a:srgbClr val="FFFFFF"/>
                          </a:solidFill>
                          <a:latin typeface="Calibri"/>
                          <a:ea typeface="Calibri"/>
                          <a:cs typeface="Calibri"/>
                        </a:rPr>
                        <a:t>Layer</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c>
                  <a:txBody>
                    <a:bodyPr/>
                    <a:lstStyle/>
                    <a:p>
                      <a:pPr marL="0" indent="0">
                        <a:buNone/>
                      </a:pPr>
                      <a:r>
                        <a:rPr sz="1100" b="1">
                          <a:solidFill>
                            <a:srgbClr val="FFFFFF"/>
                          </a:solidFill>
                          <a:latin typeface="Calibri"/>
                          <a:ea typeface="Calibri"/>
                          <a:cs typeface="Calibri"/>
                        </a:rPr>
                        <a:t>Contains</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c>
                  <a:txBody>
                    <a:bodyPr/>
                    <a:lstStyle/>
                    <a:p>
                      <a:pPr marL="0" indent="0">
                        <a:buNone/>
                      </a:pPr>
                      <a:r>
                        <a:rPr sz="1100" b="1">
                          <a:solidFill>
                            <a:srgbClr val="FFFFFF"/>
                          </a:solidFill>
                          <a:latin typeface="Calibri"/>
                          <a:ea typeface="Calibri"/>
                          <a:cs typeface="Calibri"/>
                        </a:rPr>
                        <a:t>May import</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c>
                  <a:txBody>
                    <a:bodyPr/>
                    <a:lstStyle/>
                    <a:p>
                      <a:pPr marL="0" indent="0">
                        <a:buNone/>
                      </a:pPr>
                      <a:r>
                        <a:rPr sz="1100" b="1">
                          <a:solidFill>
                            <a:srgbClr val="FFFFFF"/>
                          </a:solidFill>
                          <a:latin typeface="Calibri"/>
                          <a:ea typeface="Calibri"/>
                          <a:cs typeface="Calibri"/>
                        </a:rPr>
                        <a:t>Must never import</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r>
              <a:tr h="384048">
                <a:tc>
                  <a:txBody>
                    <a:bodyPr/>
                    <a:lstStyle/>
                    <a:p>
                      <a:pPr marL="0" indent="0">
                        <a:buNone/>
                      </a:pPr>
                      <a:r>
                        <a:rPr sz="1050" b="1">
                          <a:solidFill>
                            <a:srgbClr val="1D2A5C"/>
                          </a:solidFill>
                          <a:latin typeface="Calibri"/>
                          <a:ea typeface="Calibri"/>
                          <a:cs typeface="Calibri"/>
                        </a:rPr>
                        <a:t>Domain</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Request/result types, feature defs, business rules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stdlib, pydantic</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FastAPI, sklearn, boto3, SQL drivers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r>
              <a:tr h="384048">
                <a:tc>
                  <a:txBody>
                    <a:bodyPr/>
                    <a:lstStyle/>
                    <a:p>
                      <a:pPr marL="0" indent="0">
                        <a:buNone/>
                      </a:pPr>
                      <a:r>
                        <a:rPr sz="1050" b="1">
                          <a:solidFill>
                            <a:srgbClr val="1D2A5C"/>
                          </a:solidFill>
                          <a:latin typeface="Calibri"/>
                          <a:ea typeface="Calibri"/>
                          <a:cs typeface="Calibri"/>
                        </a:rPr>
                        <a:t>Service</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FraudScorer.score(txn) orchestration</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Domain, model interface</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HTTP, Docker, cloud SDKs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r>
              <a:tr h="384048">
                <a:tc>
                  <a:txBody>
                    <a:bodyPr/>
                    <a:lstStyle/>
                    <a:p>
                      <a:pPr marL="0" indent="0">
                        <a:buNone/>
                      </a:pPr>
                      <a:r>
                        <a:rPr sz="1050" b="1">
                          <a:solidFill>
                            <a:srgbClr val="1D2A5C"/>
                          </a:solidFill>
                          <a:latin typeface="Calibri"/>
                          <a:ea typeface="Calibri"/>
                          <a:cs typeface="Calibri"/>
                        </a:rPr>
                        <a:t>Adapters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Model loaders, feature store client, repositories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Service interfaces, frameworks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r>
              <a:tr h="384048">
                <a:tc>
                  <a:txBody>
                    <a:bodyPr/>
                    <a:lstStyle/>
                    <a:p>
                      <a:pPr marL="0" indent="0">
                        <a:buNone/>
                      </a:pPr>
                      <a:r>
                        <a:rPr sz="1050" b="1">
                          <a:solidFill>
                            <a:srgbClr val="1D2A5C"/>
                          </a:solidFill>
                          <a:latin typeface="Calibri"/>
                          <a:ea typeface="Calibri"/>
                          <a:cs typeface="Calibri"/>
                        </a:rPr>
                        <a:t>Entrypoints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FastAPI app, CLI, batch job</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Everything below</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r>
            </a:tbl>
          </a:graphicData>
        </a:graphic>
      </p:graphicFrame>
      <p:sp>
        <p:nvSpPr>
          <p:cNvPr id="9" name="Text 5">
            <a:extLst xmlns:a="http://schemas.openxmlformats.org/drawingml/2006/main">
              <a:ext uri="{FF2B5EF4-FFF2-40B4-BE49-F238E27FC236}">
                <a16:creationId xmlns:a16="http://schemas.microsoft.com/office/drawing/2014/main" id="{316C5648-A4E7-40BD-8DFE-5340937C9723}"/>
              </a:ext>
            </a:extLst>
          </p:cNvPr>
          <p:cNvSpPr>
            <a:spLocks xmlns:a="http://schemas.openxmlformats.org/drawingml/2006/main" noGrp="1"/>
          </p:cNvSpPr>
          <p:nvPr/>
        </p:nvSpPr>
        <p:spPr>
          <a:xfrm xmlns:a="http://schemas.openxmlformats.org/drawingml/2006/main">
            <a:off x="502920" y="6035040"/>
            <a:ext cx="11155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5F6B7A"/>
                </a:solidFill>
                <a:latin typeface="Calibri"/>
                <a:ea typeface="Calibri"/>
                <a:cs typeface="Calibri"/>
              </a:rPr>
              <a:t>Two consequences matter most for ML teams: the model is an adapter, and frameworks live at the edge.</a:t>
            </a:r>
            <a:endParaRPr sz="950"/>
          </a:p>
        </p:txBody>
      </p:sp>
    </p:spTree>
    <p:extLst>
      <p:ext uri="{BB962C8B-B14F-4D97-AF65-F5344CB8AC3E}">
        <p14:creationId xmlns:p14="http://schemas.microsoft.com/office/powerpoint/2010/main" val="1925859870"/>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A28FF2E-41CE-4CD3-8CEC-4238BAE2B693}"/>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The Model Is an Adapter</a:t>
            </a:r>
            <a:endParaRPr sz="2600"/>
          </a:p>
        </p:txBody>
      </p:sp>
      <p:sp>
        <p:nvSpPr>
          <p:cNvPr id="3" name="Text 1">
            <a:extLst xmlns:a="http://schemas.openxmlformats.org/drawingml/2006/main">
              <a:ext uri="{FF2B5EF4-FFF2-40B4-BE49-F238E27FC236}">
                <a16:creationId xmlns:a16="http://schemas.microsoft.com/office/drawing/2014/main" id="{4CD7717A-3225-4260-89A5-61D04FFC46BA}"/>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النموذج مجرد مُحوِّل</a:t>
            </a:r>
            <a:endParaRPr sz="1300"/>
          </a:p>
        </p:txBody>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32f40ca2c11a467a"/>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5A33BC00-2F73-4B22-8619-C1085C1AE637}"/>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BAB90C64-5FBF-48D8-AEA3-5E16E8E2F83B}"/>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1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3560B18A-0A7F-43B1-896B-0E0F7C734366}"/>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20</a:t>
            </a:r>
            <a:endParaRPr sz="850"/>
          </a:p>
        </p:txBody>
      </p:sp>
      <p:sp>
        <p:nvSpPr>
          <p:cNvPr id="8" name="Shape 5">
            <a:extLst xmlns:a="http://schemas.openxmlformats.org/drawingml/2006/main">
              <a:ext uri="{FF2B5EF4-FFF2-40B4-BE49-F238E27FC236}">
                <a16:creationId xmlns:a16="http://schemas.microsoft.com/office/drawing/2014/main" id="{47328A35-3198-486B-85F4-DA30A867C5E3}"/>
              </a:ext>
            </a:extLst>
          </p:cNvPr>
          <p:cNvSpPr>
            <a:spLocks xmlns:a="http://schemas.openxmlformats.org/drawingml/2006/main" noGrp="1"/>
          </p:cNvSpPr>
          <p:nvPr/>
        </p:nvSpPr>
        <p:spPr>
          <a:xfrm xmlns:a="http://schemas.openxmlformats.org/drawingml/2006/main">
            <a:off x="3886200" y="2217420"/>
            <a:ext cx="1435608" cy="0"/>
          </a:xfrm>
          <a:prstGeom xmlns:a="http://schemas.openxmlformats.org/drawingml/2006/main" prst="line">
            <a:avLst/>
          </a:prstGeom>
          <a:noFill xmlns:a="http://schemas.openxmlformats.org/drawingml/2006/main"/>
          <a:ln xmlns:a="http://schemas.openxmlformats.org/drawingml/2006/main" w="19050">
            <a:solidFill>
              <a:srgbClr val="D9E4F5"/>
            </a:solidFill>
            <a:prstDash val="dash"/>
          </a:ln>
        </p:spPr>
      </p:sp>
      <p:sp>
        <p:nvSpPr>
          <p:cNvPr id="9" name="Shape 6">
            <a:extLst xmlns:a="http://schemas.openxmlformats.org/drawingml/2006/main">
              <a:ext uri="{FF2B5EF4-FFF2-40B4-BE49-F238E27FC236}">
                <a16:creationId xmlns:a16="http://schemas.microsoft.com/office/drawing/2014/main" id="{4B52741A-3E70-4C32-9217-2D2DC2231289}"/>
              </a:ext>
            </a:extLst>
          </p:cNvPr>
          <p:cNvSpPr>
            <a:spLocks xmlns:a="http://schemas.openxmlformats.org/drawingml/2006/main" noGrp="1"/>
          </p:cNvSpPr>
          <p:nvPr/>
        </p:nvSpPr>
        <p:spPr>
          <a:xfrm xmlns:a="http://schemas.openxmlformats.org/drawingml/2006/main">
            <a:off x="594360" y="1600200"/>
            <a:ext cx="3291840" cy="1234440"/>
          </a:xfrm>
          <a:prstGeom xmlns:a="http://schemas.openxmlformats.org/drawingml/2006/main" prst="roundRect">
            <a:avLst>
              <a:gd name="adj" fmla="val 5185"/>
            </a:avLst>
          </a:prstGeom>
          <a:solidFill xmlns:a="http://schemas.openxmlformats.org/drawingml/2006/main">
            <a:srgbClr val="D4F1EE"/>
          </a:solidFill>
        </p:spPr>
      </p:sp>
      <p:sp>
        <p:nvSpPr>
          <p:cNvPr id="10" name="Text 7">
            <a:extLst xmlns:a="http://schemas.openxmlformats.org/drawingml/2006/main">
              <a:ext uri="{FF2B5EF4-FFF2-40B4-BE49-F238E27FC236}">
                <a16:creationId xmlns:a16="http://schemas.microsoft.com/office/drawing/2014/main" id="{DE76DF7A-7A57-46A0-95E7-9CA7E72B8C99}"/>
              </a:ext>
            </a:extLst>
          </p:cNvPr>
          <p:cNvSpPr>
            <a:spLocks xmlns:a="http://schemas.openxmlformats.org/drawingml/2006/main" noGrp="1"/>
          </p:cNvSpPr>
          <p:nvPr/>
        </p:nvSpPr>
        <p:spPr>
          <a:xfrm xmlns:a="http://schemas.openxmlformats.org/drawingml/2006/main">
            <a:off x="740664" y="1691640"/>
            <a:ext cx="2999232"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Depend on a signature</a:t>
            </a:r>
            <a:endParaRPr sz="1200"/>
          </a:p>
        </p:txBody>
      </p:sp>
      <p:sp>
        <p:nvSpPr>
          <p:cNvPr id="11" name="Text 8">
            <a:extLst xmlns:a="http://schemas.openxmlformats.org/drawingml/2006/main">
              <a:ext uri="{FF2B5EF4-FFF2-40B4-BE49-F238E27FC236}">
                <a16:creationId xmlns:a16="http://schemas.microsoft.com/office/drawing/2014/main" id="{E5D37B21-0616-4A73-AD73-5F86C986080E}"/>
              </a:ext>
            </a:extLst>
          </p:cNvPr>
          <p:cNvSpPr>
            <a:spLocks xmlns:a="http://schemas.openxmlformats.org/drawingml/2006/main" noGrp="1"/>
          </p:cNvSpPr>
          <p:nvPr/>
        </p:nvSpPr>
        <p:spPr>
          <a:xfrm xmlns:a="http://schemas.openxmlformats.org/drawingml/2006/main">
            <a:off x="740664" y="2002536"/>
            <a:ext cx="2999232"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predict_proba(features) → RawScore — the service knows only this</a:t>
            </a:r>
            <a:endParaRPr sz="950"/>
          </a:p>
        </p:txBody>
      </p:sp>
      <p:sp>
        <p:nvSpPr>
          <p:cNvPr id="12" name="Shape 9">
            <a:extLst xmlns:a="http://schemas.openxmlformats.org/drawingml/2006/main">
              <a:ext uri="{FF2B5EF4-FFF2-40B4-BE49-F238E27FC236}">
                <a16:creationId xmlns:a16="http://schemas.microsoft.com/office/drawing/2014/main" id="{490F4CDE-2BF7-463C-994A-721B527BD439}"/>
              </a:ext>
            </a:extLst>
          </p:cNvPr>
          <p:cNvSpPr>
            <a:spLocks xmlns:a="http://schemas.openxmlformats.org/drawingml/2006/main" noGrp="1"/>
          </p:cNvSpPr>
          <p:nvPr/>
        </p:nvSpPr>
        <p:spPr>
          <a:xfrm xmlns:a="http://schemas.openxmlformats.org/drawingml/2006/main">
            <a:off x="3886200" y="4320540"/>
            <a:ext cx="1435608" cy="0"/>
          </a:xfrm>
          <a:prstGeom xmlns:a="http://schemas.openxmlformats.org/drawingml/2006/main" prst="line">
            <a:avLst/>
          </a:prstGeom>
          <a:noFill xmlns:a="http://schemas.openxmlformats.org/drawingml/2006/main"/>
          <a:ln xmlns:a="http://schemas.openxmlformats.org/drawingml/2006/main" w="19050">
            <a:solidFill>
              <a:srgbClr val="D9E4F5"/>
            </a:solidFill>
            <a:prstDash val="dash"/>
          </a:ln>
        </p:spPr>
      </p:sp>
      <p:sp>
        <p:nvSpPr>
          <p:cNvPr id="13" name="Shape 10">
            <a:extLst xmlns:a="http://schemas.openxmlformats.org/drawingml/2006/main">
              <a:ext uri="{FF2B5EF4-FFF2-40B4-BE49-F238E27FC236}">
                <a16:creationId xmlns:a16="http://schemas.microsoft.com/office/drawing/2014/main" id="{4763909C-1370-4867-84BA-549794A970D4}"/>
              </a:ext>
            </a:extLst>
          </p:cNvPr>
          <p:cNvSpPr>
            <a:spLocks xmlns:a="http://schemas.openxmlformats.org/drawingml/2006/main" noGrp="1"/>
          </p:cNvSpPr>
          <p:nvPr/>
        </p:nvSpPr>
        <p:spPr>
          <a:xfrm xmlns:a="http://schemas.openxmlformats.org/drawingml/2006/main">
            <a:off x="594360" y="3703320"/>
            <a:ext cx="3291840" cy="1234440"/>
          </a:xfrm>
          <a:prstGeom xmlns:a="http://schemas.openxmlformats.org/drawingml/2006/main" prst="roundRect">
            <a:avLst>
              <a:gd name="adj" fmla="val 5185"/>
            </a:avLst>
          </a:prstGeom>
          <a:solidFill xmlns:a="http://schemas.openxmlformats.org/drawingml/2006/main">
            <a:srgbClr val="D9F0FA"/>
          </a:solidFill>
        </p:spPr>
      </p:sp>
      <p:sp>
        <p:nvSpPr>
          <p:cNvPr id="14" name="Text 11">
            <a:extLst xmlns:a="http://schemas.openxmlformats.org/drawingml/2006/main">
              <a:ext uri="{FF2B5EF4-FFF2-40B4-BE49-F238E27FC236}">
                <a16:creationId xmlns:a16="http://schemas.microsoft.com/office/drawing/2014/main" id="{A5DC3D5E-7A8E-4E27-B8E8-923E93E83357}"/>
              </a:ext>
            </a:extLst>
          </p:cNvPr>
          <p:cNvSpPr>
            <a:spLocks xmlns:a="http://schemas.openxmlformats.org/drawingml/2006/main" noGrp="1"/>
          </p:cNvSpPr>
          <p:nvPr/>
        </p:nvSpPr>
        <p:spPr>
          <a:xfrm xmlns:a="http://schemas.openxmlformats.org/drawingml/2006/main">
            <a:off x="740664" y="3794760"/>
            <a:ext cx="2999232"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Swap in one file</a:t>
            </a:r>
            <a:endParaRPr sz="1200"/>
          </a:p>
        </p:txBody>
      </p:sp>
      <p:sp>
        <p:nvSpPr>
          <p:cNvPr id="15" name="Text 12">
            <a:extLst xmlns:a="http://schemas.openxmlformats.org/drawingml/2006/main">
              <a:ext uri="{FF2B5EF4-FFF2-40B4-BE49-F238E27FC236}">
                <a16:creationId xmlns:a16="http://schemas.microsoft.com/office/drawing/2014/main" id="{345BF241-8F1C-422E-928B-233166637CED}"/>
              </a:ext>
            </a:extLst>
          </p:cNvPr>
          <p:cNvSpPr>
            <a:spLocks xmlns:a="http://schemas.openxmlformats.org/drawingml/2006/main" noGrp="1"/>
          </p:cNvSpPr>
          <p:nvPr/>
        </p:nvSpPr>
        <p:spPr>
          <a:xfrm xmlns:a="http://schemas.openxmlformats.org/drawingml/2006/main">
            <a:off x="740664" y="4105656"/>
            <a:ext cx="2999232"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XGBoost → PyTorch, or local file → model registry: one adapter changes</a:t>
            </a:r>
            <a:endParaRPr sz="950"/>
          </a:p>
        </p:txBody>
      </p:sp>
      <p:sp>
        <p:nvSpPr>
          <p:cNvPr id="16" name="Shape 13">
            <a:extLst xmlns:a="http://schemas.openxmlformats.org/drawingml/2006/main">
              <a:ext uri="{FF2B5EF4-FFF2-40B4-BE49-F238E27FC236}">
                <a16:creationId xmlns:a16="http://schemas.microsoft.com/office/drawing/2014/main" id="{7D35CC81-6935-4FBB-85CF-815875E393D5}"/>
              </a:ext>
            </a:extLst>
          </p:cNvPr>
          <p:cNvSpPr>
            <a:spLocks xmlns:a="http://schemas.openxmlformats.org/drawingml/2006/main" noGrp="1"/>
          </p:cNvSpPr>
          <p:nvPr/>
        </p:nvSpPr>
        <p:spPr>
          <a:xfrm xmlns:a="http://schemas.openxmlformats.org/drawingml/2006/main">
            <a:off x="3886200" y="5737860"/>
            <a:ext cx="1435608" cy="0"/>
          </a:xfrm>
          <a:prstGeom xmlns:a="http://schemas.openxmlformats.org/drawingml/2006/main" prst="line">
            <a:avLst/>
          </a:prstGeom>
          <a:noFill xmlns:a="http://schemas.openxmlformats.org/drawingml/2006/main"/>
          <a:ln xmlns:a="http://schemas.openxmlformats.org/drawingml/2006/main" w="19050">
            <a:solidFill>
              <a:srgbClr val="D9E4F5"/>
            </a:solidFill>
            <a:prstDash val="dash"/>
          </a:ln>
        </p:spPr>
      </p:sp>
      <p:sp>
        <p:nvSpPr>
          <p:cNvPr id="17" name="Shape 14">
            <a:extLst xmlns:a="http://schemas.openxmlformats.org/drawingml/2006/main">
              <a:ext uri="{FF2B5EF4-FFF2-40B4-BE49-F238E27FC236}">
                <a16:creationId xmlns:a16="http://schemas.microsoft.com/office/drawing/2014/main" id="{228C44CE-0285-4C56-BE03-11F7D4E9A555}"/>
              </a:ext>
            </a:extLst>
          </p:cNvPr>
          <p:cNvSpPr>
            <a:spLocks xmlns:a="http://schemas.openxmlformats.org/drawingml/2006/main" noGrp="1"/>
          </p:cNvSpPr>
          <p:nvPr/>
        </p:nvSpPr>
        <p:spPr>
          <a:xfrm xmlns:a="http://schemas.openxmlformats.org/drawingml/2006/main">
            <a:off x="594360" y="5120640"/>
            <a:ext cx="3291840" cy="1234440"/>
          </a:xfrm>
          <a:prstGeom xmlns:a="http://schemas.openxmlformats.org/drawingml/2006/main" prst="roundRect">
            <a:avLst>
              <a:gd name="adj" fmla="val 5185"/>
            </a:avLst>
          </a:prstGeom>
          <a:solidFill xmlns:a="http://schemas.openxmlformats.org/drawingml/2006/main">
            <a:srgbClr val="FDEBD7"/>
          </a:solidFill>
        </p:spPr>
      </p:sp>
      <p:sp>
        <p:nvSpPr>
          <p:cNvPr id="18" name="Text 15">
            <a:extLst xmlns:a="http://schemas.openxmlformats.org/drawingml/2006/main">
              <a:ext uri="{FF2B5EF4-FFF2-40B4-BE49-F238E27FC236}">
                <a16:creationId xmlns:a16="http://schemas.microsoft.com/office/drawing/2014/main" id="{F4BBB8FD-0995-4D81-ACDF-072F0C971F89}"/>
              </a:ext>
            </a:extLst>
          </p:cNvPr>
          <p:cNvSpPr>
            <a:spLocks xmlns:a="http://schemas.openxmlformats.org/drawingml/2006/main" noGrp="1"/>
          </p:cNvSpPr>
          <p:nvPr/>
        </p:nvSpPr>
        <p:spPr>
          <a:xfrm xmlns:a="http://schemas.openxmlformats.org/drawingml/2006/main">
            <a:off x="740664" y="5212080"/>
            <a:ext cx="2999232"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Frameworks at the edge</a:t>
            </a:r>
            <a:endParaRPr sz="1200"/>
          </a:p>
        </p:txBody>
      </p:sp>
      <p:sp>
        <p:nvSpPr>
          <p:cNvPr id="19" name="Text 16">
            <a:extLst xmlns:a="http://schemas.openxmlformats.org/drawingml/2006/main">
              <a:ext uri="{FF2B5EF4-FFF2-40B4-BE49-F238E27FC236}">
                <a16:creationId xmlns:a16="http://schemas.microsoft.com/office/drawing/2014/main" id="{F5438F29-CCB6-4C1E-A5A5-2532F20EFD87}"/>
              </a:ext>
            </a:extLst>
          </p:cNvPr>
          <p:cNvSpPr>
            <a:spLocks xmlns:a="http://schemas.openxmlformats.org/drawingml/2006/main" noGrp="1"/>
          </p:cNvSpPr>
          <p:nvPr/>
        </p:nvSpPr>
        <p:spPr>
          <a:xfrm xmlns:a="http://schemas.openxmlformats.org/drawingml/2006/main">
            <a:off x="740664" y="5522976"/>
            <a:ext cx="2999232"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sklearn objects and FastAPI models never appear in domain signatures</a:t>
            </a:r>
            <a:endParaRPr sz="950"/>
          </a:p>
        </p:txBody>
      </p:sp>
      <p:sp>
        <p:nvSpPr>
          <p:cNvPr id="20" name="Shape 17">
            <a:extLst xmlns:a="http://schemas.openxmlformats.org/drawingml/2006/main">
              <a:ext uri="{FF2B5EF4-FFF2-40B4-BE49-F238E27FC236}">
                <a16:creationId xmlns:a16="http://schemas.microsoft.com/office/drawing/2014/main" id="{C4735ACA-515F-42C0-BEBE-0DB0033DF2CB}"/>
              </a:ext>
            </a:extLst>
          </p:cNvPr>
          <p:cNvSpPr>
            <a:spLocks xmlns:a="http://schemas.openxmlformats.org/drawingml/2006/main" noGrp="1"/>
          </p:cNvSpPr>
          <p:nvPr/>
        </p:nvSpPr>
        <p:spPr>
          <a:xfrm xmlns:a="http://schemas.openxmlformats.org/drawingml/2006/main">
            <a:off x="6858000" y="2217420"/>
            <a:ext cx="1463040" cy="0"/>
          </a:xfrm>
          <a:prstGeom xmlns:a="http://schemas.openxmlformats.org/drawingml/2006/main" prst="line">
            <a:avLst/>
          </a:prstGeom>
          <a:noFill xmlns:a="http://schemas.openxmlformats.org/drawingml/2006/main"/>
          <a:ln xmlns:a="http://schemas.openxmlformats.org/drawingml/2006/main" w="19050">
            <a:solidFill>
              <a:srgbClr val="D9E4F5"/>
            </a:solidFill>
            <a:prstDash val="dash"/>
          </a:ln>
        </p:spPr>
      </p:sp>
      <p:sp>
        <p:nvSpPr>
          <p:cNvPr id="21" name="Shape 18">
            <a:extLst xmlns:a="http://schemas.openxmlformats.org/drawingml/2006/main">
              <a:ext uri="{FF2B5EF4-FFF2-40B4-BE49-F238E27FC236}">
                <a16:creationId xmlns:a16="http://schemas.microsoft.com/office/drawing/2014/main" id="{2EE62D82-74C9-4531-8200-37D872B955C0}"/>
              </a:ext>
            </a:extLst>
          </p:cNvPr>
          <p:cNvSpPr>
            <a:spLocks xmlns:a="http://schemas.openxmlformats.org/drawingml/2006/main" noGrp="1"/>
          </p:cNvSpPr>
          <p:nvPr/>
        </p:nvSpPr>
        <p:spPr>
          <a:xfrm xmlns:a="http://schemas.openxmlformats.org/drawingml/2006/main">
            <a:off x="8321040" y="1600200"/>
            <a:ext cx="3291840" cy="1234440"/>
          </a:xfrm>
          <a:prstGeom xmlns:a="http://schemas.openxmlformats.org/drawingml/2006/main" prst="roundRect">
            <a:avLst>
              <a:gd name="adj" fmla="val 5185"/>
            </a:avLst>
          </a:prstGeom>
          <a:solidFill xmlns:a="http://schemas.openxmlformats.org/drawingml/2006/main">
            <a:srgbClr val="EAF4DC"/>
          </a:solidFill>
        </p:spPr>
      </p:sp>
      <p:sp>
        <p:nvSpPr>
          <p:cNvPr id="22" name="Text 19">
            <a:extLst xmlns:a="http://schemas.openxmlformats.org/drawingml/2006/main">
              <a:ext uri="{FF2B5EF4-FFF2-40B4-BE49-F238E27FC236}">
                <a16:creationId xmlns:a16="http://schemas.microsoft.com/office/drawing/2014/main" id="{EC809693-84C6-4D7B-96F9-52235DF70F08}"/>
              </a:ext>
            </a:extLst>
          </p:cNvPr>
          <p:cNvSpPr>
            <a:spLocks xmlns:a="http://schemas.openxmlformats.org/drawingml/2006/main" noGrp="1"/>
          </p:cNvSpPr>
          <p:nvPr/>
        </p:nvSpPr>
        <p:spPr>
          <a:xfrm xmlns:a="http://schemas.openxmlformats.org/drawingml/2006/main">
            <a:off x="8467344" y="1691640"/>
            <a:ext cx="2999232"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Test double in one line</a:t>
            </a:r>
            <a:endParaRPr sz="1200"/>
          </a:p>
        </p:txBody>
      </p:sp>
      <p:sp>
        <p:nvSpPr>
          <p:cNvPr id="23" name="Text 20">
            <a:extLst xmlns:a="http://schemas.openxmlformats.org/drawingml/2006/main">
              <a:ext uri="{FF2B5EF4-FFF2-40B4-BE49-F238E27FC236}">
                <a16:creationId xmlns:a16="http://schemas.microsoft.com/office/drawing/2014/main" id="{A42C7798-62A5-493B-B739-BA2E5E836DE3}"/>
              </a:ext>
            </a:extLst>
          </p:cNvPr>
          <p:cNvSpPr>
            <a:spLocks xmlns:a="http://schemas.openxmlformats.org/drawingml/2006/main" noGrp="1"/>
          </p:cNvSpPr>
          <p:nvPr/>
        </p:nvSpPr>
        <p:spPr>
          <a:xfrm xmlns:a="http://schemas.openxmlformats.org/drawingml/2006/main">
            <a:off x="8467344" y="2002536"/>
            <a:ext cx="2999232"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FraudScorer(model=ConstantModel(0.99), block_threshold=0.85)</a:t>
            </a:r>
            <a:endParaRPr sz="950"/>
          </a:p>
        </p:txBody>
      </p:sp>
      <p:sp>
        <p:nvSpPr>
          <p:cNvPr id="24" name="Shape 21">
            <a:extLst xmlns:a="http://schemas.openxmlformats.org/drawingml/2006/main">
              <a:ext uri="{FF2B5EF4-FFF2-40B4-BE49-F238E27FC236}">
                <a16:creationId xmlns:a16="http://schemas.microsoft.com/office/drawing/2014/main" id="{476C07A9-39FD-402F-B549-1381F9451F0E}"/>
              </a:ext>
            </a:extLst>
          </p:cNvPr>
          <p:cNvSpPr>
            <a:spLocks xmlns:a="http://schemas.openxmlformats.org/drawingml/2006/main" noGrp="1"/>
          </p:cNvSpPr>
          <p:nvPr/>
        </p:nvSpPr>
        <p:spPr>
          <a:xfrm xmlns:a="http://schemas.openxmlformats.org/drawingml/2006/main">
            <a:off x="6858000" y="4320540"/>
            <a:ext cx="1463040" cy="0"/>
          </a:xfrm>
          <a:prstGeom xmlns:a="http://schemas.openxmlformats.org/drawingml/2006/main" prst="line">
            <a:avLst/>
          </a:prstGeom>
          <a:noFill xmlns:a="http://schemas.openxmlformats.org/drawingml/2006/main"/>
          <a:ln xmlns:a="http://schemas.openxmlformats.org/drawingml/2006/main" w="19050">
            <a:solidFill>
              <a:srgbClr val="D9E4F5"/>
            </a:solidFill>
            <a:prstDash val="dash"/>
          </a:ln>
        </p:spPr>
      </p:sp>
      <p:sp>
        <p:nvSpPr>
          <p:cNvPr id="25" name="Shape 22">
            <a:extLst xmlns:a="http://schemas.openxmlformats.org/drawingml/2006/main">
              <a:ext uri="{FF2B5EF4-FFF2-40B4-BE49-F238E27FC236}">
                <a16:creationId xmlns:a16="http://schemas.microsoft.com/office/drawing/2014/main" id="{C27E7B22-AA95-4284-B953-D2FE712D2045}"/>
              </a:ext>
            </a:extLst>
          </p:cNvPr>
          <p:cNvSpPr>
            <a:spLocks xmlns:a="http://schemas.openxmlformats.org/drawingml/2006/main" noGrp="1"/>
          </p:cNvSpPr>
          <p:nvPr/>
        </p:nvSpPr>
        <p:spPr>
          <a:xfrm xmlns:a="http://schemas.openxmlformats.org/drawingml/2006/main">
            <a:off x="8321040" y="3703320"/>
            <a:ext cx="3291840" cy="1234440"/>
          </a:xfrm>
          <a:prstGeom xmlns:a="http://schemas.openxmlformats.org/drawingml/2006/main" prst="roundRect">
            <a:avLst>
              <a:gd name="adj" fmla="val 5185"/>
            </a:avLst>
          </a:prstGeom>
          <a:solidFill xmlns:a="http://schemas.openxmlformats.org/drawingml/2006/main">
            <a:srgbClr val="FADDD8"/>
          </a:solidFill>
        </p:spPr>
      </p:sp>
      <p:sp>
        <p:nvSpPr>
          <p:cNvPr id="26" name="Text 23">
            <a:extLst xmlns:a="http://schemas.openxmlformats.org/drawingml/2006/main">
              <a:ext uri="{FF2B5EF4-FFF2-40B4-BE49-F238E27FC236}">
                <a16:creationId xmlns:a16="http://schemas.microsoft.com/office/drawing/2014/main" id="{F3316493-1558-4F40-AD98-5933256908C2}"/>
              </a:ext>
            </a:extLst>
          </p:cNvPr>
          <p:cNvSpPr>
            <a:spLocks xmlns:a="http://schemas.openxmlformats.org/drawingml/2006/main" noGrp="1"/>
          </p:cNvSpPr>
          <p:nvPr/>
        </p:nvSpPr>
        <p:spPr>
          <a:xfrm xmlns:a="http://schemas.openxmlformats.org/drawingml/2006/main">
            <a:off x="8467344" y="3794760"/>
            <a:ext cx="2999232"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One composition root</a:t>
            </a:r>
            <a:endParaRPr sz="1200"/>
          </a:p>
        </p:txBody>
      </p:sp>
      <p:sp>
        <p:nvSpPr>
          <p:cNvPr id="27" name="Text 24">
            <a:extLst xmlns:a="http://schemas.openxmlformats.org/drawingml/2006/main">
              <a:ext uri="{FF2B5EF4-FFF2-40B4-BE49-F238E27FC236}">
                <a16:creationId xmlns:a16="http://schemas.microsoft.com/office/drawing/2014/main" id="{80BCDD5F-692A-4179-B1DC-417A06F6BA17}"/>
              </a:ext>
            </a:extLst>
          </p:cNvPr>
          <p:cNvSpPr>
            <a:spLocks xmlns:a="http://schemas.openxmlformats.org/drawingml/2006/main" noGrp="1"/>
          </p:cNvSpPr>
          <p:nvPr/>
        </p:nvSpPr>
        <p:spPr>
          <a:xfrm xmlns:a="http://schemas.openxmlformats.org/drawingml/2006/main">
            <a:off x="8467344" y="4105656"/>
            <a:ext cx="2999232"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The app factory is the single place where concrete classes meet</a:t>
            </a:r>
            <a:endParaRPr sz="950"/>
          </a:p>
        </p:txBody>
      </p:sp>
      <p:sp>
        <p:nvSpPr>
          <p:cNvPr id="28" name="Shape 25">
            <a:extLst xmlns:a="http://schemas.openxmlformats.org/drawingml/2006/main">
              <a:ext uri="{FF2B5EF4-FFF2-40B4-BE49-F238E27FC236}">
                <a16:creationId xmlns:a16="http://schemas.microsoft.com/office/drawing/2014/main" id="{2C35FEF7-ACCE-4F30-A4D6-55434FA4F238}"/>
              </a:ext>
            </a:extLst>
          </p:cNvPr>
          <p:cNvSpPr>
            <a:spLocks xmlns:a="http://schemas.openxmlformats.org/drawingml/2006/main" noGrp="1"/>
          </p:cNvSpPr>
          <p:nvPr/>
        </p:nvSpPr>
        <p:spPr>
          <a:xfrm xmlns:a="http://schemas.openxmlformats.org/drawingml/2006/main">
            <a:off x="5129784" y="2953512"/>
            <a:ext cx="1920240" cy="1920240"/>
          </a:xfrm>
          <a:prstGeom xmlns:a="http://schemas.openxmlformats.org/drawingml/2006/main" prst="ellipse">
            <a:avLst/>
          </a:prstGeom>
          <a:solidFill xmlns:a="http://schemas.openxmlformats.org/drawingml/2006/main">
            <a:srgbClr val="1D2A5C"/>
          </a:solidFill>
          <a:ln xmlns:a="http://schemas.openxmlformats.org/drawingml/2006/main" w="31750">
            <a:solidFill>
              <a:srgbClr val="00A79D"/>
            </a:solidFill>
            <a:prstDash val="solid"/>
          </a:ln>
        </p:spPr>
      </p:sp>
      <p:sp>
        <p:nvSpPr>
          <p:cNvPr id="29" name="Text 26">
            <a:extLst xmlns:a="http://schemas.openxmlformats.org/drawingml/2006/main">
              <a:ext uri="{FF2B5EF4-FFF2-40B4-BE49-F238E27FC236}">
                <a16:creationId xmlns:a16="http://schemas.microsoft.com/office/drawing/2014/main" id="{BA2CCEA1-1BB2-4D33-B945-5D77DEBE8CE6}"/>
              </a:ext>
            </a:extLst>
          </p:cNvPr>
          <p:cNvSpPr>
            <a:spLocks xmlns:a="http://schemas.openxmlformats.org/drawingml/2006/main" noGrp="1"/>
          </p:cNvSpPr>
          <p:nvPr/>
        </p:nvSpPr>
        <p:spPr>
          <a:xfrm xmlns:a="http://schemas.openxmlformats.org/drawingml/2006/main">
            <a:off x="5221224" y="3044952"/>
            <a:ext cx="1737360" cy="1737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Model protocol</a:t>
            </a:r>
            <a:endParaRPr sz="1400"/>
          </a:p>
        </p:txBody>
      </p:sp>
    </p:spTree>
    <p:extLst>
      <p:ext uri="{BB962C8B-B14F-4D97-AF65-F5344CB8AC3E}">
        <p14:creationId xmlns:p14="http://schemas.microsoft.com/office/powerpoint/2010/main" val="174620179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CC52C64-AC43-4704-A719-E0C46DFE5B0E}"/>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The Canonical Project Layout — src-layout</a:t>
            </a:r>
            <a:endParaRPr sz="2600"/>
          </a:p>
        </p:txBody>
      </p:sp>
      <p:sp>
        <p:nvSpPr>
          <p:cNvPr id="3" name="Text 1">
            <a:extLst xmlns:a="http://schemas.openxmlformats.org/drawingml/2006/main">
              <a:ext uri="{FF2B5EF4-FFF2-40B4-BE49-F238E27FC236}">
                <a16:creationId xmlns:a16="http://schemas.microsoft.com/office/drawing/2014/main" id="{187EDBA6-2DE4-4AB9-9BD2-91EF9478C66C}"/>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التخطيط المعياري للمشروع</a:t>
            </a:r>
            <a:endParaRPr sz="1300"/>
          </a:p>
        </p:txBody>
      </p:sp>
      <p:pic>
        <p:nvPicPr>
          <p:cNvPr id="18" name="Image 0"/>
          <p:cNvPicPr>
            <a:picLocks xmlns:a="http://schemas.openxmlformats.org/drawingml/2006/main" noChangeAspect="1"/>
          </p:cNvPicPr>
          <p:nvPr/>
        </p:nvPicPr>
        <p:blipFill>
          <a:blip xmlns:r="http://schemas.openxmlformats.org/officeDocument/2006/relationships" xmlns:a="http://schemas.openxmlformats.org/drawingml/2006/main" r:embed="R3538b6dcba10428f"/>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6EE94447-BCF9-4AD5-88DE-59FE95AA98BC}"/>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2C3CA68D-E5AF-4166-9425-9457B7861CAF}"/>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1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C844903D-3A5D-4F3D-B71D-1FE4CAEE62C8}"/>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21</a:t>
            </a:r>
            <a:endParaRPr sz="850"/>
          </a:p>
        </p:txBody>
      </p:sp>
      <p:sp>
        <p:nvSpPr>
          <p:cNvPr id="8" name="Shape 5">
            <a:extLst xmlns:a="http://schemas.openxmlformats.org/drawingml/2006/main">
              <a:ext uri="{FF2B5EF4-FFF2-40B4-BE49-F238E27FC236}">
                <a16:creationId xmlns:a16="http://schemas.microsoft.com/office/drawing/2014/main" id="{74624075-75F9-464D-B975-53129FF0CA43}"/>
              </a:ext>
            </a:extLst>
          </p:cNvPr>
          <p:cNvSpPr>
            <a:spLocks xmlns:a="http://schemas.openxmlformats.org/drawingml/2006/main" noGrp="1"/>
          </p:cNvSpPr>
          <p:nvPr/>
        </p:nvSpPr>
        <p:spPr>
          <a:xfrm xmlns:a="http://schemas.openxmlformats.org/drawingml/2006/main">
            <a:off x="502920" y="1481328"/>
            <a:ext cx="11183112" cy="4617720"/>
          </a:xfrm>
          <a:prstGeom xmlns:a="http://schemas.openxmlformats.org/drawingml/2006/main" prst="roundRect">
            <a:avLst>
              <a:gd name="adj" fmla="val 1584"/>
            </a:avLst>
          </a:prstGeom>
          <a:solidFill xmlns:a="http://schemas.openxmlformats.org/drawingml/2006/main">
            <a:srgbClr val="1A2233"/>
          </a:solidFill>
        </p:spPr>
      </p:sp>
      <p:sp>
        <p:nvSpPr>
          <p:cNvPr id="9" name="Shape 6">
            <a:extLst xmlns:a="http://schemas.openxmlformats.org/drawingml/2006/main">
              <a:ext uri="{FF2B5EF4-FFF2-40B4-BE49-F238E27FC236}">
                <a16:creationId xmlns:a16="http://schemas.microsoft.com/office/drawing/2014/main" id="{A2642C2C-CBAC-4182-A317-919ED4E7305B}"/>
              </a:ext>
            </a:extLst>
          </p:cNvPr>
          <p:cNvSpPr>
            <a:spLocks xmlns:a="http://schemas.openxmlformats.org/drawingml/2006/main" noGrp="1"/>
          </p:cNvSpPr>
          <p:nvPr/>
        </p:nvSpPr>
        <p:spPr>
          <a:xfrm xmlns:a="http://schemas.openxmlformats.org/drawingml/2006/main">
            <a:off x="731520" y="1664208"/>
            <a:ext cx="109728" cy="109728"/>
          </a:xfrm>
          <a:prstGeom xmlns:a="http://schemas.openxmlformats.org/drawingml/2006/main" prst="ellipse">
            <a:avLst/>
          </a:prstGeom>
          <a:solidFill xmlns:a="http://schemas.openxmlformats.org/drawingml/2006/main">
            <a:srgbClr val="E8503A"/>
          </a:solidFill>
        </p:spPr>
      </p:sp>
      <p:sp>
        <p:nvSpPr>
          <p:cNvPr id="10" name="Shape 7">
            <a:extLst xmlns:a="http://schemas.openxmlformats.org/drawingml/2006/main">
              <a:ext uri="{FF2B5EF4-FFF2-40B4-BE49-F238E27FC236}">
                <a16:creationId xmlns:a16="http://schemas.microsoft.com/office/drawing/2014/main" id="{E891FEE4-3E4C-466E-A349-5E15341E030D}"/>
              </a:ext>
            </a:extLst>
          </p:cNvPr>
          <p:cNvSpPr>
            <a:spLocks xmlns:a="http://schemas.openxmlformats.org/drawingml/2006/main" noGrp="1"/>
          </p:cNvSpPr>
          <p:nvPr/>
        </p:nvSpPr>
        <p:spPr>
          <a:xfrm xmlns:a="http://schemas.openxmlformats.org/drawingml/2006/main">
            <a:off x="932688" y="1664208"/>
            <a:ext cx="109728" cy="109728"/>
          </a:xfrm>
          <a:prstGeom xmlns:a="http://schemas.openxmlformats.org/drawingml/2006/main" prst="ellipse">
            <a:avLst/>
          </a:prstGeom>
          <a:solidFill xmlns:a="http://schemas.openxmlformats.org/drawingml/2006/main">
            <a:srgbClr val="F5B820"/>
          </a:solidFill>
        </p:spPr>
      </p:sp>
      <p:sp>
        <p:nvSpPr>
          <p:cNvPr id="11" name="Shape 8">
            <a:extLst xmlns:a="http://schemas.openxmlformats.org/drawingml/2006/main">
              <a:ext uri="{FF2B5EF4-FFF2-40B4-BE49-F238E27FC236}">
                <a16:creationId xmlns:a16="http://schemas.microsoft.com/office/drawing/2014/main" id="{C8FEF8FC-EA50-4C17-92EF-FE9251410B82}"/>
              </a:ext>
            </a:extLst>
          </p:cNvPr>
          <p:cNvSpPr>
            <a:spLocks xmlns:a="http://schemas.openxmlformats.org/drawingml/2006/main" noGrp="1"/>
          </p:cNvSpPr>
          <p:nvPr/>
        </p:nvSpPr>
        <p:spPr>
          <a:xfrm xmlns:a="http://schemas.openxmlformats.org/drawingml/2006/main">
            <a:off x="1133856" y="1664208"/>
            <a:ext cx="109728" cy="109728"/>
          </a:xfrm>
          <a:prstGeom xmlns:a="http://schemas.openxmlformats.org/drawingml/2006/main" prst="ellipse">
            <a:avLst/>
          </a:prstGeom>
          <a:solidFill xmlns:a="http://schemas.openxmlformats.org/drawingml/2006/main">
            <a:srgbClr val="8DC63F"/>
          </a:solidFill>
        </p:spPr>
      </p:sp>
      <p:sp>
        <p:nvSpPr>
          <p:cNvPr id="12" name="Text 9">
            <a:extLst xmlns:a="http://schemas.openxmlformats.org/drawingml/2006/main">
              <a:ext uri="{FF2B5EF4-FFF2-40B4-BE49-F238E27FC236}">
                <a16:creationId xmlns:a16="http://schemas.microsoft.com/office/drawing/2014/main" id="{2648E827-B4F6-428E-8C10-FCD183DB91CF}"/>
              </a:ext>
            </a:extLst>
          </p:cNvPr>
          <p:cNvSpPr>
            <a:spLocks xmlns:a="http://schemas.openxmlformats.org/drawingml/2006/main" noGrp="1"/>
          </p:cNvSpPr>
          <p:nvPr/>
        </p:nvSpPr>
        <p:spPr>
          <a:xfrm xmlns:a="http://schemas.openxmlformats.org/drawingml/2006/main">
            <a:off x="8074152" y="1609344"/>
            <a:ext cx="32918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6C8"/>
                </a:solidFill>
                <a:latin typeface="Consolas"/>
                <a:ea typeface="Consolas"/>
                <a:cs typeface="Consolas"/>
              </a:rPr>
              <a:t>fraud-service/</a:t>
            </a:r>
            <a:endParaRPr sz="900"/>
          </a:p>
        </p:txBody>
      </p:sp>
      <p:sp>
        <p:nvSpPr>
          <p:cNvPr id="13" name="Text 10">
            <a:extLst xmlns:a="http://schemas.openxmlformats.org/drawingml/2006/main">
              <a:ext uri="{FF2B5EF4-FFF2-40B4-BE49-F238E27FC236}">
                <a16:creationId xmlns:a16="http://schemas.microsoft.com/office/drawing/2014/main" id="{CBDFFB13-5EB4-44AF-8E95-F8EF53D2E437}"/>
              </a:ext>
            </a:extLst>
          </p:cNvPr>
          <p:cNvSpPr>
            <a:spLocks xmlns:a="http://schemas.openxmlformats.org/drawingml/2006/main" noGrp="1"/>
          </p:cNvSpPr>
          <p:nvPr/>
        </p:nvSpPr>
        <p:spPr>
          <a:xfrm xmlns:a="http://schemas.openxmlformats.org/drawingml/2006/main">
            <a:off x="713232" y="1965960"/>
            <a:ext cx="10725912"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000">
                <a:solidFill>
                  <a:srgbClr val="D9E4F5"/>
                </a:solidFill>
                <a:latin typeface="Consolas"/>
                <a:ea typeface="Consolas"/>
                <a:cs typeface="Consolas"/>
              </a:rPr>
              <a:t>fraud-service/</a:t>
            </a:r>
            <a:endParaRPr sz="1000"/>
          </a:p>
          <a:p xmlns:a="http://schemas.openxmlformats.org/drawingml/2006/main">
            <a:pPr marL="0" indent="0">
              <a:lnSpc>
                <a:spcPct val="112000"/>
              </a:lnSpc>
              <a:buNone/>
            </a:pPr>
            <a:r>
              <a:rPr sz="1000">
                <a:solidFill>
                  <a:srgbClr val="D9E4F5"/>
                </a:solidFill>
                <a:latin typeface="Consolas"/>
                <a:ea typeface="Consolas"/>
                <a:cs typeface="Consolas"/>
              </a:rPr>
              <a:t>├── pyproject.toml            # deps + tool config, single source of truth</a:t>
            </a:r>
            <a:endParaRPr sz="1000"/>
          </a:p>
          <a:p xmlns:a="http://schemas.openxmlformats.org/drawingml/2006/main">
            <a:pPr marL="0" indent="0">
              <a:lnSpc>
                <a:spcPct val="112000"/>
              </a:lnSpc>
              <a:buNone/>
            </a:pPr>
            <a:r>
              <a:rPr sz="1000">
                <a:solidFill>
                  <a:srgbClr val="D9E4F5"/>
                </a:solidFill>
                <a:latin typeface="Consolas"/>
                <a:ea typeface="Consolas"/>
                <a:cs typeface="Consolas"/>
              </a:rPr>
              <a:t>├── Makefile                  # make test / make lint / make run / make image</a:t>
            </a:r>
            <a:endParaRPr sz="1000"/>
          </a:p>
          <a:p xmlns:a="http://schemas.openxmlformats.org/drawingml/2006/main">
            <a:pPr marL="0" indent="0">
              <a:lnSpc>
                <a:spcPct val="112000"/>
              </a:lnSpc>
              <a:buNone/>
            </a:pPr>
            <a:r>
              <a:rPr sz="1000">
                <a:solidFill>
                  <a:srgbClr val="D9E4F5"/>
                </a:solidFill>
                <a:latin typeface="Consolas"/>
                <a:ea typeface="Consolas"/>
                <a:cs typeface="Consolas"/>
              </a:rPr>
              <a:t>├── configs/settings.example.env   # documented template, never real secrets</a:t>
            </a:r>
            <a:endParaRPr sz="1000"/>
          </a:p>
          <a:p xmlns:a="http://schemas.openxmlformats.org/drawingml/2006/main">
            <a:pPr marL="0" indent="0">
              <a:lnSpc>
                <a:spcPct val="112000"/>
              </a:lnSpc>
              <a:buNone/>
            </a:pPr>
            <a:r>
              <a:rPr sz="1000">
                <a:solidFill>
                  <a:srgbClr val="D9E4F5"/>
                </a:solidFill>
                <a:latin typeface="Consolas"/>
                <a:ea typeface="Consolas"/>
                <a:cs typeface="Consolas"/>
              </a:rPr>
              <a:t>├── src/</a:t>
            </a:r>
            <a:endParaRPr sz="1000"/>
          </a:p>
          <a:p xmlns:a="http://schemas.openxmlformats.org/drawingml/2006/main">
            <a:pPr marL="0" indent="0">
              <a:lnSpc>
                <a:spcPct val="112000"/>
              </a:lnSpc>
              <a:buNone/>
            </a:pPr>
            <a:r>
              <a:rPr sz="1000">
                <a:solidFill>
                  <a:srgbClr val="D9E4F5"/>
                </a:solidFill>
                <a:latin typeface="Consolas"/>
                <a:ea typeface="Consolas"/>
                <a:cs typeface="Consolas"/>
              </a:rPr>
              <a:t>│   └── fraud_service/</a:t>
            </a:r>
            <a:endParaRPr sz="1000"/>
          </a:p>
          <a:p xmlns:a="http://schemas.openxmlformats.org/drawingml/2006/main">
            <a:pPr marL="0" indent="0">
              <a:lnSpc>
                <a:spcPct val="112000"/>
              </a:lnSpc>
              <a:buNone/>
            </a:pPr>
            <a:r>
              <a:rPr sz="1000">
                <a:solidFill>
                  <a:srgbClr val="D9E4F5"/>
                </a:solidFill>
                <a:latin typeface="Consolas"/>
                <a:ea typeface="Consolas"/>
                <a:cs typeface="Consolas"/>
              </a:rPr>
              <a:t>│       ├── domain/</a:t>
            </a:r>
            <a:endParaRPr sz="1000"/>
          </a:p>
          <a:p xmlns:a="http://schemas.openxmlformats.org/drawingml/2006/main">
            <a:pPr marL="0" indent="0">
              <a:lnSpc>
                <a:spcPct val="112000"/>
              </a:lnSpc>
              <a:buNone/>
            </a:pPr>
            <a:r>
              <a:rPr sz="1000">
                <a:solidFill>
                  <a:srgbClr val="D9E4F5"/>
                </a:solidFill>
                <a:latin typeface="Consolas"/>
                <a:ea typeface="Consolas"/>
                <a:cs typeface="Consolas"/>
              </a:rPr>
              <a:t>│       │   ├── entities.py       # Transaction, FraudScore</a:t>
            </a:r>
            <a:endParaRPr sz="1000"/>
          </a:p>
          <a:p xmlns:a="http://schemas.openxmlformats.org/drawingml/2006/main">
            <a:pPr marL="0" indent="0">
              <a:lnSpc>
                <a:spcPct val="112000"/>
              </a:lnSpc>
              <a:buNone/>
            </a:pPr>
            <a:r>
              <a:rPr sz="1000">
                <a:solidFill>
                  <a:srgbClr val="D9E4F5"/>
                </a:solidFill>
                <a:latin typeface="Consolas"/>
                <a:ea typeface="Consolas"/>
                <a:cs typeface="Consolas"/>
              </a:rPr>
              <a:t>│       │   └── policies.py       # decision thresholds as pure functions</a:t>
            </a:r>
            <a:endParaRPr sz="1000"/>
          </a:p>
          <a:p xmlns:a="http://schemas.openxmlformats.org/drawingml/2006/main">
            <a:pPr marL="0" indent="0">
              <a:lnSpc>
                <a:spcPct val="112000"/>
              </a:lnSpc>
              <a:buNone/>
            </a:pPr>
            <a:r>
              <a:rPr sz="1000">
                <a:solidFill>
                  <a:srgbClr val="D9E4F5"/>
                </a:solidFill>
                <a:latin typeface="Consolas"/>
                <a:ea typeface="Consolas"/>
                <a:cs typeface="Consolas"/>
              </a:rPr>
              <a:t>│       ├── service/</a:t>
            </a:r>
            <a:endParaRPr sz="1000"/>
          </a:p>
          <a:p xmlns:a="http://schemas.openxmlformats.org/drawingml/2006/main">
            <a:pPr marL="0" indent="0">
              <a:lnSpc>
                <a:spcPct val="112000"/>
              </a:lnSpc>
              <a:buNone/>
            </a:pPr>
            <a:r>
              <a:rPr sz="1000">
                <a:solidFill>
                  <a:srgbClr val="D9E4F5"/>
                </a:solidFill>
                <a:latin typeface="Consolas"/>
                <a:ea typeface="Consolas"/>
                <a:cs typeface="Consolas"/>
              </a:rPr>
              <a:t>│       │   ├── scorer.py         # use-case orchestration</a:t>
            </a:r>
            <a:endParaRPr sz="1000"/>
          </a:p>
          <a:p xmlns:a="http://schemas.openxmlformats.org/drawingml/2006/main">
            <a:pPr marL="0" indent="0">
              <a:lnSpc>
                <a:spcPct val="112000"/>
              </a:lnSpc>
              <a:buNone/>
            </a:pPr>
            <a:r>
              <a:rPr sz="1000">
                <a:solidFill>
                  <a:srgbClr val="D9E4F5"/>
                </a:solidFill>
                <a:latin typeface="Consolas"/>
                <a:ea typeface="Consolas"/>
                <a:cs typeface="Consolas"/>
              </a:rPr>
              <a:t>│       │   └── interfaces.py     # Model / FeatureRepo protocols</a:t>
            </a:r>
            <a:endParaRPr sz="1000"/>
          </a:p>
          <a:p xmlns:a="http://schemas.openxmlformats.org/drawingml/2006/main">
            <a:pPr marL="0" indent="0">
              <a:lnSpc>
                <a:spcPct val="112000"/>
              </a:lnSpc>
              <a:buNone/>
            </a:pPr>
            <a:r>
              <a:rPr sz="1000">
                <a:solidFill>
                  <a:srgbClr val="D9E4F5"/>
                </a:solidFill>
                <a:latin typeface="Consolas"/>
                <a:ea typeface="Consolas"/>
                <a:cs typeface="Consolas"/>
              </a:rPr>
              <a:t>│       ├── adapters/</a:t>
            </a:r>
            <a:endParaRPr sz="1000"/>
          </a:p>
          <a:p xmlns:a="http://schemas.openxmlformats.org/drawingml/2006/main">
            <a:pPr marL="0" indent="0">
              <a:lnSpc>
                <a:spcPct val="112000"/>
              </a:lnSpc>
              <a:buNone/>
            </a:pPr>
            <a:r>
              <a:rPr sz="1000">
                <a:solidFill>
                  <a:srgbClr val="D9E4F5"/>
                </a:solidFill>
                <a:latin typeface="Consolas"/>
                <a:ea typeface="Consolas"/>
                <a:cs typeface="Consolas"/>
              </a:rPr>
              <a:t>│       │   └── sklearn_model.py  # joblib-backed Model implementation</a:t>
            </a:r>
            <a:endParaRPr sz="1000"/>
          </a:p>
          <a:p xmlns:a="http://schemas.openxmlformats.org/drawingml/2006/main">
            <a:pPr marL="0" indent="0">
              <a:lnSpc>
                <a:spcPct val="112000"/>
              </a:lnSpc>
              <a:buNone/>
            </a:pPr>
            <a:r>
              <a:rPr sz="1000">
                <a:solidFill>
                  <a:srgbClr val="D9E4F5"/>
                </a:solidFill>
                <a:latin typeface="Consolas"/>
                <a:ea typeface="Consolas"/>
                <a:cs typeface="Consolas"/>
              </a:rPr>
              <a:t>│       ├── api/                  # app.py · schemas.py · routes.py  (M2)</a:t>
            </a:r>
            <a:endParaRPr sz="1000"/>
          </a:p>
          <a:p xmlns:a="http://schemas.openxmlformats.org/drawingml/2006/main">
            <a:pPr marL="0" indent="0">
              <a:lnSpc>
                <a:spcPct val="112000"/>
              </a:lnSpc>
              <a:buNone/>
            </a:pPr>
            <a:r>
              <a:rPr sz="1000">
                <a:solidFill>
                  <a:srgbClr val="D9E4F5"/>
                </a:solidFill>
                <a:latin typeface="Consolas"/>
                <a:ea typeface="Consolas"/>
                <a:cs typeface="Consolas"/>
              </a:rPr>
              <a:t>│       ├── config.py             # pydantic-settings  (M6)</a:t>
            </a:r>
            <a:endParaRPr sz="1000"/>
          </a:p>
          <a:p xmlns:a="http://schemas.openxmlformats.org/drawingml/2006/main">
            <a:pPr marL="0" indent="0">
              <a:lnSpc>
                <a:spcPct val="112000"/>
              </a:lnSpc>
              <a:buNone/>
            </a:pPr>
            <a:r>
              <a:rPr sz="1000">
                <a:solidFill>
                  <a:srgbClr val="D9E4F5"/>
                </a:solidFill>
                <a:latin typeface="Consolas"/>
                <a:ea typeface="Consolas"/>
                <a:cs typeface="Consolas"/>
              </a:rPr>
              <a:t>│       └── logging_setup.py</a:t>
            </a:r>
            <a:endParaRPr sz="1000"/>
          </a:p>
          <a:p xmlns:a="http://schemas.openxmlformats.org/drawingml/2006/main">
            <a:pPr marL="0" indent="0">
              <a:lnSpc>
                <a:spcPct val="112000"/>
              </a:lnSpc>
              <a:buNone/>
            </a:pPr>
            <a:r>
              <a:rPr sz="1000">
                <a:solidFill>
                  <a:srgbClr val="D9E4F5"/>
                </a:solidFill>
                <a:latin typeface="Consolas"/>
                <a:ea typeface="Consolas"/>
                <a:cs typeface="Consolas"/>
              </a:rPr>
              <a:t>├── models/fraud_xgb_v3.joblib    # versioned artefact — input, not source</a:t>
            </a:r>
            <a:endParaRPr sz="1000"/>
          </a:p>
          <a:p xmlns:a="http://schemas.openxmlformats.org/drawingml/2006/main">
            <a:pPr marL="0" indent="0">
              <a:lnSpc>
                <a:spcPct val="112000"/>
              </a:lnSpc>
              <a:buNone/>
            </a:pPr>
            <a:r>
              <a:rPr sz="1000">
                <a:solidFill>
                  <a:srgbClr val="D9E4F5"/>
                </a:solidFill>
                <a:latin typeface="Consolas"/>
                <a:ea typeface="Consolas"/>
                <a:cs typeface="Consolas"/>
              </a:rPr>
              <a:t>└── tests/                        # unit/ · integration/ · behavioural/</a:t>
            </a:r>
            <a:endParaRPr sz="1000"/>
          </a:p>
        </p:txBody>
      </p:sp>
      <p:sp>
        <p:nvSpPr>
          <p:cNvPr id="14" name="Text 11">
            <a:extLst xmlns:a="http://schemas.openxmlformats.org/drawingml/2006/main">
              <a:ext uri="{FF2B5EF4-FFF2-40B4-BE49-F238E27FC236}">
                <a16:creationId xmlns:a16="http://schemas.microsoft.com/office/drawing/2014/main" id="{4ED0BD8F-E1A9-483F-8335-7F8BED635A5D}"/>
              </a:ext>
            </a:extLst>
          </p:cNvPr>
          <p:cNvSpPr>
            <a:spLocks xmlns:a="http://schemas.openxmlformats.org/drawingml/2006/main" noGrp="1"/>
          </p:cNvSpPr>
          <p:nvPr/>
        </p:nvSpPr>
        <p:spPr>
          <a:xfrm xmlns:a="http://schemas.openxmlformats.org/drawingml/2006/main">
            <a:off x="502920" y="6144768"/>
            <a:ext cx="1115568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5F6B7A"/>
                </a:solidFill>
                <a:latin typeface="Calibri"/>
                <a:ea typeface="Calibri"/>
                <a:cs typeface="Calibri"/>
              </a:rPr>
              <a:t>Participants replicate this tree in Lab 1 and keep it through the capstone.</a:t>
            </a:r>
            <a:endParaRPr sz="950"/>
          </a:p>
        </p:txBody>
      </p:sp>
    </p:spTree>
    <p:extLst>
      <p:ext uri="{BB962C8B-B14F-4D97-AF65-F5344CB8AC3E}">
        <p14:creationId xmlns:p14="http://schemas.microsoft.com/office/powerpoint/2010/main" val="2078659009"/>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EEDA5BD-4066-40D7-9FB0-A9D25D7E08FE}"/>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Three House Rules of the Layout</a:t>
            </a:r>
            <a:endParaRPr sz="2600"/>
          </a:p>
        </p:txBody>
      </p:sp>
      <p:sp>
        <p:nvSpPr>
          <p:cNvPr id="3" name="Text 1">
            <a:extLst xmlns:a="http://schemas.openxmlformats.org/drawingml/2006/main">
              <a:ext uri="{FF2B5EF4-FFF2-40B4-BE49-F238E27FC236}">
                <a16:creationId xmlns:a16="http://schemas.microsoft.com/office/drawing/2014/main" id="{6FEA181A-5196-4FC4-A790-3896CAA7D08F}"/>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ثلاث قواعد أساسية للتخطيط</a:t>
            </a:r>
            <a:endParaRPr sz="1300"/>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cc14056b4960449a"/>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CC1E4C57-4D0A-45DB-BACF-39D56A882747}"/>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86DF0431-6689-404C-BE22-C909BD7F7FA2}"/>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1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DAAC868D-A93B-4F8F-A20E-7187BC12E9DF}"/>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22</a:t>
            </a:r>
            <a:endParaRPr sz="850"/>
          </a:p>
        </p:txBody>
      </p:sp>
      <p:sp>
        <p:nvSpPr>
          <p:cNvPr id="8" name="Text 5">
            <a:extLst xmlns:a="http://schemas.openxmlformats.org/drawingml/2006/main">
              <a:ext uri="{FF2B5EF4-FFF2-40B4-BE49-F238E27FC236}">
                <a16:creationId xmlns:a16="http://schemas.microsoft.com/office/drawing/2014/main" id="{022C1E93-FEC9-4FE9-93E9-EA35E309E2C0}"/>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DA27002A-B0C4-4E54-8765-9533FDE9BC8A}"/>
              </a:ext>
            </a:extLst>
          </p:cNvPr>
          <p:cNvSpPr>
            <a:spLocks xmlns:a="http://schemas.openxmlformats.org/drawingml/2006/main" noGrp="1"/>
          </p:cNvSpPr>
          <p:nvPr/>
        </p:nvSpPr>
        <p:spPr>
          <a:xfrm xmlns:a="http://schemas.openxmlformats.org/drawingml/2006/main">
            <a:off x="1005840" y="14996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pyproject.toml is the single source</a:t>
            </a:r>
            <a:endParaRPr sz="1350"/>
          </a:p>
        </p:txBody>
      </p:sp>
      <p:sp>
        <p:nvSpPr>
          <p:cNvPr id="10" name="Text 7">
            <a:extLst xmlns:a="http://schemas.openxmlformats.org/drawingml/2006/main">
              <a:ext uri="{FF2B5EF4-FFF2-40B4-BE49-F238E27FC236}">
                <a16:creationId xmlns:a16="http://schemas.microsoft.com/office/drawing/2014/main" id="{7B1A07CD-20B9-4A59-A96A-C5DB363B48FE}"/>
              </a:ext>
            </a:extLst>
          </p:cNvPr>
          <p:cNvSpPr>
            <a:spLocks xmlns:a="http://schemas.openxmlformats.org/drawingml/2006/main" noGrp="1"/>
          </p:cNvSpPr>
          <p:nvPr/>
        </p:nvSpPr>
        <p:spPr>
          <a:xfrm xmlns:a="http://schemas.openxmlformats.org/drawingml/2006/main">
            <a:off x="1005840" y="18013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Dependencies AND tool configuration (ruff, pytest, mypy) in one file — one file to review, one file to cache in CI.</a:t>
            </a:r>
            <a:endParaRPr sz="1050"/>
          </a:p>
        </p:txBody>
      </p:sp>
      <p:sp>
        <p:nvSpPr>
          <p:cNvPr id="11" name="Text 8">
            <a:extLst xmlns:a="http://schemas.openxmlformats.org/drawingml/2006/main">
              <a:ext uri="{FF2B5EF4-FFF2-40B4-BE49-F238E27FC236}">
                <a16:creationId xmlns:a16="http://schemas.microsoft.com/office/drawing/2014/main" id="{529D9308-D918-4717-85E6-3363745A306F}"/>
              </a:ext>
            </a:extLst>
          </p:cNvPr>
          <p:cNvSpPr>
            <a:spLocks xmlns:a="http://schemas.openxmlformats.org/drawingml/2006/main" noGrp="1"/>
          </p:cNvSpPr>
          <p:nvPr/>
        </p:nvSpPr>
        <p:spPr>
          <a:xfrm xmlns:a="http://schemas.openxmlformats.org/drawingml/2006/main">
            <a:off x="502920" y="292608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E3D77FA8-F004-4D40-A0C1-C0513C066852}"/>
              </a:ext>
            </a:extLst>
          </p:cNvPr>
          <p:cNvSpPr>
            <a:spLocks xmlns:a="http://schemas.openxmlformats.org/drawingml/2006/main" noGrp="1"/>
          </p:cNvSpPr>
          <p:nvPr/>
        </p:nvSpPr>
        <p:spPr>
          <a:xfrm xmlns:a="http://schemas.openxmlformats.org/drawingml/2006/main">
            <a:off x="1005840" y="28712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Makefile is the repo's public API</a:t>
            </a:r>
            <a:endParaRPr sz="1350"/>
          </a:p>
        </p:txBody>
      </p:sp>
      <p:sp>
        <p:nvSpPr>
          <p:cNvPr id="13" name="Text 10">
            <a:extLst xmlns:a="http://schemas.openxmlformats.org/drawingml/2006/main">
              <a:ext uri="{FF2B5EF4-FFF2-40B4-BE49-F238E27FC236}">
                <a16:creationId xmlns:a16="http://schemas.microsoft.com/office/drawing/2014/main" id="{6E835793-6E1D-4ED3-9763-6B481151FBAA}"/>
              </a:ext>
            </a:extLst>
          </p:cNvPr>
          <p:cNvSpPr>
            <a:spLocks xmlns:a="http://schemas.openxmlformats.org/drawingml/2006/main" noGrp="1"/>
          </p:cNvSpPr>
          <p:nvPr/>
        </p:nvSpPr>
        <p:spPr>
          <a:xfrm xmlns:a="http://schemas.openxmlformats.org/drawingml/2006/main">
            <a:off x="1005840" y="31729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make test must work on day one and forever. Nobody should need to remember pytest flags — predictable commands are an operational interface.</a:t>
            </a:r>
            <a:endParaRPr sz="1050"/>
          </a:p>
        </p:txBody>
      </p:sp>
      <p:sp>
        <p:nvSpPr>
          <p:cNvPr id="14" name="Text 11">
            <a:extLst xmlns:a="http://schemas.openxmlformats.org/drawingml/2006/main">
              <a:ext uri="{FF2B5EF4-FFF2-40B4-BE49-F238E27FC236}">
                <a16:creationId xmlns:a16="http://schemas.microsoft.com/office/drawing/2014/main" id="{A027C349-406F-4AD8-9162-EC80F3DB906A}"/>
              </a:ext>
            </a:extLst>
          </p:cNvPr>
          <p:cNvSpPr>
            <a:spLocks xmlns:a="http://schemas.openxmlformats.org/drawingml/2006/main" noGrp="1"/>
          </p:cNvSpPr>
          <p:nvPr/>
        </p:nvSpPr>
        <p:spPr>
          <a:xfrm xmlns:a="http://schemas.openxmlformats.org/drawingml/2006/main">
            <a:off x="502920" y="429768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58AA71B8-90AB-4D5E-A611-EEFD6206D04A}"/>
              </a:ext>
            </a:extLst>
          </p:cNvPr>
          <p:cNvSpPr>
            <a:spLocks xmlns:a="http://schemas.openxmlformats.org/drawingml/2006/main" noGrp="1"/>
          </p:cNvSpPr>
          <p:nvPr/>
        </p:nvSpPr>
        <p:spPr>
          <a:xfrm xmlns:a="http://schemas.openxmlformats.org/drawingml/2006/main">
            <a:off x="1005840" y="42428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Model artefacts are inputs, not source</a:t>
            </a:r>
            <a:endParaRPr sz="1350"/>
          </a:p>
        </p:txBody>
      </p:sp>
      <p:sp>
        <p:nvSpPr>
          <p:cNvPr id="16" name="Text 13">
            <a:extLst xmlns:a="http://schemas.openxmlformats.org/drawingml/2006/main">
              <a:ext uri="{FF2B5EF4-FFF2-40B4-BE49-F238E27FC236}">
                <a16:creationId xmlns:a16="http://schemas.microsoft.com/office/drawing/2014/main" id="{F1B31A5C-88B1-44C7-BC01-9380085E41CA}"/>
              </a:ext>
            </a:extLst>
          </p:cNvPr>
          <p:cNvSpPr>
            <a:spLocks xmlns:a="http://schemas.openxmlformats.org/drawingml/2006/main" noGrp="1"/>
          </p:cNvSpPr>
          <p:nvPr/>
        </p:nvSpPr>
        <p:spPr>
          <a:xfrm xmlns:a="http://schemas.openxmlformats.org/drawingml/2006/main">
            <a:off x="1005840" y="45445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Small artefacts may live in models/ via Git LFS; production-grade flow pulls them from a registry at image build or container start (M3/M6).</a:t>
            </a:r>
            <a:endParaRPr sz="1050"/>
          </a:p>
        </p:txBody>
      </p:sp>
      <p:sp>
        <p:nvSpPr>
          <p:cNvPr id="17" name="Shape 14">
            <a:extLst xmlns:a="http://schemas.openxmlformats.org/drawingml/2006/main">
              <a:ext uri="{FF2B5EF4-FFF2-40B4-BE49-F238E27FC236}">
                <a16:creationId xmlns:a16="http://schemas.microsoft.com/office/drawing/2014/main" id="{03D84555-99A3-4421-B9BB-D2DDA43E5B67}"/>
              </a:ext>
            </a:extLst>
          </p:cNvPr>
          <p:cNvSpPr>
            <a:spLocks xmlns:a="http://schemas.openxmlformats.org/drawingml/2006/main" noGrp="1"/>
          </p:cNvSpPr>
          <p:nvPr/>
        </p:nvSpPr>
        <p:spPr>
          <a:xfrm xmlns:a="http://schemas.openxmlformats.org/drawingml/2006/main">
            <a:off x="6355080" y="1481328"/>
            <a:ext cx="5330952" cy="4663440"/>
          </a:xfrm>
          <a:prstGeom xmlns:a="http://schemas.openxmlformats.org/drawingml/2006/main" prst="roundRect">
            <a:avLst>
              <a:gd name="adj" fmla="val 1373"/>
            </a:avLst>
          </a:prstGeom>
          <a:solidFill xmlns:a="http://schemas.openxmlformats.org/drawingml/2006/main">
            <a:srgbClr val="EEF3FB"/>
          </a:solidFill>
          <a:ln xmlns:a="http://schemas.openxmlformats.org/drawingml/2006/main" w="9525">
            <a:solidFill>
              <a:srgbClr val="D9E4F5"/>
            </a:solidFill>
            <a:prstDash val="solid"/>
          </a:ln>
        </p:spPr>
      </p:sp>
      <p:sp>
        <p:nvSpPr>
          <p:cNvPr id="18" name="Text 15">
            <a:extLst xmlns:a="http://schemas.openxmlformats.org/drawingml/2006/main">
              <a:ext uri="{FF2B5EF4-FFF2-40B4-BE49-F238E27FC236}">
                <a16:creationId xmlns:a16="http://schemas.microsoft.com/office/drawing/2014/main" id="{FFD9F002-4186-4F60-AFB9-94F6F17B1677}"/>
              </a:ext>
            </a:extLst>
          </p:cNvPr>
          <p:cNvSpPr>
            <a:spLocks xmlns:a="http://schemas.openxmlformats.org/drawingml/2006/main" noGrp="1"/>
          </p:cNvSpPr>
          <p:nvPr/>
        </p:nvSpPr>
        <p:spPr>
          <a:xfrm xmlns:a="http://schemas.openxmlformats.org/drawingml/2006/main">
            <a:off x="6556248" y="1645920"/>
            <a:ext cx="492861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D2A5C"/>
                </a:solidFill>
                <a:latin typeface="Calibri"/>
                <a:ea typeface="Calibri"/>
                <a:cs typeface="Calibri"/>
              </a:rPr>
              <a:t>Security warning</a:t>
            </a:r>
            <a:endParaRPr sz="1300"/>
          </a:p>
        </p:txBody>
      </p:sp>
      <p:sp>
        <p:nvSpPr>
          <p:cNvPr id="19" name="Shape 16">
            <a:extLst xmlns:a="http://schemas.openxmlformats.org/drawingml/2006/main">
              <a:ext uri="{FF2B5EF4-FFF2-40B4-BE49-F238E27FC236}">
                <a16:creationId xmlns:a16="http://schemas.microsoft.com/office/drawing/2014/main" id="{FE096502-0126-4270-AE57-5049D9B89858}"/>
              </a:ext>
            </a:extLst>
          </p:cNvPr>
          <p:cNvSpPr>
            <a:spLocks xmlns:a="http://schemas.openxmlformats.org/drawingml/2006/main" noGrp="1"/>
          </p:cNvSpPr>
          <p:nvPr/>
        </p:nvSpPr>
        <p:spPr>
          <a:xfrm xmlns:a="http://schemas.openxmlformats.org/drawingml/2006/main" rot="2700000">
            <a:off x="6556248" y="2130552"/>
            <a:ext cx="128016" cy="128016"/>
          </a:xfrm>
          <a:prstGeom xmlns:a="http://schemas.openxmlformats.org/drawingml/2006/main" prst="rect">
            <a:avLst/>
          </a:prstGeom>
          <a:solidFill xmlns:a="http://schemas.openxmlformats.org/drawingml/2006/main">
            <a:srgbClr val="00A79D"/>
          </a:solidFill>
        </p:spPr>
      </p:sp>
      <p:sp>
        <p:nvSpPr>
          <p:cNvPr id="20" name="Text 17">
            <a:extLst xmlns:a="http://schemas.openxmlformats.org/drawingml/2006/main">
              <a:ext uri="{FF2B5EF4-FFF2-40B4-BE49-F238E27FC236}">
                <a16:creationId xmlns:a16="http://schemas.microsoft.com/office/drawing/2014/main" id="{28345948-3155-4754-A7A5-79801FC10FF8}"/>
              </a:ext>
            </a:extLst>
          </p:cNvPr>
          <p:cNvSpPr>
            <a:spLocks xmlns:a="http://schemas.openxmlformats.org/drawingml/2006/main" noGrp="1"/>
          </p:cNvSpPr>
          <p:nvPr/>
        </p:nvSpPr>
        <p:spPr>
          <a:xfrm xmlns:a="http://schemas.openxmlformats.org/drawingml/2006/main">
            <a:off x="6812280" y="2039112"/>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pickle executes code</a:t>
            </a:r>
            <a:endParaRPr sz="1100"/>
          </a:p>
        </p:txBody>
      </p:sp>
      <p:sp>
        <p:nvSpPr>
          <p:cNvPr id="21" name="Text 18">
            <a:extLst xmlns:a="http://schemas.openxmlformats.org/drawingml/2006/main">
              <a:ext uri="{FF2B5EF4-FFF2-40B4-BE49-F238E27FC236}">
                <a16:creationId xmlns:a16="http://schemas.microsoft.com/office/drawing/2014/main" id="{9E2081CB-D934-4A69-AFE8-18626CE533A5}"/>
              </a:ext>
            </a:extLst>
          </p:cNvPr>
          <p:cNvSpPr>
            <a:spLocks xmlns:a="http://schemas.openxmlformats.org/drawingml/2006/main" noGrp="1"/>
          </p:cNvSpPr>
          <p:nvPr/>
        </p:nvSpPr>
        <p:spPr>
          <a:xfrm xmlns:a="http://schemas.openxmlformats.org/drawingml/2006/main">
            <a:off x="6812280" y="2304288"/>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Never pickle.load from an unverified path</a:t>
            </a:r>
            <a:endParaRPr sz="950"/>
          </a:p>
        </p:txBody>
      </p:sp>
      <p:sp>
        <p:nvSpPr>
          <p:cNvPr id="22" name="Shape 19">
            <a:extLst xmlns:a="http://schemas.openxmlformats.org/drawingml/2006/main">
              <a:ext uri="{FF2B5EF4-FFF2-40B4-BE49-F238E27FC236}">
                <a16:creationId xmlns:a16="http://schemas.microsoft.com/office/drawing/2014/main" id="{E0BEF418-96C2-4B85-AB17-4A70CA10D7BA}"/>
              </a:ext>
            </a:extLst>
          </p:cNvPr>
          <p:cNvSpPr>
            <a:spLocks xmlns:a="http://schemas.openxmlformats.org/drawingml/2006/main" noGrp="1"/>
          </p:cNvSpPr>
          <p:nvPr/>
        </p:nvSpPr>
        <p:spPr>
          <a:xfrm xmlns:a="http://schemas.openxmlformats.org/drawingml/2006/main" rot="2700000">
            <a:off x="6556248" y="3441192"/>
            <a:ext cx="128016" cy="128016"/>
          </a:xfrm>
          <a:prstGeom xmlns:a="http://schemas.openxmlformats.org/drawingml/2006/main" prst="rect">
            <a:avLst/>
          </a:prstGeom>
          <a:solidFill xmlns:a="http://schemas.openxmlformats.org/drawingml/2006/main">
            <a:srgbClr val="29ABE2"/>
          </a:solidFill>
        </p:spPr>
      </p:sp>
      <p:sp>
        <p:nvSpPr>
          <p:cNvPr id="23" name="Text 20">
            <a:extLst xmlns:a="http://schemas.openxmlformats.org/drawingml/2006/main">
              <a:ext uri="{FF2B5EF4-FFF2-40B4-BE49-F238E27FC236}">
                <a16:creationId xmlns:a16="http://schemas.microsoft.com/office/drawing/2014/main" id="{4007297D-AF27-4AFB-8B43-22847546AF93}"/>
              </a:ext>
            </a:extLst>
          </p:cNvPr>
          <p:cNvSpPr>
            <a:spLocks xmlns:a="http://schemas.openxmlformats.org/drawingml/2006/main" noGrp="1"/>
          </p:cNvSpPr>
          <p:nvPr/>
        </p:nvSpPr>
        <p:spPr>
          <a:xfrm xmlns:a="http://schemas.openxmlformats.org/drawingml/2006/main">
            <a:off x="6812280" y="3349752"/>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Attacker writes the file…</a:t>
            </a:r>
            <a:endParaRPr sz="1100"/>
          </a:p>
        </p:txBody>
      </p:sp>
      <p:sp>
        <p:nvSpPr>
          <p:cNvPr id="24" name="Text 21">
            <a:extLst xmlns:a="http://schemas.openxmlformats.org/drawingml/2006/main">
              <a:ext uri="{FF2B5EF4-FFF2-40B4-BE49-F238E27FC236}">
                <a16:creationId xmlns:a16="http://schemas.microsoft.com/office/drawing/2014/main" id="{63A2F821-A166-4775-877C-59B9E65EB5DC}"/>
              </a:ext>
            </a:extLst>
          </p:cNvPr>
          <p:cNvSpPr>
            <a:spLocks xmlns:a="http://schemas.openxmlformats.org/drawingml/2006/main" noGrp="1"/>
          </p:cNvSpPr>
          <p:nvPr/>
        </p:nvSpPr>
        <p:spPr>
          <a:xfrm xmlns:a="http://schemas.openxmlformats.org/drawingml/2006/main">
            <a:off x="6812280" y="3614928"/>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…attacker owns the service</a:t>
            </a:r>
            <a:endParaRPr sz="950"/>
          </a:p>
        </p:txBody>
      </p:sp>
      <p:sp>
        <p:nvSpPr>
          <p:cNvPr id="25" name="Shape 22">
            <a:extLst xmlns:a="http://schemas.openxmlformats.org/drawingml/2006/main">
              <a:ext uri="{FF2B5EF4-FFF2-40B4-BE49-F238E27FC236}">
                <a16:creationId xmlns:a16="http://schemas.microsoft.com/office/drawing/2014/main" id="{6E84B96C-DBED-461E-BEBA-11F0DA9D5E2C}"/>
              </a:ext>
            </a:extLst>
          </p:cNvPr>
          <p:cNvSpPr>
            <a:spLocks xmlns:a="http://schemas.openxmlformats.org/drawingml/2006/main" noGrp="1"/>
          </p:cNvSpPr>
          <p:nvPr/>
        </p:nvSpPr>
        <p:spPr>
          <a:xfrm xmlns:a="http://schemas.openxmlformats.org/drawingml/2006/main" rot="2700000">
            <a:off x="6556248" y="4751832"/>
            <a:ext cx="128016" cy="128016"/>
          </a:xfrm>
          <a:prstGeom xmlns:a="http://schemas.openxmlformats.org/drawingml/2006/main" prst="rect">
            <a:avLst/>
          </a:prstGeom>
          <a:solidFill xmlns:a="http://schemas.openxmlformats.org/drawingml/2006/main">
            <a:srgbClr val="F58220"/>
          </a:solidFill>
        </p:spPr>
      </p:sp>
      <p:sp>
        <p:nvSpPr>
          <p:cNvPr id="26" name="Text 23">
            <a:extLst xmlns:a="http://schemas.openxmlformats.org/drawingml/2006/main">
              <a:ext uri="{FF2B5EF4-FFF2-40B4-BE49-F238E27FC236}">
                <a16:creationId xmlns:a16="http://schemas.microsoft.com/office/drawing/2014/main" id="{FACCA8B3-EF7E-4E02-AED6-697E477A3B1A}"/>
              </a:ext>
            </a:extLst>
          </p:cNvPr>
          <p:cNvSpPr>
            <a:spLocks xmlns:a="http://schemas.openxmlformats.org/drawingml/2006/main" noGrp="1"/>
          </p:cNvSpPr>
          <p:nvPr/>
        </p:nvSpPr>
        <p:spPr>
          <a:xfrm xmlns:a="http://schemas.openxmlformats.org/drawingml/2006/main">
            <a:off x="6812280" y="4660392"/>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Mitigation</a:t>
            </a:r>
            <a:endParaRPr sz="1100"/>
          </a:p>
        </p:txBody>
      </p:sp>
      <p:sp>
        <p:nvSpPr>
          <p:cNvPr id="27" name="Text 24">
            <a:extLst xmlns:a="http://schemas.openxmlformats.org/drawingml/2006/main">
              <a:ext uri="{FF2B5EF4-FFF2-40B4-BE49-F238E27FC236}">
                <a16:creationId xmlns:a16="http://schemas.microsoft.com/office/drawing/2014/main" id="{2B25E4B1-630B-4CFE-9273-0018AE44494D}"/>
              </a:ext>
            </a:extLst>
          </p:cNvPr>
          <p:cNvSpPr>
            <a:spLocks xmlns:a="http://schemas.openxmlformats.org/drawingml/2006/main" noGrp="1"/>
          </p:cNvSpPr>
          <p:nvPr/>
        </p:nvSpPr>
        <p:spPr>
          <a:xfrm xmlns:a="http://schemas.openxmlformats.org/drawingml/2006/main">
            <a:off x="6812280" y="4925568"/>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Verified registry pull + pinned artefact version</a:t>
            </a:r>
            <a:endParaRPr sz="950"/>
          </a:p>
        </p:txBody>
      </p:sp>
    </p:spTree>
    <p:extLst>
      <p:ext uri="{BB962C8B-B14F-4D97-AF65-F5344CB8AC3E}">
        <p14:creationId xmlns:p14="http://schemas.microsoft.com/office/powerpoint/2010/main" val="196160839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B7F045E-6639-41F7-9278-4CAFD5043109}"/>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The Model Protocol — interfaces.py</a:t>
            </a:r>
            <a:endParaRPr sz="2600"/>
          </a:p>
        </p:txBody>
      </p:sp>
      <p:sp>
        <p:nvSpPr>
          <p:cNvPr id="3" name="Text 1">
            <a:extLst xmlns:a="http://schemas.openxmlformats.org/drawingml/2006/main">
              <a:ext uri="{FF2B5EF4-FFF2-40B4-BE49-F238E27FC236}">
                <a16:creationId xmlns:a16="http://schemas.microsoft.com/office/drawing/2014/main" id="{B23B3DB4-E93A-4986-B5B8-A599B55511ED}"/>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بروتوكول النموذج</a:t>
            </a:r>
            <a:endParaRPr sz="1300"/>
          </a:p>
        </p:txBody>
      </p:sp>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9f75a96d6473466f"/>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8F139A20-6C2F-4B63-A3FB-FA78DD661251}"/>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A1C60838-2BDA-40B8-BB42-BC502FE44CD3}"/>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1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4847E3CF-8046-4B4A-B84F-3E52045950CD}"/>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23</a:t>
            </a:r>
            <a:endParaRPr sz="850"/>
          </a:p>
        </p:txBody>
      </p:sp>
      <p:sp>
        <p:nvSpPr>
          <p:cNvPr id="8" name="Shape 5">
            <a:extLst xmlns:a="http://schemas.openxmlformats.org/drawingml/2006/main">
              <a:ext uri="{FF2B5EF4-FFF2-40B4-BE49-F238E27FC236}">
                <a16:creationId xmlns:a16="http://schemas.microsoft.com/office/drawing/2014/main" id="{D0FA6F09-359E-4C18-BDE8-7020E35A5F03}"/>
              </a:ext>
            </a:extLst>
          </p:cNvPr>
          <p:cNvSpPr>
            <a:spLocks xmlns:a="http://schemas.openxmlformats.org/drawingml/2006/main" noGrp="1"/>
          </p:cNvSpPr>
          <p:nvPr/>
        </p:nvSpPr>
        <p:spPr>
          <a:xfrm xmlns:a="http://schemas.openxmlformats.org/drawingml/2006/main">
            <a:off x="502920" y="1481328"/>
            <a:ext cx="7635240" cy="4617720"/>
          </a:xfrm>
          <a:prstGeom xmlns:a="http://schemas.openxmlformats.org/drawingml/2006/main" prst="roundRect">
            <a:avLst>
              <a:gd name="adj" fmla="val 1584"/>
            </a:avLst>
          </a:prstGeom>
          <a:solidFill xmlns:a="http://schemas.openxmlformats.org/drawingml/2006/main">
            <a:srgbClr val="1A2233"/>
          </a:solidFill>
        </p:spPr>
      </p:sp>
      <p:sp>
        <p:nvSpPr>
          <p:cNvPr id="9" name="Shape 6">
            <a:extLst xmlns:a="http://schemas.openxmlformats.org/drawingml/2006/main">
              <a:ext uri="{FF2B5EF4-FFF2-40B4-BE49-F238E27FC236}">
                <a16:creationId xmlns:a16="http://schemas.microsoft.com/office/drawing/2014/main" id="{7A4E33FF-AB0C-4A6C-BE64-93190459F100}"/>
              </a:ext>
            </a:extLst>
          </p:cNvPr>
          <p:cNvSpPr>
            <a:spLocks xmlns:a="http://schemas.openxmlformats.org/drawingml/2006/main" noGrp="1"/>
          </p:cNvSpPr>
          <p:nvPr/>
        </p:nvSpPr>
        <p:spPr>
          <a:xfrm xmlns:a="http://schemas.openxmlformats.org/drawingml/2006/main">
            <a:off x="731520" y="1664208"/>
            <a:ext cx="109728" cy="109728"/>
          </a:xfrm>
          <a:prstGeom xmlns:a="http://schemas.openxmlformats.org/drawingml/2006/main" prst="ellipse">
            <a:avLst/>
          </a:prstGeom>
          <a:solidFill xmlns:a="http://schemas.openxmlformats.org/drawingml/2006/main">
            <a:srgbClr val="E8503A"/>
          </a:solidFill>
        </p:spPr>
      </p:sp>
      <p:sp>
        <p:nvSpPr>
          <p:cNvPr id="10" name="Shape 7">
            <a:extLst xmlns:a="http://schemas.openxmlformats.org/drawingml/2006/main">
              <a:ext uri="{FF2B5EF4-FFF2-40B4-BE49-F238E27FC236}">
                <a16:creationId xmlns:a16="http://schemas.microsoft.com/office/drawing/2014/main" id="{AC88F43C-A526-4E56-AA25-79B3D561E808}"/>
              </a:ext>
            </a:extLst>
          </p:cNvPr>
          <p:cNvSpPr>
            <a:spLocks xmlns:a="http://schemas.openxmlformats.org/drawingml/2006/main" noGrp="1"/>
          </p:cNvSpPr>
          <p:nvPr/>
        </p:nvSpPr>
        <p:spPr>
          <a:xfrm xmlns:a="http://schemas.openxmlformats.org/drawingml/2006/main">
            <a:off x="932688" y="1664208"/>
            <a:ext cx="109728" cy="109728"/>
          </a:xfrm>
          <a:prstGeom xmlns:a="http://schemas.openxmlformats.org/drawingml/2006/main" prst="ellipse">
            <a:avLst/>
          </a:prstGeom>
          <a:solidFill xmlns:a="http://schemas.openxmlformats.org/drawingml/2006/main">
            <a:srgbClr val="F5B820"/>
          </a:solidFill>
        </p:spPr>
      </p:sp>
      <p:sp>
        <p:nvSpPr>
          <p:cNvPr id="11" name="Shape 8">
            <a:extLst xmlns:a="http://schemas.openxmlformats.org/drawingml/2006/main">
              <a:ext uri="{FF2B5EF4-FFF2-40B4-BE49-F238E27FC236}">
                <a16:creationId xmlns:a16="http://schemas.microsoft.com/office/drawing/2014/main" id="{7CA79A18-805E-45C4-810B-F503CF75346D}"/>
              </a:ext>
            </a:extLst>
          </p:cNvPr>
          <p:cNvSpPr>
            <a:spLocks xmlns:a="http://schemas.openxmlformats.org/drawingml/2006/main" noGrp="1"/>
          </p:cNvSpPr>
          <p:nvPr/>
        </p:nvSpPr>
        <p:spPr>
          <a:xfrm xmlns:a="http://schemas.openxmlformats.org/drawingml/2006/main">
            <a:off x="1133856" y="1664208"/>
            <a:ext cx="109728" cy="109728"/>
          </a:xfrm>
          <a:prstGeom xmlns:a="http://schemas.openxmlformats.org/drawingml/2006/main" prst="ellipse">
            <a:avLst/>
          </a:prstGeom>
          <a:solidFill xmlns:a="http://schemas.openxmlformats.org/drawingml/2006/main">
            <a:srgbClr val="8DC63F"/>
          </a:solidFill>
        </p:spPr>
      </p:sp>
      <p:sp>
        <p:nvSpPr>
          <p:cNvPr id="12" name="Text 9">
            <a:extLst xmlns:a="http://schemas.openxmlformats.org/drawingml/2006/main">
              <a:ext uri="{FF2B5EF4-FFF2-40B4-BE49-F238E27FC236}">
                <a16:creationId xmlns:a16="http://schemas.microsoft.com/office/drawing/2014/main" id="{051FFA95-C1F2-4A0C-A04A-CCF6401A4BD9}"/>
              </a:ext>
            </a:extLst>
          </p:cNvPr>
          <p:cNvSpPr>
            <a:spLocks xmlns:a="http://schemas.openxmlformats.org/drawingml/2006/main" noGrp="1"/>
          </p:cNvSpPr>
          <p:nvPr/>
        </p:nvSpPr>
        <p:spPr>
          <a:xfrm xmlns:a="http://schemas.openxmlformats.org/drawingml/2006/main">
            <a:off x="4526280" y="1609344"/>
            <a:ext cx="32918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6C8"/>
                </a:solidFill>
                <a:latin typeface="Consolas"/>
                <a:ea typeface="Consolas"/>
                <a:cs typeface="Consolas"/>
              </a:rPr>
              <a:t>src/fraud_service/service/interfaces.py</a:t>
            </a:r>
            <a:endParaRPr sz="900"/>
          </a:p>
        </p:txBody>
      </p:sp>
      <p:sp>
        <p:nvSpPr>
          <p:cNvPr id="13" name="Text 10">
            <a:extLst xmlns:a="http://schemas.openxmlformats.org/drawingml/2006/main">
              <a:ext uri="{FF2B5EF4-FFF2-40B4-BE49-F238E27FC236}">
                <a16:creationId xmlns:a16="http://schemas.microsoft.com/office/drawing/2014/main" id="{FD6F52CC-361C-4182-842C-29103B664C56}"/>
              </a:ext>
            </a:extLst>
          </p:cNvPr>
          <p:cNvSpPr>
            <a:spLocks xmlns:a="http://schemas.openxmlformats.org/drawingml/2006/main" noGrp="1"/>
          </p:cNvSpPr>
          <p:nvPr/>
        </p:nvSpPr>
        <p:spPr>
          <a:xfrm xmlns:a="http://schemas.openxmlformats.org/drawingml/2006/main">
            <a:off x="713232" y="1965960"/>
            <a:ext cx="717804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000">
                <a:solidFill>
                  <a:srgbClr val="D9E4F5"/>
                </a:solidFill>
                <a:latin typeface="Consolas"/>
                <a:ea typeface="Consolas"/>
                <a:cs typeface="Consolas"/>
              </a:rPr>
              <a:t>from typing import Protocol</a:t>
            </a:r>
            <a:endParaRPr sz="1000"/>
          </a:p>
          <a:p xmlns:a="http://schemas.openxmlformats.org/drawingml/2006/main">
            <a:pPr marL="0" indent="0">
              <a:lnSpc>
                <a:spcPct val="112000"/>
              </a:lnSpc>
              <a:buNone/>
            </a:pPr>
            <a:r>
              <a:rPr sz="1000">
                <a:solidFill>
                  <a:srgbClr val="D9E4F5"/>
                </a:solidFill>
                <a:latin typeface="Consolas"/>
                <a:ea typeface="Consolas"/>
                <a:cs typeface="Consolas"/>
              </a:rPr>
              <a:t>from fraud_service.domain.entities import (</a:t>
            </a:r>
            <a:endParaRPr sz="1000"/>
          </a:p>
          <a:p xmlns:a="http://schemas.openxmlformats.org/drawingml/2006/main">
            <a:pPr marL="0" indent="0">
              <a:lnSpc>
                <a:spcPct val="112000"/>
              </a:lnSpc>
              <a:buNone/>
            </a:pPr>
            <a:r>
              <a:rPr sz="1000">
                <a:solidFill>
                  <a:srgbClr val="D9E4F5"/>
                </a:solidFill>
                <a:latin typeface="Consolas"/>
                <a:ea typeface="Consolas"/>
                <a:cs typeface="Consolas"/>
              </a:rPr>
              <a:t>    FeatureVector, RawScore,</a:t>
            </a:r>
            <a:endParaRPr sz="1000"/>
          </a:p>
          <a:p xmlns:a="http://schemas.openxmlformats.org/drawingml/2006/main">
            <a:pPr marL="0" indent="0">
              <a:lnSpc>
                <a:spcPct val="112000"/>
              </a:lnSpc>
              <a:buNone/>
            </a:pPr>
            <a:r>
              <a:rPr sz="1000">
                <a:solidFill>
                  <a:srgbClr val="D9E4F5"/>
                </a:solidFill>
                <a:latin typeface="Consolas"/>
                <a:ea typeface="Consolas"/>
                <a:cs typeface="Consolas"/>
              </a:rPr>
              <a:t>)</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class Model(Protocol):</a:t>
            </a:r>
            <a:endParaRPr sz="1000"/>
          </a:p>
          <a:p xmlns:a="http://schemas.openxmlformats.org/drawingml/2006/main">
            <a:pPr marL="0" indent="0">
              <a:lnSpc>
                <a:spcPct val="112000"/>
              </a:lnSpc>
              <a:buNone/>
            </a:pPr>
            <a:r>
              <a:rPr sz="1000">
                <a:solidFill>
                  <a:srgbClr val="D9E4F5"/>
                </a:solidFill>
                <a:latin typeface="Consolas"/>
                <a:ea typeface="Consolas"/>
                <a:cs typeface="Consolas"/>
              </a:rPr>
              <a:t>    """Anything that can score a feature vector.</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    Implementations: SklearnModel (prod),</a:t>
            </a:r>
            <a:endParaRPr sz="1000"/>
          </a:p>
          <a:p xmlns:a="http://schemas.openxmlformats.org/drawingml/2006/main">
            <a:pPr marL="0" indent="0">
              <a:lnSpc>
                <a:spcPct val="112000"/>
              </a:lnSpc>
              <a:buNone/>
            </a:pPr>
            <a:r>
              <a:rPr sz="1000">
                <a:solidFill>
                  <a:srgbClr val="D9E4F5"/>
                </a:solidFill>
                <a:latin typeface="Consolas"/>
                <a:ea typeface="Consolas"/>
                <a:cs typeface="Consolas"/>
              </a:rPr>
              <a:t>    ConstantModel (tests), RemoteModel (future).</a:t>
            </a:r>
            <a:endParaRPr sz="1000"/>
          </a:p>
          <a:p xmlns:a="http://schemas.openxmlformats.org/drawingml/2006/main">
            <a:pPr marL="0" indent="0">
              <a:lnSpc>
                <a:spcPct val="112000"/>
              </a:lnSpc>
              <a:buNone/>
            </a:pPr>
            <a:r>
              <a:rPr sz="1000">
                <a:solidFill>
                  <a:srgbClr val="D9E4F5"/>
                </a:solidFill>
                <a:latin typeface="Consolas"/>
                <a:ea typeface="Consolas"/>
                <a:cs typeface="Consolas"/>
              </a:rPr>
              <a:t>    The service layer knows ONLY this signature."""</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    model_version: str</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    def predict_proba(</a:t>
            </a:r>
            <a:endParaRPr sz="1000"/>
          </a:p>
          <a:p xmlns:a="http://schemas.openxmlformats.org/drawingml/2006/main">
            <a:pPr marL="0" indent="0">
              <a:lnSpc>
                <a:spcPct val="112000"/>
              </a:lnSpc>
              <a:buNone/>
            </a:pPr>
            <a:r>
              <a:rPr sz="1000">
                <a:solidFill>
                  <a:srgbClr val="D9E4F5"/>
                </a:solidFill>
                <a:latin typeface="Consolas"/>
                <a:ea typeface="Consolas"/>
                <a:cs typeface="Consolas"/>
              </a:rPr>
              <a:t>        self, features: FeatureVector</a:t>
            </a:r>
            <a:endParaRPr sz="1000"/>
          </a:p>
          <a:p xmlns:a="http://schemas.openxmlformats.org/drawingml/2006/main">
            <a:pPr marL="0" indent="0">
              <a:lnSpc>
                <a:spcPct val="112000"/>
              </a:lnSpc>
              <a:buNone/>
            </a:pPr>
            <a:r>
              <a:rPr sz="1000">
                <a:solidFill>
                  <a:srgbClr val="D9E4F5"/>
                </a:solidFill>
                <a:latin typeface="Consolas"/>
                <a:ea typeface="Consolas"/>
                <a:cs typeface="Consolas"/>
              </a:rPr>
              <a:t>    ) -&gt; RawScore: ...</a:t>
            </a:r>
            <a:endParaRPr sz="1000"/>
          </a:p>
        </p:txBody>
      </p:sp>
      <p:sp>
        <p:nvSpPr>
          <p:cNvPr id="14" name="Shape 11">
            <a:extLst xmlns:a="http://schemas.openxmlformats.org/drawingml/2006/main">
              <a:ext uri="{FF2B5EF4-FFF2-40B4-BE49-F238E27FC236}">
                <a16:creationId xmlns:a16="http://schemas.microsoft.com/office/drawing/2014/main" id="{F23C18D4-907B-456F-AE3F-78317B186E60}"/>
              </a:ext>
            </a:extLst>
          </p:cNvPr>
          <p:cNvSpPr>
            <a:spLocks xmlns:a="http://schemas.openxmlformats.org/drawingml/2006/main" noGrp="1"/>
          </p:cNvSpPr>
          <p:nvPr/>
        </p:nvSpPr>
        <p:spPr>
          <a:xfrm xmlns:a="http://schemas.openxmlformats.org/drawingml/2006/main">
            <a:off x="8321040" y="1481328"/>
            <a:ext cx="3364992" cy="1402080"/>
          </a:xfrm>
          <a:prstGeom xmlns:a="http://schemas.openxmlformats.org/drawingml/2006/main" prst="roundRect">
            <a:avLst>
              <a:gd name="adj" fmla="val 3913"/>
            </a:avLst>
          </a:prstGeom>
          <a:solidFill xmlns:a="http://schemas.openxmlformats.org/drawingml/2006/main">
            <a:srgbClr val="D4F1EE"/>
          </a:solidFill>
        </p:spPr>
      </p:sp>
      <p:sp>
        <p:nvSpPr>
          <p:cNvPr id="15" name="Text 12">
            <a:extLst xmlns:a="http://schemas.openxmlformats.org/drawingml/2006/main">
              <a:ext uri="{FF2B5EF4-FFF2-40B4-BE49-F238E27FC236}">
                <a16:creationId xmlns:a16="http://schemas.microsoft.com/office/drawing/2014/main" id="{49705A4B-6221-4381-8096-F9DB09FCFD43}"/>
              </a:ext>
            </a:extLst>
          </p:cNvPr>
          <p:cNvSpPr>
            <a:spLocks xmlns:a="http://schemas.openxmlformats.org/drawingml/2006/main" noGrp="1"/>
          </p:cNvSpPr>
          <p:nvPr/>
        </p:nvSpPr>
        <p:spPr>
          <a:xfrm xmlns:a="http://schemas.openxmlformats.org/drawingml/2006/main">
            <a:off x="8485632" y="157276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typing.Protocol</a:t>
            </a:r>
            <a:endParaRPr sz="1050"/>
          </a:p>
        </p:txBody>
      </p:sp>
      <p:sp>
        <p:nvSpPr>
          <p:cNvPr id="16" name="Text 13">
            <a:extLst xmlns:a="http://schemas.openxmlformats.org/drawingml/2006/main">
              <a:ext uri="{FF2B5EF4-FFF2-40B4-BE49-F238E27FC236}">
                <a16:creationId xmlns:a16="http://schemas.microsoft.com/office/drawing/2014/main" id="{DBC0B913-7902-4BC7-8D29-2047BA3ABD81}"/>
              </a:ext>
            </a:extLst>
          </p:cNvPr>
          <p:cNvSpPr>
            <a:spLocks xmlns:a="http://schemas.openxmlformats.org/drawingml/2006/main" noGrp="1"/>
          </p:cNvSpPr>
          <p:nvPr/>
        </p:nvSpPr>
        <p:spPr>
          <a:xfrm xmlns:a="http://schemas.openxmlformats.org/drawingml/2006/main">
            <a:off x="8485632" y="184708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Structural typing — implementations need no inheritance and no framework. Python needs no DI framework: constructor injection + Protocol suffices.</a:t>
            </a:r>
            <a:endParaRPr sz="930"/>
          </a:p>
        </p:txBody>
      </p:sp>
      <p:sp>
        <p:nvSpPr>
          <p:cNvPr id="17" name="Shape 14">
            <a:extLst xmlns:a="http://schemas.openxmlformats.org/drawingml/2006/main">
              <a:ext uri="{FF2B5EF4-FFF2-40B4-BE49-F238E27FC236}">
                <a16:creationId xmlns:a16="http://schemas.microsoft.com/office/drawing/2014/main" id="{48CEDC3B-412D-4B0F-B336-7D8049D4FBC6}"/>
              </a:ext>
            </a:extLst>
          </p:cNvPr>
          <p:cNvSpPr>
            <a:spLocks xmlns:a="http://schemas.openxmlformats.org/drawingml/2006/main" noGrp="1"/>
          </p:cNvSpPr>
          <p:nvPr/>
        </p:nvSpPr>
        <p:spPr>
          <a:xfrm xmlns:a="http://schemas.openxmlformats.org/drawingml/2006/main">
            <a:off x="8321040" y="3020568"/>
            <a:ext cx="3364992" cy="1402080"/>
          </a:xfrm>
          <a:prstGeom xmlns:a="http://schemas.openxmlformats.org/drawingml/2006/main" prst="roundRect">
            <a:avLst>
              <a:gd name="adj" fmla="val 3913"/>
            </a:avLst>
          </a:prstGeom>
          <a:solidFill xmlns:a="http://schemas.openxmlformats.org/drawingml/2006/main">
            <a:srgbClr val="D9F0FA"/>
          </a:solidFill>
        </p:spPr>
      </p:sp>
      <p:sp>
        <p:nvSpPr>
          <p:cNvPr id="18" name="Text 15">
            <a:extLst xmlns:a="http://schemas.openxmlformats.org/drawingml/2006/main">
              <a:ext uri="{FF2B5EF4-FFF2-40B4-BE49-F238E27FC236}">
                <a16:creationId xmlns:a16="http://schemas.microsoft.com/office/drawing/2014/main" id="{157E30A2-49F6-42BC-9770-20508B3165B7}"/>
              </a:ext>
            </a:extLst>
          </p:cNvPr>
          <p:cNvSpPr>
            <a:spLocks xmlns:a="http://schemas.openxmlformats.org/drawingml/2006/main" noGrp="1"/>
          </p:cNvSpPr>
          <p:nvPr/>
        </p:nvSpPr>
        <p:spPr>
          <a:xfrm xmlns:a="http://schemas.openxmlformats.org/drawingml/2006/main">
            <a:off x="8485632" y="311200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model_version travels along</a:t>
            </a:r>
            <a:endParaRPr sz="1050"/>
          </a:p>
        </p:txBody>
      </p:sp>
      <p:sp>
        <p:nvSpPr>
          <p:cNvPr id="19" name="Text 16">
            <a:extLst xmlns:a="http://schemas.openxmlformats.org/drawingml/2006/main">
              <a:ext uri="{FF2B5EF4-FFF2-40B4-BE49-F238E27FC236}">
                <a16:creationId xmlns:a16="http://schemas.microsoft.com/office/drawing/2014/main" id="{399B0942-CDE9-425B-BCA2-D970EE5DA14B}"/>
              </a:ext>
            </a:extLst>
          </p:cNvPr>
          <p:cNvSpPr>
            <a:spLocks xmlns:a="http://schemas.openxmlformats.org/drawingml/2006/main" noGrp="1"/>
          </p:cNvSpPr>
          <p:nvPr/>
        </p:nvSpPr>
        <p:spPr>
          <a:xfrm xmlns:a="http://schemas.openxmlformats.org/drawingml/2006/main">
            <a:off x="8485632" y="338632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Every implementation must expose its version — it ends up in every FraudScore and every log line.</a:t>
            </a:r>
            <a:endParaRPr sz="930"/>
          </a:p>
        </p:txBody>
      </p:sp>
      <p:sp>
        <p:nvSpPr>
          <p:cNvPr id="20" name="Shape 17">
            <a:extLst xmlns:a="http://schemas.openxmlformats.org/drawingml/2006/main">
              <a:ext uri="{FF2B5EF4-FFF2-40B4-BE49-F238E27FC236}">
                <a16:creationId xmlns:a16="http://schemas.microsoft.com/office/drawing/2014/main" id="{B00E00E6-3093-4475-B48A-48359739C1E8}"/>
              </a:ext>
            </a:extLst>
          </p:cNvPr>
          <p:cNvSpPr>
            <a:spLocks xmlns:a="http://schemas.openxmlformats.org/drawingml/2006/main" noGrp="1"/>
          </p:cNvSpPr>
          <p:nvPr/>
        </p:nvSpPr>
        <p:spPr>
          <a:xfrm xmlns:a="http://schemas.openxmlformats.org/drawingml/2006/main">
            <a:off x="8321040" y="4559808"/>
            <a:ext cx="3364992" cy="1402080"/>
          </a:xfrm>
          <a:prstGeom xmlns:a="http://schemas.openxmlformats.org/drawingml/2006/main" prst="roundRect">
            <a:avLst>
              <a:gd name="adj" fmla="val 3913"/>
            </a:avLst>
          </a:prstGeom>
          <a:solidFill xmlns:a="http://schemas.openxmlformats.org/drawingml/2006/main">
            <a:srgbClr val="FDEBD7"/>
          </a:solidFill>
        </p:spPr>
      </p:sp>
      <p:sp>
        <p:nvSpPr>
          <p:cNvPr id="21" name="Text 18">
            <a:extLst xmlns:a="http://schemas.openxmlformats.org/drawingml/2006/main">
              <a:ext uri="{FF2B5EF4-FFF2-40B4-BE49-F238E27FC236}">
                <a16:creationId xmlns:a16="http://schemas.microsoft.com/office/drawing/2014/main" id="{66F74FF8-EAF0-4990-8AB8-68B07B764ED8}"/>
              </a:ext>
            </a:extLst>
          </p:cNvPr>
          <p:cNvSpPr>
            <a:spLocks xmlns:a="http://schemas.openxmlformats.org/drawingml/2006/main" noGrp="1"/>
          </p:cNvSpPr>
          <p:nvPr/>
        </p:nvSpPr>
        <p:spPr>
          <a:xfrm xmlns:a="http://schemas.openxmlformats.org/drawingml/2006/main">
            <a:off x="8485632" y="465124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Three implementations, one seam</a:t>
            </a:r>
            <a:endParaRPr sz="1050"/>
          </a:p>
        </p:txBody>
      </p:sp>
      <p:sp>
        <p:nvSpPr>
          <p:cNvPr id="22" name="Text 19">
            <a:extLst xmlns:a="http://schemas.openxmlformats.org/drawingml/2006/main">
              <a:ext uri="{FF2B5EF4-FFF2-40B4-BE49-F238E27FC236}">
                <a16:creationId xmlns:a16="http://schemas.microsoft.com/office/drawing/2014/main" id="{545D8C8F-1E11-4DD2-AD96-8AFF3C8CB1F3}"/>
              </a:ext>
            </a:extLst>
          </p:cNvPr>
          <p:cNvSpPr>
            <a:spLocks xmlns:a="http://schemas.openxmlformats.org/drawingml/2006/main" noGrp="1"/>
          </p:cNvSpPr>
          <p:nvPr/>
        </p:nvSpPr>
        <p:spPr>
          <a:xfrm xmlns:a="http://schemas.openxmlformats.org/drawingml/2006/main">
            <a:off x="8485632" y="492556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Prod, tests, and a future remote model server all satisfy the same signature.</a:t>
            </a:r>
            <a:endParaRPr sz="930"/>
          </a:p>
        </p:txBody>
      </p:sp>
    </p:spTree>
    <p:extLst>
      <p:ext uri="{BB962C8B-B14F-4D97-AF65-F5344CB8AC3E}">
        <p14:creationId xmlns:p14="http://schemas.microsoft.com/office/powerpoint/2010/main" val="174070318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121ACD1-A027-4DA4-9565-F8D3B6E966A0}"/>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Use-Case Orchestration — scorer.py</a:t>
            </a:r>
            <a:endParaRPr sz="2600"/>
          </a:p>
        </p:txBody>
      </p:sp>
      <p:sp>
        <p:nvSpPr>
          <p:cNvPr id="3" name="Text 1">
            <a:extLst xmlns:a="http://schemas.openxmlformats.org/drawingml/2006/main">
              <a:ext uri="{FF2B5EF4-FFF2-40B4-BE49-F238E27FC236}">
                <a16:creationId xmlns:a16="http://schemas.microsoft.com/office/drawing/2014/main" id="{44E30C20-388A-442F-9579-CDFE984FF892}"/>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تنسيق حالة الاستخدام</a:t>
            </a:r>
            <a:endParaRPr sz="1300"/>
          </a:p>
        </p:txBody>
      </p:sp>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646ebdd2ada54a88"/>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DCA97F43-A2D1-4BEB-A5E1-CF7BF3661221}"/>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1E30C2C8-E757-4FAE-B35D-8A530C3CBCBF}"/>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1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388D567A-CC83-48DA-BB33-74DC16EAE211}"/>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24</a:t>
            </a:r>
            <a:endParaRPr sz="850"/>
          </a:p>
        </p:txBody>
      </p:sp>
      <p:sp>
        <p:nvSpPr>
          <p:cNvPr id="8" name="Shape 5">
            <a:extLst xmlns:a="http://schemas.openxmlformats.org/drawingml/2006/main">
              <a:ext uri="{FF2B5EF4-FFF2-40B4-BE49-F238E27FC236}">
                <a16:creationId xmlns:a16="http://schemas.microsoft.com/office/drawing/2014/main" id="{FAF8227D-7904-4FA8-88B6-F40D3A87A0C2}"/>
              </a:ext>
            </a:extLst>
          </p:cNvPr>
          <p:cNvSpPr>
            <a:spLocks xmlns:a="http://schemas.openxmlformats.org/drawingml/2006/main" noGrp="1"/>
          </p:cNvSpPr>
          <p:nvPr/>
        </p:nvSpPr>
        <p:spPr>
          <a:xfrm xmlns:a="http://schemas.openxmlformats.org/drawingml/2006/main">
            <a:off x="502920" y="1481328"/>
            <a:ext cx="7635240" cy="4617720"/>
          </a:xfrm>
          <a:prstGeom xmlns:a="http://schemas.openxmlformats.org/drawingml/2006/main" prst="roundRect">
            <a:avLst>
              <a:gd name="adj" fmla="val 1584"/>
            </a:avLst>
          </a:prstGeom>
          <a:solidFill xmlns:a="http://schemas.openxmlformats.org/drawingml/2006/main">
            <a:srgbClr val="1A2233"/>
          </a:solidFill>
        </p:spPr>
      </p:sp>
      <p:sp>
        <p:nvSpPr>
          <p:cNvPr id="9" name="Shape 6">
            <a:extLst xmlns:a="http://schemas.openxmlformats.org/drawingml/2006/main">
              <a:ext uri="{FF2B5EF4-FFF2-40B4-BE49-F238E27FC236}">
                <a16:creationId xmlns:a16="http://schemas.microsoft.com/office/drawing/2014/main" id="{EFACD89B-1F2B-4E82-BADF-9959DC499514}"/>
              </a:ext>
            </a:extLst>
          </p:cNvPr>
          <p:cNvSpPr>
            <a:spLocks xmlns:a="http://schemas.openxmlformats.org/drawingml/2006/main" noGrp="1"/>
          </p:cNvSpPr>
          <p:nvPr/>
        </p:nvSpPr>
        <p:spPr>
          <a:xfrm xmlns:a="http://schemas.openxmlformats.org/drawingml/2006/main">
            <a:off x="731520" y="1664208"/>
            <a:ext cx="109728" cy="109728"/>
          </a:xfrm>
          <a:prstGeom xmlns:a="http://schemas.openxmlformats.org/drawingml/2006/main" prst="ellipse">
            <a:avLst/>
          </a:prstGeom>
          <a:solidFill xmlns:a="http://schemas.openxmlformats.org/drawingml/2006/main">
            <a:srgbClr val="E8503A"/>
          </a:solidFill>
        </p:spPr>
      </p:sp>
      <p:sp>
        <p:nvSpPr>
          <p:cNvPr id="10" name="Shape 7">
            <a:extLst xmlns:a="http://schemas.openxmlformats.org/drawingml/2006/main">
              <a:ext uri="{FF2B5EF4-FFF2-40B4-BE49-F238E27FC236}">
                <a16:creationId xmlns:a16="http://schemas.microsoft.com/office/drawing/2014/main" id="{0493C2D9-CE9C-42A1-B5BE-7E34E8A9C448}"/>
              </a:ext>
            </a:extLst>
          </p:cNvPr>
          <p:cNvSpPr>
            <a:spLocks xmlns:a="http://schemas.openxmlformats.org/drawingml/2006/main" noGrp="1"/>
          </p:cNvSpPr>
          <p:nvPr/>
        </p:nvSpPr>
        <p:spPr>
          <a:xfrm xmlns:a="http://schemas.openxmlformats.org/drawingml/2006/main">
            <a:off x="932688" y="1664208"/>
            <a:ext cx="109728" cy="109728"/>
          </a:xfrm>
          <a:prstGeom xmlns:a="http://schemas.openxmlformats.org/drawingml/2006/main" prst="ellipse">
            <a:avLst/>
          </a:prstGeom>
          <a:solidFill xmlns:a="http://schemas.openxmlformats.org/drawingml/2006/main">
            <a:srgbClr val="F5B820"/>
          </a:solidFill>
        </p:spPr>
      </p:sp>
      <p:sp>
        <p:nvSpPr>
          <p:cNvPr id="11" name="Shape 8">
            <a:extLst xmlns:a="http://schemas.openxmlformats.org/drawingml/2006/main">
              <a:ext uri="{FF2B5EF4-FFF2-40B4-BE49-F238E27FC236}">
                <a16:creationId xmlns:a16="http://schemas.microsoft.com/office/drawing/2014/main" id="{B82EF78F-07FD-4A77-97BC-1D4A35D08DF4}"/>
              </a:ext>
            </a:extLst>
          </p:cNvPr>
          <p:cNvSpPr>
            <a:spLocks xmlns:a="http://schemas.openxmlformats.org/drawingml/2006/main" noGrp="1"/>
          </p:cNvSpPr>
          <p:nvPr/>
        </p:nvSpPr>
        <p:spPr>
          <a:xfrm xmlns:a="http://schemas.openxmlformats.org/drawingml/2006/main">
            <a:off x="1133856" y="1664208"/>
            <a:ext cx="109728" cy="109728"/>
          </a:xfrm>
          <a:prstGeom xmlns:a="http://schemas.openxmlformats.org/drawingml/2006/main" prst="ellipse">
            <a:avLst/>
          </a:prstGeom>
          <a:solidFill xmlns:a="http://schemas.openxmlformats.org/drawingml/2006/main">
            <a:srgbClr val="8DC63F"/>
          </a:solidFill>
        </p:spPr>
      </p:sp>
      <p:sp>
        <p:nvSpPr>
          <p:cNvPr id="12" name="Text 9">
            <a:extLst xmlns:a="http://schemas.openxmlformats.org/drawingml/2006/main">
              <a:ext uri="{FF2B5EF4-FFF2-40B4-BE49-F238E27FC236}">
                <a16:creationId xmlns:a16="http://schemas.microsoft.com/office/drawing/2014/main" id="{9D2F1CF4-0CB4-4E4D-A2D7-088F34491A33}"/>
              </a:ext>
            </a:extLst>
          </p:cNvPr>
          <p:cNvSpPr>
            <a:spLocks xmlns:a="http://schemas.openxmlformats.org/drawingml/2006/main" noGrp="1"/>
          </p:cNvSpPr>
          <p:nvPr/>
        </p:nvSpPr>
        <p:spPr>
          <a:xfrm xmlns:a="http://schemas.openxmlformats.org/drawingml/2006/main">
            <a:off x="4526280" y="1609344"/>
            <a:ext cx="32918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6C8"/>
                </a:solidFill>
                <a:latin typeface="Consolas"/>
                <a:ea typeface="Consolas"/>
                <a:cs typeface="Consolas"/>
              </a:rPr>
              <a:t>src/fraud_service/service/scorer.py</a:t>
            </a:r>
            <a:endParaRPr sz="900"/>
          </a:p>
        </p:txBody>
      </p:sp>
      <p:sp>
        <p:nvSpPr>
          <p:cNvPr id="13" name="Text 10">
            <a:extLst xmlns:a="http://schemas.openxmlformats.org/drawingml/2006/main">
              <a:ext uri="{FF2B5EF4-FFF2-40B4-BE49-F238E27FC236}">
                <a16:creationId xmlns:a16="http://schemas.microsoft.com/office/drawing/2014/main" id="{14E88463-2407-42D3-9676-31B9F4276530}"/>
              </a:ext>
            </a:extLst>
          </p:cNvPr>
          <p:cNvSpPr>
            <a:spLocks xmlns:a="http://schemas.openxmlformats.org/drawingml/2006/main" noGrp="1"/>
          </p:cNvSpPr>
          <p:nvPr/>
        </p:nvSpPr>
        <p:spPr>
          <a:xfrm xmlns:a="http://schemas.openxmlformats.org/drawingml/2006/main">
            <a:off x="713232" y="1965960"/>
            <a:ext cx="717804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000">
                <a:solidFill>
                  <a:srgbClr val="D9E4F5"/>
                </a:solidFill>
                <a:latin typeface="Consolas"/>
                <a:ea typeface="Consolas"/>
                <a:cs typeface="Consolas"/>
              </a:rPr>
              <a:t>from dataclasses import dataclass</a:t>
            </a:r>
            <a:endParaRPr sz="1000"/>
          </a:p>
          <a:p xmlns:a="http://schemas.openxmlformats.org/drawingml/2006/main">
            <a:pPr marL="0" indent="0">
              <a:lnSpc>
                <a:spcPct val="112000"/>
              </a:lnSpc>
              <a:buNone/>
            </a:pPr>
            <a:r>
              <a:rPr sz="1000">
                <a:solidFill>
                  <a:srgbClr val="D9E4F5"/>
                </a:solidFill>
                <a:latin typeface="Consolas"/>
                <a:ea typeface="Consolas"/>
                <a:cs typeface="Consolas"/>
              </a:rPr>
              <a:t>from fraud_service.domain.policies import decide</a:t>
            </a:r>
            <a:endParaRPr sz="1000"/>
          </a:p>
          <a:p xmlns:a="http://schemas.openxmlformats.org/drawingml/2006/main">
            <a:pPr marL="0" indent="0">
              <a:lnSpc>
                <a:spcPct val="112000"/>
              </a:lnSpc>
              <a:buNone/>
            </a:pPr>
            <a:r>
              <a:rPr sz="1000">
                <a:solidFill>
                  <a:srgbClr val="D9E4F5"/>
                </a:solidFill>
                <a:latin typeface="Consolas"/>
                <a:ea typeface="Consolas"/>
                <a:cs typeface="Consolas"/>
              </a:rPr>
              <a:t>from fraud_service.service.interfaces import Model</a:t>
            </a:r>
            <a:endParaRPr sz="1000"/>
          </a:p>
          <a:p xmlns:a="http://schemas.openxmlformats.org/drawingml/2006/main">
            <a:pPr marL="0" indent="0">
              <a:lnSpc>
                <a:spcPct val="112000"/>
              </a:lnSpc>
              <a:buNone/>
            </a:pPr>
            <a:r>
              <a:rPr sz="1000">
                <a:solidFill>
                  <a:srgbClr val="D9E4F5"/>
                </a:solidFill>
                <a:latin typeface="Consolas"/>
                <a:ea typeface="Consolas"/>
                <a:cs typeface="Consolas"/>
              </a:rPr>
              <a:t>@dataclass</a:t>
            </a:r>
            <a:endParaRPr sz="1000"/>
          </a:p>
          <a:p xmlns:a="http://schemas.openxmlformats.org/drawingml/2006/main">
            <a:pPr marL="0" indent="0">
              <a:lnSpc>
                <a:spcPct val="112000"/>
              </a:lnSpc>
              <a:buNone/>
            </a:pPr>
            <a:r>
              <a:rPr sz="1000">
                <a:solidFill>
                  <a:srgbClr val="D9E4F5"/>
                </a:solidFill>
                <a:latin typeface="Consolas"/>
                <a:ea typeface="Consolas"/>
                <a:cs typeface="Consolas"/>
              </a:rPr>
              <a:t>class FraudScorer:</a:t>
            </a:r>
            <a:endParaRPr sz="1000"/>
          </a:p>
          <a:p xmlns:a="http://schemas.openxmlformats.org/drawingml/2006/main">
            <a:pPr marL="0" indent="0">
              <a:lnSpc>
                <a:spcPct val="112000"/>
              </a:lnSpc>
              <a:buNone/>
            </a:pPr>
            <a:r>
              <a:rPr sz="1000">
                <a:solidFill>
                  <a:srgbClr val="D9E4F5"/>
                </a:solidFill>
                <a:latin typeface="Consolas"/>
                <a:ea typeface="Consolas"/>
                <a:cs typeface="Consolas"/>
              </a:rPr>
              <a:t>    """Absent: no FastAPI, no sklearn, no file</a:t>
            </a:r>
            <a:endParaRPr sz="1000"/>
          </a:p>
          <a:p xmlns:a="http://schemas.openxmlformats.org/drawingml/2006/main">
            <a:pPr marL="0" indent="0">
              <a:lnSpc>
                <a:spcPct val="112000"/>
              </a:lnSpc>
              <a:buNone/>
            </a:pPr>
            <a:r>
              <a:rPr sz="1000">
                <a:solidFill>
                  <a:srgbClr val="D9E4F5"/>
                </a:solidFill>
                <a:latin typeface="Consolas"/>
                <a:ea typeface="Consolas"/>
                <a:cs typeface="Consolas"/>
              </a:rPr>
              <a:t>    paths, no logging. Pure orchestration."""</a:t>
            </a:r>
            <a:endParaRPr sz="1000"/>
          </a:p>
          <a:p xmlns:a="http://schemas.openxmlformats.org/drawingml/2006/main">
            <a:pPr marL="0" indent="0">
              <a:lnSpc>
                <a:spcPct val="112000"/>
              </a:lnSpc>
              <a:buNone/>
            </a:pPr>
            <a:r>
              <a:rPr sz="1000">
                <a:solidFill>
                  <a:srgbClr val="D9E4F5"/>
                </a:solidFill>
                <a:latin typeface="Consolas"/>
                <a:ea typeface="Consolas"/>
                <a:cs typeface="Consolas"/>
              </a:rPr>
              <a:t>    model: Model</a:t>
            </a:r>
            <a:endParaRPr sz="1000"/>
          </a:p>
          <a:p xmlns:a="http://schemas.openxmlformats.org/drawingml/2006/main">
            <a:pPr marL="0" indent="0">
              <a:lnSpc>
                <a:spcPct val="112000"/>
              </a:lnSpc>
              <a:buNone/>
            </a:pPr>
            <a:r>
              <a:rPr sz="1000">
                <a:solidFill>
                  <a:srgbClr val="D9E4F5"/>
                </a:solidFill>
                <a:latin typeface="Consolas"/>
                <a:ea typeface="Consolas"/>
                <a:cs typeface="Consolas"/>
              </a:rPr>
              <a:t>    block_threshold: float</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    def score(self, txn: Transaction) -&gt; FraudScore:</a:t>
            </a:r>
            <a:endParaRPr sz="1000"/>
          </a:p>
          <a:p xmlns:a="http://schemas.openxmlformats.org/drawingml/2006/main">
            <a:pPr marL="0" indent="0">
              <a:lnSpc>
                <a:spcPct val="112000"/>
              </a:lnSpc>
              <a:buNone/>
            </a:pPr>
            <a:r>
              <a:rPr sz="1000">
                <a:solidFill>
                  <a:srgbClr val="D9E4F5"/>
                </a:solidFill>
                <a:latin typeface="Consolas"/>
                <a:ea typeface="Consolas"/>
                <a:cs typeface="Consolas"/>
              </a:rPr>
              <a:t>        features = txn.to_features()</a:t>
            </a:r>
            <a:endParaRPr sz="1000"/>
          </a:p>
          <a:p xmlns:a="http://schemas.openxmlformats.org/drawingml/2006/main">
            <a:pPr marL="0" indent="0">
              <a:lnSpc>
                <a:spcPct val="112000"/>
              </a:lnSpc>
              <a:buNone/>
            </a:pPr>
            <a:r>
              <a:rPr sz="1000">
                <a:solidFill>
                  <a:srgbClr val="D9E4F5"/>
                </a:solidFill>
                <a:latin typeface="Consolas"/>
                <a:ea typeface="Consolas"/>
                <a:cs typeface="Consolas"/>
              </a:rPr>
              <a:t>        raw = self.model.predict_proba(features)</a:t>
            </a:r>
            <a:endParaRPr sz="1000"/>
          </a:p>
          <a:p xmlns:a="http://schemas.openxmlformats.org/drawingml/2006/main">
            <a:pPr marL="0" indent="0">
              <a:lnSpc>
                <a:spcPct val="112000"/>
              </a:lnSpc>
              <a:buNone/>
            </a:pPr>
            <a:r>
              <a:rPr sz="1000">
                <a:solidFill>
                  <a:srgbClr val="D9E4F5"/>
                </a:solidFill>
                <a:latin typeface="Consolas"/>
                <a:ea typeface="Consolas"/>
                <a:cs typeface="Consolas"/>
              </a:rPr>
              <a:t>        decision = decide(raw, self.block_threshold)</a:t>
            </a:r>
            <a:endParaRPr sz="1000"/>
          </a:p>
          <a:p xmlns:a="http://schemas.openxmlformats.org/drawingml/2006/main">
            <a:pPr marL="0" indent="0">
              <a:lnSpc>
                <a:spcPct val="112000"/>
              </a:lnSpc>
              <a:buNone/>
            </a:pPr>
            <a:r>
              <a:rPr sz="1000">
                <a:solidFill>
                  <a:srgbClr val="D9E4F5"/>
                </a:solidFill>
                <a:latin typeface="Consolas"/>
                <a:ea typeface="Consolas"/>
                <a:cs typeface="Consolas"/>
              </a:rPr>
              <a:t>        return FraudScore(</a:t>
            </a:r>
            <a:endParaRPr sz="1000"/>
          </a:p>
          <a:p xmlns:a="http://schemas.openxmlformats.org/drawingml/2006/main">
            <a:pPr marL="0" indent="0">
              <a:lnSpc>
                <a:spcPct val="112000"/>
              </a:lnSpc>
              <a:buNone/>
            </a:pPr>
            <a:r>
              <a:rPr sz="1000">
                <a:solidFill>
                  <a:srgbClr val="D9E4F5"/>
                </a:solidFill>
                <a:latin typeface="Consolas"/>
                <a:ea typeface="Consolas"/>
                <a:cs typeface="Consolas"/>
              </a:rPr>
              <a:t>            transaction_id=txn.transaction_id,</a:t>
            </a:r>
            <a:endParaRPr sz="1000"/>
          </a:p>
          <a:p xmlns:a="http://schemas.openxmlformats.org/drawingml/2006/main">
            <a:pPr marL="0" indent="0">
              <a:lnSpc>
                <a:spcPct val="112000"/>
              </a:lnSpc>
              <a:buNone/>
            </a:pPr>
            <a:r>
              <a:rPr sz="1000">
                <a:solidFill>
                  <a:srgbClr val="D9E4F5"/>
                </a:solidFill>
                <a:latin typeface="Consolas"/>
                <a:ea typeface="Consolas"/>
                <a:cs typeface="Consolas"/>
              </a:rPr>
              <a:t>            probability=raw.value,</a:t>
            </a:r>
            <a:endParaRPr sz="1000"/>
          </a:p>
          <a:p xmlns:a="http://schemas.openxmlformats.org/drawingml/2006/main">
            <a:pPr marL="0" indent="0">
              <a:lnSpc>
                <a:spcPct val="112000"/>
              </a:lnSpc>
              <a:buNone/>
            </a:pPr>
            <a:r>
              <a:rPr sz="1000">
                <a:solidFill>
                  <a:srgbClr val="D9E4F5"/>
                </a:solidFill>
                <a:latin typeface="Consolas"/>
                <a:ea typeface="Consolas"/>
                <a:cs typeface="Consolas"/>
              </a:rPr>
              <a:t>            decision=decision,</a:t>
            </a:r>
            <a:endParaRPr sz="1000"/>
          </a:p>
          <a:p xmlns:a="http://schemas.openxmlformats.org/drawingml/2006/main">
            <a:pPr marL="0" indent="0">
              <a:lnSpc>
                <a:spcPct val="112000"/>
              </a:lnSpc>
              <a:buNone/>
            </a:pPr>
            <a:r>
              <a:rPr sz="1000">
                <a:solidFill>
                  <a:srgbClr val="D9E4F5"/>
                </a:solidFill>
                <a:latin typeface="Consolas"/>
                <a:ea typeface="Consolas"/>
                <a:cs typeface="Consolas"/>
              </a:rPr>
              <a:t>            model_version=self.model.model_version)</a:t>
            </a:r>
            <a:endParaRPr sz="1000"/>
          </a:p>
        </p:txBody>
      </p:sp>
      <p:sp>
        <p:nvSpPr>
          <p:cNvPr id="14" name="Shape 11">
            <a:extLst xmlns:a="http://schemas.openxmlformats.org/drawingml/2006/main">
              <a:ext uri="{FF2B5EF4-FFF2-40B4-BE49-F238E27FC236}">
                <a16:creationId xmlns:a16="http://schemas.microsoft.com/office/drawing/2014/main" id="{390DF4EE-E08E-40F9-A44D-9830DA68C4FE}"/>
              </a:ext>
            </a:extLst>
          </p:cNvPr>
          <p:cNvSpPr>
            <a:spLocks xmlns:a="http://schemas.openxmlformats.org/drawingml/2006/main" noGrp="1"/>
          </p:cNvSpPr>
          <p:nvPr/>
        </p:nvSpPr>
        <p:spPr>
          <a:xfrm xmlns:a="http://schemas.openxmlformats.org/drawingml/2006/main">
            <a:off x="8321040" y="1481328"/>
            <a:ext cx="3364992" cy="1402080"/>
          </a:xfrm>
          <a:prstGeom xmlns:a="http://schemas.openxmlformats.org/drawingml/2006/main" prst="roundRect">
            <a:avLst>
              <a:gd name="adj" fmla="val 3913"/>
            </a:avLst>
          </a:prstGeom>
          <a:solidFill xmlns:a="http://schemas.openxmlformats.org/drawingml/2006/main">
            <a:srgbClr val="D4F1EE"/>
          </a:solidFill>
        </p:spPr>
      </p:sp>
      <p:sp>
        <p:nvSpPr>
          <p:cNvPr id="15" name="Text 12">
            <a:extLst xmlns:a="http://schemas.openxmlformats.org/drawingml/2006/main">
              <a:ext uri="{FF2B5EF4-FFF2-40B4-BE49-F238E27FC236}">
                <a16:creationId xmlns:a16="http://schemas.microsoft.com/office/drawing/2014/main" id="{B9875736-E905-4264-BE64-E24008D34CBD}"/>
              </a:ext>
            </a:extLst>
          </p:cNvPr>
          <p:cNvSpPr>
            <a:spLocks xmlns:a="http://schemas.openxmlformats.org/drawingml/2006/main" noGrp="1"/>
          </p:cNvSpPr>
          <p:nvPr/>
        </p:nvSpPr>
        <p:spPr>
          <a:xfrm xmlns:a="http://schemas.openxmlformats.org/drawingml/2006/main">
            <a:off x="8485632" y="157276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Pure orchestration</a:t>
            </a:r>
            <a:endParaRPr sz="1050"/>
          </a:p>
        </p:txBody>
      </p:sp>
      <p:sp>
        <p:nvSpPr>
          <p:cNvPr id="16" name="Text 13">
            <a:extLst xmlns:a="http://schemas.openxmlformats.org/drawingml/2006/main">
              <a:ext uri="{FF2B5EF4-FFF2-40B4-BE49-F238E27FC236}">
                <a16:creationId xmlns:a16="http://schemas.microsoft.com/office/drawing/2014/main" id="{33BAD879-7836-4FBE-A8F4-09B73ED3E5D3}"/>
              </a:ext>
            </a:extLst>
          </p:cNvPr>
          <p:cNvSpPr>
            <a:spLocks xmlns:a="http://schemas.openxmlformats.org/drawingml/2006/main" noGrp="1"/>
          </p:cNvSpPr>
          <p:nvPr/>
        </p:nvSpPr>
        <p:spPr>
          <a:xfrm xmlns:a="http://schemas.openxmlformats.org/drawingml/2006/main">
            <a:off x="8485632" y="184708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validate → featurise → predict → apply policy. No I/O anywhere: trivially testable.</a:t>
            </a:r>
            <a:endParaRPr sz="930"/>
          </a:p>
        </p:txBody>
      </p:sp>
      <p:sp>
        <p:nvSpPr>
          <p:cNvPr id="17" name="Shape 14">
            <a:extLst xmlns:a="http://schemas.openxmlformats.org/drawingml/2006/main">
              <a:ext uri="{FF2B5EF4-FFF2-40B4-BE49-F238E27FC236}">
                <a16:creationId xmlns:a16="http://schemas.microsoft.com/office/drawing/2014/main" id="{3CF63895-E216-4C40-989A-C1B9FF8F9FD5}"/>
              </a:ext>
            </a:extLst>
          </p:cNvPr>
          <p:cNvSpPr>
            <a:spLocks xmlns:a="http://schemas.openxmlformats.org/drawingml/2006/main" noGrp="1"/>
          </p:cNvSpPr>
          <p:nvPr/>
        </p:nvSpPr>
        <p:spPr>
          <a:xfrm xmlns:a="http://schemas.openxmlformats.org/drawingml/2006/main">
            <a:off x="8321040" y="3020568"/>
            <a:ext cx="3364992" cy="1402080"/>
          </a:xfrm>
          <a:prstGeom xmlns:a="http://schemas.openxmlformats.org/drawingml/2006/main" prst="roundRect">
            <a:avLst>
              <a:gd name="adj" fmla="val 3913"/>
            </a:avLst>
          </a:prstGeom>
          <a:solidFill xmlns:a="http://schemas.openxmlformats.org/drawingml/2006/main">
            <a:srgbClr val="D9F0FA"/>
          </a:solidFill>
        </p:spPr>
      </p:sp>
      <p:sp>
        <p:nvSpPr>
          <p:cNvPr id="18" name="Text 15">
            <a:extLst xmlns:a="http://schemas.openxmlformats.org/drawingml/2006/main">
              <a:ext uri="{FF2B5EF4-FFF2-40B4-BE49-F238E27FC236}">
                <a16:creationId xmlns:a16="http://schemas.microsoft.com/office/drawing/2014/main" id="{4B16112D-CC7D-4E4D-8BFC-FDEEB1D2B38A}"/>
              </a:ext>
            </a:extLst>
          </p:cNvPr>
          <p:cNvSpPr>
            <a:spLocks xmlns:a="http://schemas.openxmlformats.org/drawingml/2006/main" noGrp="1"/>
          </p:cNvSpPr>
          <p:nvPr/>
        </p:nvSpPr>
        <p:spPr>
          <a:xfrm xmlns:a="http://schemas.openxmlformats.org/drawingml/2006/main">
            <a:off x="8485632" y="311200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txn.to_features()</a:t>
            </a:r>
            <a:endParaRPr sz="1050"/>
          </a:p>
        </p:txBody>
      </p:sp>
      <p:sp>
        <p:nvSpPr>
          <p:cNvPr id="19" name="Text 16">
            <a:extLst xmlns:a="http://schemas.openxmlformats.org/drawingml/2006/main">
              <a:ext uri="{FF2B5EF4-FFF2-40B4-BE49-F238E27FC236}">
                <a16:creationId xmlns:a16="http://schemas.microsoft.com/office/drawing/2014/main" id="{51E240EF-56C7-4398-A5D5-F242C350113C}"/>
              </a:ext>
            </a:extLst>
          </p:cNvPr>
          <p:cNvSpPr>
            <a:spLocks xmlns:a="http://schemas.openxmlformats.org/drawingml/2006/main" noGrp="1"/>
          </p:cNvSpPr>
          <p:nvPr/>
        </p:nvSpPr>
        <p:spPr>
          <a:xfrm xmlns:a="http://schemas.openxmlformats.org/drawingml/2006/main">
            <a:off x="8485632" y="338632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Feature logic lives on the domain entity — one shared module for training AND serving, the primary defence against skew.</a:t>
            </a:r>
            <a:endParaRPr sz="930"/>
          </a:p>
        </p:txBody>
      </p:sp>
      <p:sp>
        <p:nvSpPr>
          <p:cNvPr id="20" name="Shape 17">
            <a:extLst xmlns:a="http://schemas.openxmlformats.org/drawingml/2006/main">
              <a:ext uri="{FF2B5EF4-FFF2-40B4-BE49-F238E27FC236}">
                <a16:creationId xmlns:a16="http://schemas.microsoft.com/office/drawing/2014/main" id="{D345794B-41FB-47F6-A3BE-0970735C9E14}"/>
              </a:ext>
            </a:extLst>
          </p:cNvPr>
          <p:cNvSpPr>
            <a:spLocks xmlns:a="http://schemas.openxmlformats.org/drawingml/2006/main" noGrp="1"/>
          </p:cNvSpPr>
          <p:nvPr/>
        </p:nvSpPr>
        <p:spPr>
          <a:xfrm xmlns:a="http://schemas.openxmlformats.org/drawingml/2006/main">
            <a:off x="8321040" y="4559808"/>
            <a:ext cx="3364992" cy="1402080"/>
          </a:xfrm>
          <a:prstGeom xmlns:a="http://schemas.openxmlformats.org/drawingml/2006/main" prst="roundRect">
            <a:avLst>
              <a:gd name="adj" fmla="val 3913"/>
            </a:avLst>
          </a:prstGeom>
          <a:solidFill xmlns:a="http://schemas.openxmlformats.org/drawingml/2006/main">
            <a:srgbClr val="FDEBD7"/>
          </a:solidFill>
        </p:spPr>
      </p:sp>
      <p:sp>
        <p:nvSpPr>
          <p:cNvPr id="21" name="Text 18">
            <a:extLst xmlns:a="http://schemas.openxmlformats.org/drawingml/2006/main">
              <a:ext uri="{FF2B5EF4-FFF2-40B4-BE49-F238E27FC236}">
                <a16:creationId xmlns:a16="http://schemas.microsoft.com/office/drawing/2014/main" id="{53C49D8E-FCD1-4A2A-AB2D-6AD8A235067C}"/>
              </a:ext>
            </a:extLst>
          </p:cNvPr>
          <p:cNvSpPr>
            <a:spLocks xmlns:a="http://schemas.openxmlformats.org/drawingml/2006/main" noGrp="1"/>
          </p:cNvSpPr>
          <p:nvPr/>
        </p:nvSpPr>
        <p:spPr>
          <a:xfrm xmlns:a="http://schemas.openxmlformats.org/drawingml/2006/main">
            <a:off x="8485632" y="465124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Constructor injection</a:t>
            </a:r>
            <a:endParaRPr sz="1050"/>
          </a:p>
        </p:txBody>
      </p:sp>
      <p:sp>
        <p:nvSpPr>
          <p:cNvPr id="22" name="Text 19">
            <a:extLst xmlns:a="http://schemas.openxmlformats.org/drawingml/2006/main">
              <a:ext uri="{FF2B5EF4-FFF2-40B4-BE49-F238E27FC236}">
                <a16:creationId xmlns:a16="http://schemas.microsoft.com/office/drawing/2014/main" id="{1D6A7332-C413-4331-96B2-765D20C48020}"/>
              </a:ext>
            </a:extLst>
          </p:cNvPr>
          <p:cNvSpPr>
            <a:spLocks xmlns:a="http://schemas.openxmlformats.org/drawingml/2006/main" noGrp="1"/>
          </p:cNvSpPr>
          <p:nvPr/>
        </p:nvSpPr>
        <p:spPr>
          <a:xfrm xmlns:a="http://schemas.openxmlformats.org/drawingml/2006/main">
            <a:off x="8485632" y="492556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model and block_threshold arrive from outside. FastAPI wires SklearnModel at startup; tests wire ConstantModel(0.99).</a:t>
            </a:r>
            <a:endParaRPr sz="930"/>
          </a:p>
        </p:txBody>
      </p:sp>
    </p:spTree>
    <p:extLst>
      <p:ext uri="{BB962C8B-B14F-4D97-AF65-F5344CB8AC3E}">
        <p14:creationId xmlns:p14="http://schemas.microsoft.com/office/powerpoint/2010/main" val="1418537870"/>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BDEA506-389C-419C-8FB6-73D47F1B5467}"/>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Six Mistakes Hiding in the Lab 1 Starter</a:t>
            </a:r>
            <a:endParaRPr sz="2600"/>
          </a:p>
        </p:txBody>
      </p:sp>
      <p:sp>
        <p:nvSpPr>
          <p:cNvPr id="3" name="Text 1">
            <a:extLst xmlns:a="http://schemas.openxmlformats.org/drawingml/2006/main">
              <a:ext uri="{FF2B5EF4-FFF2-40B4-BE49-F238E27FC236}">
                <a16:creationId xmlns:a16="http://schemas.microsoft.com/office/drawing/2014/main" id="{33F6819A-CC41-4C08-9547-A7AC2837F9F7}"/>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ستة أخطاء مخبأة في مشروع المختبر الأول</a:t>
            </a:r>
            <a:endParaRPr sz="1300"/>
          </a:p>
        </p:txBody>
      </p:sp>
      <p:pic>
        <p:nvPicPr>
          <p:cNvPr id="41" name="Image 0"/>
          <p:cNvPicPr>
            <a:picLocks xmlns:a="http://schemas.openxmlformats.org/drawingml/2006/main" noChangeAspect="1"/>
          </p:cNvPicPr>
          <p:nvPr/>
        </p:nvPicPr>
        <p:blipFill>
          <a:blip xmlns:r="http://schemas.openxmlformats.org/officeDocument/2006/relationships" xmlns:a="http://schemas.openxmlformats.org/drawingml/2006/main" r:embed="Rd927f5ff1cd3441f"/>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54E03516-992E-49A7-8859-5C741273504E}"/>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40754746-284E-4310-92FF-6F4255F5B73B}"/>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1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1A4BB24D-A4F7-4A5F-BDA1-2C37890EA894}"/>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25</a:t>
            </a:r>
            <a:endParaRPr sz="850"/>
          </a:p>
        </p:txBody>
      </p:sp>
      <p:sp>
        <p:nvSpPr>
          <p:cNvPr id="8" name="Shape 5">
            <a:extLst xmlns:a="http://schemas.openxmlformats.org/drawingml/2006/main">
              <a:ext uri="{FF2B5EF4-FFF2-40B4-BE49-F238E27FC236}">
                <a16:creationId xmlns:a16="http://schemas.microsoft.com/office/drawing/2014/main" id="{2E8DED8D-A097-43E2-85AE-13477E94CFD0}"/>
              </a:ext>
            </a:extLst>
          </p:cNvPr>
          <p:cNvSpPr>
            <a:spLocks xmlns:a="http://schemas.openxmlformats.org/drawingml/2006/main" noGrp="1"/>
          </p:cNvSpPr>
          <p:nvPr/>
        </p:nvSpPr>
        <p:spPr>
          <a:xfrm xmlns:a="http://schemas.openxmlformats.org/drawingml/2006/main">
            <a:off x="502920" y="1517904"/>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5F8D45FF-0D53-4033-899D-860AE59A465D}"/>
              </a:ext>
            </a:extLst>
          </p:cNvPr>
          <p:cNvSpPr>
            <a:spLocks xmlns:a="http://schemas.openxmlformats.org/drawingml/2006/main" noGrp="1"/>
          </p:cNvSpPr>
          <p:nvPr/>
        </p:nvSpPr>
        <p:spPr>
          <a:xfrm xmlns:a="http://schemas.openxmlformats.org/drawingml/2006/main">
            <a:off x="502920" y="1517904"/>
            <a:ext cx="82296" cy="2272284"/>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2A122A6F-5441-4209-AD9E-89C4C8D68288}"/>
              </a:ext>
            </a:extLst>
          </p:cNvPr>
          <p:cNvSpPr>
            <a:spLocks xmlns:a="http://schemas.openxmlformats.org/drawingml/2006/main" noGrp="1"/>
          </p:cNvSpPr>
          <p:nvPr/>
        </p:nvSpPr>
        <p:spPr>
          <a:xfrm xmlns:a="http://schemas.openxmlformats.org/drawingml/2006/main">
            <a:off x="722376" y="1636776"/>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00A79D"/>
                </a:solidFill>
                <a:latin typeface="Calibri"/>
                <a:ea typeface="Calibri"/>
                <a:cs typeface="Calibri"/>
              </a:rPr>
              <a:t>MISTAKE 1</a:t>
            </a:r>
            <a:endParaRPr sz="900"/>
          </a:p>
        </p:txBody>
      </p:sp>
      <p:sp>
        <p:nvSpPr>
          <p:cNvPr id="11" name="Text 8">
            <a:extLst xmlns:a="http://schemas.openxmlformats.org/drawingml/2006/main">
              <a:ext uri="{FF2B5EF4-FFF2-40B4-BE49-F238E27FC236}">
                <a16:creationId xmlns:a16="http://schemas.microsoft.com/office/drawing/2014/main" id="{42C301DA-534C-4AF1-831B-191993B4A87A}"/>
              </a:ext>
            </a:extLst>
          </p:cNvPr>
          <p:cNvSpPr>
            <a:spLocks xmlns:a="http://schemas.openxmlformats.org/drawingml/2006/main" noGrp="1"/>
          </p:cNvSpPr>
          <p:nvPr/>
        </p:nvSpPr>
        <p:spPr>
          <a:xfrm xmlns:a="http://schemas.openxmlformats.org/drawingml/2006/main">
            <a:off x="722376" y="1883664"/>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Import-time model load</a:t>
            </a:r>
            <a:endParaRPr sz="1250"/>
          </a:p>
        </p:txBody>
      </p:sp>
      <p:sp>
        <p:nvSpPr>
          <p:cNvPr id="12" name="Text 9">
            <a:extLst xmlns:a="http://schemas.openxmlformats.org/drawingml/2006/main">
              <a:ext uri="{FF2B5EF4-FFF2-40B4-BE49-F238E27FC236}">
                <a16:creationId xmlns:a16="http://schemas.microsoft.com/office/drawing/2014/main" id="{E2AA9DA0-C6A2-4723-B636-99FD5AE23895}"/>
              </a:ext>
            </a:extLst>
          </p:cNvPr>
          <p:cNvSpPr>
            <a:spLocks xmlns:a="http://schemas.openxmlformats.org/drawingml/2006/main" noGrp="1"/>
          </p:cNvSpPr>
          <p:nvPr/>
        </p:nvSpPr>
        <p:spPr>
          <a:xfrm xmlns:a="http://schemas.openxmlformats.org/drawingml/2006/main">
            <a:off x="722376" y="2404872"/>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model = joblib.load(...) at module top level — every tool that imports pays 2.9 s</a:t>
            </a:r>
            <a:endParaRPr sz="980"/>
          </a:p>
        </p:txBody>
      </p:sp>
      <p:sp>
        <p:nvSpPr>
          <p:cNvPr id="13" name="Shape 10">
            <a:extLst xmlns:a="http://schemas.openxmlformats.org/drawingml/2006/main">
              <a:ext uri="{FF2B5EF4-FFF2-40B4-BE49-F238E27FC236}">
                <a16:creationId xmlns:a16="http://schemas.microsoft.com/office/drawing/2014/main" id="{6F286760-E8C9-416F-AB94-48543CD952C1}"/>
              </a:ext>
            </a:extLst>
          </p:cNvPr>
          <p:cNvSpPr>
            <a:spLocks xmlns:a="http://schemas.openxmlformats.org/drawingml/2006/main" noGrp="1"/>
          </p:cNvSpPr>
          <p:nvPr/>
        </p:nvSpPr>
        <p:spPr>
          <a:xfrm xmlns:a="http://schemas.openxmlformats.org/drawingml/2006/main">
            <a:off x="4322064" y="1517904"/>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14" name="Shape 11">
            <a:extLst xmlns:a="http://schemas.openxmlformats.org/drawingml/2006/main">
              <a:ext uri="{FF2B5EF4-FFF2-40B4-BE49-F238E27FC236}">
                <a16:creationId xmlns:a16="http://schemas.microsoft.com/office/drawing/2014/main" id="{14D1C230-605F-45B7-BA05-29E2AEC0028D}"/>
              </a:ext>
            </a:extLst>
          </p:cNvPr>
          <p:cNvSpPr>
            <a:spLocks xmlns:a="http://schemas.openxmlformats.org/drawingml/2006/main" noGrp="1"/>
          </p:cNvSpPr>
          <p:nvPr/>
        </p:nvSpPr>
        <p:spPr>
          <a:xfrm xmlns:a="http://schemas.openxmlformats.org/drawingml/2006/main">
            <a:off x="4322064" y="1517904"/>
            <a:ext cx="82296" cy="2272284"/>
          </a:xfrm>
          <a:prstGeom xmlns:a="http://schemas.openxmlformats.org/drawingml/2006/main" prst="rect">
            <a:avLst/>
          </a:prstGeom>
          <a:solidFill xmlns:a="http://schemas.openxmlformats.org/drawingml/2006/main">
            <a:srgbClr val="29ABE2"/>
          </a:solidFill>
        </p:spPr>
      </p:sp>
      <p:sp>
        <p:nvSpPr>
          <p:cNvPr id="15" name="Text 12">
            <a:extLst xmlns:a="http://schemas.openxmlformats.org/drawingml/2006/main">
              <a:ext uri="{FF2B5EF4-FFF2-40B4-BE49-F238E27FC236}">
                <a16:creationId xmlns:a16="http://schemas.microsoft.com/office/drawing/2014/main" id="{893F6E4C-7E26-4E3B-A07A-88D06F91693E}"/>
              </a:ext>
            </a:extLst>
          </p:cNvPr>
          <p:cNvSpPr>
            <a:spLocks xmlns:a="http://schemas.openxmlformats.org/drawingml/2006/main" noGrp="1"/>
          </p:cNvSpPr>
          <p:nvPr/>
        </p:nvSpPr>
        <p:spPr>
          <a:xfrm xmlns:a="http://schemas.openxmlformats.org/drawingml/2006/main">
            <a:off x="4541520" y="1636776"/>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29ABE2"/>
                </a:solidFill>
                <a:latin typeface="Calibri"/>
                <a:ea typeface="Calibri"/>
                <a:cs typeface="Calibri"/>
              </a:rPr>
              <a:t>MISTAKE 2</a:t>
            </a:r>
            <a:endParaRPr sz="900"/>
          </a:p>
        </p:txBody>
      </p:sp>
      <p:sp>
        <p:nvSpPr>
          <p:cNvPr id="16" name="Text 13">
            <a:extLst xmlns:a="http://schemas.openxmlformats.org/drawingml/2006/main">
              <a:ext uri="{FF2B5EF4-FFF2-40B4-BE49-F238E27FC236}">
                <a16:creationId xmlns:a16="http://schemas.microsoft.com/office/drawing/2014/main" id="{9FB003B6-2634-4A54-8076-F18943718765}"/>
              </a:ext>
            </a:extLst>
          </p:cNvPr>
          <p:cNvSpPr>
            <a:spLocks xmlns:a="http://schemas.openxmlformats.org/drawingml/2006/main" noGrp="1"/>
          </p:cNvSpPr>
          <p:nvPr/>
        </p:nvSpPr>
        <p:spPr>
          <a:xfrm xmlns:a="http://schemas.openxmlformats.org/drawingml/2006/main">
            <a:off x="4541520" y="1883664"/>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Schema leakage</a:t>
            </a:r>
            <a:endParaRPr sz="1250"/>
          </a:p>
        </p:txBody>
      </p:sp>
      <p:sp>
        <p:nvSpPr>
          <p:cNvPr id="17" name="Text 14">
            <a:extLst xmlns:a="http://schemas.openxmlformats.org/drawingml/2006/main">
              <a:ext uri="{FF2B5EF4-FFF2-40B4-BE49-F238E27FC236}">
                <a16:creationId xmlns:a16="http://schemas.microsoft.com/office/drawing/2014/main" id="{FCE9D2A2-B4D7-499B-B550-665DB6D1CA37}"/>
              </a:ext>
            </a:extLst>
          </p:cNvPr>
          <p:cNvSpPr>
            <a:spLocks xmlns:a="http://schemas.openxmlformats.org/drawingml/2006/main" noGrp="1"/>
          </p:cNvSpPr>
          <p:nvPr/>
        </p:nvSpPr>
        <p:spPr>
          <a:xfrm xmlns:a="http://schemas.openxmlformats.org/drawingml/2006/main">
            <a:off x="4541520" y="2404872"/>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pydantic API schemas used as domain entities everywhere — couples the codebase to the HTTP contract</a:t>
            </a:r>
            <a:endParaRPr sz="980"/>
          </a:p>
        </p:txBody>
      </p:sp>
      <p:sp>
        <p:nvSpPr>
          <p:cNvPr id="18" name="Shape 15">
            <a:extLst xmlns:a="http://schemas.openxmlformats.org/drawingml/2006/main">
              <a:ext uri="{FF2B5EF4-FFF2-40B4-BE49-F238E27FC236}">
                <a16:creationId xmlns:a16="http://schemas.microsoft.com/office/drawing/2014/main" id="{834C0419-8DE3-4B30-87A2-9285B067BCE5}"/>
              </a:ext>
            </a:extLst>
          </p:cNvPr>
          <p:cNvSpPr>
            <a:spLocks xmlns:a="http://schemas.openxmlformats.org/drawingml/2006/main" noGrp="1"/>
          </p:cNvSpPr>
          <p:nvPr/>
        </p:nvSpPr>
        <p:spPr>
          <a:xfrm xmlns:a="http://schemas.openxmlformats.org/drawingml/2006/main">
            <a:off x="8141208" y="1517904"/>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19" name="Shape 16">
            <a:extLst xmlns:a="http://schemas.openxmlformats.org/drawingml/2006/main">
              <a:ext uri="{FF2B5EF4-FFF2-40B4-BE49-F238E27FC236}">
                <a16:creationId xmlns:a16="http://schemas.microsoft.com/office/drawing/2014/main" id="{5936B5C0-5F7F-48D0-9596-DA51C163E427}"/>
              </a:ext>
            </a:extLst>
          </p:cNvPr>
          <p:cNvSpPr>
            <a:spLocks xmlns:a="http://schemas.openxmlformats.org/drawingml/2006/main" noGrp="1"/>
          </p:cNvSpPr>
          <p:nvPr/>
        </p:nvSpPr>
        <p:spPr>
          <a:xfrm xmlns:a="http://schemas.openxmlformats.org/drawingml/2006/main">
            <a:off x="8141208" y="1517904"/>
            <a:ext cx="82296" cy="2272284"/>
          </a:xfrm>
          <a:prstGeom xmlns:a="http://schemas.openxmlformats.org/drawingml/2006/main" prst="rect">
            <a:avLst/>
          </a:prstGeom>
          <a:solidFill xmlns:a="http://schemas.openxmlformats.org/drawingml/2006/main">
            <a:srgbClr val="F58220"/>
          </a:solidFill>
        </p:spPr>
      </p:sp>
      <p:sp>
        <p:nvSpPr>
          <p:cNvPr id="20" name="Text 17">
            <a:extLst xmlns:a="http://schemas.openxmlformats.org/drawingml/2006/main">
              <a:ext uri="{FF2B5EF4-FFF2-40B4-BE49-F238E27FC236}">
                <a16:creationId xmlns:a16="http://schemas.microsoft.com/office/drawing/2014/main" id="{B5A6ADAC-4EDE-414D-A6DD-F5B0433F1A87}"/>
              </a:ext>
            </a:extLst>
          </p:cNvPr>
          <p:cNvSpPr>
            <a:spLocks xmlns:a="http://schemas.openxmlformats.org/drawingml/2006/main" noGrp="1"/>
          </p:cNvSpPr>
          <p:nvPr/>
        </p:nvSpPr>
        <p:spPr>
          <a:xfrm xmlns:a="http://schemas.openxmlformats.org/drawingml/2006/main">
            <a:off x="8360664" y="1636776"/>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F58220"/>
                </a:solidFill>
                <a:latin typeface="Calibri"/>
                <a:ea typeface="Calibri"/>
                <a:cs typeface="Calibri"/>
              </a:rPr>
              <a:t>MISTAKE 3</a:t>
            </a:r>
            <a:endParaRPr sz="900"/>
          </a:p>
        </p:txBody>
      </p:sp>
      <p:sp>
        <p:nvSpPr>
          <p:cNvPr id="21" name="Text 18">
            <a:extLst xmlns:a="http://schemas.openxmlformats.org/drawingml/2006/main">
              <a:ext uri="{FF2B5EF4-FFF2-40B4-BE49-F238E27FC236}">
                <a16:creationId xmlns:a16="http://schemas.microsoft.com/office/drawing/2014/main" id="{54117C34-A00A-4EBC-9171-CB29FF6AE69D}"/>
              </a:ext>
            </a:extLst>
          </p:cNvPr>
          <p:cNvSpPr>
            <a:spLocks xmlns:a="http://schemas.openxmlformats.org/drawingml/2006/main" noGrp="1"/>
          </p:cNvSpPr>
          <p:nvPr/>
        </p:nvSpPr>
        <p:spPr>
          <a:xfrm xmlns:a="http://schemas.openxmlformats.org/drawingml/2006/main">
            <a:off x="8360664" y="1883664"/>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Duplicated feature logic</a:t>
            </a:r>
            <a:endParaRPr sz="1250"/>
          </a:p>
        </p:txBody>
      </p:sp>
      <p:sp>
        <p:nvSpPr>
          <p:cNvPr id="22" name="Text 19">
            <a:extLst xmlns:a="http://schemas.openxmlformats.org/drawingml/2006/main">
              <a:ext uri="{FF2B5EF4-FFF2-40B4-BE49-F238E27FC236}">
                <a16:creationId xmlns:a16="http://schemas.microsoft.com/office/drawing/2014/main" id="{7046581C-76A0-4EFB-B03D-85F0830E3E1F}"/>
              </a:ext>
            </a:extLst>
          </p:cNvPr>
          <p:cNvSpPr>
            <a:spLocks xmlns:a="http://schemas.openxmlformats.org/drawingml/2006/main" noGrp="1"/>
          </p:cNvSpPr>
          <p:nvPr/>
        </p:nvSpPr>
        <p:spPr>
          <a:xfrm xmlns:a="http://schemas.openxmlformats.org/drawingml/2006/main">
            <a:off x="8360664" y="2404872"/>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Training repo and serving repo compute features separately — the #1 cause of training/serving skew</a:t>
            </a:r>
            <a:endParaRPr sz="980"/>
          </a:p>
        </p:txBody>
      </p:sp>
      <p:sp>
        <p:nvSpPr>
          <p:cNvPr id="23" name="Shape 20">
            <a:extLst xmlns:a="http://schemas.openxmlformats.org/drawingml/2006/main">
              <a:ext uri="{FF2B5EF4-FFF2-40B4-BE49-F238E27FC236}">
                <a16:creationId xmlns:a16="http://schemas.microsoft.com/office/drawing/2014/main" id="{29C75BA0-0D92-4169-AE14-58B8F27507D9}"/>
              </a:ext>
            </a:extLst>
          </p:cNvPr>
          <p:cNvSpPr>
            <a:spLocks xmlns:a="http://schemas.openxmlformats.org/drawingml/2006/main" noGrp="1"/>
          </p:cNvSpPr>
          <p:nvPr/>
        </p:nvSpPr>
        <p:spPr>
          <a:xfrm xmlns:a="http://schemas.openxmlformats.org/drawingml/2006/main">
            <a:off x="502920" y="4046220"/>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24" name="Shape 21">
            <a:extLst xmlns:a="http://schemas.openxmlformats.org/drawingml/2006/main">
              <a:ext uri="{FF2B5EF4-FFF2-40B4-BE49-F238E27FC236}">
                <a16:creationId xmlns:a16="http://schemas.microsoft.com/office/drawing/2014/main" id="{626058C8-FB5C-4269-8877-78ABC6C7363C}"/>
              </a:ext>
            </a:extLst>
          </p:cNvPr>
          <p:cNvSpPr>
            <a:spLocks xmlns:a="http://schemas.openxmlformats.org/drawingml/2006/main" noGrp="1"/>
          </p:cNvSpPr>
          <p:nvPr/>
        </p:nvSpPr>
        <p:spPr>
          <a:xfrm xmlns:a="http://schemas.openxmlformats.org/drawingml/2006/main">
            <a:off x="502920" y="4046220"/>
            <a:ext cx="82296" cy="2272284"/>
          </a:xfrm>
          <a:prstGeom xmlns:a="http://schemas.openxmlformats.org/drawingml/2006/main" prst="rect">
            <a:avLst/>
          </a:prstGeom>
          <a:solidFill xmlns:a="http://schemas.openxmlformats.org/drawingml/2006/main">
            <a:srgbClr val="8DC63F"/>
          </a:solidFill>
        </p:spPr>
      </p:sp>
      <p:sp>
        <p:nvSpPr>
          <p:cNvPr id="25" name="Text 22">
            <a:extLst xmlns:a="http://schemas.openxmlformats.org/drawingml/2006/main">
              <a:ext uri="{FF2B5EF4-FFF2-40B4-BE49-F238E27FC236}">
                <a16:creationId xmlns:a16="http://schemas.microsoft.com/office/drawing/2014/main" id="{14C15821-E3F7-487C-BB6E-D5B94F9C4EF0}"/>
              </a:ext>
            </a:extLst>
          </p:cNvPr>
          <p:cNvSpPr>
            <a:spLocks xmlns:a="http://schemas.openxmlformats.org/drawingml/2006/main" noGrp="1"/>
          </p:cNvSpPr>
          <p:nvPr/>
        </p:nvSpPr>
        <p:spPr>
          <a:xfrm xmlns:a="http://schemas.openxmlformats.org/drawingml/2006/main">
            <a:off x="722376" y="4165092"/>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8DC63F"/>
                </a:solidFill>
                <a:latin typeface="Calibri"/>
                <a:ea typeface="Calibri"/>
                <a:cs typeface="Calibri"/>
              </a:rPr>
              <a:t>MISTAKE 4</a:t>
            </a:r>
            <a:endParaRPr sz="900"/>
          </a:p>
        </p:txBody>
      </p:sp>
      <p:sp>
        <p:nvSpPr>
          <p:cNvPr id="26" name="Text 23">
            <a:extLst xmlns:a="http://schemas.openxmlformats.org/drawingml/2006/main">
              <a:ext uri="{FF2B5EF4-FFF2-40B4-BE49-F238E27FC236}">
                <a16:creationId xmlns:a16="http://schemas.microsoft.com/office/drawing/2014/main" id="{EDF8B5A9-DE84-4A11-B8D4-7B4611932D27}"/>
              </a:ext>
            </a:extLst>
          </p:cNvPr>
          <p:cNvSpPr>
            <a:spLocks xmlns:a="http://schemas.openxmlformats.org/drawingml/2006/main" noGrp="1"/>
          </p:cNvSpPr>
          <p:nvPr/>
        </p:nvSpPr>
        <p:spPr>
          <a:xfrm xmlns:a="http://schemas.openxmlformats.org/drawingml/2006/main">
            <a:off x="722376" y="4411980"/>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except Exception: pass</a:t>
            </a:r>
            <a:endParaRPr sz="1250"/>
          </a:p>
        </p:txBody>
      </p:sp>
      <p:sp>
        <p:nvSpPr>
          <p:cNvPr id="27" name="Text 24">
            <a:extLst xmlns:a="http://schemas.openxmlformats.org/drawingml/2006/main">
              <a:ext uri="{FF2B5EF4-FFF2-40B4-BE49-F238E27FC236}">
                <a16:creationId xmlns:a16="http://schemas.microsoft.com/office/drawing/2014/main" id="{50184FD3-DC5C-48E9-A5A5-789D6D8DAC75}"/>
              </a:ext>
            </a:extLst>
          </p:cNvPr>
          <p:cNvSpPr>
            <a:spLocks xmlns:a="http://schemas.openxmlformats.org/drawingml/2006/main" noGrp="1"/>
          </p:cNvSpPr>
          <p:nvPr/>
        </p:nvSpPr>
        <p:spPr>
          <a:xfrm xmlns:a="http://schemas.openxmlformats.org/drawingml/2006/main">
            <a:off x="722376" y="4933188"/>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Around model calls — silently returns stale or default scores</a:t>
            </a:r>
            <a:endParaRPr sz="980"/>
          </a:p>
        </p:txBody>
      </p:sp>
      <p:sp>
        <p:nvSpPr>
          <p:cNvPr id="28" name="Shape 25">
            <a:extLst xmlns:a="http://schemas.openxmlformats.org/drawingml/2006/main">
              <a:ext uri="{FF2B5EF4-FFF2-40B4-BE49-F238E27FC236}">
                <a16:creationId xmlns:a16="http://schemas.microsoft.com/office/drawing/2014/main" id="{EE5DAB94-0403-4FFE-AC25-BEFBF65DB9ED}"/>
              </a:ext>
            </a:extLst>
          </p:cNvPr>
          <p:cNvSpPr>
            <a:spLocks xmlns:a="http://schemas.openxmlformats.org/drawingml/2006/main" noGrp="1"/>
          </p:cNvSpPr>
          <p:nvPr/>
        </p:nvSpPr>
        <p:spPr>
          <a:xfrm xmlns:a="http://schemas.openxmlformats.org/drawingml/2006/main">
            <a:off x="4322064" y="4046220"/>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29" name="Shape 26">
            <a:extLst xmlns:a="http://schemas.openxmlformats.org/drawingml/2006/main">
              <a:ext uri="{FF2B5EF4-FFF2-40B4-BE49-F238E27FC236}">
                <a16:creationId xmlns:a16="http://schemas.microsoft.com/office/drawing/2014/main" id="{382723E4-5222-4BBE-BA5E-43AAB5A4C60D}"/>
              </a:ext>
            </a:extLst>
          </p:cNvPr>
          <p:cNvSpPr>
            <a:spLocks xmlns:a="http://schemas.openxmlformats.org/drawingml/2006/main" noGrp="1"/>
          </p:cNvSpPr>
          <p:nvPr/>
        </p:nvSpPr>
        <p:spPr>
          <a:xfrm xmlns:a="http://schemas.openxmlformats.org/drawingml/2006/main">
            <a:off x="4322064" y="4046220"/>
            <a:ext cx="82296" cy="2272284"/>
          </a:xfrm>
          <a:prstGeom xmlns:a="http://schemas.openxmlformats.org/drawingml/2006/main" prst="rect">
            <a:avLst/>
          </a:prstGeom>
          <a:solidFill xmlns:a="http://schemas.openxmlformats.org/drawingml/2006/main">
            <a:srgbClr val="E8503A"/>
          </a:solidFill>
        </p:spPr>
      </p:sp>
      <p:sp>
        <p:nvSpPr>
          <p:cNvPr id="30" name="Text 27">
            <a:extLst xmlns:a="http://schemas.openxmlformats.org/drawingml/2006/main">
              <a:ext uri="{FF2B5EF4-FFF2-40B4-BE49-F238E27FC236}">
                <a16:creationId xmlns:a16="http://schemas.microsoft.com/office/drawing/2014/main" id="{B8013672-AD6D-4E19-9BAA-DF6F6E5E3255}"/>
              </a:ext>
            </a:extLst>
          </p:cNvPr>
          <p:cNvSpPr>
            <a:spLocks xmlns:a="http://schemas.openxmlformats.org/drawingml/2006/main" noGrp="1"/>
          </p:cNvSpPr>
          <p:nvPr/>
        </p:nvSpPr>
        <p:spPr>
          <a:xfrm xmlns:a="http://schemas.openxmlformats.org/drawingml/2006/main">
            <a:off x="4541520" y="4165092"/>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E8503A"/>
                </a:solidFill>
                <a:latin typeface="Calibri"/>
                <a:ea typeface="Calibri"/>
                <a:cs typeface="Calibri"/>
              </a:rPr>
              <a:t>MISTAKE 5</a:t>
            </a:r>
            <a:endParaRPr sz="900"/>
          </a:p>
        </p:txBody>
      </p:sp>
      <p:sp>
        <p:nvSpPr>
          <p:cNvPr id="31" name="Text 28">
            <a:extLst xmlns:a="http://schemas.openxmlformats.org/drawingml/2006/main">
              <a:ext uri="{FF2B5EF4-FFF2-40B4-BE49-F238E27FC236}">
                <a16:creationId xmlns:a16="http://schemas.microsoft.com/office/drawing/2014/main" id="{5B218D8C-7FA8-4537-B0F1-25AE856C144A}"/>
              </a:ext>
            </a:extLst>
          </p:cNvPr>
          <p:cNvSpPr>
            <a:spLocks xmlns:a="http://schemas.openxmlformats.org/drawingml/2006/main" noGrp="1"/>
          </p:cNvSpPr>
          <p:nvPr/>
        </p:nvSpPr>
        <p:spPr>
          <a:xfrm xmlns:a="http://schemas.openxmlformats.org/drawingml/2006/main">
            <a:off x="4541520" y="4411980"/>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Scattered os.environ</a:t>
            </a:r>
            <a:endParaRPr sz="1250"/>
          </a:p>
        </p:txBody>
      </p:sp>
      <p:sp>
        <p:nvSpPr>
          <p:cNvPr id="32" name="Text 29">
            <a:extLst xmlns:a="http://schemas.openxmlformats.org/drawingml/2006/main">
              <a:ext uri="{FF2B5EF4-FFF2-40B4-BE49-F238E27FC236}">
                <a16:creationId xmlns:a16="http://schemas.microsoft.com/office/drawing/2014/main" id="{EC5B6529-8CCB-49E7-9F1C-A98D47FE5B64}"/>
              </a:ext>
            </a:extLst>
          </p:cNvPr>
          <p:cNvSpPr>
            <a:spLocks xmlns:a="http://schemas.openxmlformats.org/drawingml/2006/main" noGrp="1"/>
          </p:cNvSpPr>
          <p:nvPr/>
        </p:nvSpPr>
        <p:spPr>
          <a:xfrm xmlns:a="http://schemas.openxmlformats.org/drawingml/2006/main">
            <a:off x="4541520" y="4933188"/>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Config read via os.environ["X"] across 14 files instead of one typed settings object</a:t>
            </a:r>
            <a:endParaRPr sz="980"/>
          </a:p>
        </p:txBody>
      </p:sp>
      <p:sp>
        <p:nvSpPr>
          <p:cNvPr id="33" name="Shape 30">
            <a:extLst xmlns:a="http://schemas.openxmlformats.org/drawingml/2006/main">
              <a:ext uri="{FF2B5EF4-FFF2-40B4-BE49-F238E27FC236}">
                <a16:creationId xmlns:a16="http://schemas.microsoft.com/office/drawing/2014/main" id="{F29DA914-55E5-4D74-8BF3-FB98ECC58540}"/>
              </a:ext>
            </a:extLst>
          </p:cNvPr>
          <p:cNvSpPr>
            <a:spLocks xmlns:a="http://schemas.openxmlformats.org/drawingml/2006/main" noGrp="1"/>
          </p:cNvSpPr>
          <p:nvPr/>
        </p:nvSpPr>
        <p:spPr>
          <a:xfrm xmlns:a="http://schemas.openxmlformats.org/drawingml/2006/main">
            <a:off x="8141208" y="4046220"/>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34" name="Shape 31">
            <a:extLst xmlns:a="http://schemas.openxmlformats.org/drawingml/2006/main">
              <a:ext uri="{FF2B5EF4-FFF2-40B4-BE49-F238E27FC236}">
                <a16:creationId xmlns:a16="http://schemas.microsoft.com/office/drawing/2014/main" id="{09092115-8E47-402C-88EB-5C4B4046C6AD}"/>
              </a:ext>
            </a:extLst>
          </p:cNvPr>
          <p:cNvSpPr>
            <a:spLocks xmlns:a="http://schemas.openxmlformats.org/drawingml/2006/main" noGrp="1"/>
          </p:cNvSpPr>
          <p:nvPr/>
        </p:nvSpPr>
        <p:spPr>
          <a:xfrm xmlns:a="http://schemas.openxmlformats.org/drawingml/2006/main">
            <a:off x="8141208" y="4046220"/>
            <a:ext cx="82296" cy="2272284"/>
          </a:xfrm>
          <a:prstGeom xmlns:a="http://schemas.openxmlformats.org/drawingml/2006/main" prst="rect">
            <a:avLst/>
          </a:prstGeom>
          <a:solidFill xmlns:a="http://schemas.openxmlformats.org/drawingml/2006/main">
            <a:srgbClr val="7B61A6"/>
          </a:solidFill>
        </p:spPr>
      </p:sp>
      <p:sp>
        <p:nvSpPr>
          <p:cNvPr id="35" name="Text 32">
            <a:extLst xmlns:a="http://schemas.openxmlformats.org/drawingml/2006/main">
              <a:ext uri="{FF2B5EF4-FFF2-40B4-BE49-F238E27FC236}">
                <a16:creationId xmlns:a16="http://schemas.microsoft.com/office/drawing/2014/main" id="{732D0817-671E-4051-B9DE-A35350BA809C}"/>
              </a:ext>
            </a:extLst>
          </p:cNvPr>
          <p:cNvSpPr>
            <a:spLocks xmlns:a="http://schemas.openxmlformats.org/drawingml/2006/main" noGrp="1"/>
          </p:cNvSpPr>
          <p:nvPr/>
        </p:nvSpPr>
        <p:spPr>
          <a:xfrm xmlns:a="http://schemas.openxmlformats.org/drawingml/2006/main">
            <a:off x="8360664" y="4165092"/>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7B61A6"/>
                </a:solidFill>
                <a:latin typeface="Calibri"/>
                <a:ea typeface="Calibri"/>
                <a:cs typeface="Calibri"/>
              </a:rPr>
              <a:t>MISTAKE 6</a:t>
            </a:r>
            <a:endParaRPr sz="900"/>
          </a:p>
        </p:txBody>
      </p:sp>
      <p:sp>
        <p:nvSpPr>
          <p:cNvPr id="36" name="Text 33">
            <a:extLst xmlns:a="http://schemas.openxmlformats.org/drawingml/2006/main">
              <a:ext uri="{FF2B5EF4-FFF2-40B4-BE49-F238E27FC236}">
                <a16:creationId xmlns:a16="http://schemas.microsoft.com/office/drawing/2014/main" id="{54E20727-A740-4B1F-963C-CF64B9E6842D}"/>
              </a:ext>
            </a:extLst>
          </p:cNvPr>
          <p:cNvSpPr>
            <a:spLocks xmlns:a="http://schemas.openxmlformats.org/drawingml/2006/main" noGrp="1"/>
          </p:cNvSpPr>
          <p:nvPr/>
        </p:nvSpPr>
        <p:spPr>
          <a:xfrm xmlns:a="http://schemas.openxmlformats.org/drawingml/2006/main">
            <a:off x="8360664" y="4411980"/>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Tests importing privates</a:t>
            </a:r>
            <a:endParaRPr sz="1250"/>
          </a:p>
        </p:txBody>
      </p:sp>
      <p:sp>
        <p:nvSpPr>
          <p:cNvPr id="37" name="Text 34">
            <a:extLst xmlns:a="http://schemas.openxmlformats.org/drawingml/2006/main">
              <a:ext uri="{FF2B5EF4-FFF2-40B4-BE49-F238E27FC236}">
                <a16:creationId xmlns:a16="http://schemas.microsoft.com/office/drawing/2014/main" id="{2EFD6CB2-C27F-4806-BC51-8648DF55F204}"/>
              </a:ext>
            </a:extLst>
          </p:cNvPr>
          <p:cNvSpPr>
            <a:spLocks xmlns:a="http://schemas.openxmlformats.org/drawingml/2006/main" noGrp="1"/>
          </p:cNvSpPr>
          <p:nvPr/>
        </p:nvSpPr>
        <p:spPr>
          <a:xfrm xmlns:a="http://schemas.openxmlformats.org/drawingml/2006/main">
            <a:off x="8360664" y="4933188"/>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from ...sklearn_model import _sanitize — tests should exercise public seams</a:t>
            </a:r>
            <a:endParaRPr sz="980"/>
          </a:p>
        </p:txBody>
      </p:sp>
    </p:spTree>
    <p:extLst>
      <p:ext uri="{BB962C8B-B14F-4D97-AF65-F5344CB8AC3E}">
        <p14:creationId xmlns:p14="http://schemas.microsoft.com/office/powerpoint/2010/main" val="1839840700"/>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E1401F0-0F50-446A-9854-3AD4289B0C8D}"/>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Policy as a Pure Function — policies.py</a:t>
            </a:r>
            <a:endParaRPr sz="2600"/>
          </a:p>
        </p:txBody>
      </p:sp>
      <p:sp>
        <p:nvSpPr>
          <p:cNvPr id="3" name="Text 1">
            <a:extLst xmlns:a="http://schemas.openxmlformats.org/drawingml/2006/main">
              <a:ext uri="{FF2B5EF4-FFF2-40B4-BE49-F238E27FC236}">
                <a16:creationId xmlns:a16="http://schemas.microsoft.com/office/drawing/2014/main" id="{E85E6E57-6E7D-4D89-8AA9-4164778E9C07}"/>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السياسة كدالة نقية</a:t>
            </a:r>
            <a:endParaRPr sz="1300"/>
          </a:p>
        </p:txBody>
      </p:sp>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20d2753806d24457"/>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816074F6-463C-4BF4-8BD6-CEC26487F472}"/>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5EF13AC3-8C15-4D32-B323-84C911E73561}"/>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1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50B93FF9-8978-4FDA-9E15-5D7DDDC4349C}"/>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26</a:t>
            </a:r>
            <a:endParaRPr sz="850"/>
          </a:p>
        </p:txBody>
      </p:sp>
      <p:sp>
        <p:nvSpPr>
          <p:cNvPr id="8" name="Shape 5">
            <a:extLst xmlns:a="http://schemas.openxmlformats.org/drawingml/2006/main">
              <a:ext uri="{FF2B5EF4-FFF2-40B4-BE49-F238E27FC236}">
                <a16:creationId xmlns:a16="http://schemas.microsoft.com/office/drawing/2014/main" id="{0A8D1B99-2F23-4D95-A7CC-8F1450586AC5}"/>
              </a:ext>
            </a:extLst>
          </p:cNvPr>
          <p:cNvSpPr>
            <a:spLocks xmlns:a="http://schemas.openxmlformats.org/drawingml/2006/main" noGrp="1"/>
          </p:cNvSpPr>
          <p:nvPr/>
        </p:nvSpPr>
        <p:spPr>
          <a:xfrm xmlns:a="http://schemas.openxmlformats.org/drawingml/2006/main">
            <a:off x="502920" y="1481328"/>
            <a:ext cx="7635240" cy="4617720"/>
          </a:xfrm>
          <a:prstGeom xmlns:a="http://schemas.openxmlformats.org/drawingml/2006/main" prst="roundRect">
            <a:avLst>
              <a:gd name="adj" fmla="val 1584"/>
            </a:avLst>
          </a:prstGeom>
          <a:solidFill xmlns:a="http://schemas.openxmlformats.org/drawingml/2006/main">
            <a:srgbClr val="1A2233"/>
          </a:solidFill>
        </p:spPr>
      </p:sp>
      <p:sp>
        <p:nvSpPr>
          <p:cNvPr id="9" name="Shape 6">
            <a:extLst xmlns:a="http://schemas.openxmlformats.org/drawingml/2006/main">
              <a:ext uri="{FF2B5EF4-FFF2-40B4-BE49-F238E27FC236}">
                <a16:creationId xmlns:a16="http://schemas.microsoft.com/office/drawing/2014/main" id="{F941D494-167F-4E37-B826-AE3A09330525}"/>
              </a:ext>
            </a:extLst>
          </p:cNvPr>
          <p:cNvSpPr>
            <a:spLocks xmlns:a="http://schemas.openxmlformats.org/drawingml/2006/main" noGrp="1"/>
          </p:cNvSpPr>
          <p:nvPr/>
        </p:nvSpPr>
        <p:spPr>
          <a:xfrm xmlns:a="http://schemas.openxmlformats.org/drawingml/2006/main">
            <a:off x="731520" y="1664208"/>
            <a:ext cx="109728" cy="109728"/>
          </a:xfrm>
          <a:prstGeom xmlns:a="http://schemas.openxmlformats.org/drawingml/2006/main" prst="ellipse">
            <a:avLst/>
          </a:prstGeom>
          <a:solidFill xmlns:a="http://schemas.openxmlformats.org/drawingml/2006/main">
            <a:srgbClr val="E8503A"/>
          </a:solidFill>
        </p:spPr>
      </p:sp>
      <p:sp>
        <p:nvSpPr>
          <p:cNvPr id="10" name="Shape 7">
            <a:extLst xmlns:a="http://schemas.openxmlformats.org/drawingml/2006/main">
              <a:ext uri="{FF2B5EF4-FFF2-40B4-BE49-F238E27FC236}">
                <a16:creationId xmlns:a16="http://schemas.microsoft.com/office/drawing/2014/main" id="{33D366C3-18E9-478C-B9BD-5F1765067394}"/>
              </a:ext>
            </a:extLst>
          </p:cNvPr>
          <p:cNvSpPr>
            <a:spLocks xmlns:a="http://schemas.openxmlformats.org/drawingml/2006/main" noGrp="1"/>
          </p:cNvSpPr>
          <p:nvPr/>
        </p:nvSpPr>
        <p:spPr>
          <a:xfrm xmlns:a="http://schemas.openxmlformats.org/drawingml/2006/main">
            <a:off x="932688" y="1664208"/>
            <a:ext cx="109728" cy="109728"/>
          </a:xfrm>
          <a:prstGeom xmlns:a="http://schemas.openxmlformats.org/drawingml/2006/main" prst="ellipse">
            <a:avLst/>
          </a:prstGeom>
          <a:solidFill xmlns:a="http://schemas.openxmlformats.org/drawingml/2006/main">
            <a:srgbClr val="F5B820"/>
          </a:solidFill>
        </p:spPr>
      </p:sp>
      <p:sp>
        <p:nvSpPr>
          <p:cNvPr id="11" name="Shape 8">
            <a:extLst xmlns:a="http://schemas.openxmlformats.org/drawingml/2006/main">
              <a:ext uri="{FF2B5EF4-FFF2-40B4-BE49-F238E27FC236}">
                <a16:creationId xmlns:a16="http://schemas.microsoft.com/office/drawing/2014/main" id="{88DE9F33-C8A4-43B5-8DBE-CDF9E248DC39}"/>
              </a:ext>
            </a:extLst>
          </p:cNvPr>
          <p:cNvSpPr>
            <a:spLocks xmlns:a="http://schemas.openxmlformats.org/drawingml/2006/main" noGrp="1"/>
          </p:cNvSpPr>
          <p:nvPr/>
        </p:nvSpPr>
        <p:spPr>
          <a:xfrm xmlns:a="http://schemas.openxmlformats.org/drawingml/2006/main">
            <a:off x="1133856" y="1664208"/>
            <a:ext cx="109728" cy="109728"/>
          </a:xfrm>
          <a:prstGeom xmlns:a="http://schemas.openxmlformats.org/drawingml/2006/main" prst="ellipse">
            <a:avLst/>
          </a:prstGeom>
          <a:solidFill xmlns:a="http://schemas.openxmlformats.org/drawingml/2006/main">
            <a:srgbClr val="8DC63F"/>
          </a:solidFill>
        </p:spPr>
      </p:sp>
      <p:sp>
        <p:nvSpPr>
          <p:cNvPr id="12" name="Text 9">
            <a:extLst xmlns:a="http://schemas.openxmlformats.org/drawingml/2006/main">
              <a:ext uri="{FF2B5EF4-FFF2-40B4-BE49-F238E27FC236}">
                <a16:creationId xmlns:a16="http://schemas.microsoft.com/office/drawing/2014/main" id="{332B42A6-117F-4157-A530-5C1B50A17CF6}"/>
              </a:ext>
            </a:extLst>
          </p:cNvPr>
          <p:cNvSpPr>
            <a:spLocks xmlns:a="http://schemas.openxmlformats.org/drawingml/2006/main" noGrp="1"/>
          </p:cNvSpPr>
          <p:nvPr/>
        </p:nvSpPr>
        <p:spPr>
          <a:xfrm xmlns:a="http://schemas.openxmlformats.org/drawingml/2006/main">
            <a:off x="4526280" y="1609344"/>
            <a:ext cx="32918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6C8"/>
                </a:solidFill>
                <a:latin typeface="Consolas"/>
                <a:ea typeface="Consolas"/>
                <a:cs typeface="Consolas"/>
              </a:rPr>
              <a:t>src/fraud_service/domain/policies.py</a:t>
            </a:r>
            <a:endParaRPr sz="900"/>
          </a:p>
        </p:txBody>
      </p:sp>
      <p:sp>
        <p:nvSpPr>
          <p:cNvPr id="13" name="Text 10">
            <a:extLst xmlns:a="http://schemas.openxmlformats.org/drawingml/2006/main">
              <a:ext uri="{FF2B5EF4-FFF2-40B4-BE49-F238E27FC236}">
                <a16:creationId xmlns:a16="http://schemas.microsoft.com/office/drawing/2014/main" id="{EC2CBF72-68B7-474D-B7C4-B0D9EB49A55A}"/>
              </a:ext>
            </a:extLst>
          </p:cNvPr>
          <p:cNvSpPr>
            <a:spLocks xmlns:a="http://schemas.openxmlformats.org/drawingml/2006/main" noGrp="1"/>
          </p:cNvSpPr>
          <p:nvPr/>
        </p:nvSpPr>
        <p:spPr>
          <a:xfrm xmlns:a="http://schemas.openxmlformats.org/drawingml/2006/main">
            <a:off x="713232" y="1965960"/>
            <a:ext cx="717804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000">
                <a:solidFill>
                  <a:srgbClr val="D9E4F5"/>
                </a:solidFill>
                <a:latin typeface="Consolas"/>
                <a:ea typeface="Consolas"/>
                <a:cs typeface="Consolas"/>
              </a:rPr>
              <a:t>"""Business policy: thresholds are BUSINESS</a:t>
            </a:r>
            <a:endParaRPr sz="1000"/>
          </a:p>
          <a:p xmlns:a="http://schemas.openxmlformats.org/drawingml/2006/main">
            <a:pPr marL="0" indent="0">
              <a:lnSpc>
                <a:spcPct val="112000"/>
              </a:lnSpc>
              <a:buNone/>
            </a:pPr>
            <a:r>
              <a:rPr sz="1000">
                <a:solidFill>
                  <a:srgbClr val="D9E4F5"/>
                </a:solidFill>
                <a:latin typeface="Consolas"/>
                <a:ea typeface="Consolas"/>
                <a:cs typeface="Consolas"/>
              </a:rPr>
              <a:t>decisions, not model decisions.</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Pure function =&gt; property-based-testable,</a:t>
            </a:r>
            <a:endParaRPr sz="1000"/>
          </a:p>
          <a:p xmlns:a="http://schemas.openxmlformats.org/drawingml/2006/main">
            <a:pPr marL="0" indent="0">
              <a:lnSpc>
                <a:spcPct val="112000"/>
              </a:lnSpc>
              <a:buNone/>
            </a:pPr>
            <a:r>
              <a:rPr sz="1000">
                <a:solidFill>
                  <a:srgbClr val="D9E4F5"/>
                </a:solidFill>
                <a:latin typeface="Consolas"/>
                <a:ea typeface="Consolas"/>
                <a:cs typeface="Consolas"/>
              </a:rPr>
              <a:t>reviewable by risk officers."""</a:t>
            </a:r>
            <a:endParaRPr sz="1000"/>
          </a:p>
          <a:p xmlns:a="http://schemas.openxmlformats.org/drawingml/2006/main">
            <a:pPr marL="0" indent="0">
              <a:lnSpc>
                <a:spcPct val="112000"/>
              </a:lnSpc>
              <a:buNone/>
            </a:pPr>
            <a:r>
              <a:rPr sz="1000">
                <a:solidFill>
                  <a:srgbClr val="D9E4F5"/>
                </a:solidFill>
                <a:latin typeface="Consolas"/>
                <a:ea typeface="Consolas"/>
                <a:cs typeface="Consolas"/>
              </a:rPr>
              <a:t>from fraud_service.domain.entities import (</a:t>
            </a:r>
            <a:endParaRPr sz="1000"/>
          </a:p>
          <a:p xmlns:a="http://schemas.openxmlformats.org/drawingml/2006/main">
            <a:pPr marL="0" indent="0">
              <a:lnSpc>
                <a:spcPct val="112000"/>
              </a:lnSpc>
              <a:buNone/>
            </a:pPr>
            <a:r>
              <a:rPr sz="1000">
                <a:solidFill>
                  <a:srgbClr val="D9E4F5"/>
                </a:solidFill>
                <a:latin typeface="Consolas"/>
                <a:ea typeface="Consolas"/>
                <a:cs typeface="Consolas"/>
              </a:rPr>
              <a:t>    Decision, RawScore,</a:t>
            </a:r>
            <a:endParaRPr sz="1000"/>
          </a:p>
          <a:p xmlns:a="http://schemas.openxmlformats.org/drawingml/2006/main">
            <a:pPr marL="0" indent="0">
              <a:lnSpc>
                <a:spcPct val="112000"/>
              </a:lnSpc>
              <a:buNone/>
            </a:pPr>
            <a:r>
              <a:rPr sz="1000">
                <a:solidFill>
                  <a:srgbClr val="D9E4F5"/>
                </a:solidFill>
                <a:latin typeface="Consolas"/>
                <a:ea typeface="Consolas"/>
                <a:cs typeface="Consolas"/>
              </a:rPr>
              <a:t>)</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REVIEW_BAND = 0.15  # manual-review band width</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def decide(score: RawScore,</a:t>
            </a:r>
            <a:endParaRPr sz="1000"/>
          </a:p>
          <a:p xmlns:a="http://schemas.openxmlformats.org/drawingml/2006/main">
            <a:pPr marL="0" indent="0">
              <a:lnSpc>
                <a:spcPct val="112000"/>
              </a:lnSpc>
              <a:buNone/>
            </a:pPr>
            <a:r>
              <a:rPr sz="1000">
                <a:solidFill>
                  <a:srgbClr val="D9E4F5"/>
                </a:solidFill>
                <a:latin typeface="Consolas"/>
                <a:ea typeface="Consolas"/>
                <a:cs typeface="Consolas"/>
              </a:rPr>
              <a:t>           block_threshold: float) -&gt; Decision:</a:t>
            </a:r>
            <a:endParaRPr sz="1000"/>
          </a:p>
          <a:p xmlns:a="http://schemas.openxmlformats.org/drawingml/2006/main">
            <a:pPr marL="0" indent="0">
              <a:lnSpc>
                <a:spcPct val="112000"/>
              </a:lnSpc>
              <a:buNone/>
            </a:pPr>
            <a:r>
              <a:rPr sz="1000">
                <a:solidFill>
                  <a:srgbClr val="D9E4F5"/>
                </a:solidFill>
                <a:latin typeface="Consolas"/>
                <a:ea typeface="Consolas"/>
                <a:cs typeface="Consolas"/>
              </a:rPr>
              <a:t>    if score.value &gt;= block_threshold:</a:t>
            </a:r>
            <a:endParaRPr sz="1000"/>
          </a:p>
          <a:p xmlns:a="http://schemas.openxmlformats.org/drawingml/2006/main">
            <a:pPr marL="0" indent="0">
              <a:lnSpc>
                <a:spcPct val="112000"/>
              </a:lnSpc>
              <a:buNone/>
            </a:pPr>
            <a:r>
              <a:rPr sz="1000">
                <a:solidFill>
                  <a:srgbClr val="D9E4F5"/>
                </a:solidFill>
                <a:latin typeface="Consolas"/>
                <a:ea typeface="Consolas"/>
                <a:cs typeface="Consolas"/>
              </a:rPr>
              <a:t>        return Decision.BLOCK</a:t>
            </a:r>
            <a:endParaRPr sz="1000"/>
          </a:p>
          <a:p xmlns:a="http://schemas.openxmlformats.org/drawingml/2006/main">
            <a:pPr marL="0" indent="0">
              <a:lnSpc>
                <a:spcPct val="112000"/>
              </a:lnSpc>
              <a:buNone/>
            </a:pPr>
            <a:r>
              <a:rPr sz="1000">
                <a:solidFill>
                  <a:srgbClr val="D9E4F5"/>
                </a:solidFill>
                <a:latin typeface="Consolas"/>
                <a:ea typeface="Consolas"/>
                <a:cs typeface="Consolas"/>
              </a:rPr>
              <a:t>    if score.value &gt;= block_threshold - REVIEW_BAND:</a:t>
            </a:r>
            <a:endParaRPr sz="1000"/>
          </a:p>
          <a:p xmlns:a="http://schemas.openxmlformats.org/drawingml/2006/main">
            <a:pPr marL="0" indent="0">
              <a:lnSpc>
                <a:spcPct val="112000"/>
              </a:lnSpc>
              <a:buNone/>
            </a:pPr>
            <a:r>
              <a:rPr sz="1000">
                <a:solidFill>
                  <a:srgbClr val="D9E4F5"/>
                </a:solidFill>
                <a:latin typeface="Consolas"/>
                <a:ea typeface="Consolas"/>
                <a:cs typeface="Consolas"/>
              </a:rPr>
              <a:t>        return Decision.REVIEW</a:t>
            </a:r>
            <a:endParaRPr sz="1000"/>
          </a:p>
          <a:p xmlns:a="http://schemas.openxmlformats.org/drawingml/2006/main">
            <a:pPr marL="0" indent="0">
              <a:lnSpc>
                <a:spcPct val="112000"/>
              </a:lnSpc>
              <a:buNone/>
            </a:pPr>
            <a:r>
              <a:rPr sz="1000">
                <a:solidFill>
                  <a:srgbClr val="D9E4F5"/>
                </a:solidFill>
                <a:latin typeface="Consolas"/>
                <a:ea typeface="Consolas"/>
                <a:cs typeface="Consolas"/>
              </a:rPr>
              <a:t>    return Decision.ALLOW</a:t>
            </a:r>
            <a:endParaRPr sz="1000"/>
          </a:p>
        </p:txBody>
      </p:sp>
      <p:sp>
        <p:nvSpPr>
          <p:cNvPr id="14" name="Shape 11">
            <a:extLst xmlns:a="http://schemas.openxmlformats.org/drawingml/2006/main">
              <a:ext uri="{FF2B5EF4-FFF2-40B4-BE49-F238E27FC236}">
                <a16:creationId xmlns:a16="http://schemas.microsoft.com/office/drawing/2014/main" id="{15E83FB7-C8F0-444F-BD19-04E6D99B95D0}"/>
              </a:ext>
            </a:extLst>
          </p:cNvPr>
          <p:cNvSpPr>
            <a:spLocks xmlns:a="http://schemas.openxmlformats.org/drawingml/2006/main" noGrp="1"/>
          </p:cNvSpPr>
          <p:nvPr/>
        </p:nvSpPr>
        <p:spPr>
          <a:xfrm xmlns:a="http://schemas.openxmlformats.org/drawingml/2006/main">
            <a:off x="8321040" y="1481328"/>
            <a:ext cx="3364992" cy="1402080"/>
          </a:xfrm>
          <a:prstGeom xmlns:a="http://schemas.openxmlformats.org/drawingml/2006/main" prst="roundRect">
            <a:avLst>
              <a:gd name="adj" fmla="val 3913"/>
            </a:avLst>
          </a:prstGeom>
          <a:solidFill xmlns:a="http://schemas.openxmlformats.org/drawingml/2006/main">
            <a:srgbClr val="D4F1EE"/>
          </a:solidFill>
        </p:spPr>
      </p:sp>
      <p:sp>
        <p:nvSpPr>
          <p:cNvPr id="15" name="Text 12">
            <a:extLst xmlns:a="http://schemas.openxmlformats.org/drawingml/2006/main">
              <a:ext uri="{FF2B5EF4-FFF2-40B4-BE49-F238E27FC236}">
                <a16:creationId xmlns:a16="http://schemas.microsoft.com/office/drawing/2014/main" id="{712CF515-988B-4281-B825-092911366DE1}"/>
              </a:ext>
            </a:extLst>
          </p:cNvPr>
          <p:cNvSpPr>
            <a:spLocks xmlns:a="http://schemas.openxmlformats.org/drawingml/2006/main" noGrp="1"/>
          </p:cNvSpPr>
          <p:nvPr/>
        </p:nvSpPr>
        <p:spPr>
          <a:xfrm xmlns:a="http://schemas.openxmlformats.org/drawingml/2006/main">
            <a:off x="8485632" y="157276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Three-way decision</a:t>
            </a:r>
            <a:endParaRPr sz="1050"/>
          </a:p>
        </p:txBody>
      </p:sp>
      <p:sp>
        <p:nvSpPr>
          <p:cNvPr id="16" name="Text 13">
            <a:extLst xmlns:a="http://schemas.openxmlformats.org/drawingml/2006/main">
              <a:ext uri="{FF2B5EF4-FFF2-40B4-BE49-F238E27FC236}">
                <a16:creationId xmlns:a16="http://schemas.microsoft.com/office/drawing/2014/main" id="{FF67FD37-D1A9-4470-8422-4A6DC4A9BFBA}"/>
              </a:ext>
            </a:extLst>
          </p:cNvPr>
          <p:cNvSpPr>
            <a:spLocks xmlns:a="http://schemas.openxmlformats.org/drawingml/2006/main" noGrp="1"/>
          </p:cNvSpPr>
          <p:nvPr/>
        </p:nvSpPr>
        <p:spPr>
          <a:xfrm xmlns:a="http://schemas.openxmlformats.org/drawingml/2006/main">
            <a:off x="8485632" y="184708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ALLOW / REVIEW / BLOCK — a manual-review band sits 0.15 below the block threshold.</a:t>
            </a:r>
            <a:endParaRPr sz="930"/>
          </a:p>
        </p:txBody>
      </p:sp>
      <p:sp>
        <p:nvSpPr>
          <p:cNvPr id="17" name="Shape 14">
            <a:extLst xmlns:a="http://schemas.openxmlformats.org/drawingml/2006/main">
              <a:ext uri="{FF2B5EF4-FFF2-40B4-BE49-F238E27FC236}">
                <a16:creationId xmlns:a16="http://schemas.microsoft.com/office/drawing/2014/main" id="{F598EDBD-9EFB-4330-AC6C-1C2656C972C7}"/>
              </a:ext>
            </a:extLst>
          </p:cNvPr>
          <p:cNvSpPr>
            <a:spLocks xmlns:a="http://schemas.openxmlformats.org/drawingml/2006/main" noGrp="1"/>
          </p:cNvSpPr>
          <p:nvPr/>
        </p:nvSpPr>
        <p:spPr>
          <a:xfrm xmlns:a="http://schemas.openxmlformats.org/drawingml/2006/main">
            <a:off x="8321040" y="3020568"/>
            <a:ext cx="3364992" cy="1402080"/>
          </a:xfrm>
          <a:prstGeom xmlns:a="http://schemas.openxmlformats.org/drawingml/2006/main" prst="roundRect">
            <a:avLst>
              <a:gd name="adj" fmla="val 3913"/>
            </a:avLst>
          </a:prstGeom>
          <a:solidFill xmlns:a="http://schemas.openxmlformats.org/drawingml/2006/main">
            <a:srgbClr val="D9F0FA"/>
          </a:solidFill>
        </p:spPr>
      </p:sp>
      <p:sp>
        <p:nvSpPr>
          <p:cNvPr id="18" name="Text 15">
            <a:extLst xmlns:a="http://schemas.openxmlformats.org/drawingml/2006/main">
              <a:ext uri="{FF2B5EF4-FFF2-40B4-BE49-F238E27FC236}">
                <a16:creationId xmlns:a16="http://schemas.microsoft.com/office/drawing/2014/main" id="{42286347-E2E8-44C7-88C2-4E3667CCB49A}"/>
              </a:ext>
            </a:extLst>
          </p:cNvPr>
          <p:cNvSpPr>
            <a:spLocks xmlns:a="http://schemas.openxmlformats.org/drawingml/2006/main" noGrp="1"/>
          </p:cNvSpPr>
          <p:nvPr/>
        </p:nvSpPr>
        <p:spPr>
          <a:xfrm xmlns:a="http://schemas.openxmlformats.org/drawingml/2006/main">
            <a:off x="8485632" y="311200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Threshold is injected</a:t>
            </a:r>
            <a:endParaRPr sz="1050"/>
          </a:p>
        </p:txBody>
      </p:sp>
      <p:sp>
        <p:nvSpPr>
          <p:cNvPr id="19" name="Text 16">
            <a:extLst xmlns:a="http://schemas.openxmlformats.org/drawingml/2006/main">
              <a:ext uri="{FF2B5EF4-FFF2-40B4-BE49-F238E27FC236}">
                <a16:creationId xmlns:a16="http://schemas.microsoft.com/office/drawing/2014/main" id="{E8E6BFC6-F098-4DB9-ACAB-59B8F27C91A8}"/>
              </a:ext>
            </a:extLst>
          </p:cNvPr>
          <p:cNvSpPr>
            <a:spLocks xmlns:a="http://schemas.openxmlformats.org/drawingml/2006/main" noGrp="1"/>
          </p:cNvSpPr>
          <p:nvPr/>
        </p:nvSpPr>
        <p:spPr>
          <a:xfrm xmlns:a="http://schemas.openxmlformats.org/drawingml/2006/main">
            <a:off x="8485632" y="338632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block_threshold arrives as an argument; M6 sources it from typed settings. Who owns it — code, config, or DB? Discussion coming.</a:t>
            </a:r>
            <a:endParaRPr sz="930"/>
          </a:p>
        </p:txBody>
      </p:sp>
      <p:sp>
        <p:nvSpPr>
          <p:cNvPr id="20" name="Shape 17">
            <a:extLst xmlns:a="http://schemas.openxmlformats.org/drawingml/2006/main">
              <a:ext uri="{FF2B5EF4-FFF2-40B4-BE49-F238E27FC236}">
                <a16:creationId xmlns:a16="http://schemas.microsoft.com/office/drawing/2014/main" id="{1657F3DB-0235-4402-9594-62F8A1ECC26A}"/>
              </a:ext>
            </a:extLst>
          </p:cNvPr>
          <p:cNvSpPr>
            <a:spLocks xmlns:a="http://schemas.openxmlformats.org/drawingml/2006/main" noGrp="1"/>
          </p:cNvSpPr>
          <p:nvPr/>
        </p:nvSpPr>
        <p:spPr>
          <a:xfrm xmlns:a="http://schemas.openxmlformats.org/drawingml/2006/main">
            <a:off x="8321040" y="4559808"/>
            <a:ext cx="3364992" cy="1402080"/>
          </a:xfrm>
          <a:prstGeom xmlns:a="http://schemas.openxmlformats.org/drawingml/2006/main" prst="roundRect">
            <a:avLst>
              <a:gd name="adj" fmla="val 3913"/>
            </a:avLst>
          </a:prstGeom>
          <a:solidFill xmlns:a="http://schemas.openxmlformats.org/drawingml/2006/main">
            <a:srgbClr val="FDEBD7"/>
          </a:solidFill>
        </p:spPr>
      </p:sp>
      <p:sp>
        <p:nvSpPr>
          <p:cNvPr id="21" name="Text 18">
            <a:extLst xmlns:a="http://schemas.openxmlformats.org/drawingml/2006/main">
              <a:ext uri="{FF2B5EF4-FFF2-40B4-BE49-F238E27FC236}">
                <a16:creationId xmlns:a16="http://schemas.microsoft.com/office/drawing/2014/main" id="{93400190-1A4C-4FCB-88C6-18A6219D445E}"/>
              </a:ext>
            </a:extLst>
          </p:cNvPr>
          <p:cNvSpPr>
            <a:spLocks xmlns:a="http://schemas.openxmlformats.org/drawingml/2006/main" noGrp="1"/>
          </p:cNvSpPr>
          <p:nvPr/>
        </p:nvSpPr>
        <p:spPr>
          <a:xfrm xmlns:a="http://schemas.openxmlformats.org/drawingml/2006/main">
            <a:off x="8485632" y="465124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Zero dependencies</a:t>
            </a:r>
            <a:endParaRPr sz="1050"/>
          </a:p>
        </p:txBody>
      </p:sp>
      <p:sp>
        <p:nvSpPr>
          <p:cNvPr id="22" name="Text 19">
            <a:extLst xmlns:a="http://schemas.openxmlformats.org/drawingml/2006/main">
              <a:ext uri="{FF2B5EF4-FFF2-40B4-BE49-F238E27FC236}">
                <a16:creationId xmlns:a16="http://schemas.microsoft.com/office/drawing/2014/main" id="{FB6AA2D0-5B80-4632-93B2-E3F9B687EE57}"/>
              </a:ext>
            </a:extLst>
          </p:cNvPr>
          <p:cNvSpPr>
            <a:spLocks xmlns:a="http://schemas.openxmlformats.org/drawingml/2006/main" noGrp="1"/>
          </p:cNvSpPr>
          <p:nvPr/>
        </p:nvSpPr>
        <p:spPr>
          <a:xfrm xmlns:a="http://schemas.openxmlformats.org/drawingml/2006/main">
            <a:off x="8485632" y="492556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stdlib + domain types only. A risk officer can read and sign off this file.</a:t>
            </a:r>
            <a:endParaRPr sz="930"/>
          </a:p>
        </p:txBody>
      </p:sp>
    </p:spTree>
    <p:extLst>
      <p:ext uri="{BB962C8B-B14F-4D97-AF65-F5344CB8AC3E}">
        <p14:creationId xmlns:p14="http://schemas.microsoft.com/office/powerpoint/2010/main" val="1819867817"/>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53D40A7-E7DE-4A8C-86DD-8030033E48F9}"/>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Design Principles &amp; the Review Checklist</a:t>
            </a:r>
            <a:endParaRPr sz="2600"/>
          </a:p>
        </p:txBody>
      </p:sp>
      <p:sp>
        <p:nvSpPr>
          <p:cNvPr id="3" name="Text 1">
            <a:extLst xmlns:a="http://schemas.openxmlformats.org/drawingml/2006/main">
              <a:ext uri="{FF2B5EF4-FFF2-40B4-BE49-F238E27FC236}">
                <a16:creationId xmlns:a16="http://schemas.microsoft.com/office/drawing/2014/main" id="{F5F96D1F-F213-40A9-8152-04AC157CD181}"/>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مبادئ التصميم وقائمة المراجعة</a:t>
            </a:r>
            <a:endParaRPr sz="1300"/>
          </a:p>
        </p:txBody>
      </p:sp>
      <p:pic>
        <p:nvPicPr>
          <p:cNvPr id="34" name="Image 0"/>
          <p:cNvPicPr>
            <a:picLocks xmlns:a="http://schemas.openxmlformats.org/drawingml/2006/main" noChangeAspect="1"/>
          </p:cNvPicPr>
          <p:nvPr/>
        </p:nvPicPr>
        <p:blipFill>
          <a:blip xmlns:r="http://schemas.openxmlformats.org/officeDocument/2006/relationships" xmlns:a="http://schemas.openxmlformats.org/drawingml/2006/main" r:embed="Rcb22ad8c7c4a47cd"/>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5222F2BA-DFEC-4198-B4B8-6E4A34E5EB8B}"/>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984805A0-0509-4372-A477-E60AF3C2F628}"/>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1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6F0CC665-7886-42D5-AE96-3214F9BCA681}"/>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27</a:t>
            </a:r>
            <a:endParaRPr sz="850"/>
          </a:p>
        </p:txBody>
      </p:sp>
      <p:sp>
        <p:nvSpPr>
          <p:cNvPr id="8" name="Text 5">
            <a:extLst xmlns:a="http://schemas.openxmlformats.org/drawingml/2006/main">
              <a:ext uri="{FF2B5EF4-FFF2-40B4-BE49-F238E27FC236}">
                <a16:creationId xmlns:a16="http://schemas.microsoft.com/office/drawing/2014/main" id="{316D7D77-6109-49F2-AE52-4D73B5C9F403}"/>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5D41995E-87B7-4FEE-9F3B-87FA9C9FEBFA}"/>
              </a:ext>
            </a:extLst>
          </p:cNvPr>
          <p:cNvSpPr>
            <a:spLocks xmlns:a="http://schemas.openxmlformats.org/drawingml/2006/main" noGrp="1"/>
          </p:cNvSpPr>
          <p:nvPr/>
        </p:nvSpPr>
        <p:spPr>
          <a:xfrm xmlns:a="http://schemas.openxmlformats.org/drawingml/2006/main">
            <a:off x="1005840" y="14996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One direction of knowledge</a:t>
            </a:r>
            <a:endParaRPr sz="1350"/>
          </a:p>
        </p:txBody>
      </p:sp>
      <p:sp>
        <p:nvSpPr>
          <p:cNvPr id="10" name="Text 7">
            <a:extLst xmlns:a="http://schemas.openxmlformats.org/drawingml/2006/main">
              <a:ext uri="{FF2B5EF4-FFF2-40B4-BE49-F238E27FC236}">
                <a16:creationId xmlns:a16="http://schemas.microsoft.com/office/drawing/2014/main" id="{5E1EBCE7-D7B8-437D-A7D2-8A2ED4F0A22D}"/>
              </a:ext>
            </a:extLst>
          </p:cNvPr>
          <p:cNvSpPr>
            <a:spLocks xmlns:a="http://schemas.openxmlformats.org/drawingml/2006/main" noGrp="1"/>
          </p:cNvSpPr>
          <p:nvPr/>
        </p:nvSpPr>
        <p:spPr>
          <a:xfrm xmlns:a="http://schemas.openxmlformats.org/drawingml/2006/main">
            <a:off x="1005840" y="18013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Domain knows nothing about persistence or HTTP; adapters know everything about their technology and nothing about each other.</a:t>
            </a:r>
            <a:endParaRPr sz="1050"/>
          </a:p>
        </p:txBody>
      </p:sp>
      <p:sp>
        <p:nvSpPr>
          <p:cNvPr id="11" name="Text 8">
            <a:extLst xmlns:a="http://schemas.openxmlformats.org/drawingml/2006/main">
              <a:ext uri="{FF2B5EF4-FFF2-40B4-BE49-F238E27FC236}">
                <a16:creationId xmlns:a16="http://schemas.microsoft.com/office/drawing/2014/main" id="{53E52884-8B57-4A88-99C6-7F22DF4BDCD8}"/>
              </a:ext>
            </a:extLst>
          </p:cNvPr>
          <p:cNvSpPr>
            <a:spLocks xmlns:a="http://schemas.openxmlformats.org/drawingml/2006/main" noGrp="1"/>
          </p:cNvSpPr>
          <p:nvPr/>
        </p:nvSpPr>
        <p:spPr>
          <a:xfrm xmlns:a="http://schemas.openxmlformats.org/drawingml/2006/main">
            <a:off x="502920" y="292608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656897F4-ECBF-4F37-9D2C-441C36547BB4}"/>
              </a:ext>
            </a:extLst>
          </p:cNvPr>
          <p:cNvSpPr>
            <a:spLocks xmlns:a="http://schemas.openxmlformats.org/drawingml/2006/main" noGrp="1"/>
          </p:cNvSpPr>
          <p:nvPr/>
        </p:nvSpPr>
        <p:spPr>
          <a:xfrm xmlns:a="http://schemas.openxmlformats.org/drawingml/2006/main">
            <a:off x="1005840" y="28712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Small, boring modules</a:t>
            </a:r>
            <a:endParaRPr sz="1350"/>
          </a:p>
        </p:txBody>
      </p:sp>
      <p:sp>
        <p:nvSpPr>
          <p:cNvPr id="13" name="Text 10">
            <a:extLst xmlns:a="http://schemas.openxmlformats.org/drawingml/2006/main">
              <a:ext uri="{FF2B5EF4-FFF2-40B4-BE49-F238E27FC236}">
                <a16:creationId xmlns:a16="http://schemas.microsoft.com/office/drawing/2014/main" id="{948C6BAC-1BC5-4DAB-9032-3031378C3C15}"/>
              </a:ext>
            </a:extLst>
          </p:cNvPr>
          <p:cNvSpPr>
            <a:spLocks xmlns:a="http://schemas.openxmlformats.org/drawingml/2006/main" noGrp="1"/>
          </p:cNvSpPr>
          <p:nvPr/>
        </p:nvSpPr>
        <p:spPr>
          <a:xfrm xmlns:a="http://schemas.openxmlformats.org/drawingml/2006/main">
            <a:off x="1005840" y="31729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A file you can read in two minutes is an asset; a 900-line utils.py is a liability. utils.py is where cohesion goes to die — ban the filename.</a:t>
            </a:r>
            <a:endParaRPr sz="1050"/>
          </a:p>
        </p:txBody>
      </p:sp>
      <p:sp>
        <p:nvSpPr>
          <p:cNvPr id="14" name="Text 11">
            <a:extLst xmlns:a="http://schemas.openxmlformats.org/drawingml/2006/main">
              <a:ext uri="{FF2B5EF4-FFF2-40B4-BE49-F238E27FC236}">
                <a16:creationId xmlns:a16="http://schemas.microsoft.com/office/drawing/2014/main" id="{912D3742-4C87-4741-AB62-B9BF0F612F7C}"/>
              </a:ext>
            </a:extLst>
          </p:cNvPr>
          <p:cNvSpPr>
            <a:spLocks xmlns:a="http://schemas.openxmlformats.org/drawingml/2006/main" noGrp="1"/>
          </p:cNvSpPr>
          <p:nvPr/>
        </p:nvSpPr>
        <p:spPr>
          <a:xfrm xmlns:a="http://schemas.openxmlformats.org/drawingml/2006/main">
            <a:off x="502920" y="429768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E6B20066-EFDC-4C9B-877A-40F606E513BA}"/>
              </a:ext>
            </a:extLst>
          </p:cNvPr>
          <p:cNvSpPr>
            <a:spLocks xmlns:a="http://schemas.openxmlformats.org/drawingml/2006/main" noGrp="1"/>
          </p:cNvSpPr>
          <p:nvPr/>
        </p:nvSpPr>
        <p:spPr>
          <a:xfrm xmlns:a="http://schemas.openxmlformats.org/drawingml/2006/main">
            <a:off x="1005840" y="42428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Plan for two consumers</a:t>
            </a:r>
            <a:endParaRPr sz="1350"/>
          </a:p>
        </p:txBody>
      </p:sp>
      <p:sp>
        <p:nvSpPr>
          <p:cNvPr id="16" name="Text 13">
            <a:extLst xmlns:a="http://schemas.openxmlformats.org/drawingml/2006/main">
              <a:ext uri="{FF2B5EF4-FFF2-40B4-BE49-F238E27FC236}">
                <a16:creationId xmlns:a16="http://schemas.microsoft.com/office/drawing/2014/main" id="{65523955-7C84-4FF4-8054-C0F009CBA488}"/>
              </a:ext>
            </a:extLst>
          </p:cNvPr>
          <p:cNvSpPr>
            <a:spLocks xmlns:a="http://schemas.openxmlformats.org/drawingml/2006/main" noGrp="1"/>
          </p:cNvSpPr>
          <p:nvPr/>
        </p:nvSpPr>
        <p:spPr>
          <a:xfrm xmlns:a="http://schemas.openxmlformats.org/drawingml/2006/main">
            <a:off x="1005840" y="45445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The online API and an offline batch scorer. If both can import the same FraudScorer, the architecture is right.</a:t>
            </a:r>
            <a:endParaRPr sz="1050"/>
          </a:p>
        </p:txBody>
      </p:sp>
      <p:sp>
        <p:nvSpPr>
          <p:cNvPr id="17" name="Shape 14">
            <a:extLst xmlns:a="http://schemas.openxmlformats.org/drawingml/2006/main">
              <a:ext uri="{FF2B5EF4-FFF2-40B4-BE49-F238E27FC236}">
                <a16:creationId xmlns:a16="http://schemas.microsoft.com/office/drawing/2014/main" id="{1A2DC965-3612-45A3-9F1B-B8F9FBF55CBA}"/>
              </a:ext>
            </a:extLst>
          </p:cNvPr>
          <p:cNvSpPr>
            <a:spLocks xmlns:a="http://schemas.openxmlformats.org/drawingml/2006/main" noGrp="1"/>
          </p:cNvSpPr>
          <p:nvPr/>
        </p:nvSpPr>
        <p:spPr>
          <a:xfrm xmlns:a="http://schemas.openxmlformats.org/drawingml/2006/main">
            <a:off x="6355080" y="1481328"/>
            <a:ext cx="5330952" cy="4663440"/>
          </a:xfrm>
          <a:prstGeom xmlns:a="http://schemas.openxmlformats.org/drawingml/2006/main" prst="roundRect">
            <a:avLst>
              <a:gd name="adj" fmla="val 1373"/>
            </a:avLst>
          </a:prstGeom>
          <a:solidFill xmlns:a="http://schemas.openxmlformats.org/drawingml/2006/main">
            <a:srgbClr val="EEF3FB"/>
          </a:solidFill>
          <a:ln xmlns:a="http://schemas.openxmlformats.org/drawingml/2006/main" w="9525">
            <a:solidFill>
              <a:srgbClr val="D9E4F5"/>
            </a:solidFill>
            <a:prstDash val="solid"/>
          </a:ln>
        </p:spPr>
      </p:sp>
      <p:sp>
        <p:nvSpPr>
          <p:cNvPr id="18" name="Text 15">
            <a:extLst xmlns:a="http://schemas.openxmlformats.org/drawingml/2006/main">
              <a:ext uri="{FF2B5EF4-FFF2-40B4-BE49-F238E27FC236}">
                <a16:creationId xmlns:a16="http://schemas.microsoft.com/office/drawing/2014/main" id="{5A20C638-A0FA-48FE-8071-E1F017DD3727}"/>
              </a:ext>
            </a:extLst>
          </p:cNvPr>
          <p:cNvSpPr>
            <a:spLocks xmlns:a="http://schemas.openxmlformats.org/drawingml/2006/main" noGrp="1"/>
          </p:cNvSpPr>
          <p:nvPr/>
        </p:nvSpPr>
        <p:spPr>
          <a:xfrm xmlns:a="http://schemas.openxmlformats.org/drawingml/2006/main">
            <a:off x="6556248" y="1645920"/>
            <a:ext cx="492861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D2A5C"/>
                </a:solidFill>
                <a:latin typeface="Calibri"/>
                <a:ea typeface="Calibri"/>
                <a:cs typeface="Calibri"/>
              </a:rPr>
              <a:t>Review checklist cues</a:t>
            </a:r>
            <a:endParaRPr sz="1300"/>
          </a:p>
        </p:txBody>
      </p:sp>
      <p:sp>
        <p:nvSpPr>
          <p:cNvPr id="19" name="Shape 16">
            <a:extLst xmlns:a="http://schemas.openxmlformats.org/drawingml/2006/main">
              <a:ext uri="{FF2B5EF4-FFF2-40B4-BE49-F238E27FC236}">
                <a16:creationId xmlns:a16="http://schemas.microsoft.com/office/drawing/2014/main" id="{128A3534-5132-49FF-8700-11ADF4AA1744}"/>
              </a:ext>
            </a:extLst>
          </p:cNvPr>
          <p:cNvSpPr>
            <a:spLocks xmlns:a="http://schemas.openxmlformats.org/drawingml/2006/main" noGrp="1"/>
          </p:cNvSpPr>
          <p:nvPr/>
        </p:nvSpPr>
        <p:spPr>
          <a:xfrm xmlns:a="http://schemas.openxmlformats.org/drawingml/2006/main" rot="2700000">
            <a:off x="6556248" y="2130552"/>
            <a:ext cx="128016" cy="128016"/>
          </a:xfrm>
          <a:prstGeom xmlns:a="http://schemas.openxmlformats.org/drawingml/2006/main" prst="rect">
            <a:avLst/>
          </a:prstGeom>
          <a:solidFill xmlns:a="http://schemas.openxmlformats.org/drawingml/2006/main">
            <a:srgbClr val="00A79D"/>
          </a:solidFill>
        </p:spPr>
      </p:sp>
      <p:sp>
        <p:nvSpPr>
          <p:cNvPr id="20" name="Text 17">
            <a:extLst xmlns:a="http://schemas.openxmlformats.org/drawingml/2006/main">
              <a:ext uri="{FF2B5EF4-FFF2-40B4-BE49-F238E27FC236}">
                <a16:creationId xmlns:a16="http://schemas.microsoft.com/office/drawing/2014/main" id="{2504E686-7495-4027-97BA-E6D3FC8EBC2C}"/>
              </a:ext>
            </a:extLst>
          </p:cNvPr>
          <p:cNvSpPr>
            <a:spLocks xmlns:a="http://schemas.openxmlformats.org/drawingml/2006/main" noGrp="1"/>
          </p:cNvSpPr>
          <p:nvPr/>
        </p:nvSpPr>
        <p:spPr>
          <a:xfrm xmlns:a="http://schemas.openxmlformats.org/drawingml/2006/main">
            <a:off x="6812280" y="2039112"/>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Zero layer violations</a:t>
            </a:r>
            <a:endParaRPr sz="1100"/>
          </a:p>
        </p:txBody>
      </p:sp>
      <p:sp>
        <p:nvSpPr>
          <p:cNvPr id="21" name="Text 18">
            <a:extLst xmlns:a="http://schemas.openxmlformats.org/drawingml/2006/main">
              <a:ext uri="{FF2B5EF4-FFF2-40B4-BE49-F238E27FC236}">
                <a16:creationId xmlns:a16="http://schemas.microsoft.com/office/drawing/2014/main" id="{D61DA1E8-3DC5-4CD9-BD27-D981A46958CB}"/>
              </a:ext>
            </a:extLst>
          </p:cNvPr>
          <p:cNvSpPr>
            <a:spLocks xmlns:a="http://schemas.openxmlformats.org/drawingml/2006/main" noGrp="1"/>
          </p:cNvSpPr>
          <p:nvPr/>
        </p:nvSpPr>
        <p:spPr>
          <a:xfrm xmlns:a="http://schemas.openxmlformats.org/drawingml/2006/main">
            <a:off x="6812280" y="2304288"/>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import-linter contract, enforced in CI (M5)</a:t>
            </a:r>
            <a:endParaRPr sz="950"/>
          </a:p>
        </p:txBody>
      </p:sp>
      <p:sp>
        <p:nvSpPr>
          <p:cNvPr id="22" name="Shape 19">
            <a:extLst xmlns:a="http://schemas.openxmlformats.org/drawingml/2006/main">
              <a:ext uri="{FF2B5EF4-FFF2-40B4-BE49-F238E27FC236}">
                <a16:creationId xmlns:a16="http://schemas.microsoft.com/office/drawing/2014/main" id="{C8599E68-98F4-4A2E-B543-E7D4AA964939}"/>
              </a:ext>
            </a:extLst>
          </p:cNvPr>
          <p:cNvSpPr>
            <a:spLocks xmlns:a="http://schemas.openxmlformats.org/drawingml/2006/main" noGrp="1"/>
          </p:cNvSpPr>
          <p:nvPr/>
        </p:nvSpPr>
        <p:spPr>
          <a:xfrm xmlns:a="http://schemas.openxmlformats.org/drawingml/2006/main" rot="2700000">
            <a:off x="6556248" y="3113532"/>
            <a:ext cx="128016" cy="128016"/>
          </a:xfrm>
          <a:prstGeom xmlns:a="http://schemas.openxmlformats.org/drawingml/2006/main" prst="rect">
            <a:avLst/>
          </a:prstGeom>
          <a:solidFill xmlns:a="http://schemas.openxmlformats.org/drawingml/2006/main">
            <a:srgbClr val="29ABE2"/>
          </a:solidFill>
        </p:spPr>
      </p:sp>
      <p:sp>
        <p:nvSpPr>
          <p:cNvPr id="23" name="Text 20">
            <a:extLst xmlns:a="http://schemas.openxmlformats.org/drawingml/2006/main">
              <a:ext uri="{FF2B5EF4-FFF2-40B4-BE49-F238E27FC236}">
                <a16:creationId xmlns:a16="http://schemas.microsoft.com/office/drawing/2014/main" id="{9FA3F5FB-6B85-4D6D-83F6-6C062521260E}"/>
              </a:ext>
            </a:extLst>
          </p:cNvPr>
          <p:cNvSpPr>
            <a:spLocks xmlns:a="http://schemas.openxmlformats.org/drawingml/2006/main" noGrp="1"/>
          </p:cNvSpPr>
          <p:nvPr/>
        </p:nvSpPr>
        <p:spPr>
          <a:xfrm xmlns:a="http://schemas.openxmlformats.org/drawingml/2006/main">
            <a:off x="6812280" y="3022092"/>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Longest module ≤ 200 lines</a:t>
            </a:r>
            <a:endParaRPr sz="1100"/>
          </a:p>
        </p:txBody>
      </p:sp>
      <p:sp>
        <p:nvSpPr>
          <p:cNvPr id="24" name="Text 21">
            <a:extLst xmlns:a="http://schemas.openxmlformats.org/drawingml/2006/main">
              <a:ext uri="{FF2B5EF4-FFF2-40B4-BE49-F238E27FC236}">
                <a16:creationId xmlns:a16="http://schemas.microsoft.com/office/drawing/2014/main" id="{3AEABEBF-8164-42B5-9841-C9A2E0EA5573}"/>
              </a:ext>
            </a:extLst>
          </p:cNvPr>
          <p:cNvSpPr>
            <a:spLocks xmlns:a="http://schemas.openxmlformats.org/drawingml/2006/main" noGrp="1"/>
          </p:cNvSpPr>
          <p:nvPr/>
        </p:nvSpPr>
        <p:spPr>
          <a:xfrm xmlns:a="http://schemas.openxmlformats.org/drawingml/2006/main">
            <a:off x="6812280" y="3287268"/>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max cyclomatic complexity ≤ 10 per function</a:t>
            </a:r>
            <a:endParaRPr sz="950"/>
          </a:p>
        </p:txBody>
      </p:sp>
      <p:sp>
        <p:nvSpPr>
          <p:cNvPr id="25" name="Shape 22">
            <a:extLst xmlns:a="http://schemas.openxmlformats.org/drawingml/2006/main">
              <a:ext uri="{FF2B5EF4-FFF2-40B4-BE49-F238E27FC236}">
                <a16:creationId xmlns:a16="http://schemas.microsoft.com/office/drawing/2014/main" id="{207240B0-F8F2-43AE-A04F-A49C0B3D5686}"/>
              </a:ext>
            </a:extLst>
          </p:cNvPr>
          <p:cNvSpPr>
            <a:spLocks xmlns:a="http://schemas.openxmlformats.org/drawingml/2006/main" noGrp="1"/>
          </p:cNvSpPr>
          <p:nvPr/>
        </p:nvSpPr>
        <p:spPr>
          <a:xfrm xmlns:a="http://schemas.openxmlformats.org/drawingml/2006/main" rot="2700000">
            <a:off x="6556248" y="4096512"/>
            <a:ext cx="128016" cy="128016"/>
          </a:xfrm>
          <a:prstGeom xmlns:a="http://schemas.openxmlformats.org/drawingml/2006/main" prst="rect">
            <a:avLst/>
          </a:prstGeom>
          <a:solidFill xmlns:a="http://schemas.openxmlformats.org/drawingml/2006/main">
            <a:srgbClr val="F58220"/>
          </a:solidFill>
        </p:spPr>
      </p:sp>
      <p:sp>
        <p:nvSpPr>
          <p:cNvPr id="26" name="Text 23">
            <a:extLst xmlns:a="http://schemas.openxmlformats.org/drawingml/2006/main">
              <a:ext uri="{FF2B5EF4-FFF2-40B4-BE49-F238E27FC236}">
                <a16:creationId xmlns:a16="http://schemas.microsoft.com/office/drawing/2014/main" id="{DEE30B8C-EF66-49BA-9DEC-60AB026F0216}"/>
              </a:ext>
            </a:extLst>
          </p:cNvPr>
          <p:cNvSpPr>
            <a:spLocks xmlns:a="http://schemas.openxmlformats.org/drawingml/2006/main" noGrp="1"/>
          </p:cNvSpPr>
          <p:nvPr/>
        </p:nvSpPr>
        <p:spPr>
          <a:xfrm xmlns:a="http://schemas.openxmlformats.org/drawingml/2006/main">
            <a:off x="6812280" y="4005072"/>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Import time &lt; 300 ms</a:t>
            </a:r>
            <a:endParaRPr sz="1100"/>
          </a:p>
        </p:txBody>
      </p:sp>
      <p:sp>
        <p:nvSpPr>
          <p:cNvPr id="27" name="Text 24">
            <a:extLst xmlns:a="http://schemas.openxmlformats.org/drawingml/2006/main">
              <a:ext uri="{FF2B5EF4-FFF2-40B4-BE49-F238E27FC236}">
                <a16:creationId xmlns:a16="http://schemas.microsoft.com/office/drawing/2014/main" id="{CC62C504-EDF4-4051-81F7-9653D679B501}"/>
              </a:ext>
            </a:extLst>
          </p:cNvPr>
          <p:cNvSpPr>
            <a:spLocks xmlns:a="http://schemas.openxmlformats.org/drawingml/2006/main" noGrp="1"/>
          </p:cNvSpPr>
          <p:nvPr/>
        </p:nvSpPr>
        <p:spPr>
          <a:xfrm xmlns:a="http://schemas.openxmlformats.org/drawingml/2006/main">
            <a:off x="6812280" y="4270248"/>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python -X importtime — no model load at import</a:t>
            </a:r>
            <a:endParaRPr sz="950"/>
          </a:p>
        </p:txBody>
      </p:sp>
      <p:sp>
        <p:nvSpPr>
          <p:cNvPr id="28" name="Shape 25">
            <a:extLst xmlns:a="http://schemas.openxmlformats.org/drawingml/2006/main">
              <a:ext uri="{FF2B5EF4-FFF2-40B4-BE49-F238E27FC236}">
                <a16:creationId xmlns:a16="http://schemas.microsoft.com/office/drawing/2014/main" id="{01464E7B-1173-40A0-9AEF-AB14EABCB5B9}"/>
              </a:ext>
            </a:extLst>
          </p:cNvPr>
          <p:cNvSpPr>
            <a:spLocks xmlns:a="http://schemas.openxmlformats.org/drawingml/2006/main" noGrp="1"/>
          </p:cNvSpPr>
          <p:nvPr/>
        </p:nvSpPr>
        <p:spPr>
          <a:xfrm xmlns:a="http://schemas.openxmlformats.org/drawingml/2006/main" rot="2700000">
            <a:off x="6556248" y="5079492"/>
            <a:ext cx="128016" cy="128016"/>
          </a:xfrm>
          <a:prstGeom xmlns:a="http://schemas.openxmlformats.org/drawingml/2006/main" prst="rect">
            <a:avLst/>
          </a:prstGeom>
          <a:solidFill xmlns:a="http://schemas.openxmlformats.org/drawingml/2006/main">
            <a:srgbClr val="8DC63F"/>
          </a:solidFill>
        </p:spPr>
      </p:sp>
      <p:sp>
        <p:nvSpPr>
          <p:cNvPr id="29" name="Text 26">
            <a:extLst xmlns:a="http://schemas.openxmlformats.org/drawingml/2006/main">
              <a:ext uri="{FF2B5EF4-FFF2-40B4-BE49-F238E27FC236}">
                <a16:creationId xmlns:a16="http://schemas.microsoft.com/office/drawing/2014/main" id="{B164977D-FDF5-4CB5-9995-417DD3F91B38}"/>
              </a:ext>
            </a:extLst>
          </p:cNvPr>
          <p:cNvSpPr>
            <a:spLocks xmlns:a="http://schemas.openxmlformats.org/drawingml/2006/main" noGrp="1"/>
          </p:cNvSpPr>
          <p:nvPr/>
        </p:nvSpPr>
        <p:spPr>
          <a:xfrm xmlns:a="http://schemas.openxmlformats.org/drawingml/2006/main">
            <a:off x="6812280" y="4988052"/>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Feature logic findable &lt; 2 min</a:t>
            </a:r>
            <a:endParaRPr sz="1100"/>
          </a:p>
        </p:txBody>
      </p:sp>
      <p:sp>
        <p:nvSpPr>
          <p:cNvPr id="30" name="Text 27">
            <a:extLst xmlns:a="http://schemas.openxmlformats.org/drawingml/2006/main">
              <a:ext uri="{FF2B5EF4-FFF2-40B4-BE49-F238E27FC236}">
                <a16:creationId xmlns:a16="http://schemas.microsoft.com/office/drawing/2014/main" id="{5F509C83-088C-4005-909A-F3E7EAA86D30}"/>
              </a:ext>
            </a:extLst>
          </p:cNvPr>
          <p:cNvSpPr>
            <a:spLocks xmlns:a="http://schemas.openxmlformats.org/drawingml/2006/main" noGrp="1"/>
          </p:cNvSpPr>
          <p:nvPr/>
        </p:nvSpPr>
        <p:spPr>
          <a:xfrm xmlns:a="http://schemas.openxmlformats.org/drawingml/2006/main">
            <a:off x="6812280" y="5253228"/>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newcomer navigation test, done in pairs</a:t>
            </a:r>
            <a:endParaRPr sz="950"/>
          </a:p>
        </p:txBody>
      </p:sp>
    </p:spTree>
    <p:extLst>
      <p:ext uri="{BB962C8B-B14F-4D97-AF65-F5344CB8AC3E}">
        <p14:creationId xmlns:p14="http://schemas.microsoft.com/office/powerpoint/2010/main" val="161496979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B8141FA-B960-459C-898A-5211F570363D}"/>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The Refactor Payoff — Measured</a:t>
            </a:r>
            <a:endParaRPr sz="2600"/>
          </a:p>
        </p:txBody>
      </p:sp>
      <p:sp>
        <p:nvSpPr>
          <p:cNvPr id="3" name="Text 1">
            <a:extLst xmlns:a="http://schemas.openxmlformats.org/drawingml/2006/main">
              <a:ext uri="{FF2B5EF4-FFF2-40B4-BE49-F238E27FC236}">
                <a16:creationId xmlns:a16="http://schemas.microsoft.com/office/drawing/2014/main" id="{9A3396B3-7197-4480-B53E-22D1341C7DE5}"/>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مكاسب إعادة الهيكلة بالأرقام</a:t>
            </a:r>
            <a:endParaRPr sz="1300"/>
          </a:p>
        </p:txBody>
      </p:sp>
      <p:pic>
        <p:nvPicPr>
          <p:cNvPr id="32" name="Image 0"/>
          <p:cNvPicPr>
            <a:picLocks xmlns:a="http://schemas.openxmlformats.org/drawingml/2006/main" noChangeAspect="1"/>
          </p:cNvPicPr>
          <p:nvPr/>
        </p:nvPicPr>
        <p:blipFill>
          <a:blip xmlns:r="http://schemas.openxmlformats.org/officeDocument/2006/relationships" xmlns:a="http://schemas.openxmlformats.org/drawingml/2006/main" r:embed="Raaab1d794a974c08"/>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0FB3B690-EE78-467A-BD08-361659BFBF91}"/>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06906091-8598-438A-B93A-FEB61D8664AD}"/>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1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E9FDF7E4-B34A-4078-BE9D-F264C145C9F7}"/>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28</a:t>
            </a:r>
            <a:endParaRPr sz="850"/>
          </a:p>
        </p:txBody>
      </p:sp>
      <p:sp>
        <p:nvSpPr>
          <p:cNvPr id="8" name="Shape 5">
            <a:extLst xmlns:a="http://schemas.openxmlformats.org/drawingml/2006/main">
              <a:ext uri="{FF2B5EF4-FFF2-40B4-BE49-F238E27FC236}">
                <a16:creationId xmlns:a16="http://schemas.microsoft.com/office/drawing/2014/main" id="{E9E8F4FE-85AE-445C-BEC1-C5820E36E99D}"/>
              </a:ext>
            </a:extLst>
          </p:cNvPr>
          <p:cNvSpPr>
            <a:spLocks xmlns:a="http://schemas.openxmlformats.org/drawingml/2006/main" noGrp="1"/>
          </p:cNvSpPr>
          <p:nvPr/>
        </p:nvSpPr>
        <p:spPr>
          <a:xfrm xmlns:a="http://schemas.openxmlformats.org/drawingml/2006/main">
            <a:off x="502920" y="2011680"/>
            <a:ext cx="2555748" cy="3108960"/>
          </a:xfrm>
          <a:prstGeom xmlns:a="http://schemas.openxmlformats.org/drawingml/2006/main" prst="roundRect">
            <a:avLst>
              <a:gd name="adj" fmla="val 2862"/>
            </a:avLst>
          </a:prstGeom>
          <a:solidFill xmlns:a="http://schemas.openxmlformats.org/drawingml/2006/main">
            <a:srgbClr val="EEF3FB"/>
          </a:solidFill>
        </p:spPr>
      </p:sp>
      <p:sp>
        <p:nvSpPr>
          <p:cNvPr id="9" name="Shape 6">
            <a:extLst xmlns:a="http://schemas.openxmlformats.org/drawingml/2006/main">
              <a:ext uri="{FF2B5EF4-FFF2-40B4-BE49-F238E27FC236}">
                <a16:creationId xmlns:a16="http://schemas.microsoft.com/office/drawing/2014/main" id="{35A77D00-7C35-4F9A-B1EF-79EFC54DCCDC}"/>
              </a:ext>
            </a:extLst>
          </p:cNvPr>
          <p:cNvSpPr>
            <a:spLocks xmlns:a="http://schemas.openxmlformats.org/drawingml/2006/main" noGrp="1"/>
          </p:cNvSpPr>
          <p:nvPr/>
        </p:nvSpPr>
        <p:spPr>
          <a:xfrm xmlns:a="http://schemas.openxmlformats.org/drawingml/2006/main">
            <a:off x="731520" y="2331720"/>
            <a:ext cx="502920" cy="54864"/>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A2344325-42A9-4FD7-8ECF-F13909648869}"/>
              </a:ext>
            </a:extLst>
          </p:cNvPr>
          <p:cNvSpPr>
            <a:spLocks xmlns:a="http://schemas.openxmlformats.org/drawingml/2006/main" noGrp="1"/>
          </p:cNvSpPr>
          <p:nvPr/>
        </p:nvSpPr>
        <p:spPr>
          <a:xfrm xmlns:a="http://schemas.openxmlformats.org/drawingml/2006/main">
            <a:off x="685800" y="2514600"/>
            <a:ext cx="2189988"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800" b="1">
                <a:solidFill>
                  <a:srgbClr val="00A79D"/>
                </a:solidFill>
                <a:latin typeface="Calibri"/>
                <a:ea typeface="Calibri"/>
                <a:cs typeface="Calibri"/>
              </a:rPr>
              <a:t>0.18s</a:t>
            </a:r>
            <a:endParaRPr sz="3800"/>
          </a:p>
        </p:txBody>
      </p:sp>
      <p:sp>
        <p:nvSpPr>
          <p:cNvPr id="11" name="Text 8">
            <a:extLst xmlns:a="http://schemas.openxmlformats.org/drawingml/2006/main">
              <a:ext uri="{FF2B5EF4-FFF2-40B4-BE49-F238E27FC236}">
                <a16:creationId xmlns:a16="http://schemas.microsoft.com/office/drawing/2014/main" id="{7A6DC53A-A99C-42D8-9B57-90219899A773}"/>
              </a:ext>
            </a:extLst>
          </p:cNvPr>
          <p:cNvSpPr>
            <a:spLocks xmlns:a="http://schemas.openxmlformats.org/drawingml/2006/main" noGrp="1"/>
          </p:cNvSpPr>
          <p:nvPr/>
        </p:nvSpPr>
        <p:spPr>
          <a:xfrm xmlns:a="http://schemas.openxmlformats.org/drawingml/2006/main">
            <a:off x="731520" y="3429000"/>
            <a:ext cx="209854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import time</a:t>
            </a:r>
            <a:endParaRPr sz="1250"/>
          </a:p>
        </p:txBody>
      </p:sp>
      <p:sp>
        <p:nvSpPr>
          <p:cNvPr id="12" name="Text 9">
            <a:extLst xmlns:a="http://schemas.openxmlformats.org/drawingml/2006/main">
              <a:ext uri="{FF2B5EF4-FFF2-40B4-BE49-F238E27FC236}">
                <a16:creationId xmlns:a16="http://schemas.microsoft.com/office/drawing/2014/main" id="{6A321882-1557-486D-A82A-305E4FB338F5}"/>
              </a:ext>
            </a:extLst>
          </p:cNvPr>
          <p:cNvSpPr>
            <a:spLocks xmlns:a="http://schemas.openxmlformats.org/drawingml/2006/main" noGrp="1"/>
          </p:cNvSpPr>
          <p:nvPr/>
        </p:nvSpPr>
        <p:spPr>
          <a:xfrm xmlns:a="http://schemas.openxmlformats.org/drawingml/2006/main">
            <a:off x="731520" y="3977640"/>
            <a:ext cx="2098548" cy="960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down from 2.9 s — no model load at import (python -X importtime)</a:t>
            </a:r>
            <a:endParaRPr sz="980"/>
          </a:p>
        </p:txBody>
      </p:sp>
      <p:sp>
        <p:nvSpPr>
          <p:cNvPr id="13" name="Shape 10">
            <a:extLst xmlns:a="http://schemas.openxmlformats.org/drawingml/2006/main">
              <a:ext uri="{FF2B5EF4-FFF2-40B4-BE49-F238E27FC236}">
                <a16:creationId xmlns:a16="http://schemas.microsoft.com/office/drawing/2014/main" id="{182B0FBE-7864-41E2-855D-42FB1E545F66}"/>
              </a:ext>
            </a:extLst>
          </p:cNvPr>
          <p:cNvSpPr>
            <a:spLocks xmlns:a="http://schemas.openxmlformats.org/drawingml/2006/main" noGrp="1"/>
          </p:cNvSpPr>
          <p:nvPr/>
        </p:nvSpPr>
        <p:spPr>
          <a:xfrm xmlns:a="http://schemas.openxmlformats.org/drawingml/2006/main">
            <a:off x="3378708" y="2011680"/>
            <a:ext cx="2555748" cy="3108960"/>
          </a:xfrm>
          <a:prstGeom xmlns:a="http://schemas.openxmlformats.org/drawingml/2006/main" prst="roundRect">
            <a:avLst>
              <a:gd name="adj" fmla="val 2862"/>
            </a:avLst>
          </a:prstGeom>
          <a:solidFill xmlns:a="http://schemas.openxmlformats.org/drawingml/2006/main">
            <a:srgbClr val="EEF3FB"/>
          </a:solidFill>
        </p:spPr>
      </p:sp>
      <p:sp>
        <p:nvSpPr>
          <p:cNvPr id="14" name="Shape 11">
            <a:extLst xmlns:a="http://schemas.openxmlformats.org/drawingml/2006/main">
              <a:ext uri="{FF2B5EF4-FFF2-40B4-BE49-F238E27FC236}">
                <a16:creationId xmlns:a16="http://schemas.microsoft.com/office/drawing/2014/main" id="{63729E05-622B-412F-B9BE-DC7155C5DE97}"/>
              </a:ext>
            </a:extLst>
          </p:cNvPr>
          <p:cNvSpPr>
            <a:spLocks xmlns:a="http://schemas.openxmlformats.org/drawingml/2006/main" noGrp="1"/>
          </p:cNvSpPr>
          <p:nvPr/>
        </p:nvSpPr>
        <p:spPr>
          <a:xfrm xmlns:a="http://schemas.openxmlformats.org/drawingml/2006/main">
            <a:off x="3607308" y="2331720"/>
            <a:ext cx="502920" cy="54864"/>
          </a:xfrm>
          <a:prstGeom xmlns:a="http://schemas.openxmlformats.org/drawingml/2006/main" prst="rect">
            <a:avLst/>
          </a:prstGeom>
          <a:solidFill xmlns:a="http://schemas.openxmlformats.org/drawingml/2006/main">
            <a:srgbClr val="29ABE2"/>
          </a:solidFill>
        </p:spPr>
      </p:sp>
      <p:sp>
        <p:nvSpPr>
          <p:cNvPr id="15" name="Text 12">
            <a:extLst xmlns:a="http://schemas.openxmlformats.org/drawingml/2006/main">
              <a:ext uri="{FF2B5EF4-FFF2-40B4-BE49-F238E27FC236}">
                <a16:creationId xmlns:a16="http://schemas.microsoft.com/office/drawing/2014/main" id="{9AB4766A-9B92-4735-8A79-E16918C49B47}"/>
              </a:ext>
            </a:extLst>
          </p:cNvPr>
          <p:cNvSpPr>
            <a:spLocks xmlns:a="http://schemas.openxmlformats.org/drawingml/2006/main" noGrp="1"/>
          </p:cNvSpPr>
          <p:nvPr/>
        </p:nvSpPr>
        <p:spPr>
          <a:xfrm xmlns:a="http://schemas.openxmlformats.org/drawingml/2006/main">
            <a:off x="3561588" y="2514600"/>
            <a:ext cx="2189988"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800" b="1">
                <a:solidFill>
                  <a:srgbClr val="29ABE2"/>
                </a:solidFill>
                <a:latin typeface="Calibri"/>
                <a:ea typeface="Calibri"/>
                <a:cs typeface="Calibri"/>
              </a:rPr>
              <a:t>2.3s</a:t>
            </a:r>
            <a:endParaRPr sz="3800"/>
          </a:p>
        </p:txBody>
      </p:sp>
      <p:sp>
        <p:nvSpPr>
          <p:cNvPr id="16" name="Text 13">
            <a:extLst xmlns:a="http://schemas.openxmlformats.org/drawingml/2006/main">
              <a:ext uri="{FF2B5EF4-FFF2-40B4-BE49-F238E27FC236}">
                <a16:creationId xmlns:a16="http://schemas.microsoft.com/office/drawing/2014/main" id="{70EB05EF-4206-481A-9D02-A1B4E3DC4229}"/>
              </a:ext>
            </a:extLst>
          </p:cNvPr>
          <p:cNvSpPr>
            <a:spLocks xmlns:a="http://schemas.openxmlformats.org/drawingml/2006/main" noGrp="1"/>
          </p:cNvSpPr>
          <p:nvPr/>
        </p:nvSpPr>
        <p:spPr>
          <a:xfrm xmlns:a="http://schemas.openxmlformats.org/drawingml/2006/main">
            <a:off x="3607308" y="3429000"/>
            <a:ext cx="209854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batch: 5,000 txns</a:t>
            </a:r>
            <a:endParaRPr sz="1250"/>
          </a:p>
        </p:txBody>
      </p:sp>
      <p:sp>
        <p:nvSpPr>
          <p:cNvPr id="17" name="Text 14">
            <a:extLst xmlns:a="http://schemas.openxmlformats.org/drawingml/2006/main">
              <a:ext uri="{FF2B5EF4-FFF2-40B4-BE49-F238E27FC236}">
                <a16:creationId xmlns:a16="http://schemas.microsoft.com/office/drawing/2014/main" id="{685441C5-5EDF-4EB9-8D67-E0FBD1C57BE7}"/>
              </a:ext>
            </a:extLst>
          </p:cNvPr>
          <p:cNvSpPr>
            <a:spLocks xmlns:a="http://schemas.openxmlformats.org/drawingml/2006/main" noGrp="1"/>
          </p:cNvSpPr>
          <p:nvPr/>
        </p:nvSpPr>
        <p:spPr>
          <a:xfrm xmlns:a="http://schemas.openxmlformats.org/drawingml/2006/main">
            <a:off x="3607308" y="3977640"/>
            <a:ext cx="2098548" cy="960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down from 6.1 s for the raw notebook export</a:t>
            </a:r>
            <a:endParaRPr sz="980"/>
          </a:p>
        </p:txBody>
      </p:sp>
      <p:sp>
        <p:nvSpPr>
          <p:cNvPr id="18" name="Shape 15">
            <a:extLst xmlns:a="http://schemas.openxmlformats.org/drawingml/2006/main">
              <a:ext uri="{FF2B5EF4-FFF2-40B4-BE49-F238E27FC236}">
                <a16:creationId xmlns:a16="http://schemas.microsoft.com/office/drawing/2014/main" id="{2F691393-366B-40B0-B396-C7907E0F2A44}"/>
              </a:ext>
            </a:extLst>
          </p:cNvPr>
          <p:cNvSpPr>
            <a:spLocks xmlns:a="http://schemas.openxmlformats.org/drawingml/2006/main" noGrp="1"/>
          </p:cNvSpPr>
          <p:nvPr/>
        </p:nvSpPr>
        <p:spPr>
          <a:xfrm xmlns:a="http://schemas.openxmlformats.org/drawingml/2006/main">
            <a:off x="6254496" y="2011680"/>
            <a:ext cx="2555748" cy="3108960"/>
          </a:xfrm>
          <a:prstGeom xmlns:a="http://schemas.openxmlformats.org/drawingml/2006/main" prst="roundRect">
            <a:avLst>
              <a:gd name="adj" fmla="val 2862"/>
            </a:avLst>
          </a:prstGeom>
          <a:solidFill xmlns:a="http://schemas.openxmlformats.org/drawingml/2006/main">
            <a:srgbClr val="EEF3FB"/>
          </a:solidFill>
        </p:spPr>
      </p:sp>
      <p:sp>
        <p:nvSpPr>
          <p:cNvPr id="19" name="Shape 16">
            <a:extLst xmlns:a="http://schemas.openxmlformats.org/drawingml/2006/main">
              <a:ext uri="{FF2B5EF4-FFF2-40B4-BE49-F238E27FC236}">
                <a16:creationId xmlns:a16="http://schemas.microsoft.com/office/drawing/2014/main" id="{E85C791A-3856-41EF-A8A2-4E5C868CA939}"/>
              </a:ext>
            </a:extLst>
          </p:cNvPr>
          <p:cNvSpPr>
            <a:spLocks xmlns:a="http://schemas.openxmlformats.org/drawingml/2006/main" noGrp="1"/>
          </p:cNvSpPr>
          <p:nvPr/>
        </p:nvSpPr>
        <p:spPr>
          <a:xfrm xmlns:a="http://schemas.openxmlformats.org/drawingml/2006/main">
            <a:off x="6483096" y="2331720"/>
            <a:ext cx="502920" cy="54864"/>
          </a:xfrm>
          <a:prstGeom xmlns:a="http://schemas.openxmlformats.org/drawingml/2006/main" prst="rect">
            <a:avLst/>
          </a:prstGeom>
          <a:solidFill xmlns:a="http://schemas.openxmlformats.org/drawingml/2006/main">
            <a:srgbClr val="F58220"/>
          </a:solidFill>
        </p:spPr>
      </p:sp>
      <p:sp>
        <p:nvSpPr>
          <p:cNvPr id="20" name="Text 17">
            <a:extLst xmlns:a="http://schemas.openxmlformats.org/drawingml/2006/main">
              <a:ext uri="{FF2B5EF4-FFF2-40B4-BE49-F238E27FC236}">
                <a16:creationId xmlns:a16="http://schemas.microsoft.com/office/drawing/2014/main" id="{D8427B88-47B0-4F40-80B3-35E32452232D}"/>
              </a:ext>
            </a:extLst>
          </p:cNvPr>
          <p:cNvSpPr>
            <a:spLocks xmlns:a="http://schemas.openxmlformats.org/drawingml/2006/main" noGrp="1"/>
          </p:cNvSpPr>
          <p:nvPr/>
        </p:nvSpPr>
        <p:spPr>
          <a:xfrm xmlns:a="http://schemas.openxmlformats.org/drawingml/2006/main">
            <a:off x="6437376" y="2514600"/>
            <a:ext cx="2189988"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800" b="1">
                <a:solidFill>
                  <a:srgbClr val="F58220"/>
                </a:solidFill>
                <a:latin typeface="Calibri"/>
                <a:ea typeface="Calibri"/>
                <a:cs typeface="Calibri"/>
              </a:rPr>
              <a:t>7</a:t>
            </a:r>
            <a:endParaRPr sz="3800"/>
          </a:p>
        </p:txBody>
      </p:sp>
      <p:sp>
        <p:nvSpPr>
          <p:cNvPr id="21" name="Text 18">
            <a:extLst xmlns:a="http://schemas.openxmlformats.org/drawingml/2006/main">
              <a:ext uri="{FF2B5EF4-FFF2-40B4-BE49-F238E27FC236}">
                <a16:creationId xmlns:a16="http://schemas.microsoft.com/office/drawing/2014/main" id="{A0FDD81E-0150-423F-9ECC-60A78D785FD4}"/>
              </a:ext>
            </a:extLst>
          </p:cNvPr>
          <p:cNvSpPr>
            <a:spLocks xmlns:a="http://schemas.openxmlformats.org/drawingml/2006/main" noGrp="1"/>
          </p:cNvSpPr>
          <p:nvPr/>
        </p:nvSpPr>
        <p:spPr>
          <a:xfrm xmlns:a="http://schemas.openxmlformats.org/drawingml/2006/main">
            <a:off x="6483096" y="3429000"/>
            <a:ext cx="209854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max complexity</a:t>
            </a:r>
            <a:endParaRPr sz="1250"/>
          </a:p>
        </p:txBody>
      </p:sp>
      <p:sp>
        <p:nvSpPr>
          <p:cNvPr id="22" name="Text 19">
            <a:extLst xmlns:a="http://schemas.openxmlformats.org/drawingml/2006/main">
              <a:ext uri="{FF2B5EF4-FFF2-40B4-BE49-F238E27FC236}">
                <a16:creationId xmlns:a16="http://schemas.microsoft.com/office/drawing/2014/main" id="{598B03C0-0309-4FA8-8D32-AF51A4FECBF1}"/>
              </a:ext>
            </a:extLst>
          </p:cNvPr>
          <p:cNvSpPr>
            <a:spLocks xmlns:a="http://schemas.openxmlformats.org/drawingml/2006/main" noGrp="1"/>
          </p:cNvSpPr>
          <p:nvPr/>
        </p:nvSpPr>
        <p:spPr>
          <a:xfrm xmlns:a="http://schemas.openxmlformats.org/drawingml/2006/main">
            <a:off x="6483096" y="3977640"/>
            <a:ext cx="2098548" cy="960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down from 24 — measured with ruff / radon cc, target ≤ 10</a:t>
            </a:r>
            <a:endParaRPr sz="980"/>
          </a:p>
        </p:txBody>
      </p:sp>
      <p:sp>
        <p:nvSpPr>
          <p:cNvPr id="23" name="Shape 20">
            <a:extLst xmlns:a="http://schemas.openxmlformats.org/drawingml/2006/main">
              <a:ext uri="{FF2B5EF4-FFF2-40B4-BE49-F238E27FC236}">
                <a16:creationId xmlns:a16="http://schemas.microsoft.com/office/drawing/2014/main" id="{17A847BB-137A-434B-AFD7-C17BC195E890}"/>
              </a:ext>
            </a:extLst>
          </p:cNvPr>
          <p:cNvSpPr>
            <a:spLocks xmlns:a="http://schemas.openxmlformats.org/drawingml/2006/main" noGrp="1"/>
          </p:cNvSpPr>
          <p:nvPr/>
        </p:nvSpPr>
        <p:spPr>
          <a:xfrm xmlns:a="http://schemas.openxmlformats.org/drawingml/2006/main">
            <a:off x="9130284" y="2011680"/>
            <a:ext cx="2555748" cy="3108960"/>
          </a:xfrm>
          <a:prstGeom xmlns:a="http://schemas.openxmlformats.org/drawingml/2006/main" prst="roundRect">
            <a:avLst>
              <a:gd name="adj" fmla="val 2862"/>
            </a:avLst>
          </a:prstGeom>
          <a:solidFill xmlns:a="http://schemas.openxmlformats.org/drawingml/2006/main">
            <a:srgbClr val="EEF3FB"/>
          </a:solidFill>
        </p:spPr>
      </p:sp>
      <p:sp>
        <p:nvSpPr>
          <p:cNvPr id="24" name="Shape 21">
            <a:extLst xmlns:a="http://schemas.openxmlformats.org/drawingml/2006/main">
              <a:ext uri="{FF2B5EF4-FFF2-40B4-BE49-F238E27FC236}">
                <a16:creationId xmlns:a16="http://schemas.microsoft.com/office/drawing/2014/main" id="{C483265E-DE8E-41AF-8403-E3430991FE1A}"/>
              </a:ext>
            </a:extLst>
          </p:cNvPr>
          <p:cNvSpPr>
            <a:spLocks xmlns:a="http://schemas.openxmlformats.org/drawingml/2006/main" noGrp="1"/>
          </p:cNvSpPr>
          <p:nvPr/>
        </p:nvSpPr>
        <p:spPr>
          <a:xfrm xmlns:a="http://schemas.openxmlformats.org/drawingml/2006/main">
            <a:off x="9358884" y="2331720"/>
            <a:ext cx="502920" cy="54864"/>
          </a:xfrm>
          <a:prstGeom xmlns:a="http://schemas.openxmlformats.org/drawingml/2006/main" prst="rect">
            <a:avLst/>
          </a:prstGeom>
          <a:solidFill xmlns:a="http://schemas.openxmlformats.org/drawingml/2006/main">
            <a:srgbClr val="8DC63F"/>
          </a:solidFill>
        </p:spPr>
      </p:sp>
      <p:sp>
        <p:nvSpPr>
          <p:cNvPr id="25" name="Text 22">
            <a:extLst xmlns:a="http://schemas.openxmlformats.org/drawingml/2006/main">
              <a:ext uri="{FF2B5EF4-FFF2-40B4-BE49-F238E27FC236}">
                <a16:creationId xmlns:a16="http://schemas.microsoft.com/office/drawing/2014/main" id="{F53D3BDF-DEFD-4FB1-A599-B58DB14A1962}"/>
              </a:ext>
            </a:extLst>
          </p:cNvPr>
          <p:cNvSpPr>
            <a:spLocks xmlns:a="http://schemas.openxmlformats.org/drawingml/2006/main" noGrp="1"/>
          </p:cNvSpPr>
          <p:nvPr/>
        </p:nvSpPr>
        <p:spPr>
          <a:xfrm xmlns:a="http://schemas.openxmlformats.org/drawingml/2006/main">
            <a:off x="9313164" y="2514600"/>
            <a:ext cx="2189988"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800" b="1">
                <a:solidFill>
                  <a:srgbClr val="8DC63F"/>
                </a:solidFill>
                <a:latin typeface="Calibri"/>
                <a:ea typeface="Calibri"/>
                <a:cs typeface="Calibri"/>
              </a:rPr>
              <a:t>0</a:t>
            </a:r>
            <a:endParaRPr sz="3800"/>
          </a:p>
        </p:txBody>
      </p:sp>
      <p:sp>
        <p:nvSpPr>
          <p:cNvPr id="26" name="Text 23">
            <a:extLst xmlns:a="http://schemas.openxmlformats.org/drawingml/2006/main">
              <a:ext uri="{FF2B5EF4-FFF2-40B4-BE49-F238E27FC236}">
                <a16:creationId xmlns:a16="http://schemas.microsoft.com/office/drawing/2014/main" id="{1E820BF8-4F4F-4033-A7AF-F4C6E7E3DDEC}"/>
              </a:ext>
            </a:extLst>
          </p:cNvPr>
          <p:cNvSpPr>
            <a:spLocks xmlns:a="http://schemas.openxmlformats.org/drawingml/2006/main" noGrp="1"/>
          </p:cNvSpPr>
          <p:nvPr/>
        </p:nvSpPr>
        <p:spPr>
          <a:xfrm xmlns:a="http://schemas.openxmlformats.org/drawingml/2006/main">
            <a:off x="9358884" y="3429000"/>
            <a:ext cx="209854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layer violations</a:t>
            </a:r>
            <a:endParaRPr sz="1250"/>
          </a:p>
        </p:txBody>
      </p:sp>
      <p:sp>
        <p:nvSpPr>
          <p:cNvPr id="27" name="Text 24">
            <a:extLst xmlns:a="http://schemas.openxmlformats.org/drawingml/2006/main">
              <a:ext uri="{FF2B5EF4-FFF2-40B4-BE49-F238E27FC236}">
                <a16:creationId xmlns:a16="http://schemas.microsoft.com/office/drawing/2014/main" id="{15BAA978-9F1C-4681-A0ED-23C9C64A4A78}"/>
              </a:ext>
            </a:extLst>
          </p:cNvPr>
          <p:cNvSpPr>
            <a:spLocks xmlns:a="http://schemas.openxmlformats.org/drawingml/2006/main" noGrp="1"/>
          </p:cNvSpPr>
          <p:nvPr/>
        </p:nvSpPr>
        <p:spPr>
          <a:xfrm xmlns:a="http://schemas.openxmlformats.org/drawingml/2006/main">
            <a:off x="9358884" y="3977640"/>
            <a:ext cx="2098548" cy="960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enforced mechanically by an import-linter contract</a:t>
            </a:r>
            <a:endParaRPr sz="980"/>
          </a:p>
        </p:txBody>
      </p:sp>
      <p:sp>
        <p:nvSpPr>
          <p:cNvPr id="28" name="Text 25">
            <a:extLst xmlns:a="http://schemas.openxmlformats.org/drawingml/2006/main">
              <a:ext uri="{FF2B5EF4-FFF2-40B4-BE49-F238E27FC236}">
                <a16:creationId xmlns:a16="http://schemas.microsoft.com/office/drawing/2014/main" id="{EC0AE36A-0AE8-4FD9-9CB7-FD9505E2DF0F}"/>
              </a:ext>
            </a:extLst>
          </p:cNvPr>
          <p:cNvSpPr>
            <a:spLocks xmlns:a="http://schemas.openxmlformats.org/drawingml/2006/main" noGrp="1"/>
          </p:cNvSpPr>
          <p:nvPr/>
        </p:nvSpPr>
        <p:spPr>
          <a:xfrm xmlns:a="http://schemas.openxmlformats.org/drawingml/2006/main">
            <a:off x="502920" y="5486400"/>
            <a:ext cx="11155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i="1">
                <a:solidFill>
                  <a:srgbClr val="8A96A6"/>
                </a:solidFill>
                <a:latin typeface="Calibri"/>
                <a:ea typeface="Calibri"/>
                <a:cs typeface="Calibri"/>
              </a:rPr>
              <a:t>Course benchmark table: notebook_v1 export vs lab1-solution</a:t>
            </a:r>
            <a:endParaRPr sz="900"/>
          </a:p>
        </p:txBody>
      </p:sp>
    </p:spTree>
    <p:extLst>
      <p:ext uri="{BB962C8B-B14F-4D97-AF65-F5344CB8AC3E}">
        <p14:creationId xmlns:p14="http://schemas.microsoft.com/office/powerpoint/2010/main" val="77963025"/>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E8F51B2-BAC8-4CCA-99D9-45F4A7FC8A64}"/>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Lab 1 — Refactor the Notebook into a Clean Package</a:t>
            </a:r>
            <a:endParaRPr sz="2600"/>
          </a:p>
        </p:txBody>
      </p:sp>
      <p:sp>
        <p:nvSpPr>
          <p:cNvPr id="3" name="Text 1">
            <a:extLst xmlns:a="http://schemas.openxmlformats.org/drawingml/2006/main">
              <a:ext uri="{FF2B5EF4-FFF2-40B4-BE49-F238E27FC236}">
                <a16:creationId xmlns:a16="http://schemas.microsoft.com/office/drawing/2014/main" id="{F9DFE42B-B797-46F2-BE40-DBB2AC514CDD}"/>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المختبر 1 — إعادة هيكلة الدفتر إلى حزمة نظيفة</a:t>
            </a:r>
            <a:endParaRPr sz="1300"/>
          </a:p>
        </p:txBody>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35d34659d7184cd8"/>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091A76D4-8E60-4D59-9718-2223EAEB465D}"/>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A9870C90-03F0-41F4-B422-136A1C7A31DB}"/>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1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41DEAB57-E10C-4157-B316-D0CA425A49F6}"/>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29</a:t>
            </a:r>
            <a:endParaRPr sz="850"/>
          </a:p>
        </p:txBody>
      </p:sp>
      <p:sp>
        <p:nvSpPr>
          <p:cNvPr id="8" name="Text 5">
            <a:extLst xmlns:a="http://schemas.openxmlformats.org/drawingml/2006/main">
              <a:ext uri="{FF2B5EF4-FFF2-40B4-BE49-F238E27FC236}">
                <a16:creationId xmlns:a16="http://schemas.microsoft.com/office/drawing/2014/main" id="{C1B13335-5D85-4343-BB9D-D85DB3E572B1}"/>
              </a:ext>
            </a:extLst>
          </p:cNvPr>
          <p:cNvSpPr>
            <a:spLocks xmlns:a="http://schemas.openxmlformats.org/drawingml/2006/main" noGrp="1"/>
          </p:cNvSpPr>
          <p:nvPr/>
        </p:nvSpPr>
        <p:spPr>
          <a:xfrm xmlns:a="http://schemas.openxmlformats.org/drawingml/2006/main">
            <a:off x="502920" y="1481328"/>
            <a:ext cx="1188720" cy="310896"/>
          </a:xfrm>
          <a:prstGeom xmlns:a="http://schemas.openxmlformats.org/drawingml/2006/main" prst="roundRect">
            <a:avLst>
              <a:gd name="adj" fmla="val 17647"/>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LAB 1</a:t>
            </a:r>
            <a:endParaRPr sz="1100"/>
          </a:p>
        </p:txBody>
      </p:sp>
      <p:sp>
        <p:nvSpPr>
          <p:cNvPr id="9" name="Text 6">
            <a:extLst xmlns:a="http://schemas.openxmlformats.org/drawingml/2006/main">
              <a:ext uri="{FF2B5EF4-FFF2-40B4-BE49-F238E27FC236}">
                <a16:creationId xmlns:a16="http://schemas.microsoft.com/office/drawing/2014/main" id="{F21287DE-D7AE-4682-93C6-B8E9391F4DD4}"/>
              </a:ext>
            </a:extLst>
          </p:cNvPr>
          <p:cNvSpPr>
            <a:spLocks xmlns:a="http://schemas.openxmlformats.org/drawingml/2006/main" noGrp="1"/>
          </p:cNvSpPr>
          <p:nvPr/>
        </p:nvSpPr>
        <p:spPr>
          <a:xfrm xmlns:a="http://schemas.openxmlformats.org/drawingml/2006/main">
            <a:off x="1874520" y="1481328"/>
            <a:ext cx="594360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5F6B7A"/>
                </a:solidFill>
                <a:latin typeface="Calibri"/>
                <a:ea typeface="Calibri"/>
                <a:cs typeface="Calibri"/>
              </a:rPr>
              <a:t>⏱ 50 min</a:t>
            </a:r>
            <a:r>
              <a:rPr sz="1050">
                <a:solidFill>
                  <a:srgbClr val="5F6B7A"/>
                </a:solidFill>
                <a:latin typeface="Calibri"/>
                <a:ea typeface="Calibri"/>
                <a:cs typeface="Calibri"/>
              </a:rPr>
              <a:t>     Pairs</a:t>
            </a:r>
            <a:r>
              <a:rPr sz="1050">
                <a:solidFill>
                  <a:srgbClr val="5F6B7A"/>
                </a:solidFill>
                <a:latin typeface="Calibri"/>
                <a:ea typeface="Calibri"/>
                <a:cs typeface="Calibri"/>
              </a:rPr>
              <a:t>     Difficulty: </a:t>
            </a:r>
            <a:r>
              <a:rPr sz="1050">
                <a:solidFill>
                  <a:srgbClr val="F58220"/>
                </a:solidFill>
                <a:latin typeface="Calibri"/>
                <a:ea typeface="Calibri"/>
                <a:cs typeface="Calibri"/>
              </a:rPr>
              <a:t>●●○</a:t>
            </a:r>
            <a:endParaRPr sz="1050"/>
          </a:p>
        </p:txBody>
      </p:sp>
      <p:sp>
        <p:nvSpPr>
          <p:cNvPr id="10" name="Text 7">
            <a:extLst xmlns:a="http://schemas.openxmlformats.org/drawingml/2006/main">
              <a:ext uri="{FF2B5EF4-FFF2-40B4-BE49-F238E27FC236}">
                <a16:creationId xmlns:a16="http://schemas.microsoft.com/office/drawing/2014/main" id="{6F314955-E639-438F-A202-B48D5EB33251}"/>
              </a:ext>
            </a:extLst>
          </p:cNvPr>
          <p:cNvSpPr>
            <a:spLocks xmlns:a="http://schemas.openxmlformats.org/drawingml/2006/main" noGrp="1"/>
          </p:cNvSpPr>
          <p:nvPr/>
        </p:nvSpPr>
        <p:spPr>
          <a:xfrm xmlns:a="http://schemas.openxmlformats.org/drawingml/2006/main">
            <a:off x="502920" y="2029968"/>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1</a:t>
            </a:r>
            <a:endParaRPr sz="1050"/>
          </a:p>
        </p:txBody>
      </p:sp>
      <p:sp>
        <p:nvSpPr>
          <p:cNvPr id="11" name="Text 8">
            <a:extLst xmlns:a="http://schemas.openxmlformats.org/drawingml/2006/main">
              <a:ext uri="{FF2B5EF4-FFF2-40B4-BE49-F238E27FC236}">
                <a16:creationId xmlns:a16="http://schemas.microsoft.com/office/drawing/2014/main" id="{5FAA652A-9A9D-4E8B-ABBF-BAA00D37997F}"/>
              </a:ext>
            </a:extLst>
          </p:cNvPr>
          <p:cNvSpPr>
            <a:spLocks xmlns:a="http://schemas.openxmlformats.org/drawingml/2006/main" noGrp="1"/>
          </p:cNvSpPr>
          <p:nvPr/>
        </p:nvSpPr>
        <p:spPr>
          <a:xfrm xmlns:a="http://schemas.openxmlformats.org/drawingml/2006/main">
            <a:off x="914400" y="2011680"/>
            <a:ext cx="6035040" cy="701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Run the smelly notebook (5 min)  </a:t>
            </a:r>
            <a:r>
              <a:rPr sz="1000">
                <a:solidFill>
                  <a:srgbClr val="5F6B7A"/>
                </a:solidFill>
                <a:latin typeface="Calibri"/>
                <a:ea typeface="Calibri"/>
                <a:cs typeface="Calibri"/>
              </a:rPr>
              <a:t>Top-to-bottom; note the three execution-order traps flagged with # SMELL comments</a:t>
            </a:r>
            <a:endParaRPr sz="1050"/>
          </a:p>
        </p:txBody>
      </p:sp>
      <p:sp>
        <p:nvSpPr>
          <p:cNvPr id="12" name="Text 9">
            <a:extLst xmlns:a="http://schemas.openxmlformats.org/drawingml/2006/main">
              <a:ext uri="{FF2B5EF4-FFF2-40B4-BE49-F238E27FC236}">
                <a16:creationId xmlns:a16="http://schemas.microsoft.com/office/drawing/2014/main" id="{6B76103D-FA16-4224-A75D-5B6830C94344}"/>
              </a:ext>
            </a:extLst>
          </p:cNvPr>
          <p:cNvSpPr>
            <a:spLocks xmlns:a="http://schemas.openxmlformats.org/drawingml/2006/main" noGrp="1"/>
          </p:cNvSpPr>
          <p:nvPr/>
        </p:nvSpPr>
        <p:spPr>
          <a:xfrm xmlns:a="http://schemas.openxmlformats.org/drawingml/2006/main">
            <a:off x="502920" y="2731008"/>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2</a:t>
            </a:r>
            <a:endParaRPr sz="1050"/>
          </a:p>
        </p:txBody>
      </p:sp>
      <p:sp>
        <p:nvSpPr>
          <p:cNvPr id="13" name="Text 10">
            <a:extLst xmlns:a="http://schemas.openxmlformats.org/drawingml/2006/main">
              <a:ext uri="{FF2B5EF4-FFF2-40B4-BE49-F238E27FC236}">
                <a16:creationId xmlns:a16="http://schemas.microsoft.com/office/drawing/2014/main" id="{34EE7ACB-DC88-48CE-90C5-EA8BCA446ACF}"/>
              </a:ext>
            </a:extLst>
          </p:cNvPr>
          <p:cNvSpPr>
            <a:spLocks xmlns:a="http://schemas.openxmlformats.org/drawingml/2006/main" noGrp="1"/>
          </p:cNvSpPr>
          <p:nvPr/>
        </p:nvSpPr>
        <p:spPr>
          <a:xfrm xmlns:a="http://schemas.openxmlformats.org/drawingml/2006/main">
            <a:off x="914400" y="2712720"/>
            <a:ext cx="6035040" cy="701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Create the skeleton (10 min)  </a:t>
            </a:r>
            <a:r>
              <a:rPr sz="1000">
                <a:solidFill>
                  <a:srgbClr val="5F6B7A"/>
                </a:solidFill>
                <a:latin typeface="Calibri"/>
                <a:ea typeface="Calibri"/>
                <a:cs typeface="Calibri"/>
              </a:rPr>
              <a:t>pyproject.toml (Python ≥3.12; pydantic, pandas, scikit-learn, joblib) + src/fraud_service/ layers</a:t>
            </a:r>
            <a:endParaRPr sz="1050"/>
          </a:p>
        </p:txBody>
      </p:sp>
      <p:sp>
        <p:nvSpPr>
          <p:cNvPr id="14" name="Text 11">
            <a:extLst xmlns:a="http://schemas.openxmlformats.org/drawingml/2006/main">
              <a:ext uri="{FF2B5EF4-FFF2-40B4-BE49-F238E27FC236}">
                <a16:creationId xmlns:a16="http://schemas.microsoft.com/office/drawing/2014/main" id="{3D65F59D-8C7D-4EAB-A70C-8AA196AF6187}"/>
              </a:ext>
            </a:extLst>
          </p:cNvPr>
          <p:cNvSpPr>
            <a:spLocks xmlns:a="http://schemas.openxmlformats.org/drawingml/2006/main" noGrp="1"/>
          </p:cNvSpPr>
          <p:nvPr/>
        </p:nvSpPr>
        <p:spPr>
          <a:xfrm xmlns:a="http://schemas.openxmlformats.org/drawingml/2006/main">
            <a:off x="502920" y="3432048"/>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3</a:t>
            </a:r>
            <a:endParaRPr sz="1050"/>
          </a:p>
        </p:txBody>
      </p:sp>
      <p:sp>
        <p:nvSpPr>
          <p:cNvPr id="15" name="Text 12">
            <a:extLst xmlns:a="http://schemas.openxmlformats.org/drawingml/2006/main">
              <a:ext uri="{FF2B5EF4-FFF2-40B4-BE49-F238E27FC236}">
                <a16:creationId xmlns:a16="http://schemas.microsoft.com/office/drawing/2014/main" id="{596DC093-BEA4-44A8-81BD-4B7293F4BD57}"/>
              </a:ext>
            </a:extLst>
          </p:cNvPr>
          <p:cNvSpPr>
            <a:spLocks xmlns:a="http://schemas.openxmlformats.org/drawingml/2006/main" noGrp="1"/>
          </p:cNvSpPr>
          <p:nvPr/>
        </p:nvSpPr>
        <p:spPr>
          <a:xfrm xmlns:a="http://schemas.openxmlformats.org/drawingml/2006/main">
            <a:off x="914400" y="3413760"/>
            <a:ext cx="6035040" cy="701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Move code to layers (15 min)  </a:t>
            </a:r>
            <a:r>
              <a:rPr sz="1000">
                <a:solidFill>
                  <a:srgbClr val="5F6B7A"/>
                </a:solidFill>
                <a:latin typeface="Calibri"/>
                <a:ea typeface="Calibri"/>
                <a:cs typeface="Calibri"/>
              </a:rPr>
              <a:t>entities + to_features() → domain; thresholds → policies; orchestration → scorer vs Model protocol</a:t>
            </a:r>
            <a:endParaRPr sz="1050"/>
          </a:p>
        </p:txBody>
      </p:sp>
      <p:sp>
        <p:nvSpPr>
          <p:cNvPr id="16" name="Text 13">
            <a:extLst xmlns:a="http://schemas.openxmlformats.org/drawingml/2006/main">
              <a:ext uri="{FF2B5EF4-FFF2-40B4-BE49-F238E27FC236}">
                <a16:creationId xmlns:a16="http://schemas.microsoft.com/office/drawing/2014/main" id="{A93979C4-86F3-4842-8255-9BEC0ADAC9DD}"/>
              </a:ext>
            </a:extLst>
          </p:cNvPr>
          <p:cNvSpPr>
            <a:spLocks xmlns:a="http://schemas.openxmlformats.org/drawingml/2006/main" noGrp="1"/>
          </p:cNvSpPr>
          <p:nvPr/>
        </p:nvSpPr>
        <p:spPr>
          <a:xfrm xmlns:a="http://schemas.openxmlformats.org/drawingml/2006/main">
            <a:off x="502920" y="4133088"/>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4</a:t>
            </a:r>
            <a:endParaRPr sz="1050"/>
          </a:p>
        </p:txBody>
      </p:sp>
      <p:sp>
        <p:nvSpPr>
          <p:cNvPr id="17" name="Text 14">
            <a:extLst xmlns:a="http://schemas.openxmlformats.org/drawingml/2006/main">
              <a:ext uri="{FF2B5EF4-FFF2-40B4-BE49-F238E27FC236}">
                <a16:creationId xmlns:a16="http://schemas.microsoft.com/office/drawing/2014/main" id="{51F1FF31-FFC5-46D0-A753-BF0382D970BA}"/>
              </a:ext>
            </a:extLst>
          </p:cNvPr>
          <p:cNvSpPr>
            <a:spLocks xmlns:a="http://schemas.openxmlformats.org/drawingml/2006/main" noGrp="1"/>
          </p:cNvSpPr>
          <p:nvPr/>
        </p:nvSpPr>
        <p:spPr>
          <a:xfrm xmlns:a="http://schemas.openxmlformats.org/drawingml/2006/main">
            <a:off x="914400" y="4114800"/>
            <a:ext cx="6035040" cy="701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Write batch.py (10 min)  </a:t>
            </a:r>
            <a:r>
              <a:rPr sz="1000">
                <a:solidFill>
                  <a:srgbClr val="5F6B7A"/>
                </a:solidFill>
                <a:latin typeface="Calibri"/>
                <a:ea typeface="Calibri"/>
                <a:cs typeface="Calibri"/>
              </a:rPr>
              <a:t>Read transactions_sample.csv, score each row, write scored.csv — wire concretes ONLY here</a:t>
            </a:r>
            <a:endParaRPr sz="1050"/>
          </a:p>
        </p:txBody>
      </p:sp>
      <p:sp>
        <p:nvSpPr>
          <p:cNvPr id="18" name="Text 15">
            <a:extLst xmlns:a="http://schemas.openxmlformats.org/drawingml/2006/main">
              <a:ext uri="{FF2B5EF4-FFF2-40B4-BE49-F238E27FC236}">
                <a16:creationId xmlns:a16="http://schemas.microsoft.com/office/drawing/2014/main" id="{2178B7FE-7523-4550-BDDF-5F83FA5ED56D}"/>
              </a:ext>
            </a:extLst>
          </p:cNvPr>
          <p:cNvSpPr>
            <a:spLocks xmlns:a="http://schemas.openxmlformats.org/drawingml/2006/main" noGrp="1"/>
          </p:cNvSpPr>
          <p:nvPr/>
        </p:nvSpPr>
        <p:spPr>
          <a:xfrm xmlns:a="http://schemas.openxmlformats.org/drawingml/2006/main">
            <a:off x="502920" y="4834128"/>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5</a:t>
            </a:r>
            <a:endParaRPr sz="1050"/>
          </a:p>
        </p:txBody>
      </p:sp>
      <p:sp>
        <p:nvSpPr>
          <p:cNvPr id="19" name="Text 16">
            <a:extLst xmlns:a="http://schemas.openxmlformats.org/drawingml/2006/main">
              <a:ext uri="{FF2B5EF4-FFF2-40B4-BE49-F238E27FC236}">
                <a16:creationId xmlns:a16="http://schemas.microsoft.com/office/drawing/2014/main" id="{DE072C6F-C4FD-4D8A-9A93-65C124F346EE}"/>
              </a:ext>
            </a:extLst>
          </p:cNvPr>
          <p:cNvSpPr>
            <a:spLocks xmlns:a="http://schemas.openxmlformats.org/drawingml/2006/main" noGrp="1"/>
          </p:cNvSpPr>
          <p:nvPr/>
        </p:nvSpPr>
        <p:spPr>
          <a:xfrm xmlns:a="http://schemas.openxmlformats.org/drawingml/2006/main">
            <a:off x="914400" y="4815840"/>
            <a:ext cx="6035040" cy="701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Makefile + run (5 min)  </a:t>
            </a:r>
            <a:r>
              <a:rPr sz="1000">
                <a:solidFill>
                  <a:srgbClr val="5F6B7A"/>
                </a:solidFill>
                <a:latin typeface="Calibri"/>
                <a:ea typeface="Calibri"/>
                <a:cs typeface="Calibri"/>
              </a:rPr>
              <a:t>Targets install, run-batch, lint (ruff); then make run-batch</a:t>
            </a:r>
            <a:endParaRPr sz="1050"/>
          </a:p>
        </p:txBody>
      </p:sp>
      <p:sp>
        <p:nvSpPr>
          <p:cNvPr id="20" name="Text 17">
            <a:extLst xmlns:a="http://schemas.openxmlformats.org/drawingml/2006/main">
              <a:ext uri="{FF2B5EF4-FFF2-40B4-BE49-F238E27FC236}">
                <a16:creationId xmlns:a16="http://schemas.microsoft.com/office/drawing/2014/main" id="{5FDC98AE-3CD2-4134-9E32-8E1B553F3DC7}"/>
              </a:ext>
            </a:extLst>
          </p:cNvPr>
          <p:cNvSpPr>
            <a:spLocks xmlns:a="http://schemas.openxmlformats.org/drawingml/2006/main" noGrp="1"/>
          </p:cNvSpPr>
          <p:nvPr/>
        </p:nvSpPr>
        <p:spPr>
          <a:xfrm xmlns:a="http://schemas.openxmlformats.org/drawingml/2006/main">
            <a:off x="502920" y="5535168"/>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6</a:t>
            </a:r>
            <a:endParaRPr sz="1050"/>
          </a:p>
        </p:txBody>
      </p:sp>
      <p:sp>
        <p:nvSpPr>
          <p:cNvPr id="21" name="Text 18">
            <a:extLst xmlns:a="http://schemas.openxmlformats.org/drawingml/2006/main">
              <a:ext uri="{FF2B5EF4-FFF2-40B4-BE49-F238E27FC236}">
                <a16:creationId xmlns:a16="http://schemas.microsoft.com/office/drawing/2014/main" id="{63F72F78-4FB5-4099-B636-8E80E0F60531}"/>
              </a:ext>
            </a:extLst>
          </p:cNvPr>
          <p:cNvSpPr>
            <a:spLocks xmlns:a="http://schemas.openxmlformats.org/drawingml/2006/main" noGrp="1"/>
          </p:cNvSpPr>
          <p:nvPr/>
        </p:nvSpPr>
        <p:spPr>
          <a:xfrm xmlns:a="http://schemas.openxmlformats.org/drawingml/2006/main">
            <a:off x="914400" y="5516880"/>
            <a:ext cx="6035040" cy="701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Commit (5 min)  </a:t>
            </a:r>
            <a:r>
              <a:rPr sz="1000">
                <a:solidFill>
                  <a:srgbClr val="5F6B7A"/>
                </a:solidFill>
                <a:latin typeface="Calibri"/>
                <a:ea typeface="Calibri"/>
                <a:cs typeface="Calibri"/>
              </a:rPr>
              <a:t>git commit -m "refactor: extract clean architecture layers from notebook"</a:t>
            </a:r>
            <a:endParaRPr sz="1050"/>
          </a:p>
        </p:txBody>
      </p:sp>
      <p:sp>
        <p:nvSpPr>
          <p:cNvPr id="22" name="Shape 19">
            <a:extLst xmlns:a="http://schemas.openxmlformats.org/drawingml/2006/main">
              <a:ext uri="{FF2B5EF4-FFF2-40B4-BE49-F238E27FC236}">
                <a16:creationId xmlns:a16="http://schemas.microsoft.com/office/drawing/2014/main" id="{837F9044-2FFE-4EDC-A1D0-6A79B5BDF1CE}"/>
              </a:ext>
            </a:extLst>
          </p:cNvPr>
          <p:cNvSpPr>
            <a:spLocks xmlns:a="http://schemas.openxmlformats.org/drawingml/2006/main" noGrp="1"/>
          </p:cNvSpPr>
          <p:nvPr/>
        </p:nvSpPr>
        <p:spPr>
          <a:xfrm xmlns:a="http://schemas.openxmlformats.org/drawingml/2006/main">
            <a:off x="7269480" y="2011680"/>
            <a:ext cx="4416552" cy="1417320"/>
          </a:xfrm>
          <a:prstGeom xmlns:a="http://schemas.openxmlformats.org/drawingml/2006/main" prst="roundRect">
            <a:avLst>
              <a:gd name="adj" fmla="val 4516"/>
            </a:avLst>
          </a:prstGeom>
          <a:solidFill xmlns:a="http://schemas.openxmlformats.org/drawingml/2006/main">
            <a:srgbClr val="D4F1EE"/>
          </a:solidFill>
        </p:spPr>
      </p:sp>
      <p:sp>
        <p:nvSpPr>
          <p:cNvPr id="23" name="Text 20">
            <a:extLst xmlns:a="http://schemas.openxmlformats.org/drawingml/2006/main">
              <a:ext uri="{FF2B5EF4-FFF2-40B4-BE49-F238E27FC236}">
                <a16:creationId xmlns:a16="http://schemas.microsoft.com/office/drawing/2014/main" id="{EC23B0CF-DBE4-4DCA-BADF-A149EA6D8D95}"/>
              </a:ext>
            </a:extLst>
          </p:cNvPr>
          <p:cNvSpPr>
            <a:spLocks xmlns:a="http://schemas.openxmlformats.org/drawingml/2006/main" noGrp="1"/>
          </p:cNvSpPr>
          <p:nvPr/>
        </p:nvSpPr>
        <p:spPr>
          <a:xfrm xmlns:a="http://schemas.openxmlformats.org/drawingml/2006/main">
            <a:off x="7452360" y="2139696"/>
            <a:ext cx="405079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056A63"/>
                </a:solidFill>
                <a:latin typeface="Calibri"/>
                <a:ea typeface="Calibri"/>
                <a:cs typeface="Calibri"/>
              </a:rPr>
              <a:t>DELIVERABLE</a:t>
            </a:r>
            <a:endParaRPr sz="900"/>
          </a:p>
        </p:txBody>
      </p:sp>
      <p:sp>
        <p:nvSpPr>
          <p:cNvPr id="24" name="Text 21">
            <a:extLst xmlns:a="http://schemas.openxmlformats.org/drawingml/2006/main">
              <a:ext uri="{FF2B5EF4-FFF2-40B4-BE49-F238E27FC236}">
                <a16:creationId xmlns:a16="http://schemas.microsoft.com/office/drawing/2014/main" id="{B6B70911-D9EF-4A21-84A0-BC7BE6C5EA14}"/>
              </a:ext>
            </a:extLst>
          </p:cNvPr>
          <p:cNvSpPr>
            <a:spLocks xmlns:a="http://schemas.openxmlformats.org/drawingml/2006/main" noGrp="1"/>
          </p:cNvSpPr>
          <p:nvPr/>
        </p:nvSpPr>
        <p:spPr>
          <a:xfrm xmlns:a="http://schemas.openxmlformats.org/drawingml/2006/main">
            <a:off x="7452360" y="2395728"/>
            <a:ext cx="4050792" cy="960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30">
                <a:solidFill>
                  <a:srgbClr val="056A63"/>
                </a:solidFill>
                <a:latin typeface="Calibri"/>
                <a:ea typeface="Calibri"/>
                <a:cs typeface="Calibri"/>
              </a:rPr>
              <a:t>make run-batch → Loaded model fraud_xgb v3.2.0 in 0.41s · Scored 5,000 transactions → scored.csv (block: 37, review: 214, allow: 4749) · ruff clean</a:t>
            </a:r>
            <a:endParaRPr sz="1030"/>
          </a:p>
        </p:txBody>
      </p:sp>
      <p:sp>
        <p:nvSpPr>
          <p:cNvPr id="25" name="Shape 22">
            <a:extLst xmlns:a="http://schemas.openxmlformats.org/drawingml/2006/main">
              <a:ext uri="{FF2B5EF4-FFF2-40B4-BE49-F238E27FC236}">
                <a16:creationId xmlns:a16="http://schemas.microsoft.com/office/drawing/2014/main" id="{9119AA16-B7BF-4C9B-A889-12716FC1A0CE}"/>
              </a:ext>
            </a:extLst>
          </p:cNvPr>
          <p:cNvSpPr>
            <a:spLocks xmlns:a="http://schemas.openxmlformats.org/drawingml/2006/main" noGrp="1"/>
          </p:cNvSpPr>
          <p:nvPr/>
        </p:nvSpPr>
        <p:spPr>
          <a:xfrm xmlns:a="http://schemas.openxmlformats.org/drawingml/2006/main">
            <a:off x="7269480" y="3611880"/>
            <a:ext cx="4416552" cy="1371600"/>
          </a:xfrm>
          <a:prstGeom xmlns:a="http://schemas.openxmlformats.org/drawingml/2006/main" prst="roundRect">
            <a:avLst>
              <a:gd name="adj" fmla="val 4667"/>
            </a:avLst>
          </a:prstGeom>
          <a:solidFill xmlns:a="http://schemas.openxmlformats.org/drawingml/2006/main">
            <a:srgbClr val="EEF3FB"/>
          </a:solidFill>
          <a:ln xmlns:a="http://schemas.openxmlformats.org/drawingml/2006/main" w="9525">
            <a:solidFill>
              <a:srgbClr val="D9E4F5"/>
            </a:solidFill>
            <a:prstDash val="solid"/>
          </a:ln>
        </p:spPr>
      </p:sp>
      <p:sp>
        <p:nvSpPr>
          <p:cNvPr id="26" name="Text 23">
            <a:extLst xmlns:a="http://schemas.openxmlformats.org/drawingml/2006/main">
              <a:ext uri="{FF2B5EF4-FFF2-40B4-BE49-F238E27FC236}">
                <a16:creationId xmlns:a16="http://schemas.microsoft.com/office/drawing/2014/main" id="{991D4432-585A-414B-9D9F-1A08322BE86B}"/>
              </a:ext>
            </a:extLst>
          </p:cNvPr>
          <p:cNvSpPr>
            <a:spLocks xmlns:a="http://schemas.openxmlformats.org/drawingml/2006/main" noGrp="1"/>
          </p:cNvSpPr>
          <p:nvPr/>
        </p:nvSpPr>
        <p:spPr>
          <a:xfrm xmlns:a="http://schemas.openxmlformats.org/drawingml/2006/main">
            <a:off x="7452360" y="3730752"/>
            <a:ext cx="405079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100">
                <a:solidFill>
                  <a:srgbClr val="1D2A5C"/>
                </a:solidFill>
                <a:latin typeface="Calibri"/>
                <a:ea typeface="Calibri"/>
                <a:cs typeface="Calibri"/>
              </a:rPr>
              <a:t>CHECKPOINT — how you know it worked</a:t>
            </a:r>
            <a:endParaRPr sz="900"/>
          </a:p>
        </p:txBody>
      </p:sp>
      <p:sp>
        <p:nvSpPr>
          <p:cNvPr id="27" name="Text 24">
            <a:extLst xmlns:a="http://schemas.openxmlformats.org/drawingml/2006/main">
              <a:ext uri="{FF2B5EF4-FFF2-40B4-BE49-F238E27FC236}">
                <a16:creationId xmlns:a16="http://schemas.microsoft.com/office/drawing/2014/main" id="{74069872-A638-48BC-8073-1AE5C28E5784}"/>
              </a:ext>
            </a:extLst>
          </p:cNvPr>
          <p:cNvSpPr>
            <a:spLocks xmlns:a="http://schemas.openxmlformats.org/drawingml/2006/main" noGrp="1"/>
          </p:cNvSpPr>
          <p:nvPr/>
        </p:nvSpPr>
        <p:spPr>
          <a:xfrm xmlns:a="http://schemas.openxmlformats.org/drawingml/2006/main">
            <a:off x="7452360" y="3986784"/>
            <a:ext cx="4050792"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5F6B7A"/>
                </a:solidFill>
                <a:latin typeface="Calibri"/>
                <a:ea typeface="Calibri"/>
                <a:cs typeface="Calibri"/>
              </a:rPr>
              <a:t>ModuleNotFoundError: fraud_service → pip install -e . and check src-layout config. Different scores vs notebook → diff to_features() on 5 sample rows.</a:t>
            </a:r>
            <a:endParaRPr sz="1000"/>
          </a:p>
        </p:txBody>
      </p:sp>
      <p:sp>
        <p:nvSpPr>
          <p:cNvPr id="28" name="Shape 25">
            <a:extLst xmlns:a="http://schemas.openxmlformats.org/drawingml/2006/main">
              <a:ext uri="{FF2B5EF4-FFF2-40B4-BE49-F238E27FC236}">
                <a16:creationId xmlns:a16="http://schemas.microsoft.com/office/drawing/2014/main" id="{BA64D23A-E652-4FFD-9C79-35B0FCC28EFC}"/>
              </a:ext>
            </a:extLst>
          </p:cNvPr>
          <p:cNvSpPr>
            <a:spLocks xmlns:a="http://schemas.openxmlformats.org/drawingml/2006/main" noGrp="1"/>
          </p:cNvSpPr>
          <p:nvPr/>
        </p:nvSpPr>
        <p:spPr>
          <a:xfrm xmlns:a="http://schemas.openxmlformats.org/drawingml/2006/main">
            <a:off x="7269480" y="5166360"/>
            <a:ext cx="4416552" cy="1051560"/>
          </a:xfrm>
          <a:prstGeom xmlns:a="http://schemas.openxmlformats.org/drawingml/2006/main" prst="roundRect">
            <a:avLst>
              <a:gd name="adj" fmla="val 6087"/>
            </a:avLst>
          </a:prstGeom>
          <a:solidFill xmlns:a="http://schemas.openxmlformats.org/drawingml/2006/main">
            <a:srgbClr val="FDEBD7"/>
          </a:solidFill>
        </p:spPr>
      </p:sp>
      <p:sp>
        <p:nvSpPr>
          <p:cNvPr id="29" name="Text 26">
            <a:extLst xmlns:a="http://schemas.openxmlformats.org/drawingml/2006/main">
              <a:ext uri="{FF2B5EF4-FFF2-40B4-BE49-F238E27FC236}">
                <a16:creationId xmlns:a16="http://schemas.microsoft.com/office/drawing/2014/main" id="{7014CB20-2DCF-4AFE-B46B-75949043F0F1}"/>
              </a:ext>
            </a:extLst>
          </p:cNvPr>
          <p:cNvSpPr>
            <a:spLocks xmlns:a="http://schemas.openxmlformats.org/drawingml/2006/main" noGrp="1"/>
          </p:cNvSpPr>
          <p:nvPr/>
        </p:nvSpPr>
        <p:spPr>
          <a:xfrm xmlns:a="http://schemas.openxmlformats.org/drawingml/2006/main">
            <a:off x="7452360" y="5230368"/>
            <a:ext cx="4050792"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850" b="1">
                <a:solidFill>
                  <a:srgbClr val="A6531C"/>
                </a:solidFill>
                <a:latin typeface="Calibri"/>
                <a:ea typeface="Calibri"/>
                <a:cs typeface="Calibri"/>
              </a:rPr>
              <a:t>INSTRUCTOR TIP  </a:t>
            </a:r>
            <a:r>
              <a:rPr sz="950">
                <a:solidFill>
                  <a:srgbClr val="A6531C"/>
                </a:solidFill>
                <a:latin typeface="Calibri"/>
                <a:ea typeface="Calibri"/>
                <a:cs typeface="Calibri"/>
              </a:rPr>
              <a:t>Fast finishers: add a ConstantModel test double and a first unit test — a perfect bridge to Module 4.</a:t>
            </a:r>
            <a:endParaRPr sz="850"/>
          </a:p>
        </p:txBody>
      </p:sp>
    </p:spTree>
    <p:extLst>
      <p:ext uri="{BB962C8B-B14F-4D97-AF65-F5344CB8AC3E}">
        <p14:creationId xmlns:p14="http://schemas.microsoft.com/office/powerpoint/2010/main" val="1943734573"/>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DE5F17D-659E-48CC-9D2F-EC1A655C4B18}"/>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Architecture review calibration — comment on boundaries, not taste</a:t>
            </a:r>
            <a:endParaRPr sz="2600"/>
          </a:p>
        </p:txBody>
      </p:sp>
      <p:sp>
        <p:nvSpPr>
          <p:cNvPr id="3" name="Text 1">
            <a:extLst xmlns:a="http://schemas.openxmlformats.org/drawingml/2006/main">
              <a:ext uri="{FF2B5EF4-FFF2-40B4-BE49-F238E27FC236}">
                <a16:creationId xmlns:a16="http://schemas.microsoft.com/office/drawing/2014/main" id="{16A3C7C4-974F-4731-AE67-C6A488FEC868}"/>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معايرة مراجعة المعمارية — راجع الحدود لا التفضيلات</a:t>
            </a:r>
            <a:endParaRPr sz="1300"/>
          </a:p>
        </p:txBody>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af38da2e499d4f4a"/>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D60A61EA-B363-4398-BC98-A84121CFAE1F}"/>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BB66A3E8-A99A-4AF4-B699-7DE7040FFBAF}"/>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LAB 1</a:t>
            </a:r>
            <a:r>
              <a:rPr sz="850" b="1" spc="100">
                <a:solidFill>
                  <a:srgbClr val="00A79D"/>
                </a:solidFill>
                <a:latin typeface="Calibri"/>
                <a:ea typeface="Calibri"/>
                <a:cs typeface="Calibri"/>
              </a:rPr>
              <a:t>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7667CF09-35EA-459F-AE5E-228548E764FA}"/>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30</a:t>
            </a:r>
            <a:endParaRPr sz="850"/>
          </a:p>
        </p:txBody>
      </p:sp>
      <p:sp>
        <p:nvSpPr>
          <p:cNvPr id="8" name="Text 5">
            <a:extLst xmlns:a="http://schemas.openxmlformats.org/drawingml/2006/main">
              <a:ext uri="{FF2B5EF4-FFF2-40B4-BE49-F238E27FC236}">
                <a16:creationId xmlns:a16="http://schemas.microsoft.com/office/drawing/2014/main" id="{AD1E06BF-FB27-40AC-9620-6A2C25D75C02}"/>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A85E1220-86F3-4C31-AB2B-F1DE3B7144CB}"/>
              </a:ext>
            </a:extLst>
          </p:cNvPr>
          <p:cNvSpPr>
            <a:spLocks xmlns:a="http://schemas.openxmlformats.org/drawingml/2006/main" noGrp="1"/>
          </p:cNvSpPr>
          <p:nvPr/>
        </p:nvSpPr>
        <p:spPr>
          <a:xfrm xmlns:a="http://schemas.openxmlformats.org/drawingml/2006/main">
            <a:off x="1005840" y="14996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Trace every dependency inward</a:t>
            </a:r>
            <a:endParaRPr sz="1350"/>
          </a:p>
        </p:txBody>
      </p:sp>
      <p:sp>
        <p:nvSpPr>
          <p:cNvPr id="10" name="Text 7">
            <a:extLst xmlns:a="http://schemas.openxmlformats.org/drawingml/2006/main">
              <a:ext uri="{FF2B5EF4-FFF2-40B4-BE49-F238E27FC236}">
                <a16:creationId xmlns:a16="http://schemas.microsoft.com/office/drawing/2014/main" id="{A82ACBC5-1BFF-4AA9-B0B0-C3F7204F9481}"/>
              </a:ext>
            </a:extLst>
          </p:cNvPr>
          <p:cNvSpPr>
            <a:spLocks xmlns:a="http://schemas.openxmlformats.org/drawingml/2006/main" noGrp="1"/>
          </p:cNvSpPr>
          <p:nvPr/>
        </p:nvSpPr>
        <p:spPr>
          <a:xfrm xmlns:a="http://schemas.openxmlformats.org/drawingml/2006/main">
            <a:off x="1005840" y="180136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Domain imports no framework or adapter; violations name the exact import edge.</a:t>
            </a:r>
            <a:endParaRPr sz="1050"/>
          </a:p>
        </p:txBody>
      </p:sp>
      <p:sp>
        <p:nvSpPr>
          <p:cNvPr id="11" name="Text 8">
            <a:extLst xmlns:a="http://schemas.openxmlformats.org/drawingml/2006/main">
              <a:ext uri="{FF2B5EF4-FFF2-40B4-BE49-F238E27FC236}">
                <a16:creationId xmlns:a16="http://schemas.microsoft.com/office/drawing/2014/main" id="{6E412656-5263-45AE-82D5-31AA6B396614}"/>
              </a:ext>
            </a:extLst>
          </p:cNvPr>
          <p:cNvSpPr>
            <a:spLocks xmlns:a="http://schemas.openxmlformats.org/drawingml/2006/main" noGrp="1"/>
          </p:cNvSpPr>
          <p:nvPr/>
        </p:nvSpPr>
        <p:spPr>
          <a:xfrm xmlns:a="http://schemas.openxmlformats.org/drawingml/2006/main">
            <a:off x="502920" y="280035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0736F55E-3534-4AC1-B57C-0E7933249618}"/>
              </a:ext>
            </a:extLst>
          </p:cNvPr>
          <p:cNvSpPr>
            <a:spLocks xmlns:a="http://schemas.openxmlformats.org/drawingml/2006/main" noGrp="1"/>
          </p:cNvSpPr>
          <p:nvPr/>
        </p:nvSpPr>
        <p:spPr>
          <a:xfrm xmlns:a="http://schemas.openxmlformats.org/drawingml/2006/main">
            <a:off x="1005840" y="274548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Find the model seam</a:t>
            </a:r>
            <a:endParaRPr sz="1350"/>
          </a:p>
        </p:txBody>
      </p:sp>
      <p:sp>
        <p:nvSpPr>
          <p:cNvPr id="13" name="Text 10">
            <a:extLst xmlns:a="http://schemas.openxmlformats.org/drawingml/2006/main">
              <a:ext uri="{FF2B5EF4-FFF2-40B4-BE49-F238E27FC236}">
                <a16:creationId xmlns:a16="http://schemas.microsoft.com/office/drawing/2014/main" id="{F1DBD095-EE3F-4C72-9CC1-5BAF1DF19F2D}"/>
              </a:ext>
            </a:extLst>
          </p:cNvPr>
          <p:cNvSpPr>
            <a:spLocks xmlns:a="http://schemas.openxmlformats.org/drawingml/2006/main" noGrp="1"/>
          </p:cNvSpPr>
          <p:nvPr/>
        </p:nvSpPr>
        <p:spPr>
          <a:xfrm xmlns:a="http://schemas.openxmlformats.org/drawingml/2006/main">
            <a:off x="1005840" y="304723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The service depends on a protocol; joblib or sklearn remains behind the adapter.</a:t>
            </a:r>
            <a:endParaRPr sz="1050"/>
          </a:p>
        </p:txBody>
      </p:sp>
      <p:sp>
        <p:nvSpPr>
          <p:cNvPr id="14" name="Text 11">
            <a:extLst xmlns:a="http://schemas.openxmlformats.org/drawingml/2006/main">
              <a:ext uri="{FF2B5EF4-FFF2-40B4-BE49-F238E27FC236}">
                <a16:creationId xmlns:a16="http://schemas.microsoft.com/office/drawing/2014/main" id="{5E6EAE5C-12C5-47A9-9452-01DF822D6446}"/>
              </a:ext>
            </a:extLst>
          </p:cNvPr>
          <p:cNvSpPr>
            <a:spLocks xmlns:a="http://schemas.openxmlformats.org/drawingml/2006/main" noGrp="1"/>
          </p:cNvSpPr>
          <p:nvPr/>
        </p:nvSpPr>
        <p:spPr>
          <a:xfrm xmlns:a="http://schemas.openxmlformats.org/drawingml/2006/main">
            <a:off x="502920" y="404622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1328E8FC-72BC-4EB6-B1D4-913BBA056ED3}"/>
              </a:ext>
            </a:extLst>
          </p:cNvPr>
          <p:cNvSpPr>
            <a:spLocks xmlns:a="http://schemas.openxmlformats.org/drawingml/2006/main" noGrp="1"/>
          </p:cNvSpPr>
          <p:nvPr/>
        </p:nvSpPr>
        <p:spPr>
          <a:xfrm xmlns:a="http://schemas.openxmlformats.org/drawingml/2006/main">
            <a:off x="1005840" y="399135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Locate composition and configuration</a:t>
            </a:r>
            <a:endParaRPr sz="1350"/>
          </a:p>
        </p:txBody>
      </p:sp>
      <p:sp>
        <p:nvSpPr>
          <p:cNvPr id="16" name="Text 13">
            <a:extLst xmlns:a="http://schemas.openxmlformats.org/drawingml/2006/main">
              <a:ext uri="{FF2B5EF4-FFF2-40B4-BE49-F238E27FC236}">
                <a16:creationId xmlns:a16="http://schemas.microsoft.com/office/drawing/2014/main" id="{3F5D62A0-6DDC-4E90-A328-72310E4B2B4B}"/>
              </a:ext>
            </a:extLst>
          </p:cNvPr>
          <p:cNvSpPr>
            <a:spLocks xmlns:a="http://schemas.openxmlformats.org/drawingml/2006/main" noGrp="1"/>
          </p:cNvSpPr>
          <p:nvPr/>
        </p:nvSpPr>
        <p:spPr>
          <a:xfrm xmlns:a="http://schemas.openxmlformats.org/drawingml/2006/main">
            <a:off x="1005840" y="429310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Concrete wiring happens once; file paths and thresholds are injected.</a:t>
            </a:r>
            <a:endParaRPr sz="1050"/>
          </a:p>
        </p:txBody>
      </p:sp>
      <p:sp>
        <p:nvSpPr>
          <p:cNvPr id="17" name="Text 14">
            <a:extLst xmlns:a="http://schemas.openxmlformats.org/drawingml/2006/main">
              <a:ext uri="{FF2B5EF4-FFF2-40B4-BE49-F238E27FC236}">
                <a16:creationId xmlns:a16="http://schemas.microsoft.com/office/drawing/2014/main" id="{FB07FD8A-01E0-41A0-9EC7-11398930CF87}"/>
              </a:ext>
            </a:extLst>
          </p:cNvPr>
          <p:cNvSpPr>
            <a:spLocks xmlns:a="http://schemas.openxmlformats.org/drawingml/2006/main" noGrp="1"/>
          </p:cNvSpPr>
          <p:nvPr/>
        </p:nvSpPr>
        <p:spPr>
          <a:xfrm xmlns:a="http://schemas.openxmlformats.org/drawingml/2006/main">
            <a:off x="502920" y="5292090"/>
            <a:ext cx="329184" cy="329184"/>
          </a:xfrm>
          <a:prstGeom xmlns:a="http://schemas.openxmlformats.org/drawingml/2006/main" prst="ellipse">
            <a:avLst/>
          </a:prstGeom>
          <a:solidFill xmlns:a="http://schemas.openxmlformats.org/drawingml/2006/main">
            <a:srgbClr val="8DC63F"/>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4</a:t>
            </a:r>
            <a:endParaRPr sz="1300"/>
          </a:p>
        </p:txBody>
      </p:sp>
      <p:sp>
        <p:nvSpPr>
          <p:cNvPr id="18" name="Text 15">
            <a:extLst xmlns:a="http://schemas.openxmlformats.org/drawingml/2006/main">
              <a:ext uri="{FF2B5EF4-FFF2-40B4-BE49-F238E27FC236}">
                <a16:creationId xmlns:a16="http://schemas.microsoft.com/office/drawing/2014/main" id="{AEAF08CC-5E57-4839-B0C5-2220C8377B19}"/>
              </a:ext>
            </a:extLst>
          </p:cNvPr>
          <p:cNvSpPr>
            <a:spLocks xmlns:a="http://schemas.openxmlformats.org/drawingml/2006/main" noGrp="1"/>
          </p:cNvSpPr>
          <p:nvPr/>
        </p:nvSpPr>
        <p:spPr>
          <a:xfrm xmlns:a="http://schemas.openxmlformats.org/drawingml/2006/main">
            <a:off x="1005840" y="523722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Request verifiable change</a:t>
            </a:r>
            <a:endParaRPr sz="1350"/>
          </a:p>
        </p:txBody>
      </p:sp>
      <p:sp>
        <p:nvSpPr>
          <p:cNvPr id="19" name="Text 16">
            <a:extLst xmlns:a="http://schemas.openxmlformats.org/drawingml/2006/main">
              <a:ext uri="{FF2B5EF4-FFF2-40B4-BE49-F238E27FC236}">
                <a16:creationId xmlns:a16="http://schemas.microsoft.com/office/drawing/2014/main" id="{7F216B22-A29B-4D51-8C78-03BE97EBA8C0}"/>
              </a:ext>
            </a:extLst>
          </p:cNvPr>
          <p:cNvSpPr>
            <a:spLocks xmlns:a="http://schemas.openxmlformats.org/drawingml/2006/main" noGrp="1"/>
          </p:cNvSpPr>
          <p:nvPr/>
        </p:nvSpPr>
        <p:spPr>
          <a:xfrm xmlns:a="http://schemas.openxmlformats.org/drawingml/2006/main">
            <a:off x="1005840" y="553897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Write one actionable comment tied to a test, import-linter rule, or run command.</a:t>
            </a:r>
            <a:endParaRPr sz="1050"/>
          </a:p>
        </p:txBody>
      </p:sp>
    </p:spTree>
    <p:extLst>
      <p:ext uri="{BB962C8B-B14F-4D97-AF65-F5344CB8AC3E}">
        <p14:creationId xmlns:p14="http://schemas.microsoft.com/office/powerpoint/2010/main" val="975794841"/>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6A8534A-51FE-4AC7-812E-07F08F59CF27}"/>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Module 1 — Mini Exercises</a:t>
            </a:r>
            <a:endParaRPr sz="2600"/>
          </a:p>
        </p:txBody>
      </p:sp>
      <p:sp>
        <p:nvSpPr>
          <p:cNvPr id="3" name="Text 1">
            <a:extLst xmlns:a="http://schemas.openxmlformats.org/drawingml/2006/main">
              <a:ext uri="{FF2B5EF4-FFF2-40B4-BE49-F238E27FC236}">
                <a16:creationId xmlns:a16="http://schemas.microsoft.com/office/drawing/2014/main" id="{837932E8-A23D-4D7A-A203-9AFED023EEE4}"/>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الوحدة الأولى — تمارين قصيرة</a:t>
            </a:r>
            <a:endParaRPr sz="1300"/>
          </a:p>
        </p:txBody>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c26d96398ca9480a"/>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D2129E6D-FA9B-4B67-B687-B5D5C15D2602}"/>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02B2CF22-E0B3-47E5-BE9F-CD7DB687E772}"/>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1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42095BE1-B079-47BE-A196-5C5EE3EE520D}"/>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31</a:t>
            </a:r>
            <a:endParaRPr sz="850"/>
          </a:p>
        </p:txBody>
      </p:sp>
      <p:sp>
        <p:nvSpPr>
          <p:cNvPr id="8" name="Text 5">
            <a:extLst xmlns:a="http://schemas.openxmlformats.org/drawingml/2006/main">
              <a:ext uri="{FF2B5EF4-FFF2-40B4-BE49-F238E27FC236}">
                <a16:creationId xmlns:a16="http://schemas.microsoft.com/office/drawing/2014/main" id="{680A86E9-A5CE-4FD2-8679-5C3BA2B5B81A}"/>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A448BCFD-F693-4C33-910A-2F51D677B481}"/>
              </a:ext>
            </a:extLst>
          </p:cNvPr>
          <p:cNvSpPr>
            <a:spLocks xmlns:a="http://schemas.openxmlformats.org/drawingml/2006/main" noGrp="1"/>
          </p:cNvSpPr>
          <p:nvPr/>
        </p:nvSpPr>
        <p:spPr>
          <a:xfrm xmlns:a="http://schemas.openxmlformats.org/drawingml/2006/main">
            <a:off x="1005840" y="14996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Quick quiz (5 questions)</a:t>
            </a:r>
            <a:endParaRPr sz="1350"/>
          </a:p>
        </p:txBody>
      </p:sp>
      <p:sp>
        <p:nvSpPr>
          <p:cNvPr id="10" name="Text 7">
            <a:extLst xmlns:a="http://schemas.openxmlformats.org/drawingml/2006/main">
              <a:ext uri="{FF2B5EF4-FFF2-40B4-BE49-F238E27FC236}">
                <a16:creationId xmlns:a16="http://schemas.microsoft.com/office/drawing/2014/main" id="{0DDB2FD9-F758-450E-A83B-F3BF7CD52159}"/>
              </a:ext>
            </a:extLst>
          </p:cNvPr>
          <p:cNvSpPr>
            <a:spLocks xmlns:a="http://schemas.openxmlformats.org/drawingml/2006/main" noGrp="1"/>
          </p:cNvSpPr>
          <p:nvPr/>
        </p:nvSpPr>
        <p:spPr>
          <a:xfrm xmlns:a="http://schemas.openxmlformats.org/drawingml/2006/main">
            <a:off x="1005840" y="180136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Which imports are legal under the dependency rule; why src-layout; where joblib may be imported; what belongs in the composition root; pydantic-in-domain true/false.</a:t>
            </a:r>
            <a:endParaRPr sz="1050"/>
          </a:p>
        </p:txBody>
      </p:sp>
      <p:sp>
        <p:nvSpPr>
          <p:cNvPr id="11" name="Text 8">
            <a:extLst xmlns:a="http://schemas.openxmlformats.org/drawingml/2006/main">
              <a:ext uri="{FF2B5EF4-FFF2-40B4-BE49-F238E27FC236}">
                <a16:creationId xmlns:a16="http://schemas.microsoft.com/office/drawing/2014/main" id="{662E98D5-EB7B-4657-BF04-13B53FCA53DC}"/>
              </a:ext>
            </a:extLst>
          </p:cNvPr>
          <p:cNvSpPr>
            <a:spLocks xmlns:a="http://schemas.openxmlformats.org/drawingml/2006/main" noGrp="1"/>
          </p:cNvSpPr>
          <p:nvPr/>
        </p:nvSpPr>
        <p:spPr>
          <a:xfrm xmlns:a="http://schemas.openxmlformats.org/drawingml/2006/main">
            <a:off x="502920" y="280035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BF85434E-9079-4F5F-AE70-94BCEF727DEC}"/>
              </a:ext>
            </a:extLst>
          </p:cNvPr>
          <p:cNvSpPr>
            <a:spLocks xmlns:a="http://schemas.openxmlformats.org/drawingml/2006/main" noGrp="1"/>
          </p:cNvSpPr>
          <p:nvPr/>
        </p:nvSpPr>
        <p:spPr>
          <a:xfrm xmlns:a="http://schemas.openxmlformats.org/drawingml/2006/main">
            <a:off x="1005840" y="274548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Debugging: break the cycle</a:t>
            </a:r>
            <a:endParaRPr sz="1350"/>
          </a:p>
        </p:txBody>
      </p:sp>
      <p:sp>
        <p:nvSpPr>
          <p:cNvPr id="13" name="Text 10">
            <a:extLst xmlns:a="http://schemas.openxmlformats.org/drawingml/2006/main">
              <a:ext uri="{FF2B5EF4-FFF2-40B4-BE49-F238E27FC236}">
                <a16:creationId xmlns:a16="http://schemas.microsoft.com/office/drawing/2014/main" id="{AAB7E632-397C-4778-BA3F-7A0945603A36}"/>
              </a:ext>
            </a:extLst>
          </p:cNvPr>
          <p:cNvSpPr>
            <a:spLocks xmlns:a="http://schemas.openxmlformats.org/drawingml/2006/main" noGrp="1"/>
          </p:cNvSpPr>
          <p:nvPr/>
        </p:nvSpPr>
        <p:spPr>
          <a:xfrm xmlns:a="http://schemas.openxmlformats.org/drawingml/2006/main">
            <a:off x="1005840" y="304723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A branch where entities.py imports SklearnModel for a type hint — circular import. Fix options: TYPE_CHECKING guard vs a protocol in the service layer.</a:t>
            </a:r>
            <a:endParaRPr sz="1050"/>
          </a:p>
        </p:txBody>
      </p:sp>
      <p:sp>
        <p:nvSpPr>
          <p:cNvPr id="14" name="Text 11">
            <a:extLst xmlns:a="http://schemas.openxmlformats.org/drawingml/2006/main">
              <a:ext uri="{FF2B5EF4-FFF2-40B4-BE49-F238E27FC236}">
                <a16:creationId xmlns:a16="http://schemas.microsoft.com/office/drawing/2014/main" id="{2D0F670A-9420-4D82-A036-1482B44FB7D9}"/>
              </a:ext>
            </a:extLst>
          </p:cNvPr>
          <p:cNvSpPr>
            <a:spLocks xmlns:a="http://schemas.openxmlformats.org/drawingml/2006/main" noGrp="1"/>
          </p:cNvSpPr>
          <p:nvPr/>
        </p:nvSpPr>
        <p:spPr>
          <a:xfrm xmlns:a="http://schemas.openxmlformats.org/drawingml/2006/main">
            <a:off x="502920" y="404622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8598D5CD-1263-4621-A688-882B26865E28}"/>
              </a:ext>
            </a:extLst>
          </p:cNvPr>
          <p:cNvSpPr>
            <a:spLocks xmlns:a="http://schemas.openxmlformats.org/drawingml/2006/main" noGrp="1"/>
          </p:cNvSpPr>
          <p:nvPr/>
        </p:nvSpPr>
        <p:spPr>
          <a:xfrm xmlns:a="http://schemas.openxmlformats.org/drawingml/2006/main">
            <a:off x="1005840" y="399135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Code review: the god file</a:t>
            </a:r>
            <a:endParaRPr sz="1350"/>
          </a:p>
        </p:txBody>
      </p:sp>
      <p:sp>
        <p:nvSpPr>
          <p:cNvPr id="16" name="Text 13">
            <a:extLst xmlns:a="http://schemas.openxmlformats.org/drawingml/2006/main">
              <a:ext uri="{FF2B5EF4-FFF2-40B4-BE49-F238E27FC236}">
                <a16:creationId xmlns:a16="http://schemas.microsoft.com/office/drawing/2014/main" id="{B8AB1AFB-8F52-4F95-A4DE-30419942F9FA}"/>
              </a:ext>
            </a:extLst>
          </p:cNvPr>
          <p:cNvSpPr>
            <a:spLocks xmlns:a="http://schemas.openxmlformats.org/drawingml/2006/main" noGrp="1"/>
          </p:cNvSpPr>
          <p:nvPr/>
        </p:nvSpPr>
        <p:spPr>
          <a:xfrm xmlns:a="http://schemas.openxmlformats.org/drawingml/2006/main">
            <a:off x="1005840" y="429310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review_me_module1.py — a 180-line PR. Each pair writes ≥5 review comments, then compares against the instructor model review in the solutions repo.</a:t>
            </a:r>
            <a:endParaRPr sz="1050"/>
          </a:p>
        </p:txBody>
      </p:sp>
      <p:sp>
        <p:nvSpPr>
          <p:cNvPr id="17" name="Text 14">
            <a:extLst xmlns:a="http://schemas.openxmlformats.org/drawingml/2006/main">
              <a:ext uri="{FF2B5EF4-FFF2-40B4-BE49-F238E27FC236}">
                <a16:creationId xmlns:a16="http://schemas.microsoft.com/office/drawing/2014/main" id="{C1C0731C-7BF4-4FFF-869B-C55555D50070}"/>
              </a:ext>
            </a:extLst>
          </p:cNvPr>
          <p:cNvSpPr>
            <a:spLocks xmlns:a="http://schemas.openxmlformats.org/drawingml/2006/main" noGrp="1"/>
          </p:cNvSpPr>
          <p:nvPr/>
        </p:nvSpPr>
        <p:spPr>
          <a:xfrm xmlns:a="http://schemas.openxmlformats.org/drawingml/2006/main">
            <a:off x="502920" y="5292090"/>
            <a:ext cx="329184" cy="329184"/>
          </a:xfrm>
          <a:prstGeom xmlns:a="http://schemas.openxmlformats.org/drawingml/2006/main" prst="ellipse">
            <a:avLst/>
          </a:prstGeom>
          <a:solidFill xmlns:a="http://schemas.openxmlformats.org/drawingml/2006/main">
            <a:srgbClr val="8DC63F"/>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4</a:t>
            </a:r>
            <a:endParaRPr sz="1300"/>
          </a:p>
        </p:txBody>
      </p:sp>
      <p:sp>
        <p:nvSpPr>
          <p:cNvPr id="18" name="Text 15">
            <a:extLst xmlns:a="http://schemas.openxmlformats.org/drawingml/2006/main">
              <a:ext uri="{FF2B5EF4-FFF2-40B4-BE49-F238E27FC236}">
                <a16:creationId xmlns:a16="http://schemas.microsoft.com/office/drawing/2014/main" id="{C5260ED7-F4D3-45E0-8B52-E928D8DA4546}"/>
              </a:ext>
            </a:extLst>
          </p:cNvPr>
          <p:cNvSpPr>
            <a:spLocks xmlns:a="http://schemas.openxmlformats.org/drawingml/2006/main" noGrp="1"/>
          </p:cNvSpPr>
          <p:nvPr/>
        </p:nvSpPr>
        <p:spPr>
          <a:xfrm xmlns:a="http://schemas.openxmlformats.org/drawingml/2006/main">
            <a:off x="1005840" y="523722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Discussion questions</a:t>
            </a:r>
            <a:endParaRPr sz="1350"/>
          </a:p>
        </p:txBody>
      </p:sp>
      <p:sp>
        <p:nvSpPr>
          <p:cNvPr id="19" name="Text 16">
            <a:extLst xmlns:a="http://schemas.openxmlformats.org/drawingml/2006/main">
              <a:ext uri="{FF2B5EF4-FFF2-40B4-BE49-F238E27FC236}">
                <a16:creationId xmlns:a16="http://schemas.microsoft.com/office/drawing/2014/main" id="{3D154ABF-9301-4F25-AD82-7A16027075C8}"/>
              </a:ext>
            </a:extLst>
          </p:cNvPr>
          <p:cNvSpPr>
            <a:spLocks xmlns:a="http://schemas.openxmlformats.org/drawingml/2006/main" noGrp="1"/>
          </p:cNvSpPr>
          <p:nvPr/>
        </p:nvSpPr>
        <p:spPr>
          <a:xfrm xmlns:a="http://schemas.openxmlformats.org/drawingml/2006/main">
            <a:off x="1005840" y="553897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"Layering slows experimentation" — propose a hybrid workflow. Should the fraud threshold live in code, config, or database — and what changes the answer?</a:t>
            </a:r>
            <a:endParaRPr sz="1050"/>
          </a:p>
        </p:txBody>
      </p:sp>
    </p:spTree>
    <p:extLst>
      <p:ext uri="{BB962C8B-B14F-4D97-AF65-F5344CB8AC3E}">
        <p14:creationId xmlns:p14="http://schemas.microsoft.com/office/powerpoint/2010/main" val="1320332402"/>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7C09E9C-FD52-4619-A489-50B765032E99}"/>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Case Study — Recommendation Monolith at SouqPlus</a:t>
            </a:r>
            <a:endParaRPr sz="2600"/>
          </a:p>
        </p:txBody>
      </p:sp>
      <p:sp>
        <p:nvSpPr>
          <p:cNvPr id="3" name="Text 1">
            <a:extLst xmlns:a="http://schemas.openxmlformats.org/drawingml/2006/main">
              <a:ext uri="{FF2B5EF4-FFF2-40B4-BE49-F238E27FC236}">
                <a16:creationId xmlns:a16="http://schemas.microsoft.com/office/drawing/2014/main" id="{9C9EEF53-22B8-4B06-AF4E-81D3322CF755}"/>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دراسة حالة — نظام التوصيات في سوق بلس</a:t>
            </a:r>
            <a:endParaRPr sz="1300"/>
          </a:p>
        </p:txBody>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92d7bf7c7ae346f8"/>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2A470E26-7F0D-4549-8D03-029703B6ED27}"/>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0393A785-0AC4-49A7-80FA-0E828EFE3CB7}"/>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1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8E19FA72-092C-4C7F-BE6D-B79E5E8236A4}"/>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32</a:t>
            </a:r>
            <a:endParaRPr sz="850"/>
          </a:p>
        </p:txBody>
      </p:sp>
      <p:sp>
        <p:nvSpPr>
          <p:cNvPr id="8" name="Text 5">
            <a:extLst xmlns:a="http://schemas.openxmlformats.org/drawingml/2006/main">
              <a:ext uri="{FF2B5EF4-FFF2-40B4-BE49-F238E27FC236}">
                <a16:creationId xmlns:a16="http://schemas.microsoft.com/office/drawing/2014/main" id="{AF59B131-CD80-4625-8740-DC75D493222E}"/>
              </a:ext>
            </a:extLst>
          </p:cNvPr>
          <p:cNvSpPr>
            <a:spLocks xmlns:a="http://schemas.openxmlformats.org/drawingml/2006/main" noGrp="1"/>
          </p:cNvSpPr>
          <p:nvPr/>
        </p:nvSpPr>
        <p:spPr>
          <a:xfrm xmlns:a="http://schemas.openxmlformats.org/drawingml/2006/main">
            <a:off x="502920" y="1444752"/>
            <a:ext cx="1554480" cy="310896"/>
          </a:xfrm>
          <a:prstGeom xmlns:a="http://schemas.openxmlformats.org/drawingml/2006/main" prst="roundRect">
            <a:avLst>
              <a:gd name="adj" fmla="val 1764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CASE STUDY</a:t>
            </a:r>
            <a:endParaRPr sz="950"/>
          </a:p>
        </p:txBody>
      </p:sp>
      <p:sp>
        <p:nvSpPr>
          <p:cNvPr id="9" name="Text 6">
            <a:extLst xmlns:a="http://schemas.openxmlformats.org/drawingml/2006/main">
              <a:ext uri="{FF2B5EF4-FFF2-40B4-BE49-F238E27FC236}">
                <a16:creationId xmlns:a16="http://schemas.microsoft.com/office/drawing/2014/main" id="{557F387F-1547-4123-A564-C961FCE81D0E}"/>
              </a:ext>
            </a:extLst>
          </p:cNvPr>
          <p:cNvSpPr>
            <a:spLocks xmlns:a="http://schemas.openxmlformats.org/drawingml/2006/main" noGrp="1"/>
          </p:cNvSpPr>
          <p:nvPr/>
        </p:nvSpPr>
        <p:spPr>
          <a:xfrm xmlns:a="http://schemas.openxmlformats.org/drawingml/2006/main">
            <a:off x="2240280" y="1444752"/>
            <a:ext cx="2377440" cy="310896"/>
          </a:xfrm>
          <a:prstGeom xmlns:a="http://schemas.openxmlformats.org/drawingml/2006/main" prst="roundRect">
            <a:avLst>
              <a:gd name="adj" fmla="val 17647"/>
            </a:avLst>
          </a:prstGeom>
          <a:solidFill xmlns:a="http://schemas.openxmlformats.org/drawingml/2006/main">
            <a:srgbClr val="EEF3FB"/>
          </a:solidFill>
          <a:ln xmlns:a="http://schemas.openxmlformats.org/drawingml/2006/main" w="12700">
            <a:solidFill>
              <a:srgbClr val="D9E4F5"/>
            </a:solidFill>
          </a:ln>
        </p:spPr>
        <p:txBody>
          <a:bodyPr xmlns:a="http://schemas.openxmlformats.org/drawingml/2006/main" wrap="square" anchor="ctr"/>
          <a:lstStyle xmlns:a="http://schemas.openxmlformats.org/drawingml/2006/main"/>
          <a:p xmlns:a="http://schemas.openxmlformats.org/drawingml/2006/main">
            <a:pPr marL="0" indent="0" algn="ctr">
              <a:buNone/>
            </a:pPr>
            <a:r>
              <a:rPr sz="950" b="1">
                <a:solidFill>
                  <a:srgbClr val="1D2A5C"/>
                </a:solidFill>
                <a:latin typeface="Calibri"/>
                <a:ea typeface="Calibri"/>
                <a:cs typeface="Calibri"/>
              </a:rPr>
              <a:t>E-commerce · Riyadh</a:t>
            </a:r>
            <a:endParaRPr sz="950"/>
          </a:p>
        </p:txBody>
      </p:sp>
      <p:sp>
        <p:nvSpPr>
          <p:cNvPr id="10" name="Text 7">
            <a:extLst xmlns:a="http://schemas.openxmlformats.org/drawingml/2006/main">
              <a:ext uri="{FF2B5EF4-FFF2-40B4-BE49-F238E27FC236}">
                <a16:creationId xmlns:a16="http://schemas.microsoft.com/office/drawing/2014/main" id="{B697FCBA-80A4-4952-8C84-364D19539212}"/>
              </a:ext>
            </a:extLst>
          </p:cNvPr>
          <p:cNvSpPr>
            <a:spLocks xmlns:a="http://schemas.openxmlformats.org/drawingml/2006/main" noGrp="1"/>
          </p:cNvSpPr>
          <p:nvPr/>
        </p:nvSpPr>
        <p:spPr>
          <a:xfrm xmlns:a="http://schemas.openxmlformats.org/drawingml/2006/main">
            <a:off x="502920" y="1938528"/>
            <a:ext cx="658368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SouqPlus runs a product-recommendation engine built by a departed contractor: one 2,400-line module — Flask + pandas + LightGBM + Redis calls interleaved. Recommendations drive 23% of revenue. White Friday is 10 weeks away.</a:t>
            </a:r>
            <a:endParaRPr sz="1100"/>
          </a:p>
        </p:txBody>
      </p:sp>
      <p:sp>
        <p:nvSpPr>
          <p:cNvPr id="11" name="Shape 8">
            <a:extLst xmlns:a="http://schemas.openxmlformats.org/drawingml/2006/main">
              <a:ext uri="{FF2B5EF4-FFF2-40B4-BE49-F238E27FC236}">
                <a16:creationId xmlns:a16="http://schemas.microsoft.com/office/drawing/2014/main" id="{FA2D5E30-20CF-4A33-8C62-E039B5EBE940}"/>
              </a:ext>
            </a:extLst>
          </p:cNvPr>
          <p:cNvSpPr>
            <a:spLocks xmlns:a="http://schemas.openxmlformats.org/drawingml/2006/main" noGrp="1"/>
          </p:cNvSpPr>
          <p:nvPr/>
        </p:nvSpPr>
        <p:spPr>
          <a:xfrm xmlns:a="http://schemas.openxmlformats.org/drawingml/2006/main">
            <a:off x="566928" y="3026664"/>
            <a:ext cx="182880" cy="182880"/>
          </a:xfrm>
          <a:prstGeom xmlns:a="http://schemas.openxmlformats.org/drawingml/2006/main" prst="ellipse">
            <a:avLst/>
          </a:prstGeom>
          <a:solidFill xmlns:a="http://schemas.openxmlformats.org/drawingml/2006/main">
            <a:srgbClr val="00A79D"/>
          </a:solidFill>
        </p:spPr>
      </p:sp>
      <p:sp>
        <p:nvSpPr>
          <p:cNvPr id="12" name="Shape 9">
            <a:extLst xmlns:a="http://schemas.openxmlformats.org/drawingml/2006/main">
              <a:ext uri="{FF2B5EF4-FFF2-40B4-BE49-F238E27FC236}">
                <a16:creationId xmlns:a16="http://schemas.microsoft.com/office/drawing/2014/main" id="{DE0A1CBA-9F9C-4E9C-BB7C-4C188AA4640F}"/>
              </a:ext>
            </a:extLst>
          </p:cNvPr>
          <p:cNvSpPr>
            <a:spLocks xmlns:a="http://schemas.openxmlformats.org/drawingml/2006/main" noGrp="1"/>
          </p:cNvSpPr>
          <p:nvPr/>
        </p:nvSpPr>
        <p:spPr>
          <a:xfrm xmlns:a="http://schemas.openxmlformats.org/drawingml/2006/main">
            <a:off x="658368" y="3227832"/>
            <a:ext cx="0" cy="603504"/>
          </a:xfrm>
          <a:prstGeom xmlns:a="http://schemas.openxmlformats.org/drawingml/2006/main" prst="line">
            <a:avLst/>
          </a:prstGeom>
          <a:noFill xmlns:a="http://schemas.openxmlformats.org/drawingml/2006/main"/>
          <a:ln xmlns:a="http://schemas.openxmlformats.org/drawingml/2006/main" w="19050">
            <a:solidFill>
              <a:srgbClr val="D9E4F5"/>
            </a:solidFill>
            <a:prstDash val="solid"/>
          </a:ln>
        </p:spPr>
      </p:sp>
      <p:sp>
        <p:nvSpPr>
          <p:cNvPr id="13" name="Text 10">
            <a:extLst xmlns:a="http://schemas.openxmlformats.org/drawingml/2006/main">
              <a:ext uri="{FF2B5EF4-FFF2-40B4-BE49-F238E27FC236}">
                <a16:creationId xmlns:a16="http://schemas.microsoft.com/office/drawing/2014/main" id="{A5336415-5851-4D18-8E0E-D01D2E4089FF}"/>
              </a:ext>
            </a:extLst>
          </p:cNvPr>
          <p:cNvSpPr>
            <a:spLocks xmlns:a="http://schemas.openxmlformats.org/drawingml/2006/main" noGrp="1"/>
          </p:cNvSpPr>
          <p:nvPr/>
        </p:nvSpPr>
        <p:spPr>
          <a:xfrm xmlns:a="http://schemas.openxmlformats.org/drawingml/2006/main">
            <a:off x="960120" y="2953512"/>
            <a:ext cx="612648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1D2A5C"/>
                </a:solidFill>
                <a:latin typeface="Calibri"/>
                <a:ea typeface="Calibri"/>
                <a:cs typeface="Calibri"/>
              </a:rPr>
              <a:t>Redis timeout kills the whole API  </a:t>
            </a:r>
            <a:r>
              <a:rPr sz="1000">
                <a:solidFill>
                  <a:srgbClr val="5F6B7A"/>
                </a:solidFill>
                <a:latin typeface="Calibri"/>
                <a:ea typeface="Calibri"/>
                <a:cs typeface="Calibri"/>
              </a:rPr>
              <a:t>No separation between cache adapter and scoring logic — one dependency, full outage</a:t>
            </a:r>
            <a:endParaRPr sz="1050"/>
          </a:p>
        </p:txBody>
      </p:sp>
      <p:sp>
        <p:nvSpPr>
          <p:cNvPr id="14" name="Shape 11">
            <a:extLst xmlns:a="http://schemas.openxmlformats.org/drawingml/2006/main">
              <a:ext uri="{FF2B5EF4-FFF2-40B4-BE49-F238E27FC236}">
                <a16:creationId xmlns:a16="http://schemas.microsoft.com/office/drawing/2014/main" id="{53D8D618-FFEE-4023-8CA5-A1C2E7E6190E}"/>
              </a:ext>
            </a:extLst>
          </p:cNvPr>
          <p:cNvSpPr>
            <a:spLocks xmlns:a="http://schemas.openxmlformats.org/drawingml/2006/main" noGrp="1"/>
          </p:cNvSpPr>
          <p:nvPr/>
        </p:nvSpPr>
        <p:spPr>
          <a:xfrm xmlns:a="http://schemas.openxmlformats.org/drawingml/2006/main">
            <a:off x="566928" y="3849624"/>
            <a:ext cx="182880" cy="182880"/>
          </a:xfrm>
          <a:prstGeom xmlns:a="http://schemas.openxmlformats.org/drawingml/2006/main" prst="ellipse">
            <a:avLst/>
          </a:prstGeom>
          <a:solidFill xmlns:a="http://schemas.openxmlformats.org/drawingml/2006/main">
            <a:srgbClr val="29ABE2"/>
          </a:solidFill>
        </p:spPr>
      </p:sp>
      <p:sp>
        <p:nvSpPr>
          <p:cNvPr id="15" name="Shape 12">
            <a:extLst xmlns:a="http://schemas.openxmlformats.org/drawingml/2006/main">
              <a:ext uri="{FF2B5EF4-FFF2-40B4-BE49-F238E27FC236}">
                <a16:creationId xmlns:a16="http://schemas.microsoft.com/office/drawing/2014/main" id="{14A9EE4B-6E83-4C5B-BC28-4672C1B2C3C5}"/>
              </a:ext>
            </a:extLst>
          </p:cNvPr>
          <p:cNvSpPr>
            <a:spLocks xmlns:a="http://schemas.openxmlformats.org/drawingml/2006/main" noGrp="1"/>
          </p:cNvSpPr>
          <p:nvPr/>
        </p:nvSpPr>
        <p:spPr>
          <a:xfrm xmlns:a="http://schemas.openxmlformats.org/drawingml/2006/main">
            <a:off x="658368" y="4050792"/>
            <a:ext cx="0" cy="603504"/>
          </a:xfrm>
          <a:prstGeom xmlns:a="http://schemas.openxmlformats.org/drawingml/2006/main" prst="line">
            <a:avLst/>
          </a:prstGeom>
          <a:noFill xmlns:a="http://schemas.openxmlformats.org/drawingml/2006/main"/>
          <a:ln xmlns:a="http://schemas.openxmlformats.org/drawingml/2006/main" w="19050">
            <a:solidFill>
              <a:srgbClr val="D9E4F5"/>
            </a:solidFill>
            <a:prstDash val="solid"/>
          </a:ln>
        </p:spPr>
      </p:sp>
      <p:sp>
        <p:nvSpPr>
          <p:cNvPr id="16" name="Text 13">
            <a:extLst xmlns:a="http://schemas.openxmlformats.org/drawingml/2006/main">
              <a:ext uri="{FF2B5EF4-FFF2-40B4-BE49-F238E27FC236}">
                <a16:creationId xmlns:a16="http://schemas.microsoft.com/office/drawing/2014/main" id="{CDF40BBF-1C9B-4793-9112-8F087766FF4D}"/>
              </a:ext>
            </a:extLst>
          </p:cNvPr>
          <p:cNvSpPr>
            <a:spLocks xmlns:a="http://schemas.openxmlformats.org/drawingml/2006/main" noGrp="1"/>
          </p:cNvSpPr>
          <p:nvPr/>
        </p:nvSpPr>
        <p:spPr>
          <a:xfrm xmlns:a="http://schemas.openxmlformats.org/drawingml/2006/main">
            <a:off x="960120" y="3776472"/>
            <a:ext cx="612648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1D2A5C"/>
                </a:solidFill>
                <a:latin typeface="Calibri"/>
                <a:ea typeface="Calibri"/>
                <a:cs typeface="Calibri"/>
              </a:rPr>
              <a:t>Emergency model swap takes 9 days  </a:t>
            </a:r>
            <a:r>
              <a:rPr sz="1000">
                <a:solidFill>
                  <a:srgbClr val="5F6B7A"/>
                </a:solidFill>
                <a:latin typeface="Calibri"/>
                <a:ea typeface="Calibri"/>
                <a:cs typeface="Calibri"/>
              </a:rPr>
              <a:t>Retraining code and serving code disagreed on 4 of 61 features</a:t>
            </a:r>
            <a:endParaRPr sz="1050"/>
          </a:p>
        </p:txBody>
      </p:sp>
      <p:sp>
        <p:nvSpPr>
          <p:cNvPr id="17" name="Shape 14">
            <a:extLst xmlns:a="http://schemas.openxmlformats.org/drawingml/2006/main">
              <a:ext uri="{FF2B5EF4-FFF2-40B4-BE49-F238E27FC236}">
                <a16:creationId xmlns:a16="http://schemas.microsoft.com/office/drawing/2014/main" id="{F5BA2E9F-70CC-4460-B217-27D06D6CB846}"/>
              </a:ext>
            </a:extLst>
          </p:cNvPr>
          <p:cNvSpPr>
            <a:spLocks xmlns:a="http://schemas.openxmlformats.org/drawingml/2006/main" noGrp="1"/>
          </p:cNvSpPr>
          <p:nvPr/>
        </p:nvSpPr>
        <p:spPr>
          <a:xfrm xmlns:a="http://schemas.openxmlformats.org/drawingml/2006/main">
            <a:off x="566928" y="4672584"/>
            <a:ext cx="182880" cy="182880"/>
          </a:xfrm>
          <a:prstGeom xmlns:a="http://schemas.openxmlformats.org/drawingml/2006/main" prst="ellipse">
            <a:avLst/>
          </a:prstGeom>
          <a:solidFill xmlns:a="http://schemas.openxmlformats.org/drawingml/2006/main">
            <a:srgbClr val="F58220"/>
          </a:solidFill>
        </p:spPr>
      </p:sp>
      <p:sp>
        <p:nvSpPr>
          <p:cNvPr id="18" name="Shape 15">
            <a:extLst xmlns:a="http://schemas.openxmlformats.org/drawingml/2006/main">
              <a:ext uri="{FF2B5EF4-FFF2-40B4-BE49-F238E27FC236}">
                <a16:creationId xmlns:a16="http://schemas.microsoft.com/office/drawing/2014/main" id="{C75CE0E8-20AD-4B26-B173-509BF8223B68}"/>
              </a:ext>
            </a:extLst>
          </p:cNvPr>
          <p:cNvSpPr>
            <a:spLocks xmlns:a="http://schemas.openxmlformats.org/drawingml/2006/main" noGrp="1"/>
          </p:cNvSpPr>
          <p:nvPr/>
        </p:nvSpPr>
        <p:spPr>
          <a:xfrm xmlns:a="http://schemas.openxmlformats.org/drawingml/2006/main">
            <a:off x="658368" y="4873752"/>
            <a:ext cx="0" cy="603504"/>
          </a:xfrm>
          <a:prstGeom xmlns:a="http://schemas.openxmlformats.org/drawingml/2006/main" prst="line">
            <a:avLst/>
          </a:prstGeom>
          <a:noFill xmlns:a="http://schemas.openxmlformats.org/drawingml/2006/main"/>
          <a:ln xmlns:a="http://schemas.openxmlformats.org/drawingml/2006/main" w="19050">
            <a:solidFill>
              <a:srgbClr val="D9E4F5"/>
            </a:solidFill>
            <a:prstDash val="solid"/>
          </a:ln>
        </p:spPr>
      </p:sp>
      <p:sp>
        <p:nvSpPr>
          <p:cNvPr id="19" name="Text 16">
            <a:extLst xmlns:a="http://schemas.openxmlformats.org/drawingml/2006/main">
              <a:ext uri="{FF2B5EF4-FFF2-40B4-BE49-F238E27FC236}">
                <a16:creationId xmlns:a16="http://schemas.microsoft.com/office/drawing/2014/main" id="{A8A60C6E-8997-4324-B1C1-AC3F06298322}"/>
              </a:ext>
            </a:extLst>
          </p:cNvPr>
          <p:cNvSpPr>
            <a:spLocks xmlns:a="http://schemas.openxmlformats.org/drawingml/2006/main" noGrp="1"/>
          </p:cNvSpPr>
          <p:nvPr/>
        </p:nvSpPr>
        <p:spPr>
          <a:xfrm xmlns:a="http://schemas.openxmlformats.org/drawingml/2006/main">
            <a:off x="960120" y="4599432"/>
            <a:ext cx="612648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1D2A5C"/>
                </a:solidFill>
                <a:latin typeface="Calibri"/>
                <a:ea typeface="Calibri"/>
                <a:cs typeface="Calibri"/>
              </a:rPr>
              <a:t>Constraints land  </a:t>
            </a:r>
            <a:r>
              <a:rPr sz="1000">
                <a:solidFill>
                  <a:srgbClr val="5F6B7A"/>
                </a:solidFill>
                <a:latin typeface="Calibri"/>
                <a:ea typeface="Calibri"/>
                <a:cs typeface="Calibri"/>
              </a:rPr>
              <a:t>Two engineers · zero downtime in Ramadan-season traffic · no retraining (6-week risk sign-off)</a:t>
            </a:r>
            <a:endParaRPr sz="1050"/>
          </a:p>
        </p:txBody>
      </p:sp>
      <p:sp>
        <p:nvSpPr>
          <p:cNvPr id="20" name="Shape 17">
            <a:extLst xmlns:a="http://schemas.openxmlformats.org/drawingml/2006/main">
              <a:ext uri="{FF2B5EF4-FFF2-40B4-BE49-F238E27FC236}">
                <a16:creationId xmlns:a16="http://schemas.microsoft.com/office/drawing/2014/main" id="{D47A3833-6E2E-42EC-82C6-784F7CA6A645}"/>
              </a:ext>
            </a:extLst>
          </p:cNvPr>
          <p:cNvSpPr>
            <a:spLocks xmlns:a="http://schemas.openxmlformats.org/drawingml/2006/main" noGrp="1"/>
          </p:cNvSpPr>
          <p:nvPr/>
        </p:nvSpPr>
        <p:spPr>
          <a:xfrm xmlns:a="http://schemas.openxmlformats.org/drawingml/2006/main">
            <a:off x="566928" y="5495544"/>
            <a:ext cx="182880" cy="182880"/>
          </a:xfrm>
          <a:prstGeom xmlns:a="http://schemas.openxmlformats.org/drawingml/2006/main" prst="ellipse">
            <a:avLst/>
          </a:prstGeom>
          <a:solidFill xmlns:a="http://schemas.openxmlformats.org/drawingml/2006/main">
            <a:srgbClr val="8DC63F"/>
          </a:solidFill>
        </p:spPr>
      </p:sp>
      <p:sp>
        <p:nvSpPr>
          <p:cNvPr id="21" name="Text 18">
            <a:extLst xmlns:a="http://schemas.openxmlformats.org/drawingml/2006/main">
              <a:ext uri="{FF2B5EF4-FFF2-40B4-BE49-F238E27FC236}">
                <a16:creationId xmlns:a16="http://schemas.microsoft.com/office/drawing/2014/main" id="{EA27B244-C60A-4DC2-A0E1-DB1988B8F5BD}"/>
              </a:ext>
            </a:extLst>
          </p:cNvPr>
          <p:cNvSpPr>
            <a:spLocks xmlns:a="http://schemas.openxmlformats.org/drawingml/2006/main" noGrp="1"/>
          </p:cNvSpPr>
          <p:nvPr/>
        </p:nvSpPr>
        <p:spPr>
          <a:xfrm xmlns:a="http://schemas.openxmlformats.org/drawingml/2006/main">
            <a:off x="960120" y="5422392"/>
            <a:ext cx="612648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1D2A5C"/>
                </a:solidFill>
                <a:latin typeface="Calibri"/>
                <a:ea typeface="Calibri"/>
                <a:cs typeface="Calibri"/>
              </a:rPr>
              <a:t>Strangler-fig refactor, step by step  </a:t>
            </a:r>
            <a:r>
              <a:rPr sz="1000">
                <a:solidFill>
                  <a:srgbClr val="5F6B7A"/>
                </a:solidFill>
                <a:latin typeface="Calibri"/>
                <a:ea typeface="Calibri"/>
                <a:cs typeface="Calibri"/>
              </a:rPr>
              <a:t>Characterisation tests → shared feature module → Model protocol → Redis behind FeatureRepo → split API</a:t>
            </a:r>
            <a:endParaRPr sz="1050"/>
          </a:p>
        </p:txBody>
      </p:sp>
      <p:sp>
        <p:nvSpPr>
          <p:cNvPr id="22" name="Shape 19">
            <a:extLst xmlns:a="http://schemas.openxmlformats.org/drawingml/2006/main">
              <a:ext uri="{FF2B5EF4-FFF2-40B4-BE49-F238E27FC236}">
                <a16:creationId xmlns:a16="http://schemas.microsoft.com/office/drawing/2014/main" id="{A31EED64-5981-4E54-87B2-192CBF41789E}"/>
              </a:ext>
            </a:extLst>
          </p:cNvPr>
          <p:cNvSpPr>
            <a:spLocks xmlns:a="http://schemas.openxmlformats.org/drawingml/2006/main" noGrp="1"/>
          </p:cNvSpPr>
          <p:nvPr/>
        </p:nvSpPr>
        <p:spPr>
          <a:xfrm xmlns:a="http://schemas.openxmlformats.org/drawingml/2006/main">
            <a:off x="7406640" y="1938528"/>
            <a:ext cx="4279392" cy="4160520"/>
          </a:xfrm>
          <a:prstGeom xmlns:a="http://schemas.openxmlformats.org/drawingml/2006/main" prst="roundRect">
            <a:avLst>
              <a:gd name="adj" fmla="val 1538"/>
            </a:avLst>
          </a:prstGeom>
          <a:solidFill xmlns:a="http://schemas.openxmlformats.org/drawingml/2006/main">
            <a:srgbClr val="EAF4DC"/>
          </a:solidFill>
        </p:spPr>
      </p:sp>
      <p:sp>
        <p:nvSpPr>
          <p:cNvPr id="23" name="Text 20">
            <a:extLst xmlns:a="http://schemas.openxmlformats.org/drawingml/2006/main">
              <a:ext uri="{FF2B5EF4-FFF2-40B4-BE49-F238E27FC236}">
                <a16:creationId xmlns:a16="http://schemas.microsoft.com/office/drawing/2014/main" id="{CFCFE31D-6FFB-41A8-A623-5194263AF8F8}"/>
              </a:ext>
            </a:extLst>
          </p:cNvPr>
          <p:cNvSpPr>
            <a:spLocks xmlns:a="http://schemas.openxmlformats.org/drawingml/2006/main" noGrp="1"/>
          </p:cNvSpPr>
          <p:nvPr/>
        </p:nvSpPr>
        <p:spPr>
          <a:xfrm xmlns:a="http://schemas.openxmlformats.org/drawingml/2006/main">
            <a:off x="7607808" y="2103120"/>
            <a:ext cx="3877056"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b="1" spc="150">
                <a:solidFill>
                  <a:srgbClr val="4A7A15"/>
                </a:solidFill>
                <a:latin typeface="Calibri"/>
                <a:ea typeface="Calibri"/>
                <a:cs typeface="Calibri"/>
              </a:rPr>
              <a:t>LESSONS FOR YOUR SERVICE</a:t>
            </a:r>
            <a:endParaRPr sz="950"/>
          </a:p>
        </p:txBody>
      </p:sp>
      <p:sp>
        <p:nvSpPr>
          <p:cNvPr id="24" name="Text 21">
            <a:extLst xmlns:a="http://schemas.openxmlformats.org/drawingml/2006/main">
              <a:ext uri="{FF2B5EF4-FFF2-40B4-BE49-F238E27FC236}">
                <a16:creationId xmlns:a16="http://schemas.microsoft.com/office/drawing/2014/main" id="{E95363A6-E44F-4018-BB11-47C592D4CD0E}"/>
              </a:ext>
            </a:extLst>
          </p:cNvPr>
          <p:cNvSpPr>
            <a:spLocks xmlns:a="http://schemas.openxmlformats.org/drawingml/2006/main" noGrp="1"/>
          </p:cNvSpPr>
          <p:nvPr/>
        </p:nvSpPr>
        <p:spPr>
          <a:xfrm xmlns:a="http://schemas.openxmlformats.org/drawingml/2006/main">
            <a:off x="7607808" y="2487168"/>
            <a:ext cx="256032"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5A8F1F"/>
                </a:solidFill>
                <a:latin typeface="Calibri"/>
                <a:ea typeface="Calibri"/>
                <a:cs typeface="Calibri"/>
              </a:rPr>
              <a:t>✓</a:t>
            </a:r>
            <a:endParaRPr sz="1100"/>
          </a:p>
        </p:txBody>
      </p:sp>
      <p:sp>
        <p:nvSpPr>
          <p:cNvPr id="25" name="Text 22">
            <a:extLst xmlns:a="http://schemas.openxmlformats.org/drawingml/2006/main">
              <a:ext uri="{FF2B5EF4-FFF2-40B4-BE49-F238E27FC236}">
                <a16:creationId xmlns:a16="http://schemas.microsoft.com/office/drawing/2014/main" id="{28BFA48D-9B12-4D5F-AD53-4DD2CA138260}"/>
              </a:ext>
            </a:extLst>
          </p:cNvPr>
          <p:cNvSpPr>
            <a:spLocks xmlns:a="http://schemas.openxmlformats.org/drawingml/2006/main" noGrp="1"/>
          </p:cNvSpPr>
          <p:nvPr/>
        </p:nvSpPr>
        <p:spPr>
          <a:xfrm xmlns:a="http://schemas.openxmlformats.org/drawingml/2006/main">
            <a:off x="7909560" y="2468880"/>
            <a:ext cx="3547872"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3F5A18"/>
                </a:solidFill>
                <a:latin typeface="Calibri"/>
                <a:ea typeface="Calibri"/>
                <a:cs typeface="Calibri"/>
              </a:rPr>
              <a:t>Characterisation tests must precede any code movement — lock current behaviour first</a:t>
            </a:r>
            <a:endParaRPr sz="1000"/>
          </a:p>
        </p:txBody>
      </p:sp>
      <p:sp>
        <p:nvSpPr>
          <p:cNvPr id="26" name="Text 23">
            <a:extLst xmlns:a="http://schemas.openxmlformats.org/drawingml/2006/main">
              <a:ext uri="{FF2B5EF4-FFF2-40B4-BE49-F238E27FC236}">
                <a16:creationId xmlns:a16="http://schemas.microsoft.com/office/drawing/2014/main" id="{200A09CF-77C9-416B-81D3-0E7EA435DEB7}"/>
              </a:ext>
            </a:extLst>
          </p:cNvPr>
          <p:cNvSpPr>
            <a:spLocks xmlns:a="http://schemas.openxmlformats.org/drawingml/2006/main" noGrp="1"/>
          </p:cNvSpPr>
          <p:nvPr/>
        </p:nvSpPr>
        <p:spPr>
          <a:xfrm xmlns:a="http://schemas.openxmlformats.org/drawingml/2006/main">
            <a:off x="7607808" y="3355848"/>
            <a:ext cx="256032"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5A8F1F"/>
                </a:solidFill>
                <a:latin typeface="Calibri"/>
                <a:ea typeface="Calibri"/>
                <a:cs typeface="Calibri"/>
              </a:rPr>
              <a:t>✓</a:t>
            </a:r>
            <a:endParaRPr sz="1100"/>
          </a:p>
        </p:txBody>
      </p:sp>
      <p:sp>
        <p:nvSpPr>
          <p:cNvPr id="27" name="Text 24">
            <a:extLst xmlns:a="http://schemas.openxmlformats.org/drawingml/2006/main">
              <a:ext uri="{FF2B5EF4-FFF2-40B4-BE49-F238E27FC236}">
                <a16:creationId xmlns:a16="http://schemas.microsoft.com/office/drawing/2014/main" id="{CFBF081B-8BA2-4DD2-AB9D-FA92C9BD13C4}"/>
              </a:ext>
            </a:extLst>
          </p:cNvPr>
          <p:cNvSpPr>
            <a:spLocks xmlns:a="http://schemas.openxmlformats.org/drawingml/2006/main" noGrp="1"/>
          </p:cNvSpPr>
          <p:nvPr/>
        </p:nvSpPr>
        <p:spPr>
          <a:xfrm xmlns:a="http://schemas.openxmlformats.org/drawingml/2006/main">
            <a:off x="7909560" y="3337560"/>
            <a:ext cx="3547872"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3F5A18"/>
                </a:solidFill>
                <a:latin typeface="Calibri"/>
                <a:ea typeface="Calibri"/>
                <a:cs typeface="Calibri"/>
              </a:rPr>
              <a:t>The feature-module extraction buys the most risk reduction per engineering day</a:t>
            </a:r>
            <a:endParaRPr sz="1000"/>
          </a:p>
        </p:txBody>
      </p:sp>
      <p:sp>
        <p:nvSpPr>
          <p:cNvPr id="28" name="Text 25">
            <a:extLst xmlns:a="http://schemas.openxmlformats.org/drawingml/2006/main">
              <a:ext uri="{FF2B5EF4-FFF2-40B4-BE49-F238E27FC236}">
                <a16:creationId xmlns:a16="http://schemas.microsoft.com/office/drawing/2014/main" id="{6062E7C0-EC27-41C7-AE06-C4B89641D810}"/>
              </a:ext>
            </a:extLst>
          </p:cNvPr>
          <p:cNvSpPr>
            <a:spLocks xmlns:a="http://schemas.openxmlformats.org/drawingml/2006/main" noGrp="1"/>
          </p:cNvSpPr>
          <p:nvPr/>
        </p:nvSpPr>
        <p:spPr>
          <a:xfrm xmlns:a="http://schemas.openxmlformats.org/drawingml/2006/main">
            <a:off x="7607808" y="4224528"/>
            <a:ext cx="256032"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5A8F1F"/>
                </a:solidFill>
                <a:latin typeface="Calibri"/>
                <a:ea typeface="Calibri"/>
                <a:cs typeface="Calibri"/>
              </a:rPr>
              <a:t>✓</a:t>
            </a:r>
            <a:endParaRPr sz="1100"/>
          </a:p>
        </p:txBody>
      </p:sp>
      <p:sp>
        <p:nvSpPr>
          <p:cNvPr id="29" name="Text 26">
            <a:extLst xmlns:a="http://schemas.openxmlformats.org/drawingml/2006/main">
              <a:ext uri="{FF2B5EF4-FFF2-40B4-BE49-F238E27FC236}">
                <a16:creationId xmlns:a16="http://schemas.microsoft.com/office/drawing/2014/main" id="{33F29890-E216-42F2-916D-477C0130F4E9}"/>
              </a:ext>
            </a:extLst>
          </p:cNvPr>
          <p:cNvSpPr>
            <a:spLocks xmlns:a="http://schemas.openxmlformats.org/drawingml/2006/main" noGrp="1"/>
          </p:cNvSpPr>
          <p:nvPr/>
        </p:nvSpPr>
        <p:spPr>
          <a:xfrm xmlns:a="http://schemas.openxmlformats.org/drawingml/2006/main">
            <a:off x="7909560" y="4206240"/>
            <a:ext cx="3547872"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3F5A18"/>
                </a:solidFill>
                <a:latin typeface="Calibri"/>
                <a:ea typeface="Calibri"/>
                <a:cs typeface="Calibri"/>
              </a:rPr>
              <a:t>Each step ships independently behind the existing endpoints — no freeze, no big-bang rewrite</a:t>
            </a:r>
            <a:endParaRPr sz="1000"/>
          </a:p>
        </p:txBody>
      </p:sp>
      <p:sp>
        <p:nvSpPr>
          <p:cNvPr id="30" name="Text 27">
            <a:extLst xmlns:a="http://schemas.openxmlformats.org/drawingml/2006/main">
              <a:ext uri="{FF2B5EF4-FFF2-40B4-BE49-F238E27FC236}">
                <a16:creationId xmlns:a16="http://schemas.microsoft.com/office/drawing/2014/main" id="{67B66D86-898F-4435-9CAA-BB9A4DD81F12}"/>
              </a:ext>
            </a:extLst>
          </p:cNvPr>
          <p:cNvSpPr>
            <a:spLocks xmlns:a="http://schemas.openxmlformats.org/drawingml/2006/main" noGrp="1"/>
          </p:cNvSpPr>
          <p:nvPr/>
        </p:nvSpPr>
        <p:spPr>
          <a:xfrm xmlns:a="http://schemas.openxmlformats.org/drawingml/2006/main">
            <a:off x="7607808" y="5093208"/>
            <a:ext cx="256032"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5A8F1F"/>
                </a:solidFill>
                <a:latin typeface="Calibri"/>
                <a:ea typeface="Calibri"/>
                <a:cs typeface="Calibri"/>
              </a:rPr>
              <a:t>✓</a:t>
            </a:r>
            <a:endParaRPr sz="1100"/>
          </a:p>
        </p:txBody>
      </p:sp>
      <p:sp>
        <p:nvSpPr>
          <p:cNvPr id="31" name="Text 28">
            <a:extLst xmlns:a="http://schemas.openxmlformats.org/drawingml/2006/main">
              <a:ext uri="{FF2B5EF4-FFF2-40B4-BE49-F238E27FC236}">
                <a16:creationId xmlns:a16="http://schemas.microsoft.com/office/drawing/2014/main" id="{4E918FF8-4FE9-46A3-B9C5-73775C9FEDF1}"/>
              </a:ext>
            </a:extLst>
          </p:cNvPr>
          <p:cNvSpPr>
            <a:spLocks xmlns:a="http://schemas.openxmlformats.org/drawingml/2006/main" noGrp="1"/>
          </p:cNvSpPr>
          <p:nvPr/>
        </p:nvSpPr>
        <p:spPr>
          <a:xfrm xmlns:a="http://schemas.openxmlformats.org/drawingml/2006/main">
            <a:off x="7909560" y="5074920"/>
            <a:ext cx="3547872"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3F5A18"/>
                </a:solidFill>
                <a:latin typeface="Calibri"/>
                <a:ea typeface="Calibri"/>
                <a:cs typeface="Calibri"/>
              </a:rPr>
              <a:t>Golden-file tests prove Arabic + English metadata stays byte-exact through the refactor</a:t>
            </a:r>
            <a:endParaRPr sz="1000"/>
          </a:p>
        </p:txBody>
      </p:sp>
    </p:spTree>
    <p:extLst>
      <p:ext uri="{BB962C8B-B14F-4D97-AF65-F5344CB8AC3E}">
        <p14:creationId xmlns:p14="http://schemas.microsoft.com/office/powerpoint/2010/main" val="1709911728"/>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EAE092E-9282-4983-9955-0DA3327ECF07}"/>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Module 1 — Check Your Understanding</a:t>
            </a:r>
            <a:endParaRPr sz="2600"/>
          </a:p>
        </p:txBody>
      </p:sp>
      <p:sp>
        <p:nvSpPr>
          <p:cNvPr id="3" name="Text 1">
            <a:extLst xmlns:a="http://schemas.openxmlformats.org/drawingml/2006/main">
              <a:ext uri="{FF2B5EF4-FFF2-40B4-BE49-F238E27FC236}">
                <a16:creationId xmlns:a16="http://schemas.microsoft.com/office/drawing/2014/main" id="{1EE0702C-EE85-4A7A-B60D-1049C1711DFD}"/>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الوحدة الأولى — اختبر فهمك</a:t>
            </a:r>
            <a:endParaRPr sz="1300"/>
          </a:p>
        </p:txBody>
      </p:sp>
      <p:pic>
        <p:nvPicPr>
          <p:cNvPr id="40" name="Image 0"/>
          <p:cNvPicPr>
            <a:picLocks xmlns:a="http://schemas.openxmlformats.org/drawingml/2006/main" noChangeAspect="1"/>
          </p:cNvPicPr>
          <p:nvPr/>
        </p:nvPicPr>
        <p:blipFill>
          <a:blip xmlns:r="http://schemas.openxmlformats.org/officeDocument/2006/relationships" xmlns:a="http://schemas.openxmlformats.org/drawingml/2006/main" r:embed="R4119e7a187684112"/>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BC2E3562-F2C8-4A7E-9271-4D282034D67D}"/>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35793914-B576-462A-A54E-AED2AA7D4DE8}"/>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1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78082FEC-7172-4D53-A5AD-D51F5DA725D0}"/>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33</a:t>
            </a:r>
            <a:endParaRPr sz="850"/>
          </a:p>
        </p:txBody>
      </p:sp>
      <p:sp>
        <p:nvSpPr>
          <p:cNvPr id="8" name="Text 5">
            <a:extLst xmlns:a="http://schemas.openxmlformats.org/drawingml/2006/main">
              <a:ext uri="{FF2B5EF4-FFF2-40B4-BE49-F238E27FC236}">
                <a16:creationId xmlns:a16="http://schemas.microsoft.com/office/drawing/2014/main" id="{1D34ED3A-A639-476D-AF0C-7445236753FC}"/>
              </a:ext>
            </a:extLst>
          </p:cNvPr>
          <p:cNvSpPr>
            <a:spLocks xmlns:a="http://schemas.openxmlformats.org/drawingml/2006/main" noGrp="1"/>
          </p:cNvSpPr>
          <p:nvPr/>
        </p:nvSpPr>
        <p:spPr>
          <a:xfrm xmlns:a="http://schemas.openxmlformats.org/drawingml/2006/main">
            <a:off x="502920" y="1444752"/>
            <a:ext cx="1920240" cy="310896"/>
          </a:xfrm>
          <a:prstGeom xmlns:a="http://schemas.openxmlformats.org/drawingml/2006/main" prst="roundRect">
            <a:avLst>
              <a:gd name="adj" fmla="val 17647"/>
            </a:avLst>
          </a:prstGeom>
          <a:solidFill xmlns:a="http://schemas.openxmlformats.org/drawingml/2006/main">
            <a:srgbClr val="7B61A6"/>
          </a:solidFill>
        </p:spPr>
        <p:txBody>
          <a:bodyPr xmlns:a="http://schemas.openxmlformats.org/drawingml/2006/main" wrap="square"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KNOWLEDGE CHECK</a:t>
            </a:r>
            <a:endParaRPr sz="950"/>
          </a:p>
        </p:txBody>
      </p:sp>
      <p:sp>
        <p:nvSpPr>
          <p:cNvPr id="9" name="Text 6">
            <a:extLst xmlns:a="http://schemas.openxmlformats.org/drawingml/2006/main">
              <a:ext uri="{FF2B5EF4-FFF2-40B4-BE49-F238E27FC236}">
                <a16:creationId xmlns:a16="http://schemas.microsoft.com/office/drawing/2014/main" id="{66686B87-F964-42CB-A242-A2A260159DE4}"/>
              </a:ext>
            </a:extLst>
          </p:cNvPr>
          <p:cNvSpPr>
            <a:spLocks xmlns:a="http://schemas.openxmlformats.org/drawingml/2006/main" noGrp="1"/>
          </p:cNvSpPr>
          <p:nvPr/>
        </p:nvSpPr>
        <p:spPr>
          <a:xfrm xmlns:a="http://schemas.openxmlformats.org/drawingml/2006/main">
            <a:off x="502920" y="1920240"/>
            <a:ext cx="544068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b="1">
                <a:solidFill>
                  <a:srgbClr val="1D2A5C"/>
                </a:solidFill>
                <a:latin typeface="Calibri"/>
                <a:ea typeface="Calibri"/>
                <a:cs typeface="Calibri"/>
              </a:rPr>
              <a:t>Q1. Which import is legal under the dependency rule?</a:t>
            </a:r>
            <a:endParaRPr sz="1200"/>
          </a:p>
        </p:txBody>
      </p:sp>
      <p:sp>
        <p:nvSpPr>
          <p:cNvPr id="10" name="Shape 7">
            <a:extLst xmlns:a="http://schemas.openxmlformats.org/drawingml/2006/main">
              <a:ext uri="{FF2B5EF4-FFF2-40B4-BE49-F238E27FC236}">
                <a16:creationId xmlns:a16="http://schemas.microsoft.com/office/drawing/2014/main" id="{79F361CE-F320-4EFE-A951-35503C2B3A96}"/>
              </a:ext>
            </a:extLst>
          </p:cNvPr>
          <p:cNvSpPr>
            <a:spLocks xmlns:a="http://schemas.openxmlformats.org/drawingml/2006/main" noGrp="1"/>
          </p:cNvSpPr>
          <p:nvPr/>
        </p:nvSpPr>
        <p:spPr>
          <a:xfrm xmlns:a="http://schemas.openxmlformats.org/drawingml/2006/main">
            <a:off x="502920" y="2788920"/>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11" name="Text 8">
            <a:extLst xmlns:a="http://schemas.openxmlformats.org/drawingml/2006/main">
              <a:ext uri="{FF2B5EF4-FFF2-40B4-BE49-F238E27FC236}">
                <a16:creationId xmlns:a16="http://schemas.microsoft.com/office/drawing/2014/main" id="{37DEFF71-7557-42BB-9D2E-88DBB4218B84}"/>
              </a:ext>
            </a:extLst>
          </p:cNvPr>
          <p:cNvSpPr>
            <a:spLocks xmlns:a="http://schemas.openxmlformats.org/drawingml/2006/main" noGrp="1"/>
          </p:cNvSpPr>
          <p:nvPr/>
        </p:nvSpPr>
        <p:spPr>
          <a:xfrm xmlns:a="http://schemas.openxmlformats.org/drawingml/2006/main">
            <a:off x="612648" y="2907792"/>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A</a:t>
            </a:r>
            <a:endParaRPr sz="1100"/>
          </a:p>
        </p:txBody>
      </p:sp>
      <p:sp>
        <p:nvSpPr>
          <p:cNvPr id="12" name="Text 9">
            <a:extLst xmlns:a="http://schemas.openxmlformats.org/drawingml/2006/main">
              <a:ext uri="{FF2B5EF4-FFF2-40B4-BE49-F238E27FC236}">
                <a16:creationId xmlns:a16="http://schemas.microsoft.com/office/drawing/2014/main" id="{659C446D-13A2-4798-B470-4F592C2884FC}"/>
              </a:ext>
            </a:extLst>
          </p:cNvPr>
          <p:cNvSpPr>
            <a:spLocks xmlns:a="http://schemas.openxmlformats.org/drawingml/2006/main" noGrp="1"/>
          </p:cNvSpPr>
          <p:nvPr/>
        </p:nvSpPr>
        <p:spPr>
          <a:xfrm xmlns:a="http://schemas.openxmlformats.org/drawingml/2006/main">
            <a:off x="1033272" y="2788920"/>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domain → sklearn</a:t>
            </a:r>
            <a:endParaRPr sz="1050"/>
          </a:p>
        </p:txBody>
      </p:sp>
      <p:sp>
        <p:nvSpPr>
          <p:cNvPr id="13" name="Shape 10">
            <a:extLst xmlns:a="http://schemas.openxmlformats.org/drawingml/2006/main">
              <a:ext uri="{FF2B5EF4-FFF2-40B4-BE49-F238E27FC236}">
                <a16:creationId xmlns:a16="http://schemas.microsoft.com/office/drawing/2014/main" id="{298101A6-2E3A-4839-ABEC-93AFCACD23B0}"/>
              </a:ext>
            </a:extLst>
          </p:cNvPr>
          <p:cNvSpPr>
            <a:spLocks xmlns:a="http://schemas.openxmlformats.org/drawingml/2006/main" noGrp="1"/>
          </p:cNvSpPr>
          <p:nvPr/>
        </p:nvSpPr>
        <p:spPr>
          <a:xfrm xmlns:a="http://schemas.openxmlformats.org/drawingml/2006/main">
            <a:off x="502920" y="3447288"/>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14" name="Text 11">
            <a:extLst xmlns:a="http://schemas.openxmlformats.org/drawingml/2006/main">
              <a:ext uri="{FF2B5EF4-FFF2-40B4-BE49-F238E27FC236}">
                <a16:creationId xmlns:a16="http://schemas.microsoft.com/office/drawing/2014/main" id="{E4EA21FB-D909-468F-9575-7B5758962266}"/>
              </a:ext>
            </a:extLst>
          </p:cNvPr>
          <p:cNvSpPr>
            <a:spLocks xmlns:a="http://schemas.openxmlformats.org/drawingml/2006/main" noGrp="1"/>
          </p:cNvSpPr>
          <p:nvPr/>
        </p:nvSpPr>
        <p:spPr>
          <a:xfrm xmlns:a="http://schemas.openxmlformats.org/drawingml/2006/main">
            <a:off x="612648" y="3566160"/>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B</a:t>
            </a:r>
            <a:endParaRPr sz="1100"/>
          </a:p>
        </p:txBody>
      </p:sp>
      <p:sp>
        <p:nvSpPr>
          <p:cNvPr id="15" name="Text 12">
            <a:extLst xmlns:a="http://schemas.openxmlformats.org/drawingml/2006/main">
              <a:ext uri="{FF2B5EF4-FFF2-40B4-BE49-F238E27FC236}">
                <a16:creationId xmlns:a16="http://schemas.microsoft.com/office/drawing/2014/main" id="{9317272F-34F8-43D7-9D9C-480E919D07D4}"/>
              </a:ext>
            </a:extLst>
          </p:cNvPr>
          <p:cNvSpPr>
            <a:spLocks xmlns:a="http://schemas.openxmlformats.org/drawingml/2006/main" noGrp="1"/>
          </p:cNvSpPr>
          <p:nvPr/>
        </p:nvSpPr>
        <p:spPr>
          <a:xfrm xmlns:a="http://schemas.openxmlformats.org/drawingml/2006/main">
            <a:off x="1033272" y="3447288"/>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service → FastAPI</a:t>
            </a:r>
            <a:endParaRPr sz="1050"/>
          </a:p>
        </p:txBody>
      </p:sp>
      <p:sp>
        <p:nvSpPr>
          <p:cNvPr id="16" name="Shape 13">
            <a:extLst xmlns:a="http://schemas.openxmlformats.org/drawingml/2006/main">
              <a:ext uri="{FF2B5EF4-FFF2-40B4-BE49-F238E27FC236}">
                <a16:creationId xmlns:a16="http://schemas.microsoft.com/office/drawing/2014/main" id="{3D2020DC-A5A1-4027-8954-33D043E1AC93}"/>
              </a:ext>
            </a:extLst>
          </p:cNvPr>
          <p:cNvSpPr>
            <a:spLocks xmlns:a="http://schemas.openxmlformats.org/drawingml/2006/main" noGrp="1"/>
          </p:cNvSpPr>
          <p:nvPr/>
        </p:nvSpPr>
        <p:spPr>
          <a:xfrm xmlns:a="http://schemas.openxmlformats.org/drawingml/2006/main">
            <a:off x="502920" y="4105656"/>
            <a:ext cx="5440680" cy="548640"/>
          </a:xfrm>
          <a:prstGeom xmlns:a="http://schemas.openxmlformats.org/drawingml/2006/main" prst="roundRect">
            <a:avLst>
              <a:gd name="adj" fmla="val 10000"/>
            </a:avLst>
          </a:prstGeom>
          <a:solidFill xmlns:a="http://schemas.openxmlformats.org/drawingml/2006/main">
            <a:srgbClr val="D4F1EE"/>
          </a:solidFill>
          <a:ln xmlns:a="http://schemas.openxmlformats.org/drawingml/2006/main" w="19050">
            <a:solidFill>
              <a:srgbClr val="00A79D"/>
            </a:solidFill>
            <a:prstDash val="solid"/>
          </a:ln>
        </p:spPr>
      </p:sp>
      <p:sp>
        <p:nvSpPr>
          <p:cNvPr id="17" name="Text 14">
            <a:extLst xmlns:a="http://schemas.openxmlformats.org/drawingml/2006/main">
              <a:ext uri="{FF2B5EF4-FFF2-40B4-BE49-F238E27FC236}">
                <a16:creationId xmlns:a16="http://schemas.microsoft.com/office/drawing/2014/main" id="{D51C9AC7-9C5E-4E4C-A9B1-1209D2D35C18}"/>
              </a:ext>
            </a:extLst>
          </p:cNvPr>
          <p:cNvSpPr>
            <a:spLocks xmlns:a="http://schemas.openxmlformats.org/drawingml/2006/main" noGrp="1"/>
          </p:cNvSpPr>
          <p:nvPr/>
        </p:nvSpPr>
        <p:spPr>
          <a:xfrm xmlns:a="http://schemas.openxmlformats.org/drawingml/2006/main">
            <a:off x="612648" y="4224528"/>
            <a:ext cx="310896" cy="310896"/>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C</a:t>
            </a:r>
            <a:endParaRPr sz="1100"/>
          </a:p>
        </p:txBody>
      </p:sp>
      <p:sp>
        <p:nvSpPr>
          <p:cNvPr id="18" name="Text 15">
            <a:extLst xmlns:a="http://schemas.openxmlformats.org/drawingml/2006/main">
              <a:ext uri="{FF2B5EF4-FFF2-40B4-BE49-F238E27FC236}">
                <a16:creationId xmlns:a16="http://schemas.microsoft.com/office/drawing/2014/main" id="{F0316851-73C1-41DF-8F58-C0BA084E9AB3}"/>
              </a:ext>
            </a:extLst>
          </p:cNvPr>
          <p:cNvSpPr>
            <a:spLocks xmlns:a="http://schemas.openxmlformats.org/drawingml/2006/main" noGrp="1"/>
          </p:cNvSpPr>
          <p:nvPr/>
        </p:nvSpPr>
        <p:spPr>
          <a:xfrm xmlns:a="http://schemas.openxmlformats.org/drawingml/2006/main">
            <a:off x="1033272" y="4105656"/>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056A63"/>
                </a:solidFill>
                <a:latin typeface="Calibri"/>
                <a:ea typeface="Calibri"/>
                <a:cs typeface="Calibri"/>
              </a:rPr>
              <a:t>adapters → service interfaces   ✓</a:t>
            </a:r>
            <a:endParaRPr sz="1050"/>
          </a:p>
        </p:txBody>
      </p:sp>
      <p:sp>
        <p:nvSpPr>
          <p:cNvPr id="19" name="Shape 16">
            <a:extLst xmlns:a="http://schemas.openxmlformats.org/drawingml/2006/main">
              <a:ext uri="{FF2B5EF4-FFF2-40B4-BE49-F238E27FC236}">
                <a16:creationId xmlns:a16="http://schemas.microsoft.com/office/drawing/2014/main" id="{BD0E2406-8189-424B-BB97-44584AE6E9DA}"/>
              </a:ext>
            </a:extLst>
          </p:cNvPr>
          <p:cNvSpPr>
            <a:spLocks xmlns:a="http://schemas.openxmlformats.org/drawingml/2006/main" noGrp="1"/>
          </p:cNvSpPr>
          <p:nvPr/>
        </p:nvSpPr>
        <p:spPr>
          <a:xfrm xmlns:a="http://schemas.openxmlformats.org/drawingml/2006/main">
            <a:off x="502920" y="4764024"/>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20" name="Text 17">
            <a:extLst xmlns:a="http://schemas.openxmlformats.org/drawingml/2006/main">
              <a:ext uri="{FF2B5EF4-FFF2-40B4-BE49-F238E27FC236}">
                <a16:creationId xmlns:a16="http://schemas.microsoft.com/office/drawing/2014/main" id="{8BFD2527-3113-48D9-8C38-CF4E8CA39285}"/>
              </a:ext>
            </a:extLst>
          </p:cNvPr>
          <p:cNvSpPr>
            <a:spLocks xmlns:a="http://schemas.openxmlformats.org/drawingml/2006/main" noGrp="1"/>
          </p:cNvSpPr>
          <p:nvPr/>
        </p:nvSpPr>
        <p:spPr>
          <a:xfrm xmlns:a="http://schemas.openxmlformats.org/drawingml/2006/main">
            <a:off x="612648" y="4882896"/>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D</a:t>
            </a:r>
            <a:endParaRPr sz="1100"/>
          </a:p>
        </p:txBody>
      </p:sp>
      <p:sp>
        <p:nvSpPr>
          <p:cNvPr id="21" name="Text 18">
            <a:extLst xmlns:a="http://schemas.openxmlformats.org/drawingml/2006/main">
              <a:ext uri="{FF2B5EF4-FFF2-40B4-BE49-F238E27FC236}">
                <a16:creationId xmlns:a16="http://schemas.microsoft.com/office/drawing/2014/main" id="{A8596FD5-2C00-436B-9445-A002CFE0FD15}"/>
              </a:ext>
            </a:extLst>
          </p:cNvPr>
          <p:cNvSpPr>
            <a:spLocks xmlns:a="http://schemas.openxmlformats.org/drawingml/2006/main" noGrp="1"/>
          </p:cNvSpPr>
          <p:nvPr/>
        </p:nvSpPr>
        <p:spPr>
          <a:xfrm xmlns:a="http://schemas.openxmlformats.org/drawingml/2006/main">
            <a:off x="1033272" y="4764024"/>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domain → adapters</a:t>
            </a:r>
            <a:endParaRPr sz="1050"/>
          </a:p>
        </p:txBody>
      </p:sp>
      <p:sp>
        <p:nvSpPr>
          <p:cNvPr id="22" name="Text 19">
            <a:extLst xmlns:a="http://schemas.openxmlformats.org/drawingml/2006/main">
              <a:ext uri="{FF2B5EF4-FFF2-40B4-BE49-F238E27FC236}">
                <a16:creationId xmlns:a16="http://schemas.microsoft.com/office/drawing/2014/main" id="{6E7F96BE-8A6E-4B40-ADD3-EA27AA10AC42}"/>
              </a:ext>
            </a:extLst>
          </p:cNvPr>
          <p:cNvSpPr>
            <a:spLocks xmlns:a="http://schemas.openxmlformats.org/drawingml/2006/main" noGrp="1"/>
          </p:cNvSpPr>
          <p:nvPr/>
        </p:nvSpPr>
        <p:spPr>
          <a:xfrm xmlns:a="http://schemas.openxmlformats.org/drawingml/2006/main">
            <a:off x="502920" y="5513832"/>
            <a:ext cx="544068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b="1" i="1">
                <a:solidFill>
                  <a:srgbClr val="5F6B7A"/>
                </a:solidFill>
                <a:latin typeface="Calibri"/>
                <a:ea typeface="Calibri"/>
                <a:cs typeface="Calibri"/>
              </a:rPr>
              <a:t>Why: </a:t>
            </a:r>
            <a:r>
              <a:rPr sz="950" i="1">
                <a:solidFill>
                  <a:srgbClr val="5F6B7A"/>
                </a:solidFill>
                <a:latin typeface="Calibri"/>
                <a:ea typeface="Calibri"/>
                <a:cs typeface="Calibri"/>
              </a:rPr>
              <a:t>Adapters implement the interfaces the service layer defines. Every other option makes an inner layer depend outward.</a:t>
            </a:r>
            <a:endParaRPr sz="950"/>
          </a:p>
        </p:txBody>
      </p:sp>
      <p:sp>
        <p:nvSpPr>
          <p:cNvPr id="23" name="Text 20">
            <a:extLst xmlns:a="http://schemas.openxmlformats.org/drawingml/2006/main">
              <a:ext uri="{FF2B5EF4-FFF2-40B4-BE49-F238E27FC236}">
                <a16:creationId xmlns:a16="http://schemas.microsoft.com/office/drawing/2014/main" id="{717F13C1-29C6-4090-AED9-78344ECED25A}"/>
              </a:ext>
            </a:extLst>
          </p:cNvPr>
          <p:cNvSpPr>
            <a:spLocks xmlns:a="http://schemas.openxmlformats.org/drawingml/2006/main" noGrp="1"/>
          </p:cNvSpPr>
          <p:nvPr/>
        </p:nvSpPr>
        <p:spPr>
          <a:xfrm xmlns:a="http://schemas.openxmlformats.org/drawingml/2006/main">
            <a:off x="6245352" y="1920240"/>
            <a:ext cx="544068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b="1">
                <a:solidFill>
                  <a:srgbClr val="1D2A5C"/>
                </a:solidFill>
                <a:latin typeface="Calibri"/>
                <a:ea typeface="Calibri"/>
                <a:cs typeface="Calibri"/>
              </a:rPr>
              <a:t>Q2. Why does the course mandate src-layout?</a:t>
            </a:r>
            <a:endParaRPr sz="1200"/>
          </a:p>
        </p:txBody>
      </p:sp>
      <p:sp>
        <p:nvSpPr>
          <p:cNvPr id="24" name="Shape 21">
            <a:extLst xmlns:a="http://schemas.openxmlformats.org/drawingml/2006/main">
              <a:ext uri="{FF2B5EF4-FFF2-40B4-BE49-F238E27FC236}">
                <a16:creationId xmlns:a16="http://schemas.microsoft.com/office/drawing/2014/main" id="{784A7C88-93B2-4F53-BC9B-71280D9A5DA6}"/>
              </a:ext>
            </a:extLst>
          </p:cNvPr>
          <p:cNvSpPr>
            <a:spLocks xmlns:a="http://schemas.openxmlformats.org/drawingml/2006/main" noGrp="1"/>
          </p:cNvSpPr>
          <p:nvPr/>
        </p:nvSpPr>
        <p:spPr>
          <a:xfrm xmlns:a="http://schemas.openxmlformats.org/drawingml/2006/main">
            <a:off x="6245352" y="2788920"/>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25" name="Text 22">
            <a:extLst xmlns:a="http://schemas.openxmlformats.org/drawingml/2006/main">
              <a:ext uri="{FF2B5EF4-FFF2-40B4-BE49-F238E27FC236}">
                <a16:creationId xmlns:a16="http://schemas.microsoft.com/office/drawing/2014/main" id="{9E5061F5-72EA-4EC9-AADB-635ED2257338}"/>
              </a:ext>
            </a:extLst>
          </p:cNvPr>
          <p:cNvSpPr>
            <a:spLocks xmlns:a="http://schemas.openxmlformats.org/drawingml/2006/main" noGrp="1"/>
          </p:cNvSpPr>
          <p:nvPr/>
        </p:nvSpPr>
        <p:spPr>
          <a:xfrm xmlns:a="http://schemas.openxmlformats.org/drawingml/2006/main">
            <a:off x="6355080" y="2907792"/>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A</a:t>
            </a:r>
            <a:endParaRPr sz="1100"/>
          </a:p>
        </p:txBody>
      </p:sp>
      <p:sp>
        <p:nvSpPr>
          <p:cNvPr id="26" name="Text 23">
            <a:extLst xmlns:a="http://schemas.openxmlformats.org/drawingml/2006/main">
              <a:ext uri="{FF2B5EF4-FFF2-40B4-BE49-F238E27FC236}">
                <a16:creationId xmlns:a16="http://schemas.microsoft.com/office/drawing/2014/main" id="{3EA09B73-4B52-4100-BA25-6B3437AD34EF}"/>
              </a:ext>
            </a:extLst>
          </p:cNvPr>
          <p:cNvSpPr>
            <a:spLocks xmlns:a="http://schemas.openxmlformats.org/drawingml/2006/main" noGrp="1"/>
          </p:cNvSpPr>
          <p:nvPr/>
        </p:nvSpPr>
        <p:spPr>
          <a:xfrm xmlns:a="http://schemas.openxmlformats.org/drawingml/2006/main">
            <a:off x="6775704" y="2788920"/>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It makes import paths shorter</a:t>
            </a:r>
            <a:endParaRPr sz="1050"/>
          </a:p>
        </p:txBody>
      </p:sp>
      <p:sp>
        <p:nvSpPr>
          <p:cNvPr id="27" name="Shape 24">
            <a:extLst xmlns:a="http://schemas.openxmlformats.org/drawingml/2006/main">
              <a:ext uri="{FF2B5EF4-FFF2-40B4-BE49-F238E27FC236}">
                <a16:creationId xmlns:a16="http://schemas.microsoft.com/office/drawing/2014/main" id="{46505807-8FEC-4FAE-A5F2-5DF95DE9AE04}"/>
              </a:ext>
            </a:extLst>
          </p:cNvPr>
          <p:cNvSpPr>
            <a:spLocks xmlns:a="http://schemas.openxmlformats.org/drawingml/2006/main" noGrp="1"/>
          </p:cNvSpPr>
          <p:nvPr/>
        </p:nvSpPr>
        <p:spPr>
          <a:xfrm xmlns:a="http://schemas.openxmlformats.org/drawingml/2006/main">
            <a:off x="6245352" y="3447288"/>
            <a:ext cx="5440680" cy="548640"/>
          </a:xfrm>
          <a:prstGeom xmlns:a="http://schemas.openxmlformats.org/drawingml/2006/main" prst="roundRect">
            <a:avLst>
              <a:gd name="adj" fmla="val 10000"/>
            </a:avLst>
          </a:prstGeom>
          <a:solidFill xmlns:a="http://schemas.openxmlformats.org/drawingml/2006/main">
            <a:srgbClr val="D4F1EE"/>
          </a:solidFill>
          <a:ln xmlns:a="http://schemas.openxmlformats.org/drawingml/2006/main" w="19050">
            <a:solidFill>
              <a:srgbClr val="00A79D"/>
            </a:solidFill>
            <a:prstDash val="solid"/>
          </a:ln>
        </p:spPr>
      </p:sp>
      <p:sp>
        <p:nvSpPr>
          <p:cNvPr id="28" name="Text 25">
            <a:extLst xmlns:a="http://schemas.openxmlformats.org/drawingml/2006/main">
              <a:ext uri="{FF2B5EF4-FFF2-40B4-BE49-F238E27FC236}">
                <a16:creationId xmlns:a16="http://schemas.microsoft.com/office/drawing/2014/main" id="{229D9564-B27B-452D-8A8E-5051FBAEBA43}"/>
              </a:ext>
            </a:extLst>
          </p:cNvPr>
          <p:cNvSpPr>
            <a:spLocks xmlns:a="http://schemas.openxmlformats.org/drawingml/2006/main" noGrp="1"/>
          </p:cNvSpPr>
          <p:nvPr/>
        </p:nvSpPr>
        <p:spPr>
          <a:xfrm xmlns:a="http://schemas.openxmlformats.org/drawingml/2006/main">
            <a:off x="6355080" y="3566160"/>
            <a:ext cx="310896" cy="310896"/>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B</a:t>
            </a:r>
            <a:endParaRPr sz="1100"/>
          </a:p>
        </p:txBody>
      </p:sp>
      <p:sp>
        <p:nvSpPr>
          <p:cNvPr id="29" name="Text 26">
            <a:extLst xmlns:a="http://schemas.openxmlformats.org/drawingml/2006/main">
              <a:ext uri="{FF2B5EF4-FFF2-40B4-BE49-F238E27FC236}">
                <a16:creationId xmlns:a16="http://schemas.microsoft.com/office/drawing/2014/main" id="{4333732C-5084-4498-956C-D3CEF99DA7B4}"/>
              </a:ext>
            </a:extLst>
          </p:cNvPr>
          <p:cNvSpPr>
            <a:spLocks xmlns:a="http://schemas.openxmlformats.org/drawingml/2006/main" noGrp="1"/>
          </p:cNvSpPr>
          <p:nvPr/>
        </p:nvSpPr>
        <p:spPr>
          <a:xfrm xmlns:a="http://schemas.openxmlformats.org/drawingml/2006/main">
            <a:off x="6775704" y="3447288"/>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056A63"/>
                </a:solidFill>
                <a:latin typeface="Calibri"/>
                <a:ea typeface="Calibri"/>
                <a:cs typeface="Calibri"/>
              </a:rPr>
              <a:t>Tests run against the installed package — same path as CI and Docker   ✓</a:t>
            </a:r>
            <a:endParaRPr sz="1050"/>
          </a:p>
        </p:txBody>
      </p:sp>
      <p:sp>
        <p:nvSpPr>
          <p:cNvPr id="30" name="Shape 27">
            <a:extLst xmlns:a="http://schemas.openxmlformats.org/drawingml/2006/main">
              <a:ext uri="{FF2B5EF4-FFF2-40B4-BE49-F238E27FC236}">
                <a16:creationId xmlns:a16="http://schemas.microsoft.com/office/drawing/2014/main" id="{38ACB4EF-393E-4CA3-9239-5407FFBD6564}"/>
              </a:ext>
            </a:extLst>
          </p:cNvPr>
          <p:cNvSpPr>
            <a:spLocks xmlns:a="http://schemas.openxmlformats.org/drawingml/2006/main" noGrp="1"/>
          </p:cNvSpPr>
          <p:nvPr/>
        </p:nvSpPr>
        <p:spPr>
          <a:xfrm xmlns:a="http://schemas.openxmlformats.org/drawingml/2006/main">
            <a:off x="6245352" y="4105656"/>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31" name="Text 28">
            <a:extLst xmlns:a="http://schemas.openxmlformats.org/drawingml/2006/main">
              <a:ext uri="{FF2B5EF4-FFF2-40B4-BE49-F238E27FC236}">
                <a16:creationId xmlns:a16="http://schemas.microsoft.com/office/drawing/2014/main" id="{E5FCE6F1-1DE6-4D59-BAA3-FBF5F3A62571}"/>
              </a:ext>
            </a:extLst>
          </p:cNvPr>
          <p:cNvSpPr>
            <a:spLocks xmlns:a="http://schemas.openxmlformats.org/drawingml/2006/main" noGrp="1"/>
          </p:cNvSpPr>
          <p:nvPr/>
        </p:nvSpPr>
        <p:spPr>
          <a:xfrm xmlns:a="http://schemas.openxmlformats.org/drawingml/2006/main">
            <a:off x="6355080" y="4224528"/>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C</a:t>
            </a:r>
            <a:endParaRPr sz="1100"/>
          </a:p>
        </p:txBody>
      </p:sp>
      <p:sp>
        <p:nvSpPr>
          <p:cNvPr id="32" name="Text 29">
            <a:extLst xmlns:a="http://schemas.openxmlformats.org/drawingml/2006/main">
              <a:ext uri="{FF2B5EF4-FFF2-40B4-BE49-F238E27FC236}">
                <a16:creationId xmlns:a16="http://schemas.microsoft.com/office/drawing/2014/main" id="{A6453663-DA42-4521-A007-3925E95D4DEE}"/>
              </a:ext>
            </a:extLst>
          </p:cNvPr>
          <p:cNvSpPr>
            <a:spLocks xmlns:a="http://schemas.openxmlformats.org/drawingml/2006/main" noGrp="1"/>
          </p:cNvSpPr>
          <p:nvPr/>
        </p:nvSpPr>
        <p:spPr>
          <a:xfrm xmlns:a="http://schemas.openxmlformats.org/drawingml/2006/main">
            <a:off x="6775704" y="4105656"/>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FastAPI requires it</a:t>
            </a:r>
            <a:endParaRPr sz="1050"/>
          </a:p>
        </p:txBody>
      </p:sp>
      <p:sp>
        <p:nvSpPr>
          <p:cNvPr id="33" name="Shape 30">
            <a:extLst xmlns:a="http://schemas.openxmlformats.org/drawingml/2006/main">
              <a:ext uri="{FF2B5EF4-FFF2-40B4-BE49-F238E27FC236}">
                <a16:creationId xmlns:a16="http://schemas.microsoft.com/office/drawing/2014/main" id="{6E4C0A81-FA48-40F2-8E67-9DB323F1D031}"/>
              </a:ext>
            </a:extLst>
          </p:cNvPr>
          <p:cNvSpPr>
            <a:spLocks xmlns:a="http://schemas.openxmlformats.org/drawingml/2006/main" noGrp="1"/>
          </p:cNvSpPr>
          <p:nvPr/>
        </p:nvSpPr>
        <p:spPr>
          <a:xfrm xmlns:a="http://schemas.openxmlformats.org/drawingml/2006/main">
            <a:off x="6245352" y="4764024"/>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34" name="Text 31">
            <a:extLst xmlns:a="http://schemas.openxmlformats.org/drawingml/2006/main">
              <a:ext uri="{FF2B5EF4-FFF2-40B4-BE49-F238E27FC236}">
                <a16:creationId xmlns:a16="http://schemas.microsoft.com/office/drawing/2014/main" id="{D998A4A0-9F55-43B9-B455-CF3BBFDFBD9C}"/>
              </a:ext>
            </a:extLst>
          </p:cNvPr>
          <p:cNvSpPr>
            <a:spLocks xmlns:a="http://schemas.openxmlformats.org/drawingml/2006/main" noGrp="1"/>
          </p:cNvSpPr>
          <p:nvPr/>
        </p:nvSpPr>
        <p:spPr>
          <a:xfrm xmlns:a="http://schemas.openxmlformats.org/drawingml/2006/main">
            <a:off x="6355080" y="4882896"/>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D</a:t>
            </a:r>
            <a:endParaRPr sz="1100"/>
          </a:p>
        </p:txBody>
      </p:sp>
      <p:sp>
        <p:nvSpPr>
          <p:cNvPr id="35" name="Text 32">
            <a:extLst xmlns:a="http://schemas.openxmlformats.org/drawingml/2006/main">
              <a:ext uri="{FF2B5EF4-FFF2-40B4-BE49-F238E27FC236}">
                <a16:creationId xmlns:a16="http://schemas.microsoft.com/office/drawing/2014/main" id="{610AD93B-0E8C-490A-B5EF-6CCE34F71993}"/>
              </a:ext>
            </a:extLst>
          </p:cNvPr>
          <p:cNvSpPr>
            <a:spLocks xmlns:a="http://schemas.openxmlformats.org/drawingml/2006/main" noGrp="1"/>
          </p:cNvSpPr>
          <p:nvPr/>
        </p:nvSpPr>
        <p:spPr>
          <a:xfrm xmlns:a="http://schemas.openxmlformats.org/drawingml/2006/main">
            <a:off x="6775704" y="4764024"/>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It makes joblib loading faster</a:t>
            </a:r>
            <a:endParaRPr sz="1050"/>
          </a:p>
        </p:txBody>
      </p:sp>
      <p:sp>
        <p:nvSpPr>
          <p:cNvPr id="36" name="Text 33">
            <a:extLst xmlns:a="http://schemas.openxmlformats.org/drawingml/2006/main">
              <a:ext uri="{FF2B5EF4-FFF2-40B4-BE49-F238E27FC236}">
                <a16:creationId xmlns:a16="http://schemas.microsoft.com/office/drawing/2014/main" id="{F760219B-E6F5-4E91-87B4-F6360F6566A3}"/>
              </a:ext>
            </a:extLst>
          </p:cNvPr>
          <p:cNvSpPr>
            <a:spLocks xmlns:a="http://schemas.openxmlformats.org/drawingml/2006/main" noGrp="1"/>
          </p:cNvSpPr>
          <p:nvPr/>
        </p:nvSpPr>
        <p:spPr>
          <a:xfrm xmlns:a="http://schemas.openxmlformats.org/drawingml/2006/main">
            <a:off x="6245352" y="5513832"/>
            <a:ext cx="544068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b="1" i="1">
                <a:solidFill>
                  <a:srgbClr val="5F6B7A"/>
                </a:solidFill>
                <a:latin typeface="Calibri"/>
                <a:ea typeface="Calibri"/>
                <a:cs typeface="Calibri"/>
              </a:rPr>
              <a:t>Why: </a:t>
            </a:r>
            <a:r>
              <a:rPr sz="950" i="1">
                <a:solidFill>
                  <a:srgbClr val="5F6B7A"/>
                </a:solidFill>
                <a:latin typeface="Calibri"/>
                <a:ea typeface="Calibri"/>
                <a:cs typeface="Calibri"/>
              </a:rPr>
              <a:t>src-layout eliminates "works from repo root" bugs by forcing the installed-package import path everywhere.</a:t>
            </a:r>
            <a:endParaRPr sz="950"/>
          </a:p>
        </p:txBody>
      </p:sp>
    </p:spTree>
    <p:extLst>
      <p:ext uri="{BB962C8B-B14F-4D97-AF65-F5344CB8AC3E}">
        <p14:creationId xmlns:p14="http://schemas.microsoft.com/office/powerpoint/2010/main" val="127729556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F5EADB9-4AFB-4362-A5EC-AB809773223A}"/>
              </a:ext>
            </a:extLst>
          </p:cNvPr>
          <p:cNvSpPr>
            <a:spLocks xmlns:a="http://schemas.openxmlformats.org/drawingml/2006/main" noGrp="1"/>
          </p:cNvSpPr>
          <p:nvPr/>
        </p:nvSpPr>
        <p:spPr>
          <a:xfrm xmlns:a="http://schemas.openxmlformats.org/drawingml/2006/main" rot="5400000" flipH="1">
            <a:off x="9692640" y="1124712"/>
            <a:ext cx="329184" cy="288036"/>
          </a:xfrm>
          <a:prstGeom xmlns:a="http://schemas.openxmlformats.org/drawingml/2006/main" prst="triangle">
            <a:avLst/>
          </a:prstGeom>
          <a:solidFill xmlns:a="http://schemas.openxmlformats.org/drawingml/2006/main">
            <a:srgbClr val="00A79D"/>
          </a:solidFill>
        </p:spPr>
      </p:sp>
      <p:sp>
        <p:nvSpPr>
          <p:cNvPr id="3" name="Shape 1">
            <a:extLst xmlns:a="http://schemas.openxmlformats.org/drawingml/2006/main">
              <a:ext uri="{FF2B5EF4-FFF2-40B4-BE49-F238E27FC236}">
                <a16:creationId xmlns:a16="http://schemas.microsoft.com/office/drawing/2014/main" id="{EF52A3B3-54F9-4C96-87FA-CEAED047CA0A}"/>
              </a:ext>
            </a:extLst>
          </p:cNvPr>
          <p:cNvSpPr>
            <a:spLocks xmlns:a="http://schemas.openxmlformats.org/drawingml/2006/main" noGrp="1"/>
          </p:cNvSpPr>
          <p:nvPr/>
        </p:nvSpPr>
        <p:spPr>
          <a:xfrm xmlns:a="http://schemas.openxmlformats.org/drawingml/2006/main" rot="5400000">
            <a:off x="10041575" y="836676"/>
            <a:ext cx="329184" cy="288036"/>
          </a:xfrm>
          <a:prstGeom xmlns:a="http://schemas.openxmlformats.org/drawingml/2006/main" prst="triangle">
            <a:avLst/>
          </a:prstGeom>
          <a:solidFill xmlns:a="http://schemas.openxmlformats.org/drawingml/2006/main">
            <a:srgbClr val="29ABE2"/>
          </a:solidFill>
        </p:spPr>
      </p:sp>
      <p:sp>
        <p:nvSpPr>
          <p:cNvPr id="4" name="Shape 2">
            <a:extLst xmlns:a="http://schemas.openxmlformats.org/drawingml/2006/main">
              <a:ext uri="{FF2B5EF4-FFF2-40B4-BE49-F238E27FC236}">
                <a16:creationId xmlns:a16="http://schemas.microsoft.com/office/drawing/2014/main" id="{8130655C-A303-4826-8E3F-F4C6DBDEA776}"/>
              </a:ext>
            </a:extLst>
          </p:cNvPr>
          <p:cNvSpPr>
            <a:spLocks xmlns:a="http://schemas.openxmlformats.org/drawingml/2006/main" noGrp="1"/>
          </p:cNvSpPr>
          <p:nvPr/>
        </p:nvSpPr>
        <p:spPr>
          <a:xfrm xmlns:a="http://schemas.openxmlformats.org/drawingml/2006/main" rot="5400000">
            <a:off x="10041575" y="1412748"/>
            <a:ext cx="329184" cy="288036"/>
          </a:xfrm>
          <a:prstGeom xmlns:a="http://schemas.openxmlformats.org/drawingml/2006/main" prst="triangle">
            <a:avLst/>
          </a:prstGeom>
          <a:solidFill xmlns:a="http://schemas.openxmlformats.org/drawingml/2006/main">
            <a:srgbClr val="F58220"/>
          </a:solidFill>
        </p:spPr>
      </p:sp>
      <p:sp>
        <p:nvSpPr>
          <p:cNvPr id="5" name="Shape 3">
            <a:extLst xmlns:a="http://schemas.openxmlformats.org/drawingml/2006/main">
              <a:ext uri="{FF2B5EF4-FFF2-40B4-BE49-F238E27FC236}">
                <a16:creationId xmlns:a16="http://schemas.microsoft.com/office/drawing/2014/main" id="{02A2212A-D8B9-434E-B91B-480C7C75B371}"/>
              </a:ext>
            </a:extLst>
          </p:cNvPr>
          <p:cNvSpPr>
            <a:spLocks xmlns:a="http://schemas.openxmlformats.org/drawingml/2006/main" noGrp="1"/>
          </p:cNvSpPr>
          <p:nvPr/>
        </p:nvSpPr>
        <p:spPr>
          <a:xfrm xmlns:a="http://schemas.openxmlformats.org/drawingml/2006/main" rot="5400000" flipH="1">
            <a:off x="10390510" y="548640"/>
            <a:ext cx="329184" cy="288036"/>
          </a:xfrm>
          <a:prstGeom xmlns:a="http://schemas.openxmlformats.org/drawingml/2006/main" prst="triangle">
            <a:avLst/>
          </a:prstGeom>
          <a:solidFill xmlns:a="http://schemas.openxmlformats.org/drawingml/2006/main">
            <a:srgbClr val="8DC63F"/>
          </a:solidFill>
        </p:spPr>
      </p:sp>
      <p:sp>
        <p:nvSpPr>
          <p:cNvPr id="6" name="Shape 4">
            <a:extLst xmlns:a="http://schemas.openxmlformats.org/drawingml/2006/main">
              <a:ext uri="{FF2B5EF4-FFF2-40B4-BE49-F238E27FC236}">
                <a16:creationId xmlns:a16="http://schemas.microsoft.com/office/drawing/2014/main" id="{55775CE5-1E77-45D9-AAD1-D876F2A86662}"/>
              </a:ext>
            </a:extLst>
          </p:cNvPr>
          <p:cNvSpPr>
            <a:spLocks xmlns:a="http://schemas.openxmlformats.org/drawingml/2006/main" noGrp="1"/>
          </p:cNvSpPr>
          <p:nvPr/>
        </p:nvSpPr>
        <p:spPr>
          <a:xfrm xmlns:a="http://schemas.openxmlformats.org/drawingml/2006/main" rot="5400000">
            <a:off x="10390510" y="1124712"/>
            <a:ext cx="329184" cy="288036"/>
          </a:xfrm>
          <a:prstGeom xmlns:a="http://schemas.openxmlformats.org/drawingml/2006/main" prst="triangle">
            <a:avLst/>
          </a:prstGeom>
          <a:solidFill xmlns:a="http://schemas.openxmlformats.org/drawingml/2006/main">
            <a:srgbClr val="B9C8E8"/>
          </a:solidFill>
        </p:spPr>
      </p:sp>
      <p:sp>
        <p:nvSpPr>
          <p:cNvPr id="7" name="Shape 5">
            <a:extLst xmlns:a="http://schemas.openxmlformats.org/drawingml/2006/main">
              <a:ext uri="{FF2B5EF4-FFF2-40B4-BE49-F238E27FC236}">
                <a16:creationId xmlns:a16="http://schemas.microsoft.com/office/drawing/2014/main" id="{4F0E62C8-2D0F-42C0-84F8-39A19C93734A}"/>
              </a:ext>
            </a:extLst>
          </p:cNvPr>
          <p:cNvSpPr>
            <a:spLocks xmlns:a="http://schemas.openxmlformats.org/drawingml/2006/main" noGrp="1"/>
          </p:cNvSpPr>
          <p:nvPr/>
        </p:nvSpPr>
        <p:spPr>
          <a:xfrm xmlns:a="http://schemas.openxmlformats.org/drawingml/2006/main" rot="5400000">
            <a:off x="10739445" y="836676"/>
            <a:ext cx="329184" cy="288036"/>
          </a:xfrm>
          <a:prstGeom xmlns:a="http://schemas.openxmlformats.org/drawingml/2006/main" prst="triangle">
            <a:avLst/>
          </a:prstGeom>
          <a:solidFill xmlns:a="http://schemas.openxmlformats.org/drawingml/2006/main">
            <a:srgbClr val="00A79D"/>
          </a:solidFill>
        </p:spPr>
      </p:sp>
      <p:sp>
        <p:nvSpPr>
          <p:cNvPr id="8" name="Shape 6">
            <a:extLst xmlns:a="http://schemas.openxmlformats.org/drawingml/2006/main">
              <a:ext uri="{FF2B5EF4-FFF2-40B4-BE49-F238E27FC236}">
                <a16:creationId xmlns:a16="http://schemas.microsoft.com/office/drawing/2014/main" id="{944E5390-6A84-4A8A-8564-B1E10DC3C866}"/>
              </a:ext>
            </a:extLst>
          </p:cNvPr>
          <p:cNvSpPr>
            <a:spLocks xmlns:a="http://schemas.openxmlformats.org/drawingml/2006/main" noGrp="1"/>
          </p:cNvSpPr>
          <p:nvPr/>
        </p:nvSpPr>
        <p:spPr>
          <a:xfrm xmlns:a="http://schemas.openxmlformats.org/drawingml/2006/main" rot="5400000" flipH="1">
            <a:off x="10739445" y="1412748"/>
            <a:ext cx="329184" cy="288036"/>
          </a:xfrm>
          <a:prstGeom xmlns:a="http://schemas.openxmlformats.org/drawingml/2006/main" prst="triangle">
            <a:avLst/>
          </a:prstGeom>
          <a:solidFill xmlns:a="http://schemas.openxmlformats.org/drawingml/2006/main">
            <a:srgbClr val="29ABE2"/>
          </a:solidFill>
        </p:spPr>
      </p:sp>
      <p:sp>
        <p:nvSpPr>
          <p:cNvPr id="9" name="Shape 7">
            <a:extLst xmlns:a="http://schemas.openxmlformats.org/drawingml/2006/main">
              <a:ext uri="{FF2B5EF4-FFF2-40B4-BE49-F238E27FC236}">
                <a16:creationId xmlns:a16="http://schemas.microsoft.com/office/drawing/2014/main" id="{87505EF3-DF1C-4292-85B1-C56D02684C2C}"/>
              </a:ext>
            </a:extLst>
          </p:cNvPr>
          <p:cNvSpPr>
            <a:spLocks xmlns:a="http://schemas.openxmlformats.org/drawingml/2006/main" noGrp="1"/>
          </p:cNvSpPr>
          <p:nvPr/>
        </p:nvSpPr>
        <p:spPr>
          <a:xfrm xmlns:a="http://schemas.openxmlformats.org/drawingml/2006/main" rot="5400000">
            <a:off x="11088380" y="1124712"/>
            <a:ext cx="329184" cy="288036"/>
          </a:xfrm>
          <a:prstGeom xmlns:a="http://schemas.openxmlformats.org/drawingml/2006/main" prst="triangle">
            <a:avLst/>
          </a:prstGeom>
          <a:solidFill xmlns:a="http://schemas.openxmlformats.org/drawingml/2006/main">
            <a:srgbClr val="F58220"/>
          </a:solidFill>
        </p:spPr>
      </p:sp>
      <p:sp>
        <p:nvSpPr>
          <p:cNvPr id="10" name="Shape 8">
            <a:extLst xmlns:a="http://schemas.openxmlformats.org/drawingml/2006/main">
              <a:ext uri="{FF2B5EF4-FFF2-40B4-BE49-F238E27FC236}">
                <a16:creationId xmlns:a16="http://schemas.microsoft.com/office/drawing/2014/main" id="{81082E2F-4EA4-4607-B8F4-5458828B492F}"/>
              </a:ext>
            </a:extLst>
          </p:cNvPr>
          <p:cNvSpPr>
            <a:spLocks xmlns:a="http://schemas.openxmlformats.org/drawingml/2006/main" noGrp="1"/>
          </p:cNvSpPr>
          <p:nvPr/>
        </p:nvSpPr>
        <p:spPr>
          <a:xfrm xmlns:a="http://schemas.openxmlformats.org/drawingml/2006/main" rot="5400000" flipH="1">
            <a:off x="640080" y="5875020"/>
            <a:ext cx="274320" cy="240030"/>
          </a:xfrm>
          <a:prstGeom xmlns:a="http://schemas.openxmlformats.org/drawingml/2006/main" prst="triangle">
            <a:avLst/>
          </a:prstGeom>
          <a:solidFill xmlns:a="http://schemas.openxmlformats.org/drawingml/2006/main">
            <a:srgbClr val="B9C8E8"/>
          </a:solidFill>
        </p:spPr>
      </p:sp>
      <p:sp>
        <p:nvSpPr>
          <p:cNvPr id="11" name="Shape 9">
            <a:extLst xmlns:a="http://schemas.openxmlformats.org/drawingml/2006/main">
              <a:ext uri="{FF2B5EF4-FFF2-40B4-BE49-F238E27FC236}">
                <a16:creationId xmlns:a16="http://schemas.microsoft.com/office/drawing/2014/main" id="{B4F9047D-B3D4-4491-9C91-7C29BF5AD73E}"/>
              </a:ext>
            </a:extLst>
          </p:cNvPr>
          <p:cNvSpPr>
            <a:spLocks xmlns:a="http://schemas.openxmlformats.org/drawingml/2006/main" noGrp="1"/>
          </p:cNvSpPr>
          <p:nvPr/>
        </p:nvSpPr>
        <p:spPr>
          <a:xfrm xmlns:a="http://schemas.openxmlformats.org/drawingml/2006/main" rot="5400000">
            <a:off x="930859" y="5634990"/>
            <a:ext cx="274320" cy="240030"/>
          </a:xfrm>
          <a:prstGeom xmlns:a="http://schemas.openxmlformats.org/drawingml/2006/main" prst="triangle">
            <a:avLst/>
          </a:prstGeom>
          <a:solidFill xmlns:a="http://schemas.openxmlformats.org/drawingml/2006/main">
            <a:srgbClr val="DCE6F8"/>
          </a:solidFill>
        </p:spPr>
      </p:sp>
      <p:sp>
        <p:nvSpPr>
          <p:cNvPr id="12" name="Shape 10">
            <a:extLst xmlns:a="http://schemas.openxmlformats.org/drawingml/2006/main">
              <a:ext uri="{FF2B5EF4-FFF2-40B4-BE49-F238E27FC236}">
                <a16:creationId xmlns:a16="http://schemas.microsoft.com/office/drawing/2014/main" id="{6AA10364-9BB0-4561-B718-FD4C4BDC87C3}"/>
              </a:ext>
            </a:extLst>
          </p:cNvPr>
          <p:cNvSpPr>
            <a:spLocks xmlns:a="http://schemas.openxmlformats.org/drawingml/2006/main" noGrp="1"/>
          </p:cNvSpPr>
          <p:nvPr/>
        </p:nvSpPr>
        <p:spPr>
          <a:xfrm xmlns:a="http://schemas.openxmlformats.org/drawingml/2006/main" rot="5400000">
            <a:off x="930859" y="6115050"/>
            <a:ext cx="274320" cy="240030"/>
          </a:xfrm>
          <a:prstGeom xmlns:a="http://schemas.openxmlformats.org/drawingml/2006/main" prst="triangle">
            <a:avLst/>
          </a:prstGeom>
          <a:solidFill xmlns:a="http://schemas.openxmlformats.org/drawingml/2006/main">
            <a:srgbClr val="00A79D"/>
          </a:solidFill>
        </p:spPr>
      </p:sp>
      <p:sp>
        <p:nvSpPr>
          <p:cNvPr id="13" name="Shape 11">
            <a:extLst xmlns:a="http://schemas.openxmlformats.org/drawingml/2006/main">
              <a:ext uri="{FF2B5EF4-FFF2-40B4-BE49-F238E27FC236}">
                <a16:creationId xmlns:a16="http://schemas.microsoft.com/office/drawing/2014/main" id="{CCDE9AFA-BF0E-4900-9764-30DEF7398266}"/>
              </a:ext>
            </a:extLst>
          </p:cNvPr>
          <p:cNvSpPr>
            <a:spLocks xmlns:a="http://schemas.openxmlformats.org/drawingml/2006/main" noGrp="1"/>
          </p:cNvSpPr>
          <p:nvPr/>
        </p:nvSpPr>
        <p:spPr>
          <a:xfrm xmlns:a="http://schemas.openxmlformats.org/drawingml/2006/main" rot="5400000" flipH="1">
            <a:off x="1221638" y="5394960"/>
            <a:ext cx="274320" cy="240030"/>
          </a:xfrm>
          <a:prstGeom xmlns:a="http://schemas.openxmlformats.org/drawingml/2006/main" prst="triangle">
            <a:avLst/>
          </a:prstGeom>
          <a:solidFill xmlns:a="http://schemas.openxmlformats.org/drawingml/2006/main">
            <a:srgbClr val="29ABE2"/>
          </a:solidFill>
        </p:spPr>
      </p:sp>
      <p:sp>
        <p:nvSpPr>
          <p:cNvPr id="14" name="Shape 12">
            <a:extLst xmlns:a="http://schemas.openxmlformats.org/drawingml/2006/main">
              <a:ext uri="{FF2B5EF4-FFF2-40B4-BE49-F238E27FC236}">
                <a16:creationId xmlns:a16="http://schemas.microsoft.com/office/drawing/2014/main" id="{5B8ED401-905A-4DD9-BF6E-9079A2ED9DE3}"/>
              </a:ext>
            </a:extLst>
          </p:cNvPr>
          <p:cNvSpPr>
            <a:spLocks xmlns:a="http://schemas.openxmlformats.org/drawingml/2006/main" noGrp="1"/>
          </p:cNvSpPr>
          <p:nvPr/>
        </p:nvSpPr>
        <p:spPr>
          <a:xfrm xmlns:a="http://schemas.openxmlformats.org/drawingml/2006/main" rot="5400000">
            <a:off x="1221638" y="5875020"/>
            <a:ext cx="274320" cy="240030"/>
          </a:xfrm>
          <a:prstGeom xmlns:a="http://schemas.openxmlformats.org/drawingml/2006/main" prst="triangle">
            <a:avLst/>
          </a:prstGeom>
          <a:solidFill xmlns:a="http://schemas.openxmlformats.org/drawingml/2006/main">
            <a:srgbClr val="B9C8E8"/>
          </a:solidFill>
        </p:spPr>
      </p:sp>
      <p:sp>
        <p:nvSpPr>
          <p:cNvPr id="15" name="Shape 13">
            <a:extLst xmlns:a="http://schemas.openxmlformats.org/drawingml/2006/main">
              <a:ext uri="{FF2B5EF4-FFF2-40B4-BE49-F238E27FC236}">
                <a16:creationId xmlns:a16="http://schemas.microsoft.com/office/drawing/2014/main" id="{38364237-5100-43C6-858F-BA08D564604B}"/>
              </a:ext>
            </a:extLst>
          </p:cNvPr>
          <p:cNvSpPr>
            <a:spLocks xmlns:a="http://schemas.openxmlformats.org/drawingml/2006/main" noGrp="1"/>
          </p:cNvSpPr>
          <p:nvPr/>
        </p:nvSpPr>
        <p:spPr>
          <a:xfrm xmlns:a="http://schemas.openxmlformats.org/drawingml/2006/main" rot="5400000">
            <a:off x="1512418" y="5634990"/>
            <a:ext cx="274320" cy="240030"/>
          </a:xfrm>
          <a:prstGeom xmlns:a="http://schemas.openxmlformats.org/drawingml/2006/main" prst="triangle">
            <a:avLst/>
          </a:prstGeom>
          <a:solidFill xmlns:a="http://schemas.openxmlformats.org/drawingml/2006/main">
            <a:srgbClr val="DCE6F8"/>
          </a:solidFill>
        </p:spPr>
      </p:sp>
      <p:sp>
        <p:nvSpPr>
          <p:cNvPr id="16" name="Shape 14">
            <a:extLst xmlns:a="http://schemas.openxmlformats.org/drawingml/2006/main">
              <a:ext uri="{FF2B5EF4-FFF2-40B4-BE49-F238E27FC236}">
                <a16:creationId xmlns:a16="http://schemas.microsoft.com/office/drawing/2014/main" id="{B1EF810F-5B4B-4E62-A071-F8EAAAE00064}"/>
              </a:ext>
            </a:extLst>
          </p:cNvPr>
          <p:cNvSpPr>
            <a:spLocks xmlns:a="http://schemas.openxmlformats.org/drawingml/2006/main" noGrp="1"/>
          </p:cNvSpPr>
          <p:nvPr/>
        </p:nvSpPr>
        <p:spPr>
          <a:xfrm xmlns:a="http://schemas.openxmlformats.org/drawingml/2006/main" rot="5400000" flipH="1">
            <a:off x="1512418" y="6115050"/>
            <a:ext cx="274320" cy="240030"/>
          </a:xfrm>
          <a:prstGeom xmlns:a="http://schemas.openxmlformats.org/drawingml/2006/main" prst="triangle">
            <a:avLst/>
          </a:prstGeom>
          <a:solidFill xmlns:a="http://schemas.openxmlformats.org/drawingml/2006/main">
            <a:srgbClr val="00A79D"/>
          </a:solidFill>
        </p:spPr>
      </p:sp>
      <p:sp>
        <p:nvSpPr>
          <p:cNvPr id="17" name="Shape 15">
            <a:extLst xmlns:a="http://schemas.openxmlformats.org/drawingml/2006/main">
              <a:ext uri="{FF2B5EF4-FFF2-40B4-BE49-F238E27FC236}">
                <a16:creationId xmlns:a16="http://schemas.microsoft.com/office/drawing/2014/main" id="{4D34CF0B-6CEC-40D9-8FAE-2D7FC8A2EEF8}"/>
              </a:ext>
            </a:extLst>
          </p:cNvPr>
          <p:cNvSpPr>
            <a:spLocks xmlns:a="http://schemas.openxmlformats.org/drawingml/2006/main" noGrp="1"/>
          </p:cNvSpPr>
          <p:nvPr/>
        </p:nvSpPr>
        <p:spPr>
          <a:xfrm xmlns:a="http://schemas.openxmlformats.org/drawingml/2006/main" rot="5400000">
            <a:off x="1803197" y="5875020"/>
            <a:ext cx="274320" cy="240030"/>
          </a:xfrm>
          <a:prstGeom xmlns:a="http://schemas.openxmlformats.org/drawingml/2006/main" prst="triangle">
            <a:avLst/>
          </a:prstGeom>
          <a:solidFill xmlns:a="http://schemas.openxmlformats.org/drawingml/2006/main">
            <a:srgbClr val="29ABE2"/>
          </a:solidFill>
        </p:spPr>
      </p:sp>
      <p:sp>
        <p:nvSpPr>
          <p:cNvPr id="18" name="Text 16">
            <a:extLst xmlns:a="http://schemas.openxmlformats.org/drawingml/2006/main">
              <a:ext uri="{FF2B5EF4-FFF2-40B4-BE49-F238E27FC236}">
                <a16:creationId xmlns:a16="http://schemas.microsoft.com/office/drawing/2014/main" id="{1DE85E4A-92F0-498D-985D-1805E801101F}"/>
              </a:ext>
            </a:extLst>
          </p:cNvPr>
          <p:cNvSpPr>
            <a:spLocks xmlns:a="http://schemas.openxmlformats.org/drawingml/2006/main" noGrp="1"/>
          </p:cNvSpPr>
          <p:nvPr/>
        </p:nvSpPr>
        <p:spPr>
          <a:xfrm xmlns:a="http://schemas.openxmlformats.org/drawingml/2006/main">
            <a:off x="1097280" y="192024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spc="300">
                <a:solidFill>
                  <a:srgbClr val="00A79D"/>
                </a:solidFill>
                <a:latin typeface="Calibri"/>
                <a:ea typeface="Calibri"/>
                <a:cs typeface="Calibri"/>
              </a:rPr>
              <a:t>MODULE 1 TAKEAWAY</a:t>
            </a:r>
            <a:endParaRPr sz="1300"/>
          </a:p>
        </p:txBody>
      </p:sp>
      <p:sp>
        <p:nvSpPr>
          <p:cNvPr id="19" name="Text 17">
            <a:extLst xmlns:a="http://schemas.openxmlformats.org/drawingml/2006/main">
              <a:ext uri="{FF2B5EF4-FFF2-40B4-BE49-F238E27FC236}">
                <a16:creationId xmlns:a16="http://schemas.microsoft.com/office/drawing/2014/main" id="{159B9384-3658-45A1-AAA8-54412A1CB504}"/>
              </a:ext>
            </a:extLst>
          </p:cNvPr>
          <p:cNvSpPr>
            <a:spLocks xmlns:a="http://schemas.openxmlformats.org/drawingml/2006/main" noGrp="1"/>
          </p:cNvSpPr>
          <p:nvPr/>
        </p:nvSpPr>
        <p:spPr>
          <a:xfrm xmlns:a="http://schemas.openxmlformats.org/drawingml/2006/main">
            <a:off x="1097280" y="2377440"/>
            <a:ext cx="9994392" cy="1737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3000" b="1">
                <a:solidFill>
                  <a:srgbClr val="1D2A5C"/>
                </a:solidFill>
                <a:latin typeface="Calibri"/>
                <a:ea typeface="Calibri"/>
                <a:cs typeface="Calibri"/>
              </a:rPr>
              <a:t>Make the model a replaceable component behind a stable interface — everything else depends on that.</a:t>
            </a:r>
            <a:endParaRPr sz="3000"/>
          </a:p>
        </p:txBody>
      </p:sp>
      <p:sp>
        <p:nvSpPr>
          <p:cNvPr id="20" name="Text 18">
            <a:extLst xmlns:a="http://schemas.openxmlformats.org/drawingml/2006/main">
              <a:ext uri="{FF2B5EF4-FFF2-40B4-BE49-F238E27FC236}">
                <a16:creationId xmlns:a16="http://schemas.microsoft.com/office/drawing/2014/main" id="{56F3A02C-D92C-492F-B812-DE84D9078E77}"/>
              </a:ext>
            </a:extLst>
          </p:cNvPr>
          <p:cNvSpPr>
            <a:spLocks xmlns:a="http://schemas.openxmlformats.org/drawingml/2006/main" noGrp="1"/>
          </p:cNvSpPr>
          <p:nvPr/>
        </p:nvSpPr>
        <p:spPr>
          <a:xfrm xmlns:a="http://schemas.openxmlformats.org/drawingml/2006/main">
            <a:off x="2011680" y="4251960"/>
            <a:ext cx="8165592"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350">
                <a:solidFill>
                  <a:srgbClr val="5F6B7A"/>
                </a:solidFill>
                <a:latin typeface="Calibri"/>
                <a:ea typeface="Calibri"/>
                <a:cs typeface="Calibri"/>
              </a:rPr>
              <a:t>Swap XGBoost for PyTorch by changing one adapter file. That is the difference between this course and a FastAPI tutorial.</a:t>
            </a:r>
            <a:endParaRPr sz="1350"/>
          </a:p>
        </p:txBody>
      </p:sp>
      <p:pic>
        <p:nvPicPr>
          <p:cNvPr id="44" name="Image 0"/>
          <p:cNvPicPr>
            <a:picLocks xmlns:a="http://schemas.openxmlformats.org/drawingml/2006/main" noChangeAspect="1"/>
          </p:cNvPicPr>
          <p:nvPr/>
        </p:nvPicPr>
        <p:blipFill>
          <a:blip xmlns:r="http://schemas.openxmlformats.org/officeDocument/2006/relationships" xmlns:a="http://schemas.openxmlformats.org/drawingml/2006/main" r:embed="Rdaee5e1534074005"/>
          <a:stretch xmlns:a="http://schemas.openxmlformats.org/drawingml/2006/main">
            <a:fillRect l="0" t="0" r="0" b="0"/>
          </a:stretch>
        </p:blipFill>
        <p:spPr>
          <a:xfrm xmlns:a="http://schemas.openxmlformats.org/drawingml/2006/main">
            <a:off x="5559552" y="6172200"/>
            <a:ext cx="1078992" cy="265176"/>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B8973368-8782-4821-99D8-410212E6ED54}"/>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1   </a:t>
            </a:r>
            <a:r>
              <a:rPr sz="850" spc="100">
                <a:solidFill>
                  <a:srgbClr val="8A96A6"/>
                </a:solidFill>
                <a:latin typeface="Calibri"/>
                <a:ea typeface="Calibri"/>
                <a:cs typeface="Calibri"/>
              </a:rPr>
              <a:t>SDA-AIE-113 · Software Engineering Practices for AI Systems</a:t>
            </a:r>
            <a:endParaRPr sz="850"/>
          </a:p>
        </p:txBody>
      </p:sp>
      <p:sp>
        <p:nvSpPr>
          <p:cNvPr id="23" name="Text 20">
            <a:extLst xmlns:a="http://schemas.openxmlformats.org/drawingml/2006/main">
              <a:ext uri="{FF2B5EF4-FFF2-40B4-BE49-F238E27FC236}">
                <a16:creationId xmlns:a16="http://schemas.microsoft.com/office/drawing/2014/main" id="{7A3DFE06-DF53-469B-B817-1B9F741868AB}"/>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34</a:t>
            </a:r>
            <a:endParaRPr sz="850"/>
          </a:p>
        </p:txBody>
      </p:sp>
    </p:spTree>
    <p:extLst>
      <p:ext uri="{BB962C8B-B14F-4D97-AF65-F5344CB8AC3E}">
        <p14:creationId xmlns:p14="http://schemas.microsoft.com/office/powerpoint/2010/main" val="459728229"/>
      </p:ext>
    </p:extLst>
  </p:cSld>
</p:sld>
</file>

<file path=ppt/slides/slide35.xml><?xml version="1.0" encoding="utf-8"?>
<p:sld xmlns:p="http://schemas.openxmlformats.org/presentationml/2006/main">
  <p:cSld>
    <p:bg>
      <p:bgPr>
        <a:solidFill xmlns:a="http://schemas.openxmlformats.org/drawingml/2006/main">
          <a:srgbClr val="1D2A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32EE4BA-4443-460A-AAEA-43E4A1F21C6D}"/>
              </a:ext>
            </a:extLst>
          </p:cNvPr>
          <p:cNvSpPr>
            <a:spLocks xmlns:a="http://schemas.openxmlformats.org/drawingml/2006/main" noGrp="1"/>
          </p:cNvSpPr>
          <p:nvPr/>
        </p:nvSpPr>
        <p:spPr>
          <a:xfrm xmlns:a="http://schemas.openxmlformats.org/drawingml/2006/main" rot="5400000" flipH="1">
            <a:off x="9235440" y="1298448"/>
            <a:ext cx="402336" cy="352044"/>
          </a:xfrm>
          <a:prstGeom xmlns:a="http://schemas.openxmlformats.org/drawingml/2006/main" prst="triangle">
            <a:avLst/>
          </a:prstGeom>
          <a:solidFill xmlns:a="http://schemas.openxmlformats.org/drawingml/2006/main">
            <a:srgbClr val="00A79D"/>
          </a:solidFill>
        </p:spPr>
      </p:sp>
      <p:sp>
        <p:nvSpPr>
          <p:cNvPr id="3" name="Shape 1">
            <a:extLst xmlns:a="http://schemas.openxmlformats.org/drawingml/2006/main">
              <a:ext uri="{FF2B5EF4-FFF2-40B4-BE49-F238E27FC236}">
                <a16:creationId xmlns:a16="http://schemas.microsoft.com/office/drawing/2014/main" id="{71AD44DC-488A-4EF0-AC15-7A53ED9BB198}"/>
              </a:ext>
            </a:extLst>
          </p:cNvPr>
          <p:cNvSpPr>
            <a:spLocks xmlns:a="http://schemas.openxmlformats.org/drawingml/2006/main" noGrp="1"/>
          </p:cNvSpPr>
          <p:nvPr/>
        </p:nvSpPr>
        <p:spPr>
          <a:xfrm xmlns:a="http://schemas.openxmlformats.org/drawingml/2006/main" rot="5400000">
            <a:off x="9661916" y="946404"/>
            <a:ext cx="402336" cy="352044"/>
          </a:xfrm>
          <a:prstGeom xmlns:a="http://schemas.openxmlformats.org/drawingml/2006/main" prst="triangle">
            <a:avLst/>
          </a:prstGeom>
          <a:solidFill xmlns:a="http://schemas.openxmlformats.org/drawingml/2006/main">
            <a:srgbClr val="29ABE2"/>
          </a:solidFill>
        </p:spPr>
      </p:sp>
      <p:sp>
        <p:nvSpPr>
          <p:cNvPr id="4" name="Shape 2">
            <a:extLst xmlns:a="http://schemas.openxmlformats.org/drawingml/2006/main">
              <a:ext uri="{FF2B5EF4-FFF2-40B4-BE49-F238E27FC236}">
                <a16:creationId xmlns:a16="http://schemas.microsoft.com/office/drawing/2014/main" id="{37C9D4C9-F928-49CD-A9FA-BEE64916BA20}"/>
              </a:ext>
            </a:extLst>
          </p:cNvPr>
          <p:cNvSpPr>
            <a:spLocks xmlns:a="http://schemas.openxmlformats.org/drawingml/2006/main" noGrp="1"/>
          </p:cNvSpPr>
          <p:nvPr/>
        </p:nvSpPr>
        <p:spPr>
          <a:xfrm xmlns:a="http://schemas.openxmlformats.org/drawingml/2006/main" rot="5400000">
            <a:off x="9661916" y="1650492"/>
            <a:ext cx="402336" cy="352044"/>
          </a:xfrm>
          <a:prstGeom xmlns:a="http://schemas.openxmlformats.org/drawingml/2006/main" prst="triangle">
            <a:avLst/>
          </a:prstGeom>
          <a:solidFill xmlns:a="http://schemas.openxmlformats.org/drawingml/2006/main">
            <a:srgbClr val="F58220"/>
          </a:solidFill>
        </p:spPr>
      </p:sp>
      <p:sp>
        <p:nvSpPr>
          <p:cNvPr id="5" name="Shape 3">
            <a:extLst xmlns:a="http://schemas.openxmlformats.org/drawingml/2006/main">
              <a:ext uri="{FF2B5EF4-FFF2-40B4-BE49-F238E27FC236}">
                <a16:creationId xmlns:a16="http://schemas.microsoft.com/office/drawing/2014/main" id="{CCBE82E6-B558-4B95-8193-D914B5124C67}"/>
              </a:ext>
            </a:extLst>
          </p:cNvPr>
          <p:cNvSpPr>
            <a:spLocks xmlns:a="http://schemas.openxmlformats.org/drawingml/2006/main" noGrp="1"/>
          </p:cNvSpPr>
          <p:nvPr/>
        </p:nvSpPr>
        <p:spPr>
          <a:xfrm xmlns:a="http://schemas.openxmlformats.org/drawingml/2006/main" rot="5400000" flipH="1">
            <a:off x="10088392" y="594360"/>
            <a:ext cx="402336" cy="352044"/>
          </a:xfrm>
          <a:prstGeom xmlns:a="http://schemas.openxmlformats.org/drawingml/2006/main" prst="triangle">
            <a:avLst/>
          </a:prstGeom>
          <a:solidFill xmlns:a="http://schemas.openxmlformats.org/drawingml/2006/main">
            <a:srgbClr val="8DC63F"/>
          </a:solidFill>
        </p:spPr>
      </p:sp>
      <p:sp>
        <p:nvSpPr>
          <p:cNvPr id="6" name="Shape 4">
            <a:extLst xmlns:a="http://schemas.openxmlformats.org/drawingml/2006/main">
              <a:ext uri="{FF2B5EF4-FFF2-40B4-BE49-F238E27FC236}">
                <a16:creationId xmlns:a16="http://schemas.microsoft.com/office/drawing/2014/main" id="{A169FE09-C678-4C72-9E59-2AD7A0DBF75E}"/>
              </a:ext>
            </a:extLst>
          </p:cNvPr>
          <p:cNvSpPr>
            <a:spLocks xmlns:a="http://schemas.openxmlformats.org/drawingml/2006/main" noGrp="1"/>
          </p:cNvSpPr>
          <p:nvPr/>
        </p:nvSpPr>
        <p:spPr>
          <a:xfrm xmlns:a="http://schemas.openxmlformats.org/drawingml/2006/main" rot="5400000">
            <a:off x="10088392" y="1298448"/>
            <a:ext cx="402336" cy="352044"/>
          </a:xfrm>
          <a:prstGeom xmlns:a="http://schemas.openxmlformats.org/drawingml/2006/main" prst="triangle">
            <a:avLst/>
          </a:prstGeom>
          <a:solidFill xmlns:a="http://schemas.openxmlformats.org/drawingml/2006/main">
            <a:srgbClr val="00A79D"/>
          </a:solidFill>
        </p:spPr>
      </p:sp>
      <p:sp>
        <p:nvSpPr>
          <p:cNvPr id="7" name="Shape 5">
            <a:extLst xmlns:a="http://schemas.openxmlformats.org/drawingml/2006/main">
              <a:ext uri="{FF2B5EF4-FFF2-40B4-BE49-F238E27FC236}">
                <a16:creationId xmlns:a16="http://schemas.microsoft.com/office/drawing/2014/main" id="{D8ECBE7E-9D3E-4101-8DAB-40E52F8B200A}"/>
              </a:ext>
            </a:extLst>
          </p:cNvPr>
          <p:cNvSpPr>
            <a:spLocks xmlns:a="http://schemas.openxmlformats.org/drawingml/2006/main" noGrp="1"/>
          </p:cNvSpPr>
          <p:nvPr/>
        </p:nvSpPr>
        <p:spPr>
          <a:xfrm xmlns:a="http://schemas.openxmlformats.org/drawingml/2006/main" rot="5400000">
            <a:off x="10514868" y="946404"/>
            <a:ext cx="402336" cy="352044"/>
          </a:xfrm>
          <a:prstGeom xmlns:a="http://schemas.openxmlformats.org/drawingml/2006/main" prst="triangle">
            <a:avLst/>
          </a:prstGeom>
          <a:solidFill xmlns:a="http://schemas.openxmlformats.org/drawingml/2006/main">
            <a:srgbClr val="29ABE2"/>
          </a:solidFill>
        </p:spPr>
      </p:sp>
      <p:sp>
        <p:nvSpPr>
          <p:cNvPr id="8" name="Shape 6">
            <a:extLst xmlns:a="http://schemas.openxmlformats.org/drawingml/2006/main">
              <a:ext uri="{FF2B5EF4-FFF2-40B4-BE49-F238E27FC236}">
                <a16:creationId xmlns:a16="http://schemas.microsoft.com/office/drawing/2014/main" id="{F1F4CEBE-28E7-4D01-85CE-F7860449C765}"/>
              </a:ext>
            </a:extLst>
          </p:cNvPr>
          <p:cNvSpPr>
            <a:spLocks xmlns:a="http://schemas.openxmlformats.org/drawingml/2006/main" noGrp="1"/>
          </p:cNvSpPr>
          <p:nvPr/>
        </p:nvSpPr>
        <p:spPr>
          <a:xfrm xmlns:a="http://schemas.openxmlformats.org/drawingml/2006/main" rot="5400000" flipH="1">
            <a:off x="10514868" y="1650492"/>
            <a:ext cx="402336" cy="352044"/>
          </a:xfrm>
          <a:prstGeom xmlns:a="http://schemas.openxmlformats.org/drawingml/2006/main" prst="triangle">
            <a:avLst/>
          </a:prstGeom>
          <a:solidFill xmlns:a="http://schemas.openxmlformats.org/drawingml/2006/main">
            <a:srgbClr val="F58220"/>
          </a:solidFill>
        </p:spPr>
      </p:sp>
      <p:sp>
        <p:nvSpPr>
          <p:cNvPr id="9" name="Shape 7">
            <a:extLst xmlns:a="http://schemas.openxmlformats.org/drawingml/2006/main">
              <a:ext uri="{FF2B5EF4-FFF2-40B4-BE49-F238E27FC236}">
                <a16:creationId xmlns:a16="http://schemas.microsoft.com/office/drawing/2014/main" id="{4F462A27-BE71-4A85-98B5-06F4AD09B258}"/>
              </a:ext>
            </a:extLst>
          </p:cNvPr>
          <p:cNvSpPr>
            <a:spLocks xmlns:a="http://schemas.openxmlformats.org/drawingml/2006/main" noGrp="1"/>
          </p:cNvSpPr>
          <p:nvPr/>
        </p:nvSpPr>
        <p:spPr>
          <a:xfrm xmlns:a="http://schemas.openxmlformats.org/drawingml/2006/main" rot="5400000">
            <a:off x="10941345" y="1298448"/>
            <a:ext cx="402336" cy="352044"/>
          </a:xfrm>
          <a:prstGeom xmlns:a="http://schemas.openxmlformats.org/drawingml/2006/main" prst="triangle">
            <a:avLst/>
          </a:prstGeom>
          <a:solidFill xmlns:a="http://schemas.openxmlformats.org/drawingml/2006/main">
            <a:srgbClr val="8DC63F"/>
          </a:solidFill>
        </p:spPr>
      </p:sp>
      <p:sp>
        <p:nvSpPr>
          <p:cNvPr id="10" name="Text 8">
            <a:extLst xmlns:a="http://schemas.openxmlformats.org/drawingml/2006/main">
              <a:ext uri="{FF2B5EF4-FFF2-40B4-BE49-F238E27FC236}">
                <a16:creationId xmlns:a16="http://schemas.microsoft.com/office/drawing/2014/main" id="{253F6CC6-6F41-45CB-80F0-4F725DF6983C}"/>
              </a:ext>
            </a:extLst>
          </p:cNvPr>
          <p:cNvSpPr>
            <a:spLocks xmlns:a="http://schemas.openxmlformats.org/drawingml/2006/main" noGrp="1"/>
          </p:cNvSpPr>
          <p:nvPr/>
        </p:nvSpPr>
        <p:spPr>
          <a:xfrm xmlns:a="http://schemas.openxmlformats.org/drawingml/2006/main">
            <a:off x="777240" y="1417320"/>
            <a:ext cx="731520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spc="400">
                <a:solidFill>
                  <a:srgbClr val="00A79D"/>
                </a:solidFill>
                <a:latin typeface="Calibri"/>
                <a:ea typeface="Calibri"/>
                <a:cs typeface="Calibri"/>
              </a:rPr>
              <a:t>DAY 1 · MODULE 2</a:t>
            </a:r>
            <a:endParaRPr sz="1500"/>
          </a:p>
        </p:txBody>
      </p:sp>
      <p:sp>
        <p:nvSpPr>
          <p:cNvPr id="11" name="Text 9">
            <a:extLst xmlns:a="http://schemas.openxmlformats.org/drawingml/2006/main">
              <a:ext uri="{FF2B5EF4-FFF2-40B4-BE49-F238E27FC236}">
                <a16:creationId xmlns:a16="http://schemas.microsoft.com/office/drawing/2014/main" id="{49965E30-80F4-48EE-83FE-E42399A2A000}"/>
              </a:ext>
            </a:extLst>
          </p:cNvPr>
          <p:cNvSpPr>
            <a:spLocks xmlns:a="http://schemas.openxmlformats.org/drawingml/2006/main" noGrp="1"/>
          </p:cNvSpPr>
          <p:nvPr/>
        </p:nvSpPr>
        <p:spPr>
          <a:xfrm xmlns:a="http://schemas.openxmlformats.org/drawingml/2006/main">
            <a:off x="749808" y="1874520"/>
            <a:ext cx="106070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600" b="1">
                <a:solidFill>
                  <a:srgbClr val="FFFFFF"/>
                </a:solidFill>
                <a:latin typeface="Calibri"/>
                <a:ea typeface="Calibri"/>
                <a:cs typeface="Calibri"/>
              </a:rPr>
              <a:t>APIs for Model Serving with FastAPI</a:t>
            </a:r>
            <a:endParaRPr sz="3600"/>
          </a:p>
        </p:txBody>
      </p:sp>
      <p:sp>
        <p:nvSpPr>
          <p:cNvPr id="12" name="Text 10">
            <a:extLst xmlns:a="http://schemas.openxmlformats.org/drawingml/2006/main">
              <a:ext uri="{FF2B5EF4-FFF2-40B4-BE49-F238E27FC236}">
                <a16:creationId xmlns:a16="http://schemas.microsoft.com/office/drawing/2014/main" id="{00F7E2E2-15A9-4897-94A8-E451C517C8A9}"/>
              </a:ext>
            </a:extLst>
          </p:cNvPr>
          <p:cNvSpPr>
            <a:spLocks xmlns:a="http://schemas.openxmlformats.org/drawingml/2006/main" noGrp="1"/>
          </p:cNvSpPr>
          <p:nvPr/>
        </p:nvSpPr>
        <p:spPr>
          <a:xfrm xmlns:a="http://schemas.openxmlformats.org/drawingml/2006/main">
            <a:off x="777240" y="2761488"/>
            <a:ext cx="100584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a:solidFill>
                  <a:srgbClr val="B9C8E8"/>
                </a:solidFill>
                <a:latin typeface="Calibri"/>
                <a:ea typeface="Calibri"/>
                <a:cs typeface="Calibri"/>
              </a:rPr>
              <a:t>واجهات برمجة التطبيقات لخدمة النماذج مع FastAPI</a:t>
            </a:r>
            <a:endParaRPr sz="1700"/>
          </a:p>
        </p:txBody>
      </p:sp>
      <p:sp>
        <p:nvSpPr>
          <p:cNvPr id="13" name="Shape 11">
            <a:extLst xmlns:a="http://schemas.openxmlformats.org/drawingml/2006/main">
              <a:ext uri="{FF2B5EF4-FFF2-40B4-BE49-F238E27FC236}">
                <a16:creationId xmlns:a16="http://schemas.microsoft.com/office/drawing/2014/main" id="{52EACA0D-61AD-4500-806B-24C28A092101}"/>
              </a:ext>
            </a:extLst>
          </p:cNvPr>
          <p:cNvSpPr>
            <a:spLocks xmlns:a="http://schemas.openxmlformats.org/drawingml/2006/main" noGrp="1"/>
          </p:cNvSpPr>
          <p:nvPr/>
        </p:nvSpPr>
        <p:spPr>
          <a:xfrm xmlns:a="http://schemas.openxmlformats.org/drawingml/2006/main">
            <a:off x="777240"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14" name="Text 12">
            <a:extLst xmlns:a="http://schemas.openxmlformats.org/drawingml/2006/main">
              <a:ext uri="{FF2B5EF4-FFF2-40B4-BE49-F238E27FC236}">
                <a16:creationId xmlns:a16="http://schemas.microsoft.com/office/drawing/2014/main" id="{66AD04F6-7BF0-4CF8-B7A4-D89DAC4E14F5}"/>
              </a:ext>
            </a:extLst>
          </p:cNvPr>
          <p:cNvSpPr>
            <a:spLocks xmlns:a="http://schemas.openxmlformats.org/drawingml/2006/main" noGrp="1"/>
          </p:cNvSpPr>
          <p:nvPr/>
        </p:nvSpPr>
        <p:spPr>
          <a:xfrm xmlns:a="http://schemas.openxmlformats.org/drawingml/2006/main">
            <a:off x="923544"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A79D"/>
                </a:solidFill>
                <a:latin typeface="Calibri"/>
                <a:ea typeface="Calibri"/>
                <a:cs typeface="Calibri"/>
              </a:rPr>
              <a:t>01</a:t>
            </a:r>
            <a:endParaRPr sz="1400"/>
          </a:p>
        </p:txBody>
      </p:sp>
      <p:sp>
        <p:nvSpPr>
          <p:cNvPr id="15" name="Text 13">
            <a:extLst xmlns:a="http://schemas.openxmlformats.org/drawingml/2006/main">
              <a:ext uri="{FF2B5EF4-FFF2-40B4-BE49-F238E27FC236}">
                <a16:creationId xmlns:a16="http://schemas.microsoft.com/office/drawing/2014/main" id="{00A45302-E16A-4743-95AD-07F7B013256C}"/>
              </a:ext>
            </a:extLst>
          </p:cNvPr>
          <p:cNvSpPr>
            <a:spLocks xmlns:a="http://schemas.openxmlformats.org/drawingml/2006/main" noGrp="1"/>
          </p:cNvSpPr>
          <p:nvPr/>
        </p:nvSpPr>
        <p:spPr>
          <a:xfrm xmlns:a="http://schemas.openxmlformats.org/drawingml/2006/main">
            <a:off x="923544"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The prediction contract</a:t>
            </a:r>
            <a:endParaRPr sz="1200"/>
          </a:p>
        </p:txBody>
      </p:sp>
      <p:sp>
        <p:nvSpPr>
          <p:cNvPr id="16" name="Text 14">
            <a:extLst xmlns:a="http://schemas.openxmlformats.org/drawingml/2006/main">
              <a:ext uri="{FF2B5EF4-FFF2-40B4-BE49-F238E27FC236}">
                <a16:creationId xmlns:a16="http://schemas.microsoft.com/office/drawing/2014/main" id="{09F1DF38-D3B4-4628-8974-1756D96CAD31}"/>
              </a:ext>
            </a:extLst>
          </p:cNvPr>
          <p:cNvSpPr>
            <a:spLocks xmlns:a="http://schemas.openxmlformats.org/drawingml/2006/main" noGrp="1"/>
          </p:cNvSpPr>
          <p:nvPr/>
        </p:nvSpPr>
        <p:spPr>
          <a:xfrm xmlns:a="http://schemas.openxmlformats.org/drawingml/2006/main">
            <a:off x="923544"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Resource design, status-code discipline, one error envelope</a:t>
            </a:r>
            <a:endParaRPr sz="950"/>
          </a:p>
        </p:txBody>
      </p:sp>
      <p:sp>
        <p:nvSpPr>
          <p:cNvPr id="17" name="Shape 15">
            <a:extLst xmlns:a="http://schemas.openxmlformats.org/drawingml/2006/main">
              <a:ext uri="{FF2B5EF4-FFF2-40B4-BE49-F238E27FC236}">
                <a16:creationId xmlns:a16="http://schemas.microsoft.com/office/drawing/2014/main" id="{226F40AD-5831-4D82-9EEE-3EDBC994C387}"/>
              </a:ext>
            </a:extLst>
          </p:cNvPr>
          <p:cNvSpPr>
            <a:spLocks xmlns:a="http://schemas.openxmlformats.org/drawingml/2006/main" noGrp="1"/>
          </p:cNvSpPr>
          <p:nvPr/>
        </p:nvSpPr>
        <p:spPr>
          <a:xfrm xmlns:a="http://schemas.openxmlformats.org/drawingml/2006/main">
            <a:off x="3493008"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18" name="Text 16">
            <a:extLst xmlns:a="http://schemas.openxmlformats.org/drawingml/2006/main">
              <a:ext uri="{FF2B5EF4-FFF2-40B4-BE49-F238E27FC236}">
                <a16:creationId xmlns:a16="http://schemas.microsoft.com/office/drawing/2014/main" id="{ABB016B0-B5B5-408B-A7F6-9A5C593237F3}"/>
              </a:ext>
            </a:extLst>
          </p:cNvPr>
          <p:cNvSpPr>
            <a:spLocks xmlns:a="http://schemas.openxmlformats.org/drawingml/2006/main" noGrp="1"/>
          </p:cNvSpPr>
          <p:nvPr/>
        </p:nvSpPr>
        <p:spPr>
          <a:xfrm xmlns:a="http://schemas.openxmlformats.org/drawingml/2006/main">
            <a:off x="3639312"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29ABE2"/>
                </a:solidFill>
                <a:latin typeface="Calibri"/>
                <a:ea typeface="Calibri"/>
                <a:cs typeface="Calibri"/>
              </a:rPr>
              <a:t>02</a:t>
            </a:r>
            <a:endParaRPr sz="1400"/>
          </a:p>
        </p:txBody>
      </p:sp>
      <p:sp>
        <p:nvSpPr>
          <p:cNvPr id="19" name="Text 17">
            <a:extLst xmlns:a="http://schemas.openxmlformats.org/drawingml/2006/main">
              <a:ext uri="{FF2B5EF4-FFF2-40B4-BE49-F238E27FC236}">
                <a16:creationId xmlns:a16="http://schemas.microsoft.com/office/drawing/2014/main" id="{C7A165BA-CB01-4641-AECC-56B4079277F6}"/>
              </a:ext>
            </a:extLst>
          </p:cNvPr>
          <p:cNvSpPr>
            <a:spLocks xmlns:a="http://schemas.openxmlformats.org/drawingml/2006/main" noGrp="1"/>
          </p:cNvSpPr>
          <p:nvPr/>
        </p:nvSpPr>
        <p:spPr>
          <a:xfrm xmlns:a="http://schemas.openxmlformats.org/drawingml/2006/main">
            <a:off x="3639312"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pydantic as the API firewall</a:t>
            </a:r>
            <a:endParaRPr sz="1200"/>
          </a:p>
        </p:txBody>
      </p:sp>
      <p:sp>
        <p:nvSpPr>
          <p:cNvPr id="20" name="Text 18">
            <a:extLst xmlns:a="http://schemas.openxmlformats.org/drawingml/2006/main">
              <a:ext uri="{FF2B5EF4-FFF2-40B4-BE49-F238E27FC236}">
                <a16:creationId xmlns:a16="http://schemas.microsoft.com/office/drawing/2014/main" id="{D4371973-5F41-4E27-AE01-4E983811BA7D}"/>
              </a:ext>
            </a:extLst>
          </p:cNvPr>
          <p:cNvSpPr>
            <a:spLocks xmlns:a="http://schemas.openxmlformats.org/drawingml/2006/main" noGrp="1"/>
          </p:cNvSpPr>
          <p:nvPr/>
        </p:nvSpPr>
        <p:spPr>
          <a:xfrm xmlns:a="http://schemas.openxmlformats.org/drawingml/2006/main">
            <a:off x="3639312"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Validate in, validate out — schemas stay separate from entities</a:t>
            </a:r>
            <a:endParaRPr sz="950"/>
          </a:p>
        </p:txBody>
      </p:sp>
      <p:sp>
        <p:nvSpPr>
          <p:cNvPr id="21" name="Shape 19">
            <a:extLst xmlns:a="http://schemas.openxmlformats.org/drawingml/2006/main">
              <a:ext uri="{FF2B5EF4-FFF2-40B4-BE49-F238E27FC236}">
                <a16:creationId xmlns:a16="http://schemas.microsoft.com/office/drawing/2014/main" id="{96578484-4962-4E2C-B266-4110C4B745E8}"/>
              </a:ext>
            </a:extLst>
          </p:cNvPr>
          <p:cNvSpPr>
            <a:spLocks xmlns:a="http://schemas.openxmlformats.org/drawingml/2006/main" noGrp="1"/>
          </p:cNvSpPr>
          <p:nvPr/>
        </p:nvSpPr>
        <p:spPr>
          <a:xfrm xmlns:a="http://schemas.openxmlformats.org/drawingml/2006/main">
            <a:off x="6208776"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22" name="Text 20">
            <a:extLst xmlns:a="http://schemas.openxmlformats.org/drawingml/2006/main">
              <a:ext uri="{FF2B5EF4-FFF2-40B4-BE49-F238E27FC236}">
                <a16:creationId xmlns:a16="http://schemas.microsoft.com/office/drawing/2014/main" id="{72056DBA-17A3-4A42-9A45-3249C1A5489A}"/>
              </a:ext>
            </a:extLst>
          </p:cNvPr>
          <p:cNvSpPr>
            <a:spLocks xmlns:a="http://schemas.openxmlformats.org/drawingml/2006/main" noGrp="1"/>
          </p:cNvSpPr>
          <p:nvPr/>
        </p:nvSpPr>
        <p:spPr>
          <a:xfrm xmlns:a="http://schemas.openxmlformats.org/drawingml/2006/main">
            <a:off x="6355080"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F58220"/>
                </a:solidFill>
                <a:latin typeface="Calibri"/>
                <a:ea typeface="Calibri"/>
                <a:cs typeface="Calibri"/>
              </a:rPr>
              <a:t>03</a:t>
            </a:r>
            <a:endParaRPr sz="1400"/>
          </a:p>
        </p:txBody>
      </p:sp>
      <p:sp>
        <p:nvSpPr>
          <p:cNvPr id="23" name="Text 21">
            <a:extLst xmlns:a="http://schemas.openxmlformats.org/drawingml/2006/main">
              <a:ext uri="{FF2B5EF4-FFF2-40B4-BE49-F238E27FC236}">
                <a16:creationId xmlns:a16="http://schemas.microsoft.com/office/drawing/2014/main" id="{E2A107D2-DFFE-4D0A-B9E1-0EE17B92C0A5}"/>
              </a:ext>
            </a:extLst>
          </p:cNvPr>
          <p:cNvSpPr>
            <a:spLocks xmlns:a="http://schemas.openxmlformats.org/drawingml/2006/main" noGrp="1"/>
          </p:cNvSpPr>
          <p:nvPr/>
        </p:nvSpPr>
        <p:spPr>
          <a:xfrm xmlns:a="http://schemas.openxmlformats.org/drawingml/2006/main">
            <a:off x="6355080"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Lifecycle, health, versioning</a:t>
            </a:r>
            <a:endParaRPr sz="1200"/>
          </a:p>
        </p:txBody>
      </p:sp>
      <p:sp>
        <p:nvSpPr>
          <p:cNvPr id="24" name="Text 22">
            <a:extLst xmlns:a="http://schemas.openxmlformats.org/drawingml/2006/main">
              <a:ext uri="{FF2B5EF4-FFF2-40B4-BE49-F238E27FC236}">
                <a16:creationId xmlns:a16="http://schemas.microsoft.com/office/drawing/2014/main" id="{5F3B582F-498E-4F16-9BAB-FA0CE053E390}"/>
              </a:ext>
            </a:extLst>
          </p:cNvPr>
          <p:cNvSpPr>
            <a:spLocks xmlns:a="http://schemas.openxmlformats.org/drawingml/2006/main" noGrp="1"/>
          </p:cNvSpPr>
          <p:nvPr/>
        </p:nvSpPr>
        <p:spPr>
          <a:xfrm xmlns:a="http://schemas.openxmlformats.org/drawingml/2006/main">
            <a:off x="6355080"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Lifespan loading, warm-up, liveness vs readiness, /v1 evolution</a:t>
            </a:r>
            <a:endParaRPr sz="950"/>
          </a:p>
        </p:txBody>
      </p:sp>
      <p:sp>
        <p:nvSpPr>
          <p:cNvPr id="25" name="Shape 23">
            <a:extLst xmlns:a="http://schemas.openxmlformats.org/drawingml/2006/main">
              <a:ext uri="{FF2B5EF4-FFF2-40B4-BE49-F238E27FC236}">
                <a16:creationId xmlns:a16="http://schemas.microsoft.com/office/drawing/2014/main" id="{C21A6A14-0E5B-4AD5-8E0A-5344CD5D95D4}"/>
              </a:ext>
            </a:extLst>
          </p:cNvPr>
          <p:cNvSpPr>
            <a:spLocks xmlns:a="http://schemas.openxmlformats.org/drawingml/2006/main" noGrp="1"/>
          </p:cNvSpPr>
          <p:nvPr/>
        </p:nvSpPr>
        <p:spPr>
          <a:xfrm xmlns:a="http://schemas.openxmlformats.org/drawingml/2006/main">
            <a:off x="8924544"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26" name="Text 24">
            <a:extLst xmlns:a="http://schemas.openxmlformats.org/drawingml/2006/main">
              <a:ext uri="{FF2B5EF4-FFF2-40B4-BE49-F238E27FC236}">
                <a16:creationId xmlns:a16="http://schemas.microsoft.com/office/drawing/2014/main" id="{F81E489D-69F8-47E8-BD45-2FE00F9A0203}"/>
              </a:ext>
            </a:extLst>
          </p:cNvPr>
          <p:cNvSpPr>
            <a:spLocks xmlns:a="http://schemas.openxmlformats.org/drawingml/2006/main" noGrp="1"/>
          </p:cNvSpPr>
          <p:nvPr/>
        </p:nvSpPr>
        <p:spPr>
          <a:xfrm xmlns:a="http://schemas.openxmlformats.org/drawingml/2006/main">
            <a:off x="9070848"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8DC63F"/>
                </a:solidFill>
                <a:latin typeface="Calibri"/>
                <a:ea typeface="Calibri"/>
                <a:cs typeface="Calibri"/>
              </a:rPr>
              <a:t>04</a:t>
            </a:r>
            <a:endParaRPr sz="1400"/>
          </a:p>
        </p:txBody>
      </p:sp>
      <p:sp>
        <p:nvSpPr>
          <p:cNvPr id="27" name="Text 25">
            <a:extLst xmlns:a="http://schemas.openxmlformats.org/drawingml/2006/main">
              <a:ext uri="{FF2B5EF4-FFF2-40B4-BE49-F238E27FC236}">
                <a16:creationId xmlns:a16="http://schemas.microsoft.com/office/drawing/2014/main" id="{D820049F-E3D3-47F1-B21D-1F43ABDFEEE4}"/>
              </a:ext>
            </a:extLst>
          </p:cNvPr>
          <p:cNvSpPr>
            <a:spLocks xmlns:a="http://schemas.openxmlformats.org/drawingml/2006/main" noGrp="1"/>
          </p:cNvSpPr>
          <p:nvPr/>
        </p:nvSpPr>
        <p:spPr>
          <a:xfrm xmlns:a="http://schemas.openxmlformats.org/drawingml/2006/main">
            <a:off x="9070848"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Lab 2 — Build &amp; harden the API</a:t>
            </a:r>
            <a:endParaRPr sz="1200"/>
          </a:p>
        </p:txBody>
      </p:sp>
      <p:sp>
        <p:nvSpPr>
          <p:cNvPr id="28" name="Text 26">
            <a:extLst xmlns:a="http://schemas.openxmlformats.org/drawingml/2006/main">
              <a:ext uri="{FF2B5EF4-FFF2-40B4-BE49-F238E27FC236}">
                <a16:creationId xmlns:a16="http://schemas.microsoft.com/office/drawing/2014/main" id="{2230057C-E263-4BE0-A778-B50E7F5EBEF5}"/>
              </a:ext>
            </a:extLst>
          </p:cNvPr>
          <p:cNvSpPr>
            <a:spLocks xmlns:a="http://schemas.openxmlformats.org/drawingml/2006/main" noGrp="1"/>
          </p:cNvSpPr>
          <p:nvPr/>
        </p:nvSpPr>
        <p:spPr>
          <a:xfrm xmlns:a="http://schemas.openxmlformats.org/drawingml/2006/main">
            <a:off x="9070848"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/v1/predict + /health + /ready, then load-test with hey</a:t>
            </a:r>
            <a:endParaRPr sz="950"/>
          </a:p>
        </p:txBody>
      </p:sp>
      <p:sp>
        <p:nvSpPr>
          <p:cNvPr id="29" name="Text 27">
            <a:extLst xmlns:a="http://schemas.openxmlformats.org/drawingml/2006/main">
              <a:ext uri="{FF2B5EF4-FFF2-40B4-BE49-F238E27FC236}">
                <a16:creationId xmlns:a16="http://schemas.microsoft.com/office/drawing/2014/main" id="{E3AEC7C7-46D0-4355-94EA-FF2A6266EB9D}"/>
              </a:ext>
            </a:extLst>
          </p:cNvPr>
          <p:cNvSpPr>
            <a:spLocks xmlns:a="http://schemas.openxmlformats.org/drawingml/2006/main" noGrp="1"/>
          </p:cNvSpPr>
          <p:nvPr/>
        </p:nvSpPr>
        <p:spPr>
          <a:xfrm xmlns:a="http://schemas.openxmlformats.org/drawingml/2006/main">
            <a:off x="777240" y="5806440"/>
            <a:ext cx="100584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8A96C8"/>
                </a:solidFill>
                <a:latin typeface="Calibri"/>
                <a:ea typeface="Calibri"/>
                <a:cs typeface="Calibri"/>
              </a:rPr>
              <a:t>2 hours (H4–H5, Part B in Day 2 H1) · lecture + guided lab</a:t>
            </a:r>
            <a:endParaRPr sz="1100"/>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d27dcadc00034235"/>
          <a:stretch xmlns:a="http://schemas.openxmlformats.org/drawingml/2006/main">
            <a:fillRect l="0" t="0" r="0" b="0"/>
          </a:stretch>
        </p:blipFill>
        <p:spPr>
          <a:xfrm xmlns:a="http://schemas.openxmlformats.org/drawingml/2006/main">
            <a:off x="777240" y="6309360"/>
            <a:ext cx="1078992" cy="265176"/>
          </a:xfrm>
          <a:prstGeom xmlns:a="http://schemas.openxmlformats.org/drawingml/2006/main" prst="rect">
            <a:avLst/>
          </a:prstGeom>
        </p:spPr>
      </p:pic>
    </p:spTree>
    <p:extLst>
      <p:ext uri="{BB962C8B-B14F-4D97-AF65-F5344CB8AC3E}">
        <p14:creationId xmlns:p14="http://schemas.microsoft.com/office/powerpoint/2010/main" val="1906205260"/>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D71B0B5-D20C-4C58-8403-61D5E0E1E89B}"/>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Module 2 — Learning Objectives</a:t>
            </a:r>
            <a:endParaRPr sz="2600"/>
          </a:p>
        </p:txBody>
      </p:sp>
      <p:sp>
        <p:nvSpPr>
          <p:cNvPr id="3" name="Text 1">
            <a:extLst xmlns:a="http://schemas.openxmlformats.org/drawingml/2006/main">
              <a:ext uri="{FF2B5EF4-FFF2-40B4-BE49-F238E27FC236}">
                <a16:creationId xmlns:a16="http://schemas.microsoft.com/office/drawing/2014/main" id="{F8258D08-0C3A-4142-9B1E-8ABD117259B7}"/>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أهداف التعلم — الوحدة الثانية</a:t>
            </a:r>
            <a:endParaRPr sz="1300"/>
          </a:p>
        </p:txBody>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fe820ee720124f11"/>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0A8EA7C7-E851-4DE9-8AAA-D10B62A71A91}"/>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B8982884-C046-4723-85DC-92C5DFFAEB35}"/>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2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44351F80-E603-4C52-A8C7-43EE2C49BEBF}"/>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36</a:t>
            </a:r>
            <a:endParaRPr sz="850"/>
          </a:p>
        </p:txBody>
      </p:sp>
      <p:sp>
        <p:nvSpPr>
          <p:cNvPr id="8" name="Shape 5">
            <a:extLst xmlns:a="http://schemas.openxmlformats.org/drawingml/2006/main">
              <a:ext uri="{FF2B5EF4-FFF2-40B4-BE49-F238E27FC236}">
                <a16:creationId xmlns:a16="http://schemas.microsoft.com/office/drawing/2014/main" id="{6869082A-24B3-45F3-B300-3FBA95711E58}"/>
              </a:ext>
            </a:extLst>
          </p:cNvPr>
          <p:cNvSpPr>
            <a:spLocks xmlns:a="http://schemas.openxmlformats.org/drawingml/2006/main" noGrp="1"/>
          </p:cNvSpPr>
          <p:nvPr/>
        </p:nvSpPr>
        <p:spPr>
          <a:xfrm xmlns:a="http://schemas.openxmlformats.org/drawingml/2006/main">
            <a:off x="502920" y="1481328"/>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60E3B138-37C7-43FA-89B3-C0FD8AC56887}"/>
              </a:ext>
            </a:extLst>
          </p:cNvPr>
          <p:cNvSpPr>
            <a:spLocks xmlns:a="http://schemas.openxmlformats.org/drawingml/2006/main" noGrp="1"/>
          </p:cNvSpPr>
          <p:nvPr/>
        </p:nvSpPr>
        <p:spPr>
          <a:xfrm xmlns:a="http://schemas.openxmlformats.org/drawingml/2006/main">
            <a:off x="502920" y="1481328"/>
            <a:ext cx="64008" cy="1417320"/>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7201D099-4677-48EA-A22D-24B1F26347E6}"/>
              </a:ext>
            </a:extLst>
          </p:cNvPr>
          <p:cNvSpPr>
            <a:spLocks xmlns:a="http://schemas.openxmlformats.org/drawingml/2006/main" noGrp="1"/>
          </p:cNvSpPr>
          <p:nvPr/>
        </p:nvSpPr>
        <p:spPr>
          <a:xfrm xmlns:a="http://schemas.openxmlformats.org/drawingml/2006/main">
            <a:off x="685800" y="1609344"/>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2.1</a:t>
            </a:r>
            <a:endParaRPr sz="1200"/>
          </a:p>
        </p:txBody>
      </p:sp>
      <p:sp>
        <p:nvSpPr>
          <p:cNvPr id="11" name="Text 8">
            <a:extLst xmlns:a="http://schemas.openxmlformats.org/drawingml/2006/main">
              <a:ext uri="{FF2B5EF4-FFF2-40B4-BE49-F238E27FC236}">
                <a16:creationId xmlns:a16="http://schemas.microsoft.com/office/drawing/2014/main" id="{880309F1-767F-4D95-9026-D269D0424A5C}"/>
              </a:ext>
            </a:extLst>
          </p:cNvPr>
          <p:cNvSpPr>
            <a:spLocks xmlns:a="http://schemas.openxmlformats.org/drawingml/2006/main" noGrp="1"/>
          </p:cNvSpPr>
          <p:nvPr/>
        </p:nvSpPr>
        <p:spPr>
          <a:xfrm xmlns:a="http://schemas.openxmlformats.org/drawingml/2006/main">
            <a:off x="4997196" y="1609344"/>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LO1</a:t>
            </a:r>
            <a:endParaRPr sz="850"/>
          </a:p>
        </p:txBody>
      </p:sp>
      <p:sp>
        <p:nvSpPr>
          <p:cNvPr id="12" name="Text 9">
            <a:extLst xmlns:a="http://schemas.openxmlformats.org/drawingml/2006/main">
              <a:ext uri="{FF2B5EF4-FFF2-40B4-BE49-F238E27FC236}">
                <a16:creationId xmlns:a16="http://schemas.microsoft.com/office/drawing/2014/main" id="{BB411995-80EC-4AD1-80B3-D329926F13E5}"/>
              </a:ext>
            </a:extLst>
          </p:cNvPr>
          <p:cNvSpPr>
            <a:spLocks xmlns:a="http://schemas.openxmlformats.org/drawingml/2006/main" noGrp="1"/>
          </p:cNvSpPr>
          <p:nvPr/>
        </p:nvSpPr>
        <p:spPr>
          <a:xfrm xmlns:a="http://schemas.openxmlformats.org/drawingml/2006/main">
            <a:off x="685800" y="1901952"/>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Design a prediction API contract: nouns, verbs, status codes, error envelope</a:t>
            </a:r>
            <a:endParaRPr sz="1100"/>
          </a:p>
        </p:txBody>
      </p:sp>
      <p:sp>
        <p:nvSpPr>
          <p:cNvPr id="13" name="Shape 10">
            <a:extLst xmlns:a="http://schemas.openxmlformats.org/drawingml/2006/main">
              <a:ext uri="{FF2B5EF4-FFF2-40B4-BE49-F238E27FC236}">
                <a16:creationId xmlns:a16="http://schemas.microsoft.com/office/drawing/2014/main" id="{F33DE052-3167-4AB6-89D3-824CC1F35F39}"/>
              </a:ext>
            </a:extLst>
          </p:cNvPr>
          <p:cNvSpPr>
            <a:spLocks xmlns:a="http://schemas.openxmlformats.org/drawingml/2006/main" noGrp="1"/>
          </p:cNvSpPr>
          <p:nvPr/>
        </p:nvSpPr>
        <p:spPr>
          <a:xfrm xmlns:a="http://schemas.openxmlformats.org/drawingml/2006/main">
            <a:off x="6231636" y="1481328"/>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14" name="Shape 11">
            <a:extLst xmlns:a="http://schemas.openxmlformats.org/drawingml/2006/main">
              <a:ext uri="{FF2B5EF4-FFF2-40B4-BE49-F238E27FC236}">
                <a16:creationId xmlns:a16="http://schemas.microsoft.com/office/drawing/2014/main" id="{78E9EE11-3012-4BA6-969A-475FA00A874D}"/>
              </a:ext>
            </a:extLst>
          </p:cNvPr>
          <p:cNvSpPr>
            <a:spLocks xmlns:a="http://schemas.openxmlformats.org/drawingml/2006/main" noGrp="1"/>
          </p:cNvSpPr>
          <p:nvPr/>
        </p:nvSpPr>
        <p:spPr>
          <a:xfrm xmlns:a="http://schemas.openxmlformats.org/drawingml/2006/main">
            <a:off x="6231636" y="1481328"/>
            <a:ext cx="64008" cy="1417320"/>
          </a:xfrm>
          <a:prstGeom xmlns:a="http://schemas.openxmlformats.org/drawingml/2006/main" prst="rect">
            <a:avLst/>
          </a:prstGeom>
          <a:solidFill xmlns:a="http://schemas.openxmlformats.org/drawingml/2006/main">
            <a:srgbClr val="29ABE2"/>
          </a:solidFill>
        </p:spPr>
      </p:sp>
      <p:sp>
        <p:nvSpPr>
          <p:cNvPr id="15" name="Text 12">
            <a:extLst xmlns:a="http://schemas.openxmlformats.org/drawingml/2006/main">
              <a:ext uri="{FF2B5EF4-FFF2-40B4-BE49-F238E27FC236}">
                <a16:creationId xmlns:a16="http://schemas.microsoft.com/office/drawing/2014/main" id="{A860E05D-1564-4153-AC70-0A40533862ED}"/>
              </a:ext>
            </a:extLst>
          </p:cNvPr>
          <p:cNvSpPr>
            <a:spLocks xmlns:a="http://schemas.openxmlformats.org/drawingml/2006/main" noGrp="1"/>
          </p:cNvSpPr>
          <p:nvPr/>
        </p:nvSpPr>
        <p:spPr>
          <a:xfrm xmlns:a="http://schemas.openxmlformats.org/drawingml/2006/main">
            <a:off x="6414516" y="1609344"/>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2.2</a:t>
            </a:r>
            <a:endParaRPr sz="1200"/>
          </a:p>
        </p:txBody>
      </p:sp>
      <p:sp>
        <p:nvSpPr>
          <p:cNvPr id="16" name="Text 13">
            <a:extLst xmlns:a="http://schemas.openxmlformats.org/drawingml/2006/main">
              <a:ext uri="{FF2B5EF4-FFF2-40B4-BE49-F238E27FC236}">
                <a16:creationId xmlns:a16="http://schemas.microsoft.com/office/drawing/2014/main" id="{26E6DFF2-6EE3-417B-AD74-3BBF10DB5F50}"/>
              </a:ext>
            </a:extLst>
          </p:cNvPr>
          <p:cNvSpPr>
            <a:spLocks xmlns:a="http://schemas.openxmlformats.org/drawingml/2006/main" noGrp="1"/>
          </p:cNvSpPr>
          <p:nvPr/>
        </p:nvSpPr>
        <p:spPr>
          <a:xfrm xmlns:a="http://schemas.openxmlformats.org/drawingml/2006/main">
            <a:off x="10725912" y="1609344"/>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LO1 · LO5</a:t>
            </a:r>
            <a:endParaRPr sz="850"/>
          </a:p>
        </p:txBody>
      </p:sp>
      <p:sp>
        <p:nvSpPr>
          <p:cNvPr id="17" name="Text 14">
            <a:extLst xmlns:a="http://schemas.openxmlformats.org/drawingml/2006/main">
              <a:ext uri="{FF2B5EF4-FFF2-40B4-BE49-F238E27FC236}">
                <a16:creationId xmlns:a16="http://schemas.microsoft.com/office/drawing/2014/main" id="{9C18C41D-DF48-4D13-ACF0-3CC3A01DC2FA}"/>
              </a:ext>
            </a:extLst>
          </p:cNvPr>
          <p:cNvSpPr>
            <a:spLocks xmlns:a="http://schemas.openxmlformats.org/drawingml/2006/main" noGrp="1"/>
          </p:cNvSpPr>
          <p:nvPr/>
        </p:nvSpPr>
        <p:spPr>
          <a:xfrm xmlns:a="http://schemas.openxmlformats.org/drawingml/2006/main">
            <a:off x="6414516" y="1901952"/>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Implement strict request/response validation with pydantic v2</a:t>
            </a:r>
            <a:endParaRPr sz="1100"/>
          </a:p>
        </p:txBody>
      </p:sp>
      <p:sp>
        <p:nvSpPr>
          <p:cNvPr id="18" name="Shape 15">
            <a:extLst xmlns:a="http://schemas.openxmlformats.org/drawingml/2006/main">
              <a:ext uri="{FF2B5EF4-FFF2-40B4-BE49-F238E27FC236}">
                <a16:creationId xmlns:a16="http://schemas.microsoft.com/office/drawing/2014/main" id="{625AF3E5-06B8-40D9-9EE7-71AA60026886}"/>
              </a:ext>
            </a:extLst>
          </p:cNvPr>
          <p:cNvSpPr>
            <a:spLocks xmlns:a="http://schemas.openxmlformats.org/drawingml/2006/main" noGrp="1"/>
          </p:cNvSpPr>
          <p:nvPr/>
        </p:nvSpPr>
        <p:spPr>
          <a:xfrm xmlns:a="http://schemas.openxmlformats.org/drawingml/2006/main">
            <a:off x="502920" y="3099816"/>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19" name="Shape 16">
            <a:extLst xmlns:a="http://schemas.openxmlformats.org/drawingml/2006/main">
              <a:ext uri="{FF2B5EF4-FFF2-40B4-BE49-F238E27FC236}">
                <a16:creationId xmlns:a16="http://schemas.microsoft.com/office/drawing/2014/main" id="{969D9E32-25E5-4D80-95E8-2954DF931824}"/>
              </a:ext>
            </a:extLst>
          </p:cNvPr>
          <p:cNvSpPr>
            <a:spLocks xmlns:a="http://schemas.openxmlformats.org/drawingml/2006/main" noGrp="1"/>
          </p:cNvSpPr>
          <p:nvPr/>
        </p:nvSpPr>
        <p:spPr>
          <a:xfrm xmlns:a="http://schemas.openxmlformats.org/drawingml/2006/main">
            <a:off x="502920" y="3099816"/>
            <a:ext cx="64008" cy="1417320"/>
          </a:xfrm>
          <a:prstGeom xmlns:a="http://schemas.openxmlformats.org/drawingml/2006/main" prst="rect">
            <a:avLst/>
          </a:prstGeom>
          <a:solidFill xmlns:a="http://schemas.openxmlformats.org/drawingml/2006/main">
            <a:srgbClr val="F58220"/>
          </a:solidFill>
        </p:spPr>
      </p:sp>
      <p:sp>
        <p:nvSpPr>
          <p:cNvPr id="20" name="Text 17">
            <a:extLst xmlns:a="http://schemas.openxmlformats.org/drawingml/2006/main">
              <a:ext uri="{FF2B5EF4-FFF2-40B4-BE49-F238E27FC236}">
                <a16:creationId xmlns:a16="http://schemas.microsoft.com/office/drawing/2014/main" id="{F18F0733-2A2F-4F26-94B0-3B274021AE1F}"/>
              </a:ext>
            </a:extLst>
          </p:cNvPr>
          <p:cNvSpPr>
            <a:spLocks xmlns:a="http://schemas.openxmlformats.org/drawingml/2006/main" noGrp="1"/>
          </p:cNvSpPr>
          <p:nvPr/>
        </p:nvSpPr>
        <p:spPr>
          <a:xfrm xmlns:a="http://schemas.openxmlformats.org/drawingml/2006/main">
            <a:off x="685800" y="3227832"/>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2.3</a:t>
            </a:r>
            <a:endParaRPr sz="1200"/>
          </a:p>
        </p:txBody>
      </p:sp>
      <p:sp>
        <p:nvSpPr>
          <p:cNvPr id="21" name="Text 18">
            <a:extLst xmlns:a="http://schemas.openxmlformats.org/drawingml/2006/main">
              <a:ext uri="{FF2B5EF4-FFF2-40B4-BE49-F238E27FC236}">
                <a16:creationId xmlns:a16="http://schemas.microsoft.com/office/drawing/2014/main" id="{2B8882D5-30EA-4CFE-9689-838DA34E8972}"/>
              </a:ext>
            </a:extLst>
          </p:cNvPr>
          <p:cNvSpPr>
            <a:spLocks xmlns:a="http://schemas.openxmlformats.org/drawingml/2006/main" noGrp="1"/>
          </p:cNvSpPr>
          <p:nvPr/>
        </p:nvSpPr>
        <p:spPr>
          <a:xfrm xmlns:a="http://schemas.openxmlformats.org/drawingml/2006/main">
            <a:off x="4997196" y="3227832"/>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LO1 · LO5</a:t>
            </a:r>
            <a:endParaRPr sz="850"/>
          </a:p>
        </p:txBody>
      </p:sp>
      <p:sp>
        <p:nvSpPr>
          <p:cNvPr id="22" name="Text 19">
            <a:extLst xmlns:a="http://schemas.openxmlformats.org/drawingml/2006/main">
              <a:ext uri="{FF2B5EF4-FFF2-40B4-BE49-F238E27FC236}">
                <a16:creationId xmlns:a16="http://schemas.microsoft.com/office/drawing/2014/main" id="{4A1AE719-F8BC-4AC9-91BF-481E7DDE5FE7}"/>
              </a:ext>
            </a:extLst>
          </p:cNvPr>
          <p:cNvSpPr>
            <a:spLocks xmlns:a="http://schemas.openxmlformats.org/drawingml/2006/main" noGrp="1"/>
          </p:cNvSpPr>
          <p:nvPr/>
        </p:nvSpPr>
        <p:spPr>
          <a:xfrm xmlns:a="http://schemas.openxmlformats.org/drawingml/2006/main">
            <a:off x="685800" y="3520440"/>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Manage model lifecycle with FastAPI lifespan + dependency injection</a:t>
            </a:r>
            <a:endParaRPr sz="1100"/>
          </a:p>
        </p:txBody>
      </p:sp>
      <p:sp>
        <p:nvSpPr>
          <p:cNvPr id="23" name="Shape 20">
            <a:extLst xmlns:a="http://schemas.openxmlformats.org/drawingml/2006/main">
              <a:ext uri="{FF2B5EF4-FFF2-40B4-BE49-F238E27FC236}">
                <a16:creationId xmlns:a16="http://schemas.microsoft.com/office/drawing/2014/main" id="{699CC35F-4686-4F43-9801-D560C4A3AF6D}"/>
              </a:ext>
            </a:extLst>
          </p:cNvPr>
          <p:cNvSpPr>
            <a:spLocks xmlns:a="http://schemas.openxmlformats.org/drawingml/2006/main" noGrp="1"/>
          </p:cNvSpPr>
          <p:nvPr/>
        </p:nvSpPr>
        <p:spPr>
          <a:xfrm xmlns:a="http://schemas.openxmlformats.org/drawingml/2006/main">
            <a:off x="6231636" y="3099816"/>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24" name="Shape 21">
            <a:extLst xmlns:a="http://schemas.openxmlformats.org/drawingml/2006/main">
              <a:ext uri="{FF2B5EF4-FFF2-40B4-BE49-F238E27FC236}">
                <a16:creationId xmlns:a16="http://schemas.microsoft.com/office/drawing/2014/main" id="{F8B896B4-CEE0-4D29-92B4-B85EA83ECE81}"/>
              </a:ext>
            </a:extLst>
          </p:cNvPr>
          <p:cNvSpPr>
            <a:spLocks xmlns:a="http://schemas.openxmlformats.org/drawingml/2006/main" noGrp="1"/>
          </p:cNvSpPr>
          <p:nvPr/>
        </p:nvSpPr>
        <p:spPr>
          <a:xfrm xmlns:a="http://schemas.openxmlformats.org/drawingml/2006/main">
            <a:off x="6231636" y="3099816"/>
            <a:ext cx="64008" cy="1417320"/>
          </a:xfrm>
          <a:prstGeom xmlns:a="http://schemas.openxmlformats.org/drawingml/2006/main" prst="rect">
            <a:avLst/>
          </a:prstGeom>
          <a:solidFill xmlns:a="http://schemas.openxmlformats.org/drawingml/2006/main">
            <a:srgbClr val="8DC63F"/>
          </a:solidFill>
        </p:spPr>
      </p:sp>
      <p:sp>
        <p:nvSpPr>
          <p:cNvPr id="25" name="Text 22">
            <a:extLst xmlns:a="http://schemas.openxmlformats.org/drawingml/2006/main">
              <a:ext uri="{FF2B5EF4-FFF2-40B4-BE49-F238E27FC236}">
                <a16:creationId xmlns:a16="http://schemas.microsoft.com/office/drawing/2014/main" id="{C8EB637D-11A6-42EF-9D9C-78A873E9515B}"/>
              </a:ext>
            </a:extLst>
          </p:cNvPr>
          <p:cNvSpPr>
            <a:spLocks xmlns:a="http://schemas.openxmlformats.org/drawingml/2006/main" noGrp="1"/>
          </p:cNvSpPr>
          <p:nvPr/>
        </p:nvSpPr>
        <p:spPr>
          <a:xfrm xmlns:a="http://schemas.openxmlformats.org/drawingml/2006/main">
            <a:off x="6414516" y="3227832"/>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2.4</a:t>
            </a:r>
            <a:endParaRPr sz="1200"/>
          </a:p>
        </p:txBody>
      </p:sp>
      <p:sp>
        <p:nvSpPr>
          <p:cNvPr id="26" name="Text 23">
            <a:extLst xmlns:a="http://schemas.openxmlformats.org/drawingml/2006/main">
              <a:ext uri="{FF2B5EF4-FFF2-40B4-BE49-F238E27FC236}">
                <a16:creationId xmlns:a16="http://schemas.microsoft.com/office/drawing/2014/main" id="{D53D7ED0-2FE1-4F65-96BC-C272BDC6221D}"/>
              </a:ext>
            </a:extLst>
          </p:cNvPr>
          <p:cNvSpPr>
            <a:spLocks xmlns:a="http://schemas.openxmlformats.org/drawingml/2006/main" noGrp="1"/>
          </p:cNvSpPr>
          <p:nvPr/>
        </p:nvSpPr>
        <p:spPr>
          <a:xfrm xmlns:a="http://schemas.openxmlformats.org/drawingml/2006/main">
            <a:off x="10725912" y="3227832"/>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LO1 · LO2</a:t>
            </a:r>
            <a:endParaRPr sz="850"/>
          </a:p>
        </p:txBody>
      </p:sp>
      <p:sp>
        <p:nvSpPr>
          <p:cNvPr id="27" name="Text 24">
            <a:extLst xmlns:a="http://schemas.openxmlformats.org/drawingml/2006/main">
              <a:ext uri="{FF2B5EF4-FFF2-40B4-BE49-F238E27FC236}">
                <a16:creationId xmlns:a16="http://schemas.microsoft.com/office/drawing/2014/main" id="{6965A975-48AA-4EB9-A57E-D6FD867B99F8}"/>
              </a:ext>
            </a:extLst>
          </p:cNvPr>
          <p:cNvSpPr>
            <a:spLocks xmlns:a="http://schemas.openxmlformats.org/drawingml/2006/main" noGrp="1"/>
          </p:cNvSpPr>
          <p:nvPr/>
        </p:nvSpPr>
        <p:spPr>
          <a:xfrm xmlns:a="http://schemas.openxmlformats.org/drawingml/2006/main">
            <a:off x="6414516" y="3520440"/>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Distinguish liveness from readiness and implement both</a:t>
            </a:r>
            <a:endParaRPr sz="1100"/>
          </a:p>
        </p:txBody>
      </p:sp>
      <p:sp>
        <p:nvSpPr>
          <p:cNvPr id="28" name="Shape 25">
            <a:extLst xmlns:a="http://schemas.openxmlformats.org/drawingml/2006/main">
              <a:ext uri="{FF2B5EF4-FFF2-40B4-BE49-F238E27FC236}">
                <a16:creationId xmlns:a16="http://schemas.microsoft.com/office/drawing/2014/main" id="{47D843B2-EBC2-402B-8FA8-6155CBF736C1}"/>
              </a:ext>
            </a:extLst>
          </p:cNvPr>
          <p:cNvSpPr>
            <a:spLocks xmlns:a="http://schemas.openxmlformats.org/drawingml/2006/main" noGrp="1"/>
          </p:cNvSpPr>
          <p:nvPr/>
        </p:nvSpPr>
        <p:spPr>
          <a:xfrm xmlns:a="http://schemas.openxmlformats.org/drawingml/2006/main">
            <a:off x="502920" y="4718304"/>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29" name="Shape 26">
            <a:extLst xmlns:a="http://schemas.openxmlformats.org/drawingml/2006/main">
              <a:ext uri="{FF2B5EF4-FFF2-40B4-BE49-F238E27FC236}">
                <a16:creationId xmlns:a16="http://schemas.microsoft.com/office/drawing/2014/main" id="{BD3E7861-124C-4A64-87AC-A637BEAA9DF7}"/>
              </a:ext>
            </a:extLst>
          </p:cNvPr>
          <p:cNvSpPr>
            <a:spLocks xmlns:a="http://schemas.openxmlformats.org/drawingml/2006/main" noGrp="1"/>
          </p:cNvSpPr>
          <p:nvPr/>
        </p:nvSpPr>
        <p:spPr>
          <a:xfrm xmlns:a="http://schemas.openxmlformats.org/drawingml/2006/main">
            <a:off x="502920" y="4718304"/>
            <a:ext cx="64008" cy="1417320"/>
          </a:xfrm>
          <a:prstGeom xmlns:a="http://schemas.openxmlformats.org/drawingml/2006/main" prst="rect">
            <a:avLst/>
          </a:prstGeom>
          <a:solidFill xmlns:a="http://schemas.openxmlformats.org/drawingml/2006/main">
            <a:srgbClr val="E8503A"/>
          </a:solidFill>
        </p:spPr>
      </p:sp>
      <p:sp>
        <p:nvSpPr>
          <p:cNvPr id="30" name="Text 27">
            <a:extLst xmlns:a="http://schemas.openxmlformats.org/drawingml/2006/main">
              <a:ext uri="{FF2B5EF4-FFF2-40B4-BE49-F238E27FC236}">
                <a16:creationId xmlns:a16="http://schemas.microsoft.com/office/drawing/2014/main" id="{E502F088-C97F-4F15-BFB2-7DDF7827548A}"/>
              </a:ext>
            </a:extLst>
          </p:cNvPr>
          <p:cNvSpPr>
            <a:spLocks xmlns:a="http://schemas.openxmlformats.org/drawingml/2006/main" noGrp="1"/>
          </p:cNvSpPr>
          <p:nvPr/>
        </p:nvSpPr>
        <p:spPr>
          <a:xfrm xmlns:a="http://schemas.openxmlformats.org/drawingml/2006/main">
            <a:off x="685800" y="4846320"/>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2.5</a:t>
            </a:r>
            <a:endParaRPr sz="1200"/>
          </a:p>
        </p:txBody>
      </p:sp>
      <p:sp>
        <p:nvSpPr>
          <p:cNvPr id="31" name="Text 28">
            <a:extLst xmlns:a="http://schemas.openxmlformats.org/drawingml/2006/main">
              <a:ext uri="{FF2B5EF4-FFF2-40B4-BE49-F238E27FC236}">
                <a16:creationId xmlns:a16="http://schemas.microsoft.com/office/drawing/2014/main" id="{462E0F19-A904-4A72-911A-DE6BB90785B5}"/>
              </a:ext>
            </a:extLst>
          </p:cNvPr>
          <p:cNvSpPr>
            <a:spLocks xmlns:a="http://schemas.openxmlformats.org/drawingml/2006/main" noGrp="1"/>
          </p:cNvSpPr>
          <p:nvPr/>
        </p:nvSpPr>
        <p:spPr>
          <a:xfrm xmlns:a="http://schemas.openxmlformats.org/drawingml/2006/main">
            <a:off x="4997196" y="4846320"/>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LO1</a:t>
            </a:r>
            <a:endParaRPr sz="850"/>
          </a:p>
        </p:txBody>
      </p:sp>
      <p:sp>
        <p:nvSpPr>
          <p:cNvPr id="32" name="Text 29">
            <a:extLst xmlns:a="http://schemas.openxmlformats.org/drawingml/2006/main">
              <a:ext uri="{FF2B5EF4-FFF2-40B4-BE49-F238E27FC236}">
                <a16:creationId xmlns:a16="http://schemas.microsoft.com/office/drawing/2014/main" id="{7BBFAE28-9360-47AF-AA90-6D3635964794}"/>
              </a:ext>
            </a:extLst>
          </p:cNvPr>
          <p:cNvSpPr>
            <a:spLocks xmlns:a="http://schemas.openxmlformats.org/drawingml/2006/main" noGrp="1"/>
          </p:cNvSpPr>
          <p:nvPr/>
        </p:nvSpPr>
        <p:spPr>
          <a:xfrm xmlns:a="http://schemas.openxmlformats.org/drawingml/2006/main">
            <a:off x="685800" y="5138928"/>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Version an API and evolve a schema without breaking consumers</a:t>
            </a:r>
            <a:endParaRPr sz="1100"/>
          </a:p>
        </p:txBody>
      </p:sp>
      <p:sp>
        <p:nvSpPr>
          <p:cNvPr id="33" name="Text 30">
            <a:extLst xmlns:a="http://schemas.openxmlformats.org/drawingml/2006/main">
              <a:ext uri="{FF2B5EF4-FFF2-40B4-BE49-F238E27FC236}">
                <a16:creationId xmlns:a16="http://schemas.microsoft.com/office/drawing/2014/main" id="{608D22BD-C6C9-49F0-B7D0-EE9F3670BE98}"/>
              </a:ext>
            </a:extLst>
          </p:cNvPr>
          <p:cNvSpPr>
            <a:spLocks xmlns:a="http://schemas.openxmlformats.org/drawingml/2006/main" noGrp="1"/>
          </p:cNvSpPr>
          <p:nvPr/>
        </p:nvSpPr>
        <p:spPr>
          <a:xfrm xmlns:a="http://schemas.openxmlformats.org/drawingml/2006/main">
            <a:off x="502920" y="6080760"/>
            <a:ext cx="11155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5F6B7A"/>
                </a:solidFill>
                <a:latin typeface="Calibri"/>
                <a:ea typeface="Calibri"/>
                <a:cs typeface="Calibri"/>
              </a:rPr>
              <a:t>Expected competency: a FastAPI service with lifespan model loading, DI, correct codes, health semantics</a:t>
            </a:r>
            <a:endParaRPr sz="1000"/>
          </a:p>
        </p:txBody>
      </p:sp>
    </p:spTree>
    <p:extLst>
      <p:ext uri="{BB962C8B-B14F-4D97-AF65-F5344CB8AC3E}">
        <p14:creationId xmlns:p14="http://schemas.microsoft.com/office/powerpoint/2010/main" val="655155099"/>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2E84A6A-0795-408C-823A-FDF6908B7F3E}"/>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Anatomy of One Prediction Request</a:t>
            </a:r>
            <a:endParaRPr sz="2600"/>
          </a:p>
        </p:txBody>
      </p:sp>
      <p:sp>
        <p:nvSpPr>
          <p:cNvPr id="3" name="Text 1">
            <a:extLst xmlns:a="http://schemas.openxmlformats.org/drawingml/2006/main">
              <a:ext uri="{FF2B5EF4-FFF2-40B4-BE49-F238E27FC236}">
                <a16:creationId xmlns:a16="http://schemas.microsoft.com/office/drawing/2014/main" id="{DA250B03-CF37-4971-A4C2-1D75D778668B}"/>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تشريح طلب تنبؤ واحد</a:t>
            </a:r>
            <a:endParaRPr sz="1300"/>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caf91b67f09f4228"/>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312F772C-9B4A-4E22-AF61-5135F4927D16}"/>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911AD6DC-8562-4858-9AF3-CAA22AF2051E}"/>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2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EDA7B3D5-7E96-4C23-AB19-F252B9C13A8A}"/>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37</a:t>
            </a:r>
            <a:endParaRPr sz="850"/>
          </a:p>
        </p:txBody>
      </p:sp>
      <p:sp>
        <p:nvSpPr>
          <p:cNvPr id="8" name="Shape 5">
            <a:extLst xmlns:a="http://schemas.openxmlformats.org/drawingml/2006/main">
              <a:ext uri="{FF2B5EF4-FFF2-40B4-BE49-F238E27FC236}">
                <a16:creationId xmlns:a16="http://schemas.microsoft.com/office/drawing/2014/main" id="{93417CA6-2A40-40A3-9DDA-F8023A3C642F}"/>
              </a:ext>
            </a:extLst>
          </p:cNvPr>
          <p:cNvSpPr>
            <a:spLocks xmlns:a="http://schemas.openxmlformats.org/drawingml/2006/main" noGrp="1"/>
          </p:cNvSpPr>
          <p:nvPr/>
        </p:nvSpPr>
        <p:spPr>
          <a:xfrm xmlns:a="http://schemas.openxmlformats.org/drawingml/2006/main">
            <a:off x="502920"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897FB52C-744D-479B-9FB1-F57D315B1EE7}"/>
              </a:ext>
            </a:extLst>
          </p:cNvPr>
          <p:cNvSpPr>
            <a:spLocks xmlns:a="http://schemas.openxmlformats.org/drawingml/2006/main" noGrp="1"/>
          </p:cNvSpPr>
          <p:nvPr/>
        </p:nvSpPr>
        <p:spPr>
          <a:xfrm xmlns:a="http://schemas.openxmlformats.org/drawingml/2006/main">
            <a:off x="502920" y="1965960"/>
            <a:ext cx="1929384" cy="82296"/>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E38E4883-86A9-44C4-AFAC-E82F4703FD8E}"/>
              </a:ext>
            </a:extLst>
          </p:cNvPr>
          <p:cNvSpPr>
            <a:spLocks xmlns:a="http://schemas.openxmlformats.org/drawingml/2006/main" noGrp="1"/>
          </p:cNvSpPr>
          <p:nvPr/>
        </p:nvSpPr>
        <p:spPr>
          <a:xfrm xmlns:a="http://schemas.openxmlformats.org/drawingml/2006/main">
            <a:off x="640080"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00A79D"/>
                </a:solidFill>
                <a:latin typeface="Calibri"/>
                <a:ea typeface="Calibri"/>
                <a:cs typeface="Calibri"/>
              </a:rPr>
              <a:t>STEP 1</a:t>
            </a:r>
            <a:endParaRPr sz="900"/>
          </a:p>
        </p:txBody>
      </p:sp>
      <p:sp>
        <p:nvSpPr>
          <p:cNvPr id="11" name="Text 8">
            <a:extLst xmlns:a="http://schemas.openxmlformats.org/drawingml/2006/main">
              <a:ext uri="{FF2B5EF4-FFF2-40B4-BE49-F238E27FC236}">
                <a16:creationId xmlns:a16="http://schemas.microsoft.com/office/drawing/2014/main" id="{7CEFC802-EDE4-4641-9BC2-7AA6A3F8A03D}"/>
              </a:ext>
            </a:extLst>
          </p:cNvPr>
          <p:cNvSpPr>
            <a:spLocks xmlns:a="http://schemas.openxmlformats.org/drawingml/2006/main" noGrp="1"/>
          </p:cNvSpPr>
          <p:nvPr/>
        </p:nvSpPr>
        <p:spPr>
          <a:xfrm xmlns:a="http://schemas.openxmlformats.org/drawingml/2006/main">
            <a:off x="640080"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Middleware</a:t>
            </a:r>
            <a:endParaRPr sz="1250"/>
          </a:p>
        </p:txBody>
      </p:sp>
      <p:sp>
        <p:nvSpPr>
          <p:cNvPr id="12" name="Text 9">
            <a:extLst xmlns:a="http://schemas.openxmlformats.org/drawingml/2006/main">
              <a:ext uri="{FF2B5EF4-FFF2-40B4-BE49-F238E27FC236}">
                <a16:creationId xmlns:a16="http://schemas.microsoft.com/office/drawing/2014/main" id="{AC3E9693-07EC-42DA-950C-79F50998B128}"/>
              </a:ext>
            </a:extLst>
          </p:cNvPr>
          <p:cNvSpPr>
            <a:spLocks xmlns:a="http://schemas.openxmlformats.org/drawingml/2006/main" noGrp="1"/>
          </p:cNvSpPr>
          <p:nvPr/>
        </p:nvSpPr>
        <p:spPr>
          <a:xfrm xmlns:a="http://schemas.openxmlformats.org/drawingml/2006/main">
            <a:off x="640080"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Assigns X-Trace-Id, starts the latency clock</a:t>
            </a:r>
            <a:endParaRPr sz="950"/>
          </a:p>
        </p:txBody>
      </p:sp>
      <p:sp>
        <p:nvSpPr>
          <p:cNvPr id="13" name="Shape 10">
            <a:extLst xmlns:a="http://schemas.openxmlformats.org/drawingml/2006/main">
              <a:ext uri="{FF2B5EF4-FFF2-40B4-BE49-F238E27FC236}">
                <a16:creationId xmlns:a16="http://schemas.microsoft.com/office/drawing/2014/main" id="{C17FCF22-9A01-4BB3-A9DC-458F406CD8A7}"/>
              </a:ext>
            </a:extLst>
          </p:cNvPr>
          <p:cNvSpPr>
            <a:spLocks xmlns:a="http://schemas.openxmlformats.org/drawingml/2006/main" noGrp="1"/>
          </p:cNvSpPr>
          <p:nvPr/>
        </p:nvSpPr>
        <p:spPr>
          <a:xfrm xmlns:a="http://schemas.openxmlformats.org/drawingml/2006/main">
            <a:off x="2487168" y="3026664"/>
            <a:ext cx="274320" cy="256032"/>
          </a:xfrm>
          <a:prstGeom xmlns:a="http://schemas.openxmlformats.org/drawingml/2006/main" prst="chevron">
            <a:avLst/>
          </a:prstGeom>
          <a:solidFill xmlns:a="http://schemas.openxmlformats.org/drawingml/2006/main">
            <a:srgbClr val="00A79D"/>
          </a:solidFill>
        </p:spPr>
      </p:sp>
      <p:sp>
        <p:nvSpPr>
          <p:cNvPr id="14" name="Shape 11">
            <a:extLst xmlns:a="http://schemas.openxmlformats.org/drawingml/2006/main">
              <a:ext uri="{FF2B5EF4-FFF2-40B4-BE49-F238E27FC236}">
                <a16:creationId xmlns:a16="http://schemas.microsoft.com/office/drawing/2014/main" id="{39F4ADF4-58D9-451E-A84F-D50DCA71D32E}"/>
              </a:ext>
            </a:extLst>
          </p:cNvPr>
          <p:cNvSpPr>
            <a:spLocks xmlns:a="http://schemas.openxmlformats.org/drawingml/2006/main" noGrp="1"/>
          </p:cNvSpPr>
          <p:nvPr/>
        </p:nvSpPr>
        <p:spPr>
          <a:xfrm xmlns:a="http://schemas.openxmlformats.org/drawingml/2006/main">
            <a:off x="2816352"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15" name="Shape 12">
            <a:extLst xmlns:a="http://schemas.openxmlformats.org/drawingml/2006/main">
              <a:ext uri="{FF2B5EF4-FFF2-40B4-BE49-F238E27FC236}">
                <a16:creationId xmlns:a16="http://schemas.microsoft.com/office/drawing/2014/main" id="{DEC3F110-E3FE-409E-A6BE-C1D58D25C680}"/>
              </a:ext>
            </a:extLst>
          </p:cNvPr>
          <p:cNvSpPr>
            <a:spLocks xmlns:a="http://schemas.openxmlformats.org/drawingml/2006/main" noGrp="1"/>
          </p:cNvSpPr>
          <p:nvPr/>
        </p:nvSpPr>
        <p:spPr>
          <a:xfrm xmlns:a="http://schemas.openxmlformats.org/drawingml/2006/main">
            <a:off x="2816352" y="1965960"/>
            <a:ext cx="1929384" cy="82296"/>
          </a:xfrm>
          <a:prstGeom xmlns:a="http://schemas.openxmlformats.org/drawingml/2006/main" prst="rect">
            <a:avLst/>
          </a:prstGeom>
          <a:solidFill xmlns:a="http://schemas.openxmlformats.org/drawingml/2006/main">
            <a:srgbClr val="29ABE2"/>
          </a:solidFill>
        </p:spPr>
      </p:sp>
      <p:sp>
        <p:nvSpPr>
          <p:cNvPr id="16" name="Text 13">
            <a:extLst xmlns:a="http://schemas.openxmlformats.org/drawingml/2006/main">
              <a:ext uri="{FF2B5EF4-FFF2-40B4-BE49-F238E27FC236}">
                <a16:creationId xmlns:a16="http://schemas.microsoft.com/office/drawing/2014/main" id="{FAD703F0-45ED-4A56-8C30-CEB24CED7BE9}"/>
              </a:ext>
            </a:extLst>
          </p:cNvPr>
          <p:cNvSpPr>
            <a:spLocks xmlns:a="http://schemas.openxmlformats.org/drawingml/2006/main" noGrp="1"/>
          </p:cNvSpPr>
          <p:nvPr/>
        </p:nvSpPr>
        <p:spPr>
          <a:xfrm xmlns:a="http://schemas.openxmlformats.org/drawingml/2006/main">
            <a:off x="2953512"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29ABE2"/>
                </a:solidFill>
                <a:latin typeface="Calibri"/>
                <a:ea typeface="Calibri"/>
                <a:cs typeface="Calibri"/>
              </a:rPr>
              <a:t>STEP 2</a:t>
            </a:r>
            <a:endParaRPr sz="900"/>
          </a:p>
        </p:txBody>
      </p:sp>
      <p:sp>
        <p:nvSpPr>
          <p:cNvPr id="17" name="Text 14">
            <a:extLst xmlns:a="http://schemas.openxmlformats.org/drawingml/2006/main">
              <a:ext uri="{FF2B5EF4-FFF2-40B4-BE49-F238E27FC236}">
                <a16:creationId xmlns:a16="http://schemas.microsoft.com/office/drawing/2014/main" id="{A1022603-DF52-4444-B94B-1DFDC919DCA4}"/>
              </a:ext>
            </a:extLst>
          </p:cNvPr>
          <p:cNvSpPr>
            <a:spLocks xmlns:a="http://schemas.openxmlformats.org/drawingml/2006/main" noGrp="1"/>
          </p:cNvSpPr>
          <p:nvPr/>
        </p:nvSpPr>
        <p:spPr>
          <a:xfrm xmlns:a="http://schemas.openxmlformats.org/drawingml/2006/main">
            <a:off x="2953512"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pydantic wall</a:t>
            </a:r>
            <a:endParaRPr sz="1250"/>
          </a:p>
        </p:txBody>
      </p:sp>
      <p:sp>
        <p:nvSpPr>
          <p:cNvPr id="18" name="Text 15">
            <a:extLst xmlns:a="http://schemas.openxmlformats.org/drawingml/2006/main">
              <a:ext uri="{FF2B5EF4-FFF2-40B4-BE49-F238E27FC236}">
                <a16:creationId xmlns:a16="http://schemas.microsoft.com/office/drawing/2014/main" id="{5FA828ED-9CA7-46DC-BEE4-11717B163304}"/>
              </a:ext>
            </a:extLst>
          </p:cNvPr>
          <p:cNvSpPr>
            <a:spLocks xmlns:a="http://schemas.openxmlformats.org/drawingml/2006/main" noGrp="1"/>
          </p:cNvSpPr>
          <p:nvPr/>
        </p:nvSpPr>
        <p:spPr>
          <a:xfrm xmlns:a="http://schemas.openxmlformats.org/drawingml/2006/main">
            <a:off x="2953512"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Schema violations exit here as 422 with field-level errors — before any model code runs</a:t>
            </a:r>
            <a:endParaRPr sz="950"/>
          </a:p>
        </p:txBody>
      </p:sp>
      <p:sp>
        <p:nvSpPr>
          <p:cNvPr id="19" name="Shape 16">
            <a:extLst xmlns:a="http://schemas.openxmlformats.org/drawingml/2006/main">
              <a:ext uri="{FF2B5EF4-FFF2-40B4-BE49-F238E27FC236}">
                <a16:creationId xmlns:a16="http://schemas.microsoft.com/office/drawing/2014/main" id="{678DDEED-B4D7-41B7-9C9F-CC5D6C0157F6}"/>
              </a:ext>
            </a:extLst>
          </p:cNvPr>
          <p:cNvSpPr>
            <a:spLocks xmlns:a="http://schemas.openxmlformats.org/drawingml/2006/main" noGrp="1"/>
          </p:cNvSpPr>
          <p:nvPr/>
        </p:nvSpPr>
        <p:spPr>
          <a:xfrm xmlns:a="http://schemas.openxmlformats.org/drawingml/2006/main">
            <a:off x="4800600" y="3026664"/>
            <a:ext cx="274320" cy="256032"/>
          </a:xfrm>
          <a:prstGeom xmlns:a="http://schemas.openxmlformats.org/drawingml/2006/main" prst="chevron">
            <a:avLst/>
          </a:prstGeom>
          <a:solidFill xmlns:a="http://schemas.openxmlformats.org/drawingml/2006/main">
            <a:srgbClr val="00A79D"/>
          </a:solidFill>
        </p:spPr>
      </p:sp>
      <p:sp>
        <p:nvSpPr>
          <p:cNvPr id="20" name="Shape 17">
            <a:extLst xmlns:a="http://schemas.openxmlformats.org/drawingml/2006/main">
              <a:ext uri="{FF2B5EF4-FFF2-40B4-BE49-F238E27FC236}">
                <a16:creationId xmlns:a16="http://schemas.microsoft.com/office/drawing/2014/main" id="{A38E246A-A185-4A32-944A-AC16236F791A}"/>
              </a:ext>
            </a:extLst>
          </p:cNvPr>
          <p:cNvSpPr>
            <a:spLocks xmlns:a="http://schemas.openxmlformats.org/drawingml/2006/main" noGrp="1"/>
          </p:cNvSpPr>
          <p:nvPr/>
        </p:nvSpPr>
        <p:spPr>
          <a:xfrm xmlns:a="http://schemas.openxmlformats.org/drawingml/2006/main">
            <a:off x="5129784"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21" name="Shape 18">
            <a:extLst xmlns:a="http://schemas.openxmlformats.org/drawingml/2006/main">
              <a:ext uri="{FF2B5EF4-FFF2-40B4-BE49-F238E27FC236}">
                <a16:creationId xmlns:a16="http://schemas.microsoft.com/office/drawing/2014/main" id="{0A199BD6-4681-4EFC-B45F-2867F985A9DC}"/>
              </a:ext>
            </a:extLst>
          </p:cNvPr>
          <p:cNvSpPr>
            <a:spLocks xmlns:a="http://schemas.openxmlformats.org/drawingml/2006/main" noGrp="1"/>
          </p:cNvSpPr>
          <p:nvPr/>
        </p:nvSpPr>
        <p:spPr>
          <a:xfrm xmlns:a="http://schemas.openxmlformats.org/drawingml/2006/main">
            <a:off x="5129784" y="1965960"/>
            <a:ext cx="1929384" cy="82296"/>
          </a:xfrm>
          <a:prstGeom xmlns:a="http://schemas.openxmlformats.org/drawingml/2006/main" prst="rect">
            <a:avLst/>
          </a:prstGeom>
          <a:solidFill xmlns:a="http://schemas.openxmlformats.org/drawingml/2006/main">
            <a:srgbClr val="F58220"/>
          </a:solidFill>
        </p:spPr>
      </p:sp>
      <p:sp>
        <p:nvSpPr>
          <p:cNvPr id="22" name="Text 19">
            <a:extLst xmlns:a="http://schemas.openxmlformats.org/drawingml/2006/main">
              <a:ext uri="{FF2B5EF4-FFF2-40B4-BE49-F238E27FC236}">
                <a16:creationId xmlns:a16="http://schemas.microsoft.com/office/drawing/2014/main" id="{D9D88F01-A38D-4F69-8774-CE41FA31E463}"/>
              </a:ext>
            </a:extLst>
          </p:cNvPr>
          <p:cNvSpPr>
            <a:spLocks xmlns:a="http://schemas.openxmlformats.org/drawingml/2006/main" noGrp="1"/>
          </p:cNvSpPr>
          <p:nvPr/>
        </p:nvSpPr>
        <p:spPr>
          <a:xfrm xmlns:a="http://schemas.openxmlformats.org/drawingml/2006/main">
            <a:off x="5266944"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F58220"/>
                </a:solidFill>
                <a:latin typeface="Calibri"/>
                <a:ea typeface="Calibri"/>
                <a:cs typeface="Calibri"/>
              </a:rPr>
              <a:t>STEP 3</a:t>
            </a:r>
            <a:endParaRPr sz="900"/>
          </a:p>
        </p:txBody>
      </p:sp>
      <p:sp>
        <p:nvSpPr>
          <p:cNvPr id="23" name="Text 20">
            <a:extLst xmlns:a="http://schemas.openxmlformats.org/drawingml/2006/main">
              <a:ext uri="{FF2B5EF4-FFF2-40B4-BE49-F238E27FC236}">
                <a16:creationId xmlns:a16="http://schemas.microsoft.com/office/drawing/2014/main" id="{3580623F-32EA-4204-9FCA-D8D849D19B21}"/>
              </a:ext>
            </a:extLst>
          </p:cNvPr>
          <p:cNvSpPr>
            <a:spLocks xmlns:a="http://schemas.openxmlformats.org/drawingml/2006/main" noGrp="1"/>
          </p:cNvSpPr>
          <p:nvPr/>
        </p:nvSpPr>
        <p:spPr>
          <a:xfrm xmlns:a="http://schemas.openxmlformats.org/drawingml/2006/main">
            <a:off x="5266944"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DI provider</a:t>
            </a:r>
            <a:endParaRPr sz="1250"/>
          </a:p>
        </p:txBody>
      </p:sp>
      <p:sp>
        <p:nvSpPr>
          <p:cNvPr id="24" name="Text 21">
            <a:extLst xmlns:a="http://schemas.openxmlformats.org/drawingml/2006/main">
              <a:ext uri="{FF2B5EF4-FFF2-40B4-BE49-F238E27FC236}">
                <a16:creationId xmlns:a16="http://schemas.microsoft.com/office/drawing/2014/main" id="{C825FF7C-443E-4186-91F6-05E1BB31B184}"/>
              </a:ext>
            </a:extLst>
          </p:cNvPr>
          <p:cNvSpPr>
            <a:spLocks xmlns:a="http://schemas.openxmlformats.org/drawingml/2006/main" noGrp="1"/>
          </p:cNvSpPr>
          <p:nvPr/>
        </p:nvSpPr>
        <p:spPr>
          <a:xfrm xmlns:a="http://schemas.openxmlformats.org/drawingml/2006/main">
            <a:off x="5266944"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get_scorer() hands the route a ready FraudScorer — or raises 503 + Retry-After</a:t>
            </a:r>
            <a:endParaRPr sz="950"/>
          </a:p>
        </p:txBody>
      </p:sp>
      <p:sp>
        <p:nvSpPr>
          <p:cNvPr id="25" name="Shape 22">
            <a:extLst xmlns:a="http://schemas.openxmlformats.org/drawingml/2006/main">
              <a:ext uri="{FF2B5EF4-FFF2-40B4-BE49-F238E27FC236}">
                <a16:creationId xmlns:a16="http://schemas.microsoft.com/office/drawing/2014/main" id="{211AA435-9EC5-439C-8E04-457BCCADC58B}"/>
              </a:ext>
            </a:extLst>
          </p:cNvPr>
          <p:cNvSpPr>
            <a:spLocks xmlns:a="http://schemas.openxmlformats.org/drawingml/2006/main" noGrp="1"/>
          </p:cNvSpPr>
          <p:nvPr/>
        </p:nvSpPr>
        <p:spPr>
          <a:xfrm xmlns:a="http://schemas.openxmlformats.org/drawingml/2006/main">
            <a:off x="7114032" y="3026664"/>
            <a:ext cx="274320" cy="256032"/>
          </a:xfrm>
          <a:prstGeom xmlns:a="http://schemas.openxmlformats.org/drawingml/2006/main" prst="chevron">
            <a:avLst/>
          </a:prstGeom>
          <a:solidFill xmlns:a="http://schemas.openxmlformats.org/drawingml/2006/main">
            <a:srgbClr val="00A79D"/>
          </a:solidFill>
        </p:spPr>
      </p:sp>
      <p:sp>
        <p:nvSpPr>
          <p:cNvPr id="26" name="Shape 23">
            <a:extLst xmlns:a="http://schemas.openxmlformats.org/drawingml/2006/main">
              <a:ext uri="{FF2B5EF4-FFF2-40B4-BE49-F238E27FC236}">
                <a16:creationId xmlns:a16="http://schemas.microsoft.com/office/drawing/2014/main" id="{4B646DB1-376F-47B3-8F1A-35AFB41C0105}"/>
              </a:ext>
            </a:extLst>
          </p:cNvPr>
          <p:cNvSpPr>
            <a:spLocks xmlns:a="http://schemas.openxmlformats.org/drawingml/2006/main" noGrp="1"/>
          </p:cNvSpPr>
          <p:nvPr/>
        </p:nvSpPr>
        <p:spPr>
          <a:xfrm xmlns:a="http://schemas.openxmlformats.org/drawingml/2006/main">
            <a:off x="7443216"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27" name="Shape 24">
            <a:extLst xmlns:a="http://schemas.openxmlformats.org/drawingml/2006/main">
              <a:ext uri="{FF2B5EF4-FFF2-40B4-BE49-F238E27FC236}">
                <a16:creationId xmlns:a16="http://schemas.microsoft.com/office/drawing/2014/main" id="{35591980-B8DD-495B-A296-3FF3E0C286B5}"/>
              </a:ext>
            </a:extLst>
          </p:cNvPr>
          <p:cNvSpPr>
            <a:spLocks xmlns:a="http://schemas.openxmlformats.org/drawingml/2006/main" noGrp="1"/>
          </p:cNvSpPr>
          <p:nvPr/>
        </p:nvSpPr>
        <p:spPr>
          <a:xfrm xmlns:a="http://schemas.openxmlformats.org/drawingml/2006/main">
            <a:off x="7443216" y="1965960"/>
            <a:ext cx="1929384" cy="82296"/>
          </a:xfrm>
          <a:prstGeom xmlns:a="http://schemas.openxmlformats.org/drawingml/2006/main" prst="rect">
            <a:avLst/>
          </a:prstGeom>
          <a:solidFill xmlns:a="http://schemas.openxmlformats.org/drawingml/2006/main">
            <a:srgbClr val="8DC63F"/>
          </a:solidFill>
        </p:spPr>
      </p:sp>
      <p:sp>
        <p:nvSpPr>
          <p:cNvPr id="28" name="Text 25">
            <a:extLst xmlns:a="http://schemas.openxmlformats.org/drawingml/2006/main">
              <a:ext uri="{FF2B5EF4-FFF2-40B4-BE49-F238E27FC236}">
                <a16:creationId xmlns:a16="http://schemas.microsoft.com/office/drawing/2014/main" id="{8369DA70-EA92-49F7-9A5E-516C3D056D5E}"/>
              </a:ext>
            </a:extLst>
          </p:cNvPr>
          <p:cNvSpPr>
            <a:spLocks xmlns:a="http://schemas.openxmlformats.org/drawingml/2006/main" noGrp="1"/>
          </p:cNvSpPr>
          <p:nvPr/>
        </p:nvSpPr>
        <p:spPr>
          <a:xfrm xmlns:a="http://schemas.openxmlformats.org/drawingml/2006/main">
            <a:off x="7580376"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8DC63F"/>
                </a:solidFill>
                <a:latin typeface="Calibri"/>
                <a:ea typeface="Calibri"/>
                <a:cs typeface="Calibri"/>
              </a:rPr>
              <a:t>STEP 4</a:t>
            </a:r>
            <a:endParaRPr sz="900"/>
          </a:p>
        </p:txBody>
      </p:sp>
      <p:sp>
        <p:nvSpPr>
          <p:cNvPr id="29" name="Text 26">
            <a:extLst xmlns:a="http://schemas.openxmlformats.org/drawingml/2006/main">
              <a:ext uri="{FF2B5EF4-FFF2-40B4-BE49-F238E27FC236}">
                <a16:creationId xmlns:a16="http://schemas.microsoft.com/office/drawing/2014/main" id="{EB123523-C4B3-4E59-926D-2DCF33172CDC}"/>
              </a:ext>
            </a:extLst>
          </p:cNvPr>
          <p:cNvSpPr>
            <a:spLocks xmlns:a="http://schemas.openxmlformats.org/drawingml/2006/main" noGrp="1"/>
          </p:cNvSpPr>
          <p:nvPr/>
        </p:nvSpPr>
        <p:spPr>
          <a:xfrm xmlns:a="http://schemas.openxmlformats.org/drawingml/2006/main">
            <a:off x="7580376"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Scorer → adapter</a:t>
            </a:r>
            <a:endParaRPr sz="1250"/>
          </a:p>
        </p:txBody>
      </p:sp>
      <p:sp>
        <p:nvSpPr>
          <p:cNvPr id="30" name="Text 27">
            <a:extLst xmlns:a="http://schemas.openxmlformats.org/drawingml/2006/main">
              <a:ext uri="{FF2B5EF4-FFF2-40B4-BE49-F238E27FC236}">
                <a16:creationId xmlns:a16="http://schemas.microsoft.com/office/drawing/2014/main" id="{56620641-977C-4AAC-8F9E-DCFB29E0346D}"/>
              </a:ext>
            </a:extLst>
          </p:cNvPr>
          <p:cNvSpPr>
            <a:spLocks xmlns:a="http://schemas.openxmlformats.org/drawingml/2006/main" noGrp="1"/>
          </p:cNvSpPr>
          <p:nvPr/>
        </p:nvSpPr>
        <p:spPr>
          <a:xfrm xmlns:a="http://schemas.openxmlformats.org/drawingml/2006/main">
            <a:off x="7580376"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Module 1 orchestration: featurise, predict through the protocol, apply policy</a:t>
            </a:r>
            <a:endParaRPr sz="950"/>
          </a:p>
        </p:txBody>
      </p:sp>
      <p:sp>
        <p:nvSpPr>
          <p:cNvPr id="31" name="Shape 28">
            <a:extLst xmlns:a="http://schemas.openxmlformats.org/drawingml/2006/main">
              <a:ext uri="{FF2B5EF4-FFF2-40B4-BE49-F238E27FC236}">
                <a16:creationId xmlns:a16="http://schemas.microsoft.com/office/drawing/2014/main" id="{3E7980FB-AADC-42FE-8C96-87C8093C829A}"/>
              </a:ext>
            </a:extLst>
          </p:cNvPr>
          <p:cNvSpPr>
            <a:spLocks xmlns:a="http://schemas.openxmlformats.org/drawingml/2006/main" noGrp="1"/>
          </p:cNvSpPr>
          <p:nvPr/>
        </p:nvSpPr>
        <p:spPr>
          <a:xfrm xmlns:a="http://schemas.openxmlformats.org/drawingml/2006/main">
            <a:off x="9427464" y="3026664"/>
            <a:ext cx="274320" cy="256032"/>
          </a:xfrm>
          <a:prstGeom xmlns:a="http://schemas.openxmlformats.org/drawingml/2006/main" prst="chevron">
            <a:avLst/>
          </a:prstGeom>
          <a:solidFill xmlns:a="http://schemas.openxmlformats.org/drawingml/2006/main">
            <a:srgbClr val="00A79D"/>
          </a:solidFill>
        </p:spPr>
      </p:sp>
      <p:sp>
        <p:nvSpPr>
          <p:cNvPr id="32" name="Shape 29">
            <a:extLst xmlns:a="http://schemas.openxmlformats.org/drawingml/2006/main">
              <a:ext uri="{FF2B5EF4-FFF2-40B4-BE49-F238E27FC236}">
                <a16:creationId xmlns:a16="http://schemas.microsoft.com/office/drawing/2014/main" id="{0B514AAD-6EBA-4899-B365-8D661CAEED81}"/>
              </a:ext>
            </a:extLst>
          </p:cNvPr>
          <p:cNvSpPr>
            <a:spLocks xmlns:a="http://schemas.openxmlformats.org/drawingml/2006/main" noGrp="1"/>
          </p:cNvSpPr>
          <p:nvPr/>
        </p:nvSpPr>
        <p:spPr>
          <a:xfrm xmlns:a="http://schemas.openxmlformats.org/drawingml/2006/main">
            <a:off x="9756648"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33" name="Shape 30">
            <a:extLst xmlns:a="http://schemas.openxmlformats.org/drawingml/2006/main">
              <a:ext uri="{FF2B5EF4-FFF2-40B4-BE49-F238E27FC236}">
                <a16:creationId xmlns:a16="http://schemas.microsoft.com/office/drawing/2014/main" id="{1C79CC9A-0F2A-41DD-8801-4AC25D61E3FF}"/>
              </a:ext>
            </a:extLst>
          </p:cNvPr>
          <p:cNvSpPr>
            <a:spLocks xmlns:a="http://schemas.openxmlformats.org/drawingml/2006/main" noGrp="1"/>
          </p:cNvSpPr>
          <p:nvPr/>
        </p:nvSpPr>
        <p:spPr>
          <a:xfrm xmlns:a="http://schemas.openxmlformats.org/drawingml/2006/main">
            <a:off x="9756648" y="1965960"/>
            <a:ext cx="1929384" cy="82296"/>
          </a:xfrm>
          <a:prstGeom xmlns:a="http://schemas.openxmlformats.org/drawingml/2006/main" prst="rect">
            <a:avLst/>
          </a:prstGeom>
          <a:solidFill xmlns:a="http://schemas.openxmlformats.org/drawingml/2006/main">
            <a:srgbClr val="E8503A"/>
          </a:solidFill>
        </p:spPr>
      </p:sp>
      <p:sp>
        <p:nvSpPr>
          <p:cNvPr id="34" name="Text 31">
            <a:extLst xmlns:a="http://schemas.openxmlformats.org/drawingml/2006/main">
              <a:ext uri="{FF2B5EF4-FFF2-40B4-BE49-F238E27FC236}">
                <a16:creationId xmlns:a16="http://schemas.microsoft.com/office/drawing/2014/main" id="{04861931-AB02-421B-B2BE-FFAA2DCF6680}"/>
              </a:ext>
            </a:extLst>
          </p:cNvPr>
          <p:cNvSpPr>
            <a:spLocks xmlns:a="http://schemas.openxmlformats.org/drawingml/2006/main" noGrp="1"/>
          </p:cNvSpPr>
          <p:nvPr/>
        </p:nvSpPr>
        <p:spPr>
          <a:xfrm xmlns:a="http://schemas.openxmlformats.org/drawingml/2006/main">
            <a:off x="9893808"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E8503A"/>
                </a:solidFill>
                <a:latin typeface="Calibri"/>
                <a:ea typeface="Calibri"/>
                <a:cs typeface="Calibri"/>
              </a:rPr>
              <a:t>STEP 5</a:t>
            </a:r>
            <a:endParaRPr sz="900"/>
          </a:p>
        </p:txBody>
      </p:sp>
      <p:sp>
        <p:nvSpPr>
          <p:cNvPr id="35" name="Text 32">
            <a:extLst xmlns:a="http://schemas.openxmlformats.org/drawingml/2006/main">
              <a:ext uri="{FF2B5EF4-FFF2-40B4-BE49-F238E27FC236}">
                <a16:creationId xmlns:a16="http://schemas.microsoft.com/office/drawing/2014/main" id="{2B499117-AB72-486D-A1BE-F496530AE1F0}"/>
              </a:ext>
            </a:extLst>
          </p:cNvPr>
          <p:cNvSpPr>
            <a:spLocks xmlns:a="http://schemas.openxmlformats.org/drawingml/2006/main" noGrp="1"/>
          </p:cNvSpPr>
          <p:nvPr/>
        </p:nvSpPr>
        <p:spPr>
          <a:xfrm xmlns:a="http://schemas.openxmlformats.org/drawingml/2006/main">
            <a:off x="9893808"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Response</a:t>
            </a:r>
            <a:endParaRPr sz="1250"/>
          </a:p>
        </p:txBody>
      </p:sp>
      <p:sp>
        <p:nvSpPr>
          <p:cNvPr id="36" name="Text 33">
            <a:extLst xmlns:a="http://schemas.openxmlformats.org/drawingml/2006/main">
              <a:ext uri="{FF2B5EF4-FFF2-40B4-BE49-F238E27FC236}">
                <a16:creationId xmlns:a16="http://schemas.microsoft.com/office/drawing/2014/main" id="{3AF74211-055E-44DA-8417-CCEE9DBD94CA}"/>
              </a:ext>
            </a:extLst>
          </p:cNvPr>
          <p:cNvSpPr>
            <a:spLocks xmlns:a="http://schemas.openxmlformats.org/drawingml/2006/main" noGrp="1"/>
          </p:cNvSpPr>
          <p:nvPr/>
        </p:nvSpPr>
        <p:spPr>
          <a:xfrm xmlns:a="http://schemas.openxmlformats.org/drawingml/2006/main">
            <a:off x="9893808"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PredictResponse envelope + X-Trace-Id and X-Response-Time-Ms headers</a:t>
            </a:r>
            <a:endParaRPr sz="950"/>
          </a:p>
        </p:txBody>
      </p:sp>
      <p:sp>
        <p:nvSpPr>
          <p:cNvPr id="37" name="Shape 34">
            <a:extLst xmlns:a="http://schemas.openxmlformats.org/drawingml/2006/main">
              <a:ext uri="{FF2B5EF4-FFF2-40B4-BE49-F238E27FC236}">
                <a16:creationId xmlns:a16="http://schemas.microsoft.com/office/drawing/2014/main" id="{EE0C5B9B-27BF-401F-B4D8-CFD33A1D392D}"/>
              </a:ext>
            </a:extLst>
          </p:cNvPr>
          <p:cNvSpPr>
            <a:spLocks xmlns:a="http://schemas.openxmlformats.org/drawingml/2006/main" noGrp="1"/>
          </p:cNvSpPr>
          <p:nvPr/>
        </p:nvSpPr>
        <p:spPr>
          <a:xfrm xmlns:a="http://schemas.openxmlformats.org/drawingml/2006/main">
            <a:off x="502920" y="4892040"/>
            <a:ext cx="11183112" cy="1051560"/>
          </a:xfrm>
          <a:prstGeom xmlns:a="http://schemas.openxmlformats.org/drawingml/2006/main" prst="roundRect">
            <a:avLst>
              <a:gd name="adj" fmla="val 6087"/>
            </a:avLst>
          </a:prstGeom>
          <a:solidFill xmlns:a="http://schemas.openxmlformats.org/drawingml/2006/main">
            <a:srgbClr val="D4F1EE"/>
          </a:solidFill>
        </p:spPr>
      </p:sp>
      <p:sp>
        <p:nvSpPr>
          <p:cNvPr id="38" name="Text 35">
            <a:extLst xmlns:a="http://schemas.openxmlformats.org/drawingml/2006/main">
              <a:ext uri="{FF2B5EF4-FFF2-40B4-BE49-F238E27FC236}">
                <a16:creationId xmlns:a16="http://schemas.microsoft.com/office/drawing/2014/main" id="{EACF7527-9EB7-41FE-B961-E42A1A3A1C12}"/>
              </a:ext>
            </a:extLst>
          </p:cNvPr>
          <p:cNvSpPr>
            <a:spLocks xmlns:a="http://schemas.openxmlformats.org/drawingml/2006/main" noGrp="1"/>
          </p:cNvSpPr>
          <p:nvPr/>
        </p:nvSpPr>
        <p:spPr>
          <a:xfrm xmlns:a="http://schemas.openxmlformats.org/drawingml/2006/main">
            <a:off x="731520" y="4892040"/>
            <a:ext cx="10789920" cy="10515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b="1">
                <a:solidFill>
                  <a:srgbClr val="056A63"/>
                </a:solidFill>
                <a:latin typeface="Calibri"/>
                <a:ea typeface="Calibri"/>
                <a:cs typeface="Calibri"/>
              </a:rPr>
              <a:t>WHY IT MATTERS   </a:t>
            </a:r>
            <a:r>
              <a:rPr sz="1100">
                <a:solidFill>
                  <a:srgbClr val="056A63"/>
                </a:solidFill>
                <a:latin typeface="Calibri"/>
                <a:ea typeface="Calibri"/>
                <a:cs typeface="Calibri"/>
              </a:rPr>
              <a:t>Validation is a firewall: the 422 exits BEFORE the scorer. Most "model bugs" in production are actually unvalidated input.</a:t>
            </a:r>
            <a:endParaRPr sz="950"/>
          </a:p>
        </p:txBody>
      </p:sp>
    </p:spTree>
    <p:extLst>
      <p:ext uri="{BB962C8B-B14F-4D97-AF65-F5344CB8AC3E}">
        <p14:creationId xmlns:p14="http://schemas.microsoft.com/office/powerpoint/2010/main" val="1983312448"/>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F4B83BF-0664-4002-B636-457C9CB53A73}"/>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Designing the Prediction Contract</a:t>
            </a:r>
            <a:endParaRPr sz="2600"/>
          </a:p>
        </p:txBody>
      </p:sp>
      <p:sp>
        <p:nvSpPr>
          <p:cNvPr id="3" name="Text 1">
            <a:extLst xmlns:a="http://schemas.openxmlformats.org/drawingml/2006/main">
              <a:ext uri="{FF2B5EF4-FFF2-40B4-BE49-F238E27FC236}">
                <a16:creationId xmlns:a16="http://schemas.microsoft.com/office/drawing/2014/main" id="{F6285FD3-98F3-4FF3-A645-26CD45855BEF}"/>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تصميم عقد التنبؤ</a:t>
            </a:r>
            <a:endParaRPr sz="1300"/>
          </a:p>
        </p:txBody>
      </p:sp>
      <p:pic>
        <p:nvPicPr>
          <p:cNvPr id="34" name="Image 0"/>
          <p:cNvPicPr>
            <a:picLocks xmlns:a="http://schemas.openxmlformats.org/drawingml/2006/main" noChangeAspect="1"/>
          </p:cNvPicPr>
          <p:nvPr/>
        </p:nvPicPr>
        <p:blipFill>
          <a:blip xmlns:r="http://schemas.openxmlformats.org/officeDocument/2006/relationships" xmlns:a="http://schemas.openxmlformats.org/drawingml/2006/main" r:embed="R9a4c37afce07485f"/>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78DAA08B-E911-4F40-AFB0-0340F6424508}"/>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AC2106F7-E2CF-4522-9CB4-30B8F36B4764}"/>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2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FC8053DA-80B8-4280-A22F-CBF627BDE418}"/>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38</a:t>
            </a:r>
            <a:endParaRPr sz="850"/>
          </a:p>
        </p:txBody>
      </p:sp>
      <p:sp>
        <p:nvSpPr>
          <p:cNvPr id="8" name="Text 5">
            <a:extLst xmlns:a="http://schemas.openxmlformats.org/drawingml/2006/main">
              <a:ext uri="{FF2B5EF4-FFF2-40B4-BE49-F238E27FC236}">
                <a16:creationId xmlns:a16="http://schemas.microsoft.com/office/drawing/2014/main" id="{D13FE6E4-1EF5-4D47-B779-8F5252F57FCE}"/>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F3EF88DE-B159-4CFF-875B-15C22F745798}"/>
              </a:ext>
            </a:extLst>
          </p:cNvPr>
          <p:cNvSpPr>
            <a:spLocks xmlns:a="http://schemas.openxmlformats.org/drawingml/2006/main" noGrp="1"/>
          </p:cNvSpPr>
          <p:nvPr/>
        </p:nvSpPr>
        <p:spPr>
          <a:xfrm xmlns:a="http://schemas.openxmlformats.org/drawingml/2006/main">
            <a:off x="1005840" y="14996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POST /v1/predict — a prediction is created</a:t>
            </a:r>
            <a:endParaRPr sz="1350"/>
          </a:p>
        </p:txBody>
      </p:sp>
      <p:sp>
        <p:nvSpPr>
          <p:cNvPr id="10" name="Text 7">
            <a:extLst xmlns:a="http://schemas.openxmlformats.org/drawingml/2006/main">
              <a:ext uri="{FF2B5EF4-FFF2-40B4-BE49-F238E27FC236}">
                <a16:creationId xmlns:a16="http://schemas.microsoft.com/office/drawing/2014/main" id="{8C5B650C-8A96-4CE3-8106-D6F8489ED114}"/>
              </a:ext>
            </a:extLst>
          </p:cNvPr>
          <p:cNvSpPr>
            <a:spLocks xmlns:a="http://schemas.openxmlformats.org/drawingml/2006/main" noGrp="1"/>
          </p:cNvSpPr>
          <p:nvPr/>
        </p:nvSpPr>
        <p:spPr>
          <a:xfrm xmlns:a="http://schemas.openxmlformats.org/drawingml/2006/main">
            <a:off x="1005840" y="18013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POST because scoring is neither safe nor idempotent-by-URL; the request body is the resource being created.</a:t>
            </a:r>
            <a:endParaRPr sz="1050"/>
          </a:p>
        </p:txBody>
      </p:sp>
      <p:sp>
        <p:nvSpPr>
          <p:cNvPr id="11" name="Text 8">
            <a:extLst xmlns:a="http://schemas.openxmlformats.org/drawingml/2006/main">
              <a:ext uri="{FF2B5EF4-FFF2-40B4-BE49-F238E27FC236}">
                <a16:creationId xmlns:a16="http://schemas.microsoft.com/office/drawing/2014/main" id="{D62D3E6F-E357-4B2A-B3E4-60440C348EC7}"/>
              </a:ext>
            </a:extLst>
          </p:cNvPr>
          <p:cNvSpPr>
            <a:spLocks xmlns:a="http://schemas.openxmlformats.org/drawingml/2006/main" noGrp="1"/>
          </p:cNvSpPr>
          <p:nvPr/>
        </p:nvSpPr>
        <p:spPr>
          <a:xfrm xmlns:a="http://schemas.openxmlformats.org/drawingml/2006/main">
            <a:off x="502920" y="292608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3D72126E-F0DD-4040-843B-130A930EA69A}"/>
              </a:ext>
            </a:extLst>
          </p:cNvPr>
          <p:cNvSpPr>
            <a:spLocks xmlns:a="http://schemas.openxmlformats.org/drawingml/2006/main" noGrp="1"/>
          </p:cNvSpPr>
          <p:nvPr/>
        </p:nvSpPr>
        <p:spPr>
          <a:xfrm xmlns:a="http://schemas.openxmlformats.org/drawingml/2006/main">
            <a:off x="1005840" y="28712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Batch variant with an explicit cap</a:t>
            </a:r>
            <a:endParaRPr sz="1350"/>
          </a:p>
        </p:txBody>
      </p:sp>
      <p:sp>
        <p:nvSpPr>
          <p:cNvPr id="13" name="Text 10">
            <a:extLst xmlns:a="http://schemas.openxmlformats.org/drawingml/2006/main">
              <a:ext uri="{FF2B5EF4-FFF2-40B4-BE49-F238E27FC236}">
                <a16:creationId xmlns:a16="http://schemas.microsoft.com/office/drawing/2014/main" id="{710616C3-0363-4489-8110-6897F1EF02D6}"/>
              </a:ext>
            </a:extLst>
          </p:cNvPr>
          <p:cNvSpPr>
            <a:spLocks xmlns:a="http://schemas.openxmlformats.org/drawingml/2006/main" noGrp="1"/>
          </p:cNvSpPr>
          <p:nvPr/>
        </p:nvSpPr>
        <p:spPr>
          <a:xfrm xmlns:a="http://schemas.openxmlformats.org/drawingml/2006/main">
            <a:off x="1005840" y="31729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POST /v1/predictions:batch accepting up to N items — decide N (e.g. 256) and document it. Unbounded batch endpoints are self-inflicted DoS.</a:t>
            </a:r>
            <a:endParaRPr sz="1050"/>
          </a:p>
        </p:txBody>
      </p:sp>
      <p:sp>
        <p:nvSpPr>
          <p:cNvPr id="14" name="Text 11">
            <a:extLst xmlns:a="http://schemas.openxmlformats.org/drawingml/2006/main">
              <a:ext uri="{FF2B5EF4-FFF2-40B4-BE49-F238E27FC236}">
                <a16:creationId xmlns:a16="http://schemas.microsoft.com/office/drawing/2014/main" id="{51F1D19B-79E6-4CA4-B40A-35CF24BEE6EB}"/>
              </a:ext>
            </a:extLst>
          </p:cNvPr>
          <p:cNvSpPr>
            <a:spLocks xmlns:a="http://schemas.openxmlformats.org/drawingml/2006/main" noGrp="1"/>
          </p:cNvSpPr>
          <p:nvPr/>
        </p:nvSpPr>
        <p:spPr>
          <a:xfrm xmlns:a="http://schemas.openxmlformats.org/drawingml/2006/main">
            <a:off x="502920" y="429768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8685BD88-54F1-4438-9554-0189B45F7A32}"/>
              </a:ext>
            </a:extLst>
          </p:cNvPr>
          <p:cNvSpPr>
            <a:spLocks xmlns:a="http://schemas.openxmlformats.org/drawingml/2006/main" noGrp="1"/>
          </p:cNvSpPr>
          <p:nvPr/>
        </p:nvSpPr>
        <p:spPr>
          <a:xfrm xmlns:a="http://schemas.openxmlformats.org/drawingml/2006/main">
            <a:off x="1005840" y="42428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Sync vs async: a decision rule</a:t>
            </a:r>
            <a:endParaRPr sz="1350"/>
          </a:p>
        </p:txBody>
      </p:sp>
      <p:sp>
        <p:nvSpPr>
          <p:cNvPr id="16" name="Text 13">
            <a:extLst xmlns:a="http://schemas.openxmlformats.org/drawingml/2006/main">
              <a:ext uri="{FF2B5EF4-FFF2-40B4-BE49-F238E27FC236}">
                <a16:creationId xmlns:a16="http://schemas.microsoft.com/office/drawing/2014/main" id="{492D5807-6A6B-48A2-BAA5-E64DDFECD02A}"/>
              </a:ext>
            </a:extLst>
          </p:cNvPr>
          <p:cNvSpPr>
            <a:spLocks xmlns:a="http://schemas.openxmlformats.org/drawingml/2006/main" noGrp="1"/>
          </p:cNvSpPr>
          <p:nvPr/>
        </p:nvSpPr>
        <p:spPr>
          <a:xfrm xmlns:a="http://schemas.openxmlformats.org/drawingml/2006/main">
            <a:off x="1005840" y="45445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Inference p99 under ~1 s → synchronous. Longer (LLMs, video) → 202 Accepted + a job resource (GET /v1/jobs/{id}), or stream.</a:t>
            </a:r>
            <a:endParaRPr sz="1050"/>
          </a:p>
        </p:txBody>
      </p:sp>
      <p:sp>
        <p:nvSpPr>
          <p:cNvPr id="17" name="Shape 14">
            <a:extLst xmlns:a="http://schemas.openxmlformats.org/drawingml/2006/main">
              <a:ext uri="{FF2B5EF4-FFF2-40B4-BE49-F238E27FC236}">
                <a16:creationId xmlns:a16="http://schemas.microsoft.com/office/drawing/2014/main" id="{723BD6B0-DC50-4600-8CBE-0856D962C025}"/>
              </a:ext>
            </a:extLst>
          </p:cNvPr>
          <p:cNvSpPr>
            <a:spLocks xmlns:a="http://schemas.openxmlformats.org/drawingml/2006/main" noGrp="1"/>
          </p:cNvSpPr>
          <p:nvPr/>
        </p:nvSpPr>
        <p:spPr>
          <a:xfrm xmlns:a="http://schemas.openxmlformats.org/drawingml/2006/main">
            <a:off x="6355080" y="1481328"/>
            <a:ext cx="5330952" cy="4663440"/>
          </a:xfrm>
          <a:prstGeom xmlns:a="http://schemas.openxmlformats.org/drawingml/2006/main" prst="roundRect">
            <a:avLst>
              <a:gd name="adj" fmla="val 1373"/>
            </a:avLst>
          </a:prstGeom>
          <a:solidFill xmlns:a="http://schemas.openxmlformats.org/drawingml/2006/main">
            <a:srgbClr val="EEF3FB"/>
          </a:solidFill>
          <a:ln xmlns:a="http://schemas.openxmlformats.org/drawingml/2006/main" w="9525">
            <a:solidFill>
              <a:srgbClr val="D9E4F5"/>
            </a:solidFill>
            <a:prstDash val="solid"/>
          </a:ln>
        </p:spPr>
      </p:sp>
      <p:sp>
        <p:nvSpPr>
          <p:cNvPr id="18" name="Text 15">
            <a:extLst xmlns:a="http://schemas.openxmlformats.org/drawingml/2006/main">
              <a:ext uri="{FF2B5EF4-FFF2-40B4-BE49-F238E27FC236}">
                <a16:creationId xmlns:a16="http://schemas.microsoft.com/office/drawing/2014/main" id="{F8FAFE77-4812-45A0-BE13-8F216AE2C378}"/>
              </a:ext>
            </a:extLst>
          </p:cNvPr>
          <p:cNvSpPr>
            <a:spLocks xmlns:a="http://schemas.openxmlformats.org/drawingml/2006/main" noGrp="1"/>
          </p:cNvSpPr>
          <p:nvPr/>
        </p:nvSpPr>
        <p:spPr>
          <a:xfrm xmlns:a="http://schemas.openxmlformats.org/drawingml/2006/main">
            <a:off x="6556248" y="1645920"/>
            <a:ext cx="492861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D2A5C"/>
                </a:solidFill>
                <a:latin typeface="Calibri"/>
                <a:ea typeface="Calibri"/>
                <a:cs typeface="Calibri"/>
              </a:rPr>
              <a:t>One error envelope</a:t>
            </a:r>
            <a:endParaRPr sz="1300"/>
          </a:p>
        </p:txBody>
      </p:sp>
      <p:sp>
        <p:nvSpPr>
          <p:cNvPr id="19" name="Shape 16">
            <a:extLst xmlns:a="http://schemas.openxmlformats.org/drawingml/2006/main">
              <a:ext uri="{FF2B5EF4-FFF2-40B4-BE49-F238E27FC236}">
                <a16:creationId xmlns:a16="http://schemas.microsoft.com/office/drawing/2014/main" id="{152FB67F-1C11-45E4-8DE2-29F99553DB6E}"/>
              </a:ext>
            </a:extLst>
          </p:cNvPr>
          <p:cNvSpPr>
            <a:spLocks xmlns:a="http://schemas.openxmlformats.org/drawingml/2006/main" noGrp="1"/>
          </p:cNvSpPr>
          <p:nvPr/>
        </p:nvSpPr>
        <p:spPr>
          <a:xfrm xmlns:a="http://schemas.openxmlformats.org/drawingml/2006/main" rot="2700000">
            <a:off x="6556248" y="2130552"/>
            <a:ext cx="128016" cy="128016"/>
          </a:xfrm>
          <a:prstGeom xmlns:a="http://schemas.openxmlformats.org/drawingml/2006/main" prst="rect">
            <a:avLst/>
          </a:prstGeom>
          <a:solidFill xmlns:a="http://schemas.openxmlformats.org/drawingml/2006/main">
            <a:srgbClr val="00A79D"/>
          </a:solidFill>
        </p:spPr>
      </p:sp>
      <p:sp>
        <p:nvSpPr>
          <p:cNvPr id="20" name="Text 17">
            <a:extLst xmlns:a="http://schemas.openxmlformats.org/drawingml/2006/main">
              <a:ext uri="{FF2B5EF4-FFF2-40B4-BE49-F238E27FC236}">
                <a16:creationId xmlns:a16="http://schemas.microsoft.com/office/drawing/2014/main" id="{52D64CCA-E75B-4F7F-BE48-B7B4160A4369}"/>
              </a:ext>
            </a:extLst>
          </p:cNvPr>
          <p:cNvSpPr>
            <a:spLocks xmlns:a="http://schemas.openxmlformats.org/drawingml/2006/main" noGrp="1"/>
          </p:cNvSpPr>
          <p:nvPr/>
        </p:nvSpPr>
        <p:spPr>
          <a:xfrm xmlns:a="http://schemas.openxmlformats.org/drawingml/2006/main">
            <a:off x="6812280" y="2039112"/>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{"error": {code, message, trace_id}}</a:t>
            </a:r>
            <a:endParaRPr sz="1100"/>
          </a:p>
        </p:txBody>
      </p:sp>
      <p:sp>
        <p:nvSpPr>
          <p:cNvPr id="21" name="Text 18">
            <a:extLst xmlns:a="http://schemas.openxmlformats.org/drawingml/2006/main">
              <a:ext uri="{FF2B5EF4-FFF2-40B4-BE49-F238E27FC236}">
                <a16:creationId xmlns:a16="http://schemas.microsoft.com/office/drawing/2014/main" id="{C48C3A46-A3A7-4EC5-B801-A51310D69664}"/>
              </a:ext>
            </a:extLst>
          </p:cNvPr>
          <p:cNvSpPr>
            <a:spLocks xmlns:a="http://schemas.openxmlformats.org/drawingml/2006/main" noGrp="1"/>
          </p:cNvSpPr>
          <p:nvPr/>
        </p:nvSpPr>
        <p:spPr>
          <a:xfrm xmlns:a="http://schemas.openxmlformats.org/drawingml/2006/main">
            <a:off x="6812280" y="2304288"/>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One shape everywhere</a:t>
            </a:r>
            <a:endParaRPr sz="950"/>
          </a:p>
        </p:txBody>
      </p:sp>
      <p:sp>
        <p:nvSpPr>
          <p:cNvPr id="22" name="Shape 19">
            <a:extLst xmlns:a="http://schemas.openxmlformats.org/drawingml/2006/main">
              <a:ext uri="{FF2B5EF4-FFF2-40B4-BE49-F238E27FC236}">
                <a16:creationId xmlns:a16="http://schemas.microsoft.com/office/drawing/2014/main" id="{789AE459-351D-469A-92CE-437438521B7B}"/>
              </a:ext>
            </a:extLst>
          </p:cNvPr>
          <p:cNvSpPr>
            <a:spLocks xmlns:a="http://schemas.openxmlformats.org/drawingml/2006/main" noGrp="1"/>
          </p:cNvSpPr>
          <p:nvPr/>
        </p:nvSpPr>
        <p:spPr>
          <a:xfrm xmlns:a="http://schemas.openxmlformats.org/drawingml/2006/main" rot="2700000">
            <a:off x="6556248" y="3113532"/>
            <a:ext cx="128016" cy="128016"/>
          </a:xfrm>
          <a:prstGeom xmlns:a="http://schemas.openxmlformats.org/drawingml/2006/main" prst="rect">
            <a:avLst/>
          </a:prstGeom>
          <a:solidFill xmlns:a="http://schemas.openxmlformats.org/drawingml/2006/main">
            <a:srgbClr val="29ABE2"/>
          </a:solidFill>
        </p:spPr>
      </p:sp>
      <p:sp>
        <p:nvSpPr>
          <p:cNvPr id="23" name="Text 20">
            <a:extLst xmlns:a="http://schemas.openxmlformats.org/drawingml/2006/main">
              <a:ext uri="{FF2B5EF4-FFF2-40B4-BE49-F238E27FC236}">
                <a16:creationId xmlns:a16="http://schemas.microsoft.com/office/drawing/2014/main" id="{D4AF11CA-5DE2-413E-AD2C-C2D6315EAEC6}"/>
              </a:ext>
            </a:extLst>
          </p:cNvPr>
          <p:cNvSpPr>
            <a:spLocks xmlns:a="http://schemas.openxmlformats.org/drawingml/2006/main" noGrp="1"/>
          </p:cNvSpPr>
          <p:nvPr/>
        </p:nvSpPr>
        <p:spPr>
          <a:xfrm xmlns:a="http://schemas.openxmlformats.org/drawingml/2006/main">
            <a:off x="6812280" y="3022092"/>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code = machine contract</a:t>
            </a:r>
            <a:endParaRPr sz="1100"/>
          </a:p>
        </p:txBody>
      </p:sp>
      <p:sp>
        <p:nvSpPr>
          <p:cNvPr id="24" name="Text 21">
            <a:extLst xmlns:a="http://schemas.openxmlformats.org/drawingml/2006/main">
              <a:ext uri="{FF2B5EF4-FFF2-40B4-BE49-F238E27FC236}">
                <a16:creationId xmlns:a16="http://schemas.microsoft.com/office/drawing/2014/main" id="{27EF412C-27A5-4622-B4E6-AADB977700AA}"/>
              </a:ext>
            </a:extLst>
          </p:cNvPr>
          <p:cNvSpPr>
            <a:spLocks xmlns:a="http://schemas.openxmlformats.org/drawingml/2006/main" noGrp="1"/>
          </p:cNvSpPr>
          <p:nvPr/>
        </p:nvSpPr>
        <p:spPr>
          <a:xfrm xmlns:a="http://schemas.openxmlformats.org/drawingml/2006/main">
            <a:off x="6812280" y="3287268"/>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Stable; consumers switch on it</a:t>
            </a:r>
            <a:endParaRPr sz="950"/>
          </a:p>
        </p:txBody>
      </p:sp>
      <p:sp>
        <p:nvSpPr>
          <p:cNvPr id="25" name="Shape 22">
            <a:extLst xmlns:a="http://schemas.openxmlformats.org/drawingml/2006/main">
              <a:ext uri="{FF2B5EF4-FFF2-40B4-BE49-F238E27FC236}">
                <a16:creationId xmlns:a16="http://schemas.microsoft.com/office/drawing/2014/main" id="{63F7516A-EDFA-4DDE-B36A-FBB373C60332}"/>
              </a:ext>
            </a:extLst>
          </p:cNvPr>
          <p:cNvSpPr>
            <a:spLocks xmlns:a="http://schemas.openxmlformats.org/drawingml/2006/main" noGrp="1"/>
          </p:cNvSpPr>
          <p:nvPr/>
        </p:nvSpPr>
        <p:spPr>
          <a:xfrm xmlns:a="http://schemas.openxmlformats.org/drawingml/2006/main" rot="2700000">
            <a:off x="6556248" y="4096512"/>
            <a:ext cx="128016" cy="128016"/>
          </a:xfrm>
          <a:prstGeom xmlns:a="http://schemas.openxmlformats.org/drawingml/2006/main" prst="rect">
            <a:avLst/>
          </a:prstGeom>
          <a:solidFill xmlns:a="http://schemas.openxmlformats.org/drawingml/2006/main">
            <a:srgbClr val="F58220"/>
          </a:solidFill>
        </p:spPr>
      </p:sp>
      <p:sp>
        <p:nvSpPr>
          <p:cNvPr id="26" name="Text 23">
            <a:extLst xmlns:a="http://schemas.openxmlformats.org/drawingml/2006/main">
              <a:ext uri="{FF2B5EF4-FFF2-40B4-BE49-F238E27FC236}">
                <a16:creationId xmlns:a16="http://schemas.microsoft.com/office/drawing/2014/main" id="{99C76E2B-EE86-4B47-9157-EBA5ACBB221E}"/>
              </a:ext>
            </a:extLst>
          </p:cNvPr>
          <p:cNvSpPr>
            <a:spLocks xmlns:a="http://schemas.openxmlformats.org/drawingml/2006/main" noGrp="1"/>
          </p:cNvSpPr>
          <p:nvPr/>
        </p:nvSpPr>
        <p:spPr>
          <a:xfrm xmlns:a="http://schemas.openxmlformats.org/drawingml/2006/main">
            <a:off x="6812280" y="4005072"/>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message = for humans</a:t>
            </a:r>
            <a:endParaRPr sz="1100"/>
          </a:p>
        </p:txBody>
      </p:sp>
      <p:sp>
        <p:nvSpPr>
          <p:cNvPr id="27" name="Text 24">
            <a:extLst xmlns:a="http://schemas.openxmlformats.org/drawingml/2006/main">
              <a:ext uri="{FF2B5EF4-FFF2-40B4-BE49-F238E27FC236}">
                <a16:creationId xmlns:a16="http://schemas.microsoft.com/office/drawing/2014/main" id="{AA0A5DE7-0262-47E6-A3FB-381AE581291E}"/>
              </a:ext>
            </a:extLst>
          </p:cNvPr>
          <p:cNvSpPr>
            <a:spLocks xmlns:a="http://schemas.openxmlformats.org/drawingml/2006/main" noGrp="1"/>
          </p:cNvSpPr>
          <p:nvPr/>
        </p:nvSpPr>
        <p:spPr>
          <a:xfrm xmlns:a="http://schemas.openxmlformats.org/drawingml/2006/main">
            <a:off x="6812280" y="4270248"/>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May change without notice</a:t>
            </a:r>
            <a:endParaRPr sz="950"/>
          </a:p>
        </p:txBody>
      </p:sp>
      <p:sp>
        <p:nvSpPr>
          <p:cNvPr id="28" name="Shape 25">
            <a:extLst xmlns:a="http://schemas.openxmlformats.org/drawingml/2006/main">
              <a:ext uri="{FF2B5EF4-FFF2-40B4-BE49-F238E27FC236}">
                <a16:creationId xmlns:a16="http://schemas.microsoft.com/office/drawing/2014/main" id="{775F8F7D-C18B-420B-8986-33B9547B1B4F}"/>
              </a:ext>
            </a:extLst>
          </p:cNvPr>
          <p:cNvSpPr>
            <a:spLocks xmlns:a="http://schemas.openxmlformats.org/drawingml/2006/main" noGrp="1"/>
          </p:cNvSpPr>
          <p:nvPr/>
        </p:nvSpPr>
        <p:spPr>
          <a:xfrm xmlns:a="http://schemas.openxmlformats.org/drawingml/2006/main" rot="2700000">
            <a:off x="6556248" y="5079492"/>
            <a:ext cx="128016" cy="128016"/>
          </a:xfrm>
          <a:prstGeom xmlns:a="http://schemas.openxmlformats.org/drawingml/2006/main" prst="rect">
            <a:avLst/>
          </a:prstGeom>
          <a:solidFill xmlns:a="http://schemas.openxmlformats.org/drawingml/2006/main">
            <a:srgbClr val="8DC63F"/>
          </a:solidFill>
        </p:spPr>
      </p:sp>
      <p:sp>
        <p:nvSpPr>
          <p:cNvPr id="29" name="Text 26">
            <a:extLst xmlns:a="http://schemas.openxmlformats.org/drawingml/2006/main">
              <a:ext uri="{FF2B5EF4-FFF2-40B4-BE49-F238E27FC236}">
                <a16:creationId xmlns:a16="http://schemas.microsoft.com/office/drawing/2014/main" id="{7FF46800-A357-429D-9073-0C34A9803EC5}"/>
              </a:ext>
            </a:extLst>
          </p:cNvPr>
          <p:cNvSpPr>
            <a:spLocks xmlns:a="http://schemas.openxmlformats.org/drawingml/2006/main" noGrp="1"/>
          </p:cNvSpPr>
          <p:nvPr/>
        </p:nvSpPr>
        <p:spPr>
          <a:xfrm xmlns:a="http://schemas.openxmlformats.org/drawingml/2006/main">
            <a:off x="6812280" y="4988052"/>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One handler, not five</a:t>
            </a:r>
            <a:endParaRPr sz="1100"/>
          </a:p>
        </p:txBody>
      </p:sp>
      <p:sp>
        <p:nvSpPr>
          <p:cNvPr id="30" name="Text 27">
            <a:extLst xmlns:a="http://schemas.openxmlformats.org/drawingml/2006/main">
              <a:ext uri="{FF2B5EF4-FFF2-40B4-BE49-F238E27FC236}">
                <a16:creationId xmlns:a16="http://schemas.microsoft.com/office/drawing/2014/main" id="{7152CE8C-97EF-445D-A15E-98B2EE5CBB27}"/>
              </a:ext>
            </a:extLst>
          </p:cNvPr>
          <p:cNvSpPr>
            <a:spLocks xmlns:a="http://schemas.openxmlformats.org/drawingml/2006/main" noGrp="1"/>
          </p:cNvSpPr>
          <p:nvPr/>
        </p:nvSpPr>
        <p:spPr>
          <a:xfrm xmlns:a="http://schemas.openxmlformats.org/drawingml/2006/main">
            <a:off x="6812280" y="5253228"/>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Consumers write a single error handler</a:t>
            </a:r>
            <a:endParaRPr sz="950"/>
          </a:p>
        </p:txBody>
      </p:sp>
    </p:spTree>
    <p:extLst>
      <p:ext uri="{BB962C8B-B14F-4D97-AF65-F5344CB8AC3E}">
        <p14:creationId xmlns:p14="http://schemas.microsoft.com/office/powerpoint/2010/main" val="529155229"/>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60E4F75-A691-4F6B-8A4B-2D5C2B713D6B}"/>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Status-Code Discipline</a:t>
            </a:r>
            <a:endParaRPr sz="2600"/>
          </a:p>
        </p:txBody>
      </p:sp>
      <p:sp>
        <p:nvSpPr>
          <p:cNvPr id="3" name="Text 1">
            <a:extLst xmlns:a="http://schemas.openxmlformats.org/drawingml/2006/main">
              <a:ext uri="{FF2B5EF4-FFF2-40B4-BE49-F238E27FC236}">
                <a16:creationId xmlns:a16="http://schemas.microsoft.com/office/drawing/2014/main" id="{30F21228-C017-43C6-9486-91ED9A758131}"/>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انضباط رموز الحالة</a:t>
            </a:r>
            <a:endParaRPr sz="1300"/>
          </a:p>
        </p:txBody>
      </p:sp>
      <p:pic>
        <p:nvPicPr>
          <p:cNvPr id="14" name="Image 0"/>
          <p:cNvPicPr>
            <a:picLocks xmlns:a="http://schemas.openxmlformats.org/drawingml/2006/main" noChangeAspect="1"/>
          </p:cNvPicPr>
          <p:nvPr/>
        </p:nvPicPr>
        <p:blipFill>
          <a:blip xmlns:r="http://schemas.openxmlformats.org/officeDocument/2006/relationships" xmlns:a="http://schemas.openxmlformats.org/drawingml/2006/main" r:embed="Rb123c45e0de64150"/>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9B39D893-0805-4085-93AA-A1E6540F7128}"/>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DE30B46C-8DD3-46BB-8414-EA5D1D13C4A5}"/>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2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C20A6CB4-7E95-4BD7-AC5D-EBDBCA1A1B2B}"/>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39</a:t>
            </a:r>
            <a:endParaRPr sz="850"/>
          </a:p>
        </p:txBody>
      </p:sp>
      <p:graphicFrame>
        <p:nvGraphicFramePr>
          <p:cNvPr id="18" name="Table 0"/>
          <p:cNvGraphicFramePr/>
          <p:nvPr/>
        </p:nvGraphicFramePr>
        <p:xfrm>
          <a:off xmlns:a="http://schemas.openxmlformats.org/drawingml/2006/main" x="502920" y="1554480"/>
          <a:ext xmlns:a="http://schemas.openxmlformats.org/drawingml/2006/main" cx="11183112" cy="914400"/>
        </p:xfrm>
        <a:graphic xmlns:a="http://schemas.openxmlformats.org/drawingml/2006/main">
          <a:graphicData uri="http://schemas.openxmlformats.org/drawingml/2006/table">
            <a:tbl>
              <a:tblPr/>
              <a:tblGrid>
                <a:gridCol w="3727704"/>
                <a:gridCol w="3727704"/>
                <a:gridCol w="3727704"/>
              </a:tblGrid>
              <a:tr h="384048">
                <a:tc>
                  <a:txBody>
                    <a:bodyPr/>
                    <a:lstStyle/>
                    <a:p>
                      <a:pPr marL="0" indent="0">
                        <a:buNone/>
                      </a:pPr>
                      <a:r>
                        <a:rPr sz="1100" b="1">
                          <a:solidFill>
                            <a:srgbClr val="FFFFFF"/>
                          </a:solidFill>
                          <a:latin typeface="Calibri"/>
                          <a:ea typeface="Calibri"/>
                          <a:cs typeface="Calibri"/>
                        </a:rPr>
                        <a:t>Situation</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c>
                  <a:txBody>
                    <a:bodyPr/>
                    <a:lstStyle/>
                    <a:p>
                      <a:pPr marL="0" indent="0">
                        <a:buNone/>
                      </a:pPr>
                      <a:r>
                        <a:rPr sz="1100" b="1">
                          <a:solidFill>
                            <a:srgbClr val="FFFFFF"/>
                          </a:solidFill>
                          <a:latin typeface="Calibri"/>
                          <a:ea typeface="Calibri"/>
                          <a:cs typeface="Calibri"/>
                        </a:rPr>
                        <a:t>Code</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c>
                  <a:txBody>
                    <a:bodyPr/>
                    <a:lstStyle/>
                    <a:p>
                      <a:pPr marL="0" indent="0">
                        <a:buNone/>
                      </a:pPr>
                      <a:r>
                        <a:rPr sz="1100" b="1">
                          <a:solidFill>
                            <a:srgbClr val="FFFFFF"/>
                          </a:solidFill>
                          <a:latin typeface="Calibri"/>
                          <a:ea typeface="Calibri"/>
                          <a:cs typeface="Calibri"/>
                        </a:rPr>
                        <a:t>Body</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r>
              <a:tr h="384048">
                <a:tc>
                  <a:txBody>
                    <a:bodyPr/>
                    <a:lstStyle/>
                    <a:p>
                      <a:pPr marL="0" indent="0">
                        <a:buNone/>
                      </a:pPr>
                      <a:r>
                        <a:rPr sz="1050" b="1">
                          <a:solidFill>
                            <a:srgbClr val="1D2A5C"/>
                          </a:solidFill>
                          <a:latin typeface="Calibri"/>
                          <a:ea typeface="Calibri"/>
                          <a:cs typeface="Calibri"/>
                        </a:rPr>
                        <a:t>Valid request, scored</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200</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Prediction envelope</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r>
              <a:tr h="384048">
                <a:tc>
                  <a:txBody>
                    <a:bodyPr/>
                    <a:lstStyle/>
                    <a:p>
                      <a:pPr marL="0" indent="0">
                        <a:buNone/>
                      </a:pPr>
                      <a:r>
                        <a:rPr sz="1050" b="1">
                          <a:solidFill>
                            <a:srgbClr val="1D2A5C"/>
                          </a:solidFill>
                          <a:latin typeface="Calibri"/>
                          <a:ea typeface="Calibri"/>
                          <a:cs typeface="Calibri"/>
                        </a:rPr>
                        <a:t>Malformed JSON / schema violation</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422 (FastAPI default)</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Field-level errors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r>
              <a:tr h="384048">
                <a:tc>
                  <a:txBody>
                    <a:bodyPr/>
                    <a:lstStyle/>
                    <a:p>
                      <a:pPr marL="0" indent="0">
                        <a:buNone/>
                      </a:pPr>
                      <a:r>
                        <a:rPr sz="1050" b="1">
                          <a:solidFill>
                            <a:srgbClr val="1D2A5C"/>
                          </a:solidFill>
                          <a:latin typeface="Calibri"/>
                          <a:ea typeface="Calibri"/>
                          <a:cs typeface="Calibri"/>
                        </a:rPr>
                        <a:t>Semantically invalid (unsupported currency)</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400</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Error envelope with code</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r>
              <a:tr h="384048">
                <a:tc>
                  <a:txBody>
                    <a:bodyPr/>
                    <a:lstStyle/>
                    <a:p>
                      <a:pPr marL="0" indent="0">
                        <a:buNone/>
                      </a:pPr>
                      <a:r>
                        <a:rPr sz="1050" b="1">
                          <a:solidFill>
                            <a:srgbClr val="1D2A5C"/>
                          </a:solidFill>
                          <a:latin typeface="Calibri"/>
                          <a:ea typeface="Calibri"/>
                          <a:cs typeface="Calibri"/>
                        </a:rPr>
                        <a:t>Model not loaded / dependency down</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503 + Retry-After</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Error envelope</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r>
              <a:tr h="384048">
                <a:tc>
                  <a:txBody>
                    <a:bodyPr/>
                    <a:lstStyle/>
                    <a:p>
                      <a:pPr marL="0" indent="0">
                        <a:buNone/>
                      </a:pPr>
                      <a:r>
                        <a:rPr sz="1050" b="1">
                          <a:solidFill>
                            <a:srgbClr val="1D2A5C"/>
                          </a:solidFill>
                          <a:latin typeface="Calibri"/>
                          <a:ea typeface="Calibri"/>
                          <a:cs typeface="Calibri"/>
                        </a:rPr>
                        <a:t>Inference exception</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500 — never leak stack trace</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Error envelope with trace_id</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r>
              <a:tr h="384048">
                <a:tc>
                  <a:txBody>
                    <a:bodyPr/>
                    <a:lstStyle/>
                    <a:p>
                      <a:pPr marL="0" indent="0">
                        <a:buNone/>
                      </a:pPr>
                      <a:r>
                        <a:rPr sz="1050" b="1">
                          <a:solidFill>
                            <a:srgbClr val="1D2A5C"/>
                          </a:solidFill>
                          <a:latin typeface="Calibri"/>
                          <a:ea typeface="Calibri"/>
                          <a:cs typeface="Calibri"/>
                        </a:rPr>
                        <a:t>Too many items in batch</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413</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Error envelope</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r>
            </a:tbl>
          </a:graphicData>
        </a:graphic>
      </p:graphicFrame>
      <p:sp>
        <p:nvSpPr>
          <p:cNvPr id="9" name="Text 5">
            <a:extLst xmlns:a="http://schemas.openxmlformats.org/drawingml/2006/main">
              <a:ext uri="{FF2B5EF4-FFF2-40B4-BE49-F238E27FC236}">
                <a16:creationId xmlns:a16="http://schemas.microsoft.com/office/drawing/2014/main" id="{29EEC1C1-A057-4492-8D51-8B96B2E37DAE}"/>
              </a:ext>
            </a:extLst>
          </p:cNvPr>
          <p:cNvSpPr>
            <a:spLocks xmlns:a="http://schemas.openxmlformats.org/drawingml/2006/main" noGrp="1"/>
          </p:cNvSpPr>
          <p:nvPr/>
        </p:nvSpPr>
        <p:spPr>
          <a:xfrm xmlns:a="http://schemas.openxmlformats.org/drawingml/2006/main">
            <a:off x="502920" y="6035040"/>
            <a:ext cx="11155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5F6B7A"/>
                </a:solidFill>
                <a:latin typeface="Calibri"/>
                <a:ea typeface="Calibri"/>
                <a:cs typeface="Calibri"/>
              </a:rPr>
              <a:t>Participants memorise this table — it comes back in the mini-exercise quiz and Lab 2 Part A.</a:t>
            </a:r>
            <a:endParaRPr sz="950"/>
          </a:p>
        </p:txBody>
      </p:sp>
    </p:spTree>
    <p:extLst>
      <p:ext uri="{BB962C8B-B14F-4D97-AF65-F5344CB8AC3E}">
        <p14:creationId xmlns:p14="http://schemas.microsoft.com/office/powerpoint/2010/main" val="465497827"/>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117DFD5-B167-49AD-97BD-A0727276C3C5}"/>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pydantic v2 as the API Firewall</a:t>
            </a:r>
            <a:endParaRPr sz="2600"/>
          </a:p>
        </p:txBody>
      </p:sp>
      <p:sp>
        <p:nvSpPr>
          <p:cNvPr id="3" name="Text 1">
            <a:extLst xmlns:a="http://schemas.openxmlformats.org/drawingml/2006/main">
              <a:ext uri="{FF2B5EF4-FFF2-40B4-BE49-F238E27FC236}">
                <a16:creationId xmlns:a16="http://schemas.microsoft.com/office/drawing/2014/main" id="{43950BED-F69E-42E2-ACAD-827D1598276C}"/>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pydantic كجدار حماية للواجهة</a:t>
            </a:r>
            <a:endParaRPr sz="1300"/>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09302364a28245fd"/>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79ED4C3A-841E-489F-835B-675539C3B7E2}"/>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B013E5EA-441C-4FE0-9589-F536478CE9B6}"/>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2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87C02DDF-77D4-4AFB-8F4B-FBCB820F9855}"/>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40</a:t>
            </a:r>
            <a:endParaRPr sz="850"/>
          </a:p>
        </p:txBody>
      </p:sp>
      <p:sp>
        <p:nvSpPr>
          <p:cNvPr id="8" name="Shape 5">
            <a:extLst xmlns:a="http://schemas.openxmlformats.org/drawingml/2006/main">
              <a:ext uri="{FF2B5EF4-FFF2-40B4-BE49-F238E27FC236}">
                <a16:creationId xmlns:a16="http://schemas.microsoft.com/office/drawing/2014/main" id="{280A3C1E-8D0D-4C8D-AA22-574908F0EA90}"/>
              </a:ext>
            </a:extLst>
          </p:cNvPr>
          <p:cNvSpPr>
            <a:spLocks xmlns:a="http://schemas.openxmlformats.org/drawingml/2006/main" noGrp="1"/>
          </p:cNvSpPr>
          <p:nvPr/>
        </p:nvSpPr>
        <p:spPr>
          <a:xfrm xmlns:a="http://schemas.openxmlformats.org/drawingml/2006/main">
            <a:off x="502920" y="1517904"/>
            <a:ext cx="5454396"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BA56ACAF-EFD6-40BF-8455-907C581F8F47}"/>
              </a:ext>
            </a:extLst>
          </p:cNvPr>
          <p:cNvSpPr>
            <a:spLocks xmlns:a="http://schemas.openxmlformats.org/drawingml/2006/main" noGrp="1"/>
          </p:cNvSpPr>
          <p:nvPr/>
        </p:nvSpPr>
        <p:spPr>
          <a:xfrm xmlns:a="http://schemas.openxmlformats.org/drawingml/2006/main">
            <a:off x="502920" y="1517904"/>
            <a:ext cx="82296" cy="2272284"/>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240CCBFC-3594-4903-8C33-DDB21FCB12F0}"/>
              </a:ext>
            </a:extLst>
          </p:cNvPr>
          <p:cNvSpPr>
            <a:spLocks xmlns:a="http://schemas.openxmlformats.org/drawingml/2006/main" noGrp="1"/>
          </p:cNvSpPr>
          <p:nvPr/>
        </p:nvSpPr>
        <p:spPr>
          <a:xfrm xmlns:a="http://schemas.openxmlformats.org/drawingml/2006/main">
            <a:off x="722376" y="1636776"/>
            <a:ext cx="501548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00A79D"/>
                </a:solidFill>
                <a:latin typeface="Calibri"/>
                <a:ea typeface="Calibri"/>
                <a:cs typeface="Calibri"/>
              </a:rPr>
              <a:t>VALIDATE IN</a:t>
            </a:r>
            <a:endParaRPr sz="900"/>
          </a:p>
        </p:txBody>
      </p:sp>
      <p:sp>
        <p:nvSpPr>
          <p:cNvPr id="11" name="Text 8">
            <a:extLst xmlns:a="http://schemas.openxmlformats.org/drawingml/2006/main">
              <a:ext uri="{FF2B5EF4-FFF2-40B4-BE49-F238E27FC236}">
                <a16:creationId xmlns:a16="http://schemas.microsoft.com/office/drawing/2014/main" id="{A0A55A49-5538-4835-A133-F32E26E7D283}"/>
              </a:ext>
            </a:extLst>
          </p:cNvPr>
          <p:cNvSpPr>
            <a:spLocks xmlns:a="http://schemas.openxmlformats.org/drawingml/2006/main" noGrp="1"/>
          </p:cNvSpPr>
          <p:nvPr/>
        </p:nvSpPr>
        <p:spPr>
          <a:xfrm xmlns:a="http://schemas.openxmlformats.org/drawingml/2006/main">
            <a:off x="722376" y="1883664"/>
            <a:ext cx="501548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Constrained types</a:t>
            </a:r>
            <a:endParaRPr sz="1250"/>
          </a:p>
        </p:txBody>
      </p:sp>
      <p:sp>
        <p:nvSpPr>
          <p:cNvPr id="12" name="Text 9">
            <a:extLst xmlns:a="http://schemas.openxmlformats.org/drawingml/2006/main">
              <a:ext uri="{FF2B5EF4-FFF2-40B4-BE49-F238E27FC236}">
                <a16:creationId xmlns:a16="http://schemas.microsoft.com/office/drawing/2014/main" id="{5CBEF118-1E7F-4094-9A2D-CBED356874F6}"/>
              </a:ext>
            </a:extLst>
          </p:cNvPr>
          <p:cNvSpPr>
            <a:spLocks xmlns:a="http://schemas.openxmlformats.org/drawingml/2006/main" noGrp="1"/>
          </p:cNvSpPr>
          <p:nvPr/>
        </p:nvSpPr>
        <p:spPr>
          <a:xfrm xmlns:a="http://schemas.openxmlformats.org/drawingml/2006/main">
            <a:off x="722376" y="2404872"/>
            <a:ext cx="5015484"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Field(gt=0), StrEnum, length limits reject garbage before it reaches the model. Most "model bugs" in production are actually unvalidated input.</a:t>
            </a:r>
            <a:endParaRPr sz="980"/>
          </a:p>
        </p:txBody>
      </p:sp>
      <p:sp>
        <p:nvSpPr>
          <p:cNvPr id="13" name="Shape 10">
            <a:extLst xmlns:a="http://schemas.openxmlformats.org/drawingml/2006/main">
              <a:ext uri="{FF2B5EF4-FFF2-40B4-BE49-F238E27FC236}">
                <a16:creationId xmlns:a16="http://schemas.microsoft.com/office/drawing/2014/main" id="{BC132CD6-18FA-4318-A472-36DA9F12CE12}"/>
              </a:ext>
            </a:extLst>
          </p:cNvPr>
          <p:cNvSpPr>
            <a:spLocks xmlns:a="http://schemas.openxmlformats.org/drawingml/2006/main" noGrp="1"/>
          </p:cNvSpPr>
          <p:nvPr/>
        </p:nvSpPr>
        <p:spPr>
          <a:xfrm xmlns:a="http://schemas.openxmlformats.org/drawingml/2006/main">
            <a:off x="6231636" y="1517904"/>
            <a:ext cx="5454396"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14" name="Shape 11">
            <a:extLst xmlns:a="http://schemas.openxmlformats.org/drawingml/2006/main">
              <a:ext uri="{FF2B5EF4-FFF2-40B4-BE49-F238E27FC236}">
                <a16:creationId xmlns:a16="http://schemas.microsoft.com/office/drawing/2014/main" id="{982C6BF0-767C-4CDA-ABC9-119279639B08}"/>
              </a:ext>
            </a:extLst>
          </p:cNvPr>
          <p:cNvSpPr>
            <a:spLocks xmlns:a="http://schemas.openxmlformats.org/drawingml/2006/main" noGrp="1"/>
          </p:cNvSpPr>
          <p:nvPr/>
        </p:nvSpPr>
        <p:spPr>
          <a:xfrm xmlns:a="http://schemas.openxmlformats.org/drawingml/2006/main">
            <a:off x="6231636" y="1517904"/>
            <a:ext cx="82296" cy="2272284"/>
          </a:xfrm>
          <a:prstGeom xmlns:a="http://schemas.openxmlformats.org/drawingml/2006/main" prst="rect">
            <a:avLst/>
          </a:prstGeom>
          <a:solidFill xmlns:a="http://schemas.openxmlformats.org/drawingml/2006/main">
            <a:srgbClr val="29ABE2"/>
          </a:solidFill>
        </p:spPr>
      </p:sp>
      <p:sp>
        <p:nvSpPr>
          <p:cNvPr id="15" name="Text 12">
            <a:extLst xmlns:a="http://schemas.openxmlformats.org/drawingml/2006/main">
              <a:ext uri="{FF2B5EF4-FFF2-40B4-BE49-F238E27FC236}">
                <a16:creationId xmlns:a16="http://schemas.microsoft.com/office/drawing/2014/main" id="{9E54B2D1-BE74-4F36-83C5-DD6A31F126FF}"/>
              </a:ext>
            </a:extLst>
          </p:cNvPr>
          <p:cNvSpPr>
            <a:spLocks xmlns:a="http://schemas.openxmlformats.org/drawingml/2006/main" noGrp="1"/>
          </p:cNvSpPr>
          <p:nvPr/>
        </p:nvSpPr>
        <p:spPr>
          <a:xfrm xmlns:a="http://schemas.openxmlformats.org/drawingml/2006/main">
            <a:off x="6451092" y="1636776"/>
            <a:ext cx="501548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29ABE2"/>
                </a:solidFill>
                <a:latin typeface="Calibri"/>
                <a:ea typeface="Calibri"/>
                <a:cs typeface="Calibri"/>
              </a:rPr>
              <a:t>REJECT LOUDLY</a:t>
            </a:r>
            <a:endParaRPr sz="900"/>
          </a:p>
        </p:txBody>
      </p:sp>
      <p:sp>
        <p:nvSpPr>
          <p:cNvPr id="16" name="Text 13">
            <a:extLst xmlns:a="http://schemas.openxmlformats.org/drawingml/2006/main">
              <a:ext uri="{FF2B5EF4-FFF2-40B4-BE49-F238E27FC236}">
                <a16:creationId xmlns:a16="http://schemas.microsoft.com/office/drawing/2014/main" id="{12F72AEF-7AEA-4D96-8621-B240C06E75E0}"/>
              </a:ext>
            </a:extLst>
          </p:cNvPr>
          <p:cNvSpPr>
            <a:spLocks xmlns:a="http://schemas.openxmlformats.org/drawingml/2006/main" noGrp="1"/>
          </p:cNvSpPr>
          <p:nvPr/>
        </p:nvSpPr>
        <p:spPr>
          <a:xfrm xmlns:a="http://schemas.openxmlformats.org/drawingml/2006/main">
            <a:off x="6451092" y="1883664"/>
            <a:ext cx="501548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extra="forbid"</a:t>
            </a:r>
            <a:endParaRPr sz="1250"/>
          </a:p>
        </p:txBody>
      </p:sp>
      <p:sp>
        <p:nvSpPr>
          <p:cNvPr id="17" name="Text 14">
            <a:extLst xmlns:a="http://schemas.openxmlformats.org/drawingml/2006/main">
              <a:ext uri="{FF2B5EF4-FFF2-40B4-BE49-F238E27FC236}">
                <a16:creationId xmlns:a16="http://schemas.microsoft.com/office/drawing/2014/main" id="{4A2A75E6-8776-4452-8E78-4FE7459766A9}"/>
              </a:ext>
            </a:extLst>
          </p:cNvPr>
          <p:cNvSpPr>
            <a:spLocks xmlns:a="http://schemas.openxmlformats.org/drawingml/2006/main" noGrp="1"/>
          </p:cNvSpPr>
          <p:nvPr/>
        </p:nvSpPr>
        <p:spPr>
          <a:xfrm xmlns:a="http://schemas.openxmlformats.org/drawingml/2006/main">
            <a:off x="6451092" y="2404872"/>
            <a:ext cx="5015484"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Unknown fields are typos or probing. True story: a client sent amount_sr instead of amount_sar for three weeks while the model quietly scored a default value.</a:t>
            </a:r>
            <a:endParaRPr sz="980"/>
          </a:p>
        </p:txBody>
      </p:sp>
      <p:sp>
        <p:nvSpPr>
          <p:cNvPr id="18" name="Shape 15">
            <a:extLst xmlns:a="http://schemas.openxmlformats.org/drawingml/2006/main">
              <a:ext uri="{FF2B5EF4-FFF2-40B4-BE49-F238E27FC236}">
                <a16:creationId xmlns:a16="http://schemas.microsoft.com/office/drawing/2014/main" id="{23CBDD5B-D9D1-4A88-8DDE-1E2A72424F15}"/>
              </a:ext>
            </a:extLst>
          </p:cNvPr>
          <p:cNvSpPr>
            <a:spLocks xmlns:a="http://schemas.openxmlformats.org/drawingml/2006/main" noGrp="1"/>
          </p:cNvSpPr>
          <p:nvPr/>
        </p:nvSpPr>
        <p:spPr>
          <a:xfrm xmlns:a="http://schemas.openxmlformats.org/drawingml/2006/main">
            <a:off x="502920" y="4046220"/>
            <a:ext cx="5454396"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19" name="Shape 16">
            <a:extLst xmlns:a="http://schemas.openxmlformats.org/drawingml/2006/main">
              <a:ext uri="{FF2B5EF4-FFF2-40B4-BE49-F238E27FC236}">
                <a16:creationId xmlns:a16="http://schemas.microsoft.com/office/drawing/2014/main" id="{60155E9C-3DCB-45DD-9B60-BD7B7DF4CB80}"/>
              </a:ext>
            </a:extLst>
          </p:cNvPr>
          <p:cNvSpPr>
            <a:spLocks xmlns:a="http://schemas.openxmlformats.org/drawingml/2006/main" noGrp="1"/>
          </p:cNvSpPr>
          <p:nvPr/>
        </p:nvSpPr>
        <p:spPr>
          <a:xfrm xmlns:a="http://schemas.openxmlformats.org/drawingml/2006/main">
            <a:off x="502920" y="4046220"/>
            <a:ext cx="82296" cy="2272284"/>
          </a:xfrm>
          <a:prstGeom xmlns:a="http://schemas.openxmlformats.org/drawingml/2006/main" prst="rect">
            <a:avLst/>
          </a:prstGeom>
          <a:solidFill xmlns:a="http://schemas.openxmlformats.org/drawingml/2006/main">
            <a:srgbClr val="F58220"/>
          </a:solidFill>
        </p:spPr>
      </p:sp>
      <p:sp>
        <p:nvSpPr>
          <p:cNvPr id="20" name="Text 17">
            <a:extLst xmlns:a="http://schemas.openxmlformats.org/drawingml/2006/main">
              <a:ext uri="{FF2B5EF4-FFF2-40B4-BE49-F238E27FC236}">
                <a16:creationId xmlns:a16="http://schemas.microsoft.com/office/drawing/2014/main" id="{A2C15EBF-C3F3-472B-80F9-DAFD27F38886}"/>
              </a:ext>
            </a:extLst>
          </p:cNvPr>
          <p:cNvSpPr>
            <a:spLocks xmlns:a="http://schemas.openxmlformats.org/drawingml/2006/main" noGrp="1"/>
          </p:cNvSpPr>
          <p:nvPr/>
        </p:nvSpPr>
        <p:spPr>
          <a:xfrm xmlns:a="http://schemas.openxmlformats.org/drawingml/2006/main">
            <a:off x="722376" y="4165092"/>
            <a:ext cx="501548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F58220"/>
                </a:solidFill>
                <a:latin typeface="Calibri"/>
                <a:ea typeface="Calibri"/>
                <a:cs typeface="Calibri"/>
              </a:rPr>
              <a:t>VALIDATE OUT</a:t>
            </a:r>
            <a:endParaRPr sz="900"/>
          </a:p>
        </p:txBody>
      </p:sp>
      <p:sp>
        <p:nvSpPr>
          <p:cNvPr id="21" name="Text 18">
            <a:extLst xmlns:a="http://schemas.openxmlformats.org/drawingml/2006/main">
              <a:ext uri="{FF2B5EF4-FFF2-40B4-BE49-F238E27FC236}">
                <a16:creationId xmlns:a16="http://schemas.microsoft.com/office/drawing/2014/main" id="{273A0975-2E5C-4FE1-9983-F7735610C2BE}"/>
              </a:ext>
            </a:extLst>
          </p:cNvPr>
          <p:cNvSpPr>
            <a:spLocks xmlns:a="http://schemas.openxmlformats.org/drawingml/2006/main" noGrp="1"/>
          </p:cNvSpPr>
          <p:nvPr/>
        </p:nvSpPr>
        <p:spPr>
          <a:xfrm xmlns:a="http://schemas.openxmlformats.org/drawingml/2006/main">
            <a:off x="722376" y="4411980"/>
            <a:ext cx="501548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Declared response models</a:t>
            </a:r>
            <a:endParaRPr sz="1250"/>
          </a:p>
        </p:txBody>
      </p:sp>
      <p:sp>
        <p:nvSpPr>
          <p:cNvPr id="22" name="Text 19">
            <a:extLst xmlns:a="http://schemas.openxmlformats.org/drawingml/2006/main">
              <a:ext uri="{FF2B5EF4-FFF2-40B4-BE49-F238E27FC236}">
                <a16:creationId xmlns:a16="http://schemas.microsoft.com/office/drawing/2014/main" id="{EBF013E6-E561-41CC-93B5-F14EEC2E8E02}"/>
              </a:ext>
            </a:extLst>
          </p:cNvPr>
          <p:cNvSpPr>
            <a:spLocks xmlns:a="http://schemas.openxmlformats.org/drawingml/2006/main" noGrp="1"/>
          </p:cNvSpPr>
          <p:nvPr/>
        </p:nvSpPr>
        <p:spPr>
          <a:xfrm xmlns:a="http://schemas.openxmlformats.org/drawingml/2006/main">
            <a:off x="722376" y="4933188"/>
            <a:ext cx="5015484"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response_model=PredictResponse guarantees you never leak internal fields — raw feature values, file paths — and freezes the contract consumers depend on.</a:t>
            </a:r>
            <a:endParaRPr sz="980"/>
          </a:p>
        </p:txBody>
      </p:sp>
      <p:sp>
        <p:nvSpPr>
          <p:cNvPr id="23" name="Shape 20">
            <a:extLst xmlns:a="http://schemas.openxmlformats.org/drawingml/2006/main">
              <a:ext uri="{FF2B5EF4-FFF2-40B4-BE49-F238E27FC236}">
                <a16:creationId xmlns:a16="http://schemas.microsoft.com/office/drawing/2014/main" id="{CAD7F71E-BDE4-4F14-8008-8D1F8A7D9D62}"/>
              </a:ext>
            </a:extLst>
          </p:cNvPr>
          <p:cNvSpPr>
            <a:spLocks xmlns:a="http://schemas.openxmlformats.org/drawingml/2006/main" noGrp="1"/>
          </p:cNvSpPr>
          <p:nvPr/>
        </p:nvSpPr>
        <p:spPr>
          <a:xfrm xmlns:a="http://schemas.openxmlformats.org/drawingml/2006/main">
            <a:off x="6231636" y="4046220"/>
            <a:ext cx="5454396"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24" name="Shape 21">
            <a:extLst xmlns:a="http://schemas.openxmlformats.org/drawingml/2006/main">
              <a:ext uri="{FF2B5EF4-FFF2-40B4-BE49-F238E27FC236}">
                <a16:creationId xmlns:a16="http://schemas.microsoft.com/office/drawing/2014/main" id="{1DD4D8EF-3F5E-43D1-9606-8F5641AB63DD}"/>
              </a:ext>
            </a:extLst>
          </p:cNvPr>
          <p:cNvSpPr>
            <a:spLocks xmlns:a="http://schemas.openxmlformats.org/drawingml/2006/main" noGrp="1"/>
          </p:cNvSpPr>
          <p:nvPr/>
        </p:nvSpPr>
        <p:spPr>
          <a:xfrm xmlns:a="http://schemas.openxmlformats.org/drawingml/2006/main">
            <a:off x="6231636" y="4046220"/>
            <a:ext cx="82296" cy="2272284"/>
          </a:xfrm>
          <a:prstGeom xmlns:a="http://schemas.openxmlformats.org/drawingml/2006/main" prst="rect">
            <a:avLst/>
          </a:prstGeom>
          <a:solidFill xmlns:a="http://schemas.openxmlformats.org/drawingml/2006/main">
            <a:srgbClr val="8DC63F"/>
          </a:solidFill>
        </p:spPr>
      </p:sp>
      <p:sp>
        <p:nvSpPr>
          <p:cNvPr id="25" name="Text 22">
            <a:extLst xmlns:a="http://schemas.openxmlformats.org/drawingml/2006/main">
              <a:ext uri="{FF2B5EF4-FFF2-40B4-BE49-F238E27FC236}">
                <a16:creationId xmlns:a16="http://schemas.microsoft.com/office/drawing/2014/main" id="{8087380E-4701-4CC8-9B8C-31E04402F945}"/>
              </a:ext>
            </a:extLst>
          </p:cNvPr>
          <p:cNvSpPr>
            <a:spLocks xmlns:a="http://schemas.openxmlformats.org/drawingml/2006/main" noGrp="1"/>
          </p:cNvSpPr>
          <p:nvPr/>
        </p:nvSpPr>
        <p:spPr>
          <a:xfrm xmlns:a="http://schemas.openxmlformats.org/drawingml/2006/main">
            <a:off x="6451092" y="4165092"/>
            <a:ext cx="501548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8DC63F"/>
                </a:solidFill>
                <a:latin typeface="Calibri"/>
                <a:ea typeface="Calibri"/>
                <a:cs typeface="Calibri"/>
              </a:rPr>
              <a:t>MODULE 1 RULE</a:t>
            </a:r>
            <a:endParaRPr sz="900"/>
          </a:p>
        </p:txBody>
      </p:sp>
      <p:sp>
        <p:nvSpPr>
          <p:cNvPr id="26" name="Text 23">
            <a:extLst xmlns:a="http://schemas.openxmlformats.org/drawingml/2006/main">
              <a:ext uri="{FF2B5EF4-FFF2-40B4-BE49-F238E27FC236}">
                <a16:creationId xmlns:a16="http://schemas.microsoft.com/office/drawing/2014/main" id="{A5E74C52-C95A-4C08-A5F8-9C75A8A6754A}"/>
              </a:ext>
            </a:extLst>
          </p:cNvPr>
          <p:cNvSpPr>
            <a:spLocks xmlns:a="http://schemas.openxmlformats.org/drawingml/2006/main" noGrp="1"/>
          </p:cNvSpPr>
          <p:nvPr/>
        </p:nvSpPr>
        <p:spPr>
          <a:xfrm xmlns:a="http://schemas.openxmlformats.org/drawingml/2006/main">
            <a:off x="6451092" y="4411980"/>
            <a:ext cx="501548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Schemas ≠ domain entities</a:t>
            </a:r>
            <a:endParaRPr sz="1250"/>
          </a:p>
        </p:txBody>
      </p:sp>
      <p:sp>
        <p:nvSpPr>
          <p:cNvPr id="27" name="Text 24">
            <a:extLst xmlns:a="http://schemas.openxmlformats.org/drawingml/2006/main">
              <a:ext uri="{FF2B5EF4-FFF2-40B4-BE49-F238E27FC236}">
                <a16:creationId xmlns:a16="http://schemas.microsoft.com/office/drawing/2014/main" id="{028E183E-A76E-4283-B007-B908E46FEF30}"/>
              </a:ext>
            </a:extLst>
          </p:cNvPr>
          <p:cNvSpPr>
            <a:spLocks xmlns:a="http://schemas.openxmlformats.org/drawingml/2006/main" noGrp="1"/>
          </p:cNvSpPr>
          <p:nvPr/>
        </p:nvSpPr>
        <p:spPr>
          <a:xfrm xmlns:a="http://schemas.openxmlformats.org/drawingml/2006/main">
            <a:off x="6451092" y="4933188"/>
            <a:ext cx="5015484"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Schemas adapt the wire format; entities carry meaning. Conversion happens in the route — two lines, cheap, decoupling forever.</a:t>
            </a:r>
            <a:endParaRPr sz="980"/>
          </a:p>
        </p:txBody>
      </p:sp>
    </p:spTree>
    <p:extLst>
      <p:ext uri="{BB962C8B-B14F-4D97-AF65-F5344CB8AC3E}">
        <p14:creationId xmlns:p14="http://schemas.microsoft.com/office/powerpoint/2010/main" val="1879122407"/>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4068DDC-2451-4A23-8555-BCCFECD51A50}"/>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The Wire Contract — schemas.py</a:t>
            </a:r>
            <a:endParaRPr sz="2600"/>
          </a:p>
        </p:txBody>
      </p:sp>
      <p:sp>
        <p:nvSpPr>
          <p:cNvPr id="3" name="Text 1">
            <a:extLst xmlns:a="http://schemas.openxmlformats.org/drawingml/2006/main">
              <a:ext uri="{FF2B5EF4-FFF2-40B4-BE49-F238E27FC236}">
                <a16:creationId xmlns:a16="http://schemas.microsoft.com/office/drawing/2014/main" id="{2501FA9A-DB5E-48F6-A8F6-90C1D0FAF7CF}"/>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عقد النقل — schemas.py</a:t>
            </a:r>
            <a:endParaRPr sz="1300"/>
          </a:p>
        </p:txBody>
      </p:sp>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5af33164ce424472"/>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10CA537B-9A6D-4055-B51D-1C73308AD7B3}"/>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87B4A496-EB53-48E0-832D-F04F4D9FAC03}"/>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2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6E22A2F1-6EE9-41A6-A945-179448AFAD3A}"/>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41</a:t>
            </a:r>
            <a:endParaRPr sz="850"/>
          </a:p>
        </p:txBody>
      </p:sp>
      <p:sp>
        <p:nvSpPr>
          <p:cNvPr id="8" name="Shape 5">
            <a:extLst xmlns:a="http://schemas.openxmlformats.org/drawingml/2006/main">
              <a:ext uri="{FF2B5EF4-FFF2-40B4-BE49-F238E27FC236}">
                <a16:creationId xmlns:a16="http://schemas.microsoft.com/office/drawing/2014/main" id="{736C520A-D77D-49A1-802F-D147F815C467}"/>
              </a:ext>
            </a:extLst>
          </p:cNvPr>
          <p:cNvSpPr>
            <a:spLocks xmlns:a="http://schemas.openxmlformats.org/drawingml/2006/main" noGrp="1"/>
          </p:cNvSpPr>
          <p:nvPr/>
        </p:nvSpPr>
        <p:spPr>
          <a:xfrm xmlns:a="http://schemas.openxmlformats.org/drawingml/2006/main">
            <a:off x="502920" y="1481328"/>
            <a:ext cx="7635240" cy="4617720"/>
          </a:xfrm>
          <a:prstGeom xmlns:a="http://schemas.openxmlformats.org/drawingml/2006/main" prst="roundRect">
            <a:avLst>
              <a:gd name="adj" fmla="val 1584"/>
            </a:avLst>
          </a:prstGeom>
          <a:solidFill xmlns:a="http://schemas.openxmlformats.org/drawingml/2006/main">
            <a:srgbClr val="1A2233"/>
          </a:solidFill>
        </p:spPr>
      </p:sp>
      <p:sp>
        <p:nvSpPr>
          <p:cNvPr id="9" name="Shape 6">
            <a:extLst xmlns:a="http://schemas.openxmlformats.org/drawingml/2006/main">
              <a:ext uri="{FF2B5EF4-FFF2-40B4-BE49-F238E27FC236}">
                <a16:creationId xmlns:a16="http://schemas.microsoft.com/office/drawing/2014/main" id="{CC08AD81-212F-4FF2-B1EC-FA92B8F5640E}"/>
              </a:ext>
            </a:extLst>
          </p:cNvPr>
          <p:cNvSpPr>
            <a:spLocks xmlns:a="http://schemas.openxmlformats.org/drawingml/2006/main" noGrp="1"/>
          </p:cNvSpPr>
          <p:nvPr/>
        </p:nvSpPr>
        <p:spPr>
          <a:xfrm xmlns:a="http://schemas.openxmlformats.org/drawingml/2006/main">
            <a:off x="731520" y="1664208"/>
            <a:ext cx="109728" cy="109728"/>
          </a:xfrm>
          <a:prstGeom xmlns:a="http://schemas.openxmlformats.org/drawingml/2006/main" prst="ellipse">
            <a:avLst/>
          </a:prstGeom>
          <a:solidFill xmlns:a="http://schemas.openxmlformats.org/drawingml/2006/main">
            <a:srgbClr val="E8503A"/>
          </a:solidFill>
        </p:spPr>
      </p:sp>
      <p:sp>
        <p:nvSpPr>
          <p:cNvPr id="10" name="Shape 7">
            <a:extLst xmlns:a="http://schemas.openxmlformats.org/drawingml/2006/main">
              <a:ext uri="{FF2B5EF4-FFF2-40B4-BE49-F238E27FC236}">
                <a16:creationId xmlns:a16="http://schemas.microsoft.com/office/drawing/2014/main" id="{4F34612B-21F9-4446-8D00-3C633C8A61B4}"/>
              </a:ext>
            </a:extLst>
          </p:cNvPr>
          <p:cNvSpPr>
            <a:spLocks xmlns:a="http://schemas.openxmlformats.org/drawingml/2006/main" noGrp="1"/>
          </p:cNvSpPr>
          <p:nvPr/>
        </p:nvSpPr>
        <p:spPr>
          <a:xfrm xmlns:a="http://schemas.openxmlformats.org/drawingml/2006/main">
            <a:off x="932688" y="1664208"/>
            <a:ext cx="109728" cy="109728"/>
          </a:xfrm>
          <a:prstGeom xmlns:a="http://schemas.openxmlformats.org/drawingml/2006/main" prst="ellipse">
            <a:avLst/>
          </a:prstGeom>
          <a:solidFill xmlns:a="http://schemas.openxmlformats.org/drawingml/2006/main">
            <a:srgbClr val="F5B820"/>
          </a:solidFill>
        </p:spPr>
      </p:sp>
      <p:sp>
        <p:nvSpPr>
          <p:cNvPr id="11" name="Shape 8">
            <a:extLst xmlns:a="http://schemas.openxmlformats.org/drawingml/2006/main">
              <a:ext uri="{FF2B5EF4-FFF2-40B4-BE49-F238E27FC236}">
                <a16:creationId xmlns:a16="http://schemas.microsoft.com/office/drawing/2014/main" id="{83C5B691-8D4C-40B6-B3A0-9988AD8270BE}"/>
              </a:ext>
            </a:extLst>
          </p:cNvPr>
          <p:cNvSpPr>
            <a:spLocks xmlns:a="http://schemas.openxmlformats.org/drawingml/2006/main" noGrp="1"/>
          </p:cNvSpPr>
          <p:nvPr/>
        </p:nvSpPr>
        <p:spPr>
          <a:xfrm xmlns:a="http://schemas.openxmlformats.org/drawingml/2006/main">
            <a:off x="1133856" y="1664208"/>
            <a:ext cx="109728" cy="109728"/>
          </a:xfrm>
          <a:prstGeom xmlns:a="http://schemas.openxmlformats.org/drawingml/2006/main" prst="ellipse">
            <a:avLst/>
          </a:prstGeom>
          <a:solidFill xmlns:a="http://schemas.openxmlformats.org/drawingml/2006/main">
            <a:srgbClr val="8DC63F"/>
          </a:solidFill>
        </p:spPr>
      </p:sp>
      <p:sp>
        <p:nvSpPr>
          <p:cNvPr id="12" name="Text 9">
            <a:extLst xmlns:a="http://schemas.openxmlformats.org/drawingml/2006/main">
              <a:ext uri="{FF2B5EF4-FFF2-40B4-BE49-F238E27FC236}">
                <a16:creationId xmlns:a16="http://schemas.microsoft.com/office/drawing/2014/main" id="{603B6609-03EC-4541-A0DB-543F76A53160}"/>
              </a:ext>
            </a:extLst>
          </p:cNvPr>
          <p:cNvSpPr>
            <a:spLocks xmlns:a="http://schemas.openxmlformats.org/drawingml/2006/main" noGrp="1"/>
          </p:cNvSpPr>
          <p:nvPr/>
        </p:nvSpPr>
        <p:spPr>
          <a:xfrm xmlns:a="http://schemas.openxmlformats.org/drawingml/2006/main">
            <a:off x="4526280" y="1609344"/>
            <a:ext cx="32918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6C8"/>
                </a:solidFill>
                <a:latin typeface="Consolas"/>
                <a:ea typeface="Consolas"/>
                <a:cs typeface="Consolas"/>
              </a:rPr>
              <a:t>src/fraud_service/api/schemas.py</a:t>
            </a:r>
            <a:endParaRPr sz="900"/>
          </a:p>
        </p:txBody>
      </p:sp>
      <p:sp>
        <p:nvSpPr>
          <p:cNvPr id="13" name="Text 10">
            <a:extLst xmlns:a="http://schemas.openxmlformats.org/drawingml/2006/main">
              <a:ext uri="{FF2B5EF4-FFF2-40B4-BE49-F238E27FC236}">
                <a16:creationId xmlns:a16="http://schemas.microsoft.com/office/drawing/2014/main" id="{024A4386-0A23-4466-B52D-BCD2A46E931D}"/>
              </a:ext>
            </a:extLst>
          </p:cNvPr>
          <p:cNvSpPr>
            <a:spLocks xmlns:a="http://schemas.openxmlformats.org/drawingml/2006/main" noGrp="1"/>
          </p:cNvSpPr>
          <p:nvPr/>
        </p:nvSpPr>
        <p:spPr>
          <a:xfrm xmlns:a="http://schemas.openxmlformats.org/drawingml/2006/main">
            <a:off x="713232" y="1965960"/>
            <a:ext cx="717804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000">
                <a:solidFill>
                  <a:srgbClr val="D9E4F5"/>
                </a:solidFill>
                <a:latin typeface="Consolas"/>
                <a:ea typeface="Consolas"/>
                <a:cs typeface="Consolas"/>
              </a:rPr>
              <a:t>from pydantic import BaseModel, ConfigDict, Field</a:t>
            </a:r>
            <a:endParaRPr sz="1000"/>
          </a:p>
          <a:p xmlns:a="http://schemas.openxmlformats.org/drawingml/2006/main">
            <a:pPr marL="0" indent="0">
              <a:lnSpc>
                <a:spcPct val="112000"/>
              </a:lnSpc>
              <a:buNone/>
            </a:pPr>
            <a:r>
              <a:rPr sz="1000">
                <a:solidFill>
                  <a:srgbClr val="D9E4F5"/>
                </a:solidFill>
                <a:latin typeface="Consolas"/>
                <a:ea typeface="Consolas"/>
                <a:cs typeface="Consolas"/>
              </a:rPr>
              <a:t>from fraud_service.domain.entities import (</a:t>
            </a:r>
            <a:endParaRPr sz="1000"/>
          </a:p>
          <a:p xmlns:a="http://schemas.openxmlformats.org/drawingml/2006/main">
            <a:pPr marL="0" indent="0">
              <a:lnSpc>
                <a:spcPct val="112000"/>
              </a:lnSpc>
              <a:buNone/>
            </a:pPr>
            <a:r>
              <a:rPr sz="1000">
                <a:solidFill>
                  <a:srgbClr val="D9E4F5"/>
                </a:solidFill>
                <a:latin typeface="Consolas"/>
                <a:ea typeface="Consolas"/>
                <a:cs typeface="Consolas"/>
              </a:rPr>
              <a:t>    Channel, Decision, Transaction)</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class PredictRequest(BaseModel):</a:t>
            </a:r>
            <a:endParaRPr sz="1000"/>
          </a:p>
          <a:p xmlns:a="http://schemas.openxmlformats.org/drawingml/2006/main">
            <a:pPr marL="0" indent="0">
              <a:lnSpc>
                <a:spcPct val="112000"/>
              </a:lnSpc>
              <a:buNone/>
            </a:pPr>
            <a:r>
              <a:rPr sz="1000">
                <a:solidFill>
                  <a:srgbClr val="D9E4F5"/>
                </a:solidFill>
                <a:latin typeface="Consolas"/>
                <a:ea typeface="Consolas"/>
                <a:cs typeface="Consolas"/>
              </a:rPr>
              <a:t>    model_config = ConfigDict(extra="forbid")</a:t>
            </a:r>
            <a:endParaRPr sz="1000"/>
          </a:p>
          <a:p xmlns:a="http://schemas.openxmlformats.org/drawingml/2006/main">
            <a:pPr marL="0" indent="0">
              <a:lnSpc>
                <a:spcPct val="112000"/>
              </a:lnSpc>
              <a:buNone/>
            </a:pPr>
            <a:r>
              <a:rPr sz="1000">
                <a:solidFill>
                  <a:srgbClr val="D9E4F5"/>
                </a:solidFill>
                <a:latin typeface="Consolas"/>
                <a:ea typeface="Consolas"/>
                <a:cs typeface="Consolas"/>
              </a:rPr>
              <a:t>    transaction_id: str = Field(min_length=8, max_length=64)</a:t>
            </a:r>
            <a:endParaRPr sz="1000"/>
          </a:p>
          <a:p xmlns:a="http://schemas.openxmlformats.org/drawingml/2006/main">
            <a:pPr marL="0" indent="0">
              <a:lnSpc>
                <a:spcPct val="112000"/>
              </a:lnSpc>
              <a:buNone/>
            </a:pPr>
            <a:r>
              <a:rPr sz="1000">
                <a:solidFill>
                  <a:srgbClr val="D9E4F5"/>
                </a:solidFill>
                <a:latin typeface="Consolas"/>
                <a:ea typeface="Consolas"/>
                <a:cs typeface="Consolas"/>
              </a:rPr>
              <a:t>    amount_sar: float = Field(gt=0, le=1_000_000)</a:t>
            </a:r>
            <a:endParaRPr sz="1000"/>
          </a:p>
          <a:p xmlns:a="http://schemas.openxmlformats.org/drawingml/2006/main">
            <a:pPr marL="0" indent="0">
              <a:lnSpc>
                <a:spcPct val="112000"/>
              </a:lnSpc>
              <a:buNone/>
            </a:pPr>
            <a:r>
              <a:rPr sz="1000">
                <a:solidFill>
                  <a:srgbClr val="D9E4F5"/>
                </a:solidFill>
                <a:latin typeface="Consolas"/>
                <a:ea typeface="Consolas"/>
                <a:cs typeface="Consolas"/>
              </a:rPr>
              <a:t>    channel: Channel</a:t>
            </a:r>
            <a:endParaRPr sz="1000"/>
          </a:p>
          <a:p xmlns:a="http://schemas.openxmlformats.org/drawingml/2006/main">
            <a:pPr marL="0" indent="0">
              <a:lnSpc>
                <a:spcPct val="112000"/>
              </a:lnSpc>
              <a:buNone/>
            </a:pPr>
            <a:r>
              <a:rPr sz="1000">
                <a:solidFill>
                  <a:srgbClr val="D9E4F5"/>
                </a:solidFill>
                <a:latin typeface="Consolas"/>
                <a:ea typeface="Consolas"/>
                <a:cs typeface="Consolas"/>
              </a:rPr>
              <a:t>    timestamp: datetime  # + merchant_category, customer_id</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    def to_domain(self) -&gt; Transaction:</a:t>
            </a:r>
            <a:endParaRPr sz="1000"/>
          </a:p>
          <a:p xmlns:a="http://schemas.openxmlformats.org/drawingml/2006/main">
            <a:pPr marL="0" indent="0">
              <a:lnSpc>
                <a:spcPct val="112000"/>
              </a:lnSpc>
              <a:buNone/>
            </a:pPr>
            <a:r>
              <a:rPr sz="1000">
                <a:solidFill>
                  <a:srgbClr val="D9E4F5"/>
                </a:solidFill>
                <a:latin typeface="Consolas"/>
                <a:ea typeface="Consolas"/>
                <a:cs typeface="Consolas"/>
              </a:rPr>
              <a:t>        return Transaction(**self.model_dump())</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class PredictResponse(BaseModel):</a:t>
            </a:r>
            <a:endParaRPr sz="1000"/>
          </a:p>
          <a:p xmlns:a="http://schemas.openxmlformats.org/drawingml/2006/main">
            <a:pPr marL="0" indent="0">
              <a:lnSpc>
                <a:spcPct val="112000"/>
              </a:lnSpc>
              <a:buNone/>
            </a:pPr>
            <a:r>
              <a:rPr sz="1000">
                <a:solidFill>
                  <a:srgbClr val="D9E4F5"/>
                </a:solidFill>
                <a:latin typeface="Consolas"/>
                <a:ea typeface="Consolas"/>
                <a:cs typeface="Consolas"/>
              </a:rPr>
              <a:t>    transaction_id: str</a:t>
            </a:r>
            <a:endParaRPr sz="1000"/>
          </a:p>
          <a:p xmlns:a="http://schemas.openxmlformats.org/drawingml/2006/main">
            <a:pPr marL="0" indent="0">
              <a:lnSpc>
                <a:spcPct val="112000"/>
              </a:lnSpc>
              <a:buNone/>
            </a:pPr>
            <a:r>
              <a:rPr sz="1000">
                <a:solidFill>
                  <a:srgbClr val="D9E4F5"/>
                </a:solidFill>
                <a:latin typeface="Consolas"/>
                <a:ea typeface="Consolas"/>
                <a:cs typeface="Consolas"/>
              </a:rPr>
              <a:t>    fraud_probability: float = Field(ge=0, le=1)</a:t>
            </a:r>
            <a:endParaRPr sz="1000"/>
          </a:p>
          <a:p xmlns:a="http://schemas.openxmlformats.org/drawingml/2006/main">
            <a:pPr marL="0" indent="0">
              <a:lnSpc>
                <a:spcPct val="112000"/>
              </a:lnSpc>
              <a:buNone/>
            </a:pPr>
            <a:r>
              <a:rPr sz="1000">
                <a:solidFill>
                  <a:srgbClr val="D9E4F5"/>
                </a:solidFill>
                <a:latin typeface="Consolas"/>
                <a:ea typeface="Consolas"/>
                <a:cs typeface="Consolas"/>
              </a:rPr>
              <a:t>    decision: Decision</a:t>
            </a:r>
            <a:endParaRPr sz="1000"/>
          </a:p>
          <a:p xmlns:a="http://schemas.openxmlformats.org/drawingml/2006/main">
            <a:pPr marL="0" indent="0">
              <a:lnSpc>
                <a:spcPct val="112000"/>
              </a:lnSpc>
              <a:buNone/>
            </a:pPr>
            <a:r>
              <a:rPr sz="1000">
                <a:solidFill>
                  <a:srgbClr val="D9E4F5"/>
                </a:solidFill>
                <a:latin typeface="Consolas"/>
                <a:ea typeface="Consolas"/>
                <a:cs typeface="Consolas"/>
              </a:rPr>
              <a:t>    model_version: str  # + trace_id: str</a:t>
            </a:r>
            <a:endParaRPr sz="1000"/>
          </a:p>
        </p:txBody>
      </p:sp>
      <p:sp>
        <p:nvSpPr>
          <p:cNvPr id="14" name="Shape 11">
            <a:extLst xmlns:a="http://schemas.openxmlformats.org/drawingml/2006/main">
              <a:ext uri="{FF2B5EF4-FFF2-40B4-BE49-F238E27FC236}">
                <a16:creationId xmlns:a16="http://schemas.microsoft.com/office/drawing/2014/main" id="{C212DF53-38B7-4F8C-A47F-356BC8662DDC}"/>
              </a:ext>
            </a:extLst>
          </p:cNvPr>
          <p:cNvSpPr>
            <a:spLocks xmlns:a="http://schemas.openxmlformats.org/drawingml/2006/main" noGrp="1"/>
          </p:cNvSpPr>
          <p:nvPr/>
        </p:nvSpPr>
        <p:spPr>
          <a:xfrm xmlns:a="http://schemas.openxmlformats.org/drawingml/2006/main">
            <a:off x="8321040" y="1481328"/>
            <a:ext cx="3364992" cy="1402080"/>
          </a:xfrm>
          <a:prstGeom xmlns:a="http://schemas.openxmlformats.org/drawingml/2006/main" prst="roundRect">
            <a:avLst>
              <a:gd name="adj" fmla="val 3913"/>
            </a:avLst>
          </a:prstGeom>
          <a:solidFill xmlns:a="http://schemas.openxmlformats.org/drawingml/2006/main">
            <a:srgbClr val="D4F1EE"/>
          </a:solidFill>
        </p:spPr>
      </p:sp>
      <p:sp>
        <p:nvSpPr>
          <p:cNvPr id="15" name="Text 12">
            <a:extLst xmlns:a="http://schemas.openxmlformats.org/drawingml/2006/main">
              <a:ext uri="{FF2B5EF4-FFF2-40B4-BE49-F238E27FC236}">
                <a16:creationId xmlns:a16="http://schemas.microsoft.com/office/drawing/2014/main" id="{B4ECCA91-9E2B-46EB-B5E5-F57F12B45E07}"/>
              </a:ext>
            </a:extLst>
          </p:cNvPr>
          <p:cNvSpPr>
            <a:spLocks xmlns:a="http://schemas.openxmlformats.org/drawingml/2006/main" noGrp="1"/>
          </p:cNvSpPr>
          <p:nvPr/>
        </p:nvSpPr>
        <p:spPr>
          <a:xfrm xmlns:a="http://schemas.openxmlformats.org/drawingml/2006/main">
            <a:off x="8485632" y="157276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extra="forbid"</a:t>
            </a:r>
            <a:endParaRPr sz="1050"/>
          </a:p>
        </p:txBody>
      </p:sp>
      <p:sp>
        <p:nvSpPr>
          <p:cNvPr id="16" name="Text 13">
            <a:extLst xmlns:a="http://schemas.openxmlformats.org/drawingml/2006/main">
              <a:ext uri="{FF2B5EF4-FFF2-40B4-BE49-F238E27FC236}">
                <a16:creationId xmlns:a16="http://schemas.microsoft.com/office/drawing/2014/main" id="{809AF760-60F6-44B6-935B-01E19119EF80}"/>
              </a:ext>
            </a:extLst>
          </p:cNvPr>
          <p:cNvSpPr>
            <a:spLocks xmlns:a="http://schemas.openxmlformats.org/drawingml/2006/main" noGrp="1"/>
          </p:cNvSpPr>
          <p:nvPr/>
        </p:nvSpPr>
        <p:spPr>
          <a:xfrm xmlns:a="http://schemas.openxmlformats.org/drawingml/2006/main">
            <a:off x="8485632" y="184708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Unknown fields → 422, loudly. The amount_sr typo would have been caught on request one, not week three.</a:t>
            </a:r>
            <a:endParaRPr sz="930"/>
          </a:p>
        </p:txBody>
      </p:sp>
      <p:sp>
        <p:nvSpPr>
          <p:cNvPr id="17" name="Shape 14">
            <a:extLst xmlns:a="http://schemas.openxmlformats.org/drawingml/2006/main">
              <a:ext uri="{FF2B5EF4-FFF2-40B4-BE49-F238E27FC236}">
                <a16:creationId xmlns:a16="http://schemas.microsoft.com/office/drawing/2014/main" id="{300FA118-4CB1-4940-940B-0CB47FB72D07}"/>
              </a:ext>
            </a:extLst>
          </p:cNvPr>
          <p:cNvSpPr>
            <a:spLocks xmlns:a="http://schemas.openxmlformats.org/drawingml/2006/main" noGrp="1"/>
          </p:cNvSpPr>
          <p:nvPr/>
        </p:nvSpPr>
        <p:spPr>
          <a:xfrm xmlns:a="http://schemas.openxmlformats.org/drawingml/2006/main">
            <a:off x="8321040" y="3020568"/>
            <a:ext cx="3364992" cy="1402080"/>
          </a:xfrm>
          <a:prstGeom xmlns:a="http://schemas.openxmlformats.org/drawingml/2006/main" prst="roundRect">
            <a:avLst>
              <a:gd name="adj" fmla="val 3913"/>
            </a:avLst>
          </a:prstGeom>
          <a:solidFill xmlns:a="http://schemas.openxmlformats.org/drawingml/2006/main">
            <a:srgbClr val="D9F0FA"/>
          </a:solidFill>
        </p:spPr>
      </p:sp>
      <p:sp>
        <p:nvSpPr>
          <p:cNvPr id="18" name="Text 15">
            <a:extLst xmlns:a="http://schemas.openxmlformats.org/drawingml/2006/main">
              <a:ext uri="{FF2B5EF4-FFF2-40B4-BE49-F238E27FC236}">
                <a16:creationId xmlns:a16="http://schemas.microsoft.com/office/drawing/2014/main" id="{20B85915-235C-4E5E-AB23-7BFB4BC20CCC}"/>
              </a:ext>
            </a:extLst>
          </p:cNvPr>
          <p:cNvSpPr>
            <a:spLocks xmlns:a="http://schemas.openxmlformats.org/drawingml/2006/main" noGrp="1"/>
          </p:cNvSpPr>
          <p:nvPr/>
        </p:nvSpPr>
        <p:spPr>
          <a:xfrm xmlns:a="http://schemas.openxmlformats.org/drawingml/2006/main">
            <a:off x="8485632" y="311200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to_domain() — two lines</a:t>
            </a:r>
            <a:endParaRPr sz="1050"/>
          </a:p>
        </p:txBody>
      </p:sp>
      <p:sp>
        <p:nvSpPr>
          <p:cNvPr id="19" name="Text 16">
            <a:extLst xmlns:a="http://schemas.openxmlformats.org/drawingml/2006/main">
              <a:ext uri="{FF2B5EF4-FFF2-40B4-BE49-F238E27FC236}">
                <a16:creationId xmlns:a16="http://schemas.microsoft.com/office/drawing/2014/main" id="{72803929-C2A3-4539-AB84-E2AF5312D161}"/>
              </a:ext>
            </a:extLst>
          </p:cNvPr>
          <p:cNvSpPr>
            <a:spLocks xmlns:a="http://schemas.openxmlformats.org/drawingml/2006/main" noGrp="1"/>
          </p:cNvSpPr>
          <p:nvPr/>
        </p:nvSpPr>
        <p:spPr>
          <a:xfrm xmlns:a="http://schemas.openxmlformats.org/drawingml/2006/main">
            <a:off x="8485632" y="338632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The only bridge between wire format and domain entity. Schemas never leak inward.</a:t>
            </a:r>
            <a:endParaRPr sz="930"/>
          </a:p>
        </p:txBody>
      </p:sp>
      <p:sp>
        <p:nvSpPr>
          <p:cNvPr id="20" name="Shape 17">
            <a:extLst xmlns:a="http://schemas.openxmlformats.org/drawingml/2006/main">
              <a:ext uri="{FF2B5EF4-FFF2-40B4-BE49-F238E27FC236}">
                <a16:creationId xmlns:a16="http://schemas.microsoft.com/office/drawing/2014/main" id="{36400C24-77C6-4D6B-B6E8-816423A751B7}"/>
              </a:ext>
            </a:extLst>
          </p:cNvPr>
          <p:cNvSpPr>
            <a:spLocks xmlns:a="http://schemas.openxmlformats.org/drawingml/2006/main" noGrp="1"/>
          </p:cNvSpPr>
          <p:nvPr/>
        </p:nvSpPr>
        <p:spPr>
          <a:xfrm xmlns:a="http://schemas.openxmlformats.org/drawingml/2006/main">
            <a:off x="8321040" y="4559808"/>
            <a:ext cx="3364992" cy="1402080"/>
          </a:xfrm>
          <a:prstGeom xmlns:a="http://schemas.openxmlformats.org/drawingml/2006/main" prst="roundRect">
            <a:avLst>
              <a:gd name="adj" fmla="val 3913"/>
            </a:avLst>
          </a:prstGeom>
          <a:solidFill xmlns:a="http://schemas.openxmlformats.org/drawingml/2006/main">
            <a:srgbClr val="FDEBD7"/>
          </a:solidFill>
        </p:spPr>
      </p:sp>
      <p:sp>
        <p:nvSpPr>
          <p:cNvPr id="21" name="Text 18">
            <a:extLst xmlns:a="http://schemas.openxmlformats.org/drawingml/2006/main">
              <a:ext uri="{FF2B5EF4-FFF2-40B4-BE49-F238E27FC236}">
                <a16:creationId xmlns:a16="http://schemas.microsoft.com/office/drawing/2014/main" id="{778AB7EF-26C1-4E17-A25A-EA1F4AFB8914}"/>
              </a:ext>
            </a:extLst>
          </p:cNvPr>
          <p:cNvSpPr>
            <a:spLocks xmlns:a="http://schemas.openxmlformats.org/drawingml/2006/main" noGrp="1"/>
          </p:cNvSpPr>
          <p:nvPr/>
        </p:nvSpPr>
        <p:spPr>
          <a:xfrm xmlns:a="http://schemas.openxmlformats.org/drawingml/2006/main">
            <a:off x="8485632" y="465124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Bounded everything</a:t>
            </a:r>
            <a:endParaRPr sz="1050"/>
          </a:p>
        </p:txBody>
      </p:sp>
      <p:sp>
        <p:nvSpPr>
          <p:cNvPr id="22" name="Text 19">
            <a:extLst xmlns:a="http://schemas.openxmlformats.org/drawingml/2006/main">
              <a:ext uri="{FF2B5EF4-FFF2-40B4-BE49-F238E27FC236}">
                <a16:creationId xmlns:a16="http://schemas.microsoft.com/office/drawing/2014/main" id="{963A89A3-EB19-427A-84A2-3EC2651B0FEA}"/>
              </a:ext>
            </a:extLst>
          </p:cNvPr>
          <p:cNvSpPr>
            <a:spLocks xmlns:a="http://schemas.openxmlformats.org/drawingml/2006/main" noGrp="1"/>
          </p:cNvSpPr>
          <p:nvPr/>
        </p:nvSpPr>
        <p:spPr>
          <a:xfrm xmlns:a="http://schemas.openxmlformats.org/drawingml/2006/main">
            <a:off x="8485632" y="492556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gt=0, le=1_000_000, length limits — {"amount_sar": -1} must never score successfully.</a:t>
            </a:r>
            <a:endParaRPr sz="930"/>
          </a:p>
        </p:txBody>
      </p:sp>
    </p:spTree>
    <p:extLst>
      <p:ext uri="{BB962C8B-B14F-4D97-AF65-F5344CB8AC3E}">
        <p14:creationId xmlns:p14="http://schemas.microsoft.com/office/powerpoint/2010/main" val="1454467193"/>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976E7C3-A24E-4839-B6C1-AEEB48B00D61}"/>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Model Lifecycle Inside the App</a:t>
            </a:r>
            <a:endParaRPr sz="2600"/>
          </a:p>
        </p:txBody>
      </p:sp>
      <p:sp>
        <p:nvSpPr>
          <p:cNvPr id="3" name="Text 1">
            <a:extLst xmlns:a="http://schemas.openxmlformats.org/drawingml/2006/main">
              <a:ext uri="{FF2B5EF4-FFF2-40B4-BE49-F238E27FC236}">
                <a16:creationId xmlns:a16="http://schemas.microsoft.com/office/drawing/2014/main" id="{4582F14F-7552-4997-B8EC-304E1E042DC4}"/>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دورة حياة النموذج داخل التطبيق</a:t>
            </a:r>
            <a:endParaRPr sz="1300"/>
          </a:p>
        </p:txBody>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22d2ea4a9c0f4b6f"/>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5FEA3079-FECE-4825-8F8D-5DF0E6E6B5B9}"/>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F8A429E1-842E-4286-8CEA-66F136CA309A}"/>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2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B230B854-4CD7-4C45-88CC-03BBF9CEB539}"/>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42</a:t>
            </a:r>
            <a:endParaRPr sz="850"/>
          </a:p>
        </p:txBody>
      </p:sp>
      <p:sp>
        <p:nvSpPr>
          <p:cNvPr id="8" name="Shape 5">
            <a:extLst xmlns:a="http://schemas.openxmlformats.org/drawingml/2006/main">
              <a:ext uri="{FF2B5EF4-FFF2-40B4-BE49-F238E27FC236}">
                <a16:creationId xmlns:a16="http://schemas.microsoft.com/office/drawing/2014/main" id="{395A3E81-2A25-433E-B183-F4586DC1FA2E}"/>
              </a:ext>
            </a:extLst>
          </p:cNvPr>
          <p:cNvSpPr>
            <a:spLocks xmlns:a="http://schemas.openxmlformats.org/drawingml/2006/main" noGrp="1"/>
          </p:cNvSpPr>
          <p:nvPr/>
        </p:nvSpPr>
        <p:spPr>
          <a:xfrm xmlns:a="http://schemas.openxmlformats.org/drawingml/2006/main">
            <a:off x="3886200" y="2217420"/>
            <a:ext cx="1435608" cy="0"/>
          </a:xfrm>
          <a:prstGeom xmlns:a="http://schemas.openxmlformats.org/drawingml/2006/main" prst="line">
            <a:avLst/>
          </a:prstGeom>
          <a:noFill xmlns:a="http://schemas.openxmlformats.org/drawingml/2006/main"/>
          <a:ln xmlns:a="http://schemas.openxmlformats.org/drawingml/2006/main" w="19050">
            <a:solidFill>
              <a:srgbClr val="D9E4F5"/>
            </a:solidFill>
            <a:prstDash val="dash"/>
          </a:ln>
        </p:spPr>
      </p:sp>
      <p:sp>
        <p:nvSpPr>
          <p:cNvPr id="9" name="Shape 6">
            <a:extLst xmlns:a="http://schemas.openxmlformats.org/drawingml/2006/main">
              <a:ext uri="{FF2B5EF4-FFF2-40B4-BE49-F238E27FC236}">
                <a16:creationId xmlns:a16="http://schemas.microsoft.com/office/drawing/2014/main" id="{B650544C-0DF9-439D-A6F1-F8BDF7F7DF2E}"/>
              </a:ext>
            </a:extLst>
          </p:cNvPr>
          <p:cNvSpPr>
            <a:spLocks xmlns:a="http://schemas.openxmlformats.org/drawingml/2006/main" noGrp="1"/>
          </p:cNvSpPr>
          <p:nvPr/>
        </p:nvSpPr>
        <p:spPr>
          <a:xfrm xmlns:a="http://schemas.openxmlformats.org/drawingml/2006/main">
            <a:off x="594360" y="1600200"/>
            <a:ext cx="3291840" cy="1234440"/>
          </a:xfrm>
          <a:prstGeom xmlns:a="http://schemas.openxmlformats.org/drawingml/2006/main" prst="roundRect">
            <a:avLst>
              <a:gd name="adj" fmla="val 5185"/>
            </a:avLst>
          </a:prstGeom>
          <a:solidFill xmlns:a="http://schemas.openxmlformats.org/drawingml/2006/main">
            <a:srgbClr val="D4F1EE"/>
          </a:solidFill>
        </p:spPr>
      </p:sp>
      <p:sp>
        <p:nvSpPr>
          <p:cNvPr id="10" name="Text 7">
            <a:extLst xmlns:a="http://schemas.openxmlformats.org/drawingml/2006/main">
              <a:ext uri="{FF2B5EF4-FFF2-40B4-BE49-F238E27FC236}">
                <a16:creationId xmlns:a16="http://schemas.microsoft.com/office/drawing/2014/main" id="{0BD8C0F7-0397-4228-8B6A-022B1F552487}"/>
              </a:ext>
            </a:extLst>
          </p:cNvPr>
          <p:cNvSpPr>
            <a:spLocks xmlns:a="http://schemas.openxmlformats.org/drawingml/2006/main" noGrp="1"/>
          </p:cNvSpPr>
          <p:nvPr/>
        </p:nvSpPr>
        <p:spPr>
          <a:xfrm xmlns:a="http://schemas.openxmlformats.org/drawingml/2006/main">
            <a:off x="740664" y="1691640"/>
            <a:ext cx="2999232"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Load once, share safely</a:t>
            </a:r>
            <a:endParaRPr sz="1200"/>
          </a:p>
        </p:txBody>
      </p:sp>
      <p:sp>
        <p:nvSpPr>
          <p:cNvPr id="11" name="Text 8">
            <a:extLst xmlns:a="http://schemas.openxmlformats.org/drawingml/2006/main">
              <a:ext uri="{FF2B5EF4-FFF2-40B4-BE49-F238E27FC236}">
                <a16:creationId xmlns:a16="http://schemas.microsoft.com/office/drawing/2014/main" id="{D7073252-5CF0-4DFB-B725-28695065B2B0}"/>
              </a:ext>
            </a:extLst>
          </p:cNvPr>
          <p:cNvSpPr>
            <a:spLocks xmlns:a="http://schemas.openxmlformats.org/drawingml/2006/main" noGrp="1"/>
          </p:cNvSpPr>
          <p:nvPr/>
        </p:nvSpPr>
        <p:spPr>
          <a:xfrm xmlns:a="http://schemas.openxmlformats.org/drawingml/2006/main">
            <a:off x="740664" y="2002536"/>
            <a:ext cx="2999232"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Loaded in lifespan, stored on app.state; sklearn predict is read-thread-safe</a:t>
            </a:r>
            <a:endParaRPr sz="950"/>
          </a:p>
        </p:txBody>
      </p:sp>
      <p:sp>
        <p:nvSpPr>
          <p:cNvPr id="12" name="Shape 9">
            <a:extLst xmlns:a="http://schemas.openxmlformats.org/drawingml/2006/main">
              <a:ext uri="{FF2B5EF4-FFF2-40B4-BE49-F238E27FC236}">
                <a16:creationId xmlns:a16="http://schemas.microsoft.com/office/drawing/2014/main" id="{C30DBEBE-E68F-4161-A593-FD5952A84A28}"/>
              </a:ext>
            </a:extLst>
          </p:cNvPr>
          <p:cNvSpPr>
            <a:spLocks xmlns:a="http://schemas.openxmlformats.org/drawingml/2006/main" noGrp="1"/>
          </p:cNvSpPr>
          <p:nvPr/>
        </p:nvSpPr>
        <p:spPr>
          <a:xfrm xmlns:a="http://schemas.openxmlformats.org/drawingml/2006/main">
            <a:off x="3886200" y="4320540"/>
            <a:ext cx="1435608" cy="0"/>
          </a:xfrm>
          <a:prstGeom xmlns:a="http://schemas.openxmlformats.org/drawingml/2006/main" prst="line">
            <a:avLst/>
          </a:prstGeom>
          <a:noFill xmlns:a="http://schemas.openxmlformats.org/drawingml/2006/main"/>
          <a:ln xmlns:a="http://schemas.openxmlformats.org/drawingml/2006/main" w="19050">
            <a:solidFill>
              <a:srgbClr val="D9E4F5"/>
            </a:solidFill>
            <a:prstDash val="dash"/>
          </a:ln>
        </p:spPr>
      </p:sp>
      <p:sp>
        <p:nvSpPr>
          <p:cNvPr id="13" name="Shape 10">
            <a:extLst xmlns:a="http://schemas.openxmlformats.org/drawingml/2006/main">
              <a:ext uri="{FF2B5EF4-FFF2-40B4-BE49-F238E27FC236}">
                <a16:creationId xmlns:a16="http://schemas.microsoft.com/office/drawing/2014/main" id="{A6E28678-B6D6-41DE-84C3-96FB363DA9DE}"/>
              </a:ext>
            </a:extLst>
          </p:cNvPr>
          <p:cNvSpPr>
            <a:spLocks xmlns:a="http://schemas.openxmlformats.org/drawingml/2006/main" noGrp="1"/>
          </p:cNvSpPr>
          <p:nvPr/>
        </p:nvSpPr>
        <p:spPr>
          <a:xfrm xmlns:a="http://schemas.openxmlformats.org/drawingml/2006/main">
            <a:off x="594360" y="3703320"/>
            <a:ext cx="3291840" cy="1234440"/>
          </a:xfrm>
          <a:prstGeom xmlns:a="http://schemas.openxmlformats.org/drawingml/2006/main" prst="roundRect">
            <a:avLst>
              <a:gd name="adj" fmla="val 5185"/>
            </a:avLst>
          </a:prstGeom>
          <a:solidFill xmlns:a="http://schemas.openxmlformats.org/drawingml/2006/main">
            <a:srgbClr val="D9F0FA"/>
          </a:solidFill>
        </p:spPr>
      </p:sp>
      <p:sp>
        <p:nvSpPr>
          <p:cNvPr id="14" name="Text 11">
            <a:extLst xmlns:a="http://schemas.openxmlformats.org/drawingml/2006/main">
              <a:ext uri="{FF2B5EF4-FFF2-40B4-BE49-F238E27FC236}">
                <a16:creationId xmlns:a16="http://schemas.microsoft.com/office/drawing/2014/main" id="{117DE0BE-0C55-483F-973B-B6406F8E9107}"/>
              </a:ext>
            </a:extLst>
          </p:cNvPr>
          <p:cNvSpPr>
            <a:spLocks xmlns:a="http://schemas.openxmlformats.org/drawingml/2006/main" noGrp="1"/>
          </p:cNvSpPr>
          <p:nvPr/>
        </p:nvSpPr>
        <p:spPr>
          <a:xfrm xmlns:a="http://schemas.openxmlformats.org/drawingml/2006/main">
            <a:off x="740664" y="3794760"/>
            <a:ext cx="2999232"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Warm-up at startup</a:t>
            </a:r>
            <a:endParaRPr sz="1200"/>
          </a:p>
        </p:txBody>
      </p:sp>
      <p:sp>
        <p:nvSpPr>
          <p:cNvPr id="15" name="Text 12">
            <a:extLst xmlns:a="http://schemas.openxmlformats.org/drawingml/2006/main">
              <a:ext uri="{FF2B5EF4-FFF2-40B4-BE49-F238E27FC236}">
                <a16:creationId xmlns:a16="http://schemas.microsoft.com/office/drawing/2014/main" id="{C7CC3B33-6D90-4D6E-A829-D0D7D7F5D712}"/>
              </a:ext>
            </a:extLst>
          </p:cNvPr>
          <p:cNvSpPr>
            <a:spLocks xmlns:a="http://schemas.openxmlformats.org/drawingml/2006/main" noGrp="1"/>
          </p:cNvSpPr>
          <p:nvPr/>
        </p:nvSpPr>
        <p:spPr>
          <a:xfrm xmlns:a="http://schemas.openxmlformats.org/drawingml/2006/main">
            <a:off x="740664" y="4105656"/>
            <a:ext cx="2999232"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One dummy prediction: first-call latency drops ~900 ms → ~12 ms</a:t>
            </a:r>
            <a:endParaRPr sz="950"/>
          </a:p>
        </p:txBody>
      </p:sp>
      <p:sp>
        <p:nvSpPr>
          <p:cNvPr id="16" name="Shape 13">
            <a:extLst xmlns:a="http://schemas.openxmlformats.org/drawingml/2006/main">
              <a:ext uri="{FF2B5EF4-FFF2-40B4-BE49-F238E27FC236}">
                <a16:creationId xmlns:a16="http://schemas.microsoft.com/office/drawing/2014/main" id="{966EFCBA-7CAC-4ADD-A2A4-9ADEF87D48A4}"/>
              </a:ext>
            </a:extLst>
          </p:cNvPr>
          <p:cNvSpPr>
            <a:spLocks xmlns:a="http://schemas.openxmlformats.org/drawingml/2006/main" noGrp="1"/>
          </p:cNvSpPr>
          <p:nvPr/>
        </p:nvSpPr>
        <p:spPr>
          <a:xfrm xmlns:a="http://schemas.openxmlformats.org/drawingml/2006/main">
            <a:off x="3886200" y="5737860"/>
            <a:ext cx="1435608" cy="0"/>
          </a:xfrm>
          <a:prstGeom xmlns:a="http://schemas.openxmlformats.org/drawingml/2006/main" prst="line">
            <a:avLst/>
          </a:prstGeom>
          <a:noFill xmlns:a="http://schemas.openxmlformats.org/drawingml/2006/main"/>
          <a:ln xmlns:a="http://schemas.openxmlformats.org/drawingml/2006/main" w="19050">
            <a:solidFill>
              <a:srgbClr val="D9E4F5"/>
            </a:solidFill>
            <a:prstDash val="dash"/>
          </a:ln>
        </p:spPr>
      </p:sp>
      <p:sp>
        <p:nvSpPr>
          <p:cNvPr id="17" name="Shape 14">
            <a:extLst xmlns:a="http://schemas.openxmlformats.org/drawingml/2006/main">
              <a:ext uri="{FF2B5EF4-FFF2-40B4-BE49-F238E27FC236}">
                <a16:creationId xmlns:a16="http://schemas.microsoft.com/office/drawing/2014/main" id="{50712EB0-EB99-4A76-A27C-E1A91FE4E213}"/>
              </a:ext>
            </a:extLst>
          </p:cNvPr>
          <p:cNvSpPr>
            <a:spLocks xmlns:a="http://schemas.openxmlformats.org/drawingml/2006/main" noGrp="1"/>
          </p:cNvSpPr>
          <p:nvPr/>
        </p:nvSpPr>
        <p:spPr>
          <a:xfrm xmlns:a="http://schemas.openxmlformats.org/drawingml/2006/main">
            <a:off x="594360" y="5120640"/>
            <a:ext cx="3291840" cy="1234440"/>
          </a:xfrm>
          <a:prstGeom xmlns:a="http://schemas.openxmlformats.org/drawingml/2006/main" prst="roundRect">
            <a:avLst>
              <a:gd name="adj" fmla="val 5185"/>
            </a:avLst>
          </a:prstGeom>
          <a:solidFill xmlns:a="http://schemas.openxmlformats.org/drawingml/2006/main">
            <a:srgbClr val="FDEBD7"/>
          </a:solidFill>
        </p:spPr>
      </p:sp>
      <p:sp>
        <p:nvSpPr>
          <p:cNvPr id="18" name="Text 15">
            <a:extLst xmlns:a="http://schemas.openxmlformats.org/drawingml/2006/main">
              <a:ext uri="{FF2B5EF4-FFF2-40B4-BE49-F238E27FC236}">
                <a16:creationId xmlns:a16="http://schemas.microsoft.com/office/drawing/2014/main" id="{06A50A9B-9F74-4E12-AC48-209F40BB637B}"/>
              </a:ext>
            </a:extLst>
          </p:cNvPr>
          <p:cNvSpPr>
            <a:spLocks xmlns:a="http://schemas.openxmlformats.org/drawingml/2006/main" noGrp="1"/>
          </p:cNvSpPr>
          <p:nvPr/>
        </p:nvSpPr>
        <p:spPr>
          <a:xfrm xmlns:a="http://schemas.openxmlformats.org/drawingml/2006/main">
            <a:off x="740664" y="5212080"/>
            <a:ext cx="2999232"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Fail fast on the artefact</a:t>
            </a:r>
            <a:endParaRPr sz="1200"/>
          </a:p>
        </p:txBody>
      </p:sp>
      <p:sp>
        <p:nvSpPr>
          <p:cNvPr id="19" name="Text 16">
            <a:extLst xmlns:a="http://schemas.openxmlformats.org/drawingml/2006/main">
              <a:ext uri="{FF2B5EF4-FFF2-40B4-BE49-F238E27FC236}">
                <a16:creationId xmlns:a16="http://schemas.microsoft.com/office/drawing/2014/main" id="{F7308B4D-A5AA-4EF5-996D-40C4B4A022D7}"/>
              </a:ext>
            </a:extLst>
          </p:cNvPr>
          <p:cNvSpPr>
            <a:spLocks xmlns:a="http://schemas.openxmlformats.org/drawingml/2006/main" noGrp="1"/>
          </p:cNvSpPr>
          <p:nvPr/>
        </p:nvSpPr>
        <p:spPr>
          <a:xfrm xmlns:a="http://schemas.openxmlformats.org/drawingml/2006/main">
            <a:off x="740664" y="5522976"/>
            <a:ext cx="2999232"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Missing model → crash at startup; orchestrators restart and alert</a:t>
            </a:r>
            <a:endParaRPr sz="950"/>
          </a:p>
        </p:txBody>
      </p:sp>
      <p:sp>
        <p:nvSpPr>
          <p:cNvPr id="20" name="Shape 17">
            <a:extLst xmlns:a="http://schemas.openxmlformats.org/drawingml/2006/main">
              <a:ext uri="{FF2B5EF4-FFF2-40B4-BE49-F238E27FC236}">
                <a16:creationId xmlns:a16="http://schemas.microsoft.com/office/drawing/2014/main" id="{40284342-ACC3-4AF9-A94E-A9CB72B510EF}"/>
              </a:ext>
            </a:extLst>
          </p:cNvPr>
          <p:cNvSpPr>
            <a:spLocks xmlns:a="http://schemas.openxmlformats.org/drawingml/2006/main" noGrp="1"/>
          </p:cNvSpPr>
          <p:nvPr/>
        </p:nvSpPr>
        <p:spPr>
          <a:xfrm xmlns:a="http://schemas.openxmlformats.org/drawingml/2006/main">
            <a:off x="6858000" y="2217420"/>
            <a:ext cx="1463040" cy="0"/>
          </a:xfrm>
          <a:prstGeom xmlns:a="http://schemas.openxmlformats.org/drawingml/2006/main" prst="line">
            <a:avLst/>
          </a:prstGeom>
          <a:noFill xmlns:a="http://schemas.openxmlformats.org/drawingml/2006/main"/>
          <a:ln xmlns:a="http://schemas.openxmlformats.org/drawingml/2006/main" w="19050">
            <a:solidFill>
              <a:srgbClr val="D9E4F5"/>
            </a:solidFill>
            <a:prstDash val="dash"/>
          </a:ln>
        </p:spPr>
      </p:sp>
      <p:sp>
        <p:nvSpPr>
          <p:cNvPr id="21" name="Shape 18">
            <a:extLst xmlns:a="http://schemas.openxmlformats.org/drawingml/2006/main">
              <a:ext uri="{FF2B5EF4-FFF2-40B4-BE49-F238E27FC236}">
                <a16:creationId xmlns:a16="http://schemas.microsoft.com/office/drawing/2014/main" id="{60A12C5A-E515-4A15-981A-F886809B52A7}"/>
              </a:ext>
            </a:extLst>
          </p:cNvPr>
          <p:cNvSpPr>
            <a:spLocks xmlns:a="http://schemas.openxmlformats.org/drawingml/2006/main" noGrp="1"/>
          </p:cNvSpPr>
          <p:nvPr/>
        </p:nvSpPr>
        <p:spPr>
          <a:xfrm xmlns:a="http://schemas.openxmlformats.org/drawingml/2006/main">
            <a:off x="8321040" y="1600200"/>
            <a:ext cx="3291840" cy="1234440"/>
          </a:xfrm>
          <a:prstGeom xmlns:a="http://schemas.openxmlformats.org/drawingml/2006/main" prst="roundRect">
            <a:avLst>
              <a:gd name="adj" fmla="val 5185"/>
            </a:avLst>
          </a:prstGeom>
          <a:solidFill xmlns:a="http://schemas.openxmlformats.org/drawingml/2006/main">
            <a:srgbClr val="EAF4DC"/>
          </a:solidFill>
        </p:spPr>
      </p:sp>
      <p:sp>
        <p:nvSpPr>
          <p:cNvPr id="22" name="Text 19">
            <a:extLst xmlns:a="http://schemas.openxmlformats.org/drawingml/2006/main">
              <a:ext uri="{FF2B5EF4-FFF2-40B4-BE49-F238E27FC236}">
                <a16:creationId xmlns:a16="http://schemas.microsoft.com/office/drawing/2014/main" id="{ED625DAB-BE64-4619-A436-FE9A1361BFBA}"/>
              </a:ext>
            </a:extLst>
          </p:cNvPr>
          <p:cNvSpPr>
            <a:spLocks xmlns:a="http://schemas.openxmlformats.org/drawingml/2006/main" noGrp="1"/>
          </p:cNvSpPr>
          <p:nvPr/>
        </p:nvSpPr>
        <p:spPr>
          <a:xfrm xmlns:a="http://schemas.openxmlformats.org/drawingml/2006/main">
            <a:off x="8467344" y="1691640"/>
            <a:ext cx="2999232"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Degrade on secondary deps</a:t>
            </a:r>
            <a:endParaRPr sz="1200"/>
          </a:p>
        </p:txBody>
      </p:sp>
      <p:sp>
        <p:nvSpPr>
          <p:cNvPr id="23" name="Text 20">
            <a:extLst xmlns:a="http://schemas.openxmlformats.org/drawingml/2006/main">
              <a:ext uri="{FF2B5EF4-FFF2-40B4-BE49-F238E27FC236}">
                <a16:creationId xmlns:a16="http://schemas.microsoft.com/office/drawing/2014/main" id="{BC0A7B41-E840-479E-8BB9-9349328EA944}"/>
              </a:ext>
            </a:extLst>
          </p:cNvPr>
          <p:cNvSpPr>
            <a:spLocks xmlns:a="http://schemas.openxmlformats.org/drawingml/2006/main" noGrp="1"/>
          </p:cNvSpPr>
          <p:nvPr/>
        </p:nvSpPr>
        <p:spPr>
          <a:xfrm xmlns:a="http://schemas.openxmlformats.org/drawingml/2006/main">
            <a:off x="8467344" y="2002536"/>
            <a:ext cx="2999232"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Enrichment source down → serve with a degraded flag in the response</a:t>
            </a:r>
            <a:endParaRPr sz="950"/>
          </a:p>
        </p:txBody>
      </p:sp>
      <p:sp>
        <p:nvSpPr>
          <p:cNvPr id="24" name="Shape 21">
            <a:extLst xmlns:a="http://schemas.openxmlformats.org/drawingml/2006/main">
              <a:ext uri="{FF2B5EF4-FFF2-40B4-BE49-F238E27FC236}">
                <a16:creationId xmlns:a16="http://schemas.microsoft.com/office/drawing/2014/main" id="{25816DAA-97DC-4B14-AC3D-3945C4708668}"/>
              </a:ext>
            </a:extLst>
          </p:cNvPr>
          <p:cNvSpPr>
            <a:spLocks xmlns:a="http://schemas.openxmlformats.org/drawingml/2006/main" noGrp="1"/>
          </p:cNvSpPr>
          <p:nvPr/>
        </p:nvSpPr>
        <p:spPr>
          <a:xfrm xmlns:a="http://schemas.openxmlformats.org/drawingml/2006/main">
            <a:off x="6858000" y="4320540"/>
            <a:ext cx="1463040" cy="0"/>
          </a:xfrm>
          <a:prstGeom xmlns:a="http://schemas.openxmlformats.org/drawingml/2006/main" prst="line">
            <a:avLst/>
          </a:prstGeom>
          <a:noFill xmlns:a="http://schemas.openxmlformats.org/drawingml/2006/main"/>
          <a:ln xmlns:a="http://schemas.openxmlformats.org/drawingml/2006/main" w="19050">
            <a:solidFill>
              <a:srgbClr val="D9E4F5"/>
            </a:solidFill>
            <a:prstDash val="dash"/>
          </a:ln>
        </p:spPr>
      </p:sp>
      <p:sp>
        <p:nvSpPr>
          <p:cNvPr id="25" name="Shape 22">
            <a:extLst xmlns:a="http://schemas.openxmlformats.org/drawingml/2006/main">
              <a:ext uri="{FF2B5EF4-FFF2-40B4-BE49-F238E27FC236}">
                <a16:creationId xmlns:a16="http://schemas.microsoft.com/office/drawing/2014/main" id="{3BE9F04B-4E4F-424C-82BF-142BD2C24695}"/>
              </a:ext>
            </a:extLst>
          </p:cNvPr>
          <p:cNvSpPr>
            <a:spLocks xmlns:a="http://schemas.openxmlformats.org/drawingml/2006/main" noGrp="1"/>
          </p:cNvSpPr>
          <p:nvPr/>
        </p:nvSpPr>
        <p:spPr>
          <a:xfrm xmlns:a="http://schemas.openxmlformats.org/drawingml/2006/main">
            <a:off x="8321040" y="3703320"/>
            <a:ext cx="3291840" cy="1234440"/>
          </a:xfrm>
          <a:prstGeom xmlns:a="http://schemas.openxmlformats.org/drawingml/2006/main" prst="roundRect">
            <a:avLst>
              <a:gd name="adj" fmla="val 5185"/>
            </a:avLst>
          </a:prstGeom>
          <a:solidFill xmlns:a="http://schemas.openxmlformats.org/drawingml/2006/main">
            <a:srgbClr val="FADDD8"/>
          </a:solidFill>
        </p:spPr>
      </p:sp>
      <p:sp>
        <p:nvSpPr>
          <p:cNvPr id="26" name="Text 23">
            <a:extLst xmlns:a="http://schemas.openxmlformats.org/drawingml/2006/main">
              <a:ext uri="{FF2B5EF4-FFF2-40B4-BE49-F238E27FC236}">
                <a16:creationId xmlns:a16="http://schemas.microsoft.com/office/drawing/2014/main" id="{2485B1EF-3649-46C6-9373-B3DDA0EAEB4D}"/>
              </a:ext>
            </a:extLst>
          </p:cNvPr>
          <p:cNvSpPr>
            <a:spLocks xmlns:a="http://schemas.openxmlformats.org/drawingml/2006/main" noGrp="1"/>
          </p:cNvSpPr>
          <p:nvPr/>
        </p:nvSpPr>
        <p:spPr>
          <a:xfrm xmlns:a="http://schemas.openxmlformats.org/drawingml/2006/main">
            <a:off x="8467344" y="3794760"/>
            <a:ext cx="2999232"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Depends() is the DI seam</a:t>
            </a:r>
            <a:endParaRPr sz="1200"/>
          </a:p>
        </p:txBody>
      </p:sp>
      <p:sp>
        <p:nvSpPr>
          <p:cNvPr id="27" name="Text 24">
            <a:extLst xmlns:a="http://schemas.openxmlformats.org/drawingml/2006/main">
              <a:ext uri="{FF2B5EF4-FFF2-40B4-BE49-F238E27FC236}">
                <a16:creationId xmlns:a16="http://schemas.microsoft.com/office/drawing/2014/main" id="{8BCDDFE4-4F18-477F-8665-BB054418F1B4}"/>
              </a:ext>
            </a:extLst>
          </p:cNvPr>
          <p:cNvSpPr>
            <a:spLocks xmlns:a="http://schemas.openxmlformats.org/drawingml/2006/main" noGrp="1"/>
          </p:cNvSpPr>
          <p:nvPr/>
        </p:nvSpPr>
        <p:spPr>
          <a:xfrm xmlns:a="http://schemas.openxmlformats.org/drawingml/2006/main">
            <a:off x="8467344" y="4105656"/>
            <a:ext cx="2999232"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Tests: app.dependency_overrides[get_scorer] = lambda: fake (M4)</a:t>
            </a:r>
            <a:endParaRPr sz="950"/>
          </a:p>
        </p:txBody>
      </p:sp>
      <p:sp>
        <p:nvSpPr>
          <p:cNvPr id="28" name="Shape 25">
            <a:extLst xmlns:a="http://schemas.openxmlformats.org/drawingml/2006/main">
              <a:ext uri="{FF2B5EF4-FFF2-40B4-BE49-F238E27FC236}">
                <a16:creationId xmlns:a16="http://schemas.microsoft.com/office/drawing/2014/main" id="{FA6B12E4-6BBE-4E2F-80FB-4C13B333F2AA}"/>
              </a:ext>
            </a:extLst>
          </p:cNvPr>
          <p:cNvSpPr>
            <a:spLocks xmlns:a="http://schemas.openxmlformats.org/drawingml/2006/main" noGrp="1"/>
          </p:cNvSpPr>
          <p:nvPr/>
        </p:nvSpPr>
        <p:spPr>
          <a:xfrm xmlns:a="http://schemas.openxmlformats.org/drawingml/2006/main">
            <a:off x="5129784" y="2953512"/>
            <a:ext cx="1920240" cy="1920240"/>
          </a:xfrm>
          <a:prstGeom xmlns:a="http://schemas.openxmlformats.org/drawingml/2006/main" prst="ellipse">
            <a:avLst/>
          </a:prstGeom>
          <a:solidFill xmlns:a="http://schemas.openxmlformats.org/drawingml/2006/main">
            <a:srgbClr val="1D2A5C"/>
          </a:solidFill>
          <a:ln xmlns:a="http://schemas.openxmlformats.org/drawingml/2006/main" w="31750">
            <a:solidFill>
              <a:srgbClr val="00A79D"/>
            </a:solidFill>
            <a:prstDash val="solid"/>
          </a:ln>
        </p:spPr>
      </p:sp>
      <p:sp>
        <p:nvSpPr>
          <p:cNvPr id="29" name="Text 26">
            <a:extLst xmlns:a="http://schemas.openxmlformats.org/drawingml/2006/main">
              <a:ext uri="{FF2B5EF4-FFF2-40B4-BE49-F238E27FC236}">
                <a16:creationId xmlns:a16="http://schemas.microsoft.com/office/drawing/2014/main" id="{C42F9EA1-7E9A-48C9-945F-CC5B6FF22DC6}"/>
              </a:ext>
            </a:extLst>
          </p:cNvPr>
          <p:cNvSpPr>
            <a:spLocks xmlns:a="http://schemas.openxmlformats.org/drawingml/2006/main" noGrp="1"/>
          </p:cNvSpPr>
          <p:nvPr/>
        </p:nvSpPr>
        <p:spPr>
          <a:xfrm xmlns:a="http://schemas.openxmlformats.org/drawingml/2006/main">
            <a:off x="5221224" y="3044952"/>
            <a:ext cx="1737360" cy="1737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Model lifecycle</a:t>
            </a:r>
            <a:endParaRPr sz="1400"/>
          </a:p>
        </p:txBody>
      </p:sp>
    </p:spTree>
    <p:extLst>
      <p:ext uri="{BB962C8B-B14F-4D97-AF65-F5344CB8AC3E}">
        <p14:creationId xmlns:p14="http://schemas.microsoft.com/office/powerpoint/2010/main" val="739769108"/>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00EC78D-47BF-404D-88CC-0FF2EFD7CD83}"/>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Lifespan: Load, Warm Up, Wire — app.py</a:t>
            </a:r>
            <a:endParaRPr sz="2600"/>
          </a:p>
        </p:txBody>
      </p:sp>
      <p:sp>
        <p:nvSpPr>
          <p:cNvPr id="3" name="Text 1">
            <a:extLst xmlns:a="http://schemas.openxmlformats.org/drawingml/2006/main">
              <a:ext uri="{FF2B5EF4-FFF2-40B4-BE49-F238E27FC236}">
                <a16:creationId xmlns:a16="http://schemas.microsoft.com/office/drawing/2014/main" id="{E27539F8-14C2-4C32-A178-309639C6F8A8}"/>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دورة الحياة: تحميل وتسخين وتوصيل</a:t>
            </a:r>
            <a:endParaRPr sz="1300"/>
          </a:p>
        </p:txBody>
      </p:sp>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5525737e13fb4eb2"/>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E1CD921F-5692-4028-B9A8-69803EBFCEBD}"/>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7F5E622A-94D4-4405-BA76-2C6160D4314C}"/>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2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628E53F8-BAD5-4223-873E-4C636AC6C18D}"/>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43</a:t>
            </a:r>
            <a:endParaRPr sz="850"/>
          </a:p>
        </p:txBody>
      </p:sp>
      <p:sp>
        <p:nvSpPr>
          <p:cNvPr id="8" name="Shape 5">
            <a:extLst xmlns:a="http://schemas.openxmlformats.org/drawingml/2006/main">
              <a:ext uri="{FF2B5EF4-FFF2-40B4-BE49-F238E27FC236}">
                <a16:creationId xmlns:a16="http://schemas.microsoft.com/office/drawing/2014/main" id="{08255F94-910B-4DE2-A77C-FC46331DD999}"/>
              </a:ext>
            </a:extLst>
          </p:cNvPr>
          <p:cNvSpPr>
            <a:spLocks xmlns:a="http://schemas.openxmlformats.org/drawingml/2006/main" noGrp="1"/>
          </p:cNvSpPr>
          <p:nvPr/>
        </p:nvSpPr>
        <p:spPr>
          <a:xfrm xmlns:a="http://schemas.openxmlformats.org/drawingml/2006/main">
            <a:off x="502920" y="1481328"/>
            <a:ext cx="7635240" cy="4617720"/>
          </a:xfrm>
          <a:prstGeom xmlns:a="http://schemas.openxmlformats.org/drawingml/2006/main" prst="roundRect">
            <a:avLst>
              <a:gd name="adj" fmla="val 1584"/>
            </a:avLst>
          </a:prstGeom>
          <a:solidFill xmlns:a="http://schemas.openxmlformats.org/drawingml/2006/main">
            <a:srgbClr val="1A2233"/>
          </a:solidFill>
        </p:spPr>
      </p:sp>
      <p:sp>
        <p:nvSpPr>
          <p:cNvPr id="9" name="Shape 6">
            <a:extLst xmlns:a="http://schemas.openxmlformats.org/drawingml/2006/main">
              <a:ext uri="{FF2B5EF4-FFF2-40B4-BE49-F238E27FC236}">
                <a16:creationId xmlns:a16="http://schemas.microsoft.com/office/drawing/2014/main" id="{81FC878E-6BF0-41B9-98BD-A88FBA479709}"/>
              </a:ext>
            </a:extLst>
          </p:cNvPr>
          <p:cNvSpPr>
            <a:spLocks xmlns:a="http://schemas.openxmlformats.org/drawingml/2006/main" noGrp="1"/>
          </p:cNvSpPr>
          <p:nvPr/>
        </p:nvSpPr>
        <p:spPr>
          <a:xfrm xmlns:a="http://schemas.openxmlformats.org/drawingml/2006/main">
            <a:off x="731520" y="1664208"/>
            <a:ext cx="109728" cy="109728"/>
          </a:xfrm>
          <a:prstGeom xmlns:a="http://schemas.openxmlformats.org/drawingml/2006/main" prst="ellipse">
            <a:avLst/>
          </a:prstGeom>
          <a:solidFill xmlns:a="http://schemas.openxmlformats.org/drawingml/2006/main">
            <a:srgbClr val="E8503A"/>
          </a:solidFill>
        </p:spPr>
      </p:sp>
      <p:sp>
        <p:nvSpPr>
          <p:cNvPr id="10" name="Shape 7">
            <a:extLst xmlns:a="http://schemas.openxmlformats.org/drawingml/2006/main">
              <a:ext uri="{FF2B5EF4-FFF2-40B4-BE49-F238E27FC236}">
                <a16:creationId xmlns:a16="http://schemas.microsoft.com/office/drawing/2014/main" id="{A244C550-084C-4798-9B87-0EDA567C469A}"/>
              </a:ext>
            </a:extLst>
          </p:cNvPr>
          <p:cNvSpPr>
            <a:spLocks xmlns:a="http://schemas.openxmlformats.org/drawingml/2006/main" noGrp="1"/>
          </p:cNvSpPr>
          <p:nvPr/>
        </p:nvSpPr>
        <p:spPr>
          <a:xfrm xmlns:a="http://schemas.openxmlformats.org/drawingml/2006/main">
            <a:off x="932688" y="1664208"/>
            <a:ext cx="109728" cy="109728"/>
          </a:xfrm>
          <a:prstGeom xmlns:a="http://schemas.openxmlformats.org/drawingml/2006/main" prst="ellipse">
            <a:avLst/>
          </a:prstGeom>
          <a:solidFill xmlns:a="http://schemas.openxmlformats.org/drawingml/2006/main">
            <a:srgbClr val="F5B820"/>
          </a:solidFill>
        </p:spPr>
      </p:sp>
      <p:sp>
        <p:nvSpPr>
          <p:cNvPr id="11" name="Shape 8">
            <a:extLst xmlns:a="http://schemas.openxmlformats.org/drawingml/2006/main">
              <a:ext uri="{FF2B5EF4-FFF2-40B4-BE49-F238E27FC236}">
                <a16:creationId xmlns:a16="http://schemas.microsoft.com/office/drawing/2014/main" id="{DCA4907C-D415-4361-8128-4299FC5A0741}"/>
              </a:ext>
            </a:extLst>
          </p:cNvPr>
          <p:cNvSpPr>
            <a:spLocks xmlns:a="http://schemas.openxmlformats.org/drawingml/2006/main" noGrp="1"/>
          </p:cNvSpPr>
          <p:nvPr/>
        </p:nvSpPr>
        <p:spPr>
          <a:xfrm xmlns:a="http://schemas.openxmlformats.org/drawingml/2006/main">
            <a:off x="1133856" y="1664208"/>
            <a:ext cx="109728" cy="109728"/>
          </a:xfrm>
          <a:prstGeom xmlns:a="http://schemas.openxmlformats.org/drawingml/2006/main" prst="ellipse">
            <a:avLst/>
          </a:prstGeom>
          <a:solidFill xmlns:a="http://schemas.openxmlformats.org/drawingml/2006/main">
            <a:srgbClr val="8DC63F"/>
          </a:solidFill>
        </p:spPr>
      </p:sp>
      <p:sp>
        <p:nvSpPr>
          <p:cNvPr id="12" name="Text 9">
            <a:extLst xmlns:a="http://schemas.openxmlformats.org/drawingml/2006/main">
              <a:ext uri="{FF2B5EF4-FFF2-40B4-BE49-F238E27FC236}">
                <a16:creationId xmlns:a16="http://schemas.microsoft.com/office/drawing/2014/main" id="{DA4485B0-DF9D-454E-8AB9-1F935DD0B2B7}"/>
              </a:ext>
            </a:extLst>
          </p:cNvPr>
          <p:cNvSpPr>
            <a:spLocks xmlns:a="http://schemas.openxmlformats.org/drawingml/2006/main" noGrp="1"/>
          </p:cNvSpPr>
          <p:nvPr/>
        </p:nvSpPr>
        <p:spPr>
          <a:xfrm xmlns:a="http://schemas.openxmlformats.org/drawingml/2006/main">
            <a:off x="4526280" y="1609344"/>
            <a:ext cx="32918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6C8"/>
                </a:solidFill>
                <a:latin typeface="Consolas"/>
                <a:ea typeface="Consolas"/>
                <a:cs typeface="Consolas"/>
              </a:rPr>
              <a:t>src/fraud_service/api/app.py</a:t>
            </a:r>
            <a:endParaRPr sz="900"/>
          </a:p>
        </p:txBody>
      </p:sp>
      <p:sp>
        <p:nvSpPr>
          <p:cNvPr id="13" name="Text 10">
            <a:extLst xmlns:a="http://schemas.openxmlformats.org/drawingml/2006/main">
              <a:ext uri="{FF2B5EF4-FFF2-40B4-BE49-F238E27FC236}">
                <a16:creationId xmlns:a16="http://schemas.microsoft.com/office/drawing/2014/main" id="{51E1D258-C5FD-475D-9C46-32FFD0A92CC5}"/>
              </a:ext>
            </a:extLst>
          </p:cNvPr>
          <p:cNvSpPr>
            <a:spLocks xmlns:a="http://schemas.openxmlformats.org/drawingml/2006/main" noGrp="1"/>
          </p:cNvSpPr>
          <p:nvPr/>
        </p:nvSpPr>
        <p:spPr>
          <a:xfrm xmlns:a="http://schemas.openxmlformats.org/drawingml/2006/main">
            <a:off x="713232" y="1965960"/>
            <a:ext cx="717804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000">
                <a:solidFill>
                  <a:srgbClr val="D9E4F5"/>
                </a:solidFill>
                <a:latin typeface="Consolas"/>
                <a:ea typeface="Consolas"/>
                <a:cs typeface="Consolas"/>
              </a:rPr>
              <a:t>@asynccontextmanager</a:t>
            </a:r>
            <a:endParaRPr sz="1000"/>
          </a:p>
          <a:p xmlns:a="http://schemas.openxmlformats.org/drawingml/2006/main">
            <a:pPr marL="0" indent="0">
              <a:lnSpc>
                <a:spcPct val="112000"/>
              </a:lnSpc>
              <a:buNone/>
            </a:pPr>
            <a:r>
              <a:rPr sz="1000">
                <a:solidFill>
                  <a:srgbClr val="D9E4F5"/>
                </a:solidFill>
                <a:latin typeface="Consolas"/>
                <a:ea typeface="Consolas"/>
                <a:cs typeface="Consolas"/>
              </a:rPr>
              <a:t>async def lifespan(app: FastAPI):</a:t>
            </a:r>
            <a:endParaRPr sz="1000"/>
          </a:p>
          <a:p xmlns:a="http://schemas.openxmlformats.org/drawingml/2006/main">
            <a:pPr marL="0" indent="0">
              <a:lnSpc>
                <a:spcPct val="112000"/>
              </a:lnSpc>
              <a:buNone/>
            </a:pPr>
            <a:r>
              <a:rPr sz="1000">
                <a:solidFill>
                  <a:srgbClr val="D9E4F5"/>
                </a:solidFill>
                <a:latin typeface="Consolas"/>
                <a:ea typeface="Consolas"/>
                <a:cs typeface="Consolas"/>
              </a:rPr>
              <a:t>    settings = Settings()</a:t>
            </a:r>
            <a:endParaRPr sz="1000"/>
          </a:p>
          <a:p xmlns:a="http://schemas.openxmlformats.org/drawingml/2006/main">
            <a:pPr marL="0" indent="0">
              <a:lnSpc>
                <a:spcPct val="112000"/>
              </a:lnSpc>
              <a:buNone/>
            </a:pPr>
            <a:r>
              <a:rPr sz="1000">
                <a:solidFill>
                  <a:srgbClr val="D9E4F5"/>
                </a:solidFill>
                <a:latin typeface="Consolas"/>
                <a:ea typeface="Consolas"/>
                <a:cs typeface="Consolas"/>
              </a:rPr>
              <a:t>    configure_logging(settings.log_level)</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    t0 = time.perf_counter()</a:t>
            </a:r>
            <a:endParaRPr sz="1000"/>
          </a:p>
          <a:p xmlns:a="http://schemas.openxmlformats.org/drawingml/2006/main">
            <a:pPr marL="0" indent="0">
              <a:lnSpc>
                <a:spcPct val="112000"/>
              </a:lnSpc>
              <a:buNone/>
            </a:pPr>
            <a:r>
              <a:rPr sz="1000">
                <a:solidFill>
                  <a:srgbClr val="D9E4F5"/>
                </a:solidFill>
                <a:latin typeface="Consolas"/>
                <a:ea typeface="Consolas"/>
                <a:cs typeface="Consolas"/>
              </a:rPr>
              <a:t>    model = SklearnModel.load(settings.model_path)</a:t>
            </a:r>
            <a:endParaRPr sz="1000"/>
          </a:p>
          <a:p xmlns:a="http://schemas.openxmlformats.org/drawingml/2006/main">
            <a:pPr marL="0" indent="0">
              <a:lnSpc>
                <a:spcPct val="112000"/>
              </a:lnSpc>
              <a:buNone/>
            </a:pPr>
            <a:r>
              <a:rPr sz="1000">
                <a:solidFill>
                  <a:srgbClr val="D9E4F5"/>
                </a:solidFill>
                <a:latin typeface="Consolas"/>
                <a:ea typeface="Consolas"/>
                <a:cs typeface="Consolas"/>
              </a:rPr>
              <a:t>    model.predict_proba(_warmup_features())  # warm-up</a:t>
            </a:r>
            <a:endParaRPr sz="1000"/>
          </a:p>
          <a:p xmlns:a="http://schemas.openxmlformats.org/drawingml/2006/main">
            <a:pPr marL="0" indent="0">
              <a:lnSpc>
                <a:spcPct val="112000"/>
              </a:lnSpc>
              <a:buNone/>
            </a:pPr>
            <a:r>
              <a:rPr sz="1000">
                <a:solidFill>
                  <a:srgbClr val="D9E4F5"/>
                </a:solidFill>
                <a:latin typeface="Consolas"/>
                <a:ea typeface="Consolas"/>
                <a:cs typeface="Consolas"/>
              </a:rPr>
              <a:t>    log.info("model_loaded",</a:t>
            </a:r>
            <a:endParaRPr sz="1000"/>
          </a:p>
          <a:p xmlns:a="http://schemas.openxmlformats.org/drawingml/2006/main">
            <a:pPr marL="0" indent="0">
              <a:lnSpc>
                <a:spcPct val="112000"/>
              </a:lnSpc>
              <a:buNone/>
            </a:pPr>
            <a:r>
              <a:rPr sz="1000">
                <a:solidFill>
                  <a:srgbClr val="D9E4F5"/>
                </a:solidFill>
                <a:latin typeface="Consolas"/>
                <a:ea typeface="Consolas"/>
                <a:cs typeface="Consolas"/>
              </a:rPr>
              <a:t>             version=model.model_version,</a:t>
            </a:r>
            <a:endParaRPr sz="1000"/>
          </a:p>
          <a:p xmlns:a="http://schemas.openxmlformats.org/drawingml/2006/main">
            <a:pPr marL="0" indent="0">
              <a:lnSpc>
                <a:spcPct val="112000"/>
              </a:lnSpc>
              <a:buNone/>
            </a:pPr>
            <a:r>
              <a:rPr sz="1000">
                <a:solidFill>
                  <a:srgbClr val="D9E4F5"/>
                </a:solidFill>
                <a:latin typeface="Consolas"/>
                <a:ea typeface="Consolas"/>
                <a:cs typeface="Consolas"/>
              </a:rPr>
              <a:t>             seconds=round(time.perf_counter() - t0, 3))</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    app.state.scorer = FraudScorer(</a:t>
            </a:r>
            <a:endParaRPr sz="1000"/>
          </a:p>
          <a:p xmlns:a="http://schemas.openxmlformats.org/drawingml/2006/main">
            <a:pPr marL="0" indent="0">
              <a:lnSpc>
                <a:spcPct val="112000"/>
              </a:lnSpc>
              <a:buNone/>
            </a:pPr>
            <a:r>
              <a:rPr sz="1000">
                <a:solidFill>
                  <a:srgbClr val="D9E4F5"/>
                </a:solidFill>
                <a:latin typeface="Consolas"/>
                <a:ea typeface="Consolas"/>
                <a:cs typeface="Consolas"/>
              </a:rPr>
              <a:t>        model=model,</a:t>
            </a:r>
            <a:endParaRPr sz="1000"/>
          </a:p>
          <a:p xmlns:a="http://schemas.openxmlformats.org/drawingml/2006/main">
            <a:pPr marL="0" indent="0">
              <a:lnSpc>
                <a:spcPct val="112000"/>
              </a:lnSpc>
              <a:buNone/>
            </a:pPr>
            <a:r>
              <a:rPr sz="1000">
                <a:solidFill>
                  <a:srgbClr val="D9E4F5"/>
                </a:solidFill>
                <a:latin typeface="Consolas"/>
                <a:ea typeface="Consolas"/>
                <a:cs typeface="Consolas"/>
              </a:rPr>
              <a:t>        block_threshold=settings.block_threshold)</a:t>
            </a:r>
            <a:endParaRPr sz="1000"/>
          </a:p>
          <a:p xmlns:a="http://schemas.openxmlformats.org/drawingml/2006/main">
            <a:pPr marL="0" indent="0">
              <a:lnSpc>
                <a:spcPct val="112000"/>
              </a:lnSpc>
              <a:buNone/>
            </a:pPr>
            <a:r>
              <a:rPr sz="1000">
                <a:solidFill>
                  <a:srgbClr val="D9E4F5"/>
                </a:solidFill>
                <a:latin typeface="Consolas"/>
                <a:ea typeface="Consolas"/>
                <a:cs typeface="Consolas"/>
              </a:rPr>
              <a:t>    app.state.started_at = datetime.now(timezone.utc)</a:t>
            </a:r>
            <a:endParaRPr sz="1000"/>
          </a:p>
          <a:p xmlns:a="http://schemas.openxmlformats.org/drawingml/2006/main">
            <a:pPr marL="0" indent="0">
              <a:lnSpc>
                <a:spcPct val="112000"/>
              </a:lnSpc>
              <a:buNone/>
            </a:pPr>
            <a:r>
              <a:rPr sz="1000">
                <a:solidFill>
                  <a:srgbClr val="D9E4F5"/>
                </a:solidFill>
                <a:latin typeface="Consolas"/>
                <a:ea typeface="Consolas"/>
                <a:cs typeface="Consolas"/>
              </a:rPr>
              <a:t>    yield</a:t>
            </a:r>
            <a:endParaRPr sz="1000"/>
          </a:p>
          <a:p xmlns:a="http://schemas.openxmlformats.org/drawingml/2006/main">
            <a:pPr marL="0" indent="0">
              <a:lnSpc>
                <a:spcPct val="112000"/>
              </a:lnSpc>
              <a:buNone/>
            </a:pPr>
            <a:r>
              <a:rPr sz="1000">
                <a:solidFill>
                  <a:srgbClr val="D9E4F5"/>
                </a:solidFill>
                <a:latin typeface="Consolas"/>
                <a:ea typeface="Consolas"/>
                <a:cs typeface="Consolas"/>
              </a:rPr>
              <a:t>    log.info("shutdown_complete")</a:t>
            </a:r>
            <a:endParaRPr sz="1000"/>
          </a:p>
        </p:txBody>
      </p:sp>
      <p:sp>
        <p:nvSpPr>
          <p:cNvPr id="14" name="Shape 11">
            <a:extLst xmlns:a="http://schemas.openxmlformats.org/drawingml/2006/main">
              <a:ext uri="{FF2B5EF4-FFF2-40B4-BE49-F238E27FC236}">
                <a16:creationId xmlns:a16="http://schemas.microsoft.com/office/drawing/2014/main" id="{BA36FA77-5938-453D-AE79-DE172FCCD69E}"/>
              </a:ext>
            </a:extLst>
          </p:cNvPr>
          <p:cNvSpPr>
            <a:spLocks xmlns:a="http://schemas.openxmlformats.org/drawingml/2006/main" noGrp="1"/>
          </p:cNvSpPr>
          <p:nvPr/>
        </p:nvSpPr>
        <p:spPr>
          <a:xfrm xmlns:a="http://schemas.openxmlformats.org/drawingml/2006/main">
            <a:off x="8321040" y="1481328"/>
            <a:ext cx="3364992" cy="1402080"/>
          </a:xfrm>
          <a:prstGeom xmlns:a="http://schemas.openxmlformats.org/drawingml/2006/main" prst="roundRect">
            <a:avLst>
              <a:gd name="adj" fmla="val 3913"/>
            </a:avLst>
          </a:prstGeom>
          <a:solidFill xmlns:a="http://schemas.openxmlformats.org/drawingml/2006/main">
            <a:srgbClr val="D4F1EE"/>
          </a:solidFill>
        </p:spPr>
      </p:sp>
      <p:sp>
        <p:nvSpPr>
          <p:cNvPr id="15" name="Text 12">
            <a:extLst xmlns:a="http://schemas.openxmlformats.org/drawingml/2006/main">
              <a:ext uri="{FF2B5EF4-FFF2-40B4-BE49-F238E27FC236}">
                <a16:creationId xmlns:a16="http://schemas.microsoft.com/office/drawing/2014/main" id="{3767EC03-C34D-4918-BF50-E9D4F39149B9}"/>
              </a:ext>
            </a:extLst>
          </p:cNvPr>
          <p:cNvSpPr>
            <a:spLocks xmlns:a="http://schemas.openxmlformats.org/drawingml/2006/main" noGrp="1"/>
          </p:cNvSpPr>
          <p:nvPr/>
        </p:nvSpPr>
        <p:spPr>
          <a:xfrm xmlns:a="http://schemas.openxmlformats.org/drawingml/2006/main">
            <a:off x="8485632" y="157276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Fail fast if absent</a:t>
            </a:r>
            <a:endParaRPr sz="1050"/>
          </a:p>
        </p:txBody>
      </p:sp>
      <p:sp>
        <p:nvSpPr>
          <p:cNvPr id="16" name="Text 13">
            <a:extLst xmlns:a="http://schemas.openxmlformats.org/drawingml/2006/main">
              <a:ext uri="{FF2B5EF4-FFF2-40B4-BE49-F238E27FC236}">
                <a16:creationId xmlns:a16="http://schemas.microsoft.com/office/drawing/2014/main" id="{50AA01F5-F901-41CA-AE20-734AF7F84038}"/>
              </a:ext>
            </a:extLst>
          </p:cNvPr>
          <p:cNvSpPr>
            <a:spLocks xmlns:a="http://schemas.openxmlformats.org/drawingml/2006/main" noGrp="1"/>
          </p:cNvSpPr>
          <p:nvPr/>
        </p:nvSpPr>
        <p:spPr>
          <a:xfrm xmlns:a="http://schemas.openxmlformats.org/drawingml/2006/main">
            <a:off x="8485632" y="184708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SklearnModel.load raises at startup when the artefact is missing — visible, timed, logged. Never at import time.</a:t>
            </a:r>
            <a:endParaRPr sz="930"/>
          </a:p>
        </p:txBody>
      </p:sp>
      <p:sp>
        <p:nvSpPr>
          <p:cNvPr id="17" name="Shape 14">
            <a:extLst xmlns:a="http://schemas.openxmlformats.org/drawingml/2006/main">
              <a:ext uri="{FF2B5EF4-FFF2-40B4-BE49-F238E27FC236}">
                <a16:creationId xmlns:a16="http://schemas.microsoft.com/office/drawing/2014/main" id="{3099A532-F3DB-4323-AA92-09499A7F978C}"/>
              </a:ext>
            </a:extLst>
          </p:cNvPr>
          <p:cNvSpPr>
            <a:spLocks xmlns:a="http://schemas.openxmlformats.org/drawingml/2006/main" noGrp="1"/>
          </p:cNvSpPr>
          <p:nvPr/>
        </p:nvSpPr>
        <p:spPr>
          <a:xfrm xmlns:a="http://schemas.openxmlformats.org/drawingml/2006/main">
            <a:off x="8321040" y="3020568"/>
            <a:ext cx="3364992" cy="1402080"/>
          </a:xfrm>
          <a:prstGeom xmlns:a="http://schemas.openxmlformats.org/drawingml/2006/main" prst="roundRect">
            <a:avLst>
              <a:gd name="adj" fmla="val 3913"/>
            </a:avLst>
          </a:prstGeom>
          <a:solidFill xmlns:a="http://schemas.openxmlformats.org/drawingml/2006/main">
            <a:srgbClr val="D9F0FA"/>
          </a:solidFill>
        </p:spPr>
      </p:sp>
      <p:sp>
        <p:nvSpPr>
          <p:cNvPr id="18" name="Text 15">
            <a:extLst xmlns:a="http://schemas.openxmlformats.org/drawingml/2006/main">
              <a:ext uri="{FF2B5EF4-FFF2-40B4-BE49-F238E27FC236}">
                <a16:creationId xmlns:a16="http://schemas.microsoft.com/office/drawing/2014/main" id="{FA74E21F-FE21-4045-B3AC-62EE45EF656C}"/>
              </a:ext>
            </a:extLst>
          </p:cNvPr>
          <p:cNvSpPr>
            <a:spLocks xmlns:a="http://schemas.openxmlformats.org/drawingml/2006/main" noGrp="1"/>
          </p:cNvSpPr>
          <p:nvPr/>
        </p:nvSpPr>
        <p:spPr>
          <a:xfrm xmlns:a="http://schemas.openxmlformats.org/drawingml/2006/main">
            <a:off x="8485632" y="311200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Warm-up before traffic</a:t>
            </a:r>
            <a:endParaRPr sz="1050"/>
          </a:p>
        </p:txBody>
      </p:sp>
      <p:sp>
        <p:nvSpPr>
          <p:cNvPr id="19" name="Text 16">
            <a:extLst xmlns:a="http://schemas.openxmlformats.org/drawingml/2006/main">
              <a:ext uri="{FF2B5EF4-FFF2-40B4-BE49-F238E27FC236}">
                <a16:creationId xmlns:a16="http://schemas.microsoft.com/office/drawing/2014/main" id="{3BCA8C09-0993-4932-A2E5-8FEE77CBF12E}"/>
              </a:ext>
            </a:extLst>
          </p:cNvPr>
          <p:cNvSpPr>
            <a:spLocks xmlns:a="http://schemas.openxmlformats.org/drawingml/2006/main" noGrp="1"/>
          </p:cNvSpPr>
          <p:nvPr/>
        </p:nvSpPr>
        <p:spPr>
          <a:xfrm xmlns:a="http://schemas.openxmlformats.org/drawingml/2006/main">
            <a:off x="8485632" y="338632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Pay the lazy-init cost now, not on the first user request. app.state.scorer is set only AFTER warm-up — /ready depends on it.</a:t>
            </a:r>
            <a:endParaRPr sz="930"/>
          </a:p>
        </p:txBody>
      </p:sp>
      <p:sp>
        <p:nvSpPr>
          <p:cNvPr id="20" name="Shape 17">
            <a:extLst xmlns:a="http://schemas.openxmlformats.org/drawingml/2006/main">
              <a:ext uri="{FF2B5EF4-FFF2-40B4-BE49-F238E27FC236}">
                <a16:creationId xmlns:a16="http://schemas.microsoft.com/office/drawing/2014/main" id="{3AB3C14A-0D6E-41E2-BA7A-6FA7CC2EB83B}"/>
              </a:ext>
            </a:extLst>
          </p:cNvPr>
          <p:cNvSpPr>
            <a:spLocks xmlns:a="http://schemas.openxmlformats.org/drawingml/2006/main" noGrp="1"/>
          </p:cNvSpPr>
          <p:nvPr/>
        </p:nvSpPr>
        <p:spPr>
          <a:xfrm xmlns:a="http://schemas.openxmlformats.org/drawingml/2006/main">
            <a:off x="8321040" y="4559808"/>
            <a:ext cx="3364992" cy="1402080"/>
          </a:xfrm>
          <a:prstGeom xmlns:a="http://schemas.openxmlformats.org/drawingml/2006/main" prst="roundRect">
            <a:avLst>
              <a:gd name="adj" fmla="val 3913"/>
            </a:avLst>
          </a:prstGeom>
          <a:solidFill xmlns:a="http://schemas.openxmlformats.org/drawingml/2006/main">
            <a:srgbClr val="FDEBD7"/>
          </a:solidFill>
        </p:spPr>
      </p:sp>
      <p:sp>
        <p:nvSpPr>
          <p:cNvPr id="21" name="Text 18">
            <a:extLst xmlns:a="http://schemas.openxmlformats.org/drawingml/2006/main">
              <a:ext uri="{FF2B5EF4-FFF2-40B4-BE49-F238E27FC236}">
                <a16:creationId xmlns:a16="http://schemas.microsoft.com/office/drawing/2014/main" id="{66176376-CC12-4616-8AD6-87E44158E8E7}"/>
              </a:ext>
            </a:extLst>
          </p:cNvPr>
          <p:cNvSpPr>
            <a:spLocks xmlns:a="http://schemas.openxmlformats.org/drawingml/2006/main" noGrp="1"/>
          </p:cNvSpPr>
          <p:nvPr/>
        </p:nvSpPr>
        <p:spPr>
          <a:xfrm xmlns:a="http://schemas.openxmlformats.org/drawingml/2006/main">
            <a:off x="8485632" y="465124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Composition root</a:t>
            </a:r>
            <a:endParaRPr sz="1050"/>
          </a:p>
        </p:txBody>
      </p:sp>
      <p:sp>
        <p:nvSpPr>
          <p:cNvPr id="22" name="Text 19">
            <a:extLst xmlns:a="http://schemas.openxmlformats.org/drawingml/2006/main">
              <a:ext uri="{FF2B5EF4-FFF2-40B4-BE49-F238E27FC236}">
                <a16:creationId xmlns:a16="http://schemas.microsoft.com/office/drawing/2014/main" id="{3909720D-56F9-49FA-BF33-7A9392B74751}"/>
              </a:ext>
            </a:extLst>
          </p:cNvPr>
          <p:cNvSpPr>
            <a:spLocks xmlns:a="http://schemas.openxmlformats.org/drawingml/2006/main" noGrp="1"/>
          </p:cNvSpPr>
          <p:nvPr/>
        </p:nvSpPr>
        <p:spPr>
          <a:xfrm xmlns:a="http://schemas.openxmlformats.org/drawingml/2006/main">
            <a:off x="8485632" y="492556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The one place concrete classes meet (Module 1). Everything after yield is teardown.</a:t>
            </a:r>
            <a:endParaRPr sz="930"/>
          </a:p>
        </p:txBody>
      </p:sp>
    </p:spTree>
    <p:extLst>
      <p:ext uri="{BB962C8B-B14F-4D97-AF65-F5344CB8AC3E}">
        <p14:creationId xmlns:p14="http://schemas.microsoft.com/office/powerpoint/2010/main" val="268021738"/>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B5A553B-802C-4509-9A81-16CAE08054C0}"/>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Liveness vs Readiness</a:t>
            </a:r>
            <a:endParaRPr sz="2600"/>
          </a:p>
        </p:txBody>
      </p:sp>
      <p:sp>
        <p:nvSpPr>
          <p:cNvPr id="3" name="Text 1">
            <a:extLst xmlns:a="http://schemas.openxmlformats.org/drawingml/2006/main">
              <a:ext uri="{FF2B5EF4-FFF2-40B4-BE49-F238E27FC236}">
                <a16:creationId xmlns:a16="http://schemas.microsoft.com/office/drawing/2014/main" id="{6FA0AEF7-0837-4D63-814E-66BA2A7D639E}"/>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الحيوية مقابل الجاهزية</a:t>
            </a:r>
            <a:endParaRPr sz="1300"/>
          </a:p>
        </p:txBody>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d6233e46d7f443c1"/>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85396623-028F-42C6-9780-AE3267FB58B2}"/>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B24AFD7E-C6A8-46F1-9432-822F9377E6D4}"/>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2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38116490-252D-4C43-9F4D-87445945709D}"/>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44</a:t>
            </a:r>
            <a:endParaRPr sz="850"/>
          </a:p>
        </p:txBody>
      </p:sp>
      <p:sp>
        <p:nvSpPr>
          <p:cNvPr id="8" name="Shape 5">
            <a:extLst xmlns:a="http://schemas.openxmlformats.org/drawingml/2006/main">
              <a:ext uri="{FF2B5EF4-FFF2-40B4-BE49-F238E27FC236}">
                <a16:creationId xmlns:a16="http://schemas.microsoft.com/office/drawing/2014/main" id="{1D64A75B-0376-4DC2-9BB3-9281EC3F9C05}"/>
              </a:ext>
            </a:extLst>
          </p:cNvPr>
          <p:cNvSpPr>
            <a:spLocks xmlns:a="http://schemas.openxmlformats.org/drawingml/2006/main" noGrp="1"/>
          </p:cNvSpPr>
          <p:nvPr/>
        </p:nvSpPr>
        <p:spPr>
          <a:xfrm xmlns:a="http://schemas.openxmlformats.org/drawingml/2006/main">
            <a:off x="502920" y="1508760"/>
            <a:ext cx="5440680" cy="3977640"/>
          </a:xfrm>
          <a:prstGeom xmlns:a="http://schemas.openxmlformats.org/drawingml/2006/main" prst="roundRect">
            <a:avLst>
              <a:gd name="adj" fmla="val 1609"/>
            </a:avLst>
          </a:prstGeom>
          <a:solidFill xmlns:a="http://schemas.openxmlformats.org/drawingml/2006/main">
            <a:srgbClr val="FFFFFF"/>
          </a:solidFill>
          <a:ln xmlns:a="http://schemas.openxmlformats.org/drawingml/2006/main" w="12700">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02674895-A2D3-49FB-9444-50C4DCAA34AC}"/>
              </a:ext>
            </a:extLst>
          </p:cNvPr>
          <p:cNvSpPr>
            <a:spLocks xmlns:a="http://schemas.openxmlformats.org/drawingml/2006/main" noGrp="1"/>
          </p:cNvSpPr>
          <p:nvPr/>
        </p:nvSpPr>
        <p:spPr>
          <a:xfrm xmlns:a="http://schemas.openxmlformats.org/drawingml/2006/main">
            <a:off x="502920" y="1508760"/>
            <a:ext cx="5440680" cy="475488"/>
          </a:xfrm>
          <a:prstGeom xmlns:a="http://schemas.openxmlformats.org/drawingml/2006/main" prst="roundRect">
            <a:avLst>
              <a:gd name="adj" fmla="val 13462"/>
            </a:avLst>
          </a:prstGeom>
          <a:solidFill xmlns:a="http://schemas.openxmlformats.org/drawingml/2006/main">
            <a:srgbClr val="EEF3FB"/>
          </a:solidFill>
        </p:spPr>
      </p:sp>
      <p:sp>
        <p:nvSpPr>
          <p:cNvPr id="10" name="Text 7">
            <a:extLst xmlns:a="http://schemas.openxmlformats.org/drawingml/2006/main">
              <a:ext uri="{FF2B5EF4-FFF2-40B4-BE49-F238E27FC236}">
                <a16:creationId xmlns:a16="http://schemas.microsoft.com/office/drawing/2014/main" id="{94EF5A77-6106-4B16-9295-DBD72654B4C2}"/>
              </a:ext>
            </a:extLst>
          </p:cNvPr>
          <p:cNvSpPr>
            <a:spLocks xmlns:a="http://schemas.openxmlformats.org/drawingml/2006/main" noGrp="1"/>
          </p:cNvSpPr>
          <p:nvPr/>
        </p:nvSpPr>
        <p:spPr>
          <a:xfrm xmlns:a="http://schemas.openxmlformats.org/drawingml/2006/main">
            <a:off x="685800" y="1545336"/>
            <a:ext cx="5074920"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D2A5C"/>
                </a:solidFill>
                <a:latin typeface="Calibri"/>
                <a:ea typeface="Calibri"/>
                <a:cs typeface="Calibri"/>
              </a:rPr>
              <a:t>GET /health — liveness</a:t>
            </a:r>
            <a:endParaRPr sz="1300"/>
          </a:p>
        </p:txBody>
      </p:sp>
      <p:sp>
        <p:nvSpPr>
          <p:cNvPr id="11" name="Text 8">
            <a:extLst xmlns:a="http://schemas.openxmlformats.org/drawingml/2006/main">
              <a:ext uri="{FF2B5EF4-FFF2-40B4-BE49-F238E27FC236}">
                <a16:creationId xmlns:a16="http://schemas.microsoft.com/office/drawing/2014/main" id="{894D8A40-15A3-4FC0-97B1-F470A8A746A7}"/>
              </a:ext>
            </a:extLst>
          </p:cNvPr>
          <p:cNvSpPr>
            <a:spLocks xmlns:a="http://schemas.openxmlformats.org/drawingml/2006/main" noGrp="1"/>
          </p:cNvSpPr>
          <p:nvPr/>
        </p:nvSpPr>
        <p:spPr>
          <a:xfrm xmlns:a="http://schemas.openxmlformats.org/drawingml/2006/main">
            <a:off x="667512" y="21671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a:t>
            </a:r>
            <a:endParaRPr sz="1200"/>
          </a:p>
        </p:txBody>
      </p:sp>
      <p:sp>
        <p:nvSpPr>
          <p:cNvPr id="12" name="Text 9">
            <a:extLst xmlns:a="http://schemas.openxmlformats.org/drawingml/2006/main">
              <a:ext uri="{FF2B5EF4-FFF2-40B4-BE49-F238E27FC236}">
                <a16:creationId xmlns:a16="http://schemas.microsoft.com/office/drawing/2014/main" id="{D6F50545-DE77-4CF4-AD6D-C6B57D060ACA}"/>
              </a:ext>
            </a:extLst>
          </p:cNvPr>
          <p:cNvSpPr>
            <a:spLocks xmlns:a="http://schemas.openxmlformats.org/drawingml/2006/main" noGrp="1"/>
          </p:cNvSpPr>
          <p:nvPr/>
        </p:nvSpPr>
        <p:spPr>
          <a:xfrm xmlns:a="http://schemas.openxmlformats.org/drawingml/2006/main">
            <a:off x="978408" y="21396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"Is the process alive?"</a:t>
            </a:r>
            <a:endParaRPr sz="1050"/>
          </a:p>
        </p:txBody>
      </p:sp>
      <p:sp>
        <p:nvSpPr>
          <p:cNvPr id="13" name="Text 10">
            <a:extLst xmlns:a="http://schemas.openxmlformats.org/drawingml/2006/main">
              <a:ext uri="{FF2B5EF4-FFF2-40B4-BE49-F238E27FC236}">
                <a16:creationId xmlns:a16="http://schemas.microsoft.com/office/drawing/2014/main" id="{0B2800B8-D375-4DAB-BD06-1DABD9354930}"/>
              </a:ext>
            </a:extLst>
          </p:cNvPr>
          <p:cNvSpPr>
            <a:spLocks xmlns:a="http://schemas.openxmlformats.org/drawingml/2006/main" noGrp="1"/>
          </p:cNvSpPr>
          <p:nvPr/>
        </p:nvSpPr>
        <p:spPr>
          <a:xfrm xmlns:a="http://schemas.openxmlformats.org/drawingml/2006/main">
            <a:off x="667512" y="29672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a:t>
            </a:r>
            <a:endParaRPr sz="1200"/>
          </a:p>
        </p:txBody>
      </p:sp>
      <p:sp>
        <p:nvSpPr>
          <p:cNvPr id="14" name="Text 11">
            <a:extLst xmlns:a="http://schemas.openxmlformats.org/drawingml/2006/main">
              <a:ext uri="{FF2B5EF4-FFF2-40B4-BE49-F238E27FC236}">
                <a16:creationId xmlns:a16="http://schemas.microsoft.com/office/drawing/2014/main" id="{53EE7BC3-790E-4F2A-8A0B-6AE04D066F92}"/>
              </a:ext>
            </a:extLst>
          </p:cNvPr>
          <p:cNvSpPr>
            <a:spLocks xmlns:a="http://schemas.openxmlformats.org/drawingml/2006/main" noGrp="1"/>
          </p:cNvSpPr>
          <p:nvPr/>
        </p:nvSpPr>
        <p:spPr>
          <a:xfrm xmlns:a="http://schemas.openxmlformats.org/drawingml/2006/main">
            <a:off x="978408" y="29397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Returns 200 with build info: git SHA, started_at</a:t>
            </a:r>
            <a:endParaRPr sz="1050"/>
          </a:p>
        </p:txBody>
      </p:sp>
      <p:sp>
        <p:nvSpPr>
          <p:cNvPr id="15" name="Text 12">
            <a:extLst xmlns:a="http://schemas.openxmlformats.org/drawingml/2006/main">
              <a:ext uri="{FF2B5EF4-FFF2-40B4-BE49-F238E27FC236}">
                <a16:creationId xmlns:a16="http://schemas.microsoft.com/office/drawing/2014/main" id="{2B66D9D4-4455-49D7-B1E8-7D52FD0BDBF2}"/>
              </a:ext>
            </a:extLst>
          </p:cNvPr>
          <p:cNvSpPr>
            <a:spLocks xmlns:a="http://schemas.openxmlformats.org/drawingml/2006/main" noGrp="1"/>
          </p:cNvSpPr>
          <p:nvPr/>
        </p:nvSpPr>
        <p:spPr>
          <a:xfrm xmlns:a="http://schemas.openxmlformats.org/drawingml/2006/main">
            <a:off x="667512" y="37673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a:t>
            </a:r>
            <a:endParaRPr sz="1200"/>
          </a:p>
        </p:txBody>
      </p:sp>
      <p:sp>
        <p:nvSpPr>
          <p:cNvPr id="16" name="Text 13">
            <a:extLst xmlns:a="http://schemas.openxmlformats.org/drawingml/2006/main">
              <a:ext uri="{FF2B5EF4-FFF2-40B4-BE49-F238E27FC236}">
                <a16:creationId xmlns:a16="http://schemas.microsoft.com/office/drawing/2014/main" id="{BE58943D-3692-473D-BC3E-C92700AA4DEF}"/>
              </a:ext>
            </a:extLst>
          </p:cNvPr>
          <p:cNvSpPr>
            <a:spLocks xmlns:a="http://schemas.openxmlformats.org/drawingml/2006/main" noGrp="1"/>
          </p:cNvSpPr>
          <p:nvPr/>
        </p:nvSpPr>
        <p:spPr>
          <a:xfrm xmlns:a="http://schemas.openxmlformats.org/drawingml/2006/main">
            <a:off x="978408" y="37398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Does NO I/O — ever</a:t>
            </a:r>
            <a:endParaRPr sz="1050"/>
          </a:p>
        </p:txBody>
      </p:sp>
      <p:sp>
        <p:nvSpPr>
          <p:cNvPr id="17" name="Text 14">
            <a:extLst xmlns:a="http://schemas.openxmlformats.org/drawingml/2006/main">
              <a:ext uri="{FF2B5EF4-FFF2-40B4-BE49-F238E27FC236}">
                <a16:creationId xmlns:a16="http://schemas.microsoft.com/office/drawing/2014/main" id="{D6DBC61D-304D-49B0-B40F-2576EE9C90C6}"/>
              </a:ext>
            </a:extLst>
          </p:cNvPr>
          <p:cNvSpPr>
            <a:spLocks xmlns:a="http://schemas.openxmlformats.org/drawingml/2006/main" noGrp="1"/>
          </p:cNvSpPr>
          <p:nvPr/>
        </p:nvSpPr>
        <p:spPr>
          <a:xfrm xmlns:a="http://schemas.openxmlformats.org/drawingml/2006/main">
            <a:off x="667512" y="45674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a:t>
            </a:r>
            <a:endParaRPr sz="1200"/>
          </a:p>
        </p:txBody>
      </p:sp>
      <p:sp>
        <p:nvSpPr>
          <p:cNvPr id="18" name="Text 15">
            <a:extLst xmlns:a="http://schemas.openxmlformats.org/drawingml/2006/main">
              <a:ext uri="{FF2B5EF4-FFF2-40B4-BE49-F238E27FC236}">
                <a16:creationId xmlns:a16="http://schemas.microsoft.com/office/drawing/2014/main" id="{7BB74ADC-3691-4AE1-A9BF-F0BC158FEE00}"/>
              </a:ext>
            </a:extLst>
          </p:cNvPr>
          <p:cNvSpPr>
            <a:spLocks xmlns:a="http://schemas.openxmlformats.org/drawingml/2006/main" noGrp="1"/>
          </p:cNvSpPr>
          <p:nvPr/>
        </p:nvSpPr>
        <p:spPr>
          <a:xfrm xmlns:a="http://schemas.openxmlformats.org/drawingml/2006/main">
            <a:off x="978408" y="45399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Container orchestrators kill the process on failure</a:t>
            </a:r>
            <a:endParaRPr sz="1050"/>
          </a:p>
        </p:txBody>
      </p:sp>
      <p:sp>
        <p:nvSpPr>
          <p:cNvPr id="19" name="Shape 16">
            <a:extLst xmlns:a="http://schemas.openxmlformats.org/drawingml/2006/main">
              <a:ext uri="{FF2B5EF4-FFF2-40B4-BE49-F238E27FC236}">
                <a16:creationId xmlns:a16="http://schemas.microsoft.com/office/drawing/2014/main" id="{6F1896B1-0663-4366-BF80-F8349BE034C0}"/>
              </a:ext>
            </a:extLst>
          </p:cNvPr>
          <p:cNvSpPr>
            <a:spLocks xmlns:a="http://schemas.openxmlformats.org/drawingml/2006/main" noGrp="1"/>
          </p:cNvSpPr>
          <p:nvPr/>
        </p:nvSpPr>
        <p:spPr>
          <a:xfrm xmlns:a="http://schemas.openxmlformats.org/drawingml/2006/main">
            <a:off x="6245352" y="1508760"/>
            <a:ext cx="5440680" cy="3977640"/>
          </a:xfrm>
          <a:prstGeom xmlns:a="http://schemas.openxmlformats.org/drawingml/2006/main" prst="roundRect">
            <a:avLst>
              <a:gd name="adj" fmla="val 1609"/>
            </a:avLst>
          </a:prstGeom>
          <a:solidFill xmlns:a="http://schemas.openxmlformats.org/drawingml/2006/main">
            <a:srgbClr val="FFFFFF"/>
          </a:solidFill>
          <a:ln xmlns:a="http://schemas.openxmlformats.org/drawingml/2006/main" w="12700">
            <a:solidFill>
              <a:srgbClr val="D9E4F5"/>
            </a:solidFill>
            <a:prstDash val="solid"/>
          </a:ln>
        </p:spPr>
      </p:sp>
      <p:sp>
        <p:nvSpPr>
          <p:cNvPr id="20" name="Shape 17">
            <a:extLst xmlns:a="http://schemas.openxmlformats.org/drawingml/2006/main">
              <a:ext uri="{FF2B5EF4-FFF2-40B4-BE49-F238E27FC236}">
                <a16:creationId xmlns:a16="http://schemas.microsoft.com/office/drawing/2014/main" id="{A7C2746A-9B62-4F2F-A380-2DE4FA51C640}"/>
              </a:ext>
            </a:extLst>
          </p:cNvPr>
          <p:cNvSpPr>
            <a:spLocks xmlns:a="http://schemas.openxmlformats.org/drawingml/2006/main" noGrp="1"/>
          </p:cNvSpPr>
          <p:nvPr/>
        </p:nvSpPr>
        <p:spPr>
          <a:xfrm xmlns:a="http://schemas.openxmlformats.org/drawingml/2006/main">
            <a:off x="6245352" y="1508760"/>
            <a:ext cx="5440680" cy="475488"/>
          </a:xfrm>
          <a:prstGeom xmlns:a="http://schemas.openxmlformats.org/drawingml/2006/main" prst="roundRect">
            <a:avLst>
              <a:gd name="adj" fmla="val 13462"/>
            </a:avLst>
          </a:prstGeom>
          <a:solidFill xmlns:a="http://schemas.openxmlformats.org/drawingml/2006/main">
            <a:srgbClr val="D4F1EE"/>
          </a:solidFill>
        </p:spPr>
      </p:sp>
      <p:sp>
        <p:nvSpPr>
          <p:cNvPr id="21" name="Text 18">
            <a:extLst xmlns:a="http://schemas.openxmlformats.org/drawingml/2006/main">
              <a:ext uri="{FF2B5EF4-FFF2-40B4-BE49-F238E27FC236}">
                <a16:creationId xmlns:a16="http://schemas.microsoft.com/office/drawing/2014/main" id="{3D757574-DCF2-43D5-A37D-47EEBC38139F}"/>
              </a:ext>
            </a:extLst>
          </p:cNvPr>
          <p:cNvSpPr>
            <a:spLocks xmlns:a="http://schemas.openxmlformats.org/drawingml/2006/main" noGrp="1"/>
          </p:cNvSpPr>
          <p:nvPr/>
        </p:nvSpPr>
        <p:spPr>
          <a:xfrm xmlns:a="http://schemas.openxmlformats.org/drawingml/2006/main">
            <a:off x="6428232" y="1545336"/>
            <a:ext cx="5074920"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056A63"/>
                </a:solidFill>
                <a:latin typeface="Calibri"/>
                <a:ea typeface="Calibri"/>
                <a:cs typeface="Calibri"/>
              </a:rPr>
              <a:t>GET /ready — readiness</a:t>
            </a:r>
            <a:endParaRPr sz="1300"/>
          </a:p>
        </p:txBody>
      </p:sp>
      <p:sp>
        <p:nvSpPr>
          <p:cNvPr id="22" name="Text 19">
            <a:extLst xmlns:a="http://schemas.openxmlformats.org/drawingml/2006/main">
              <a:ext uri="{FF2B5EF4-FFF2-40B4-BE49-F238E27FC236}">
                <a16:creationId xmlns:a16="http://schemas.microsoft.com/office/drawing/2014/main" id="{4B36F4B0-8DBA-4371-8A86-E26793EE2A1A}"/>
              </a:ext>
            </a:extLst>
          </p:cNvPr>
          <p:cNvSpPr>
            <a:spLocks xmlns:a="http://schemas.openxmlformats.org/drawingml/2006/main" noGrp="1"/>
          </p:cNvSpPr>
          <p:nvPr/>
        </p:nvSpPr>
        <p:spPr>
          <a:xfrm xmlns:a="http://schemas.openxmlformats.org/drawingml/2006/main">
            <a:off x="6409944" y="21671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56A63"/>
                </a:solidFill>
                <a:latin typeface="Calibri"/>
                <a:ea typeface="Calibri"/>
                <a:cs typeface="Calibri"/>
              </a:rPr>
              <a:t>✓</a:t>
            </a:r>
            <a:endParaRPr sz="1200"/>
          </a:p>
        </p:txBody>
      </p:sp>
      <p:sp>
        <p:nvSpPr>
          <p:cNvPr id="23" name="Text 20">
            <a:extLst xmlns:a="http://schemas.openxmlformats.org/drawingml/2006/main">
              <a:ext uri="{FF2B5EF4-FFF2-40B4-BE49-F238E27FC236}">
                <a16:creationId xmlns:a16="http://schemas.microsoft.com/office/drawing/2014/main" id="{B4A8D547-A54C-4823-AE10-834C8A303551}"/>
              </a:ext>
            </a:extLst>
          </p:cNvPr>
          <p:cNvSpPr>
            <a:spLocks xmlns:a="http://schemas.openxmlformats.org/drawingml/2006/main" noGrp="1"/>
          </p:cNvSpPr>
          <p:nvPr/>
        </p:nvSpPr>
        <p:spPr>
          <a:xfrm xmlns:a="http://schemas.openxmlformats.org/drawingml/2006/main">
            <a:off x="6720840" y="21396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"Can I serve correctly right now?"</a:t>
            </a:r>
            <a:endParaRPr sz="1050"/>
          </a:p>
        </p:txBody>
      </p:sp>
      <p:sp>
        <p:nvSpPr>
          <p:cNvPr id="24" name="Text 21">
            <a:extLst xmlns:a="http://schemas.openxmlformats.org/drawingml/2006/main">
              <a:ext uri="{FF2B5EF4-FFF2-40B4-BE49-F238E27FC236}">
                <a16:creationId xmlns:a16="http://schemas.microsoft.com/office/drawing/2014/main" id="{E21DE07C-8284-4D3D-A7AF-B953DD56562A}"/>
              </a:ext>
            </a:extLst>
          </p:cNvPr>
          <p:cNvSpPr>
            <a:spLocks xmlns:a="http://schemas.openxmlformats.org/drawingml/2006/main" noGrp="1"/>
          </p:cNvSpPr>
          <p:nvPr/>
        </p:nvSpPr>
        <p:spPr>
          <a:xfrm xmlns:a="http://schemas.openxmlformats.org/drawingml/2006/main">
            <a:off x="6409944" y="29672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56A63"/>
                </a:solidFill>
                <a:latin typeface="Calibri"/>
                <a:ea typeface="Calibri"/>
                <a:cs typeface="Calibri"/>
              </a:rPr>
              <a:t>✓</a:t>
            </a:r>
            <a:endParaRPr sz="1200"/>
          </a:p>
        </p:txBody>
      </p:sp>
      <p:sp>
        <p:nvSpPr>
          <p:cNvPr id="25" name="Text 22">
            <a:extLst xmlns:a="http://schemas.openxmlformats.org/drawingml/2006/main">
              <a:ext uri="{FF2B5EF4-FFF2-40B4-BE49-F238E27FC236}">
                <a16:creationId xmlns:a16="http://schemas.microsoft.com/office/drawing/2014/main" id="{30359550-7573-45E0-8865-B844D62F4B9F}"/>
              </a:ext>
            </a:extLst>
          </p:cNvPr>
          <p:cNvSpPr>
            <a:spLocks xmlns:a="http://schemas.openxmlformats.org/drawingml/2006/main" noGrp="1"/>
          </p:cNvSpPr>
          <p:nvPr/>
        </p:nvSpPr>
        <p:spPr>
          <a:xfrm xmlns:a="http://schemas.openxmlformats.org/drawingml/2006/main">
            <a:off x="6720840" y="29397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Checks the model is loaded + critical dependencies</a:t>
            </a:r>
            <a:endParaRPr sz="1050"/>
          </a:p>
        </p:txBody>
      </p:sp>
      <p:sp>
        <p:nvSpPr>
          <p:cNvPr id="26" name="Text 23">
            <a:extLst xmlns:a="http://schemas.openxmlformats.org/drawingml/2006/main">
              <a:ext uri="{FF2B5EF4-FFF2-40B4-BE49-F238E27FC236}">
                <a16:creationId xmlns:a16="http://schemas.microsoft.com/office/drawing/2014/main" id="{D228B560-15CA-45C6-9D0E-C0BBE13BBB01}"/>
              </a:ext>
            </a:extLst>
          </p:cNvPr>
          <p:cNvSpPr>
            <a:spLocks xmlns:a="http://schemas.openxmlformats.org/drawingml/2006/main" noGrp="1"/>
          </p:cNvSpPr>
          <p:nvPr/>
        </p:nvSpPr>
        <p:spPr>
          <a:xfrm xmlns:a="http://schemas.openxmlformats.org/drawingml/2006/main">
            <a:off x="6409944" y="37673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56A63"/>
                </a:solidFill>
                <a:latin typeface="Calibri"/>
                <a:ea typeface="Calibri"/>
                <a:cs typeface="Calibri"/>
              </a:rPr>
              <a:t>✓</a:t>
            </a:r>
            <a:endParaRPr sz="1200"/>
          </a:p>
        </p:txBody>
      </p:sp>
      <p:sp>
        <p:nvSpPr>
          <p:cNvPr id="27" name="Text 24">
            <a:extLst xmlns:a="http://schemas.openxmlformats.org/drawingml/2006/main">
              <a:ext uri="{FF2B5EF4-FFF2-40B4-BE49-F238E27FC236}">
                <a16:creationId xmlns:a16="http://schemas.microsoft.com/office/drawing/2014/main" id="{B4913F03-70C7-4FE7-A42D-C599AA68C71C}"/>
              </a:ext>
            </a:extLst>
          </p:cNvPr>
          <p:cNvSpPr>
            <a:spLocks xmlns:a="http://schemas.openxmlformats.org/drawingml/2006/main" noGrp="1"/>
          </p:cNvSpPr>
          <p:nvPr/>
        </p:nvSpPr>
        <p:spPr>
          <a:xfrm xmlns:a="http://schemas.openxmlformats.org/drawingml/2006/main">
            <a:off x="6720840" y="37398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Returns 503 while warming up</a:t>
            </a:r>
            <a:endParaRPr sz="1050"/>
          </a:p>
        </p:txBody>
      </p:sp>
      <p:sp>
        <p:nvSpPr>
          <p:cNvPr id="28" name="Text 25">
            <a:extLst xmlns:a="http://schemas.openxmlformats.org/drawingml/2006/main">
              <a:ext uri="{FF2B5EF4-FFF2-40B4-BE49-F238E27FC236}">
                <a16:creationId xmlns:a16="http://schemas.microsoft.com/office/drawing/2014/main" id="{050839B1-7C88-441C-B1D9-85C5EB5CE96A}"/>
              </a:ext>
            </a:extLst>
          </p:cNvPr>
          <p:cNvSpPr>
            <a:spLocks xmlns:a="http://schemas.openxmlformats.org/drawingml/2006/main" noGrp="1"/>
          </p:cNvSpPr>
          <p:nvPr/>
        </p:nvSpPr>
        <p:spPr>
          <a:xfrm xmlns:a="http://schemas.openxmlformats.org/drawingml/2006/main">
            <a:off x="6409944" y="45674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56A63"/>
                </a:solidFill>
                <a:latin typeface="Calibri"/>
                <a:ea typeface="Calibri"/>
                <a:cs typeface="Calibri"/>
              </a:rPr>
              <a:t>✓</a:t>
            </a:r>
            <a:endParaRPr sz="1200"/>
          </a:p>
        </p:txBody>
      </p:sp>
      <p:sp>
        <p:nvSpPr>
          <p:cNvPr id="29" name="Text 26">
            <a:extLst xmlns:a="http://schemas.openxmlformats.org/drawingml/2006/main">
              <a:ext uri="{FF2B5EF4-FFF2-40B4-BE49-F238E27FC236}">
                <a16:creationId xmlns:a16="http://schemas.microsoft.com/office/drawing/2014/main" id="{6CA7FFEF-2DD7-461C-A916-6FBAE2D9F2F8}"/>
              </a:ext>
            </a:extLst>
          </p:cNvPr>
          <p:cNvSpPr>
            <a:spLocks xmlns:a="http://schemas.openxmlformats.org/drawingml/2006/main" noGrp="1"/>
          </p:cNvSpPr>
          <p:nvPr/>
        </p:nvSpPr>
        <p:spPr>
          <a:xfrm xmlns:a="http://schemas.openxmlformats.org/drawingml/2006/main">
            <a:off x="6720840" y="45399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Load balancers route traffic on this</a:t>
            </a:r>
            <a:endParaRPr sz="1050"/>
          </a:p>
        </p:txBody>
      </p:sp>
      <p:sp>
        <p:nvSpPr>
          <p:cNvPr id="30" name="Shape 27">
            <a:extLst xmlns:a="http://schemas.openxmlformats.org/drawingml/2006/main">
              <a:ext uri="{FF2B5EF4-FFF2-40B4-BE49-F238E27FC236}">
                <a16:creationId xmlns:a16="http://schemas.microsoft.com/office/drawing/2014/main" id="{96470672-82E6-4EA1-BBA9-E521DB79ED47}"/>
              </a:ext>
            </a:extLst>
          </p:cNvPr>
          <p:cNvSpPr>
            <a:spLocks xmlns:a="http://schemas.openxmlformats.org/drawingml/2006/main" noGrp="1"/>
          </p:cNvSpPr>
          <p:nvPr/>
        </p:nvSpPr>
        <p:spPr>
          <a:xfrm xmlns:a="http://schemas.openxmlformats.org/drawingml/2006/main">
            <a:off x="502920" y="5650992"/>
            <a:ext cx="11183112" cy="566928"/>
          </a:xfrm>
          <a:prstGeom xmlns:a="http://schemas.openxmlformats.org/drawingml/2006/main" prst="roundRect">
            <a:avLst>
              <a:gd name="adj" fmla="val 11290"/>
            </a:avLst>
          </a:prstGeom>
          <a:solidFill xmlns:a="http://schemas.openxmlformats.org/drawingml/2006/main">
            <a:srgbClr val="1D2A5C"/>
          </a:solidFill>
        </p:spPr>
      </p:sp>
      <p:sp>
        <p:nvSpPr>
          <p:cNvPr id="31" name="Text 28">
            <a:extLst xmlns:a="http://schemas.openxmlformats.org/drawingml/2006/main">
              <a:ext uri="{FF2B5EF4-FFF2-40B4-BE49-F238E27FC236}">
                <a16:creationId xmlns:a16="http://schemas.microsoft.com/office/drawing/2014/main" id="{8F7BFB5C-2FAB-4FBE-811A-0487A4074BCA}"/>
              </a:ext>
            </a:extLst>
          </p:cNvPr>
          <p:cNvSpPr>
            <a:spLocks xmlns:a="http://schemas.openxmlformats.org/drawingml/2006/main" noGrp="1"/>
          </p:cNvSpPr>
          <p:nvPr/>
        </p:nvSpPr>
        <p:spPr>
          <a:xfrm xmlns:a="http://schemas.openxmlformats.org/drawingml/2006/main">
            <a:off x="777240" y="5650992"/>
            <a:ext cx="1069848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00A79D"/>
                </a:solidFill>
                <a:latin typeface="Calibri"/>
                <a:ea typeface="Calibri"/>
                <a:cs typeface="Calibri"/>
              </a:rPr>
              <a:t>TAKEAWAY   </a:t>
            </a:r>
            <a:r>
              <a:rPr sz="1150">
                <a:solidFill>
                  <a:srgbClr val="FFFFFF"/>
                </a:solidFill>
                <a:latin typeface="Calibri"/>
                <a:ea typeface="Calibri"/>
                <a:cs typeface="Calibri"/>
              </a:rPr>
              <a:t>Confuse the two and a slow model download fails liveness — the container is killed mid-download, forever. Restart storm.</a:t>
            </a:r>
            <a:endParaRPr sz="1000"/>
          </a:p>
        </p:txBody>
      </p:sp>
    </p:spTree>
    <p:extLst>
      <p:ext uri="{BB962C8B-B14F-4D97-AF65-F5344CB8AC3E}">
        <p14:creationId xmlns:p14="http://schemas.microsoft.com/office/powerpoint/2010/main" val="921031209"/>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32DC93E-0E21-414D-8356-61D670B0EBED}"/>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Routes with Readiness Semantics — routes.py</a:t>
            </a:r>
            <a:endParaRPr sz="2600"/>
          </a:p>
        </p:txBody>
      </p:sp>
      <p:sp>
        <p:nvSpPr>
          <p:cNvPr id="3" name="Text 1">
            <a:extLst xmlns:a="http://schemas.openxmlformats.org/drawingml/2006/main">
              <a:ext uri="{FF2B5EF4-FFF2-40B4-BE49-F238E27FC236}">
                <a16:creationId xmlns:a16="http://schemas.microsoft.com/office/drawing/2014/main" id="{C49CF9DA-A497-4733-BA4E-3E95DD298B65}"/>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المسارات مع دلالات الجاهزية</a:t>
            </a:r>
            <a:endParaRPr sz="1300"/>
          </a:p>
        </p:txBody>
      </p:sp>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a38086fefb8a4a3f"/>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C404852C-4438-49C6-BA79-DE1FF939287F}"/>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AED0628F-F73A-467B-B9D2-900BCCAF0B86}"/>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2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1C460B9B-B191-4CD7-BABE-BAF5EB2E3478}"/>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45</a:t>
            </a:r>
            <a:endParaRPr sz="850"/>
          </a:p>
        </p:txBody>
      </p:sp>
      <p:sp>
        <p:nvSpPr>
          <p:cNvPr id="8" name="Shape 5">
            <a:extLst xmlns:a="http://schemas.openxmlformats.org/drawingml/2006/main">
              <a:ext uri="{FF2B5EF4-FFF2-40B4-BE49-F238E27FC236}">
                <a16:creationId xmlns:a16="http://schemas.microsoft.com/office/drawing/2014/main" id="{ECA33B29-6AF7-43A4-9B95-753CC832831E}"/>
              </a:ext>
            </a:extLst>
          </p:cNvPr>
          <p:cNvSpPr>
            <a:spLocks xmlns:a="http://schemas.openxmlformats.org/drawingml/2006/main" noGrp="1"/>
          </p:cNvSpPr>
          <p:nvPr/>
        </p:nvSpPr>
        <p:spPr>
          <a:xfrm xmlns:a="http://schemas.openxmlformats.org/drawingml/2006/main">
            <a:off x="502920" y="1481328"/>
            <a:ext cx="7635240" cy="4617720"/>
          </a:xfrm>
          <a:prstGeom xmlns:a="http://schemas.openxmlformats.org/drawingml/2006/main" prst="roundRect">
            <a:avLst>
              <a:gd name="adj" fmla="val 1584"/>
            </a:avLst>
          </a:prstGeom>
          <a:solidFill xmlns:a="http://schemas.openxmlformats.org/drawingml/2006/main">
            <a:srgbClr val="1A2233"/>
          </a:solidFill>
        </p:spPr>
      </p:sp>
      <p:sp>
        <p:nvSpPr>
          <p:cNvPr id="9" name="Shape 6">
            <a:extLst xmlns:a="http://schemas.openxmlformats.org/drawingml/2006/main">
              <a:ext uri="{FF2B5EF4-FFF2-40B4-BE49-F238E27FC236}">
                <a16:creationId xmlns:a16="http://schemas.microsoft.com/office/drawing/2014/main" id="{294798C1-A074-4392-8E48-EA9E7A5D1DFD}"/>
              </a:ext>
            </a:extLst>
          </p:cNvPr>
          <p:cNvSpPr>
            <a:spLocks xmlns:a="http://schemas.openxmlformats.org/drawingml/2006/main" noGrp="1"/>
          </p:cNvSpPr>
          <p:nvPr/>
        </p:nvSpPr>
        <p:spPr>
          <a:xfrm xmlns:a="http://schemas.openxmlformats.org/drawingml/2006/main">
            <a:off x="731520" y="1664208"/>
            <a:ext cx="109728" cy="109728"/>
          </a:xfrm>
          <a:prstGeom xmlns:a="http://schemas.openxmlformats.org/drawingml/2006/main" prst="ellipse">
            <a:avLst/>
          </a:prstGeom>
          <a:solidFill xmlns:a="http://schemas.openxmlformats.org/drawingml/2006/main">
            <a:srgbClr val="E8503A"/>
          </a:solidFill>
        </p:spPr>
      </p:sp>
      <p:sp>
        <p:nvSpPr>
          <p:cNvPr id="10" name="Shape 7">
            <a:extLst xmlns:a="http://schemas.openxmlformats.org/drawingml/2006/main">
              <a:ext uri="{FF2B5EF4-FFF2-40B4-BE49-F238E27FC236}">
                <a16:creationId xmlns:a16="http://schemas.microsoft.com/office/drawing/2014/main" id="{3104A23A-88F9-45E3-8C2E-245250E320A0}"/>
              </a:ext>
            </a:extLst>
          </p:cNvPr>
          <p:cNvSpPr>
            <a:spLocks xmlns:a="http://schemas.openxmlformats.org/drawingml/2006/main" noGrp="1"/>
          </p:cNvSpPr>
          <p:nvPr/>
        </p:nvSpPr>
        <p:spPr>
          <a:xfrm xmlns:a="http://schemas.openxmlformats.org/drawingml/2006/main">
            <a:off x="932688" y="1664208"/>
            <a:ext cx="109728" cy="109728"/>
          </a:xfrm>
          <a:prstGeom xmlns:a="http://schemas.openxmlformats.org/drawingml/2006/main" prst="ellipse">
            <a:avLst/>
          </a:prstGeom>
          <a:solidFill xmlns:a="http://schemas.openxmlformats.org/drawingml/2006/main">
            <a:srgbClr val="F5B820"/>
          </a:solidFill>
        </p:spPr>
      </p:sp>
      <p:sp>
        <p:nvSpPr>
          <p:cNvPr id="11" name="Shape 8">
            <a:extLst xmlns:a="http://schemas.openxmlformats.org/drawingml/2006/main">
              <a:ext uri="{FF2B5EF4-FFF2-40B4-BE49-F238E27FC236}">
                <a16:creationId xmlns:a16="http://schemas.microsoft.com/office/drawing/2014/main" id="{E1BA2DAE-1F76-4D44-AD33-94006E0FCA1C}"/>
              </a:ext>
            </a:extLst>
          </p:cNvPr>
          <p:cNvSpPr>
            <a:spLocks xmlns:a="http://schemas.openxmlformats.org/drawingml/2006/main" noGrp="1"/>
          </p:cNvSpPr>
          <p:nvPr/>
        </p:nvSpPr>
        <p:spPr>
          <a:xfrm xmlns:a="http://schemas.openxmlformats.org/drawingml/2006/main">
            <a:off x="1133856" y="1664208"/>
            <a:ext cx="109728" cy="109728"/>
          </a:xfrm>
          <a:prstGeom xmlns:a="http://schemas.openxmlformats.org/drawingml/2006/main" prst="ellipse">
            <a:avLst/>
          </a:prstGeom>
          <a:solidFill xmlns:a="http://schemas.openxmlformats.org/drawingml/2006/main">
            <a:srgbClr val="8DC63F"/>
          </a:solidFill>
        </p:spPr>
      </p:sp>
      <p:sp>
        <p:nvSpPr>
          <p:cNvPr id="12" name="Text 9">
            <a:extLst xmlns:a="http://schemas.openxmlformats.org/drawingml/2006/main">
              <a:ext uri="{FF2B5EF4-FFF2-40B4-BE49-F238E27FC236}">
                <a16:creationId xmlns:a16="http://schemas.microsoft.com/office/drawing/2014/main" id="{78D3D92B-1909-453E-9086-2A612BADADD5}"/>
              </a:ext>
            </a:extLst>
          </p:cNvPr>
          <p:cNvSpPr>
            <a:spLocks xmlns:a="http://schemas.openxmlformats.org/drawingml/2006/main" noGrp="1"/>
          </p:cNvSpPr>
          <p:nvPr/>
        </p:nvSpPr>
        <p:spPr>
          <a:xfrm xmlns:a="http://schemas.openxmlformats.org/drawingml/2006/main">
            <a:off x="4526280" y="1609344"/>
            <a:ext cx="32918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6C8"/>
                </a:solidFill>
                <a:latin typeface="Consolas"/>
                <a:ea typeface="Consolas"/>
                <a:cs typeface="Consolas"/>
              </a:rPr>
              <a:t>src/fraud_service/api/routes.py</a:t>
            </a:r>
            <a:endParaRPr sz="900"/>
          </a:p>
        </p:txBody>
      </p:sp>
      <p:sp>
        <p:nvSpPr>
          <p:cNvPr id="13" name="Text 10">
            <a:extLst xmlns:a="http://schemas.openxmlformats.org/drawingml/2006/main">
              <a:ext uri="{FF2B5EF4-FFF2-40B4-BE49-F238E27FC236}">
                <a16:creationId xmlns:a16="http://schemas.microsoft.com/office/drawing/2014/main" id="{531E4339-0A1A-4A28-80E5-436733753DFF}"/>
              </a:ext>
            </a:extLst>
          </p:cNvPr>
          <p:cNvSpPr>
            <a:spLocks xmlns:a="http://schemas.openxmlformats.org/drawingml/2006/main" noGrp="1"/>
          </p:cNvSpPr>
          <p:nvPr/>
        </p:nvSpPr>
        <p:spPr>
          <a:xfrm xmlns:a="http://schemas.openxmlformats.org/drawingml/2006/main">
            <a:off x="713232" y="1965960"/>
            <a:ext cx="717804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000">
                <a:solidFill>
                  <a:srgbClr val="D9E4F5"/>
                </a:solidFill>
                <a:latin typeface="Consolas"/>
                <a:ea typeface="Consolas"/>
                <a:cs typeface="Consolas"/>
              </a:rPr>
              <a:t>def get_scorer(request: Request) -&gt; FraudScorer:</a:t>
            </a:r>
            <a:endParaRPr sz="1000"/>
          </a:p>
          <a:p xmlns:a="http://schemas.openxmlformats.org/drawingml/2006/main">
            <a:pPr marL="0" indent="0">
              <a:lnSpc>
                <a:spcPct val="112000"/>
              </a:lnSpc>
              <a:buNone/>
            </a:pPr>
            <a:r>
              <a:rPr sz="1000">
                <a:solidFill>
                  <a:srgbClr val="D9E4F5"/>
                </a:solidFill>
                <a:latin typeface="Consolas"/>
                <a:ea typeface="Consolas"/>
                <a:cs typeface="Consolas"/>
              </a:rPr>
              <a:t>    scorer = getattr(request.app.state, "scorer", None)</a:t>
            </a:r>
            <a:endParaRPr sz="1000"/>
          </a:p>
          <a:p xmlns:a="http://schemas.openxmlformats.org/drawingml/2006/main">
            <a:pPr marL="0" indent="0">
              <a:lnSpc>
                <a:spcPct val="112000"/>
              </a:lnSpc>
              <a:buNone/>
            </a:pPr>
            <a:r>
              <a:rPr sz="1000">
                <a:solidFill>
                  <a:srgbClr val="D9E4F5"/>
                </a:solidFill>
                <a:latin typeface="Consolas"/>
                <a:ea typeface="Consolas"/>
                <a:cs typeface="Consolas"/>
              </a:rPr>
              <a:t>    if scorer is None:     # startup incomplete/failed</a:t>
            </a:r>
            <a:endParaRPr sz="1000"/>
          </a:p>
          <a:p xmlns:a="http://schemas.openxmlformats.org/drawingml/2006/main">
            <a:pPr marL="0" indent="0">
              <a:lnSpc>
                <a:spcPct val="112000"/>
              </a:lnSpc>
              <a:buNone/>
            </a:pPr>
            <a:r>
              <a:rPr sz="1000">
                <a:solidFill>
                  <a:srgbClr val="D9E4F5"/>
                </a:solidFill>
                <a:latin typeface="Consolas"/>
                <a:ea typeface="Consolas"/>
                <a:cs typeface="Consolas"/>
              </a:rPr>
              <a:t>        raise HTTPException(</a:t>
            </a:r>
            <a:endParaRPr sz="1000"/>
          </a:p>
          <a:p xmlns:a="http://schemas.openxmlformats.org/drawingml/2006/main">
            <a:pPr marL="0" indent="0">
              <a:lnSpc>
                <a:spcPct val="112000"/>
              </a:lnSpc>
              <a:buNone/>
            </a:pPr>
            <a:r>
              <a:rPr sz="1000">
                <a:solidFill>
                  <a:srgbClr val="D9E4F5"/>
                </a:solidFill>
                <a:latin typeface="Consolas"/>
                <a:ea typeface="Consolas"/>
                <a:cs typeface="Consolas"/>
              </a:rPr>
              <a:t>            status_code=503, detail="Model not ready",</a:t>
            </a:r>
            <a:endParaRPr sz="1000"/>
          </a:p>
          <a:p xmlns:a="http://schemas.openxmlformats.org/drawingml/2006/main">
            <a:pPr marL="0" indent="0">
              <a:lnSpc>
                <a:spcPct val="112000"/>
              </a:lnSpc>
              <a:buNone/>
            </a:pPr>
            <a:r>
              <a:rPr sz="1000">
                <a:solidFill>
                  <a:srgbClr val="D9E4F5"/>
                </a:solidFill>
                <a:latin typeface="Consolas"/>
                <a:ea typeface="Consolas"/>
                <a:cs typeface="Consolas"/>
              </a:rPr>
              <a:t>            headers={"Retry-After": "5"})</a:t>
            </a:r>
            <a:endParaRPr sz="1000"/>
          </a:p>
          <a:p xmlns:a="http://schemas.openxmlformats.org/drawingml/2006/main">
            <a:pPr marL="0" indent="0">
              <a:lnSpc>
                <a:spcPct val="112000"/>
              </a:lnSpc>
              <a:buNone/>
            </a:pPr>
            <a:r>
              <a:rPr sz="1000">
                <a:solidFill>
                  <a:srgbClr val="D9E4F5"/>
                </a:solidFill>
                <a:latin typeface="Consolas"/>
                <a:ea typeface="Consolas"/>
                <a:cs typeface="Consolas"/>
              </a:rPr>
              <a:t>    return scorer</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@router.post("/predict", response_model=PredictResponse)</a:t>
            </a:r>
            <a:endParaRPr sz="1000"/>
          </a:p>
          <a:p xmlns:a="http://schemas.openxmlformats.org/drawingml/2006/main">
            <a:pPr marL="0" indent="0">
              <a:lnSpc>
                <a:spcPct val="112000"/>
              </a:lnSpc>
              <a:buNone/>
            </a:pPr>
            <a:r>
              <a:rPr sz="1000">
                <a:solidFill>
                  <a:srgbClr val="D9E4F5"/>
                </a:solidFill>
                <a:latin typeface="Consolas"/>
                <a:ea typeface="Consolas"/>
                <a:cs typeface="Consolas"/>
              </a:rPr>
              <a:t>def predict(body: PredictRequest,</a:t>
            </a:r>
            <a:endParaRPr sz="1000"/>
          </a:p>
          <a:p xmlns:a="http://schemas.openxmlformats.org/drawingml/2006/main">
            <a:pPr marL="0" indent="0">
              <a:lnSpc>
                <a:spcPct val="112000"/>
              </a:lnSpc>
              <a:buNone/>
            </a:pPr>
            <a:r>
              <a:rPr sz="1000">
                <a:solidFill>
                  <a:srgbClr val="D9E4F5"/>
                </a:solidFill>
                <a:latin typeface="Consolas"/>
                <a:ea typeface="Consolas"/>
                <a:cs typeface="Consolas"/>
              </a:rPr>
              <a:t>            request: Request,</a:t>
            </a:r>
            <a:endParaRPr sz="1000"/>
          </a:p>
          <a:p xmlns:a="http://schemas.openxmlformats.org/drawingml/2006/main">
            <a:pPr marL="0" indent="0">
              <a:lnSpc>
                <a:spcPct val="112000"/>
              </a:lnSpc>
              <a:buNone/>
            </a:pPr>
            <a:r>
              <a:rPr sz="1000">
                <a:solidFill>
                  <a:srgbClr val="D9E4F5"/>
                </a:solidFill>
                <a:latin typeface="Consolas"/>
                <a:ea typeface="Consolas"/>
                <a:cs typeface="Consolas"/>
              </a:rPr>
              <a:t>            scorer: FraudScorer = Depends(get_scorer)):</a:t>
            </a:r>
            <a:endParaRPr sz="1000"/>
          </a:p>
          <a:p xmlns:a="http://schemas.openxmlformats.org/drawingml/2006/main">
            <a:pPr marL="0" indent="0">
              <a:lnSpc>
                <a:spcPct val="112000"/>
              </a:lnSpc>
              <a:buNone/>
            </a:pPr>
            <a:r>
              <a:rPr sz="1000">
                <a:solidFill>
                  <a:srgbClr val="D9E4F5"/>
                </a:solidFill>
                <a:latin typeface="Consolas"/>
                <a:ea typeface="Consolas"/>
                <a:cs typeface="Consolas"/>
              </a:rPr>
              <a:t>    score = scorer.score(body.to_domain())</a:t>
            </a:r>
            <a:endParaRPr sz="1000"/>
          </a:p>
          <a:p xmlns:a="http://schemas.openxmlformats.org/drawingml/2006/main">
            <a:pPr marL="0" indent="0">
              <a:lnSpc>
                <a:spcPct val="112000"/>
              </a:lnSpc>
              <a:buNone/>
            </a:pPr>
            <a:r>
              <a:rPr sz="1000">
                <a:solidFill>
                  <a:srgbClr val="D9E4F5"/>
                </a:solidFill>
                <a:latin typeface="Consolas"/>
                <a:ea typeface="Consolas"/>
                <a:cs typeface="Consolas"/>
              </a:rPr>
              <a:t>    return PredictResponse(</a:t>
            </a:r>
            <a:endParaRPr sz="1000"/>
          </a:p>
          <a:p xmlns:a="http://schemas.openxmlformats.org/drawingml/2006/main">
            <a:pPr marL="0" indent="0">
              <a:lnSpc>
                <a:spcPct val="112000"/>
              </a:lnSpc>
              <a:buNone/>
            </a:pPr>
            <a:r>
              <a:rPr sz="1000">
                <a:solidFill>
                  <a:srgbClr val="D9E4F5"/>
                </a:solidFill>
                <a:latin typeface="Consolas"/>
                <a:ea typeface="Consolas"/>
                <a:cs typeface="Consolas"/>
              </a:rPr>
              <a:t>        transaction_id=score.transaction_id,</a:t>
            </a:r>
            <a:endParaRPr sz="1000"/>
          </a:p>
          <a:p xmlns:a="http://schemas.openxmlformats.org/drawingml/2006/main">
            <a:pPr marL="0" indent="0">
              <a:lnSpc>
                <a:spcPct val="112000"/>
              </a:lnSpc>
              <a:buNone/>
            </a:pPr>
            <a:r>
              <a:rPr sz="1000">
                <a:solidFill>
                  <a:srgbClr val="D9E4F5"/>
                </a:solidFill>
                <a:latin typeface="Consolas"/>
                <a:ea typeface="Consolas"/>
                <a:cs typeface="Consolas"/>
              </a:rPr>
              <a:t>        fraud_probability=round(score.probability, 6),</a:t>
            </a:r>
            <a:endParaRPr sz="1000"/>
          </a:p>
          <a:p xmlns:a="http://schemas.openxmlformats.org/drawingml/2006/main">
            <a:pPr marL="0" indent="0">
              <a:lnSpc>
                <a:spcPct val="112000"/>
              </a:lnSpc>
              <a:buNone/>
            </a:pPr>
            <a:r>
              <a:rPr sz="1000">
                <a:solidFill>
                  <a:srgbClr val="D9E4F5"/>
                </a:solidFill>
                <a:latin typeface="Consolas"/>
                <a:ea typeface="Consolas"/>
                <a:cs typeface="Consolas"/>
              </a:rPr>
              <a:t>        decision=score.decision,</a:t>
            </a:r>
            <a:endParaRPr sz="1000"/>
          </a:p>
          <a:p xmlns:a="http://schemas.openxmlformats.org/drawingml/2006/main">
            <a:pPr marL="0" indent="0">
              <a:lnSpc>
                <a:spcPct val="112000"/>
              </a:lnSpc>
              <a:buNone/>
            </a:pPr>
            <a:r>
              <a:rPr sz="1000">
                <a:solidFill>
                  <a:srgbClr val="D9E4F5"/>
                </a:solidFill>
                <a:latin typeface="Consolas"/>
                <a:ea typeface="Consolas"/>
                <a:cs typeface="Consolas"/>
              </a:rPr>
              <a:t>        model_version=score.model_version,</a:t>
            </a:r>
            <a:endParaRPr sz="1000"/>
          </a:p>
          <a:p xmlns:a="http://schemas.openxmlformats.org/drawingml/2006/main">
            <a:pPr marL="0" indent="0">
              <a:lnSpc>
                <a:spcPct val="112000"/>
              </a:lnSpc>
              <a:buNone/>
            </a:pPr>
            <a:r>
              <a:rPr sz="1000">
                <a:solidFill>
                  <a:srgbClr val="D9E4F5"/>
                </a:solidFill>
                <a:latin typeface="Consolas"/>
                <a:ea typeface="Consolas"/>
                <a:cs typeface="Consolas"/>
              </a:rPr>
              <a:t>        trace_id=request.state.trace_id)</a:t>
            </a:r>
            <a:endParaRPr sz="1000"/>
          </a:p>
        </p:txBody>
      </p:sp>
      <p:sp>
        <p:nvSpPr>
          <p:cNvPr id="14" name="Shape 11">
            <a:extLst xmlns:a="http://schemas.openxmlformats.org/drawingml/2006/main">
              <a:ext uri="{FF2B5EF4-FFF2-40B4-BE49-F238E27FC236}">
                <a16:creationId xmlns:a16="http://schemas.microsoft.com/office/drawing/2014/main" id="{6D418102-8BAB-491E-A53F-D1B6B5D7454A}"/>
              </a:ext>
            </a:extLst>
          </p:cNvPr>
          <p:cNvSpPr>
            <a:spLocks xmlns:a="http://schemas.openxmlformats.org/drawingml/2006/main" noGrp="1"/>
          </p:cNvSpPr>
          <p:nvPr/>
        </p:nvSpPr>
        <p:spPr>
          <a:xfrm xmlns:a="http://schemas.openxmlformats.org/drawingml/2006/main">
            <a:off x="8321040" y="1481328"/>
            <a:ext cx="3364992" cy="1402080"/>
          </a:xfrm>
          <a:prstGeom xmlns:a="http://schemas.openxmlformats.org/drawingml/2006/main" prst="roundRect">
            <a:avLst>
              <a:gd name="adj" fmla="val 3913"/>
            </a:avLst>
          </a:prstGeom>
          <a:solidFill xmlns:a="http://schemas.openxmlformats.org/drawingml/2006/main">
            <a:srgbClr val="D4F1EE"/>
          </a:solidFill>
        </p:spPr>
      </p:sp>
      <p:sp>
        <p:nvSpPr>
          <p:cNvPr id="15" name="Text 12">
            <a:extLst xmlns:a="http://schemas.openxmlformats.org/drawingml/2006/main">
              <a:ext uri="{FF2B5EF4-FFF2-40B4-BE49-F238E27FC236}">
                <a16:creationId xmlns:a16="http://schemas.microsoft.com/office/drawing/2014/main" id="{D8247994-C704-42D5-8D29-7A7ED3496FBE}"/>
              </a:ext>
            </a:extLst>
          </p:cNvPr>
          <p:cNvSpPr>
            <a:spLocks xmlns:a="http://schemas.openxmlformats.org/drawingml/2006/main" noGrp="1"/>
          </p:cNvSpPr>
          <p:nvPr/>
        </p:nvSpPr>
        <p:spPr>
          <a:xfrm xmlns:a="http://schemas.openxmlformats.org/drawingml/2006/main">
            <a:off x="8485632" y="157276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Plain def, not async def</a:t>
            </a:r>
            <a:endParaRPr sz="1050"/>
          </a:p>
        </p:txBody>
      </p:sp>
      <p:sp>
        <p:nvSpPr>
          <p:cNvPr id="16" name="Text 13">
            <a:extLst xmlns:a="http://schemas.openxmlformats.org/drawingml/2006/main">
              <a:ext uri="{FF2B5EF4-FFF2-40B4-BE49-F238E27FC236}">
                <a16:creationId xmlns:a16="http://schemas.microsoft.com/office/drawing/2014/main" id="{32575D59-622D-4ACB-A3B7-3BAE5C787CAC}"/>
              </a:ext>
            </a:extLst>
          </p:cNvPr>
          <p:cNvSpPr>
            <a:spLocks xmlns:a="http://schemas.openxmlformats.org/drawingml/2006/main" noGrp="1"/>
          </p:cNvSpPr>
          <p:nvPr/>
        </p:nvSpPr>
        <p:spPr>
          <a:xfrm xmlns:a="http://schemas.openxmlformats.org/drawingml/2006/main">
            <a:off x="8485632" y="184708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sklearn inference is CPU-bound; FastAPI runs def routes in a thread pool. async def here blocks the event loop — the #1 cause of "FastAPI is slow".</a:t>
            </a:r>
            <a:endParaRPr sz="930"/>
          </a:p>
        </p:txBody>
      </p:sp>
      <p:sp>
        <p:nvSpPr>
          <p:cNvPr id="17" name="Shape 14">
            <a:extLst xmlns:a="http://schemas.openxmlformats.org/drawingml/2006/main">
              <a:ext uri="{FF2B5EF4-FFF2-40B4-BE49-F238E27FC236}">
                <a16:creationId xmlns:a16="http://schemas.microsoft.com/office/drawing/2014/main" id="{42883A4A-9F04-4CF9-B896-6FDB5EA53237}"/>
              </a:ext>
            </a:extLst>
          </p:cNvPr>
          <p:cNvSpPr>
            <a:spLocks xmlns:a="http://schemas.openxmlformats.org/drawingml/2006/main" noGrp="1"/>
          </p:cNvSpPr>
          <p:nvPr/>
        </p:nvSpPr>
        <p:spPr>
          <a:xfrm xmlns:a="http://schemas.openxmlformats.org/drawingml/2006/main">
            <a:off x="8321040" y="3020568"/>
            <a:ext cx="3364992" cy="1402080"/>
          </a:xfrm>
          <a:prstGeom xmlns:a="http://schemas.openxmlformats.org/drawingml/2006/main" prst="roundRect">
            <a:avLst>
              <a:gd name="adj" fmla="val 3913"/>
            </a:avLst>
          </a:prstGeom>
          <a:solidFill xmlns:a="http://schemas.openxmlformats.org/drawingml/2006/main">
            <a:srgbClr val="D9F0FA"/>
          </a:solidFill>
        </p:spPr>
      </p:sp>
      <p:sp>
        <p:nvSpPr>
          <p:cNvPr id="18" name="Text 15">
            <a:extLst xmlns:a="http://schemas.openxmlformats.org/drawingml/2006/main">
              <a:ext uri="{FF2B5EF4-FFF2-40B4-BE49-F238E27FC236}">
                <a16:creationId xmlns:a16="http://schemas.microsoft.com/office/drawing/2014/main" id="{F24448A2-4D77-4AF9-A8FE-95913C03E6B3}"/>
              </a:ext>
            </a:extLst>
          </p:cNvPr>
          <p:cNvSpPr>
            <a:spLocks xmlns:a="http://schemas.openxmlformats.org/drawingml/2006/main" noGrp="1"/>
          </p:cNvSpPr>
          <p:nvPr/>
        </p:nvSpPr>
        <p:spPr>
          <a:xfrm xmlns:a="http://schemas.openxmlformats.org/drawingml/2006/main">
            <a:off x="8485632" y="311200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get_scorer = the test seam</a:t>
            </a:r>
            <a:endParaRPr sz="1050"/>
          </a:p>
        </p:txBody>
      </p:sp>
      <p:sp>
        <p:nvSpPr>
          <p:cNvPr id="19" name="Text 16">
            <a:extLst xmlns:a="http://schemas.openxmlformats.org/drawingml/2006/main">
              <a:ext uri="{FF2B5EF4-FFF2-40B4-BE49-F238E27FC236}">
                <a16:creationId xmlns:a16="http://schemas.microsoft.com/office/drawing/2014/main" id="{383AD357-E6EC-4E86-994B-FDD790E1ABAA}"/>
              </a:ext>
            </a:extLst>
          </p:cNvPr>
          <p:cNvSpPr>
            <a:spLocks xmlns:a="http://schemas.openxmlformats.org/drawingml/2006/main" noGrp="1"/>
          </p:cNvSpPr>
          <p:nvPr/>
        </p:nvSpPr>
        <p:spPr>
          <a:xfrm xmlns:a="http://schemas.openxmlformats.org/drawingml/2006/main">
            <a:off x="8485632" y="338632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app.dependency_overrides[get_scorer] = lambda: fake — Module 4 uses exactly this.</a:t>
            </a:r>
            <a:endParaRPr sz="930"/>
          </a:p>
        </p:txBody>
      </p:sp>
      <p:sp>
        <p:nvSpPr>
          <p:cNvPr id="20" name="Shape 17">
            <a:extLst xmlns:a="http://schemas.openxmlformats.org/drawingml/2006/main">
              <a:ext uri="{FF2B5EF4-FFF2-40B4-BE49-F238E27FC236}">
                <a16:creationId xmlns:a16="http://schemas.microsoft.com/office/drawing/2014/main" id="{0A0CEC50-BDE7-4AF0-BABC-185DDB11F26E}"/>
              </a:ext>
            </a:extLst>
          </p:cNvPr>
          <p:cNvSpPr>
            <a:spLocks xmlns:a="http://schemas.openxmlformats.org/drawingml/2006/main" noGrp="1"/>
          </p:cNvSpPr>
          <p:nvPr/>
        </p:nvSpPr>
        <p:spPr>
          <a:xfrm xmlns:a="http://schemas.openxmlformats.org/drawingml/2006/main">
            <a:off x="8321040" y="4559808"/>
            <a:ext cx="3364992" cy="1402080"/>
          </a:xfrm>
          <a:prstGeom xmlns:a="http://schemas.openxmlformats.org/drawingml/2006/main" prst="roundRect">
            <a:avLst>
              <a:gd name="adj" fmla="val 3913"/>
            </a:avLst>
          </a:prstGeom>
          <a:solidFill xmlns:a="http://schemas.openxmlformats.org/drawingml/2006/main">
            <a:srgbClr val="FDEBD7"/>
          </a:solidFill>
        </p:spPr>
      </p:sp>
      <p:sp>
        <p:nvSpPr>
          <p:cNvPr id="21" name="Text 18">
            <a:extLst xmlns:a="http://schemas.openxmlformats.org/drawingml/2006/main">
              <a:ext uri="{FF2B5EF4-FFF2-40B4-BE49-F238E27FC236}">
                <a16:creationId xmlns:a16="http://schemas.microsoft.com/office/drawing/2014/main" id="{3A02C060-1608-497D-A8F8-360EEA63A7EF}"/>
              </a:ext>
            </a:extLst>
          </p:cNvPr>
          <p:cNvSpPr>
            <a:spLocks xmlns:a="http://schemas.openxmlformats.org/drawingml/2006/main" noGrp="1"/>
          </p:cNvSpPr>
          <p:nvPr/>
        </p:nvSpPr>
        <p:spPr>
          <a:xfrm xmlns:a="http://schemas.openxmlformats.org/drawingml/2006/main">
            <a:off x="8485632" y="465124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Envelope out, never a raw float</a:t>
            </a:r>
            <a:endParaRPr sz="1050"/>
          </a:p>
        </p:txBody>
      </p:sp>
      <p:sp>
        <p:nvSpPr>
          <p:cNvPr id="22" name="Text 19">
            <a:extLst xmlns:a="http://schemas.openxmlformats.org/drawingml/2006/main">
              <a:ext uri="{FF2B5EF4-FFF2-40B4-BE49-F238E27FC236}">
                <a16:creationId xmlns:a16="http://schemas.microsoft.com/office/drawing/2014/main" id="{3F991068-B1F7-481F-963D-DA89B25DF412}"/>
              </a:ext>
            </a:extLst>
          </p:cNvPr>
          <p:cNvSpPr>
            <a:spLocks xmlns:a="http://schemas.openxmlformats.org/drawingml/2006/main" noGrp="1"/>
          </p:cNvSpPr>
          <p:nvPr/>
        </p:nvSpPr>
        <p:spPr>
          <a:xfrm xmlns:a="http://schemas.openxmlformats.org/drawingml/2006/main">
            <a:off x="8485632" y="492556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response_model + trace_id + model_version on every answer.</a:t>
            </a:r>
            <a:endParaRPr sz="930"/>
          </a:p>
        </p:txBody>
      </p:sp>
    </p:spTree>
    <p:extLst>
      <p:ext uri="{BB962C8B-B14F-4D97-AF65-F5344CB8AC3E}">
        <p14:creationId xmlns:p14="http://schemas.microsoft.com/office/powerpoint/2010/main" val="544242994"/>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2D9E88D-710C-42A1-B92D-CDF783633C9B}"/>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Versioning: Evolve Without Breaking Consumers</a:t>
            </a:r>
            <a:endParaRPr sz="2600"/>
          </a:p>
        </p:txBody>
      </p:sp>
      <p:sp>
        <p:nvSpPr>
          <p:cNvPr id="3" name="Text 1">
            <a:extLst xmlns:a="http://schemas.openxmlformats.org/drawingml/2006/main">
              <a:ext uri="{FF2B5EF4-FFF2-40B4-BE49-F238E27FC236}">
                <a16:creationId xmlns:a16="http://schemas.microsoft.com/office/drawing/2014/main" id="{1B073CCA-951E-4B13-995E-872C159C1031}"/>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إدارة الإصدارات: التطوير دون كسر المستهلكين</a:t>
            </a:r>
            <a:endParaRPr sz="1300"/>
          </a:p>
        </p:txBody>
      </p:sp>
      <p:pic>
        <p:nvPicPr>
          <p:cNvPr id="34" name="Image 0"/>
          <p:cNvPicPr>
            <a:picLocks xmlns:a="http://schemas.openxmlformats.org/drawingml/2006/main" noChangeAspect="1"/>
          </p:cNvPicPr>
          <p:nvPr/>
        </p:nvPicPr>
        <p:blipFill>
          <a:blip xmlns:r="http://schemas.openxmlformats.org/officeDocument/2006/relationships" xmlns:a="http://schemas.openxmlformats.org/drawingml/2006/main" r:embed="Rf5eb55c13b4f4a44"/>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1C105DE1-1222-4FDD-8927-8DB8B08041DF}"/>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A666516D-2159-4A6B-A3DE-1AF1C30D3283}"/>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2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2C8FA372-5B1E-479C-9B14-A5245CF28872}"/>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46</a:t>
            </a:r>
            <a:endParaRPr sz="850"/>
          </a:p>
        </p:txBody>
      </p:sp>
      <p:sp>
        <p:nvSpPr>
          <p:cNvPr id="8" name="Text 5">
            <a:extLst xmlns:a="http://schemas.openxmlformats.org/drawingml/2006/main">
              <a:ext uri="{FF2B5EF4-FFF2-40B4-BE49-F238E27FC236}">
                <a16:creationId xmlns:a16="http://schemas.microsoft.com/office/drawing/2014/main" id="{B0E4EE30-D7E7-443B-B473-A0640300D515}"/>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A232213C-87BD-423D-8891-131ECB53D8D0}"/>
              </a:ext>
            </a:extLst>
          </p:cNvPr>
          <p:cNvSpPr>
            <a:spLocks xmlns:a="http://schemas.openxmlformats.org/drawingml/2006/main" noGrp="1"/>
          </p:cNvSpPr>
          <p:nvPr/>
        </p:nvSpPr>
        <p:spPr>
          <a:xfrm xmlns:a="http://schemas.openxmlformats.org/drawingml/2006/main">
            <a:off x="1005840" y="14996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URI versioning: /v1/</a:t>
            </a:r>
            <a:endParaRPr sz="1350"/>
          </a:p>
        </p:txBody>
      </p:sp>
      <p:sp>
        <p:nvSpPr>
          <p:cNvPr id="10" name="Text 7">
            <a:extLst xmlns:a="http://schemas.openxmlformats.org/drawingml/2006/main">
              <a:ext uri="{FF2B5EF4-FFF2-40B4-BE49-F238E27FC236}">
                <a16:creationId xmlns:a16="http://schemas.microsoft.com/office/drawing/2014/main" id="{1BA5342A-97BC-49E6-A717-FF67AAB6F52A}"/>
              </a:ext>
            </a:extLst>
          </p:cNvPr>
          <p:cNvSpPr>
            <a:spLocks xmlns:a="http://schemas.openxmlformats.org/drawingml/2006/main" noGrp="1"/>
          </p:cNvSpPr>
          <p:nvPr/>
        </p:nvSpPr>
        <p:spPr>
          <a:xfrm xmlns:a="http://schemas.openxmlformats.org/drawingml/2006/main">
            <a:off x="1005840" y="18013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Visible, cache-friendly, easy to route. Header versioning is cleaner in theory but invisible in logs and curl.</a:t>
            </a:r>
            <a:endParaRPr sz="1050"/>
          </a:p>
        </p:txBody>
      </p:sp>
      <p:sp>
        <p:nvSpPr>
          <p:cNvPr id="11" name="Text 8">
            <a:extLst xmlns:a="http://schemas.openxmlformats.org/drawingml/2006/main">
              <a:ext uri="{FF2B5EF4-FFF2-40B4-BE49-F238E27FC236}">
                <a16:creationId xmlns:a16="http://schemas.microsoft.com/office/drawing/2014/main" id="{2BBA03A8-6907-4B95-8496-ADAC8253C9A1}"/>
              </a:ext>
            </a:extLst>
          </p:cNvPr>
          <p:cNvSpPr>
            <a:spLocks xmlns:a="http://schemas.openxmlformats.org/drawingml/2006/main" noGrp="1"/>
          </p:cNvSpPr>
          <p:nvPr/>
        </p:nvSpPr>
        <p:spPr>
          <a:xfrm xmlns:a="http://schemas.openxmlformats.org/drawingml/2006/main">
            <a:off x="502920" y="292608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9781B805-F9FC-4948-A632-EB9DCD00D31A}"/>
              </a:ext>
            </a:extLst>
          </p:cNvPr>
          <p:cNvSpPr>
            <a:spLocks xmlns:a="http://schemas.openxmlformats.org/drawingml/2006/main" noGrp="1"/>
          </p:cNvSpPr>
          <p:nvPr/>
        </p:nvSpPr>
        <p:spPr>
          <a:xfrm xmlns:a="http://schemas.openxmlformats.org/drawingml/2006/main">
            <a:off x="1005840" y="28712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Deprecate with headers, not surprises</a:t>
            </a:r>
            <a:endParaRPr sz="1350"/>
          </a:p>
        </p:txBody>
      </p:sp>
      <p:sp>
        <p:nvSpPr>
          <p:cNvPr id="13" name="Text 10">
            <a:extLst xmlns:a="http://schemas.openxmlformats.org/drawingml/2006/main">
              <a:ext uri="{FF2B5EF4-FFF2-40B4-BE49-F238E27FC236}">
                <a16:creationId xmlns:a16="http://schemas.microsoft.com/office/drawing/2014/main" id="{CA349799-24FB-4F4F-BB2E-BAAEF3206888}"/>
              </a:ext>
            </a:extLst>
          </p:cNvPr>
          <p:cNvSpPr>
            <a:spLocks xmlns:a="http://schemas.openxmlformats.org/drawingml/2006/main" noGrp="1"/>
          </p:cNvSpPr>
          <p:nvPr/>
        </p:nvSpPr>
        <p:spPr>
          <a:xfrm xmlns:a="http://schemas.openxmlformats.org/drawingml/2006/main">
            <a:off x="1005840" y="31729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Run v1 and v2 side by side; announce with Deprecation + Sunset headers and consumer comms; delete only after traffic hits zero.</a:t>
            </a:r>
            <a:endParaRPr sz="1050"/>
          </a:p>
        </p:txBody>
      </p:sp>
      <p:sp>
        <p:nvSpPr>
          <p:cNvPr id="14" name="Text 11">
            <a:extLst xmlns:a="http://schemas.openxmlformats.org/drawingml/2006/main">
              <a:ext uri="{FF2B5EF4-FFF2-40B4-BE49-F238E27FC236}">
                <a16:creationId xmlns:a16="http://schemas.microsoft.com/office/drawing/2014/main" id="{98A9D49A-5070-463D-ADE5-F70CE9C04757}"/>
              </a:ext>
            </a:extLst>
          </p:cNvPr>
          <p:cNvSpPr>
            <a:spLocks xmlns:a="http://schemas.openxmlformats.org/drawingml/2006/main" noGrp="1"/>
          </p:cNvSpPr>
          <p:nvPr/>
        </p:nvSpPr>
        <p:spPr>
          <a:xfrm xmlns:a="http://schemas.openxmlformats.org/drawingml/2006/main">
            <a:off x="502920" y="429768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EB31BE17-EABD-45FB-9920-B988137B83B5}"/>
              </a:ext>
            </a:extLst>
          </p:cNvPr>
          <p:cNvSpPr>
            <a:spLocks xmlns:a="http://schemas.openxmlformats.org/drawingml/2006/main" noGrp="1"/>
          </p:cNvSpPr>
          <p:nvPr/>
        </p:nvSpPr>
        <p:spPr>
          <a:xfrm xmlns:a="http://schemas.openxmlformats.org/drawingml/2006/main">
            <a:off x="1005840" y="42428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Model version ≠ API version</a:t>
            </a:r>
            <a:endParaRPr sz="1350"/>
          </a:p>
        </p:txBody>
      </p:sp>
      <p:sp>
        <p:nvSpPr>
          <p:cNvPr id="16" name="Text 13">
            <a:extLst xmlns:a="http://schemas.openxmlformats.org/drawingml/2006/main">
              <a:ext uri="{FF2B5EF4-FFF2-40B4-BE49-F238E27FC236}">
                <a16:creationId xmlns:a16="http://schemas.microsoft.com/office/drawing/2014/main" id="{E0835707-AC27-46F7-B367-AC9859DDC23D}"/>
              </a:ext>
            </a:extLst>
          </p:cNvPr>
          <p:cNvSpPr>
            <a:spLocks xmlns:a="http://schemas.openxmlformats.org/drawingml/2006/main" noGrp="1"/>
          </p:cNvSpPr>
          <p:nvPr/>
        </p:nvSpPr>
        <p:spPr>
          <a:xfrm xmlns:a="http://schemas.openxmlformats.org/drawingml/2006/main">
            <a:off x="1005840" y="45445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Swapping model v3 → v4 behind /v1/predictions is fine IF the contract and score semantics hold. Renamed decision categories are an API change.</a:t>
            </a:r>
            <a:endParaRPr sz="1050"/>
          </a:p>
        </p:txBody>
      </p:sp>
      <p:sp>
        <p:nvSpPr>
          <p:cNvPr id="17" name="Shape 14">
            <a:extLst xmlns:a="http://schemas.openxmlformats.org/drawingml/2006/main">
              <a:ext uri="{FF2B5EF4-FFF2-40B4-BE49-F238E27FC236}">
                <a16:creationId xmlns:a16="http://schemas.microsoft.com/office/drawing/2014/main" id="{755C621B-82EC-4828-A9C3-651DFE6DD845}"/>
              </a:ext>
            </a:extLst>
          </p:cNvPr>
          <p:cNvSpPr>
            <a:spLocks xmlns:a="http://schemas.openxmlformats.org/drawingml/2006/main" noGrp="1"/>
          </p:cNvSpPr>
          <p:nvPr/>
        </p:nvSpPr>
        <p:spPr>
          <a:xfrm xmlns:a="http://schemas.openxmlformats.org/drawingml/2006/main">
            <a:off x="6355080" y="1481328"/>
            <a:ext cx="5330952" cy="4663440"/>
          </a:xfrm>
          <a:prstGeom xmlns:a="http://schemas.openxmlformats.org/drawingml/2006/main" prst="roundRect">
            <a:avLst>
              <a:gd name="adj" fmla="val 1373"/>
            </a:avLst>
          </a:prstGeom>
          <a:solidFill xmlns:a="http://schemas.openxmlformats.org/drawingml/2006/main">
            <a:srgbClr val="EEF3FB"/>
          </a:solidFill>
          <a:ln xmlns:a="http://schemas.openxmlformats.org/drawingml/2006/main" w="9525">
            <a:solidFill>
              <a:srgbClr val="D9E4F5"/>
            </a:solidFill>
            <a:prstDash val="solid"/>
          </a:ln>
        </p:spPr>
      </p:sp>
      <p:sp>
        <p:nvSpPr>
          <p:cNvPr id="18" name="Text 15">
            <a:extLst xmlns:a="http://schemas.openxmlformats.org/drawingml/2006/main">
              <a:ext uri="{FF2B5EF4-FFF2-40B4-BE49-F238E27FC236}">
                <a16:creationId xmlns:a16="http://schemas.microsoft.com/office/drawing/2014/main" id="{66C56BD5-F69F-4055-ABA4-06692927AC33}"/>
              </a:ext>
            </a:extLst>
          </p:cNvPr>
          <p:cNvSpPr>
            <a:spLocks xmlns:a="http://schemas.openxmlformats.org/drawingml/2006/main" noGrp="1"/>
          </p:cNvSpPr>
          <p:nvPr/>
        </p:nvSpPr>
        <p:spPr>
          <a:xfrm xmlns:a="http://schemas.openxmlformats.org/drawingml/2006/main">
            <a:off x="6556248" y="1645920"/>
            <a:ext cx="492861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D2A5C"/>
                </a:solidFill>
                <a:latin typeface="Calibri"/>
                <a:ea typeface="Calibri"/>
                <a:cs typeface="Calibri"/>
              </a:rPr>
              <a:t>Breaking or not?</a:t>
            </a:r>
            <a:endParaRPr sz="1300"/>
          </a:p>
        </p:txBody>
      </p:sp>
      <p:sp>
        <p:nvSpPr>
          <p:cNvPr id="19" name="Shape 16">
            <a:extLst xmlns:a="http://schemas.openxmlformats.org/drawingml/2006/main">
              <a:ext uri="{FF2B5EF4-FFF2-40B4-BE49-F238E27FC236}">
                <a16:creationId xmlns:a16="http://schemas.microsoft.com/office/drawing/2014/main" id="{6EB653AE-94C4-4228-B6E9-D728EDB82A66}"/>
              </a:ext>
            </a:extLst>
          </p:cNvPr>
          <p:cNvSpPr>
            <a:spLocks xmlns:a="http://schemas.openxmlformats.org/drawingml/2006/main" noGrp="1"/>
          </p:cNvSpPr>
          <p:nvPr/>
        </p:nvSpPr>
        <p:spPr>
          <a:xfrm xmlns:a="http://schemas.openxmlformats.org/drawingml/2006/main" rot="2700000">
            <a:off x="6556248" y="2130552"/>
            <a:ext cx="128016" cy="128016"/>
          </a:xfrm>
          <a:prstGeom xmlns:a="http://schemas.openxmlformats.org/drawingml/2006/main" prst="rect">
            <a:avLst/>
          </a:prstGeom>
          <a:solidFill xmlns:a="http://schemas.openxmlformats.org/drawingml/2006/main">
            <a:srgbClr val="00A79D"/>
          </a:solidFill>
        </p:spPr>
      </p:sp>
      <p:sp>
        <p:nvSpPr>
          <p:cNvPr id="20" name="Text 17">
            <a:extLst xmlns:a="http://schemas.openxmlformats.org/drawingml/2006/main">
              <a:ext uri="{FF2B5EF4-FFF2-40B4-BE49-F238E27FC236}">
                <a16:creationId xmlns:a16="http://schemas.microsoft.com/office/drawing/2014/main" id="{83167DA4-B629-4864-947C-F8DC695ED785}"/>
              </a:ext>
            </a:extLst>
          </p:cNvPr>
          <p:cNvSpPr>
            <a:spLocks xmlns:a="http://schemas.openxmlformats.org/drawingml/2006/main" noGrp="1"/>
          </p:cNvSpPr>
          <p:nvPr/>
        </p:nvSpPr>
        <p:spPr>
          <a:xfrm xmlns:a="http://schemas.openxmlformats.org/drawingml/2006/main">
            <a:off x="6812280" y="2039112"/>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New optional response field</a:t>
            </a:r>
            <a:endParaRPr sz="1100"/>
          </a:p>
        </p:txBody>
      </p:sp>
      <p:sp>
        <p:nvSpPr>
          <p:cNvPr id="21" name="Text 18">
            <a:extLst xmlns:a="http://schemas.openxmlformats.org/drawingml/2006/main">
              <a:ext uri="{FF2B5EF4-FFF2-40B4-BE49-F238E27FC236}">
                <a16:creationId xmlns:a16="http://schemas.microsoft.com/office/drawing/2014/main" id="{F1D8F73E-7919-419F-A559-F11EE9DE5A87}"/>
              </a:ext>
            </a:extLst>
          </p:cNvPr>
          <p:cNvSpPr>
            <a:spLocks xmlns:a="http://schemas.openxmlformats.org/drawingml/2006/main" noGrp="1"/>
          </p:cNvSpPr>
          <p:nvPr/>
        </p:nvSpPr>
        <p:spPr>
          <a:xfrm xmlns:a="http://schemas.openxmlformats.org/drawingml/2006/main">
            <a:off x="6812280" y="2304288"/>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Additive — free ✓</a:t>
            </a:r>
            <a:endParaRPr sz="950"/>
          </a:p>
        </p:txBody>
      </p:sp>
      <p:sp>
        <p:nvSpPr>
          <p:cNvPr id="22" name="Shape 19">
            <a:extLst xmlns:a="http://schemas.openxmlformats.org/drawingml/2006/main">
              <a:ext uri="{FF2B5EF4-FFF2-40B4-BE49-F238E27FC236}">
                <a16:creationId xmlns:a16="http://schemas.microsoft.com/office/drawing/2014/main" id="{070EC16E-75A0-4176-A23C-F43BED772182}"/>
              </a:ext>
            </a:extLst>
          </p:cNvPr>
          <p:cNvSpPr>
            <a:spLocks xmlns:a="http://schemas.openxmlformats.org/drawingml/2006/main" noGrp="1"/>
          </p:cNvSpPr>
          <p:nvPr/>
        </p:nvSpPr>
        <p:spPr>
          <a:xfrm xmlns:a="http://schemas.openxmlformats.org/drawingml/2006/main" rot="2700000">
            <a:off x="6556248" y="3113532"/>
            <a:ext cx="128016" cy="128016"/>
          </a:xfrm>
          <a:prstGeom xmlns:a="http://schemas.openxmlformats.org/drawingml/2006/main" prst="rect">
            <a:avLst/>
          </a:prstGeom>
          <a:solidFill xmlns:a="http://schemas.openxmlformats.org/drawingml/2006/main">
            <a:srgbClr val="29ABE2"/>
          </a:solidFill>
        </p:spPr>
      </p:sp>
      <p:sp>
        <p:nvSpPr>
          <p:cNvPr id="23" name="Text 20">
            <a:extLst xmlns:a="http://schemas.openxmlformats.org/drawingml/2006/main">
              <a:ext uri="{FF2B5EF4-FFF2-40B4-BE49-F238E27FC236}">
                <a16:creationId xmlns:a16="http://schemas.microsoft.com/office/drawing/2014/main" id="{0FFC32E2-2E10-4633-9C6A-8FBE7D8E646C}"/>
              </a:ext>
            </a:extLst>
          </p:cNvPr>
          <p:cNvSpPr>
            <a:spLocks xmlns:a="http://schemas.openxmlformats.org/drawingml/2006/main" noGrp="1"/>
          </p:cNvSpPr>
          <p:nvPr/>
        </p:nvSpPr>
        <p:spPr>
          <a:xfrm xmlns:a="http://schemas.openxmlformats.org/drawingml/2006/main">
            <a:off x="6812280" y="3022092"/>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Widening accepted input enum</a:t>
            </a:r>
            <a:endParaRPr sz="1100"/>
          </a:p>
        </p:txBody>
      </p:sp>
      <p:sp>
        <p:nvSpPr>
          <p:cNvPr id="24" name="Text 21">
            <a:extLst xmlns:a="http://schemas.openxmlformats.org/drawingml/2006/main">
              <a:ext uri="{FF2B5EF4-FFF2-40B4-BE49-F238E27FC236}">
                <a16:creationId xmlns:a16="http://schemas.microsoft.com/office/drawing/2014/main" id="{99462D6A-D4BA-4743-8C81-DD7D859046CB}"/>
              </a:ext>
            </a:extLst>
          </p:cNvPr>
          <p:cNvSpPr>
            <a:spLocks xmlns:a="http://schemas.openxmlformats.org/drawingml/2006/main" noGrp="1"/>
          </p:cNvSpPr>
          <p:nvPr/>
        </p:nvSpPr>
        <p:spPr>
          <a:xfrm xmlns:a="http://schemas.openxmlformats.org/drawingml/2006/main">
            <a:off x="6812280" y="3287268"/>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Non-breaking, with care ✓</a:t>
            </a:r>
            <a:endParaRPr sz="950"/>
          </a:p>
        </p:txBody>
      </p:sp>
      <p:sp>
        <p:nvSpPr>
          <p:cNvPr id="25" name="Shape 22">
            <a:extLst xmlns:a="http://schemas.openxmlformats.org/drawingml/2006/main">
              <a:ext uri="{FF2B5EF4-FFF2-40B4-BE49-F238E27FC236}">
                <a16:creationId xmlns:a16="http://schemas.microsoft.com/office/drawing/2014/main" id="{F31A5D2F-FE21-4A5B-A7F9-11452D4CC89A}"/>
              </a:ext>
            </a:extLst>
          </p:cNvPr>
          <p:cNvSpPr>
            <a:spLocks xmlns:a="http://schemas.openxmlformats.org/drawingml/2006/main" noGrp="1"/>
          </p:cNvSpPr>
          <p:nvPr/>
        </p:nvSpPr>
        <p:spPr>
          <a:xfrm xmlns:a="http://schemas.openxmlformats.org/drawingml/2006/main" rot="2700000">
            <a:off x="6556248" y="4096512"/>
            <a:ext cx="128016" cy="128016"/>
          </a:xfrm>
          <a:prstGeom xmlns:a="http://schemas.openxmlformats.org/drawingml/2006/main" prst="rect">
            <a:avLst/>
          </a:prstGeom>
          <a:solidFill xmlns:a="http://schemas.openxmlformats.org/drawingml/2006/main">
            <a:srgbClr val="F58220"/>
          </a:solidFill>
        </p:spPr>
      </p:sp>
      <p:sp>
        <p:nvSpPr>
          <p:cNvPr id="26" name="Text 23">
            <a:extLst xmlns:a="http://schemas.openxmlformats.org/drawingml/2006/main">
              <a:ext uri="{FF2B5EF4-FFF2-40B4-BE49-F238E27FC236}">
                <a16:creationId xmlns:a16="http://schemas.microsoft.com/office/drawing/2014/main" id="{76255FB0-BA6D-45A4-BAB0-8F7C7435E1A6}"/>
              </a:ext>
            </a:extLst>
          </p:cNvPr>
          <p:cNvSpPr>
            <a:spLocks xmlns:a="http://schemas.openxmlformats.org/drawingml/2006/main" noGrp="1"/>
          </p:cNvSpPr>
          <p:nvPr/>
        </p:nvSpPr>
        <p:spPr>
          <a:xfrm xmlns:a="http://schemas.openxmlformats.org/drawingml/2006/main">
            <a:off x="6812280" y="4005072"/>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Renaming fraud_probability</a:t>
            </a:r>
            <a:endParaRPr sz="1100"/>
          </a:p>
        </p:txBody>
      </p:sp>
      <p:sp>
        <p:nvSpPr>
          <p:cNvPr id="27" name="Text 24">
            <a:extLst xmlns:a="http://schemas.openxmlformats.org/drawingml/2006/main">
              <a:ext uri="{FF2B5EF4-FFF2-40B4-BE49-F238E27FC236}">
                <a16:creationId xmlns:a16="http://schemas.microsoft.com/office/drawing/2014/main" id="{143DFBB5-04DA-43E7-B5F1-88755E1E560E}"/>
              </a:ext>
            </a:extLst>
          </p:cNvPr>
          <p:cNvSpPr>
            <a:spLocks xmlns:a="http://schemas.openxmlformats.org/drawingml/2006/main" noGrp="1"/>
          </p:cNvSpPr>
          <p:nvPr/>
        </p:nvSpPr>
        <p:spPr>
          <a:xfrm xmlns:a="http://schemas.openxmlformats.org/drawingml/2006/main">
            <a:off x="6812280" y="4270248"/>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Breaking — new version ✕</a:t>
            </a:r>
            <a:endParaRPr sz="950"/>
          </a:p>
        </p:txBody>
      </p:sp>
      <p:sp>
        <p:nvSpPr>
          <p:cNvPr id="28" name="Shape 25">
            <a:extLst xmlns:a="http://schemas.openxmlformats.org/drawingml/2006/main">
              <a:ext uri="{FF2B5EF4-FFF2-40B4-BE49-F238E27FC236}">
                <a16:creationId xmlns:a16="http://schemas.microsoft.com/office/drawing/2014/main" id="{415577BD-A30C-402F-9BBE-1D34C457AAF2}"/>
              </a:ext>
            </a:extLst>
          </p:cNvPr>
          <p:cNvSpPr>
            <a:spLocks xmlns:a="http://schemas.openxmlformats.org/drawingml/2006/main" noGrp="1"/>
          </p:cNvSpPr>
          <p:nvPr/>
        </p:nvSpPr>
        <p:spPr>
          <a:xfrm xmlns:a="http://schemas.openxmlformats.org/drawingml/2006/main" rot="2700000">
            <a:off x="6556248" y="5079492"/>
            <a:ext cx="128016" cy="128016"/>
          </a:xfrm>
          <a:prstGeom xmlns:a="http://schemas.openxmlformats.org/drawingml/2006/main" prst="rect">
            <a:avLst/>
          </a:prstGeom>
          <a:solidFill xmlns:a="http://schemas.openxmlformats.org/drawingml/2006/main">
            <a:srgbClr val="8DC63F"/>
          </a:solidFill>
        </p:spPr>
      </p:sp>
      <p:sp>
        <p:nvSpPr>
          <p:cNvPr id="29" name="Text 26">
            <a:extLst xmlns:a="http://schemas.openxmlformats.org/drawingml/2006/main">
              <a:ext uri="{FF2B5EF4-FFF2-40B4-BE49-F238E27FC236}">
                <a16:creationId xmlns:a16="http://schemas.microsoft.com/office/drawing/2014/main" id="{B8BF4AC7-D887-4F08-AAE2-B521F18C0650}"/>
              </a:ext>
            </a:extLst>
          </p:cNvPr>
          <p:cNvSpPr>
            <a:spLocks xmlns:a="http://schemas.openxmlformats.org/drawingml/2006/main" noGrp="1"/>
          </p:cNvSpPr>
          <p:nvPr/>
        </p:nvSpPr>
        <p:spPr>
          <a:xfrm xmlns:a="http://schemas.openxmlformats.org/drawingml/2006/main">
            <a:off x="6812280" y="4988052"/>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Tightening request validation</a:t>
            </a:r>
            <a:endParaRPr sz="1100"/>
          </a:p>
        </p:txBody>
      </p:sp>
      <p:sp>
        <p:nvSpPr>
          <p:cNvPr id="30" name="Text 27">
            <a:extLst xmlns:a="http://schemas.openxmlformats.org/drawingml/2006/main">
              <a:ext uri="{FF2B5EF4-FFF2-40B4-BE49-F238E27FC236}">
                <a16:creationId xmlns:a16="http://schemas.microsoft.com/office/drawing/2014/main" id="{79D31941-D0F6-44FD-A7A3-0473013EAFE4}"/>
              </a:ext>
            </a:extLst>
          </p:cNvPr>
          <p:cNvSpPr>
            <a:spLocks xmlns:a="http://schemas.openxmlformats.org/drawingml/2006/main" noGrp="1"/>
          </p:cNvSpPr>
          <p:nvPr/>
        </p:nvSpPr>
        <p:spPr>
          <a:xfrm xmlns:a="http://schemas.openxmlformats.org/drawingml/2006/main">
            <a:off x="6812280" y="5253228"/>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Breaking — new version ✕</a:t>
            </a:r>
            <a:endParaRPr sz="950"/>
          </a:p>
        </p:txBody>
      </p:sp>
    </p:spTree>
    <p:extLst>
      <p:ext uri="{BB962C8B-B14F-4D97-AF65-F5344CB8AC3E}">
        <p14:creationId xmlns:p14="http://schemas.microsoft.com/office/powerpoint/2010/main" val="16586284"/>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8747609-76CF-4B76-89B8-418647B325BD}"/>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Six API Mistakes That Reach Production</a:t>
            </a:r>
            <a:endParaRPr sz="2600"/>
          </a:p>
        </p:txBody>
      </p:sp>
      <p:sp>
        <p:nvSpPr>
          <p:cNvPr id="3" name="Text 1">
            <a:extLst xmlns:a="http://schemas.openxmlformats.org/drawingml/2006/main">
              <a:ext uri="{FF2B5EF4-FFF2-40B4-BE49-F238E27FC236}">
                <a16:creationId xmlns:a16="http://schemas.microsoft.com/office/drawing/2014/main" id="{F959C408-30BC-4BFC-8114-C08A244BA8B1}"/>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ستة أخطاء تصل إلى الإنتاج</a:t>
            </a:r>
            <a:endParaRPr sz="1300"/>
          </a:p>
        </p:txBody>
      </p:sp>
      <p:pic>
        <p:nvPicPr>
          <p:cNvPr id="41" name="Image 0"/>
          <p:cNvPicPr>
            <a:picLocks xmlns:a="http://schemas.openxmlformats.org/drawingml/2006/main" noChangeAspect="1"/>
          </p:cNvPicPr>
          <p:nvPr/>
        </p:nvPicPr>
        <p:blipFill>
          <a:blip xmlns:r="http://schemas.openxmlformats.org/officeDocument/2006/relationships" xmlns:a="http://schemas.openxmlformats.org/drawingml/2006/main" r:embed="R51ac7e55ee1743d3"/>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8CF8BFAC-675B-4542-8C79-90E2195F816D}"/>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AE3869CB-C941-4B2E-90F9-C105FC4D4FA7}"/>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2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509E46FC-891A-4F59-A5B1-7FF5E0EED188}"/>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47</a:t>
            </a:r>
            <a:endParaRPr sz="850"/>
          </a:p>
        </p:txBody>
      </p:sp>
      <p:sp>
        <p:nvSpPr>
          <p:cNvPr id="8" name="Shape 5">
            <a:extLst xmlns:a="http://schemas.openxmlformats.org/drawingml/2006/main">
              <a:ext uri="{FF2B5EF4-FFF2-40B4-BE49-F238E27FC236}">
                <a16:creationId xmlns:a16="http://schemas.microsoft.com/office/drawing/2014/main" id="{B636A7EE-FD4E-4141-A8D2-5B3561AFFD22}"/>
              </a:ext>
            </a:extLst>
          </p:cNvPr>
          <p:cNvSpPr>
            <a:spLocks xmlns:a="http://schemas.openxmlformats.org/drawingml/2006/main" noGrp="1"/>
          </p:cNvSpPr>
          <p:nvPr/>
        </p:nvSpPr>
        <p:spPr>
          <a:xfrm xmlns:a="http://schemas.openxmlformats.org/drawingml/2006/main">
            <a:off x="502920" y="1517904"/>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7783B0BF-5F56-4B6A-B2D3-5783838BB9A9}"/>
              </a:ext>
            </a:extLst>
          </p:cNvPr>
          <p:cNvSpPr>
            <a:spLocks xmlns:a="http://schemas.openxmlformats.org/drawingml/2006/main" noGrp="1"/>
          </p:cNvSpPr>
          <p:nvPr/>
        </p:nvSpPr>
        <p:spPr>
          <a:xfrm xmlns:a="http://schemas.openxmlformats.org/drawingml/2006/main">
            <a:off x="502920" y="1517904"/>
            <a:ext cx="82296" cy="2272284"/>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77E73674-2856-419A-82BB-5BC06D81AE83}"/>
              </a:ext>
            </a:extLst>
          </p:cNvPr>
          <p:cNvSpPr>
            <a:spLocks xmlns:a="http://schemas.openxmlformats.org/drawingml/2006/main" noGrp="1"/>
          </p:cNvSpPr>
          <p:nvPr/>
        </p:nvSpPr>
        <p:spPr>
          <a:xfrm xmlns:a="http://schemas.openxmlformats.org/drawingml/2006/main">
            <a:off x="722376" y="1636776"/>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00A79D"/>
                </a:solidFill>
                <a:latin typeface="Calibri"/>
                <a:ea typeface="Calibri"/>
                <a:cs typeface="Calibri"/>
              </a:rPr>
              <a:t>MISTAKE 1</a:t>
            </a:r>
            <a:endParaRPr sz="900"/>
          </a:p>
        </p:txBody>
      </p:sp>
      <p:sp>
        <p:nvSpPr>
          <p:cNvPr id="11" name="Text 8">
            <a:extLst xmlns:a="http://schemas.openxmlformats.org/drawingml/2006/main">
              <a:ext uri="{FF2B5EF4-FFF2-40B4-BE49-F238E27FC236}">
                <a16:creationId xmlns:a16="http://schemas.microsoft.com/office/drawing/2014/main" id="{D168611A-7560-43BD-94E0-89D878275BC8}"/>
              </a:ext>
            </a:extLst>
          </p:cNvPr>
          <p:cNvSpPr>
            <a:spLocks xmlns:a="http://schemas.openxmlformats.org/drawingml/2006/main" noGrp="1"/>
          </p:cNvSpPr>
          <p:nvPr/>
        </p:nvSpPr>
        <p:spPr>
          <a:xfrm xmlns:a="http://schemas.openxmlformats.org/drawingml/2006/main">
            <a:off x="722376" y="1883664"/>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Raw model output</a:t>
            </a:r>
            <a:endParaRPr sz="1250"/>
          </a:p>
        </p:txBody>
      </p:sp>
      <p:sp>
        <p:nvSpPr>
          <p:cNvPr id="12" name="Text 9">
            <a:extLst xmlns:a="http://schemas.openxmlformats.org/drawingml/2006/main">
              <a:ext uri="{FF2B5EF4-FFF2-40B4-BE49-F238E27FC236}">
                <a16:creationId xmlns:a16="http://schemas.microsoft.com/office/drawing/2014/main" id="{3FF2D6AC-C04A-4A0D-B2F3-5B4A941144F7}"/>
              </a:ext>
            </a:extLst>
          </p:cNvPr>
          <p:cNvSpPr>
            <a:spLocks xmlns:a="http://schemas.openxmlformats.org/drawingml/2006/main" noGrp="1"/>
          </p:cNvSpPr>
          <p:nvPr/>
        </p:nvSpPr>
        <p:spPr>
          <a:xfrm xmlns:a="http://schemas.openxmlformats.org/drawingml/2006/main">
            <a:off x="722376" y="2404872"/>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[0.9731] with no envelope, no version, no trace id</a:t>
            </a:r>
            <a:endParaRPr sz="980"/>
          </a:p>
        </p:txBody>
      </p:sp>
      <p:sp>
        <p:nvSpPr>
          <p:cNvPr id="13" name="Shape 10">
            <a:extLst xmlns:a="http://schemas.openxmlformats.org/drawingml/2006/main">
              <a:ext uri="{FF2B5EF4-FFF2-40B4-BE49-F238E27FC236}">
                <a16:creationId xmlns:a16="http://schemas.microsoft.com/office/drawing/2014/main" id="{94F7325F-65D8-433E-8E0F-A402B891FEC2}"/>
              </a:ext>
            </a:extLst>
          </p:cNvPr>
          <p:cNvSpPr>
            <a:spLocks xmlns:a="http://schemas.openxmlformats.org/drawingml/2006/main" noGrp="1"/>
          </p:cNvSpPr>
          <p:nvPr/>
        </p:nvSpPr>
        <p:spPr>
          <a:xfrm xmlns:a="http://schemas.openxmlformats.org/drawingml/2006/main">
            <a:off x="4322064" y="1517904"/>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14" name="Shape 11">
            <a:extLst xmlns:a="http://schemas.openxmlformats.org/drawingml/2006/main">
              <a:ext uri="{FF2B5EF4-FFF2-40B4-BE49-F238E27FC236}">
                <a16:creationId xmlns:a16="http://schemas.microsoft.com/office/drawing/2014/main" id="{B4682B21-EA66-46A8-B543-EA58F461643E}"/>
              </a:ext>
            </a:extLst>
          </p:cNvPr>
          <p:cNvSpPr>
            <a:spLocks xmlns:a="http://schemas.openxmlformats.org/drawingml/2006/main" noGrp="1"/>
          </p:cNvSpPr>
          <p:nvPr/>
        </p:nvSpPr>
        <p:spPr>
          <a:xfrm xmlns:a="http://schemas.openxmlformats.org/drawingml/2006/main">
            <a:off x="4322064" y="1517904"/>
            <a:ext cx="82296" cy="2272284"/>
          </a:xfrm>
          <a:prstGeom xmlns:a="http://schemas.openxmlformats.org/drawingml/2006/main" prst="rect">
            <a:avLst/>
          </a:prstGeom>
          <a:solidFill xmlns:a="http://schemas.openxmlformats.org/drawingml/2006/main">
            <a:srgbClr val="29ABE2"/>
          </a:solidFill>
        </p:spPr>
      </p:sp>
      <p:sp>
        <p:nvSpPr>
          <p:cNvPr id="15" name="Text 12">
            <a:extLst xmlns:a="http://schemas.openxmlformats.org/drawingml/2006/main">
              <a:ext uri="{FF2B5EF4-FFF2-40B4-BE49-F238E27FC236}">
                <a16:creationId xmlns:a16="http://schemas.microsoft.com/office/drawing/2014/main" id="{0110A5C7-E201-4DB9-ABDC-6F6171B3E56F}"/>
              </a:ext>
            </a:extLst>
          </p:cNvPr>
          <p:cNvSpPr>
            <a:spLocks xmlns:a="http://schemas.openxmlformats.org/drawingml/2006/main" noGrp="1"/>
          </p:cNvSpPr>
          <p:nvPr/>
        </p:nvSpPr>
        <p:spPr>
          <a:xfrm xmlns:a="http://schemas.openxmlformats.org/drawingml/2006/main">
            <a:off x="4541520" y="1636776"/>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29ABE2"/>
                </a:solidFill>
                <a:latin typeface="Calibri"/>
                <a:ea typeface="Calibri"/>
                <a:cs typeface="Calibri"/>
              </a:rPr>
              <a:t>MISTAKE 2</a:t>
            </a:r>
            <a:endParaRPr sz="900"/>
          </a:p>
        </p:txBody>
      </p:sp>
      <p:sp>
        <p:nvSpPr>
          <p:cNvPr id="16" name="Text 13">
            <a:extLst xmlns:a="http://schemas.openxmlformats.org/drawingml/2006/main">
              <a:ext uri="{FF2B5EF4-FFF2-40B4-BE49-F238E27FC236}">
                <a16:creationId xmlns:a16="http://schemas.microsoft.com/office/drawing/2014/main" id="{8A4A3626-B50F-4F83-B20F-A93527A261BF}"/>
              </a:ext>
            </a:extLst>
          </p:cNvPr>
          <p:cNvSpPr>
            <a:spLocks xmlns:a="http://schemas.openxmlformats.org/drawingml/2006/main" noGrp="1"/>
          </p:cNvSpPr>
          <p:nvPr/>
        </p:nvSpPr>
        <p:spPr>
          <a:xfrm xmlns:a="http://schemas.openxmlformats.org/drawingml/2006/main">
            <a:off x="4541520" y="1883664"/>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async def + CPU-bound inference</a:t>
            </a:r>
            <a:endParaRPr sz="1250"/>
          </a:p>
        </p:txBody>
      </p:sp>
      <p:sp>
        <p:nvSpPr>
          <p:cNvPr id="17" name="Text 14">
            <a:extLst xmlns:a="http://schemas.openxmlformats.org/drawingml/2006/main">
              <a:ext uri="{FF2B5EF4-FFF2-40B4-BE49-F238E27FC236}">
                <a16:creationId xmlns:a16="http://schemas.microsoft.com/office/drawing/2014/main" id="{DD9D27E5-5CDA-439A-855E-A59EB144274C}"/>
              </a:ext>
            </a:extLst>
          </p:cNvPr>
          <p:cNvSpPr>
            <a:spLocks xmlns:a="http://schemas.openxmlformats.org/drawingml/2006/main" noGrp="1"/>
          </p:cNvSpPr>
          <p:nvPr/>
        </p:nvSpPr>
        <p:spPr>
          <a:xfrm xmlns:a="http://schemas.openxmlformats.org/drawingml/2006/main">
            <a:off x="4541520" y="2404872"/>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Blocks the event loop — causes most "FastAPI is slow" complaints</a:t>
            </a:r>
            <a:endParaRPr sz="980"/>
          </a:p>
        </p:txBody>
      </p:sp>
      <p:sp>
        <p:nvSpPr>
          <p:cNvPr id="18" name="Shape 15">
            <a:extLst xmlns:a="http://schemas.openxmlformats.org/drawingml/2006/main">
              <a:ext uri="{FF2B5EF4-FFF2-40B4-BE49-F238E27FC236}">
                <a16:creationId xmlns:a16="http://schemas.microsoft.com/office/drawing/2014/main" id="{67850967-60A7-4080-A08F-B8DE0504D569}"/>
              </a:ext>
            </a:extLst>
          </p:cNvPr>
          <p:cNvSpPr>
            <a:spLocks xmlns:a="http://schemas.openxmlformats.org/drawingml/2006/main" noGrp="1"/>
          </p:cNvSpPr>
          <p:nvPr/>
        </p:nvSpPr>
        <p:spPr>
          <a:xfrm xmlns:a="http://schemas.openxmlformats.org/drawingml/2006/main">
            <a:off x="8141208" y="1517904"/>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19" name="Shape 16">
            <a:extLst xmlns:a="http://schemas.openxmlformats.org/drawingml/2006/main">
              <a:ext uri="{FF2B5EF4-FFF2-40B4-BE49-F238E27FC236}">
                <a16:creationId xmlns:a16="http://schemas.microsoft.com/office/drawing/2014/main" id="{E4012EB1-397B-48E5-A7B3-61700D092D55}"/>
              </a:ext>
            </a:extLst>
          </p:cNvPr>
          <p:cNvSpPr>
            <a:spLocks xmlns:a="http://schemas.openxmlformats.org/drawingml/2006/main" noGrp="1"/>
          </p:cNvSpPr>
          <p:nvPr/>
        </p:nvSpPr>
        <p:spPr>
          <a:xfrm xmlns:a="http://schemas.openxmlformats.org/drawingml/2006/main">
            <a:off x="8141208" y="1517904"/>
            <a:ext cx="82296" cy="2272284"/>
          </a:xfrm>
          <a:prstGeom xmlns:a="http://schemas.openxmlformats.org/drawingml/2006/main" prst="rect">
            <a:avLst/>
          </a:prstGeom>
          <a:solidFill xmlns:a="http://schemas.openxmlformats.org/drawingml/2006/main">
            <a:srgbClr val="F58220"/>
          </a:solidFill>
        </p:spPr>
      </p:sp>
      <p:sp>
        <p:nvSpPr>
          <p:cNvPr id="20" name="Text 17">
            <a:extLst xmlns:a="http://schemas.openxmlformats.org/drawingml/2006/main">
              <a:ext uri="{FF2B5EF4-FFF2-40B4-BE49-F238E27FC236}">
                <a16:creationId xmlns:a16="http://schemas.microsoft.com/office/drawing/2014/main" id="{990C928C-0566-477D-9770-20A08ACB68D9}"/>
              </a:ext>
            </a:extLst>
          </p:cNvPr>
          <p:cNvSpPr>
            <a:spLocks xmlns:a="http://schemas.openxmlformats.org/drawingml/2006/main" noGrp="1"/>
          </p:cNvSpPr>
          <p:nvPr/>
        </p:nvSpPr>
        <p:spPr>
          <a:xfrm xmlns:a="http://schemas.openxmlformats.org/drawingml/2006/main">
            <a:off x="8360664" y="1636776"/>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F58220"/>
                </a:solidFill>
                <a:latin typeface="Calibri"/>
                <a:ea typeface="Calibri"/>
                <a:cs typeface="Calibri"/>
              </a:rPr>
              <a:t>MISTAKE 3</a:t>
            </a:r>
            <a:endParaRPr sz="900"/>
          </a:p>
        </p:txBody>
      </p:sp>
      <p:sp>
        <p:nvSpPr>
          <p:cNvPr id="21" name="Text 18">
            <a:extLst xmlns:a="http://schemas.openxmlformats.org/drawingml/2006/main">
              <a:ext uri="{FF2B5EF4-FFF2-40B4-BE49-F238E27FC236}">
                <a16:creationId xmlns:a16="http://schemas.microsoft.com/office/drawing/2014/main" id="{A5AE487C-4AC4-433A-94E9-73C023C04232}"/>
              </a:ext>
            </a:extLst>
          </p:cNvPr>
          <p:cNvSpPr>
            <a:spLocks xmlns:a="http://schemas.openxmlformats.org/drawingml/2006/main" noGrp="1"/>
          </p:cNvSpPr>
          <p:nvPr/>
        </p:nvSpPr>
        <p:spPr>
          <a:xfrm xmlns:a="http://schemas.openxmlformats.org/drawingml/2006/main">
            <a:off x="8360664" y="1883664"/>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Global mutable model</a:t>
            </a:r>
            <a:endParaRPr sz="1250"/>
          </a:p>
        </p:txBody>
      </p:sp>
      <p:sp>
        <p:nvSpPr>
          <p:cNvPr id="22" name="Text 19">
            <a:extLst xmlns:a="http://schemas.openxmlformats.org/drawingml/2006/main">
              <a:ext uri="{FF2B5EF4-FFF2-40B4-BE49-F238E27FC236}">
                <a16:creationId xmlns:a16="http://schemas.microsoft.com/office/drawing/2014/main" id="{5BD2393D-BAE3-43F9-95DD-9E4490346791}"/>
              </a:ext>
            </a:extLst>
          </p:cNvPr>
          <p:cNvSpPr>
            <a:spLocks xmlns:a="http://schemas.openxmlformats.org/drawingml/2006/main" noGrp="1"/>
          </p:cNvSpPr>
          <p:nvPr/>
        </p:nvSpPr>
        <p:spPr>
          <a:xfrm xmlns:a="http://schemas.openxmlformats.org/drawingml/2006/main">
            <a:off x="8360664" y="2404872"/>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Swapped at runtime without locking</a:t>
            </a:r>
            <a:endParaRPr sz="980"/>
          </a:p>
        </p:txBody>
      </p:sp>
      <p:sp>
        <p:nvSpPr>
          <p:cNvPr id="23" name="Shape 20">
            <a:extLst xmlns:a="http://schemas.openxmlformats.org/drawingml/2006/main">
              <a:ext uri="{FF2B5EF4-FFF2-40B4-BE49-F238E27FC236}">
                <a16:creationId xmlns:a16="http://schemas.microsoft.com/office/drawing/2014/main" id="{C5E5CDCE-8829-4F56-8C8C-B17EF55837A5}"/>
              </a:ext>
            </a:extLst>
          </p:cNvPr>
          <p:cNvSpPr>
            <a:spLocks xmlns:a="http://schemas.openxmlformats.org/drawingml/2006/main" noGrp="1"/>
          </p:cNvSpPr>
          <p:nvPr/>
        </p:nvSpPr>
        <p:spPr>
          <a:xfrm xmlns:a="http://schemas.openxmlformats.org/drawingml/2006/main">
            <a:off x="502920" y="4046220"/>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24" name="Shape 21">
            <a:extLst xmlns:a="http://schemas.openxmlformats.org/drawingml/2006/main">
              <a:ext uri="{FF2B5EF4-FFF2-40B4-BE49-F238E27FC236}">
                <a16:creationId xmlns:a16="http://schemas.microsoft.com/office/drawing/2014/main" id="{578047D0-E521-43F4-A5A4-CCCE9A40A1F6}"/>
              </a:ext>
            </a:extLst>
          </p:cNvPr>
          <p:cNvSpPr>
            <a:spLocks xmlns:a="http://schemas.openxmlformats.org/drawingml/2006/main" noGrp="1"/>
          </p:cNvSpPr>
          <p:nvPr/>
        </p:nvSpPr>
        <p:spPr>
          <a:xfrm xmlns:a="http://schemas.openxmlformats.org/drawingml/2006/main">
            <a:off x="502920" y="4046220"/>
            <a:ext cx="82296" cy="2272284"/>
          </a:xfrm>
          <a:prstGeom xmlns:a="http://schemas.openxmlformats.org/drawingml/2006/main" prst="rect">
            <a:avLst/>
          </a:prstGeom>
          <a:solidFill xmlns:a="http://schemas.openxmlformats.org/drawingml/2006/main">
            <a:srgbClr val="8DC63F"/>
          </a:solidFill>
        </p:spPr>
      </p:sp>
      <p:sp>
        <p:nvSpPr>
          <p:cNvPr id="25" name="Text 22">
            <a:extLst xmlns:a="http://schemas.openxmlformats.org/drawingml/2006/main">
              <a:ext uri="{FF2B5EF4-FFF2-40B4-BE49-F238E27FC236}">
                <a16:creationId xmlns:a16="http://schemas.microsoft.com/office/drawing/2014/main" id="{FA2FA9FE-44FA-4F1E-BBF2-D1BB83EAF02A}"/>
              </a:ext>
            </a:extLst>
          </p:cNvPr>
          <p:cNvSpPr>
            <a:spLocks xmlns:a="http://schemas.openxmlformats.org/drawingml/2006/main" noGrp="1"/>
          </p:cNvSpPr>
          <p:nvPr/>
        </p:nvSpPr>
        <p:spPr>
          <a:xfrm xmlns:a="http://schemas.openxmlformats.org/drawingml/2006/main">
            <a:off x="722376" y="4165092"/>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8DC63F"/>
                </a:solidFill>
                <a:latin typeface="Calibri"/>
                <a:ea typeface="Calibri"/>
                <a:cs typeface="Calibri"/>
              </a:rPr>
              <a:t>MISTAKE 4</a:t>
            </a:r>
            <a:endParaRPr sz="900"/>
          </a:p>
        </p:txBody>
      </p:sp>
      <p:sp>
        <p:nvSpPr>
          <p:cNvPr id="26" name="Text 23">
            <a:extLst xmlns:a="http://schemas.openxmlformats.org/drawingml/2006/main">
              <a:ext uri="{FF2B5EF4-FFF2-40B4-BE49-F238E27FC236}">
                <a16:creationId xmlns:a16="http://schemas.microsoft.com/office/drawing/2014/main" id="{41811F65-17F6-44CF-8399-97CA44CF4007}"/>
              </a:ext>
            </a:extLst>
          </p:cNvPr>
          <p:cNvSpPr>
            <a:spLocks xmlns:a="http://schemas.openxmlformats.org/drawingml/2006/main" noGrp="1"/>
          </p:cNvSpPr>
          <p:nvPr/>
        </p:nvSpPr>
        <p:spPr>
          <a:xfrm xmlns:a="http://schemas.openxmlformats.org/drawingml/2006/main">
            <a:off x="722376" y="4411980"/>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Validation too loose</a:t>
            </a:r>
            <a:endParaRPr sz="1250"/>
          </a:p>
        </p:txBody>
      </p:sp>
      <p:sp>
        <p:nvSpPr>
          <p:cNvPr id="27" name="Text 24">
            <a:extLst xmlns:a="http://schemas.openxmlformats.org/drawingml/2006/main">
              <a:ext uri="{FF2B5EF4-FFF2-40B4-BE49-F238E27FC236}">
                <a16:creationId xmlns:a16="http://schemas.microsoft.com/office/drawing/2014/main" id="{E34752FB-B750-4F13-AA32-920DE83831F6}"/>
              </a:ext>
            </a:extLst>
          </p:cNvPr>
          <p:cNvSpPr>
            <a:spLocks xmlns:a="http://schemas.openxmlformats.org/drawingml/2006/main" noGrp="1"/>
          </p:cNvSpPr>
          <p:nvPr/>
        </p:nvSpPr>
        <p:spPr>
          <a:xfrm xmlns:a="http://schemas.openxmlformats.org/drawingml/2006/main">
            <a:off x="722376" y="4933188"/>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{"amount_sar": -1} scores successfully</a:t>
            </a:r>
            <a:endParaRPr sz="980"/>
          </a:p>
        </p:txBody>
      </p:sp>
      <p:sp>
        <p:nvSpPr>
          <p:cNvPr id="28" name="Shape 25">
            <a:extLst xmlns:a="http://schemas.openxmlformats.org/drawingml/2006/main">
              <a:ext uri="{FF2B5EF4-FFF2-40B4-BE49-F238E27FC236}">
                <a16:creationId xmlns:a16="http://schemas.microsoft.com/office/drawing/2014/main" id="{40C76028-F52B-43E8-A9F4-882EB41D8636}"/>
              </a:ext>
            </a:extLst>
          </p:cNvPr>
          <p:cNvSpPr>
            <a:spLocks xmlns:a="http://schemas.openxmlformats.org/drawingml/2006/main" noGrp="1"/>
          </p:cNvSpPr>
          <p:nvPr/>
        </p:nvSpPr>
        <p:spPr>
          <a:xfrm xmlns:a="http://schemas.openxmlformats.org/drawingml/2006/main">
            <a:off x="4322064" y="4046220"/>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29" name="Shape 26">
            <a:extLst xmlns:a="http://schemas.openxmlformats.org/drawingml/2006/main">
              <a:ext uri="{FF2B5EF4-FFF2-40B4-BE49-F238E27FC236}">
                <a16:creationId xmlns:a16="http://schemas.microsoft.com/office/drawing/2014/main" id="{A2B88419-3A92-4067-AD7E-549F18B654D9}"/>
              </a:ext>
            </a:extLst>
          </p:cNvPr>
          <p:cNvSpPr>
            <a:spLocks xmlns:a="http://schemas.openxmlformats.org/drawingml/2006/main" noGrp="1"/>
          </p:cNvSpPr>
          <p:nvPr/>
        </p:nvSpPr>
        <p:spPr>
          <a:xfrm xmlns:a="http://schemas.openxmlformats.org/drawingml/2006/main">
            <a:off x="4322064" y="4046220"/>
            <a:ext cx="82296" cy="2272284"/>
          </a:xfrm>
          <a:prstGeom xmlns:a="http://schemas.openxmlformats.org/drawingml/2006/main" prst="rect">
            <a:avLst/>
          </a:prstGeom>
          <a:solidFill xmlns:a="http://schemas.openxmlformats.org/drawingml/2006/main">
            <a:srgbClr val="E8503A"/>
          </a:solidFill>
        </p:spPr>
      </p:sp>
      <p:sp>
        <p:nvSpPr>
          <p:cNvPr id="30" name="Text 27">
            <a:extLst xmlns:a="http://schemas.openxmlformats.org/drawingml/2006/main">
              <a:ext uri="{FF2B5EF4-FFF2-40B4-BE49-F238E27FC236}">
                <a16:creationId xmlns:a16="http://schemas.microsoft.com/office/drawing/2014/main" id="{9B871E7C-D5B9-4837-895B-36816C988B6B}"/>
              </a:ext>
            </a:extLst>
          </p:cNvPr>
          <p:cNvSpPr>
            <a:spLocks xmlns:a="http://schemas.openxmlformats.org/drawingml/2006/main" noGrp="1"/>
          </p:cNvSpPr>
          <p:nvPr/>
        </p:nvSpPr>
        <p:spPr>
          <a:xfrm xmlns:a="http://schemas.openxmlformats.org/drawingml/2006/main">
            <a:off x="4541520" y="4165092"/>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E8503A"/>
                </a:solidFill>
                <a:latin typeface="Calibri"/>
                <a:ea typeface="Calibri"/>
                <a:cs typeface="Calibri"/>
              </a:rPr>
              <a:t>MISTAKE 5</a:t>
            </a:r>
            <a:endParaRPr sz="900"/>
          </a:p>
        </p:txBody>
      </p:sp>
      <p:sp>
        <p:nvSpPr>
          <p:cNvPr id="31" name="Text 28">
            <a:extLst xmlns:a="http://schemas.openxmlformats.org/drawingml/2006/main">
              <a:ext uri="{FF2B5EF4-FFF2-40B4-BE49-F238E27FC236}">
                <a16:creationId xmlns:a16="http://schemas.microsoft.com/office/drawing/2014/main" id="{47BF5DB1-A592-4C70-A332-5AAD45699F86}"/>
              </a:ext>
            </a:extLst>
          </p:cNvPr>
          <p:cNvSpPr>
            <a:spLocks xmlns:a="http://schemas.openxmlformats.org/drawingml/2006/main" noGrp="1"/>
          </p:cNvSpPr>
          <p:nvPr/>
        </p:nvSpPr>
        <p:spPr>
          <a:xfrm xmlns:a="http://schemas.openxmlformats.org/drawingml/2006/main">
            <a:off x="4541520" y="4411980"/>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No size limits or timeouts</a:t>
            </a:r>
            <a:endParaRPr sz="1250"/>
          </a:p>
        </p:txBody>
      </p:sp>
      <p:sp>
        <p:nvSpPr>
          <p:cNvPr id="32" name="Text 29">
            <a:extLst xmlns:a="http://schemas.openxmlformats.org/drawingml/2006/main">
              <a:ext uri="{FF2B5EF4-FFF2-40B4-BE49-F238E27FC236}">
                <a16:creationId xmlns:a16="http://schemas.microsoft.com/office/drawing/2014/main" id="{B590BAE0-72D7-4254-ADC5-9A4C6B9F7639}"/>
              </a:ext>
            </a:extLst>
          </p:cNvPr>
          <p:cNvSpPr>
            <a:spLocks xmlns:a="http://schemas.openxmlformats.org/drawingml/2006/main" noGrp="1"/>
          </p:cNvSpPr>
          <p:nvPr/>
        </p:nvSpPr>
        <p:spPr>
          <a:xfrm xmlns:a="http://schemas.openxmlformats.org/drawingml/2006/main">
            <a:off x="4541520" y="4933188"/>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Set in server config — uvicorn --limit-max-requests, proxy timeouts</a:t>
            </a:r>
            <a:endParaRPr sz="980"/>
          </a:p>
        </p:txBody>
      </p:sp>
      <p:sp>
        <p:nvSpPr>
          <p:cNvPr id="33" name="Shape 30">
            <a:extLst xmlns:a="http://schemas.openxmlformats.org/drawingml/2006/main">
              <a:ext uri="{FF2B5EF4-FFF2-40B4-BE49-F238E27FC236}">
                <a16:creationId xmlns:a16="http://schemas.microsoft.com/office/drawing/2014/main" id="{9F80C85F-A7A4-4DAB-8077-C8E7C5C6368A}"/>
              </a:ext>
            </a:extLst>
          </p:cNvPr>
          <p:cNvSpPr>
            <a:spLocks xmlns:a="http://schemas.openxmlformats.org/drawingml/2006/main" noGrp="1"/>
          </p:cNvSpPr>
          <p:nvPr/>
        </p:nvSpPr>
        <p:spPr>
          <a:xfrm xmlns:a="http://schemas.openxmlformats.org/drawingml/2006/main">
            <a:off x="8141208" y="4046220"/>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34" name="Shape 31">
            <a:extLst xmlns:a="http://schemas.openxmlformats.org/drawingml/2006/main">
              <a:ext uri="{FF2B5EF4-FFF2-40B4-BE49-F238E27FC236}">
                <a16:creationId xmlns:a16="http://schemas.microsoft.com/office/drawing/2014/main" id="{3FCC157E-78BD-4474-BC93-D61787F1EEAB}"/>
              </a:ext>
            </a:extLst>
          </p:cNvPr>
          <p:cNvSpPr>
            <a:spLocks xmlns:a="http://schemas.openxmlformats.org/drawingml/2006/main" noGrp="1"/>
          </p:cNvSpPr>
          <p:nvPr/>
        </p:nvSpPr>
        <p:spPr>
          <a:xfrm xmlns:a="http://schemas.openxmlformats.org/drawingml/2006/main">
            <a:off x="8141208" y="4046220"/>
            <a:ext cx="82296" cy="2272284"/>
          </a:xfrm>
          <a:prstGeom xmlns:a="http://schemas.openxmlformats.org/drawingml/2006/main" prst="rect">
            <a:avLst/>
          </a:prstGeom>
          <a:solidFill xmlns:a="http://schemas.openxmlformats.org/drawingml/2006/main">
            <a:srgbClr val="7B61A6"/>
          </a:solidFill>
        </p:spPr>
      </p:sp>
      <p:sp>
        <p:nvSpPr>
          <p:cNvPr id="35" name="Text 32">
            <a:extLst xmlns:a="http://schemas.openxmlformats.org/drawingml/2006/main">
              <a:ext uri="{FF2B5EF4-FFF2-40B4-BE49-F238E27FC236}">
                <a16:creationId xmlns:a16="http://schemas.microsoft.com/office/drawing/2014/main" id="{1227B8C2-19B3-48FA-B3F4-1DD128D5EF45}"/>
              </a:ext>
            </a:extLst>
          </p:cNvPr>
          <p:cNvSpPr>
            <a:spLocks xmlns:a="http://schemas.openxmlformats.org/drawingml/2006/main" noGrp="1"/>
          </p:cNvSpPr>
          <p:nvPr/>
        </p:nvSpPr>
        <p:spPr>
          <a:xfrm xmlns:a="http://schemas.openxmlformats.org/drawingml/2006/main">
            <a:off x="8360664" y="4165092"/>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7B61A6"/>
                </a:solidFill>
                <a:latin typeface="Calibri"/>
                <a:ea typeface="Calibri"/>
                <a:cs typeface="Calibri"/>
              </a:rPr>
              <a:t>MISTAKE 6</a:t>
            </a:r>
            <a:endParaRPr sz="900"/>
          </a:p>
        </p:txBody>
      </p:sp>
      <p:sp>
        <p:nvSpPr>
          <p:cNvPr id="36" name="Text 33">
            <a:extLst xmlns:a="http://schemas.openxmlformats.org/drawingml/2006/main">
              <a:ext uri="{FF2B5EF4-FFF2-40B4-BE49-F238E27FC236}">
                <a16:creationId xmlns:a16="http://schemas.microsoft.com/office/drawing/2014/main" id="{725F5367-C0BB-4F7D-9960-51F70DC3A02F}"/>
              </a:ext>
            </a:extLst>
          </p:cNvPr>
          <p:cNvSpPr>
            <a:spLocks xmlns:a="http://schemas.openxmlformats.org/drawingml/2006/main" noGrp="1"/>
          </p:cNvSpPr>
          <p:nvPr/>
        </p:nvSpPr>
        <p:spPr>
          <a:xfrm xmlns:a="http://schemas.openxmlformats.org/drawingml/2006/main">
            <a:off x="8360664" y="4411980"/>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Trusting client-supplied IDs</a:t>
            </a:r>
            <a:endParaRPr sz="1250"/>
          </a:p>
        </p:txBody>
      </p:sp>
      <p:sp>
        <p:nvSpPr>
          <p:cNvPr id="37" name="Text 34">
            <a:extLst xmlns:a="http://schemas.openxmlformats.org/drawingml/2006/main">
              <a:ext uri="{FF2B5EF4-FFF2-40B4-BE49-F238E27FC236}">
                <a16:creationId xmlns:a16="http://schemas.microsoft.com/office/drawing/2014/main" id="{D9B6E157-E9A8-4E28-8679-247621457BF3}"/>
              </a:ext>
            </a:extLst>
          </p:cNvPr>
          <p:cNvSpPr>
            <a:spLocks xmlns:a="http://schemas.openxmlformats.org/drawingml/2006/main" noGrp="1"/>
          </p:cNvSpPr>
          <p:nvPr/>
        </p:nvSpPr>
        <p:spPr>
          <a:xfrm xmlns:a="http://schemas.openxmlformats.org/drawingml/2006/main">
            <a:off x="8360664" y="4933188"/>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Never use them for anything security-relevant</a:t>
            </a:r>
            <a:endParaRPr sz="980"/>
          </a:p>
        </p:txBody>
      </p:sp>
    </p:spTree>
    <p:extLst>
      <p:ext uri="{BB962C8B-B14F-4D97-AF65-F5344CB8AC3E}">
        <p14:creationId xmlns:p14="http://schemas.microsoft.com/office/powerpoint/2010/main" val="2095530423"/>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DF00A39-C2A8-422F-9BE5-0F134F47D39A}"/>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Hardening Pass — Lab 2 Part B Preview</a:t>
            </a:r>
            <a:endParaRPr sz="2600"/>
          </a:p>
        </p:txBody>
      </p:sp>
      <p:sp>
        <p:nvSpPr>
          <p:cNvPr id="3" name="Text 1">
            <a:extLst xmlns:a="http://schemas.openxmlformats.org/drawingml/2006/main">
              <a:ext uri="{FF2B5EF4-FFF2-40B4-BE49-F238E27FC236}">
                <a16:creationId xmlns:a16="http://schemas.microsoft.com/office/drawing/2014/main" id="{A0C579D3-8AA9-4570-BFDC-56ABCD7B8B06}"/>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مرحلة التقوية — الجزء الثاني من المختبر</a:t>
            </a:r>
            <a:endParaRPr sz="1300"/>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ddd310c7f1b84bee"/>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6864D35F-F57D-4FA8-99FC-8622C1DA43C3}"/>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2DA3CADE-DD32-4662-BA0C-A518B46ED59F}"/>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2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32AD8DD6-349B-4DEE-9964-EF6A8347770B}"/>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48</a:t>
            </a:r>
            <a:endParaRPr sz="850"/>
          </a:p>
        </p:txBody>
      </p:sp>
      <p:sp>
        <p:nvSpPr>
          <p:cNvPr id="8" name="Shape 5">
            <a:extLst xmlns:a="http://schemas.openxmlformats.org/drawingml/2006/main">
              <a:ext uri="{FF2B5EF4-FFF2-40B4-BE49-F238E27FC236}">
                <a16:creationId xmlns:a16="http://schemas.microsoft.com/office/drawing/2014/main" id="{492C8B99-3AC3-4805-BC53-AB317496E27A}"/>
              </a:ext>
            </a:extLst>
          </p:cNvPr>
          <p:cNvSpPr>
            <a:spLocks xmlns:a="http://schemas.openxmlformats.org/drawingml/2006/main" noGrp="1"/>
          </p:cNvSpPr>
          <p:nvPr/>
        </p:nvSpPr>
        <p:spPr>
          <a:xfrm xmlns:a="http://schemas.openxmlformats.org/drawingml/2006/main">
            <a:off x="502920"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5AB0A36C-BDDF-4498-9318-27D49104AC52}"/>
              </a:ext>
            </a:extLst>
          </p:cNvPr>
          <p:cNvSpPr>
            <a:spLocks xmlns:a="http://schemas.openxmlformats.org/drawingml/2006/main" noGrp="1"/>
          </p:cNvSpPr>
          <p:nvPr/>
        </p:nvSpPr>
        <p:spPr>
          <a:xfrm xmlns:a="http://schemas.openxmlformats.org/drawingml/2006/main">
            <a:off x="502920" y="1965960"/>
            <a:ext cx="1929384" cy="82296"/>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5848631B-7DBA-4375-907D-4B5F3AF6BB76}"/>
              </a:ext>
            </a:extLst>
          </p:cNvPr>
          <p:cNvSpPr>
            <a:spLocks xmlns:a="http://schemas.openxmlformats.org/drawingml/2006/main" noGrp="1"/>
          </p:cNvSpPr>
          <p:nvPr/>
        </p:nvSpPr>
        <p:spPr>
          <a:xfrm xmlns:a="http://schemas.openxmlformats.org/drawingml/2006/main">
            <a:off x="640080"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00A79D"/>
                </a:solidFill>
                <a:latin typeface="Calibri"/>
                <a:ea typeface="Calibri"/>
                <a:cs typeface="Calibri"/>
              </a:rPr>
              <a:t>STEP 1</a:t>
            </a:r>
            <a:endParaRPr sz="900"/>
          </a:p>
        </p:txBody>
      </p:sp>
      <p:sp>
        <p:nvSpPr>
          <p:cNvPr id="11" name="Text 8">
            <a:extLst xmlns:a="http://schemas.openxmlformats.org/drawingml/2006/main">
              <a:ext uri="{FF2B5EF4-FFF2-40B4-BE49-F238E27FC236}">
                <a16:creationId xmlns:a16="http://schemas.microsoft.com/office/drawing/2014/main" id="{E94BB2D4-9E7C-4529-A6ED-9719710F1D32}"/>
              </a:ext>
            </a:extLst>
          </p:cNvPr>
          <p:cNvSpPr>
            <a:spLocks xmlns:a="http://schemas.openxmlformats.org/drawingml/2006/main" noGrp="1"/>
          </p:cNvSpPr>
          <p:nvPr/>
        </p:nvSpPr>
        <p:spPr>
          <a:xfrm xmlns:a="http://schemas.openxmlformats.org/drawingml/2006/main">
            <a:off x="640080"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Warm-up</a:t>
            </a:r>
            <a:endParaRPr sz="1250"/>
          </a:p>
        </p:txBody>
      </p:sp>
      <p:sp>
        <p:nvSpPr>
          <p:cNvPr id="12" name="Text 9">
            <a:extLst xmlns:a="http://schemas.openxmlformats.org/drawingml/2006/main">
              <a:ext uri="{FF2B5EF4-FFF2-40B4-BE49-F238E27FC236}">
                <a16:creationId xmlns:a16="http://schemas.microsoft.com/office/drawing/2014/main" id="{E4387732-906F-4C5C-B2D3-E862B0344B24}"/>
              </a:ext>
            </a:extLst>
          </p:cNvPr>
          <p:cNvSpPr>
            <a:spLocks xmlns:a="http://schemas.openxmlformats.org/drawingml/2006/main" noGrp="1"/>
          </p:cNvSpPr>
          <p:nvPr/>
        </p:nvSpPr>
        <p:spPr>
          <a:xfrm xmlns:a="http://schemas.openxmlformats.org/drawingml/2006/main">
            <a:off x="640080"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Measure first-request latency before/after with curl -w "%{time_total}"</a:t>
            </a:r>
            <a:endParaRPr sz="950"/>
          </a:p>
        </p:txBody>
      </p:sp>
      <p:sp>
        <p:nvSpPr>
          <p:cNvPr id="13" name="Shape 10">
            <a:extLst xmlns:a="http://schemas.openxmlformats.org/drawingml/2006/main">
              <a:ext uri="{FF2B5EF4-FFF2-40B4-BE49-F238E27FC236}">
                <a16:creationId xmlns:a16="http://schemas.microsoft.com/office/drawing/2014/main" id="{82CE0F6B-10DD-46D0-8523-3D553B0EBE93}"/>
              </a:ext>
            </a:extLst>
          </p:cNvPr>
          <p:cNvSpPr>
            <a:spLocks xmlns:a="http://schemas.openxmlformats.org/drawingml/2006/main" noGrp="1"/>
          </p:cNvSpPr>
          <p:nvPr/>
        </p:nvSpPr>
        <p:spPr>
          <a:xfrm xmlns:a="http://schemas.openxmlformats.org/drawingml/2006/main">
            <a:off x="2487168" y="3026664"/>
            <a:ext cx="274320" cy="256032"/>
          </a:xfrm>
          <a:prstGeom xmlns:a="http://schemas.openxmlformats.org/drawingml/2006/main" prst="chevron">
            <a:avLst/>
          </a:prstGeom>
          <a:solidFill xmlns:a="http://schemas.openxmlformats.org/drawingml/2006/main">
            <a:srgbClr val="00A79D"/>
          </a:solidFill>
        </p:spPr>
      </p:sp>
      <p:sp>
        <p:nvSpPr>
          <p:cNvPr id="14" name="Shape 11">
            <a:extLst xmlns:a="http://schemas.openxmlformats.org/drawingml/2006/main">
              <a:ext uri="{FF2B5EF4-FFF2-40B4-BE49-F238E27FC236}">
                <a16:creationId xmlns:a16="http://schemas.microsoft.com/office/drawing/2014/main" id="{C3154A56-0B76-4224-86B9-526002864AFE}"/>
              </a:ext>
            </a:extLst>
          </p:cNvPr>
          <p:cNvSpPr>
            <a:spLocks xmlns:a="http://schemas.openxmlformats.org/drawingml/2006/main" noGrp="1"/>
          </p:cNvSpPr>
          <p:nvPr/>
        </p:nvSpPr>
        <p:spPr>
          <a:xfrm xmlns:a="http://schemas.openxmlformats.org/drawingml/2006/main">
            <a:off x="2816352"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15" name="Shape 12">
            <a:extLst xmlns:a="http://schemas.openxmlformats.org/drawingml/2006/main">
              <a:ext uri="{FF2B5EF4-FFF2-40B4-BE49-F238E27FC236}">
                <a16:creationId xmlns:a16="http://schemas.microsoft.com/office/drawing/2014/main" id="{BF51770E-785A-4C28-AA06-EFB9DB745AA6}"/>
              </a:ext>
            </a:extLst>
          </p:cNvPr>
          <p:cNvSpPr>
            <a:spLocks xmlns:a="http://schemas.openxmlformats.org/drawingml/2006/main" noGrp="1"/>
          </p:cNvSpPr>
          <p:nvPr/>
        </p:nvSpPr>
        <p:spPr>
          <a:xfrm xmlns:a="http://schemas.openxmlformats.org/drawingml/2006/main">
            <a:off x="2816352" y="1965960"/>
            <a:ext cx="1929384" cy="82296"/>
          </a:xfrm>
          <a:prstGeom xmlns:a="http://schemas.openxmlformats.org/drawingml/2006/main" prst="rect">
            <a:avLst/>
          </a:prstGeom>
          <a:solidFill xmlns:a="http://schemas.openxmlformats.org/drawingml/2006/main">
            <a:srgbClr val="29ABE2"/>
          </a:solidFill>
        </p:spPr>
      </p:sp>
      <p:sp>
        <p:nvSpPr>
          <p:cNvPr id="16" name="Text 13">
            <a:extLst xmlns:a="http://schemas.openxmlformats.org/drawingml/2006/main">
              <a:ext uri="{FF2B5EF4-FFF2-40B4-BE49-F238E27FC236}">
                <a16:creationId xmlns:a16="http://schemas.microsoft.com/office/drawing/2014/main" id="{04E9523D-ED6F-4DEA-A0B4-B0A8ED8CDAD9}"/>
              </a:ext>
            </a:extLst>
          </p:cNvPr>
          <p:cNvSpPr>
            <a:spLocks xmlns:a="http://schemas.openxmlformats.org/drawingml/2006/main" noGrp="1"/>
          </p:cNvSpPr>
          <p:nvPr/>
        </p:nvSpPr>
        <p:spPr>
          <a:xfrm xmlns:a="http://schemas.openxmlformats.org/drawingml/2006/main">
            <a:off x="2953512"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29ABE2"/>
                </a:solidFill>
                <a:latin typeface="Calibri"/>
                <a:ea typeface="Calibri"/>
                <a:cs typeface="Calibri"/>
              </a:rPr>
              <a:t>STEP 2</a:t>
            </a:r>
            <a:endParaRPr sz="900"/>
          </a:p>
        </p:txBody>
      </p:sp>
      <p:sp>
        <p:nvSpPr>
          <p:cNvPr id="17" name="Text 14">
            <a:extLst xmlns:a="http://schemas.openxmlformats.org/drawingml/2006/main">
              <a:ext uri="{FF2B5EF4-FFF2-40B4-BE49-F238E27FC236}">
                <a16:creationId xmlns:a16="http://schemas.microsoft.com/office/drawing/2014/main" id="{825E73BA-2AB9-4A17-B250-001A80A7EDA8}"/>
              </a:ext>
            </a:extLst>
          </p:cNvPr>
          <p:cNvSpPr>
            <a:spLocks xmlns:a="http://schemas.openxmlformats.org/drawingml/2006/main" noGrp="1"/>
          </p:cNvSpPr>
          <p:nvPr/>
        </p:nvSpPr>
        <p:spPr>
          <a:xfrm xmlns:a="http://schemas.openxmlformats.org/drawingml/2006/main">
            <a:off x="2953512"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Exception handler</a:t>
            </a:r>
            <a:endParaRPr sz="1250"/>
          </a:p>
        </p:txBody>
      </p:sp>
      <p:sp>
        <p:nvSpPr>
          <p:cNvPr id="18" name="Text 15">
            <a:extLst xmlns:a="http://schemas.openxmlformats.org/drawingml/2006/main">
              <a:ext uri="{FF2B5EF4-FFF2-40B4-BE49-F238E27FC236}">
                <a16:creationId xmlns:a16="http://schemas.microsoft.com/office/drawing/2014/main" id="{B841348E-339B-4908-A638-4BA4DE5F0B1C}"/>
              </a:ext>
            </a:extLst>
          </p:cNvPr>
          <p:cNvSpPr>
            <a:spLocks xmlns:a="http://schemas.openxmlformats.org/drawingml/2006/main" noGrp="1"/>
          </p:cNvSpPr>
          <p:nvPr/>
        </p:nvSpPr>
        <p:spPr>
          <a:xfrm xmlns:a="http://schemas.openxmlformats.org/drawingml/2006/main">
            <a:off x="2953512"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Prove no stack trace leaks: temporary /v1/boom route raising RuntimeError, then remove it</a:t>
            </a:r>
            <a:endParaRPr sz="950"/>
          </a:p>
        </p:txBody>
      </p:sp>
      <p:sp>
        <p:nvSpPr>
          <p:cNvPr id="19" name="Shape 16">
            <a:extLst xmlns:a="http://schemas.openxmlformats.org/drawingml/2006/main">
              <a:ext uri="{FF2B5EF4-FFF2-40B4-BE49-F238E27FC236}">
                <a16:creationId xmlns:a16="http://schemas.microsoft.com/office/drawing/2014/main" id="{38BEEEA4-0DE2-40B6-A407-FF9A115C0809}"/>
              </a:ext>
            </a:extLst>
          </p:cNvPr>
          <p:cNvSpPr>
            <a:spLocks xmlns:a="http://schemas.openxmlformats.org/drawingml/2006/main" noGrp="1"/>
          </p:cNvSpPr>
          <p:nvPr/>
        </p:nvSpPr>
        <p:spPr>
          <a:xfrm xmlns:a="http://schemas.openxmlformats.org/drawingml/2006/main">
            <a:off x="4800600" y="3026664"/>
            <a:ext cx="274320" cy="256032"/>
          </a:xfrm>
          <a:prstGeom xmlns:a="http://schemas.openxmlformats.org/drawingml/2006/main" prst="chevron">
            <a:avLst/>
          </a:prstGeom>
          <a:solidFill xmlns:a="http://schemas.openxmlformats.org/drawingml/2006/main">
            <a:srgbClr val="00A79D"/>
          </a:solidFill>
        </p:spPr>
      </p:sp>
      <p:sp>
        <p:nvSpPr>
          <p:cNvPr id="20" name="Shape 17">
            <a:extLst xmlns:a="http://schemas.openxmlformats.org/drawingml/2006/main">
              <a:ext uri="{FF2B5EF4-FFF2-40B4-BE49-F238E27FC236}">
                <a16:creationId xmlns:a16="http://schemas.microsoft.com/office/drawing/2014/main" id="{F742D6B7-A002-4B7D-8647-9F13E48F9C85}"/>
              </a:ext>
            </a:extLst>
          </p:cNvPr>
          <p:cNvSpPr>
            <a:spLocks xmlns:a="http://schemas.openxmlformats.org/drawingml/2006/main" noGrp="1"/>
          </p:cNvSpPr>
          <p:nvPr/>
        </p:nvSpPr>
        <p:spPr>
          <a:xfrm xmlns:a="http://schemas.openxmlformats.org/drawingml/2006/main">
            <a:off x="5129784"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21" name="Shape 18">
            <a:extLst xmlns:a="http://schemas.openxmlformats.org/drawingml/2006/main">
              <a:ext uri="{FF2B5EF4-FFF2-40B4-BE49-F238E27FC236}">
                <a16:creationId xmlns:a16="http://schemas.microsoft.com/office/drawing/2014/main" id="{F759F15A-D0FB-453E-90AC-9630DF3EEBF5}"/>
              </a:ext>
            </a:extLst>
          </p:cNvPr>
          <p:cNvSpPr>
            <a:spLocks xmlns:a="http://schemas.openxmlformats.org/drawingml/2006/main" noGrp="1"/>
          </p:cNvSpPr>
          <p:nvPr/>
        </p:nvSpPr>
        <p:spPr>
          <a:xfrm xmlns:a="http://schemas.openxmlformats.org/drawingml/2006/main">
            <a:off x="5129784" y="1965960"/>
            <a:ext cx="1929384" cy="82296"/>
          </a:xfrm>
          <a:prstGeom xmlns:a="http://schemas.openxmlformats.org/drawingml/2006/main" prst="rect">
            <a:avLst/>
          </a:prstGeom>
          <a:solidFill xmlns:a="http://schemas.openxmlformats.org/drawingml/2006/main">
            <a:srgbClr val="F58220"/>
          </a:solidFill>
        </p:spPr>
      </p:sp>
      <p:sp>
        <p:nvSpPr>
          <p:cNvPr id="22" name="Text 19">
            <a:extLst xmlns:a="http://schemas.openxmlformats.org/drawingml/2006/main">
              <a:ext uri="{FF2B5EF4-FFF2-40B4-BE49-F238E27FC236}">
                <a16:creationId xmlns:a16="http://schemas.microsoft.com/office/drawing/2014/main" id="{A289E936-8254-4509-8849-D2D33DA14A48}"/>
              </a:ext>
            </a:extLst>
          </p:cNvPr>
          <p:cNvSpPr>
            <a:spLocks xmlns:a="http://schemas.openxmlformats.org/drawingml/2006/main" noGrp="1"/>
          </p:cNvSpPr>
          <p:nvPr/>
        </p:nvSpPr>
        <p:spPr>
          <a:xfrm xmlns:a="http://schemas.openxmlformats.org/drawingml/2006/main">
            <a:off x="5266944"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F58220"/>
                </a:solidFill>
                <a:latin typeface="Calibri"/>
                <a:ea typeface="Calibri"/>
                <a:cs typeface="Calibri"/>
              </a:rPr>
              <a:t>STEP 3</a:t>
            </a:r>
            <a:endParaRPr sz="900"/>
          </a:p>
        </p:txBody>
      </p:sp>
      <p:sp>
        <p:nvSpPr>
          <p:cNvPr id="23" name="Text 20">
            <a:extLst xmlns:a="http://schemas.openxmlformats.org/drawingml/2006/main">
              <a:ext uri="{FF2B5EF4-FFF2-40B4-BE49-F238E27FC236}">
                <a16:creationId xmlns:a16="http://schemas.microsoft.com/office/drawing/2014/main" id="{9C643FF6-BA0E-4643-9EE0-79CB02D76703}"/>
              </a:ext>
            </a:extLst>
          </p:cNvPr>
          <p:cNvSpPr>
            <a:spLocks xmlns:a="http://schemas.openxmlformats.org/drawingml/2006/main" noGrp="1"/>
          </p:cNvSpPr>
          <p:nvPr/>
        </p:nvSpPr>
        <p:spPr>
          <a:xfrm xmlns:a="http://schemas.openxmlformats.org/drawingml/2006/main">
            <a:off x="5266944"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Trace middleware</a:t>
            </a:r>
            <a:endParaRPr sz="1250"/>
          </a:p>
        </p:txBody>
      </p:sp>
      <p:sp>
        <p:nvSpPr>
          <p:cNvPr id="24" name="Text 21">
            <a:extLst xmlns:a="http://schemas.openxmlformats.org/drawingml/2006/main">
              <a:ext uri="{FF2B5EF4-FFF2-40B4-BE49-F238E27FC236}">
                <a16:creationId xmlns:a16="http://schemas.microsoft.com/office/drawing/2014/main" id="{C609E477-C9F3-4757-ADBE-DAF31893EC5C}"/>
              </a:ext>
            </a:extLst>
          </p:cNvPr>
          <p:cNvSpPr>
            <a:spLocks xmlns:a="http://schemas.openxmlformats.org/drawingml/2006/main" noGrp="1"/>
          </p:cNvSpPr>
          <p:nvPr/>
        </p:nvSpPr>
        <p:spPr>
          <a:xfrm xmlns:a="http://schemas.openxmlformats.org/drawingml/2006/main">
            <a:off x="5266944"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X-Trace-Id + X-Response-Time-Ms on every response — invaluable in incident review</a:t>
            </a:r>
            <a:endParaRPr sz="950"/>
          </a:p>
        </p:txBody>
      </p:sp>
      <p:sp>
        <p:nvSpPr>
          <p:cNvPr id="25" name="Shape 22">
            <a:extLst xmlns:a="http://schemas.openxmlformats.org/drawingml/2006/main">
              <a:ext uri="{FF2B5EF4-FFF2-40B4-BE49-F238E27FC236}">
                <a16:creationId xmlns:a16="http://schemas.microsoft.com/office/drawing/2014/main" id="{E0DB961C-B63E-4434-AE77-D045342C9D3B}"/>
              </a:ext>
            </a:extLst>
          </p:cNvPr>
          <p:cNvSpPr>
            <a:spLocks xmlns:a="http://schemas.openxmlformats.org/drawingml/2006/main" noGrp="1"/>
          </p:cNvSpPr>
          <p:nvPr/>
        </p:nvSpPr>
        <p:spPr>
          <a:xfrm xmlns:a="http://schemas.openxmlformats.org/drawingml/2006/main">
            <a:off x="7114032" y="3026664"/>
            <a:ext cx="274320" cy="256032"/>
          </a:xfrm>
          <a:prstGeom xmlns:a="http://schemas.openxmlformats.org/drawingml/2006/main" prst="chevron">
            <a:avLst/>
          </a:prstGeom>
          <a:solidFill xmlns:a="http://schemas.openxmlformats.org/drawingml/2006/main">
            <a:srgbClr val="00A79D"/>
          </a:solidFill>
        </p:spPr>
      </p:sp>
      <p:sp>
        <p:nvSpPr>
          <p:cNvPr id="26" name="Shape 23">
            <a:extLst xmlns:a="http://schemas.openxmlformats.org/drawingml/2006/main">
              <a:ext uri="{FF2B5EF4-FFF2-40B4-BE49-F238E27FC236}">
                <a16:creationId xmlns:a16="http://schemas.microsoft.com/office/drawing/2014/main" id="{7C71F822-3419-43C2-9B0D-AA3DEA2A7BF5}"/>
              </a:ext>
            </a:extLst>
          </p:cNvPr>
          <p:cNvSpPr>
            <a:spLocks xmlns:a="http://schemas.openxmlformats.org/drawingml/2006/main" noGrp="1"/>
          </p:cNvSpPr>
          <p:nvPr/>
        </p:nvSpPr>
        <p:spPr>
          <a:xfrm xmlns:a="http://schemas.openxmlformats.org/drawingml/2006/main">
            <a:off x="7443216"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27" name="Shape 24">
            <a:extLst xmlns:a="http://schemas.openxmlformats.org/drawingml/2006/main">
              <a:ext uri="{FF2B5EF4-FFF2-40B4-BE49-F238E27FC236}">
                <a16:creationId xmlns:a16="http://schemas.microsoft.com/office/drawing/2014/main" id="{15A33D91-EAD7-4A75-9B7B-52A83CC926B3}"/>
              </a:ext>
            </a:extLst>
          </p:cNvPr>
          <p:cNvSpPr>
            <a:spLocks xmlns:a="http://schemas.openxmlformats.org/drawingml/2006/main" noGrp="1"/>
          </p:cNvSpPr>
          <p:nvPr/>
        </p:nvSpPr>
        <p:spPr>
          <a:xfrm xmlns:a="http://schemas.openxmlformats.org/drawingml/2006/main">
            <a:off x="7443216" y="1965960"/>
            <a:ext cx="1929384" cy="82296"/>
          </a:xfrm>
          <a:prstGeom xmlns:a="http://schemas.openxmlformats.org/drawingml/2006/main" prst="rect">
            <a:avLst/>
          </a:prstGeom>
          <a:solidFill xmlns:a="http://schemas.openxmlformats.org/drawingml/2006/main">
            <a:srgbClr val="8DC63F"/>
          </a:solidFill>
        </p:spPr>
      </p:sp>
      <p:sp>
        <p:nvSpPr>
          <p:cNvPr id="28" name="Text 25">
            <a:extLst xmlns:a="http://schemas.openxmlformats.org/drawingml/2006/main">
              <a:ext uri="{FF2B5EF4-FFF2-40B4-BE49-F238E27FC236}">
                <a16:creationId xmlns:a16="http://schemas.microsoft.com/office/drawing/2014/main" id="{06A30B05-D997-495B-99DA-BA741EA7B937}"/>
              </a:ext>
            </a:extLst>
          </p:cNvPr>
          <p:cNvSpPr>
            <a:spLocks xmlns:a="http://schemas.openxmlformats.org/drawingml/2006/main" noGrp="1"/>
          </p:cNvSpPr>
          <p:nvPr/>
        </p:nvSpPr>
        <p:spPr>
          <a:xfrm xmlns:a="http://schemas.openxmlformats.org/drawingml/2006/main">
            <a:off x="7580376"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8DC63F"/>
                </a:solidFill>
                <a:latin typeface="Calibri"/>
                <a:ea typeface="Calibri"/>
                <a:cs typeface="Calibri"/>
              </a:rPr>
              <a:t>STEP 4</a:t>
            </a:r>
            <a:endParaRPr sz="900"/>
          </a:p>
        </p:txBody>
      </p:sp>
      <p:sp>
        <p:nvSpPr>
          <p:cNvPr id="29" name="Text 26">
            <a:extLst xmlns:a="http://schemas.openxmlformats.org/drawingml/2006/main">
              <a:ext uri="{FF2B5EF4-FFF2-40B4-BE49-F238E27FC236}">
                <a16:creationId xmlns:a16="http://schemas.microsoft.com/office/drawing/2014/main" id="{2CBF7C06-EC56-4AA7-BBCD-7CC01A1612E4}"/>
              </a:ext>
            </a:extLst>
          </p:cNvPr>
          <p:cNvSpPr>
            <a:spLocks xmlns:a="http://schemas.openxmlformats.org/drawingml/2006/main" noGrp="1"/>
          </p:cNvSpPr>
          <p:nvPr/>
        </p:nvSpPr>
        <p:spPr>
          <a:xfrm xmlns:a="http://schemas.openxmlformats.org/drawingml/2006/main">
            <a:off x="7580376"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OpenAPI pass</a:t>
            </a:r>
            <a:endParaRPr sz="1250"/>
          </a:p>
        </p:txBody>
      </p:sp>
      <p:sp>
        <p:nvSpPr>
          <p:cNvPr id="30" name="Text 27">
            <a:extLst xmlns:a="http://schemas.openxmlformats.org/drawingml/2006/main">
              <a:ext uri="{FF2B5EF4-FFF2-40B4-BE49-F238E27FC236}">
                <a16:creationId xmlns:a16="http://schemas.microsoft.com/office/drawing/2014/main" id="{D8EC3826-CF95-46F6-922B-88F8F7C5CC63}"/>
              </a:ext>
            </a:extLst>
          </p:cNvPr>
          <p:cNvSpPr>
            <a:spLocks xmlns:a="http://schemas.openxmlformats.org/drawingml/2006/main" noGrp="1"/>
          </p:cNvSpPr>
          <p:nvPr/>
        </p:nvSpPr>
        <p:spPr>
          <a:xfrm xmlns:a="http://schemas.openxmlformats.org/drawingml/2006/main">
            <a:off x="7580376"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/docs complete: constraints visible, examples filled, 200/422/503 documented</a:t>
            </a:r>
            <a:endParaRPr sz="950"/>
          </a:p>
        </p:txBody>
      </p:sp>
      <p:sp>
        <p:nvSpPr>
          <p:cNvPr id="31" name="Shape 28">
            <a:extLst xmlns:a="http://schemas.openxmlformats.org/drawingml/2006/main">
              <a:ext uri="{FF2B5EF4-FFF2-40B4-BE49-F238E27FC236}">
                <a16:creationId xmlns:a16="http://schemas.microsoft.com/office/drawing/2014/main" id="{B7C41045-2B42-42EC-ADEE-6C32F3ADB2DD}"/>
              </a:ext>
            </a:extLst>
          </p:cNvPr>
          <p:cNvSpPr>
            <a:spLocks xmlns:a="http://schemas.openxmlformats.org/drawingml/2006/main" noGrp="1"/>
          </p:cNvSpPr>
          <p:nvPr/>
        </p:nvSpPr>
        <p:spPr>
          <a:xfrm xmlns:a="http://schemas.openxmlformats.org/drawingml/2006/main">
            <a:off x="9427464" y="3026664"/>
            <a:ext cx="274320" cy="256032"/>
          </a:xfrm>
          <a:prstGeom xmlns:a="http://schemas.openxmlformats.org/drawingml/2006/main" prst="chevron">
            <a:avLst/>
          </a:prstGeom>
          <a:solidFill xmlns:a="http://schemas.openxmlformats.org/drawingml/2006/main">
            <a:srgbClr val="00A79D"/>
          </a:solidFill>
        </p:spPr>
      </p:sp>
      <p:sp>
        <p:nvSpPr>
          <p:cNvPr id="32" name="Shape 29">
            <a:extLst xmlns:a="http://schemas.openxmlformats.org/drawingml/2006/main">
              <a:ext uri="{FF2B5EF4-FFF2-40B4-BE49-F238E27FC236}">
                <a16:creationId xmlns:a16="http://schemas.microsoft.com/office/drawing/2014/main" id="{28333933-A431-42FC-9BE6-8414CFC9DDCD}"/>
              </a:ext>
            </a:extLst>
          </p:cNvPr>
          <p:cNvSpPr>
            <a:spLocks xmlns:a="http://schemas.openxmlformats.org/drawingml/2006/main" noGrp="1"/>
          </p:cNvSpPr>
          <p:nvPr/>
        </p:nvSpPr>
        <p:spPr>
          <a:xfrm xmlns:a="http://schemas.openxmlformats.org/drawingml/2006/main">
            <a:off x="9756648"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33" name="Shape 30">
            <a:extLst xmlns:a="http://schemas.openxmlformats.org/drawingml/2006/main">
              <a:ext uri="{FF2B5EF4-FFF2-40B4-BE49-F238E27FC236}">
                <a16:creationId xmlns:a16="http://schemas.microsoft.com/office/drawing/2014/main" id="{4D9894D7-D9E1-479F-A0E3-65B1B5AFBB47}"/>
              </a:ext>
            </a:extLst>
          </p:cNvPr>
          <p:cNvSpPr>
            <a:spLocks xmlns:a="http://schemas.openxmlformats.org/drawingml/2006/main" noGrp="1"/>
          </p:cNvSpPr>
          <p:nvPr/>
        </p:nvSpPr>
        <p:spPr>
          <a:xfrm xmlns:a="http://schemas.openxmlformats.org/drawingml/2006/main">
            <a:off x="9756648" y="1965960"/>
            <a:ext cx="1929384" cy="82296"/>
          </a:xfrm>
          <a:prstGeom xmlns:a="http://schemas.openxmlformats.org/drawingml/2006/main" prst="rect">
            <a:avLst/>
          </a:prstGeom>
          <a:solidFill xmlns:a="http://schemas.openxmlformats.org/drawingml/2006/main">
            <a:srgbClr val="E8503A"/>
          </a:solidFill>
        </p:spPr>
      </p:sp>
      <p:sp>
        <p:nvSpPr>
          <p:cNvPr id="34" name="Text 31">
            <a:extLst xmlns:a="http://schemas.openxmlformats.org/drawingml/2006/main">
              <a:ext uri="{FF2B5EF4-FFF2-40B4-BE49-F238E27FC236}">
                <a16:creationId xmlns:a16="http://schemas.microsoft.com/office/drawing/2014/main" id="{0752CCFF-0CCD-4CF3-BCFA-466F5A789C0B}"/>
              </a:ext>
            </a:extLst>
          </p:cNvPr>
          <p:cNvSpPr>
            <a:spLocks xmlns:a="http://schemas.openxmlformats.org/drawingml/2006/main" noGrp="1"/>
          </p:cNvSpPr>
          <p:nvPr/>
        </p:nvSpPr>
        <p:spPr>
          <a:xfrm xmlns:a="http://schemas.openxmlformats.org/drawingml/2006/main">
            <a:off x="9893808"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E8503A"/>
                </a:solidFill>
                <a:latin typeface="Calibri"/>
                <a:ea typeface="Calibri"/>
                <a:cs typeface="Calibri"/>
              </a:rPr>
              <a:t>STEP 5</a:t>
            </a:r>
            <a:endParaRPr sz="900"/>
          </a:p>
        </p:txBody>
      </p:sp>
      <p:sp>
        <p:nvSpPr>
          <p:cNvPr id="35" name="Text 32">
            <a:extLst xmlns:a="http://schemas.openxmlformats.org/drawingml/2006/main">
              <a:ext uri="{FF2B5EF4-FFF2-40B4-BE49-F238E27FC236}">
                <a16:creationId xmlns:a16="http://schemas.microsoft.com/office/drawing/2014/main" id="{6598FB49-BCEC-4AC6-B71B-FAEE20E3F5D5}"/>
              </a:ext>
            </a:extLst>
          </p:cNvPr>
          <p:cNvSpPr>
            <a:spLocks xmlns:a="http://schemas.openxmlformats.org/drawingml/2006/main" noGrp="1"/>
          </p:cNvSpPr>
          <p:nvPr/>
        </p:nvSpPr>
        <p:spPr>
          <a:xfrm xmlns:a="http://schemas.openxmlformats.org/drawingml/2006/main">
            <a:off x="9893808"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Load test</a:t>
            </a:r>
            <a:endParaRPr sz="1250"/>
          </a:p>
        </p:txBody>
      </p:sp>
      <p:sp>
        <p:nvSpPr>
          <p:cNvPr id="36" name="Text 33">
            <a:extLst xmlns:a="http://schemas.openxmlformats.org/drawingml/2006/main">
              <a:ext uri="{FF2B5EF4-FFF2-40B4-BE49-F238E27FC236}">
                <a16:creationId xmlns:a16="http://schemas.microsoft.com/office/drawing/2014/main" id="{18A1CE66-307A-4C55-A2FC-BAEAAB129D4C}"/>
              </a:ext>
            </a:extLst>
          </p:cNvPr>
          <p:cNvSpPr>
            <a:spLocks xmlns:a="http://schemas.openxmlformats.org/drawingml/2006/main" noGrp="1"/>
          </p:cNvSpPr>
          <p:nvPr/>
        </p:nvSpPr>
        <p:spPr>
          <a:xfrm xmlns:a="http://schemas.openxmlformats.org/drawingml/2006/main">
            <a:off x="9893808"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hey -n 2000 -c 25 -m POST -D sample.json → record p50/p99/RPS in BENCHMARKS.md</a:t>
            </a:r>
            <a:endParaRPr sz="950"/>
          </a:p>
        </p:txBody>
      </p:sp>
      <p:sp>
        <p:nvSpPr>
          <p:cNvPr id="37" name="Shape 34">
            <a:extLst xmlns:a="http://schemas.openxmlformats.org/drawingml/2006/main">
              <a:ext uri="{FF2B5EF4-FFF2-40B4-BE49-F238E27FC236}">
                <a16:creationId xmlns:a16="http://schemas.microsoft.com/office/drawing/2014/main" id="{FD90D3A2-60D3-4FA2-A791-0AD3795710BE}"/>
              </a:ext>
            </a:extLst>
          </p:cNvPr>
          <p:cNvSpPr>
            <a:spLocks xmlns:a="http://schemas.openxmlformats.org/drawingml/2006/main" noGrp="1"/>
          </p:cNvSpPr>
          <p:nvPr/>
        </p:nvSpPr>
        <p:spPr>
          <a:xfrm xmlns:a="http://schemas.openxmlformats.org/drawingml/2006/main">
            <a:off x="502920" y="4892040"/>
            <a:ext cx="11183112" cy="1051560"/>
          </a:xfrm>
          <a:prstGeom xmlns:a="http://schemas.openxmlformats.org/drawingml/2006/main" prst="roundRect">
            <a:avLst>
              <a:gd name="adj" fmla="val 6087"/>
            </a:avLst>
          </a:prstGeom>
          <a:solidFill xmlns:a="http://schemas.openxmlformats.org/drawingml/2006/main">
            <a:srgbClr val="D4F1EE"/>
          </a:solidFill>
        </p:spPr>
      </p:sp>
      <p:sp>
        <p:nvSpPr>
          <p:cNvPr id="38" name="Text 35">
            <a:extLst xmlns:a="http://schemas.openxmlformats.org/drawingml/2006/main">
              <a:ext uri="{FF2B5EF4-FFF2-40B4-BE49-F238E27FC236}">
                <a16:creationId xmlns:a16="http://schemas.microsoft.com/office/drawing/2014/main" id="{4252A28C-DCE7-4A42-AE17-F1B614142642}"/>
              </a:ext>
            </a:extLst>
          </p:cNvPr>
          <p:cNvSpPr>
            <a:spLocks xmlns:a="http://schemas.openxmlformats.org/drawingml/2006/main" noGrp="1"/>
          </p:cNvSpPr>
          <p:nvPr/>
        </p:nvSpPr>
        <p:spPr>
          <a:xfrm xmlns:a="http://schemas.openxmlformats.org/drawingml/2006/main">
            <a:off x="731520" y="4892040"/>
            <a:ext cx="10789920" cy="10515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b="1">
                <a:solidFill>
                  <a:srgbClr val="056A63"/>
                </a:solidFill>
                <a:latin typeface="Calibri"/>
                <a:ea typeface="Calibri"/>
                <a:cs typeface="Calibri"/>
              </a:rPr>
              <a:t>WHY IT MATTERS   </a:t>
            </a:r>
            <a:r>
              <a:rPr sz="1100">
                <a:solidFill>
                  <a:srgbClr val="056A63"/>
                </a:solidFill>
                <a:latin typeface="Calibri"/>
                <a:ea typeface="Calibri"/>
                <a:cs typeface="Calibri"/>
              </a:rPr>
              <a:t>Reference laptop: p50 ≈ 9 ms, p99 ≈ 38 ms, ≈ 1,400 req/s, 0 non-2xx. Keep every pair's numbers — Module 3 compares container vs bare-metal latency.</a:t>
            </a:r>
            <a:endParaRPr sz="950"/>
          </a:p>
        </p:txBody>
      </p:sp>
    </p:spTree>
    <p:extLst>
      <p:ext uri="{BB962C8B-B14F-4D97-AF65-F5344CB8AC3E}">
        <p14:creationId xmlns:p14="http://schemas.microsoft.com/office/powerpoint/2010/main" val="785688741"/>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2220D81-064E-4486-97F5-5CED12A96D2B}"/>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What the Load Test Reveals</a:t>
            </a:r>
            <a:endParaRPr sz="2600"/>
          </a:p>
        </p:txBody>
      </p:sp>
      <p:sp>
        <p:nvSpPr>
          <p:cNvPr id="3" name="Text 1">
            <a:extLst xmlns:a="http://schemas.openxmlformats.org/drawingml/2006/main">
              <a:ext uri="{FF2B5EF4-FFF2-40B4-BE49-F238E27FC236}">
                <a16:creationId xmlns:a16="http://schemas.microsoft.com/office/drawing/2014/main" id="{D2D3347E-EF95-4E84-9899-246948D77054}"/>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ماذا يكشف اختبار الحمل</a:t>
            </a:r>
            <a:endParaRPr sz="1300"/>
          </a:p>
        </p:txBody>
      </p:sp>
      <p:pic>
        <p:nvPicPr>
          <p:cNvPr id="32" name="Image 0"/>
          <p:cNvPicPr>
            <a:picLocks xmlns:a="http://schemas.openxmlformats.org/drawingml/2006/main" noChangeAspect="1"/>
          </p:cNvPicPr>
          <p:nvPr/>
        </p:nvPicPr>
        <p:blipFill>
          <a:blip xmlns:r="http://schemas.openxmlformats.org/officeDocument/2006/relationships" xmlns:a="http://schemas.openxmlformats.org/drawingml/2006/main" r:embed="R279d8c47acc74096"/>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9110F8ED-4A1A-439D-A6A8-7946133B9DB0}"/>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9556C798-42B8-4558-A966-FBD275176F1E}"/>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2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37700B54-F9C5-4DC0-A4AF-7D499CFE1FDC}"/>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49</a:t>
            </a:r>
            <a:endParaRPr sz="850"/>
          </a:p>
        </p:txBody>
      </p:sp>
      <p:sp>
        <p:nvSpPr>
          <p:cNvPr id="8" name="Shape 5">
            <a:extLst xmlns:a="http://schemas.openxmlformats.org/drawingml/2006/main">
              <a:ext uri="{FF2B5EF4-FFF2-40B4-BE49-F238E27FC236}">
                <a16:creationId xmlns:a16="http://schemas.microsoft.com/office/drawing/2014/main" id="{2A24E910-D32F-4BB6-BE2A-05157AE866D6}"/>
              </a:ext>
            </a:extLst>
          </p:cNvPr>
          <p:cNvSpPr>
            <a:spLocks xmlns:a="http://schemas.openxmlformats.org/drawingml/2006/main" noGrp="1"/>
          </p:cNvSpPr>
          <p:nvPr/>
        </p:nvSpPr>
        <p:spPr>
          <a:xfrm xmlns:a="http://schemas.openxmlformats.org/drawingml/2006/main">
            <a:off x="502920" y="2011680"/>
            <a:ext cx="2555748" cy="3108960"/>
          </a:xfrm>
          <a:prstGeom xmlns:a="http://schemas.openxmlformats.org/drawingml/2006/main" prst="roundRect">
            <a:avLst>
              <a:gd name="adj" fmla="val 2862"/>
            </a:avLst>
          </a:prstGeom>
          <a:solidFill xmlns:a="http://schemas.openxmlformats.org/drawingml/2006/main">
            <a:srgbClr val="EEF3FB"/>
          </a:solidFill>
        </p:spPr>
      </p:sp>
      <p:sp>
        <p:nvSpPr>
          <p:cNvPr id="9" name="Shape 6">
            <a:extLst xmlns:a="http://schemas.openxmlformats.org/drawingml/2006/main">
              <a:ext uri="{FF2B5EF4-FFF2-40B4-BE49-F238E27FC236}">
                <a16:creationId xmlns:a16="http://schemas.microsoft.com/office/drawing/2014/main" id="{A5F0168C-70FA-4F66-A71F-9AB454D922B9}"/>
              </a:ext>
            </a:extLst>
          </p:cNvPr>
          <p:cNvSpPr>
            <a:spLocks xmlns:a="http://schemas.openxmlformats.org/drawingml/2006/main" noGrp="1"/>
          </p:cNvSpPr>
          <p:nvPr/>
        </p:nvSpPr>
        <p:spPr>
          <a:xfrm xmlns:a="http://schemas.openxmlformats.org/drawingml/2006/main">
            <a:off x="731520" y="2331720"/>
            <a:ext cx="502920" cy="54864"/>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C9D81A92-55AE-4112-94F1-B65F9D95FA76}"/>
              </a:ext>
            </a:extLst>
          </p:cNvPr>
          <p:cNvSpPr>
            <a:spLocks xmlns:a="http://schemas.openxmlformats.org/drawingml/2006/main" noGrp="1"/>
          </p:cNvSpPr>
          <p:nvPr/>
        </p:nvSpPr>
        <p:spPr>
          <a:xfrm xmlns:a="http://schemas.openxmlformats.org/drawingml/2006/main">
            <a:off x="685800" y="2514600"/>
            <a:ext cx="2189988"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800" b="1">
                <a:solidFill>
                  <a:srgbClr val="00A79D"/>
                </a:solidFill>
                <a:latin typeface="Calibri"/>
                <a:ea typeface="Calibri"/>
                <a:cs typeface="Calibri"/>
              </a:rPr>
              <a:t>2.4 s</a:t>
            </a:r>
            <a:endParaRPr sz="3800"/>
          </a:p>
        </p:txBody>
      </p:sp>
      <p:sp>
        <p:nvSpPr>
          <p:cNvPr id="11" name="Text 8">
            <a:extLst xmlns:a="http://schemas.openxmlformats.org/drawingml/2006/main">
              <a:ext uri="{FF2B5EF4-FFF2-40B4-BE49-F238E27FC236}">
                <a16:creationId xmlns:a16="http://schemas.microsoft.com/office/drawing/2014/main" id="{51E6226F-1722-4F3E-852D-969394DE41D4}"/>
              </a:ext>
            </a:extLst>
          </p:cNvPr>
          <p:cNvSpPr>
            <a:spLocks xmlns:a="http://schemas.openxmlformats.org/drawingml/2006/main" noGrp="1"/>
          </p:cNvSpPr>
          <p:nvPr/>
        </p:nvSpPr>
        <p:spPr>
          <a:xfrm xmlns:a="http://schemas.openxmlformats.org/drawingml/2006/main">
            <a:off x="731520" y="3429000"/>
            <a:ext cx="209854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p99 — async def bug</a:t>
            </a:r>
            <a:endParaRPr sz="1250"/>
          </a:p>
        </p:txBody>
      </p:sp>
      <p:sp>
        <p:nvSpPr>
          <p:cNvPr id="12" name="Text 9">
            <a:extLst xmlns:a="http://schemas.openxmlformats.org/drawingml/2006/main">
              <a:ext uri="{FF2B5EF4-FFF2-40B4-BE49-F238E27FC236}">
                <a16:creationId xmlns:a16="http://schemas.microsoft.com/office/drawing/2014/main" id="{A4B4E3E1-0FF7-4E04-940D-AF972CF64A9E}"/>
              </a:ext>
            </a:extLst>
          </p:cNvPr>
          <p:cNvSpPr>
            <a:spLocks xmlns:a="http://schemas.openxmlformats.org/drawingml/2006/main" noGrp="1"/>
          </p:cNvSpPr>
          <p:nvPr/>
        </p:nvSpPr>
        <p:spPr>
          <a:xfrm xmlns:a="http://schemas.openxmlformats.org/drawingml/2006/main">
            <a:off x="731520" y="3977640"/>
            <a:ext cx="2098548" cy="960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CPU-bound sklearn on the event loop: 118 RPS, 0.4% timeouts</a:t>
            </a:r>
            <a:endParaRPr sz="980"/>
          </a:p>
        </p:txBody>
      </p:sp>
      <p:sp>
        <p:nvSpPr>
          <p:cNvPr id="13" name="Shape 10">
            <a:extLst xmlns:a="http://schemas.openxmlformats.org/drawingml/2006/main">
              <a:ext uri="{FF2B5EF4-FFF2-40B4-BE49-F238E27FC236}">
                <a16:creationId xmlns:a16="http://schemas.microsoft.com/office/drawing/2014/main" id="{52F41A2F-B190-4F30-9E74-D53DCC899F09}"/>
              </a:ext>
            </a:extLst>
          </p:cNvPr>
          <p:cNvSpPr>
            <a:spLocks xmlns:a="http://schemas.openxmlformats.org/drawingml/2006/main" noGrp="1"/>
          </p:cNvSpPr>
          <p:nvPr/>
        </p:nvSpPr>
        <p:spPr>
          <a:xfrm xmlns:a="http://schemas.openxmlformats.org/drawingml/2006/main">
            <a:off x="3378708" y="2011680"/>
            <a:ext cx="2555748" cy="3108960"/>
          </a:xfrm>
          <a:prstGeom xmlns:a="http://schemas.openxmlformats.org/drawingml/2006/main" prst="roundRect">
            <a:avLst>
              <a:gd name="adj" fmla="val 2862"/>
            </a:avLst>
          </a:prstGeom>
          <a:solidFill xmlns:a="http://schemas.openxmlformats.org/drawingml/2006/main">
            <a:srgbClr val="EEF3FB"/>
          </a:solidFill>
        </p:spPr>
      </p:sp>
      <p:sp>
        <p:nvSpPr>
          <p:cNvPr id="14" name="Shape 11">
            <a:extLst xmlns:a="http://schemas.openxmlformats.org/drawingml/2006/main">
              <a:ext uri="{FF2B5EF4-FFF2-40B4-BE49-F238E27FC236}">
                <a16:creationId xmlns:a16="http://schemas.microsoft.com/office/drawing/2014/main" id="{A875AE0C-0F7E-4021-BE8C-0836C421FF89}"/>
              </a:ext>
            </a:extLst>
          </p:cNvPr>
          <p:cNvSpPr>
            <a:spLocks xmlns:a="http://schemas.openxmlformats.org/drawingml/2006/main" noGrp="1"/>
          </p:cNvSpPr>
          <p:nvPr/>
        </p:nvSpPr>
        <p:spPr>
          <a:xfrm xmlns:a="http://schemas.openxmlformats.org/drawingml/2006/main">
            <a:off x="3607308" y="2331720"/>
            <a:ext cx="502920" cy="54864"/>
          </a:xfrm>
          <a:prstGeom xmlns:a="http://schemas.openxmlformats.org/drawingml/2006/main" prst="rect">
            <a:avLst/>
          </a:prstGeom>
          <a:solidFill xmlns:a="http://schemas.openxmlformats.org/drawingml/2006/main">
            <a:srgbClr val="29ABE2"/>
          </a:solidFill>
        </p:spPr>
      </p:sp>
      <p:sp>
        <p:nvSpPr>
          <p:cNvPr id="15" name="Text 12">
            <a:extLst xmlns:a="http://schemas.openxmlformats.org/drawingml/2006/main">
              <a:ext uri="{FF2B5EF4-FFF2-40B4-BE49-F238E27FC236}">
                <a16:creationId xmlns:a16="http://schemas.microsoft.com/office/drawing/2014/main" id="{F7237748-826F-4BC0-8776-2378D8A7D0EF}"/>
              </a:ext>
            </a:extLst>
          </p:cNvPr>
          <p:cNvSpPr>
            <a:spLocks xmlns:a="http://schemas.openxmlformats.org/drawingml/2006/main" noGrp="1"/>
          </p:cNvSpPr>
          <p:nvPr/>
        </p:nvSpPr>
        <p:spPr>
          <a:xfrm xmlns:a="http://schemas.openxmlformats.org/drawingml/2006/main">
            <a:off x="3561588" y="2514600"/>
            <a:ext cx="2189988"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800" b="1">
                <a:solidFill>
                  <a:srgbClr val="29ABE2"/>
                </a:solidFill>
                <a:latin typeface="Calibri"/>
                <a:ea typeface="Calibri"/>
                <a:cs typeface="Calibri"/>
              </a:rPr>
              <a:t>38 ms</a:t>
            </a:r>
            <a:endParaRPr sz="3800"/>
          </a:p>
        </p:txBody>
      </p:sp>
      <p:sp>
        <p:nvSpPr>
          <p:cNvPr id="16" name="Text 13">
            <a:extLst xmlns:a="http://schemas.openxmlformats.org/drawingml/2006/main">
              <a:ext uri="{FF2B5EF4-FFF2-40B4-BE49-F238E27FC236}">
                <a16:creationId xmlns:a16="http://schemas.microsoft.com/office/drawing/2014/main" id="{AFE9E40B-89BF-40FA-8E53-C079690B1B1D}"/>
              </a:ext>
            </a:extLst>
          </p:cNvPr>
          <p:cNvSpPr>
            <a:spLocks xmlns:a="http://schemas.openxmlformats.org/drawingml/2006/main" noGrp="1"/>
          </p:cNvSpPr>
          <p:nvPr/>
        </p:nvSpPr>
        <p:spPr>
          <a:xfrm xmlns:a="http://schemas.openxmlformats.org/drawingml/2006/main">
            <a:off x="3607308" y="3429000"/>
            <a:ext cx="209854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p99 — plain def</a:t>
            </a:r>
            <a:endParaRPr sz="1250"/>
          </a:p>
        </p:txBody>
      </p:sp>
      <p:sp>
        <p:nvSpPr>
          <p:cNvPr id="17" name="Text 14">
            <a:extLst xmlns:a="http://schemas.openxmlformats.org/drawingml/2006/main">
              <a:ext uri="{FF2B5EF4-FFF2-40B4-BE49-F238E27FC236}">
                <a16:creationId xmlns:a16="http://schemas.microsoft.com/office/drawing/2014/main" id="{C2E1F154-2DCD-4F2D-9230-967186A94C36}"/>
              </a:ext>
            </a:extLst>
          </p:cNvPr>
          <p:cNvSpPr>
            <a:spLocks xmlns:a="http://schemas.openxmlformats.org/drawingml/2006/main" noGrp="1"/>
          </p:cNvSpPr>
          <p:nvPr/>
        </p:nvSpPr>
        <p:spPr>
          <a:xfrm xmlns:a="http://schemas.openxmlformats.org/drawingml/2006/main">
            <a:off x="3607308" y="3977640"/>
            <a:ext cx="2098548" cy="960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Thread-pooled: 1,410 req/s, zero non-2xx at concurrency 25</a:t>
            </a:r>
            <a:endParaRPr sz="980"/>
          </a:p>
        </p:txBody>
      </p:sp>
      <p:sp>
        <p:nvSpPr>
          <p:cNvPr id="18" name="Shape 15">
            <a:extLst xmlns:a="http://schemas.openxmlformats.org/drawingml/2006/main">
              <a:ext uri="{FF2B5EF4-FFF2-40B4-BE49-F238E27FC236}">
                <a16:creationId xmlns:a16="http://schemas.microsoft.com/office/drawing/2014/main" id="{6923E45B-C0B2-4FBB-9F15-F160A585072E}"/>
              </a:ext>
            </a:extLst>
          </p:cNvPr>
          <p:cNvSpPr>
            <a:spLocks xmlns:a="http://schemas.openxmlformats.org/drawingml/2006/main" noGrp="1"/>
          </p:cNvSpPr>
          <p:nvPr/>
        </p:nvSpPr>
        <p:spPr>
          <a:xfrm xmlns:a="http://schemas.openxmlformats.org/drawingml/2006/main">
            <a:off x="6254496" y="2011680"/>
            <a:ext cx="2555748" cy="3108960"/>
          </a:xfrm>
          <a:prstGeom xmlns:a="http://schemas.openxmlformats.org/drawingml/2006/main" prst="roundRect">
            <a:avLst>
              <a:gd name="adj" fmla="val 2862"/>
            </a:avLst>
          </a:prstGeom>
          <a:solidFill xmlns:a="http://schemas.openxmlformats.org/drawingml/2006/main">
            <a:srgbClr val="EEF3FB"/>
          </a:solidFill>
        </p:spPr>
      </p:sp>
      <p:sp>
        <p:nvSpPr>
          <p:cNvPr id="19" name="Shape 16">
            <a:extLst xmlns:a="http://schemas.openxmlformats.org/drawingml/2006/main">
              <a:ext uri="{FF2B5EF4-FFF2-40B4-BE49-F238E27FC236}">
                <a16:creationId xmlns:a16="http://schemas.microsoft.com/office/drawing/2014/main" id="{1181FBA9-15C1-42CA-9306-AA719027992E}"/>
              </a:ext>
            </a:extLst>
          </p:cNvPr>
          <p:cNvSpPr>
            <a:spLocks xmlns:a="http://schemas.openxmlformats.org/drawingml/2006/main" noGrp="1"/>
          </p:cNvSpPr>
          <p:nvPr/>
        </p:nvSpPr>
        <p:spPr>
          <a:xfrm xmlns:a="http://schemas.openxmlformats.org/drawingml/2006/main">
            <a:off x="6483096" y="2331720"/>
            <a:ext cx="502920" cy="54864"/>
          </a:xfrm>
          <a:prstGeom xmlns:a="http://schemas.openxmlformats.org/drawingml/2006/main" prst="rect">
            <a:avLst/>
          </a:prstGeom>
          <a:solidFill xmlns:a="http://schemas.openxmlformats.org/drawingml/2006/main">
            <a:srgbClr val="F58220"/>
          </a:solidFill>
        </p:spPr>
      </p:sp>
      <p:sp>
        <p:nvSpPr>
          <p:cNvPr id="20" name="Text 17">
            <a:extLst xmlns:a="http://schemas.openxmlformats.org/drawingml/2006/main">
              <a:ext uri="{FF2B5EF4-FFF2-40B4-BE49-F238E27FC236}">
                <a16:creationId xmlns:a16="http://schemas.microsoft.com/office/drawing/2014/main" id="{AB4CDF0A-3062-4787-AB9A-8B6210BC337E}"/>
              </a:ext>
            </a:extLst>
          </p:cNvPr>
          <p:cNvSpPr>
            <a:spLocks xmlns:a="http://schemas.openxmlformats.org/drawingml/2006/main" noGrp="1"/>
          </p:cNvSpPr>
          <p:nvPr/>
        </p:nvSpPr>
        <p:spPr>
          <a:xfrm xmlns:a="http://schemas.openxmlformats.org/drawingml/2006/main">
            <a:off x="6437376" y="2514600"/>
            <a:ext cx="2189988"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800" b="1">
                <a:solidFill>
                  <a:srgbClr val="F58220"/>
                </a:solidFill>
                <a:latin typeface="Calibri"/>
                <a:ea typeface="Calibri"/>
                <a:cs typeface="Calibri"/>
              </a:rPr>
              <a:t>24 ms</a:t>
            </a:r>
            <a:endParaRPr sz="3800"/>
          </a:p>
        </p:txBody>
      </p:sp>
      <p:sp>
        <p:nvSpPr>
          <p:cNvPr id="21" name="Text 18">
            <a:extLst xmlns:a="http://schemas.openxmlformats.org/drawingml/2006/main">
              <a:ext uri="{FF2B5EF4-FFF2-40B4-BE49-F238E27FC236}">
                <a16:creationId xmlns:a16="http://schemas.microsoft.com/office/drawing/2014/main" id="{C49567EF-391E-4806-AB60-E5AA9DCD6452}"/>
              </a:ext>
            </a:extLst>
          </p:cNvPr>
          <p:cNvSpPr>
            <a:spLocks xmlns:a="http://schemas.openxmlformats.org/drawingml/2006/main" noGrp="1"/>
          </p:cNvSpPr>
          <p:nvPr/>
        </p:nvSpPr>
        <p:spPr>
          <a:xfrm xmlns:a="http://schemas.openxmlformats.org/drawingml/2006/main">
            <a:off x="6483096" y="3429000"/>
            <a:ext cx="209854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p99 — 4 uvicorn workers</a:t>
            </a:r>
            <a:endParaRPr sz="1250"/>
          </a:p>
        </p:txBody>
      </p:sp>
      <p:sp>
        <p:nvSpPr>
          <p:cNvPr id="22" name="Text 19">
            <a:extLst xmlns:a="http://schemas.openxmlformats.org/drawingml/2006/main">
              <a:ext uri="{FF2B5EF4-FFF2-40B4-BE49-F238E27FC236}">
                <a16:creationId xmlns:a16="http://schemas.microsoft.com/office/drawing/2014/main" id="{5E4FE74E-3838-4CBD-AFC9-88457772BE74}"/>
              </a:ext>
            </a:extLst>
          </p:cNvPr>
          <p:cNvSpPr>
            <a:spLocks xmlns:a="http://schemas.openxmlformats.org/drawingml/2006/main" noGrp="1"/>
          </p:cNvSpPr>
          <p:nvPr/>
        </p:nvSpPr>
        <p:spPr>
          <a:xfrm xmlns:a="http://schemas.openxmlformats.org/drawingml/2006/main">
            <a:off x="6483096" y="3977640"/>
            <a:ext cx="2098548" cy="960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4,050 req/s — set workers = cores for CPU-bound sklearn</a:t>
            </a:r>
            <a:endParaRPr sz="980"/>
          </a:p>
        </p:txBody>
      </p:sp>
      <p:sp>
        <p:nvSpPr>
          <p:cNvPr id="23" name="Shape 20">
            <a:extLst xmlns:a="http://schemas.openxmlformats.org/drawingml/2006/main">
              <a:ext uri="{FF2B5EF4-FFF2-40B4-BE49-F238E27FC236}">
                <a16:creationId xmlns:a16="http://schemas.microsoft.com/office/drawing/2014/main" id="{6C680192-EC75-4284-902E-CD28033DA168}"/>
              </a:ext>
            </a:extLst>
          </p:cNvPr>
          <p:cNvSpPr>
            <a:spLocks xmlns:a="http://schemas.openxmlformats.org/drawingml/2006/main" noGrp="1"/>
          </p:cNvSpPr>
          <p:nvPr/>
        </p:nvSpPr>
        <p:spPr>
          <a:xfrm xmlns:a="http://schemas.openxmlformats.org/drawingml/2006/main">
            <a:off x="9130284" y="2011680"/>
            <a:ext cx="2555748" cy="3108960"/>
          </a:xfrm>
          <a:prstGeom xmlns:a="http://schemas.openxmlformats.org/drawingml/2006/main" prst="roundRect">
            <a:avLst>
              <a:gd name="adj" fmla="val 2862"/>
            </a:avLst>
          </a:prstGeom>
          <a:solidFill xmlns:a="http://schemas.openxmlformats.org/drawingml/2006/main">
            <a:srgbClr val="EEF3FB"/>
          </a:solidFill>
        </p:spPr>
      </p:sp>
      <p:sp>
        <p:nvSpPr>
          <p:cNvPr id="24" name="Shape 21">
            <a:extLst xmlns:a="http://schemas.openxmlformats.org/drawingml/2006/main">
              <a:ext uri="{FF2B5EF4-FFF2-40B4-BE49-F238E27FC236}">
                <a16:creationId xmlns:a16="http://schemas.microsoft.com/office/drawing/2014/main" id="{5F23750A-99A1-4EEE-A19C-C7F44B39B62D}"/>
              </a:ext>
            </a:extLst>
          </p:cNvPr>
          <p:cNvSpPr>
            <a:spLocks xmlns:a="http://schemas.openxmlformats.org/drawingml/2006/main" noGrp="1"/>
          </p:cNvSpPr>
          <p:nvPr/>
        </p:nvSpPr>
        <p:spPr>
          <a:xfrm xmlns:a="http://schemas.openxmlformats.org/drawingml/2006/main">
            <a:off x="9358884" y="2331720"/>
            <a:ext cx="502920" cy="54864"/>
          </a:xfrm>
          <a:prstGeom xmlns:a="http://schemas.openxmlformats.org/drawingml/2006/main" prst="rect">
            <a:avLst/>
          </a:prstGeom>
          <a:solidFill xmlns:a="http://schemas.openxmlformats.org/drawingml/2006/main">
            <a:srgbClr val="8DC63F"/>
          </a:solidFill>
        </p:spPr>
      </p:sp>
      <p:sp>
        <p:nvSpPr>
          <p:cNvPr id="25" name="Text 22">
            <a:extLst xmlns:a="http://schemas.openxmlformats.org/drawingml/2006/main">
              <a:ext uri="{FF2B5EF4-FFF2-40B4-BE49-F238E27FC236}">
                <a16:creationId xmlns:a16="http://schemas.microsoft.com/office/drawing/2014/main" id="{115BAD68-5494-4018-A3E4-6C78DFE9CDCE}"/>
              </a:ext>
            </a:extLst>
          </p:cNvPr>
          <p:cNvSpPr>
            <a:spLocks xmlns:a="http://schemas.openxmlformats.org/drawingml/2006/main" noGrp="1"/>
          </p:cNvSpPr>
          <p:nvPr/>
        </p:nvSpPr>
        <p:spPr>
          <a:xfrm xmlns:a="http://schemas.openxmlformats.org/drawingml/2006/main">
            <a:off x="9313164" y="2514600"/>
            <a:ext cx="2189988"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800" b="1">
                <a:solidFill>
                  <a:srgbClr val="8DC63F"/>
                </a:solidFill>
                <a:latin typeface="Calibri"/>
                <a:ea typeface="Calibri"/>
                <a:cs typeface="Calibri"/>
              </a:rPr>
              <a:t>12 ms</a:t>
            </a:r>
            <a:endParaRPr sz="3800"/>
          </a:p>
        </p:txBody>
      </p:sp>
      <p:sp>
        <p:nvSpPr>
          <p:cNvPr id="26" name="Text 23">
            <a:extLst xmlns:a="http://schemas.openxmlformats.org/drawingml/2006/main">
              <a:ext uri="{FF2B5EF4-FFF2-40B4-BE49-F238E27FC236}">
                <a16:creationId xmlns:a16="http://schemas.microsoft.com/office/drawing/2014/main" id="{539E2857-DC52-4B88-AA56-09817D85D866}"/>
              </a:ext>
            </a:extLst>
          </p:cNvPr>
          <p:cNvSpPr>
            <a:spLocks xmlns:a="http://schemas.openxmlformats.org/drawingml/2006/main" noGrp="1"/>
          </p:cNvSpPr>
          <p:nvPr/>
        </p:nvSpPr>
        <p:spPr>
          <a:xfrm xmlns:a="http://schemas.openxmlformats.org/drawingml/2006/main">
            <a:off x="9358884" y="3429000"/>
            <a:ext cx="209854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first call, warmed</a:t>
            </a:r>
            <a:endParaRPr sz="1250"/>
          </a:p>
        </p:txBody>
      </p:sp>
      <p:sp>
        <p:nvSpPr>
          <p:cNvPr id="27" name="Text 24">
            <a:extLst xmlns:a="http://schemas.openxmlformats.org/drawingml/2006/main">
              <a:ext uri="{FF2B5EF4-FFF2-40B4-BE49-F238E27FC236}">
                <a16:creationId xmlns:a16="http://schemas.microsoft.com/office/drawing/2014/main" id="{A8289317-7C4C-454A-95FF-FE20710920DF}"/>
              </a:ext>
            </a:extLst>
          </p:cNvPr>
          <p:cNvSpPr>
            <a:spLocks xmlns:a="http://schemas.openxmlformats.org/drawingml/2006/main" noGrp="1"/>
          </p:cNvSpPr>
          <p:nvPr/>
        </p:nvSpPr>
        <p:spPr>
          <a:xfrm xmlns:a="http://schemas.openxmlformats.org/drawingml/2006/main">
            <a:off x="9358884" y="3977640"/>
            <a:ext cx="2098548" cy="960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Down from ~900 ms cold — one dummy prediction in lifespan</a:t>
            </a:r>
            <a:endParaRPr sz="980"/>
          </a:p>
        </p:txBody>
      </p:sp>
      <p:sp>
        <p:nvSpPr>
          <p:cNvPr id="28" name="Text 25">
            <a:extLst xmlns:a="http://schemas.openxmlformats.org/drawingml/2006/main">
              <a:ext uri="{FF2B5EF4-FFF2-40B4-BE49-F238E27FC236}">
                <a16:creationId xmlns:a16="http://schemas.microsoft.com/office/drawing/2014/main" id="{5E8CC1E3-BC48-4D1F-824C-FD2FB761A98C}"/>
              </a:ext>
            </a:extLst>
          </p:cNvPr>
          <p:cNvSpPr>
            <a:spLocks xmlns:a="http://schemas.openxmlformats.org/drawingml/2006/main" noGrp="1"/>
          </p:cNvSpPr>
          <p:nvPr/>
        </p:nvSpPr>
        <p:spPr>
          <a:xfrm xmlns:a="http://schemas.openxmlformats.org/drawingml/2006/main">
            <a:off x="502920" y="5486400"/>
            <a:ext cx="11155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i="1">
                <a:solidFill>
                  <a:srgbClr val="8A96A6"/>
                </a:solidFill>
                <a:latin typeface="Calibri"/>
                <a:ea typeface="Calibri"/>
                <a:cs typeface="Calibri"/>
              </a:rPr>
              <a:t>Module 2 benchmark table — hey, reference laptop, sample.json corpus</a:t>
            </a:r>
            <a:endParaRPr sz="900"/>
          </a:p>
        </p:txBody>
      </p:sp>
    </p:spTree>
    <p:extLst>
      <p:ext uri="{BB962C8B-B14F-4D97-AF65-F5344CB8AC3E}">
        <p14:creationId xmlns:p14="http://schemas.microsoft.com/office/powerpoint/2010/main" val="1570376990"/>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35C8952-3AF1-401C-9009-5FFE934DC705}"/>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Lab 2 — Build and Harden the Prediction API</a:t>
            </a:r>
            <a:endParaRPr sz="2600"/>
          </a:p>
        </p:txBody>
      </p:sp>
      <p:sp>
        <p:nvSpPr>
          <p:cNvPr id="3" name="Text 1">
            <a:extLst xmlns:a="http://schemas.openxmlformats.org/drawingml/2006/main">
              <a:ext uri="{FF2B5EF4-FFF2-40B4-BE49-F238E27FC236}">
                <a16:creationId xmlns:a16="http://schemas.microsoft.com/office/drawing/2014/main" id="{D69E60BA-5DD3-4A2A-B961-BEDB9614AB71}"/>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المختبر 2 — بناء وتقوية واجهة التنبؤ</a:t>
            </a:r>
            <a:endParaRPr sz="1300"/>
          </a:p>
        </p:txBody>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a86a0fdf39d04431"/>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2C98325E-0FE4-4189-AA9A-49C8005A167D}"/>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B74BD14B-7098-452B-9A9B-A78D6638E525}"/>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2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FBA262F8-E8E8-41C1-84BB-BB790CE02DE7}"/>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50</a:t>
            </a:r>
            <a:endParaRPr sz="850"/>
          </a:p>
        </p:txBody>
      </p:sp>
      <p:sp>
        <p:nvSpPr>
          <p:cNvPr id="8" name="Text 5">
            <a:extLst xmlns:a="http://schemas.openxmlformats.org/drawingml/2006/main">
              <a:ext uri="{FF2B5EF4-FFF2-40B4-BE49-F238E27FC236}">
                <a16:creationId xmlns:a16="http://schemas.microsoft.com/office/drawing/2014/main" id="{7D5361CF-3273-4FB2-A030-025555FAE18F}"/>
              </a:ext>
            </a:extLst>
          </p:cNvPr>
          <p:cNvSpPr>
            <a:spLocks xmlns:a="http://schemas.openxmlformats.org/drawingml/2006/main" noGrp="1"/>
          </p:cNvSpPr>
          <p:nvPr/>
        </p:nvSpPr>
        <p:spPr>
          <a:xfrm xmlns:a="http://schemas.openxmlformats.org/drawingml/2006/main">
            <a:off x="502920" y="1481328"/>
            <a:ext cx="1188720" cy="310896"/>
          </a:xfrm>
          <a:prstGeom xmlns:a="http://schemas.openxmlformats.org/drawingml/2006/main" prst="roundRect">
            <a:avLst>
              <a:gd name="adj" fmla="val 17647"/>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LAB 2</a:t>
            </a:r>
            <a:endParaRPr sz="1100"/>
          </a:p>
        </p:txBody>
      </p:sp>
      <p:sp>
        <p:nvSpPr>
          <p:cNvPr id="9" name="Text 6">
            <a:extLst xmlns:a="http://schemas.openxmlformats.org/drawingml/2006/main">
              <a:ext uri="{FF2B5EF4-FFF2-40B4-BE49-F238E27FC236}">
                <a16:creationId xmlns:a16="http://schemas.microsoft.com/office/drawing/2014/main" id="{5205B4A3-BBD1-401B-B13A-C5BB3BE124CF}"/>
              </a:ext>
            </a:extLst>
          </p:cNvPr>
          <p:cNvSpPr>
            <a:spLocks xmlns:a="http://schemas.openxmlformats.org/drawingml/2006/main" noGrp="1"/>
          </p:cNvSpPr>
          <p:nvPr/>
        </p:nvSpPr>
        <p:spPr>
          <a:xfrm xmlns:a="http://schemas.openxmlformats.org/drawingml/2006/main">
            <a:off x="1874520" y="1481328"/>
            <a:ext cx="594360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5F6B7A"/>
                </a:solidFill>
                <a:latin typeface="Calibri"/>
                <a:ea typeface="Calibri"/>
                <a:cs typeface="Calibri"/>
              </a:rPr>
              <a:t>⏱ 2 × 50 min</a:t>
            </a:r>
            <a:r>
              <a:rPr sz="1050">
                <a:solidFill>
                  <a:srgbClr val="5F6B7A"/>
                </a:solidFill>
                <a:latin typeface="Calibri"/>
                <a:ea typeface="Calibri"/>
                <a:cs typeface="Calibri"/>
              </a:rPr>
              <a:t>     Pairs</a:t>
            </a:r>
            <a:r>
              <a:rPr sz="1050">
                <a:solidFill>
                  <a:srgbClr val="5F6B7A"/>
                </a:solidFill>
                <a:latin typeface="Calibri"/>
                <a:ea typeface="Calibri"/>
                <a:cs typeface="Calibri"/>
              </a:rPr>
              <a:t>     Difficulty: </a:t>
            </a:r>
            <a:r>
              <a:rPr sz="1050">
                <a:solidFill>
                  <a:srgbClr val="F58220"/>
                </a:solidFill>
                <a:latin typeface="Calibri"/>
                <a:ea typeface="Calibri"/>
                <a:cs typeface="Calibri"/>
              </a:rPr>
              <a:t>●●○</a:t>
            </a:r>
            <a:endParaRPr sz="1050"/>
          </a:p>
        </p:txBody>
      </p:sp>
      <p:sp>
        <p:nvSpPr>
          <p:cNvPr id="10" name="Text 7">
            <a:extLst xmlns:a="http://schemas.openxmlformats.org/drawingml/2006/main">
              <a:ext uri="{FF2B5EF4-FFF2-40B4-BE49-F238E27FC236}">
                <a16:creationId xmlns:a16="http://schemas.microsoft.com/office/drawing/2014/main" id="{627536B2-EC86-4359-A4EF-675A2E7D4F04}"/>
              </a:ext>
            </a:extLst>
          </p:cNvPr>
          <p:cNvSpPr>
            <a:spLocks xmlns:a="http://schemas.openxmlformats.org/drawingml/2006/main" noGrp="1"/>
          </p:cNvSpPr>
          <p:nvPr/>
        </p:nvSpPr>
        <p:spPr>
          <a:xfrm xmlns:a="http://schemas.openxmlformats.org/drawingml/2006/main">
            <a:off x="502920" y="2029968"/>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1</a:t>
            </a:r>
            <a:endParaRPr sz="1050"/>
          </a:p>
        </p:txBody>
      </p:sp>
      <p:sp>
        <p:nvSpPr>
          <p:cNvPr id="11" name="Text 8">
            <a:extLst xmlns:a="http://schemas.openxmlformats.org/drawingml/2006/main">
              <a:ext uri="{FF2B5EF4-FFF2-40B4-BE49-F238E27FC236}">
                <a16:creationId xmlns:a16="http://schemas.microsoft.com/office/drawing/2014/main" id="{25AC31B7-4216-45C7-86E4-98F545293B30}"/>
              </a:ext>
            </a:extLst>
          </p:cNvPr>
          <p:cNvSpPr>
            <a:spLocks xmlns:a="http://schemas.openxmlformats.org/drawingml/2006/main" noGrp="1"/>
          </p:cNvSpPr>
          <p:nvPr/>
        </p:nvSpPr>
        <p:spPr>
          <a:xfrm xmlns:a="http://schemas.openxmlformats.org/drawingml/2006/main">
            <a:off x="914400" y="2011680"/>
            <a:ext cx="6035040" cy="701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A1 · schemas.py (10 min)  </a:t>
            </a:r>
            <a:r>
              <a:rPr sz="1000">
                <a:solidFill>
                  <a:srgbClr val="5F6B7A"/>
                </a:solidFill>
                <a:latin typeface="Calibri"/>
                <a:ea typeface="Calibri"/>
                <a:cs typeface="Calibri"/>
              </a:rPr>
              <a:t>PredictRequest/Response + error envelope per the contract table; extra="forbid", constrained fields</a:t>
            </a:r>
            <a:endParaRPr sz="1050"/>
          </a:p>
        </p:txBody>
      </p:sp>
      <p:sp>
        <p:nvSpPr>
          <p:cNvPr id="12" name="Text 9">
            <a:extLst xmlns:a="http://schemas.openxmlformats.org/drawingml/2006/main">
              <a:ext uri="{FF2B5EF4-FFF2-40B4-BE49-F238E27FC236}">
                <a16:creationId xmlns:a16="http://schemas.microsoft.com/office/drawing/2014/main" id="{5811667F-5E69-4999-9B33-74AB09ABB998}"/>
              </a:ext>
            </a:extLst>
          </p:cNvPr>
          <p:cNvSpPr>
            <a:spLocks xmlns:a="http://schemas.openxmlformats.org/drawingml/2006/main" noGrp="1"/>
          </p:cNvSpPr>
          <p:nvPr/>
        </p:nvSpPr>
        <p:spPr>
          <a:xfrm xmlns:a="http://schemas.openxmlformats.org/drawingml/2006/main">
            <a:off x="502920" y="2731008"/>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2</a:t>
            </a:r>
            <a:endParaRPr sz="1050"/>
          </a:p>
        </p:txBody>
      </p:sp>
      <p:sp>
        <p:nvSpPr>
          <p:cNvPr id="13" name="Text 10">
            <a:extLst xmlns:a="http://schemas.openxmlformats.org/drawingml/2006/main">
              <a:ext uri="{FF2B5EF4-FFF2-40B4-BE49-F238E27FC236}">
                <a16:creationId xmlns:a16="http://schemas.microsoft.com/office/drawing/2014/main" id="{FC5A22E7-7E9E-486C-97C6-7F3068407125}"/>
              </a:ext>
            </a:extLst>
          </p:cNvPr>
          <p:cNvSpPr>
            <a:spLocks xmlns:a="http://schemas.openxmlformats.org/drawingml/2006/main" noGrp="1"/>
          </p:cNvSpPr>
          <p:nvPr/>
        </p:nvSpPr>
        <p:spPr>
          <a:xfrm xmlns:a="http://schemas.openxmlformats.org/drawingml/2006/main">
            <a:off x="914400" y="2712720"/>
            <a:ext cx="6035040" cy="701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A2 · Factory + lifespan (15 min)  </a:t>
            </a:r>
            <a:r>
              <a:rPr sz="1000">
                <a:solidFill>
                  <a:srgbClr val="5F6B7A"/>
                </a:solidFill>
                <a:latin typeface="Calibri"/>
                <a:ea typeface="Calibri"/>
                <a:cs typeface="Calibri"/>
              </a:rPr>
              <a:t>Model load, warm-up, trace/timing middleware, global exception handler</a:t>
            </a:r>
            <a:endParaRPr sz="1050"/>
          </a:p>
        </p:txBody>
      </p:sp>
      <p:sp>
        <p:nvSpPr>
          <p:cNvPr id="14" name="Text 11">
            <a:extLst xmlns:a="http://schemas.openxmlformats.org/drawingml/2006/main">
              <a:ext uri="{FF2B5EF4-FFF2-40B4-BE49-F238E27FC236}">
                <a16:creationId xmlns:a16="http://schemas.microsoft.com/office/drawing/2014/main" id="{5CD206C9-3D10-45A8-87BB-C3ACE7F54696}"/>
              </a:ext>
            </a:extLst>
          </p:cNvPr>
          <p:cNvSpPr>
            <a:spLocks xmlns:a="http://schemas.openxmlformats.org/drawingml/2006/main" noGrp="1"/>
          </p:cNvSpPr>
          <p:nvPr/>
        </p:nvSpPr>
        <p:spPr>
          <a:xfrm xmlns:a="http://schemas.openxmlformats.org/drawingml/2006/main">
            <a:off x="502920" y="3432048"/>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3</a:t>
            </a:r>
            <a:endParaRPr sz="1050"/>
          </a:p>
        </p:txBody>
      </p:sp>
      <p:sp>
        <p:nvSpPr>
          <p:cNvPr id="15" name="Text 12">
            <a:extLst xmlns:a="http://schemas.openxmlformats.org/drawingml/2006/main">
              <a:ext uri="{FF2B5EF4-FFF2-40B4-BE49-F238E27FC236}">
                <a16:creationId xmlns:a16="http://schemas.microsoft.com/office/drawing/2014/main" id="{043C9AEE-7475-48E2-B421-DD8782E621BF}"/>
              </a:ext>
            </a:extLst>
          </p:cNvPr>
          <p:cNvSpPr>
            <a:spLocks xmlns:a="http://schemas.openxmlformats.org/drawingml/2006/main" noGrp="1"/>
          </p:cNvSpPr>
          <p:nvPr/>
        </p:nvSpPr>
        <p:spPr>
          <a:xfrm xmlns:a="http://schemas.openxmlformats.org/drawingml/2006/main">
            <a:off x="914400" y="3413760"/>
            <a:ext cx="6035040" cy="701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A3 · Routes (15 min)  </a:t>
            </a:r>
            <a:r>
              <a:rPr sz="1000">
                <a:solidFill>
                  <a:srgbClr val="5F6B7A"/>
                </a:solidFill>
                <a:latin typeface="Calibri"/>
                <a:ea typeface="Calibri"/>
                <a:cs typeface="Calibri"/>
              </a:rPr>
              <a:t>/v1/predict, /v1/health, /v1/ready with correct status codes and Retry-After</a:t>
            </a:r>
            <a:endParaRPr sz="1050"/>
          </a:p>
        </p:txBody>
      </p:sp>
      <p:sp>
        <p:nvSpPr>
          <p:cNvPr id="16" name="Text 13">
            <a:extLst xmlns:a="http://schemas.openxmlformats.org/drawingml/2006/main">
              <a:ext uri="{FF2B5EF4-FFF2-40B4-BE49-F238E27FC236}">
                <a16:creationId xmlns:a16="http://schemas.microsoft.com/office/drawing/2014/main" id="{A211AA52-4C3E-49F8-AD10-DA9F0BECEE1E}"/>
              </a:ext>
            </a:extLst>
          </p:cNvPr>
          <p:cNvSpPr>
            <a:spLocks xmlns:a="http://schemas.openxmlformats.org/drawingml/2006/main" noGrp="1"/>
          </p:cNvSpPr>
          <p:nvPr/>
        </p:nvSpPr>
        <p:spPr>
          <a:xfrm xmlns:a="http://schemas.openxmlformats.org/drawingml/2006/main">
            <a:off x="502920" y="4133088"/>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4</a:t>
            </a:r>
            <a:endParaRPr sz="1050"/>
          </a:p>
        </p:txBody>
      </p:sp>
      <p:sp>
        <p:nvSpPr>
          <p:cNvPr id="17" name="Text 14">
            <a:extLst xmlns:a="http://schemas.openxmlformats.org/drawingml/2006/main">
              <a:ext uri="{FF2B5EF4-FFF2-40B4-BE49-F238E27FC236}">
                <a16:creationId xmlns:a16="http://schemas.microsoft.com/office/drawing/2014/main" id="{51657ADB-82CB-457C-AF4A-01783F99B762}"/>
              </a:ext>
            </a:extLst>
          </p:cNvPr>
          <p:cNvSpPr>
            <a:spLocks xmlns:a="http://schemas.openxmlformats.org/drawingml/2006/main" noGrp="1"/>
          </p:cNvSpPr>
          <p:nvPr/>
        </p:nvSpPr>
        <p:spPr>
          <a:xfrm xmlns:a="http://schemas.openxmlformats.org/drawingml/2006/main">
            <a:off x="914400" y="4114800"/>
            <a:ext cx="6035040" cy="701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A4 · Exercise via /docs (10 min)  </a:t>
            </a:r>
            <a:r>
              <a:rPr sz="1000">
                <a:solidFill>
                  <a:srgbClr val="5F6B7A"/>
                </a:solidFill>
                <a:latin typeface="Calibri"/>
                <a:ea typeface="Calibri"/>
                <a:cs typeface="Calibri"/>
              </a:rPr>
              <a:t>fastapi dev → one valid request, one negative amount, one unknown field</a:t>
            </a:r>
            <a:endParaRPr sz="1050"/>
          </a:p>
        </p:txBody>
      </p:sp>
      <p:sp>
        <p:nvSpPr>
          <p:cNvPr id="18" name="Text 15">
            <a:extLst xmlns:a="http://schemas.openxmlformats.org/drawingml/2006/main">
              <a:ext uri="{FF2B5EF4-FFF2-40B4-BE49-F238E27FC236}">
                <a16:creationId xmlns:a16="http://schemas.microsoft.com/office/drawing/2014/main" id="{8F33C72E-6372-4BC4-82C9-C7166894E320}"/>
              </a:ext>
            </a:extLst>
          </p:cNvPr>
          <p:cNvSpPr>
            <a:spLocks xmlns:a="http://schemas.openxmlformats.org/drawingml/2006/main" noGrp="1"/>
          </p:cNvSpPr>
          <p:nvPr/>
        </p:nvSpPr>
        <p:spPr>
          <a:xfrm xmlns:a="http://schemas.openxmlformats.org/drawingml/2006/main">
            <a:off x="502920" y="4834128"/>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5</a:t>
            </a:r>
            <a:endParaRPr sz="1050"/>
          </a:p>
        </p:txBody>
      </p:sp>
      <p:sp>
        <p:nvSpPr>
          <p:cNvPr id="19" name="Text 16">
            <a:extLst xmlns:a="http://schemas.openxmlformats.org/drawingml/2006/main">
              <a:ext uri="{FF2B5EF4-FFF2-40B4-BE49-F238E27FC236}">
                <a16:creationId xmlns:a16="http://schemas.microsoft.com/office/drawing/2014/main" id="{E528CAAF-7D25-4386-A6AA-271876A7E5AD}"/>
              </a:ext>
            </a:extLst>
          </p:cNvPr>
          <p:cNvSpPr>
            <a:spLocks xmlns:a="http://schemas.openxmlformats.org/drawingml/2006/main" noGrp="1"/>
          </p:cNvSpPr>
          <p:nvPr/>
        </p:nvSpPr>
        <p:spPr>
          <a:xfrm xmlns:a="http://schemas.openxmlformats.org/drawingml/2006/main">
            <a:off x="914400" y="4815840"/>
            <a:ext cx="6035040" cy="701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B · Harden (40 min, Day 2 H1)  </a:t>
            </a:r>
            <a:r>
              <a:rPr sz="1000">
                <a:solidFill>
                  <a:srgbClr val="5F6B7A"/>
                </a:solidFill>
                <a:latin typeface="Calibri"/>
                <a:ea typeface="Calibri"/>
                <a:cs typeface="Calibri"/>
              </a:rPr>
              <a:t>Warm-up timing, /v1/boom leak test, hey load test → BENCHMARKS.md with p50/p99/RPS</a:t>
            </a:r>
            <a:endParaRPr sz="1050"/>
          </a:p>
        </p:txBody>
      </p:sp>
      <p:sp>
        <p:nvSpPr>
          <p:cNvPr id="20" name="Text 17">
            <a:extLst xmlns:a="http://schemas.openxmlformats.org/drawingml/2006/main">
              <a:ext uri="{FF2B5EF4-FFF2-40B4-BE49-F238E27FC236}">
                <a16:creationId xmlns:a16="http://schemas.microsoft.com/office/drawing/2014/main" id="{21CD3CCC-D3F9-4224-A908-BA2E47AE7CB7}"/>
              </a:ext>
            </a:extLst>
          </p:cNvPr>
          <p:cNvSpPr>
            <a:spLocks xmlns:a="http://schemas.openxmlformats.org/drawingml/2006/main" noGrp="1"/>
          </p:cNvSpPr>
          <p:nvPr/>
        </p:nvSpPr>
        <p:spPr>
          <a:xfrm xmlns:a="http://schemas.openxmlformats.org/drawingml/2006/main">
            <a:off x="502920" y="5535168"/>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6</a:t>
            </a:r>
            <a:endParaRPr sz="1050"/>
          </a:p>
        </p:txBody>
      </p:sp>
      <p:sp>
        <p:nvSpPr>
          <p:cNvPr id="21" name="Text 18">
            <a:extLst xmlns:a="http://schemas.openxmlformats.org/drawingml/2006/main">
              <a:ext uri="{FF2B5EF4-FFF2-40B4-BE49-F238E27FC236}">
                <a16:creationId xmlns:a16="http://schemas.microsoft.com/office/drawing/2014/main" id="{B83695C1-45AE-4F1C-8023-22103C97978A}"/>
              </a:ext>
            </a:extLst>
          </p:cNvPr>
          <p:cNvSpPr>
            <a:spLocks xmlns:a="http://schemas.openxmlformats.org/drawingml/2006/main" noGrp="1"/>
          </p:cNvSpPr>
          <p:nvPr/>
        </p:nvSpPr>
        <p:spPr>
          <a:xfrm xmlns:a="http://schemas.openxmlformats.org/drawingml/2006/main">
            <a:off x="914400" y="5516880"/>
            <a:ext cx="6035040" cy="701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B · Commit (10 min)  </a:t>
            </a:r>
            <a:r>
              <a:rPr sz="1000">
                <a:solidFill>
                  <a:srgbClr val="5F6B7A"/>
                </a:solidFill>
                <a:latin typeface="Calibri"/>
                <a:ea typeface="Calibri"/>
                <a:cs typeface="Calibri"/>
              </a:rPr>
              <a:t>feat(api): prediction endpoint with validation, health, tracing</a:t>
            </a:r>
            <a:endParaRPr sz="1050"/>
          </a:p>
        </p:txBody>
      </p:sp>
      <p:sp>
        <p:nvSpPr>
          <p:cNvPr id="22" name="Shape 19">
            <a:extLst xmlns:a="http://schemas.openxmlformats.org/drawingml/2006/main">
              <a:ext uri="{FF2B5EF4-FFF2-40B4-BE49-F238E27FC236}">
                <a16:creationId xmlns:a16="http://schemas.microsoft.com/office/drawing/2014/main" id="{D193D817-8EC2-4F71-8F17-52AD75EFFA30}"/>
              </a:ext>
            </a:extLst>
          </p:cNvPr>
          <p:cNvSpPr>
            <a:spLocks xmlns:a="http://schemas.openxmlformats.org/drawingml/2006/main" noGrp="1"/>
          </p:cNvSpPr>
          <p:nvPr/>
        </p:nvSpPr>
        <p:spPr>
          <a:xfrm xmlns:a="http://schemas.openxmlformats.org/drawingml/2006/main">
            <a:off x="7269480" y="2011680"/>
            <a:ext cx="4416552" cy="1417320"/>
          </a:xfrm>
          <a:prstGeom xmlns:a="http://schemas.openxmlformats.org/drawingml/2006/main" prst="roundRect">
            <a:avLst>
              <a:gd name="adj" fmla="val 4516"/>
            </a:avLst>
          </a:prstGeom>
          <a:solidFill xmlns:a="http://schemas.openxmlformats.org/drawingml/2006/main">
            <a:srgbClr val="D4F1EE"/>
          </a:solidFill>
        </p:spPr>
      </p:sp>
      <p:sp>
        <p:nvSpPr>
          <p:cNvPr id="23" name="Text 20">
            <a:extLst xmlns:a="http://schemas.openxmlformats.org/drawingml/2006/main">
              <a:ext uri="{FF2B5EF4-FFF2-40B4-BE49-F238E27FC236}">
                <a16:creationId xmlns:a16="http://schemas.microsoft.com/office/drawing/2014/main" id="{BE906D64-68EF-4D1B-8A9F-6133E61F1A04}"/>
              </a:ext>
            </a:extLst>
          </p:cNvPr>
          <p:cNvSpPr>
            <a:spLocks xmlns:a="http://schemas.openxmlformats.org/drawingml/2006/main" noGrp="1"/>
          </p:cNvSpPr>
          <p:nvPr/>
        </p:nvSpPr>
        <p:spPr>
          <a:xfrm xmlns:a="http://schemas.openxmlformats.org/drawingml/2006/main">
            <a:off x="7452360" y="2139696"/>
            <a:ext cx="405079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056A63"/>
                </a:solidFill>
                <a:latin typeface="Calibri"/>
                <a:ea typeface="Calibri"/>
                <a:cs typeface="Calibri"/>
              </a:rPr>
              <a:t>DELIVERABLE</a:t>
            </a:r>
            <a:endParaRPr sz="900"/>
          </a:p>
        </p:txBody>
      </p:sp>
      <p:sp>
        <p:nvSpPr>
          <p:cNvPr id="24" name="Text 21">
            <a:extLst xmlns:a="http://schemas.openxmlformats.org/drawingml/2006/main">
              <a:ext uri="{FF2B5EF4-FFF2-40B4-BE49-F238E27FC236}">
                <a16:creationId xmlns:a16="http://schemas.microsoft.com/office/drawing/2014/main" id="{D82C219D-E9BF-4691-8004-3E010D0155C0}"/>
              </a:ext>
            </a:extLst>
          </p:cNvPr>
          <p:cNvSpPr>
            <a:spLocks xmlns:a="http://schemas.openxmlformats.org/drawingml/2006/main" noGrp="1"/>
          </p:cNvSpPr>
          <p:nvPr/>
        </p:nvSpPr>
        <p:spPr>
          <a:xfrm xmlns:a="http://schemas.openxmlformats.org/drawingml/2006/main">
            <a:off x="7452360" y="2395728"/>
            <a:ext cx="4050792" cy="960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30">
                <a:solidFill>
                  <a:srgbClr val="056A63"/>
                </a:solidFill>
                <a:latin typeface="Calibri"/>
                <a:ea typeface="Calibri"/>
                <a:cs typeface="Calibri"/>
              </a:rPr>
              <a:t>curl /v1/predict -d @sample.json → {"transaction_id":"TXN-2026-00042","fraud_probability":0.031742,"decision":"allow","model_version":"v3.2.0","trace_id":"a1b2…"}</a:t>
            </a:r>
            <a:endParaRPr sz="1030"/>
          </a:p>
        </p:txBody>
      </p:sp>
      <p:sp>
        <p:nvSpPr>
          <p:cNvPr id="25" name="Shape 22">
            <a:extLst xmlns:a="http://schemas.openxmlformats.org/drawingml/2006/main">
              <a:ext uri="{FF2B5EF4-FFF2-40B4-BE49-F238E27FC236}">
                <a16:creationId xmlns:a16="http://schemas.microsoft.com/office/drawing/2014/main" id="{0AC03FCE-9E16-4ABF-9E90-3D37EE98A010}"/>
              </a:ext>
            </a:extLst>
          </p:cNvPr>
          <p:cNvSpPr>
            <a:spLocks xmlns:a="http://schemas.openxmlformats.org/drawingml/2006/main" noGrp="1"/>
          </p:cNvSpPr>
          <p:nvPr/>
        </p:nvSpPr>
        <p:spPr>
          <a:xfrm xmlns:a="http://schemas.openxmlformats.org/drawingml/2006/main">
            <a:off x="7269480" y="3611880"/>
            <a:ext cx="4416552" cy="1371600"/>
          </a:xfrm>
          <a:prstGeom xmlns:a="http://schemas.openxmlformats.org/drawingml/2006/main" prst="roundRect">
            <a:avLst>
              <a:gd name="adj" fmla="val 4667"/>
            </a:avLst>
          </a:prstGeom>
          <a:solidFill xmlns:a="http://schemas.openxmlformats.org/drawingml/2006/main">
            <a:srgbClr val="EEF3FB"/>
          </a:solidFill>
          <a:ln xmlns:a="http://schemas.openxmlformats.org/drawingml/2006/main" w="9525">
            <a:solidFill>
              <a:srgbClr val="D9E4F5"/>
            </a:solidFill>
            <a:prstDash val="solid"/>
          </a:ln>
        </p:spPr>
      </p:sp>
      <p:sp>
        <p:nvSpPr>
          <p:cNvPr id="26" name="Text 23">
            <a:extLst xmlns:a="http://schemas.openxmlformats.org/drawingml/2006/main">
              <a:ext uri="{FF2B5EF4-FFF2-40B4-BE49-F238E27FC236}">
                <a16:creationId xmlns:a16="http://schemas.microsoft.com/office/drawing/2014/main" id="{85A6CDAF-A00B-42DD-9036-D2B9F32AE62D}"/>
              </a:ext>
            </a:extLst>
          </p:cNvPr>
          <p:cNvSpPr>
            <a:spLocks xmlns:a="http://schemas.openxmlformats.org/drawingml/2006/main" noGrp="1"/>
          </p:cNvSpPr>
          <p:nvPr/>
        </p:nvSpPr>
        <p:spPr>
          <a:xfrm xmlns:a="http://schemas.openxmlformats.org/drawingml/2006/main">
            <a:off x="7452360" y="3730752"/>
            <a:ext cx="405079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100">
                <a:solidFill>
                  <a:srgbClr val="1D2A5C"/>
                </a:solidFill>
                <a:latin typeface="Calibri"/>
                <a:ea typeface="Calibri"/>
                <a:cs typeface="Calibri"/>
              </a:rPr>
              <a:t>CHECKPOINT — how you know it worked</a:t>
            </a:r>
            <a:endParaRPr sz="900"/>
          </a:p>
        </p:txBody>
      </p:sp>
      <p:sp>
        <p:nvSpPr>
          <p:cNvPr id="27" name="Text 24">
            <a:extLst xmlns:a="http://schemas.openxmlformats.org/drawingml/2006/main">
              <a:ext uri="{FF2B5EF4-FFF2-40B4-BE49-F238E27FC236}">
                <a16:creationId xmlns:a16="http://schemas.microsoft.com/office/drawing/2014/main" id="{EE7F946B-85EA-43D0-8E01-A6D23FF8BD27}"/>
              </a:ext>
            </a:extLst>
          </p:cNvPr>
          <p:cNvSpPr>
            <a:spLocks xmlns:a="http://schemas.openxmlformats.org/drawingml/2006/main" noGrp="1"/>
          </p:cNvSpPr>
          <p:nvPr/>
        </p:nvSpPr>
        <p:spPr>
          <a:xfrm xmlns:a="http://schemas.openxmlformats.org/drawingml/2006/main">
            <a:off x="7452360" y="3986784"/>
            <a:ext cx="4050792"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5F6B7A"/>
                </a:solidFill>
                <a:latin typeface="Calibri"/>
                <a:ea typeface="Calibri"/>
                <a:cs typeface="Calibri"/>
              </a:rPr>
              <a:t>RPS collapses at c=25 → route is async def around sklearn; change to def. /ready 200 before load → set app.state.scorer only after warm-up.</a:t>
            </a:r>
            <a:endParaRPr sz="1000"/>
          </a:p>
        </p:txBody>
      </p:sp>
      <p:sp>
        <p:nvSpPr>
          <p:cNvPr id="28" name="Shape 25">
            <a:extLst xmlns:a="http://schemas.openxmlformats.org/drawingml/2006/main">
              <a:ext uri="{FF2B5EF4-FFF2-40B4-BE49-F238E27FC236}">
                <a16:creationId xmlns:a16="http://schemas.microsoft.com/office/drawing/2014/main" id="{4ABDD32B-3276-4C90-B480-2AEE6BB44F29}"/>
              </a:ext>
            </a:extLst>
          </p:cNvPr>
          <p:cNvSpPr>
            <a:spLocks xmlns:a="http://schemas.openxmlformats.org/drawingml/2006/main" noGrp="1"/>
          </p:cNvSpPr>
          <p:nvPr/>
        </p:nvSpPr>
        <p:spPr>
          <a:xfrm xmlns:a="http://schemas.openxmlformats.org/drawingml/2006/main">
            <a:off x="7269480" y="5166360"/>
            <a:ext cx="4416552" cy="1051560"/>
          </a:xfrm>
          <a:prstGeom xmlns:a="http://schemas.openxmlformats.org/drawingml/2006/main" prst="roundRect">
            <a:avLst>
              <a:gd name="adj" fmla="val 6087"/>
            </a:avLst>
          </a:prstGeom>
          <a:solidFill xmlns:a="http://schemas.openxmlformats.org/drawingml/2006/main">
            <a:srgbClr val="FDEBD7"/>
          </a:solidFill>
        </p:spPr>
      </p:sp>
      <p:sp>
        <p:nvSpPr>
          <p:cNvPr id="29" name="Text 26">
            <a:extLst xmlns:a="http://schemas.openxmlformats.org/drawingml/2006/main">
              <a:ext uri="{FF2B5EF4-FFF2-40B4-BE49-F238E27FC236}">
                <a16:creationId xmlns:a16="http://schemas.microsoft.com/office/drawing/2014/main" id="{A9FBFA81-E724-4DA0-9FCC-BA4ADA3F9691}"/>
              </a:ext>
            </a:extLst>
          </p:cNvPr>
          <p:cNvSpPr>
            <a:spLocks xmlns:a="http://schemas.openxmlformats.org/drawingml/2006/main" noGrp="1"/>
          </p:cNvSpPr>
          <p:nvPr/>
        </p:nvSpPr>
        <p:spPr>
          <a:xfrm xmlns:a="http://schemas.openxmlformats.org/drawingml/2006/main">
            <a:off x="7452360" y="5230368"/>
            <a:ext cx="4050792"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850" b="1">
                <a:solidFill>
                  <a:srgbClr val="A6531C"/>
                </a:solidFill>
                <a:latin typeface="Calibri"/>
                <a:ea typeface="Calibri"/>
                <a:cs typeface="Calibri"/>
              </a:rPr>
              <a:t>INSTRUCTOR TIP  </a:t>
            </a:r>
            <a:r>
              <a:rPr sz="950">
                <a:solidFill>
                  <a:srgbClr val="A6531C"/>
                </a:solidFill>
                <a:latin typeface="Calibri"/>
                <a:ea typeface="Calibri"/>
                <a:cs typeface="Calibri"/>
              </a:rPr>
              <a:t>First request ~1 s, rest fast? Warm-up is not running — look for the model_loaded line in the startup log.</a:t>
            </a:r>
            <a:endParaRPr sz="850"/>
          </a:p>
        </p:txBody>
      </p:sp>
    </p:spTree>
    <p:extLst>
      <p:ext uri="{BB962C8B-B14F-4D97-AF65-F5344CB8AC3E}">
        <p14:creationId xmlns:p14="http://schemas.microsoft.com/office/powerpoint/2010/main" val="1660310306"/>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DE5F17D-659E-48CC-9D2F-EC1A655C4B18}"/>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API resilience drill — make four failures observable and safe</a:t>
            </a:r>
            <a:endParaRPr sz="2600"/>
          </a:p>
        </p:txBody>
      </p:sp>
      <p:sp>
        <p:nvSpPr>
          <p:cNvPr id="3" name="Text 1">
            <a:extLst xmlns:a="http://schemas.openxmlformats.org/drawingml/2006/main">
              <a:ext uri="{FF2B5EF4-FFF2-40B4-BE49-F238E27FC236}">
                <a16:creationId xmlns:a16="http://schemas.microsoft.com/office/drawing/2014/main" id="{16A3C7C4-974F-4731-AE67-C6A488FEC868}"/>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تمرين متانة الواجهة — اجعل أربعة أعطال آمنة ومرئية</a:t>
            </a:r>
            <a:endParaRPr sz="1300"/>
          </a:p>
        </p:txBody>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edec01823e3f4b2e"/>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D60A61EA-B363-4398-BC98-A84121CFAE1F}"/>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BB66A3E8-A99A-4AF4-B699-7DE7040FFBAF}"/>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LAB 2</a:t>
            </a:r>
            <a:r>
              <a:rPr sz="850" b="1" spc="100">
                <a:solidFill>
                  <a:srgbClr val="00A79D"/>
                </a:solidFill>
                <a:latin typeface="Calibri"/>
                <a:ea typeface="Calibri"/>
                <a:cs typeface="Calibri"/>
              </a:rPr>
              <a:t>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7667CF09-35EA-459F-AE5E-228548E764FA}"/>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51</a:t>
            </a:r>
            <a:endParaRPr sz="850"/>
          </a:p>
        </p:txBody>
      </p:sp>
      <p:sp>
        <p:nvSpPr>
          <p:cNvPr id="8" name="Text 5">
            <a:extLst xmlns:a="http://schemas.openxmlformats.org/drawingml/2006/main">
              <a:ext uri="{FF2B5EF4-FFF2-40B4-BE49-F238E27FC236}">
                <a16:creationId xmlns:a16="http://schemas.microsoft.com/office/drawing/2014/main" id="{AD1E06BF-FB27-40AC-9620-6A2C25D75C02}"/>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A85E1220-86F3-4C31-AB2B-F1DE3B7144CB}"/>
              </a:ext>
            </a:extLst>
          </p:cNvPr>
          <p:cNvSpPr>
            <a:spLocks xmlns:a="http://schemas.openxmlformats.org/drawingml/2006/main" noGrp="1"/>
          </p:cNvSpPr>
          <p:nvPr/>
        </p:nvSpPr>
        <p:spPr>
          <a:xfrm xmlns:a="http://schemas.openxmlformats.org/drawingml/2006/main">
            <a:off x="1005840" y="14996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Send malformed and probing payloads</a:t>
            </a:r>
            <a:endParaRPr sz="1350"/>
          </a:p>
        </p:txBody>
      </p:sp>
      <p:sp>
        <p:nvSpPr>
          <p:cNvPr id="10" name="Text 7">
            <a:extLst xmlns:a="http://schemas.openxmlformats.org/drawingml/2006/main">
              <a:ext uri="{FF2B5EF4-FFF2-40B4-BE49-F238E27FC236}">
                <a16:creationId xmlns:a16="http://schemas.microsoft.com/office/drawing/2014/main" id="{A82ACBC5-1BFF-4AA9-B0B0-C3F7204F9481}"/>
              </a:ext>
            </a:extLst>
          </p:cNvPr>
          <p:cNvSpPr>
            <a:spLocks xmlns:a="http://schemas.openxmlformats.org/drawingml/2006/main" noGrp="1"/>
          </p:cNvSpPr>
          <p:nvPr/>
        </p:nvSpPr>
        <p:spPr>
          <a:xfrm xmlns:a="http://schemas.openxmlformats.org/drawingml/2006/main">
            <a:off x="1005840" y="180136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All requests stop at validation; none reaches the scorer.</a:t>
            </a:r>
            <a:endParaRPr sz="1050"/>
          </a:p>
        </p:txBody>
      </p:sp>
      <p:sp>
        <p:nvSpPr>
          <p:cNvPr id="11" name="Text 8">
            <a:extLst xmlns:a="http://schemas.openxmlformats.org/drawingml/2006/main">
              <a:ext uri="{FF2B5EF4-FFF2-40B4-BE49-F238E27FC236}">
                <a16:creationId xmlns:a16="http://schemas.microsoft.com/office/drawing/2014/main" id="{6E412656-5263-45AE-82D5-31AA6B396614}"/>
              </a:ext>
            </a:extLst>
          </p:cNvPr>
          <p:cNvSpPr>
            <a:spLocks xmlns:a="http://schemas.openxmlformats.org/drawingml/2006/main" noGrp="1"/>
          </p:cNvSpPr>
          <p:nvPr/>
        </p:nvSpPr>
        <p:spPr>
          <a:xfrm xmlns:a="http://schemas.openxmlformats.org/drawingml/2006/main">
            <a:off x="502920" y="280035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0736F55E-3534-4AC1-B57C-0E7933249618}"/>
              </a:ext>
            </a:extLst>
          </p:cNvPr>
          <p:cNvSpPr>
            <a:spLocks xmlns:a="http://schemas.openxmlformats.org/drawingml/2006/main" noGrp="1"/>
          </p:cNvSpPr>
          <p:nvPr/>
        </p:nvSpPr>
        <p:spPr>
          <a:xfrm xmlns:a="http://schemas.openxmlformats.org/drawingml/2006/main">
            <a:off x="1005840" y="274548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Delay model loading</a:t>
            </a:r>
            <a:endParaRPr sz="1350"/>
          </a:p>
        </p:txBody>
      </p:sp>
      <p:sp>
        <p:nvSpPr>
          <p:cNvPr id="13" name="Text 10">
            <a:extLst xmlns:a="http://schemas.openxmlformats.org/drawingml/2006/main">
              <a:ext uri="{FF2B5EF4-FFF2-40B4-BE49-F238E27FC236}">
                <a16:creationId xmlns:a16="http://schemas.microsoft.com/office/drawing/2014/main" id="{F1DBD095-EE3F-4C72-9CC1-5BAF1DF19F2D}"/>
              </a:ext>
            </a:extLst>
          </p:cNvPr>
          <p:cNvSpPr>
            <a:spLocks xmlns:a="http://schemas.openxmlformats.org/drawingml/2006/main" noGrp="1"/>
          </p:cNvSpPr>
          <p:nvPr/>
        </p:nvSpPr>
        <p:spPr>
          <a:xfrm xmlns:a="http://schemas.openxmlformats.org/drawingml/2006/main">
            <a:off x="1005840" y="304723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Readiness stays 503 with Retry-After while liveness remains healthy.</a:t>
            </a:r>
            <a:endParaRPr sz="1050"/>
          </a:p>
        </p:txBody>
      </p:sp>
      <p:sp>
        <p:nvSpPr>
          <p:cNvPr id="14" name="Text 11">
            <a:extLst xmlns:a="http://schemas.openxmlformats.org/drawingml/2006/main">
              <a:ext uri="{FF2B5EF4-FFF2-40B4-BE49-F238E27FC236}">
                <a16:creationId xmlns:a16="http://schemas.microsoft.com/office/drawing/2014/main" id="{5E6EAE5C-12C5-47A9-9452-01DF822D6446}"/>
              </a:ext>
            </a:extLst>
          </p:cNvPr>
          <p:cNvSpPr>
            <a:spLocks xmlns:a="http://schemas.openxmlformats.org/drawingml/2006/main" noGrp="1"/>
          </p:cNvSpPr>
          <p:nvPr/>
        </p:nvSpPr>
        <p:spPr>
          <a:xfrm xmlns:a="http://schemas.openxmlformats.org/drawingml/2006/main">
            <a:off x="502920" y="404622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1328E8FC-72BC-4EB6-B1D4-913BBA056ED3}"/>
              </a:ext>
            </a:extLst>
          </p:cNvPr>
          <p:cNvSpPr>
            <a:spLocks xmlns:a="http://schemas.openxmlformats.org/drawingml/2006/main" noGrp="1"/>
          </p:cNvSpPr>
          <p:nvPr/>
        </p:nvSpPr>
        <p:spPr>
          <a:xfrm xmlns:a="http://schemas.openxmlformats.org/drawingml/2006/main">
            <a:off x="1005840" y="399135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Block the event loop</a:t>
            </a:r>
            <a:endParaRPr sz="1350"/>
          </a:p>
        </p:txBody>
      </p:sp>
      <p:sp>
        <p:nvSpPr>
          <p:cNvPr id="16" name="Text 13">
            <a:extLst xmlns:a="http://schemas.openxmlformats.org/drawingml/2006/main">
              <a:ext uri="{FF2B5EF4-FFF2-40B4-BE49-F238E27FC236}">
                <a16:creationId xmlns:a16="http://schemas.microsoft.com/office/drawing/2014/main" id="{3F5D62A0-6DDC-4E90-A328-72310E4B2B4B}"/>
              </a:ext>
            </a:extLst>
          </p:cNvPr>
          <p:cNvSpPr>
            <a:spLocks xmlns:a="http://schemas.openxmlformats.org/drawingml/2006/main" noGrp="1"/>
          </p:cNvSpPr>
          <p:nvPr/>
        </p:nvSpPr>
        <p:spPr>
          <a:xfrm xmlns:a="http://schemas.openxmlformats.org/drawingml/2006/main">
            <a:off x="1005840" y="429310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Compare async CPU inference with plain def under concurrency; explain the queue.</a:t>
            </a:r>
            <a:endParaRPr sz="1050"/>
          </a:p>
        </p:txBody>
      </p:sp>
      <p:sp>
        <p:nvSpPr>
          <p:cNvPr id="17" name="Text 14">
            <a:extLst xmlns:a="http://schemas.openxmlformats.org/drawingml/2006/main">
              <a:ext uri="{FF2B5EF4-FFF2-40B4-BE49-F238E27FC236}">
                <a16:creationId xmlns:a16="http://schemas.microsoft.com/office/drawing/2014/main" id="{FB07FD8A-01E0-41A0-9EC7-11398930CF87}"/>
              </a:ext>
            </a:extLst>
          </p:cNvPr>
          <p:cNvSpPr>
            <a:spLocks xmlns:a="http://schemas.openxmlformats.org/drawingml/2006/main" noGrp="1"/>
          </p:cNvSpPr>
          <p:nvPr/>
        </p:nvSpPr>
        <p:spPr>
          <a:xfrm xmlns:a="http://schemas.openxmlformats.org/drawingml/2006/main">
            <a:off x="502920" y="5292090"/>
            <a:ext cx="329184" cy="329184"/>
          </a:xfrm>
          <a:prstGeom xmlns:a="http://schemas.openxmlformats.org/drawingml/2006/main" prst="ellipse">
            <a:avLst/>
          </a:prstGeom>
          <a:solidFill xmlns:a="http://schemas.openxmlformats.org/drawingml/2006/main">
            <a:srgbClr val="8DC63F"/>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4</a:t>
            </a:r>
            <a:endParaRPr sz="1300"/>
          </a:p>
        </p:txBody>
      </p:sp>
      <p:sp>
        <p:nvSpPr>
          <p:cNvPr id="18" name="Text 15">
            <a:extLst xmlns:a="http://schemas.openxmlformats.org/drawingml/2006/main">
              <a:ext uri="{FF2B5EF4-FFF2-40B4-BE49-F238E27FC236}">
                <a16:creationId xmlns:a16="http://schemas.microsoft.com/office/drawing/2014/main" id="{AEAF08CC-5E57-4839-B0C5-2220C8377B19}"/>
              </a:ext>
            </a:extLst>
          </p:cNvPr>
          <p:cNvSpPr>
            <a:spLocks xmlns:a="http://schemas.openxmlformats.org/drawingml/2006/main" noGrp="1"/>
          </p:cNvSpPr>
          <p:nvPr/>
        </p:nvSpPr>
        <p:spPr>
          <a:xfrm xmlns:a="http://schemas.openxmlformats.org/drawingml/2006/main">
            <a:off x="1005840" y="523722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Prove the recovery contract</a:t>
            </a:r>
            <a:endParaRPr sz="1350"/>
          </a:p>
        </p:txBody>
      </p:sp>
      <p:sp>
        <p:nvSpPr>
          <p:cNvPr id="19" name="Text 16">
            <a:extLst xmlns:a="http://schemas.openxmlformats.org/drawingml/2006/main">
              <a:ext uri="{FF2B5EF4-FFF2-40B4-BE49-F238E27FC236}">
                <a16:creationId xmlns:a16="http://schemas.microsoft.com/office/drawing/2014/main" id="{7F216B22-A29B-4D51-8C78-03BE97EBA8C0}"/>
              </a:ext>
            </a:extLst>
          </p:cNvPr>
          <p:cNvSpPr>
            <a:spLocks xmlns:a="http://schemas.openxmlformats.org/drawingml/2006/main" noGrp="1"/>
          </p:cNvSpPr>
          <p:nvPr/>
        </p:nvSpPr>
        <p:spPr>
          <a:xfrm xmlns:a="http://schemas.openxmlformats.org/drawingml/2006/main">
            <a:off x="1005840" y="553897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Capture status, error code, trace id, and one load metric in BENCHMARKS.md.</a:t>
            </a:r>
            <a:endParaRPr sz="1050"/>
          </a:p>
        </p:txBody>
      </p:sp>
    </p:spTree>
    <p:extLst>
      <p:ext uri="{BB962C8B-B14F-4D97-AF65-F5344CB8AC3E}">
        <p14:creationId xmlns:p14="http://schemas.microsoft.com/office/powerpoint/2010/main" val="975794841"/>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B6C2A5A-7B5E-45A2-9448-1D7D37861531}"/>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Module 2 — Mini Exercises</a:t>
            </a:r>
            <a:endParaRPr sz="2600"/>
          </a:p>
        </p:txBody>
      </p:sp>
      <p:sp>
        <p:nvSpPr>
          <p:cNvPr id="3" name="Text 1">
            <a:extLst xmlns:a="http://schemas.openxmlformats.org/drawingml/2006/main">
              <a:ext uri="{FF2B5EF4-FFF2-40B4-BE49-F238E27FC236}">
                <a16:creationId xmlns:a16="http://schemas.microsoft.com/office/drawing/2014/main" id="{B1A8789A-7536-4585-A3B4-F3DCDCEDB346}"/>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الوحدة الثانية — تمارين قصيرة</a:t>
            </a:r>
            <a:endParaRPr sz="1300"/>
          </a:p>
        </p:txBody>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30f5581028d542f3"/>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EF49B894-AC26-4803-9DF9-B5517ACD7CE0}"/>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6EC3CF57-D973-43CD-B4B6-6CE09BE37CBB}"/>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2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57976E9A-69A1-4237-B4E8-BC810EBCA100}"/>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52</a:t>
            </a:r>
            <a:endParaRPr sz="850"/>
          </a:p>
        </p:txBody>
      </p:sp>
      <p:sp>
        <p:nvSpPr>
          <p:cNvPr id="8" name="Text 5">
            <a:extLst xmlns:a="http://schemas.openxmlformats.org/drawingml/2006/main">
              <a:ext uri="{FF2B5EF4-FFF2-40B4-BE49-F238E27FC236}">
                <a16:creationId xmlns:a16="http://schemas.microsoft.com/office/drawing/2014/main" id="{3D54ED09-F01D-4448-8135-D000DB75550A}"/>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CEF0E467-44A3-4495-861E-6826C0B37814}"/>
              </a:ext>
            </a:extLst>
          </p:cNvPr>
          <p:cNvSpPr>
            <a:spLocks xmlns:a="http://schemas.openxmlformats.org/drawingml/2006/main" noGrp="1"/>
          </p:cNvSpPr>
          <p:nvPr/>
        </p:nvSpPr>
        <p:spPr>
          <a:xfrm xmlns:a="http://schemas.openxmlformats.org/drawingml/2006/main">
            <a:off x="1005840" y="14996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Quick quiz (5 questions)</a:t>
            </a:r>
            <a:endParaRPr sz="1350"/>
          </a:p>
        </p:txBody>
      </p:sp>
      <p:sp>
        <p:nvSpPr>
          <p:cNvPr id="10" name="Text 7">
            <a:extLst xmlns:a="http://schemas.openxmlformats.org/drawingml/2006/main">
              <a:ext uri="{FF2B5EF4-FFF2-40B4-BE49-F238E27FC236}">
                <a16:creationId xmlns:a16="http://schemas.microsoft.com/office/drawing/2014/main" id="{10AE15E0-44A1-475C-B10F-492A21A8F32C}"/>
              </a:ext>
            </a:extLst>
          </p:cNvPr>
          <p:cNvSpPr>
            <a:spLocks xmlns:a="http://schemas.openxmlformats.org/drawingml/2006/main" noGrp="1"/>
          </p:cNvSpPr>
          <p:nvPr/>
        </p:nvSpPr>
        <p:spPr>
          <a:xfrm xmlns:a="http://schemas.openxmlformats.org/drawingml/2006/main">
            <a:off x="1005840" y="180136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Code for "model still loading"; why plain def for sklearn routes; what extra="forbid" protects against; liveness vs readiness in one sentence each; which changes are non-breaking.</a:t>
            </a:r>
            <a:endParaRPr sz="1050"/>
          </a:p>
        </p:txBody>
      </p:sp>
      <p:sp>
        <p:nvSpPr>
          <p:cNvPr id="11" name="Text 8">
            <a:extLst xmlns:a="http://schemas.openxmlformats.org/drawingml/2006/main">
              <a:ext uri="{FF2B5EF4-FFF2-40B4-BE49-F238E27FC236}">
                <a16:creationId xmlns:a16="http://schemas.microsoft.com/office/drawing/2014/main" id="{F810F279-0145-49B1-B1C7-10C19EF6C37A}"/>
              </a:ext>
            </a:extLst>
          </p:cNvPr>
          <p:cNvSpPr>
            <a:spLocks xmlns:a="http://schemas.openxmlformats.org/drawingml/2006/main" noGrp="1"/>
          </p:cNvSpPr>
          <p:nvPr/>
        </p:nvSpPr>
        <p:spPr>
          <a:xfrm xmlns:a="http://schemas.openxmlformats.org/drawingml/2006/main">
            <a:off x="502920" y="280035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771E15D8-A627-4B24-9D76-8B56FD328BCB}"/>
              </a:ext>
            </a:extLst>
          </p:cNvPr>
          <p:cNvSpPr>
            <a:spLocks xmlns:a="http://schemas.openxmlformats.org/drawingml/2006/main" noGrp="1"/>
          </p:cNvSpPr>
          <p:nvPr/>
        </p:nvSpPr>
        <p:spPr>
          <a:xfrm xmlns:a="http://schemas.openxmlformats.org/drawingml/2006/main">
            <a:off x="1005840" y="274548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Debugging: the async block</a:t>
            </a:r>
            <a:endParaRPr sz="1350"/>
          </a:p>
        </p:txBody>
      </p:sp>
      <p:sp>
        <p:nvSpPr>
          <p:cNvPr id="13" name="Text 10">
            <a:extLst xmlns:a="http://schemas.openxmlformats.org/drawingml/2006/main">
              <a:ext uri="{FF2B5EF4-FFF2-40B4-BE49-F238E27FC236}">
                <a16:creationId xmlns:a16="http://schemas.microsoft.com/office/drawing/2014/main" id="{2828A54E-E23D-41EB-850B-6A7C38CB9E74}"/>
              </a:ext>
            </a:extLst>
          </p:cNvPr>
          <p:cNvSpPr>
            <a:spLocks xmlns:a="http://schemas.openxmlformats.org/drawingml/2006/main" noGrp="1"/>
          </p:cNvSpPr>
          <p:nvPr/>
        </p:nvSpPr>
        <p:spPr>
          <a:xfrm xmlns:a="http://schemas.openxmlformats.org/drawingml/2006/main">
            <a:off x="1005840" y="304723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Branch sim-async-block: the predict route is async def and the load test shows p99 = 2.4 s. Diagnose with hey + py-spy dump, then fix.</a:t>
            </a:r>
            <a:endParaRPr sz="1050"/>
          </a:p>
        </p:txBody>
      </p:sp>
      <p:sp>
        <p:nvSpPr>
          <p:cNvPr id="14" name="Text 11">
            <a:extLst xmlns:a="http://schemas.openxmlformats.org/drawingml/2006/main">
              <a:ext uri="{FF2B5EF4-FFF2-40B4-BE49-F238E27FC236}">
                <a16:creationId xmlns:a16="http://schemas.microsoft.com/office/drawing/2014/main" id="{433DEBD5-4E6F-42DF-8B76-159CED225234}"/>
              </a:ext>
            </a:extLst>
          </p:cNvPr>
          <p:cNvSpPr>
            <a:spLocks xmlns:a="http://schemas.openxmlformats.org/drawingml/2006/main" noGrp="1"/>
          </p:cNvSpPr>
          <p:nvPr/>
        </p:nvSpPr>
        <p:spPr>
          <a:xfrm xmlns:a="http://schemas.openxmlformats.org/drawingml/2006/main">
            <a:off x="502920" y="404622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4204E77B-F8CC-49D0-9766-A88F2886F2E7}"/>
              </a:ext>
            </a:extLst>
          </p:cNvPr>
          <p:cNvSpPr>
            <a:spLocks xmlns:a="http://schemas.openxmlformats.org/drawingml/2006/main" noGrp="1"/>
          </p:cNvSpPr>
          <p:nvPr/>
        </p:nvSpPr>
        <p:spPr>
          <a:xfrm xmlns:a="http://schemas.openxmlformats.org/drawingml/2006/main">
            <a:off x="1005840" y="399135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Code review: find all three</a:t>
            </a:r>
            <a:endParaRPr sz="1350"/>
          </a:p>
        </p:txBody>
      </p:sp>
      <p:sp>
        <p:nvSpPr>
          <p:cNvPr id="16" name="Text 13">
            <a:extLst xmlns:a="http://schemas.openxmlformats.org/drawingml/2006/main">
              <a:ext uri="{FF2B5EF4-FFF2-40B4-BE49-F238E27FC236}">
                <a16:creationId xmlns:a16="http://schemas.microsoft.com/office/drawing/2014/main" id="{E0EAEC71-F0B2-488F-ADF9-9B61D4AF9787}"/>
              </a:ext>
            </a:extLst>
          </p:cNvPr>
          <p:cNvSpPr>
            <a:spLocks xmlns:a="http://schemas.openxmlformats.org/drawingml/2006/main" noGrp="1"/>
          </p:cNvSpPr>
          <p:nvPr/>
        </p:nvSpPr>
        <p:spPr>
          <a:xfrm xmlns:a="http://schemas.openxmlformats.org/drawingml/2006/main">
            <a:off x="1005840" y="429310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A PR that returns domain FraudScore straight from the route, uses 200 for errors with {"success": false}, and logs full request bodies (PII).</a:t>
            </a:r>
            <a:endParaRPr sz="1050"/>
          </a:p>
        </p:txBody>
      </p:sp>
      <p:sp>
        <p:nvSpPr>
          <p:cNvPr id="17" name="Text 14">
            <a:extLst xmlns:a="http://schemas.openxmlformats.org/drawingml/2006/main">
              <a:ext uri="{FF2B5EF4-FFF2-40B4-BE49-F238E27FC236}">
                <a16:creationId xmlns:a16="http://schemas.microsoft.com/office/drawing/2014/main" id="{0A2F2C9E-181E-4E2F-B669-306F12FAB568}"/>
              </a:ext>
            </a:extLst>
          </p:cNvPr>
          <p:cNvSpPr>
            <a:spLocks xmlns:a="http://schemas.openxmlformats.org/drawingml/2006/main" noGrp="1"/>
          </p:cNvSpPr>
          <p:nvPr/>
        </p:nvSpPr>
        <p:spPr>
          <a:xfrm xmlns:a="http://schemas.openxmlformats.org/drawingml/2006/main">
            <a:off x="502920" y="5292090"/>
            <a:ext cx="329184" cy="329184"/>
          </a:xfrm>
          <a:prstGeom xmlns:a="http://schemas.openxmlformats.org/drawingml/2006/main" prst="ellipse">
            <a:avLst/>
          </a:prstGeom>
          <a:solidFill xmlns:a="http://schemas.openxmlformats.org/drawingml/2006/main">
            <a:srgbClr val="8DC63F"/>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4</a:t>
            </a:r>
            <a:endParaRPr sz="1300"/>
          </a:p>
        </p:txBody>
      </p:sp>
      <p:sp>
        <p:nvSpPr>
          <p:cNvPr id="18" name="Text 15">
            <a:extLst xmlns:a="http://schemas.openxmlformats.org/drawingml/2006/main">
              <a:ext uri="{FF2B5EF4-FFF2-40B4-BE49-F238E27FC236}">
                <a16:creationId xmlns:a16="http://schemas.microsoft.com/office/drawing/2014/main" id="{EAF9A451-E67A-48E9-AF9C-7E33CAFFF8DA}"/>
              </a:ext>
            </a:extLst>
          </p:cNvPr>
          <p:cNvSpPr>
            <a:spLocks xmlns:a="http://schemas.openxmlformats.org/drawingml/2006/main" noGrp="1"/>
          </p:cNvSpPr>
          <p:nvPr/>
        </p:nvSpPr>
        <p:spPr>
          <a:xfrm xmlns:a="http://schemas.openxmlformats.org/drawingml/2006/main">
            <a:off x="1005840" y="523722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Discussion</a:t>
            </a:r>
            <a:endParaRPr sz="1350"/>
          </a:p>
        </p:txBody>
      </p:sp>
      <p:sp>
        <p:nvSpPr>
          <p:cNvPr id="19" name="Text 16">
            <a:extLst xmlns:a="http://schemas.openxmlformats.org/drawingml/2006/main">
              <a:ext uri="{FF2B5EF4-FFF2-40B4-BE49-F238E27FC236}">
                <a16:creationId xmlns:a16="http://schemas.microsoft.com/office/drawing/2014/main" id="{F1C5A264-F20D-4346-9A9B-338C5EDA23EF}"/>
              </a:ext>
            </a:extLst>
          </p:cNvPr>
          <p:cNvSpPr>
            <a:spLocks xmlns:a="http://schemas.openxmlformats.org/drawingml/2006/main" noGrp="1"/>
          </p:cNvSpPr>
          <p:nvPr/>
        </p:nvSpPr>
        <p:spPr>
          <a:xfrm xmlns:a="http://schemas.openxmlformats.org/drawingml/2006/main">
            <a:off x="1005840" y="553897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Where should authentication live — this service or the gateway? What changes for an internal vs an external API?</a:t>
            </a:r>
            <a:endParaRPr sz="1050"/>
          </a:p>
        </p:txBody>
      </p:sp>
    </p:spTree>
    <p:extLst>
      <p:ext uri="{BB962C8B-B14F-4D97-AF65-F5344CB8AC3E}">
        <p14:creationId xmlns:p14="http://schemas.microsoft.com/office/powerpoint/2010/main" val="251915616"/>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9FC6E82-D844-424F-9B67-DBA036885940}"/>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Case Study — Triage AI Behind Three Hospital Systems</a:t>
            </a:r>
            <a:endParaRPr sz="2600"/>
          </a:p>
        </p:txBody>
      </p:sp>
      <p:sp>
        <p:nvSpPr>
          <p:cNvPr id="3" name="Text 1">
            <a:extLst xmlns:a="http://schemas.openxmlformats.org/drawingml/2006/main">
              <a:ext uri="{FF2B5EF4-FFF2-40B4-BE49-F238E27FC236}">
                <a16:creationId xmlns:a16="http://schemas.microsoft.com/office/drawing/2014/main" id="{6258D8F5-C3E2-431E-96D6-E4BA816552BA}"/>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دراسة حالة — ذكاء الفرز خلف ثلاثة أنظمة مستشفيات</a:t>
            </a:r>
            <a:endParaRPr sz="1300"/>
          </a:p>
        </p:txBody>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432df770a54e47f7"/>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BD7DDFAB-6D2A-4C6F-920B-D2D6D7505BA3}"/>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134D22B8-EDFF-42BC-BADA-A973F15CB6B4}"/>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2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7097BCB4-7585-4369-A903-C3AAC517D11C}"/>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53</a:t>
            </a:r>
            <a:endParaRPr sz="850"/>
          </a:p>
        </p:txBody>
      </p:sp>
      <p:sp>
        <p:nvSpPr>
          <p:cNvPr id="8" name="Text 5">
            <a:extLst xmlns:a="http://schemas.openxmlformats.org/drawingml/2006/main">
              <a:ext uri="{FF2B5EF4-FFF2-40B4-BE49-F238E27FC236}">
                <a16:creationId xmlns:a16="http://schemas.microsoft.com/office/drawing/2014/main" id="{5C2183C4-892F-4EBF-9F2A-6E347A0140D6}"/>
              </a:ext>
            </a:extLst>
          </p:cNvPr>
          <p:cNvSpPr>
            <a:spLocks xmlns:a="http://schemas.openxmlformats.org/drawingml/2006/main" noGrp="1"/>
          </p:cNvSpPr>
          <p:nvPr/>
        </p:nvSpPr>
        <p:spPr>
          <a:xfrm xmlns:a="http://schemas.openxmlformats.org/drawingml/2006/main">
            <a:off x="502920" y="1444752"/>
            <a:ext cx="1554480" cy="310896"/>
          </a:xfrm>
          <a:prstGeom xmlns:a="http://schemas.openxmlformats.org/drawingml/2006/main" prst="roundRect">
            <a:avLst>
              <a:gd name="adj" fmla="val 1764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CASE STUDY</a:t>
            </a:r>
            <a:endParaRPr sz="950"/>
          </a:p>
        </p:txBody>
      </p:sp>
      <p:sp>
        <p:nvSpPr>
          <p:cNvPr id="9" name="Text 6">
            <a:extLst xmlns:a="http://schemas.openxmlformats.org/drawingml/2006/main">
              <a:ext uri="{FF2B5EF4-FFF2-40B4-BE49-F238E27FC236}">
                <a16:creationId xmlns:a16="http://schemas.microsoft.com/office/drawing/2014/main" id="{4C092856-690D-4010-B3A5-508A102FFCF1}"/>
              </a:ext>
            </a:extLst>
          </p:cNvPr>
          <p:cNvSpPr>
            <a:spLocks xmlns:a="http://schemas.openxmlformats.org/drawingml/2006/main" noGrp="1"/>
          </p:cNvSpPr>
          <p:nvPr/>
        </p:nvSpPr>
        <p:spPr>
          <a:xfrm xmlns:a="http://schemas.openxmlformats.org/drawingml/2006/main">
            <a:off x="2240280" y="1444752"/>
            <a:ext cx="2377440" cy="310896"/>
          </a:xfrm>
          <a:prstGeom xmlns:a="http://schemas.openxmlformats.org/drawingml/2006/main" prst="roundRect">
            <a:avLst>
              <a:gd name="adj" fmla="val 17647"/>
            </a:avLst>
          </a:prstGeom>
          <a:solidFill xmlns:a="http://schemas.openxmlformats.org/drawingml/2006/main">
            <a:srgbClr val="EEF3FB"/>
          </a:solidFill>
          <a:ln xmlns:a="http://schemas.openxmlformats.org/drawingml/2006/main" w="12700">
            <a:solidFill>
              <a:srgbClr val="D9E4F5"/>
            </a:solidFill>
          </a:ln>
        </p:spPr>
        <p:txBody>
          <a:bodyPr xmlns:a="http://schemas.openxmlformats.org/drawingml/2006/main" wrap="square" anchor="ctr"/>
          <a:lstStyle xmlns:a="http://schemas.openxmlformats.org/drawingml/2006/main"/>
          <a:p xmlns:a="http://schemas.openxmlformats.org/drawingml/2006/main">
            <a:pPr marL="0" indent="0" algn="ctr">
              <a:buNone/>
            </a:pPr>
            <a:r>
              <a:rPr sz="950" b="1">
                <a:solidFill>
                  <a:srgbClr val="1D2A5C"/>
                </a:solidFill>
                <a:latin typeface="Calibri"/>
                <a:ea typeface="Calibri"/>
                <a:cs typeface="Calibri"/>
              </a:rPr>
              <a:t>Digital health · Riyadh</a:t>
            </a:r>
            <a:endParaRPr sz="950"/>
          </a:p>
        </p:txBody>
      </p:sp>
      <p:sp>
        <p:nvSpPr>
          <p:cNvPr id="10" name="Text 7">
            <a:extLst xmlns:a="http://schemas.openxmlformats.org/drawingml/2006/main">
              <a:ext uri="{FF2B5EF4-FFF2-40B4-BE49-F238E27FC236}">
                <a16:creationId xmlns:a16="http://schemas.microsoft.com/office/drawing/2014/main" id="{CB30DA42-856C-4D32-8187-9A11A6B5BD08}"/>
              </a:ext>
            </a:extLst>
          </p:cNvPr>
          <p:cNvSpPr>
            <a:spLocks xmlns:a="http://schemas.openxmlformats.org/drawingml/2006/main" noGrp="1"/>
          </p:cNvSpPr>
          <p:nvPr/>
        </p:nvSpPr>
        <p:spPr>
          <a:xfrm xmlns:a="http://schemas.openxmlformats.org/drawingml/2006/main">
            <a:off x="502920" y="1938528"/>
            <a:ext cx="658368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A health-tech provider serves a triage-priority model to three hospital EMR vendors. Vendor A sends ISO-8601 timestamps, Vendor B sends epoch millis, Vendor C dd/mm/yyyy — two integrations silently mis-parse dates.</a:t>
            </a:r>
            <a:endParaRPr sz="1100"/>
          </a:p>
        </p:txBody>
      </p:sp>
      <p:sp>
        <p:nvSpPr>
          <p:cNvPr id="11" name="Shape 8">
            <a:extLst xmlns:a="http://schemas.openxmlformats.org/drawingml/2006/main">
              <a:ext uri="{FF2B5EF4-FFF2-40B4-BE49-F238E27FC236}">
                <a16:creationId xmlns:a16="http://schemas.microsoft.com/office/drawing/2014/main" id="{721E03E1-EE8E-4F93-B5EC-05059DB18A55}"/>
              </a:ext>
            </a:extLst>
          </p:cNvPr>
          <p:cNvSpPr>
            <a:spLocks xmlns:a="http://schemas.openxmlformats.org/drawingml/2006/main" noGrp="1"/>
          </p:cNvSpPr>
          <p:nvPr/>
        </p:nvSpPr>
        <p:spPr>
          <a:xfrm xmlns:a="http://schemas.openxmlformats.org/drawingml/2006/main">
            <a:off x="566928" y="3026664"/>
            <a:ext cx="182880" cy="182880"/>
          </a:xfrm>
          <a:prstGeom xmlns:a="http://schemas.openxmlformats.org/drawingml/2006/main" prst="ellipse">
            <a:avLst/>
          </a:prstGeom>
          <a:solidFill xmlns:a="http://schemas.openxmlformats.org/drawingml/2006/main">
            <a:srgbClr val="00A79D"/>
          </a:solidFill>
        </p:spPr>
      </p:sp>
      <p:sp>
        <p:nvSpPr>
          <p:cNvPr id="12" name="Shape 9">
            <a:extLst xmlns:a="http://schemas.openxmlformats.org/drawingml/2006/main">
              <a:ext uri="{FF2B5EF4-FFF2-40B4-BE49-F238E27FC236}">
                <a16:creationId xmlns:a16="http://schemas.microsoft.com/office/drawing/2014/main" id="{309EBB3A-8211-4632-8DF6-C9AD4929C91B}"/>
              </a:ext>
            </a:extLst>
          </p:cNvPr>
          <p:cNvSpPr>
            <a:spLocks xmlns:a="http://schemas.openxmlformats.org/drawingml/2006/main" noGrp="1"/>
          </p:cNvSpPr>
          <p:nvPr/>
        </p:nvSpPr>
        <p:spPr>
          <a:xfrm xmlns:a="http://schemas.openxmlformats.org/drawingml/2006/main">
            <a:off x="658368" y="3227832"/>
            <a:ext cx="0" cy="603504"/>
          </a:xfrm>
          <a:prstGeom xmlns:a="http://schemas.openxmlformats.org/drawingml/2006/main" prst="line">
            <a:avLst/>
          </a:prstGeom>
          <a:noFill xmlns:a="http://schemas.openxmlformats.org/drawingml/2006/main"/>
          <a:ln xmlns:a="http://schemas.openxmlformats.org/drawingml/2006/main" w="19050">
            <a:solidFill>
              <a:srgbClr val="D9E4F5"/>
            </a:solidFill>
            <a:prstDash val="solid"/>
          </a:ln>
        </p:spPr>
      </p:sp>
      <p:sp>
        <p:nvSpPr>
          <p:cNvPr id="13" name="Text 10">
            <a:extLst xmlns:a="http://schemas.openxmlformats.org/drawingml/2006/main">
              <a:ext uri="{FF2B5EF4-FFF2-40B4-BE49-F238E27FC236}">
                <a16:creationId xmlns:a16="http://schemas.microsoft.com/office/drawing/2014/main" id="{D682002C-2DF3-4D92-A301-5A5C09B8D4F7}"/>
              </a:ext>
            </a:extLst>
          </p:cNvPr>
          <p:cNvSpPr>
            <a:spLocks xmlns:a="http://schemas.openxmlformats.org/drawingml/2006/main" noGrp="1"/>
          </p:cNvSpPr>
          <p:nvPr/>
        </p:nvSpPr>
        <p:spPr>
          <a:xfrm xmlns:a="http://schemas.openxmlformats.org/drawingml/2006/main">
            <a:off x="960120" y="2953512"/>
            <a:ext cx="612648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1D2A5C"/>
                </a:solidFill>
                <a:latin typeface="Calibri"/>
                <a:ea typeface="Calibri"/>
                <a:cs typeface="Calibri"/>
              </a:rPr>
              <a:t>Six weeks of silent mis-scoring  </a:t>
            </a:r>
            <a:r>
              <a:rPr sz="1000">
                <a:solidFill>
                  <a:srgbClr val="5F6B7A"/>
                </a:solidFill>
                <a:latin typeface="Calibri"/>
                <a:ea typeface="Calibri"/>
                <a:cs typeface="Calibri"/>
              </a:rPr>
              <a:t>Night-shift admissions — exactly where hour_of_day matters most — scored wrong; no errors raised</a:t>
            </a:r>
            <a:endParaRPr sz="1050"/>
          </a:p>
        </p:txBody>
      </p:sp>
      <p:sp>
        <p:nvSpPr>
          <p:cNvPr id="14" name="Shape 11">
            <a:extLst xmlns:a="http://schemas.openxmlformats.org/drawingml/2006/main">
              <a:ext uri="{FF2B5EF4-FFF2-40B4-BE49-F238E27FC236}">
                <a16:creationId xmlns:a16="http://schemas.microsoft.com/office/drawing/2014/main" id="{99D209AE-BB3E-4CFE-A830-6F65862D3C28}"/>
              </a:ext>
            </a:extLst>
          </p:cNvPr>
          <p:cNvSpPr>
            <a:spLocks xmlns:a="http://schemas.openxmlformats.org/drawingml/2006/main" noGrp="1"/>
          </p:cNvSpPr>
          <p:nvPr/>
        </p:nvSpPr>
        <p:spPr>
          <a:xfrm xmlns:a="http://schemas.openxmlformats.org/drawingml/2006/main">
            <a:off x="566928" y="3849624"/>
            <a:ext cx="182880" cy="182880"/>
          </a:xfrm>
          <a:prstGeom xmlns:a="http://schemas.openxmlformats.org/drawingml/2006/main" prst="ellipse">
            <a:avLst/>
          </a:prstGeom>
          <a:solidFill xmlns:a="http://schemas.openxmlformats.org/drawingml/2006/main">
            <a:srgbClr val="29ABE2"/>
          </a:solidFill>
        </p:spPr>
      </p:sp>
      <p:sp>
        <p:nvSpPr>
          <p:cNvPr id="15" name="Shape 12">
            <a:extLst xmlns:a="http://schemas.openxmlformats.org/drawingml/2006/main">
              <a:ext uri="{FF2B5EF4-FFF2-40B4-BE49-F238E27FC236}">
                <a16:creationId xmlns:a16="http://schemas.microsoft.com/office/drawing/2014/main" id="{1DD8628D-3A9D-43F9-9309-E4209210C25D}"/>
              </a:ext>
            </a:extLst>
          </p:cNvPr>
          <p:cNvSpPr>
            <a:spLocks xmlns:a="http://schemas.openxmlformats.org/drawingml/2006/main" noGrp="1"/>
          </p:cNvSpPr>
          <p:nvPr/>
        </p:nvSpPr>
        <p:spPr>
          <a:xfrm xmlns:a="http://schemas.openxmlformats.org/drawingml/2006/main">
            <a:off x="658368" y="4050792"/>
            <a:ext cx="0" cy="603504"/>
          </a:xfrm>
          <a:prstGeom xmlns:a="http://schemas.openxmlformats.org/drawingml/2006/main" prst="line">
            <a:avLst/>
          </a:prstGeom>
          <a:noFill xmlns:a="http://schemas.openxmlformats.org/drawingml/2006/main"/>
          <a:ln xmlns:a="http://schemas.openxmlformats.org/drawingml/2006/main" w="19050">
            <a:solidFill>
              <a:srgbClr val="D9E4F5"/>
            </a:solidFill>
            <a:prstDash val="solid"/>
          </a:ln>
        </p:spPr>
      </p:sp>
      <p:sp>
        <p:nvSpPr>
          <p:cNvPr id="16" name="Text 13">
            <a:extLst xmlns:a="http://schemas.openxmlformats.org/drawingml/2006/main">
              <a:ext uri="{FF2B5EF4-FFF2-40B4-BE49-F238E27FC236}">
                <a16:creationId xmlns:a16="http://schemas.microsoft.com/office/drawing/2014/main" id="{BFC18A2E-D215-4517-AE95-373DFAE7640A}"/>
              </a:ext>
            </a:extLst>
          </p:cNvPr>
          <p:cNvSpPr>
            <a:spLocks xmlns:a="http://schemas.openxmlformats.org/drawingml/2006/main" noGrp="1"/>
          </p:cNvSpPr>
          <p:nvPr/>
        </p:nvSpPr>
        <p:spPr>
          <a:xfrm xmlns:a="http://schemas.openxmlformats.org/drawingml/2006/main">
            <a:off x="960120" y="3776472"/>
            <a:ext cx="612648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1D2A5C"/>
                </a:solidFill>
                <a:latin typeface="Calibri"/>
                <a:ea typeface="Calibri"/>
                <a:cs typeface="Calibri"/>
              </a:rPr>
              <a:t>Regulator sets a 30-day deadline  </a:t>
            </a:r>
            <a:r>
              <a:rPr sz="1000">
                <a:solidFill>
                  <a:srgbClr val="5F6B7A"/>
                </a:solidFill>
                <a:latin typeface="Calibri"/>
                <a:ea typeface="Calibri"/>
                <a:cs typeface="Calibri"/>
              </a:rPr>
              <a:t>Patient-safety review demands evidence of input validation and versioned contracts</a:t>
            </a:r>
            <a:endParaRPr sz="1050"/>
          </a:p>
        </p:txBody>
      </p:sp>
      <p:sp>
        <p:nvSpPr>
          <p:cNvPr id="17" name="Shape 14">
            <a:extLst xmlns:a="http://schemas.openxmlformats.org/drawingml/2006/main">
              <a:ext uri="{FF2B5EF4-FFF2-40B4-BE49-F238E27FC236}">
                <a16:creationId xmlns:a16="http://schemas.microsoft.com/office/drawing/2014/main" id="{D87A1328-8FAC-464E-9F37-795811DB38B6}"/>
              </a:ext>
            </a:extLst>
          </p:cNvPr>
          <p:cNvSpPr>
            <a:spLocks xmlns:a="http://schemas.openxmlformats.org/drawingml/2006/main" noGrp="1"/>
          </p:cNvSpPr>
          <p:nvPr/>
        </p:nvSpPr>
        <p:spPr>
          <a:xfrm xmlns:a="http://schemas.openxmlformats.org/drawingml/2006/main">
            <a:off x="566928" y="4672584"/>
            <a:ext cx="182880" cy="182880"/>
          </a:xfrm>
          <a:prstGeom xmlns:a="http://schemas.openxmlformats.org/drawingml/2006/main" prst="ellipse">
            <a:avLst/>
          </a:prstGeom>
          <a:solidFill xmlns:a="http://schemas.openxmlformats.org/drawingml/2006/main">
            <a:srgbClr val="F58220"/>
          </a:solidFill>
        </p:spPr>
      </p:sp>
      <p:sp>
        <p:nvSpPr>
          <p:cNvPr id="18" name="Shape 15">
            <a:extLst xmlns:a="http://schemas.openxmlformats.org/drawingml/2006/main">
              <a:ext uri="{FF2B5EF4-FFF2-40B4-BE49-F238E27FC236}">
                <a16:creationId xmlns:a16="http://schemas.microsoft.com/office/drawing/2014/main" id="{38CB9D04-4C97-46EB-93B8-26DACF103336}"/>
              </a:ext>
            </a:extLst>
          </p:cNvPr>
          <p:cNvSpPr>
            <a:spLocks xmlns:a="http://schemas.openxmlformats.org/drawingml/2006/main" noGrp="1"/>
          </p:cNvSpPr>
          <p:nvPr/>
        </p:nvSpPr>
        <p:spPr>
          <a:xfrm xmlns:a="http://schemas.openxmlformats.org/drawingml/2006/main">
            <a:off x="658368" y="4873752"/>
            <a:ext cx="0" cy="603504"/>
          </a:xfrm>
          <a:prstGeom xmlns:a="http://schemas.openxmlformats.org/drawingml/2006/main" prst="line">
            <a:avLst/>
          </a:prstGeom>
          <a:noFill xmlns:a="http://schemas.openxmlformats.org/drawingml/2006/main"/>
          <a:ln xmlns:a="http://schemas.openxmlformats.org/drawingml/2006/main" w="19050">
            <a:solidFill>
              <a:srgbClr val="D9E4F5"/>
            </a:solidFill>
            <a:prstDash val="solid"/>
          </a:ln>
        </p:spPr>
      </p:sp>
      <p:sp>
        <p:nvSpPr>
          <p:cNvPr id="19" name="Text 16">
            <a:extLst xmlns:a="http://schemas.openxmlformats.org/drawingml/2006/main">
              <a:ext uri="{FF2B5EF4-FFF2-40B4-BE49-F238E27FC236}">
                <a16:creationId xmlns:a16="http://schemas.microsoft.com/office/drawing/2014/main" id="{1FF46C11-E5DE-419B-9377-420EF5564450}"/>
              </a:ext>
            </a:extLst>
          </p:cNvPr>
          <p:cNvSpPr>
            <a:spLocks xmlns:a="http://schemas.openxmlformats.org/drawingml/2006/main" noGrp="1"/>
          </p:cNvSpPr>
          <p:nvPr/>
        </p:nvSpPr>
        <p:spPr>
          <a:xfrm xmlns:a="http://schemas.openxmlformats.org/drawingml/2006/main">
            <a:off x="960120" y="4599432"/>
            <a:ext cx="612648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1D2A5C"/>
                </a:solidFill>
                <a:latin typeface="Calibri"/>
                <a:ea typeface="Calibri"/>
                <a:cs typeface="Calibri"/>
              </a:rPr>
              <a:t>/v2/triage ships strict  </a:t>
            </a:r>
            <a:r>
              <a:rPr sz="1000">
                <a:solidFill>
                  <a:srgbClr val="5F6B7A"/>
                </a:solidFill>
                <a:latin typeface="Calibri"/>
                <a:ea typeface="Calibri"/>
                <a:cs typeface="Calibri"/>
              </a:rPr>
              <a:t>Single timestamp format, extra="forbid"; /v1 stays alive with per-vendor normalise-and-warn adapters</a:t>
            </a:r>
            <a:endParaRPr sz="1050"/>
          </a:p>
        </p:txBody>
      </p:sp>
      <p:sp>
        <p:nvSpPr>
          <p:cNvPr id="20" name="Shape 17">
            <a:extLst xmlns:a="http://schemas.openxmlformats.org/drawingml/2006/main">
              <a:ext uri="{FF2B5EF4-FFF2-40B4-BE49-F238E27FC236}">
                <a16:creationId xmlns:a16="http://schemas.microsoft.com/office/drawing/2014/main" id="{55C76D66-BA07-4DE1-9E17-D43CDA42EE54}"/>
              </a:ext>
            </a:extLst>
          </p:cNvPr>
          <p:cNvSpPr>
            <a:spLocks xmlns:a="http://schemas.openxmlformats.org/drawingml/2006/main" noGrp="1"/>
          </p:cNvSpPr>
          <p:nvPr/>
        </p:nvSpPr>
        <p:spPr>
          <a:xfrm xmlns:a="http://schemas.openxmlformats.org/drawingml/2006/main">
            <a:off x="566928" y="5495544"/>
            <a:ext cx="182880" cy="182880"/>
          </a:xfrm>
          <a:prstGeom xmlns:a="http://schemas.openxmlformats.org/drawingml/2006/main" prst="ellipse">
            <a:avLst/>
          </a:prstGeom>
          <a:solidFill xmlns:a="http://schemas.openxmlformats.org/drawingml/2006/main">
            <a:srgbClr val="8DC63F"/>
          </a:solidFill>
        </p:spPr>
      </p:sp>
      <p:sp>
        <p:nvSpPr>
          <p:cNvPr id="21" name="Text 18">
            <a:extLst xmlns:a="http://schemas.openxmlformats.org/drawingml/2006/main">
              <a:ext uri="{FF2B5EF4-FFF2-40B4-BE49-F238E27FC236}">
                <a16:creationId xmlns:a16="http://schemas.microsoft.com/office/drawing/2014/main" id="{BA4A0848-66CA-4815-A508-4E13A5C903FC}"/>
              </a:ext>
            </a:extLst>
          </p:cNvPr>
          <p:cNvSpPr>
            <a:spLocks xmlns:a="http://schemas.openxmlformats.org/drawingml/2006/main" noGrp="1"/>
          </p:cNvSpPr>
          <p:nvPr/>
        </p:nvSpPr>
        <p:spPr>
          <a:xfrm xmlns:a="http://schemas.openxmlformats.org/drawingml/2006/main">
            <a:off x="960120" y="5422392"/>
            <a:ext cx="612648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1D2A5C"/>
                </a:solidFill>
                <a:latin typeface="Calibri"/>
                <a:ea typeface="Calibri"/>
                <a:cs typeface="Calibri"/>
              </a:rPr>
              <a:t>Managed, measurable migration  </a:t>
            </a:r>
            <a:r>
              <a:rPr sz="1000">
                <a:solidFill>
                  <a:srgbClr val="5F6B7A"/>
                </a:solidFill>
                <a:latin typeface="Calibri"/>
                <a:ea typeface="Calibri"/>
                <a:cs typeface="Calibri"/>
              </a:rPr>
              <a:t>Per-vendor API keys → error dashboards; Sunset header; weekly conformance reports; shared contract tests</a:t>
            </a:r>
            <a:endParaRPr sz="1050"/>
          </a:p>
        </p:txBody>
      </p:sp>
      <p:sp>
        <p:nvSpPr>
          <p:cNvPr id="22" name="Shape 19">
            <a:extLst xmlns:a="http://schemas.openxmlformats.org/drawingml/2006/main">
              <a:ext uri="{FF2B5EF4-FFF2-40B4-BE49-F238E27FC236}">
                <a16:creationId xmlns:a16="http://schemas.microsoft.com/office/drawing/2014/main" id="{4BEEC863-21EB-4C84-AB91-29E18696BB0A}"/>
              </a:ext>
            </a:extLst>
          </p:cNvPr>
          <p:cNvSpPr>
            <a:spLocks xmlns:a="http://schemas.openxmlformats.org/drawingml/2006/main" noGrp="1"/>
          </p:cNvSpPr>
          <p:nvPr/>
        </p:nvSpPr>
        <p:spPr>
          <a:xfrm xmlns:a="http://schemas.openxmlformats.org/drawingml/2006/main">
            <a:off x="7406640" y="1938528"/>
            <a:ext cx="4279392" cy="4160520"/>
          </a:xfrm>
          <a:prstGeom xmlns:a="http://schemas.openxmlformats.org/drawingml/2006/main" prst="roundRect">
            <a:avLst>
              <a:gd name="adj" fmla="val 1538"/>
            </a:avLst>
          </a:prstGeom>
          <a:solidFill xmlns:a="http://schemas.openxmlformats.org/drawingml/2006/main">
            <a:srgbClr val="EAF4DC"/>
          </a:solidFill>
        </p:spPr>
      </p:sp>
      <p:sp>
        <p:nvSpPr>
          <p:cNvPr id="23" name="Text 20">
            <a:extLst xmlns:a="http://schemas.openxmlformats.org/drawingml/2006/main">
              <a:ext uri="{FF2B5EF4-FFF2-40B4-BE49-F238E27FC236}">
                <a16:creationId xmlns:a16="http://schemas.microsoft.com/office/drawing/2014/main" id="{C7DCBDFA-9B0E-49BB-9836-5AFDBD33A530}"/>
              </a:ext>
            </a:extLst>
          </p:cNvPr>
          <p:cNvSpPr>
            <a:spLocks xmlns:a="http://schemas.openxmlformats.org/drawingml/2006/main" noGrp="1"/>
          </p:cNvSpPr>
          <p:nvPr/>
        </p:nvSpPr>
        <p:spPr>
          <a:xfrm xmlns:a="http://schemas.openxmlformats.org/drawingml/2006/main">
            <a:off x="7607808" y="2103120"/>
            <a:ext cx="3877056"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b="1" spc="150">
                <a:solidFill>
                  <a:srgbClr val="4A7A15"/>
                </a:solidFill>
                <a:latin typeface="Calibri"/>
                <a:ea typeface="Calibri"/>
                <a:cs typeface="Calibri"/>
              </a:rPr>
              <a:t>LESSONS FOR YOUR SERVICE</a:t>
            </a:r>
            <a:endParaRPr sz="950"/>
          </a:p>
        </p:txBody>
      </p:sp>
      <p:sp>
        <p:nvSpPr>
          <p:cNvPr id="24" name="Text 21">
            <a:extLst xmlns:a="http://schemas.openxmlformats.org/drawingml/2006/main">
              <a:ext uri="{FF2B5EF4-FFF2-40B4-BE49-F238E27FC236}">
                <a16:creationId xmlns:a16="http://schemas.microsoft.com/office/drawing/2014/main" id="{057B2909-0C3D-42D4-B820-3E8267CB261A}"/>
              </a:ext>
            </a:extLst>
          </p:cNvPr>
          <p:cNvSpPr>
            <a:spLocks xmlns:a="http://schemas.openxmlformats.org/drawingml/2006/main" noGrp="1"/>
          </p:cNvSpPr>
          <p:nvPr/>
        </p:nvSpPr>
        <p:spPr>
          <a:xfrm xmlns:a="http://schemas.openxmlformats.org/drawingml/2006/main">
            <a:off x="7607808" y="2487168"/>
            <a:ext cx="256032"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5A8F1F"/>
                </a:solidFill>
                <a:latin typeface="Calibri"/>
                <a:ea typeface="Calibri"/>
                <a:cs typeface="Calibri"/>
              </a:rPr>
              <a:t>✓</a:t>
            </a:r>
            <a:endParaRPr sz="1100"/>
          </a:p>
        </p:txBody>
      </p:sp>
      <p:sp>
        <p:nvSpPr>
          <p:cNvPr id="25" name="Text 22">
            <a:extLst xmlns:a="http://schemas.openxmlformats.org/drawingml/2006/main">
              <a:ext uri="{FF2B5EF4-FFF2-40B4-BE49-F238E27FC236}">
                <a16:creationId xmlns:a16="http://schemas.microsoft.com/office/drawing/2014/main" id="{93979016-B154-49D0-B516-599D8ACE56BF}"/>
              </a:ext>
            </a:extLst>
          </p:cNvPr>
          <p:cNvSpPr>
            <a:spLocks xmlns:a="http://schemas.openxmlformats.org/drawingml/2006/main" noGrp="1"/>
          </p:cNvSpPr>
          <p:nvPr/>
        </p:nvSpPr>
        <p:spPr>
          <a:xfrm xmlns:a="http://schemas.openxmlformats.org/drawingml/2006/main">
            <a:off x="7909560" y="2468880"/>
            <a:ext cx="3547872"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3F5A18"/>
                </a:solidFill>
                <a:latin typeface="Calibri"/>
                <a:ea typeface="Calibri"/>
                <a:cs typeface="Calibri"/>
              </a:rPr>
              <a:t>Strict schemas are the only thing keeping multi-vendor integrations honest</a:t>
            </a:r>
            <a:endParaRPr sz="1000"/>
          </a:p>
        </p:txBody>
      </p:sp>
      <p:sp>
        <p:nvSpPr>
          <p:cNvPr id="26" name="Text 23">
            <a:extLst xmlns:a="http://schemas.openxmlformats.org/drawingml/2006/main">
              <a:ext uri="{FF2B5EF4-FFF2-40B4-BE49-F238E27FC236}">
                <a16:creationId xmlns:a16="http://schemas.microsoft.com/office/drawing/2014/main" id="{1F1661EA-5F8F-4712-B232-127D3C6EF6C4}"/>
              </a:ext>
            </a:extLst>
          </p:cNvPr>
          <p:cNvSpPr>
            <a:spLocks xmlns:a="http://schemas.openxmlformats.org/drawingml/2006/main" noGrp="1"/>
          </p:cNvSpPr>
          <p:nvPr/>
        </p:nvSpPr>
        <p:spPr>
          <a:xfrm xmlns:a="http://schemas.openxmlformats.org/drawingml/2006/main">
            <a:off x="7607808" y="3355848"/>
            <a:ext cx="256032"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5A8F1F"/>
                </a:solidFill>
                <a:latin typeface="Calibri"/>
                <a:ea typeface="Calibri"/>
                <a:cs typeface="Calibri"/>
              </a:rPr>
              <a:t>✓</a:t>
            </a:r>
            <a:endParaRPr sz="1100"/>
          </a:p>
        </p:txBody>
      </p:sp>
      <p:sp>
        <p:nvSpPr>
          <p:cNvPr id="27" name="Text 24">
            <a:extLst xmlns:a="http://schemas.openxmlformats.org/drawingml/2006/main">
              <a:ext uri="{FF2B5EF4-FFF2-40B4-BE49-F238E27FC236}">
                <a16:creationId xmlns:a16="http://schemas.microsoft.com/office/drawing/2014/main" id="{50BC3D5A-7691-46B8-BEB6-0FBCE4FA7A0E}"/>
              </a:ext>
            </a:extLst>
          </p:cNvPr>
          <p:cNvSpPr>
            <a:spLocks xmlns:a="http://schemas.openxmlformats.org/drawingml/2006/main" noGrp="1"/>
          </p:cNvSpPr>
          <p:nvPr/>
        </p:nvSpPr>
        <p:spPr>
          <a:xfrm xmlns:a="http://schemas.openxmlformats.org/drawingml/2006/main">
            <a:off x="7909560" y="3337560"/>
            <a:ext cx="3547872"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3F5A18"/>
                </a:solidFill>
                <a:latin typeface="Calibri"/>
                <a:ea typeface="Calibri"/>
                <a:cs typeface="Calibri"/>
              </a:rPr>
              <a:t>You cannot force simultaneous upgrades — hospital release cycles run 6–12 weeks</a:t>
            </a:r>
            <a:endParaRPr sz="1000"/>
          </a:p>
        </p:txBody>
      </p:sp>
      <p:sp>
        <p:nvSpPr>
          <p:cNvPr id="28" name="Text 25">
            <a:extLst xmlns:a="http://schemas.openxmlformats.org/drawingml/2006/main">
              <a:ext uri="{FF2B5EF4-FFF2-40B4-BE49-F238E27FC236}">
                <a16:creationId xmlns:a16="http://schemas.microsoft.com/office/drawing/2014/main" id="{4A1EE91B-BB74-41EA-949D-7B7DF9D9395C}"/>
              </a:ext>
            </a:extLst>
          </p:cNvPr>
          <p:cNvSpPr>
            <a:spLocks xmlns:a="http://schemas.openxmlformats.org/drawingml/2006/main" noGrp="1"/>
          </p:cNvSpPr>
          <p:nvPr/>
        </p:nvSpPr>
        <p:spPr>
          <a:xfrm xmlns:a="http://schemas.openxmlformats.org/drawingml/2006/main">
            <a:off x="7607808" y="4224528"/>
            <a:ext cx="256032"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5A8F1F"/>
                </a:solidFill>
                <a:latin typeface="Calibri"/>
                <a:ea typeface="Calibri"/>
                <a:cs typeface="Calibri"/>
              </a:rPr>
              <a:t>✓</a:t>
            </a:r>
            <a:endParaRPr sz="1100"/>
          </a:p>
        </p:txBody>
      </p:sp>
      <p:sp>
        <p:nvSpPr>
          <p:cNvPr id="29" name="Text 26">
            <a:extLst xmlns:a="http://schemas.openxmlformats.org/drawingml/2006/main">
              <a:ext uri="{FF2B5EF4-FFF2-40B4-BE49-F238E27FC236}">
                <a16:creationId xmlns:a16="http://schemas.microsoft.com/office/drawing/2014/main" id="{BDE0FF00-0FAC-4EBD-BA94-D86986D2169B}"/>
              </a:ext>
            </a:extLst>
          </p:cNvPr>
          <p:cNvSpPr>
            <a:spLocks xmlns:a="http://schemas.openxmlformats.org/drawingml/2006/main" noGrp="1"/>
          </p:cNvSpPr>
          <p:nvPr/>
        </p:nvSpPr>
        <p:spPr>
          <a:xfrm xmlns:a="http://schemas.openxmlformats.org/drawingml/2006/main">
            <a:off x="7909560" y="4206240"/>
            <a:ext cx="3547872"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3F5A18"/>
                </a:solidFill>
                <a:latin typeface="Calibri"/>
                <a:ea typeface="Calibri"/>
                <a:cs typeface="Calibri"/>
              </a:rPr>
              <a:t>Every rejected request must be auditable: who sent what, and when</a:t>
            </a:r>
            <a:endParaRPr sz="1000"/>
          </a:p>
        </p:txBody>
      </p:sp>
      <p:sp>
        <p:nvSpPr>
          <p:cNvPr id="30" name="Text 27">
            <a:extLst xmlns:a="http://schemas.openxmlformats.org/drawingml/2006/main">
              <a:ext uri="{FF2B5EF4-FFF2-40B4-BE49-F238E27FC236}">
                <a16:creationId xmlns:a16="http://schemas.microsoft.com/office/drawing/2014/main" id="{CBB2A49A-9FA6-4092-B15B-E59FBBA859D5}"/>
              </a:ext>
            </a:extLst>
          </p:cNvPr>
          <p:cNvSpPr>
            <a:spLocks xmlns:a="http://schemas.openxmlformats.org/drawingml/2006/main" noGrp="1"/>
          </p:cNvSpPr>
          <p:nvPr/>
        </p:nvSpPr>
        <p:spPr>
          <a:xfrm xmlns:a="http://schemas.openxmlformats.org/drawingml/2006/main">
            <a:off x="7607808" y="5093208"/>
            <a:ext cx="256032"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5A8F1F"/>
                </a:solidFill>
                <a:latin typeface="Calibri"/>
                <a:ea typeface="Calibri"/>
                <a:cs typeface="Calibri"/>
              </a:rPr>
              <a:t>✓</a:t>
            </a:r>
            <a:endParaRPr sz="1100"/>
          </a:p>
        </p:txBody>
      </p:sp>
      <p:sp>
        <p:nvSpPr>
          <p:cNvPr id="31" name="Text 28">
            <a:extLst xmlns:a="http://schemas.openxmlformats.org/drawingml/2006/main">
              <a:ext uri="{FF2B5EF4-FFF2-40B4-BE49-F238E27FC236}">
                <a16:creationId xmlns:a16="http://schemas.microsoft.com/office/drawing/2014/main" id="{EA89737F-2EBA-418A-BAAB-1A006461BFD0}"/>
              </a:ext>
            </a:extLst>
          </p:cNvPr>
          <p:cNvSpPr>
            <a:spLocks xmlns:a="http://schemas.openxmlformats.org/drawingml/2006/main" noGrp="1"/>
          </p:cNvSpPr>
          <p:nvPr/>
        </p:nvSpPr>
        <p:spPr>
          <a:xfrm xmlns:a="http://schemas.openxmlformats.org/drawingml/2006/main">
            <a:off x="7909560" y="5074920"/>
            <a:ext cx="3547872"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3F5A18"/>
                </a:solidFill>
                <a:latin typeface="Calibri"/>
                <a:ea typeface="Calibri"/>
                <a:cs typeface="Calibri"/>
              </a:rPr>
              <a:t>Arabic patient names must round-trip UTF-8 intact through every layer</a:t>
            </a:r>
            <a:endParaRPr sz="1000"/>
          </a:p>
        </p:txBody>
      </p:sp>
    </p:spTree>
    <p:extLst>
      <p:ext uri="{BB962C8B-B14F-4D97-AF65-F5344CB8AC3E}">
        <p14:creationId xmlns:p14="http://schemas.microsoft.com/office/powerpoint/2010/main" val="1578825831"/>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0A7CDF-4741-4DC4-92E0-CDF3FB2C5A9A}"/>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Module 2 — Check Your Understanding</a:t>
            </a:r>
            <a:endParaRPr sz="2600"/>
          </a:p>
        </p:txBody>
      </p:sp>
      <p:sp>
        <p:nvSpPr>
          <p:cNvPr id="3" name="Text 1">
            <a:extLst xmlns:a="http://schemas.openxmlformats.org/drawingml/2006/main">
              <a:ext uri="{FF2B5EF4-FFF2-40B4-BE49-F238E27FC236}">
                <a16:creationId xmlns:a16="http://schemas.microsoft.com/office/drawing/2014/main" id="{943CE0D5-F6F0-45DE-9BE0-29F5D72430A1}"/>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الوحدة الثانية — اختبر فهمك</a:t>
            </a:r>
            <a:endParaRPr sz="1300"/>
          </a:p>
        </p:txBody>
      </p:sp>
      <p:pic>
        <p:nvPicPr>
          <p:cNvPr id="40" name="Image 0"/>
          <p:cNvPicPr>
            <a:picLocks xmlns:a="http://schemas.openxmlformats.org/drawingml/2006/main" noChangeAspect="1"/>
          </p:cNvPicPr>
          <p:nvPr/>
        </p:nvPicPr>
        <p:blipFill>
          <a:blip xmlns:r="http://schemas.openxmlformats.org/officeDocument/2006/relationships" xmlns:a="http://schemas.openxmlformats.org/drawingml/2006/main" r:embed="R1f917172362140b2"/>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AB330D47-71AB-428D-A730-5444E26A96E3}"/>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07CE0AAC-D33A-41AE-B62C-13FE2C1AB2C6}"/>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2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BFAC68DD-FE67-48A5-B13C-E3653192306F}"/>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54</a:t>
            </a:r>
            <a:endParaRPr sz="850"/>
          </a:p>
        </p:txBody>
      </p:sp>
      <p:sp>
        <p:nvSpPr>
          <p:cNvPr id="8" name="Text 5">
            <a:extLst xmlns:a="http://schemas.openxmlformats.org/drawingml/2006/main">
              <a:ext uri="{FF2B5EF4-FFF2-40B4-BE49-F238E27FC236}">
                <a16:creationId xmlns:a16="http://schemas.microsoft.com/office/drawing/2014/main" id="{BD5ACFE5-536A-4DB6-937F-95116E261B80}"/>
              </a:ext>
            </a:extLst>
          </p:cNvPr>
          <p:cNvSpPr>
            <a:spLocks xmlns:a="http://schemas.openxmlformats.org/drawingml/2006/main" noGrp="1"/>
          </p:cNvSpPr>
          <p:nvPr/>
        </p:nvSpPr>
        <p:spPr>
          <a:xfrm xmlns:a="http://schemas.openxmlformats.org/drawingml/2006/main">
            <a:off x="502920" y="1444752"/>
            <a:ext cx="1920240" cy="310896"/>
          </a:xfrm>
          <a:prstGeom xmlns:a="http://schemas.openxmlformats.org/drawingml/2006/main" prst="roundRect">
            <a:avLst>
              <a:gd name="adj" fmla="val 17647"/>
            </a:avLst>
          </a:prstGeom>
          <a:solidFill xmlns:a="http://schemas.openxmlformats.org/drawingml/2006/main">
            <a:srgbClr val="7B61A6"/>
          </a:solidFill>
        </p:spPr>
        <p:txBody>
          <a:bodyPr xmlns:a="http://schemas.openxmlformats.org/drawingml/2006/main" wrap="square"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KNOWLEDGE CHECK</a:t>
            </a:r>
            <a:endParaRPr sz="950"/>
          </a:p>
        </p:txBody>
      </p:sp>
      <p:sp>
        <p:nvSpPr>
          <p:cNvPr id="9" name="Text 6">
            <a:extLst xmlns:a="http://schemas.openxmlformats.org/drawingml/2006/main">
              <a:ext uri="{FF2B5EF4-FFF2-40B4-BE49-F238E27FC236}">
                <a16:creationId xmlns:a16="http://schemas.microsoft.com/office/drawing/2014/main" id="{ECB54714-4FA2-4E0F-836D-5E05A5CC1BDA}"/>
              </a:ext>
            </a:extLst>
          </p:cNvPr>
          <p:cNvSpPr>
            <a:spLocks xmlns:a="http://schemas.openxmlformats.org/drawingml/2006/main" noGrp="1"/>
          </p:cNvSpPr>
          <p:nvPr/>
        </p:nvSpPr>
        <p:spPr>
          <a:xfrm xmlns:a="http://schemas.openxmlformats.org/drawingml/2006/main">
            <a:off x="502920" y="1920240"/>
            <a:ext cx="544068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b="1">
                <a:solidFill>
                  <a:srgbClr val="1D2A5C"/>
                </a:solidFill>
                <a:latin typeface="Calibri"/>
                <a:ea typeface="Calibri"/>
                <a:cs typeface="Calibri"/>
              </a:rPr>
              <a:t>Q1. A request arrives while the model is still loading. /v1/predict should return:</a:t>
            </a:r>
            <a:endParaRPr sz="1200"/>
          </a:p>
        </p:txBody>
      </p:sp>
      <p:sp>
        <p:nvSpPr>
          <p:cNvPr id="10" name="Shape 7">
            <a:extLst xmlns:a="http://schemas.openxmlformats.org/drawingml/2006/main">
              <a:ext uri="{FF2B5EF4-FFF2-40B4-BE49-F238E27FC236}">
                <a16:creationId xmlns:a16="http://schemas.microsoft.com/office/drawing/2014/main" id="{24B5745A-82B2-40C9-BED7-800DA3884196}"/>
              </a:ext>
            </a:extLst>
          </p:cNvPr>
          <p:cNvSpPr>
            <a:spLocks xmlns:a="http://schemas.openxmlformats.org/drawingml/2006/main" noGrp="1"/>
          </p:cNvSpPr>
          <p:nvPr/>
        </p:nvSpPr>
        <p:spPr>
          <a:xfrm xmlns:a="http://schemas.openxmlformats.org/drawingml/2006/main">
            <a:off x="502920" y="2788920"/>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11" name="Text 8">
            <a:extLst xmlns:a="http://schemas.openxmlformats.org/drawingml/2006/main">
              <a:ext uri="{FF2B5EF4-FFF2-40B4-BE49-F238E27FC236}">
                <a16:creationId xmlns:a16="http://schemas.microsoft.com/office/drawing/2014/main" id="{11C0D834-5387-4A23-8F5A-9D9BAEA98324}"/>
              </a:ext>
            </a:extLst>
          </p:cNvPr>
          <p:cNvSpPr>
            <a:spLocks xmlns:a="http://schemas.openxmlformats.org/drawingml/2006/main" noGrp="1"/>
          </p:cNvSpPr>
          <p:nvPr/>
        </p:nvSpPr>
        <p:spPr>
          <a:xfrm xmlns:a="http://schemas.openxmlformats.org/drawingml/2006/main">
            <a:off x="612648" y="2907792"/>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A</a:t>
            </a:r>
            <a:endParaRPr sz="1100"/>
          </a:p>
        </p:txBody>
      </p:sp>
      <p:sp>
        <p:nvSpPr>
          <p:cNvPr id="12" name="Text 9">
            <a:extLst xmlns:a="http://schemas.openxmlformats.org/drawingml/2006/main">
              <a:ext uri="{FF2B5EF4-FFF2-40B4-BE49-F238E27FC236}">
                <a16:creationId xmlns:a16="http://schemas.microsoft.com/office/drawing/2014/main" id="{2413A801-38EE-4CD8-A7BF-8A7C051367E8}"/>
              </a:ext>
            </a:extLst>
          </p:cNvPr>
          <p:cNvSpPr>
            <a:spLocks xmlns:a="http://schemas.openxmlformats.org/drawingml/2006/main" noGrp="1"/>
          </p:cNvSpPr>
          <p:nvPr/>
        </p:nvSpPr>
        <p:spPr>
          <a:xfrm xmlns:a="http://schemas.openxmlformats.org/drawingml/2006/main">
            <a:off x="1033272" y="2788920"/>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200 with a default score</a:t>
            </a:r>
            <a:endParaRPr sz="1050"/>
          </a:p>
        </p:txBody>
      </p:sp>
      <p:sp>
        <p:nvSpPr>
          <p:cNvPr id="13" name="Shape 10">
            <a:extLst xmlns:a="http://schemas.openxmlformats.org/drawingml/2006/main">
              <a:ext uri="{FF2B5EF4-FFF2-40B4-BE49-F238E27FC236}">
                <a16:creationId xmlns:a16="http://schemas.microsoft.com/office/drawing/2014/main" id="{5251EB0A-46BD-4FE0-8856-25603E45A74E}"/>
              </a:ext>
            </a:extLst>
          </p:cNvPr>
          <p:cNvSpPr>
            <a:spLocks xmlns:a="http://schemas.openxmlformats.org/drawingml/2006/main" noGrp="1"/>
          </p:cNvSpPr>
          <p:nvPr/>
        </p:nvSpPr>
        <p:spPr>
          <a:xfrm xmlns:a="http://schemas.openxmlformats.org/drawingml/2006/main">
            <a:off x="502920" y="3447288"/>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14" name="Text 11">
            <a:extLst xmlns:a="http://schemas.openxmlformats.org/drawingml/2006/main">
              <a:ext uri="{FF2B5EF4-FFF2-40B4-BE49-F238E27FC236}">
                <a16:creationId xmlns:a16="http://schemas.microsoft.com/office/drawing/2014/main" id="{BC5DEF6F-5026-49AA-823F-F1F6EF65868A}"/>
              </a:ext>
            </a:extLst>
          </p:cNvPr>
          <p:cNvSpPr>
            <a:spLocks xmlns:a="http://schemas.openxmlformats.org/drawingml/2006/main" noGrp="1"/>
          </p:cNvSpPr>
          <p:nvPr/>
        </p:nvSpPr>
        <p:spPr>
          <a:xfrm xmlns:a="http://schemas.openxmlformats.org/drawingml/2006/main">
            <a:off x="612648" y="3566160"/>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B</a:t>
            </a:r>
            <a:endParaRPr sz="1100"/>
          </a:p>
        </p:txBody>
      </p:sp>
      <p:sp>
        <p:nvSpPr>
          <p:cNvPr id="15" name="Text 12">
            <a:extLst xmlns:a="http://schemas.openxmlformats.org/drawingml/2006/main">
              <a:ext uri="{FF2B5EF4-FFF2-40B4-BE49-F238E27FC236}">
                <a16:creationId xmlns:a16="http://schemas.microsoft.com/office/drawing/2014/main" id="{68BFEE94-6F69-4540-98FD-44801925EF46}"/>
              </a:ext>
            </a:extLst>
          </p:cNvPr>
          <p:cNvSpPr>
            <a:spLocks xmlns:a="http://schemas.openxmlformats.org/drawingml/2006/main" noGrp="1"/>
          </p:cNvSpPr>
          <p:nvPr/>
        </p:nvSpPr>
        <p:spPr>
          <a:xfrm xmlns:a="http://schemas.openxmlformats.org/drawingml/2006/main">
            <a:off x="1033272" y="3447288"/>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500 Internal Server Error</a:t>
            </a:r>
            <a:endParaRPr sz="1050"/>
          </a:p>
        </p:txBody>
      </p:sp>
      <p:sp>
        <p:nvSpPr>
          <p:cNvPr id="16" name="Shape 13">
            <a:extLst xmlns:a="http://schemas.openxmlformats.org/drawingml/2006/main">
              <a:ext uri="{FF2B5EF4-FFF2-40B4-BE49-F238E27FC236}">
                <a16:creationId xmlns:a16="http://schemas.microsoft.com/office/drawing/2014/main" id="{A4EDFEAD-CF6E-49C0-B77F-93C75A081B7F}"/>
              </a:ext>
            </a:extLst>
          </p:cNvPr>
          <p:cNvSpPr>
            <a:spLocks xmlns:a="http://schemas.openxmlformats.org/drawingml/2006/main" noGrp="1"/>
          </p:cNvSpPr>
          <p:nvPr/>
        </p:nvSpPr>
        <p:spPr>
          <a:xfrm xmlns:a="http://schemas.openxmlformats.org/drawingml/2006/main">
            <a:off x="502920" y="4105656"/>
            <a:ext cx="5440680" cy="548640"/>
          </a:xfrm>
          <a:prstGeom xmlns:a="http://schemas.openxmlformats.org/drawingml/2006/main" prst="roundRect">
            <a:avLst>
              <a:gd name="adj" fmla="val 10000"/>
            </a:avLst>
          </a:prstGeom>
          <a:solidFill xmlns:a="http://schemas.openxmlformats.org/drawingml/2006/main">
            <a:srgbClr val="D4F1EE"/>
          </a:solidFill>
          <a:ln xmlns:a="http://schemas.openxmlformats.org/drawingml/2006/main" w="19050">
            <a:solidFill>
              <a:srgbClr val="00A79D"/>
            </a:solidFill>
            <a:prstDash val="solid"/>
          </a:ln>
        </p:spPr>
      </p:sp>
      <p:sp>
        <p:nvSpPr>
          <p:cNvPr id="17" name="Text 14">
            <a:extLst xmlns:a="http://schemas.openxmlformats.org/drawingml/2006/main">
              <a:ext uri="{FF2B5EF4-FFF2-40B4-BE49-F238E27FC236}">
                <a16:creationId xmlns:a16="http://schemas.microsoft.com/office/drawing/2014/main" id="{47F362F8-0A9E-4A35-87A4-10C02A63BA1B}"/>
              </a:ext>
            </a:extLst>
          </p:cNvPr>
          <p:cNvSpPr>
            <a:spLocks xmlns:a="http://schemas.openxmlformats.org/drawingml/2006/main" noGrp="1"/>
          </p:cNvSpPr>
          <p:nvPr/>
        </p:nvSpPr>
        <p:spPr>
          <a:xfrm xmlns:a="http://schemas.openxmlformats.org/drawingml/2006/main">
            <a:off x="612648" y="4224528"/>
            <a:ext cx="310896" cy="310896"/>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C</a:t>
            </a:r>
            <a:endParaRPr sz="1100"/>
          </a:p>
        </p:txBody>
      </p:sp>
      <p:sp>
        <p:nvSpPr>
          <p:cNvPr id="18" name="Text 15">
            <a:extLst xmlns:a="http://schemas.openxmlformats.org/drawingml/2006/main">
              <a:ext uri="{FF2B5EF4-FFF2-40B4-BE49-F238E27FC236}">
                <a16:creationId xmlns:a16="http://schemas.microsoft.com/office/drawing/2014/main" id="{83DFC6DA-F8A0-4A8A-B69B-6194E681FF42}"/>
              </a:ext>
            </a:extLst>
          </p:cNvPr>
          <p:cNvSpPr>
            <a:spLocks xmlns:a="http://schemas.openxmlformats.org/drawingml/2006/main" noGrp="1"/>
          </p:cNvSpPr>
          <p:nvPr/>
        </p:nvSpPr>
        <p:spPr>
          <a:xfrm xmlns:a="http://schemas.openxmlformats.org/drawingml/2006/main">
            <a:off x="1033272" y="4105656"/>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056A63"/>
                </a:solidFill>
                <a:latin typeface="Calibri"/>
                <a:ea typeface="Calibri"/>
                <a:cs typeface="Calibri"/>
              </a:rPr>
              <a:t>503 with a Retry-After header   ✓</a:t>
            </a:r>
            <a:endParaRPr sz="1050"/>
          </a:p>
        </p:txBody>
      </p:sp>
      <p:sp>
        <p:nvSpPr>
          <p:cNvPr id="19" name="Shape 16">
            <a:extLst xmlns:a="http://schemas.openxmlformats.org/drawingml/2006/main">
              <a:ext uri="{FF2B5EF4-FFF2-40B4-BE49-F238E27FC236}">
                <a16:creationId xmlns:a16="http://schemas.microsoft.com/office/drawing/2014/main" id="{3070F910-D1A8-4C74-8A88-B1A7A3D42F1A}"/>
              </a:ext>
            </a:extLst>
          </p:cNvPr>
          <p:cNvSpPr>
            <a:spLocks xmlns:a="http://schemas.openxmlformats.org/drawingml/2006/main" noGrp="1"/>
          </p:cNvSpPr>
          <p:nvPr/>
        </p:nvSpPr>
        <p:spPr>
          <a:xfrm xmlns:a="http://schemas.openxmlformats.org/drawingml/2006/main">
            <a:off x="502920" y="4764024"/>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20" name="Text 17">
            <a:extLst xmlns:a="http://schemas.openxmlformats.org/drawingml/2006/main">
              <a:ext uri="{FF2B5EF4-FFF2-40B4-BE49-F238E27FC236}">
                <a16:creationId xmlns:a16="http://schemas.microsoft.com/office/drawing/2014/main" id="{0AF4BEE5-0867-4641-9219-42A6BC23A3BF}"/>
              </a:ext>
            </a:extLst>
          </p:cNvPr>
          <p:cNvSpPr>
            <a:spLocks xmlns:a="http://schemas.openxmlformats.org/drawingml/2006/main" noGrp="1"/>
          </p:cNvSpPr>
          <p:nvPr/>
        </p:nvSpPr>
        <p:spPr>
          <a:xfrm xmlns:a="http://schemas.openxmlformats.org/drawingml/2006/main">
            <a:off x="612648" y="4882896"/>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D</a:t>
            </a:r>
            <a:endParaRPr sz="1100"/>
          </a:p>
        </p:txBody>
      </p:sp>
      <p:sp>
        <p:nvSpPr>
          <p:cNvPr id="21" name="Text 18">
            <a:extLst xmlns:a="http://schemas.openxmlformats.org/drawingml/2006/main">
              <a:ext uri="{FF2B5EF4-FFF2-40B4-BE49-F238E27FC236}">
                <a16:creationId xmlns:a16="http://schemas.microsoft.com/office/drawing/2014/main" id="{F2E22DE2-B96A-4B88-915F-A4ECFD6C4010}"/>
              </a:ext>
            </a:extLst>
          </p:cNvPr>
          <p:cNvSpPr>
            <a:spLocks xmlns:a="http://schemas.openxmlformats.org/drawingml/2006/main" noGrp="1"/>
          </p:cNvSpPr>
          <p:nvPr/>
        </p:nvSpPr>
        <p:spPr>
          <a:xfrm xmlns:a="http://schemas.openxmlformats.org/drawingml/2006/main">
            <a:off x="1033272" y="4764024"/>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404 Not Found</a:t>
            </a:r>
            <a:endParaRPr sz="1050"/>
          </a:p>
        </p:txBody>
      </p:sp>
      <p:sp>
        <p:nvSpPr>
          <p:cNvPr id="22" name="Text 19">
            <a:extLst xmlns:a="http://schemas.openxmlformats.org/drawingml/2006/main">
              <a:ext uri="{FF2B5EF4-FFF2-40B4-BE49-F238E27FC236}">
                <a16:creationId xmlns:a16="http://schemas.microsoft.com/office/drawing/2014/main" id="{87FCEFAE-443B-4A8F-882F-E6D6CCAF9B7F}"/>
              </a:ext>
            </a:extLst>
          </p:cNvPr>
          <p:cNvSpPr>
            <a:spLocks xmlns:a="http://schemas.openxmlformats.org/drawingml/2006/main" noGrp="1"/>
          </p:cNvSpPr>
          <p:nvPr/>
        </p:nvSpPr>
        <p:spPr>
          <a:xfrm xmlns:a="http://schemas.openxmlformats.org/drawingml/2006/main">
            <a:off x="502920" y="5513832"/>
            <a:ext cx="544068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b="1" i="1">
                <a:solidFill>
                  <a:srgbClr val="5F6B7A"/>
                </a:solidFill>
                <a:latin typeface="Calibri"/>
                <a:ea typeface="Calibri"/>
                <a:cs typeface="Calibri"/>
              </a:rPr>
              <a:t>Why: </a:t>
            </a:r>
            <a:r>
              <a:rPr sz="950" i="1">
                <a:solidFill>
                  <a:srgbClr val="5F6B7A"/>
                </a:solidFill>
                <a:latin typeface="Calibri"/>
                <a:ea typeface="Calibri"/>
                <a:cs typeface="Calibri"/>
              </a:rPr>
              <a:t>Not-ready is a temporary server condition: 503 + Retry-After tells well-behaved clients exactly what to do.</a:t>
            </a:r>
            <a:endParaRPr sz="950"/>
          </a:p>
        </p:txBody>
      </p:sp>
      <p:sp>
        <p:nvSpPr>
          <p:cNvPr id="23" name="Text 20">
            <a:extLst xmlns:a="http://schemas.openxmlformats.org/drawingml/2006/main">
              <a:ext uri="{FF2B5EF4-FFF2-40B4-BE49-F238E27FC236}">
                <a16:creationId xmlns:a16="http://schemas.microsoft.com/office/drawing/2014/main" id="{080B2334-14AB-430B-B125-4FF7DC3A2E0B}"/>
              </a:ext>
            </a:extLst>
          </p:cNvPr>
          <p:cNvSpPr>
            <a:spLocks xmlns:a="http://schemas.openxmlformats.org/drawingml/2006/main" noGrp="1"/>
          </p:cNvSpPr>
          <p:nvPr/>
        </p:nvSpPr>
        <p:spPr>
          <a:xfrm xmlns:a="http://schemas.openxmlformats.org/drawingml/2006/main">
            <a:off x="6245352" y="1920240"/>
            <a:ext cx="544068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b="1">
                <a:solidFill>
                  <a:srgbClr val="1D2A5C"/>
                </a:solidFill>
                <a:latin typeface="Calibri"/>
                <a:ea typeface="Calibri"/>
                <a:cs typeface="Calibri"/>
              </a:rPr>
              <a:t>Q2. Why are sklearn inference routes written as plain def, not async def?</a:t>
            </a:r>
            <a:endParaRPr sz="1200"/>
          </a:p>
        </p:txBody>
      </p:sp>
      <p:sp>
        <p:nvSpPr>
          <p:cNvPr id="24" name="Shape 21">
            <a:extLst xmlns:a="http://schemas.openxmlformats.org/drawingml/2006/main">
              <a:ext uri="{FF2B5EF4-FFF2-40B4-BE49-F238E27FC236}">
                <a16:creationId xmlns:a16="http://schemas.microsoft.com/office/drawing/2014/main" id="{89156381-AFF5-4653-80CF-9D0D545FF176}"/>
              </a:ext>
            </a:extLst>
          </p:cNvPr>
          <p:cNvSpPr>
            <a:spLocks xmlns:a="http://schemas.openxmlformats.org/drawingml/2006/main" noGrp="1"/>
          </p:cNvSpPr>
          <p:nvPr/>
        </p:nvSpPr>
        <p:spPr>
          <a:xfrm xmlns:a="http://schemas.openxmlformats.org/drawingml/2006/main">
            <a:off x="6245352" y="2788920"/>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25" name="Text 22">
            <a:extLst xmlns:a="http://schemas.openxmlformats.org/drawingml/2006/main">
              <a:ext uri="{FF2B5EF4-FFF2-40B4-BE49-F238E27FC236}">
                <a16:creationId xmlns:a16="http://schemas.microsoft.com/office/drawing/2014/main" id="{5D9B0584-DBB9-4676-B8EE-9B9E995F7D18}"/>
              </a:ext>
            </a:extLst>
          </p:cNvPr>
          <p:cNvSpPr>
            <a:spLocks xmlns:a="http://schemas.openxmlformats.org/drawingml/2006/main" noGrp="1"/>
          </p:cNvSpPr>
          <p:nvPr/>
        </p:nvSpPr>
        <p:spPr>
          <a:xfrm xmlns:a="http://schemas.openxmlformats.org/drawingml/2006/main">
            <a:off x="6355080" y="2907792"/>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A</a:t>
            </a:r>
            <a:endParaRPr sz="1100"/>
          </a:p>
        </p:txBody>
      </p:sp>
      <p:sp>
        <p:nvSpPr>
          <p:cNvPr id="26" name="Text 23">
            <a:extLst xmlns:a="http://schemas.openxmlformats.org/drawingml/2006/main">
              <a:ext uri="{FF2B5EF4-FFF2-40B4-BE49-F238E27FC236}">
                <a16:creationId xmlns:a16="http://schemas.microsoft.com/office/drawing/2014/main" id="{EB1E11B7-9994-401D-9739-A827F74B6AF8}"/>
              </a:ext>
            </a:extLst>
          </p:cNvPr>
          <p:cNvSpPr>
            <a:spLocks xmlns:a="http://schemas.openxmlformats.org/drawingml/2006/main" noGrp="1"/>
          </p:cNvSpPr>
          <p:nvPr/>
        </p:nvSpPr>
        <p:spPr>
          <a:xfrm xmlns:a="http://schemas.openxmlformats.org/drawingml/2006/main">
            <a:off x="6775704" y="2788920"/>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async is deprecated in FastAPI</a:t>
            </a:r>
            <a:endParaRPr sz="1050"/>
          </a:p>
        </p:txBody>
      </p:sp>
      <p:sp>
        <p:nvSpPr>
          <p:cNvPr id="27" name="Shape 24">
            <a:extLst xmlns:a="http://schemas.openxmlformats.org/drawingml/2006/main">
              <a:ext uri="{FF2B5EF4-FFF2-40B4-BE49-F238E27FC236}">
                <a16:creationId xmlns:a16="http://schemas.microsoft.com/office/drawing/2014/main" id="{A55245C9-EB91-4AC2-88FB-A3D20613B2CA}"/>
              </a:ext>
            </a:extLst>
          </p:cNvPr>
          <p:cNvSpPr>
            <a:spLocks xmlns:a="http://schemas.openxmlformats.org/drawingml/2006/main" noGrp="1"/>
          </p:cNvSpPr>
          <p:nvPr/>
        </p:nvSpPr>
        <p:spPr>
          <a:xfrm xmlns:a="http://schemas.openxmlformats.org/drawingml/2006/main">
            <a:off x="6245352" y="3447288"/>
            <a:ext cx="5440680" cy="548640"/>
          </a:xfrm>
          <a:prstGeom xmlns:a="http://schemas.openxmlformats.org/drawingml/2006/main" prst="roundRect">
            <a:avLst>
              <a:gd name="adj" fmla="val 10000"/>
            </a:avLst>
          </a:prstGeom>
          <a:solidFill xmlns:a="http://schemas.openxmlformats.org/drawingml/2006/main">
            <a:srgbClr val="D4F1EE"/>
          </a:solidFill>
          <a:ln xmlns:a="http://schemas.openxmlformats.org/drawingml/2006/main" w="19050">
            <a:solidFill>
              <a:srgbClr val="00A79D"/>
            </a:solidFill>
            <a:prstDash val="solid"/>
          </a:ln>
        </p:spPr>
      </p:sp>
      <p:sp>
        <p:nvSpPr>
          <p:cNvPr id="28" name="Text 25">
            <a:extLst xmlns:a="http://schemas.openxmlformats.org/drawingml/2006/main">
              <a:ext uri="{FF2B5EF4-FFF2-40B4-BE49-F238E27FC236}">
                <a16:creationId xmlns:a16="http://schemas.microsoft.com/office/drawing/2014/main" id="{F481F5DC-2B87-41B6-81BB-BB6C96FEB8B6}"/>
              </a:ext>
            </a:extLst>
          </p:cNvPr>
          <p:cNvSpPr>
            <a:spLocks xmlns:a="http://schemas.openxmlformats.org/drawingml/2006/main" noGrp="1"/>
          </p:cNvSpPr>
          <p:nvPr/>
        </p:nvSpPr>
        <p:spPr>
          <a:xfrm xmlns:a="http://schemas.openxmlformats.org/drawingml/2006/main">
            <a:off x="6355080" y="3566160"/>
            <a:ext cx="310896" cy="310896"/>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B</a:t>
            </a:r>
            <a:endParaRPr sz="1100"/>
          </a:p>
        </p:txBody>
      </p:sp>
      <p:sp>
        <p:nvSpPr>
          <p:cNvPr id="29" name="Text 26">
            <a:extLst xmlns:a="http://schemas.openxmlformats.org/drawingml/2006/main">
              <a:ext uri="{FF2B5EF4-FFF2-40B4-BE49-F238E27FC236}">
                <a16:creationId xmlns:a16="http://schemas.microsoft.com/office/drawing/2014/main" id="{74469B58-1C94-465A-963C-ABADC0A0A255}"/>
              </a:ext>
            </a:extLst>
          </p:cNvPr>
          <p:cNvSpPr>
            <a:spLocks xmlns:a="http://schemas.openxmlformats.org/drawingml/2006/main" noGrp="1"/>
          </p:cNvSpPr>
          <p:nvPr/>
        </p:nvSpPr>
        <p:spPr>
          <a:xfrm xmlns:a="http://schemas.openxmlformats.org/drawingml/2006/main">
            <a:off x="6775704" y="3447288"/>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056A63"/>
                </a:solidFill>
                <a:latin typeface="Calibri"/>
                <a:ea typeface="Calibri"/>
                <a:cs typeface="Calibri"/>
              </a:rPr>
              <a:t>async def blocks the event loop on CPU work; def gets a thread pool   ✓</a:t>
            </a:r>
            <a:endParaRPr sz="1050"/>
          </a:p>
        </p:txBody>
      </p:sp>
      <p:sp>
        <p:nvSpPr>
          <p:cNvPr id="30" name="Shape 27">
            <a:extLst xmlns:a="http://schemas.openxmlformats.org/drawingml/2006/main">
              <a:ext uri="{FF2B5EF4-FFF2-40B4-BE49-F238E27FC236}">
                <a16:creationId xmlns:a16="http://schemas.microsoft.com/office/drawing/2014/main" id="{F08F8C6A-DDBC-448F-8E90-9B2B1B54F6BE}"/>
              </a:ext>
            </a:extLst>
          </p:cNvPr>
          <p:cNvSpPr>
            <a:spLocks xmlns:a="http://schemas.openxmlformats.org/drawingml/2006/main" noGrp="1"/>
          </p:cNvSpPr>
          <p:nvPr/>
        </p:nvSpPr>
        <p:spPr>
          <a:xfrm xmlns:a="http://schemas.openxmlformats.org/drawingml/2006/main">
            <a:off x="6245352" y="4105656"/>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31" name="Text 28">
            <a:extLst xmlns:a="http://schemas.openxmlformats.org/drawingml/2006/main">
              <a:ext uri="{FF2B5EF4-FFF2-40B4-BE49-F238E27FC236}">
                <a16:creationId xmlns:a16="http://schemas.microsoft.com/office/drawing/2014/main" id="{50A20778-27D0-47F8-B761-E930FE31C33C}"/>
              </a:ext>
            </a:extLst>
          </p:cNvPr>
          <p:cNvSpPr>
            <a:spLocks xmlns:a="http://schemas.openxmlformats.org/drawingml/2006/main" noGrp="1"/>
          </p:cNvSpPr>
          <p:nvPr/>
        </p:nvSpPr>
        <p:spPr>
          <a:xfrm xmlns:a="http://schemas.openxmlformats.org/drawingml/2006/main">
            <a:off x="6355080" y="4224528"/>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C</a:t>
            </a:r>
            <a:endParaRPr sz="1100"/>
          </a:p>
        </p:txBody>
      </p:sp>
      <p:sp>
        <p:nvSpPr>
          <p:cNvPr id="32" name="Text 29">
            <a:extLst xmlns:a="http://schemas.openxmlformats.org/drawingml/2006/main">
              <a:ext uri="{FF2B5EF4-FFF2-40B4-BE49-F238E27FC236}">
                <a16:creationId xmlns:a16="http://schemas.microsoft.com/office/drawing/2014/main" id="{C8D2AE1A-C034-4D02-8108-ECF08FD6E26E}"/>
              </a:ext>
            </a:extLst>
          </p:cNvPr>
          <p:cNvSpPr>
            <a:spLocks xmlns:a="http://schemas.openxmlformats.org/drawingml/2006/main" noGrp="1"/>
          </p:cNvSpPr>
          <p:nvPr/>
        </p:nvSpPr>
        <p:spPr>
          <a:xfrm xmlns:a="http://schemas.openxmlformats.org/drawingml/2006/main">
            <a:off x="6775704" y="4105656"/>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def routes are faster to type-check</a:t>
            </a:r>
            <a:endParaRPr sz="1050"/>
          </a:p>
        </p:txBody>
      </p:sp>
      <p:sp>
        <p:nvSpPr>
          <p:cNvPr id="33" name="Shape 30">
            <a:extLst xmlns:a="http://schemas.openxmlformats.org/drawingml/2006/main">
              <a:ext uri="{FF2B5EF4-FFF2-40B4-BE49-F238E27FC236}">
                <a16:creationId xmlns:a16="http://schemas.microsoft.com/office/drawing/2014/main" id="{8B5F884C-0836-4B75-9FC8-50174B9E4767}"/>
              </a:ext>
            </a:extLst>
          </p:cNvPr>
          <p:cNvSpPr>
            <a:spLocks xmlns:a="http://schemas.openxmlformats.org/drawingml/2006/main" noGrp="1"/>
          </p:cNvSpPr>
          <p:nvPr/>
        </p:nvSpPr>
        <p:spPr>
          <a:xfrm xmlns:a="http://schemas.openxmlformats.org/drawingml/2006/main">
            <a:off x="6245352" y="4764024"/>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34" name="Text 31">
            <a:extLst xmlns:a="http://schemas.openxmlformats.org/drawingml/2006/main">
              <a:ext uri="{FF2B5EF4-FFF2-40B4-BE49-F238E27FC236}">
                <a16:creationId xmlns:a16="http://schemas.microsoft.com/office/drawing/2014/main" id="{84DEBCE7-71BB-497A-AD91-83B726EFCAB5}"/>
              </a:ext>
            </a:extLst>
          </p:cNvPr>
          <p:cNvSpPr>
            <a:spLocks xmlns:a="http://schemas.openxmlformats.org/drawingml/2006/main" noGrp="1"/>
          </p:cNvSpPr>
          <p:nvPr/>
        </p:nvSpPr>
        <p:spPr>
          <a:xfrm xmlns:a="http://schemas.openxmlformats.org/drawingml/2006/main">
            <a:off x="6355080" y="4882896"/>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D</a:t>
            </a:r>
            <a:endParaRPr sz="1100"/>
          </a:p>
        </p:txBody>
      </p:sp>
      <p:sp>
        <p:nvSpPr>
          <p:cNvPr id="35" name="Text 32">
            <a:extLst xmlns:a="http://schemas.openxmlformats.org/drawingml/2006/main">
              <a:ext uri="{FF2B5EF4-FFF2-40B4-BE49-F238E27FC236}">
                <a16:creationId xmlns:a16="http://schemas.microsoft.com/office/drawing/2014/main" id="{FDA51CDB-AF21-4653-AE5E-0E3DD7C0098F}"/>
              </a:ext>
            </a:extLst>
          </p:cNvPr>
          <p:cNvSpPr>
            <a:spLocks xmlns:a="http://schemas.openxmlformats.org/drawingml/2006/main" noGrp="1"/>
          </p:cNvSpPr>
          <p:nvPr/>
        </p:nvSpPr>
        <p:spPr>
          <a:xfrm xmlns:a="http://schemas.openxmlformats.org/drawingml/2006/main">
            <a:off x="6775704" y="4764024"/>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Only def routes support Depends()</a:t>
            </a:r>
            <a:endParaRPr sz="1050"/>
          </a:p>
        </p:txBody>
      </p:sp>
      <p:sp>
        <p:nvSpPr>
          <p:cNvPr id="36" name="Text 33">
            <a:extLst xmlns:a="http://schemas.openxmlformats.org/drawingml/2006/main">
              <a:ext uri="{FF2B5EF4-FFF2-40B4-BE49-F238E27FC236}">
                <a16:creationId xmlns:a16="http://schemas.microsoft.com/office/drawing/2014/main" id="{84A5E672-0677-4CC7-8620-B673059B70D6}"/>
              </a:ext>
            </a:extLst>
          </p:cNvPr>
          <p:cNvSpPr>
            <a:spLocks xmlns:a="http://schemas.openxmlformats.org/drawingml/2006/main" noGrp="1"/>
          </p:cNvSpPr>
          <p:nvPr/>
        </p:nvSpPr>
        <p:spPr>
          <a:xfrm xmlns:a="http://schemas.openxmlformats.org/drawingml/2006/main">
            <a:off x="6245352" y="5513832"/>
            <a:ext cx="544068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b="1" i="1">
                <a:solidFill>
                  <a:srgbClr val="5F6B7A"/>
                </a:solidFill>
                <a:latin typeface="Calibri"/>
                <a:ea typeface="Calibri"/>
                <a:cs typeface="Calibri"/>
              </a:rPr>
              <a:t>Why: </a:t>
            </a:r>
            <a:r>
              <a:rPr sz="950" i="1">
                <a:solidFill>
                  <a:srgbClr val="5F6B7A"/>
                </a:solidFill>
                <a:latin typeface="Calibri"/>
                <a:ea typeface="Calibri"/>
                <a:cs typeface="Calibri"/>
              </a:rPr>
              <a:t>The single mistake behind most "FastAPI is slow" complaints — p99 went from 2.4 s to 38 ms in the course benchmark.</a:t>
            </a:r>
            <a:endParaRPr sz="950"/>
          </a:p>
        </p:txBody>
      </p:sp>
    </p:spTree>
    <p:extLst>
      <p:ext uri="{BB962C8B-B14F-4D97-AF65-F5344CB8AC3E}">
        <p14:creationId xmlns:p14="http://schemas.microsoft.com/office/powerpoint/2010/main" val="232487353"/>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801CFE4-0A63-4B07-81D2-D56502FF5A4F}"/>
              </a:ext>
            </a:extLst>
          </p:cNvPr>
          <p:cNvSpPr>
            <a:spLocks xmlns:a="http://schemas.openxmlformats.org/drawingml/2006/main" noGrp="1"/>
          </p:cNvSpPr>
          <p:nvPr/>
        </p:nvSpPr>
        <p:spPr>
          <a:xfrm xmlns:a="http://schemas.openxmlformats.org/drawingml/2006/main" rot="5400000" flipH="1">
            <a:off x="9692640" y="1124712"/>
            <a:ext cx="329184" cy="288036"/>
          </a:xfrm>
          <a:prstGeom xmlns:a="http://schemas.openxmlformats.org/drawingml/2006/main" prst="triangle">
            <a:avLst/>
          </a:prstGeom>
          <a:solidFill xmlns:a="http://schemas.openxmlformats.org/drawingml/2006/main">
            <a:srgbClr val="00A79D"/>
          </a:solidFill>
        </p:spPr>
      </p:sp>
      <p:sp>
        <p:nvSpPr>
          <p:cNvPr id="3" name="Shape 1">
            <a:extLst xmlns:a="http://schemas.openxmlformats.org/drawingml/2006/main">
              <a:ext uri="{FF2B5EF4-FFF2-40B4-BE49-F238E27FC236}">
                <a16:creationId xmlns:a16="http://schemas.microsoft.com/office/drawing/2014/main" id="{10319D57-C44D-4E62-A6CA-5B4A3CEC8140}"/>
              </a:ext>
            </a:extLst>
          </p:cNvPr>
          <p:cNvSpPr>
            <a:spLocks xmlns:a="http://schemas.openxmlformats.org/drawingml/2006/main" noGrp="1"/>
          </p:cNvSpPr>
          <p:nvPr/>
        </p:nvSpPr>
        <p:spPr>
          <a:xfrm xmlns:a="http://schemas.openxmlformats.org/drawingml/2006/main" rot="5400000">
            <a:off x="10041575" y="836676"/>
            <a:ext cx="329184" cy="288036"/>
          </a:xfrm>
          <a:prstGeom xmlns:a="http://schemas.openxmlformats.org/drawingml/2006/main" prst="triangle">
            <a:avLst/>
          </a:prstGeom>
          <a:solidFill xmlns:a="http://schemas.openxmlformats.org/drawingml/2006/main">
            <a:srgbClr val="29ABE2"/>
          </a:solidFill>
        </p:spPr>
      </p:sp>
      <p:sp>
        <p:nvSpPr>
          <p:cNvPr id="4" name="Shape 2">
            <a:extLst xmlns:a="http://schemas.openxmlformats.org/drawingml/2006/main">
              <a:ext uri="{FF2B5EF4-FFF2-40B4-BE49-F238E27FC236}">
                <a16:creationId xmlns:a16="http://schemas.microsoft.com/office/drawing/2014/main" id="{9FB417B0-8E3D-44B5-AF16-DD483095229A}"/>
              </a:ext>
            </a:extLst>
          </p:cNvPr>
          <p:cNvSpPr>
            <a:spLocks xmlns:a="http://schemas.openxmlformats.org/drawingml/2006/main" noGrp="1"/>
          </p:cNvSpPr>
          <p:nvPr/>
        </p:nvSpPr>
        <p:spPr>
          <a:xfrm xmlns:a="http://schemas.openxmlformats.org/drawingml/2006/main" rot="5400000">
            <a:off x="10041575" y="1412748"/>
            <a:ext cx="329184" cy="288036"/>
          </a:xfrm>
          <a:prstGeom xmlns:a="http://schemas.openxmlformats.org/drawingml/2006/main" prst="triangle">
            <a:avLst/>
          </a:prstGeom>
          <a:solidFill xmlns:a="http://schemas.openxmlformats.org/drawingml/2006/main">
            <a:srgbClr val="F58220"/>
          </a:solidFill>
        </p:spPr>
      </p:sp>
      <p:sp>
        <p:nvSpPr>
          <p:cNvPr id="5" name="Shape 3">
            <a:extLst xmlns:a="http://schemas.openxmlformats.org/drawingml/2006/main">
              <a:ext uri="{FF2B5EF4-FFF2-40B4-BE49-F238E27FC236}">
                <a16:creationId xmlns:a16="http://schemas.microsoft.com/office/drawing/2014/main" id="{4905579F-D123-4560-B020-08A5C55351AA}"/>
              </a:ext>
            </a:extLst>
          </p:cNvPr>
          <p:cNvSpPr>
            <a:spLocks xmlns:a="http://schemas.openxmlformats.org/drawingml/2006/main" noGrp="1"/>
          </p:cNvSpPr>
          <p:nvPr/>
        </p:nvSpPr>
        <p:spPr>
          <a:xfrm xmlns:a="http://schemas.openxmlformats.org/drawingml/2006/main" rot="5400000" flipH="1">
            <a:off x="10390510" y="548640"/>
            <a:ext cx="329184" cy="288036"/>
          </a:xfrm>
          <a:prstGeom xmlns:a="http://schemas.openxmlformats.org/drawingml/2006/main" prst="triangle">
            <a:avLst/>
          </a:prstGeom>
          <a:solidFill xmlns:a="http://schemas.openxmlformats.org/drawingml/2006/main">
            <a:srgbClr val="8DC63F"/>
          </a:solidFill>
        </p:spPr>
      </p:sp>
      <p:sp>
        <p:nvSpPr>
          <p:cNvPr id="6" name="Shape 4">
            <a:extLst xmlns:a="http://schemas.openxmlformats.org/drawingml/2006/main">
              <a:ext uri="{FF2B5EF4-FFF2-40B4-BE49-F238E27FC236}">
                <a16:creationId xmlns:a16="http://schemas.microsoft.com/office/drawing/2014/main" id="{6260F803-66B6-4524-B3EC-0D1D071D6395}"/>
              </a:ext>
            </a:extLst>
          </p:cNvPr>
          <p:cNvSpPr>
            <a:spLocks xmlns:a="http://schemas.openxmlformats.org/drawingml/2006/main" noGrp="1"/>
          </p:cNvSpPr>
          <p:nvPr/>
        </p:nvSpPr>
        <p:spPr>
          <a:xfrm xmlns:a="http://schemas.openxmlformats.org/drawingml/2006/main" rot="5400000">
            <a:off x="10390510" y="1124712"/>
            <a:ext cx="329184" cy="288036"/>
          </a:xfrm>
          <a:prstGeom xmlns:a="http://schemas.openxmlformats.org/drawingml/2006/main" prst="triangle">
            <a:avLst/>
          </a:prstGeom>
          <a:solidFill xmlns:a="http://schemas.openxmlformats.org/drawingml/2006/main">
            <a:srgbClr val="B9C8E8"/>
          </a:solidFill>
        </p:spPr>
      </p:sp>
      <p:sp>
        <p:nvSpPr>
          <p:cNvPr id="7" name="Shape 5">
            <a:extLst xmlns:a="http://schemas.openxmlformats.org/drawingml/2006/main">
              <a:ext uri="{FF2B5EF4-FFF2-40B4-BE49-F238E27FC236}">
                <a16:creationId xmlns:a16="http://schemas.microsoft.com/office/drawing/2014/main" id="{C5071B1A-E4D4-4A00-805C-9071E770B7CC}"/>
              </a:ext>
            </a:extLst>
          </p:cNvPr>
          <p:cNvSpPr>
            <a:spLocks xmlns:a="http://schemas.openxmlformats.org/drawingml/2006/main" noGrp="1"/>
          </p:cNvSpPr>
          <p:nvPr/>
        </p:nvSpPr>
        <p:spPr>
          <a:xfrm xmlns:a="http://schemas.openxmlformats.org/drawingml/2006/main" rot="5400000">
            <a:off x="10739445" y="836676"/>
            <a:ext cx="329184" cy="288036"/>
          </a:xfrm>
          <a:prstGeom xmlns:a="http://schemas.openxmlformats.org/drawingml/2006/main" prst="triangle">
            <a:avLst/>
          </a:prstGeom>
          <a:solidFill xmlns:a="http://schemas.openxmlformats.org/drawingml/2006/main">
            <a:srgbClr val="00A79D"/>
          </a:solidFill>
        </p:spPr>
      </p:sp>
      <p:sp>
        <p:nvSpPr>
          <p:cNvPr id="8" name="Shape 6">
            <a:extLst xmlns:a="http://schemas.openxmlformats.org/drawingml/2006/main">
              <a:ext uri="{FF2B5EF4-FFF2-40B4-BE49-F238E27FC236}">
                <a16:creationId xmlns:a16="http://schemas.microsoft.com/office/drawing/2014/main" id="{A4E31FE2-95FD-4A6F-9D60-E942D4EE6CD3}"/>
              </a:ext>
            </a:extLst>
          </p:cNvPr>
          <p:cNvSpPr>
            <a:spLocks xmlns:a="http://schemas.openxmlformats.org/drawingml/2006/main" noGrp="1"/>
          </p:cNvSpPr>
          <p:nvPr/>
        </p:nvSpPr>
        <p:spPr>
          <a:xfrm xmlns:a="http://schemas.openxmlformats.org/drawingml/2006/main" rot="5400000" flipH="1">
            <a:off x="10739445" y="1412748"/>
            <a:ext cx="329184" cy="288036"/>
          </a:xfrm>
          <a:prstGeom xmlns:a="http://schemas.openxmlformats.org/drawingml/2006/main" prst="triangle">
            <a:avLst/>
          </a:prstGeom>
          <a:solidFill xmlns:a="http://schemas.openxmlformats.org/drawingml/2006/main">
            <a:srgbClr val="29ABE2"/>
          </a:solidFill>
        </p:spPr>
      </p:sp>
      <p:sp>
        <p:nvSpPr>
          <p:cNvPr id="9" name="Shape 7">
            <a:extLst xmlns:a="http://schemas.openxmlformats.org/drawingml/2006/main">
              <a:ext uri="{FF2B5EF4-FFF2-40B4-BE49-F238E27FC236}">
                <a16:creationId xmlns:a16="http://schemas.microsoft.com/office/drawing/2014/main" id="{15FD6F3D-6AC3-4EE7-8218-2C7DE438EC37}"/>
              </a:ext>
            </a:extLst>
          </p:cNvPr>
          <p:cNvSpPr>
            <a:spLocks xmlns:a="http://schemas.openxmlformats.org/drawingml/2006/main" noGrp="1"/>
          </p:cNvSpPr>
          <p:nvPr/>
        </p:nvSpPr>
        <p:spPr>
          <a:xfrm xmlns:a="http://schemas.openxmlformats.org/drawingml/2006/main" rot="5400000">
            <a:off x="11088380" y="1124712"/>
            <a:ext cx="329184" cy="288036"/>
          </a:xfrm>
          <a:prstGeom xmlns:a="http://schemas.openxmlformats.org/drawingml/2006/main" prst="triangle">
            <a:avLst/>
          </a:prstGeom>
          <a:solidFill xmlns:a="http://schemas.openxmlformats.org/drawingml/2006/main">
            <a:srgbClr val="F58220"/>
          </a:solidFill>
        </p:spPr>
      </p:sp>
      <p:sp>
        <p:nvSpPr>
          <p:cNvPr id="10" name="Shape 8">
            <a:extLst xmlns:a="http://schemas.openxmlformats.org/drawingml/2006/main">
              <a:ext uri="{FF2B5EF4-FFF2-40B4-BE49-F238E27FC236}">
                <a16:creationId xmlns:a16="http://schemas.microsoft.com/office/drawing/2014/main" id="{57E87E5D-0E12-4AC3-8043-31532E6C8663}"/>
              </a:ext>
            </a:extLst>
          </p:cNvPr>
          <p:cNvSpPr>
            <a:spLocks xmlns:a="http://schemas.openxmlformats.org/drawingml/2006/main" noGrp="1"/>
          </p:cNvSpPr>
          <p:nvPr/>
        </p:nvSpPr>
        <p:spPr>
          <a:xfrm xmlns:a="http://schemas.openxmlformats.org/drawingml/2006/main" rot="5400000" flipH="1">
            <a:off x="640080" y="5875020"/>
            <a:ext cx="274320" cy="240030"/>
          </a:xfrm>
          <a:prstGeom xmlns:a="http://schemas.openxmlformats.org/drawingml/2006/main" prst="triangle">
            <a:avLst/>
          </a:prstGeom>
          <a:solidFill xmlns:a="http://schemas.openxmlformats.org/drawingml/2006/main">
            <a:srgbClr val="B9C8E8"/>
          </a:solidFill>
        </p:spPr>
      </p:sp>
      <p:sp>
        <p:nvSpPr>
          <p:cNvPr id="11" name="Shape 9">
            <a:extLst xmlns:a="http://schemas.openxmlformats.org/drawingml/2006/main">
              <a:ext uri="{FF2B5EF4-FFF2-40B4-BE49-F238E27FC236}">
                <a16:creationId xmlns:a16="http://schemas.microsoft.com/office/drawing/2014/main" id="{DBAE1EDA-30CA-4672-B74C-719DCC086F1D}"/>
              </a:ext>
            </a:extLst>
          </p:cNvPr>
          <p:cNvSpPr>
            <a:spLocks xmlns:a="http://schemas.openxmlformats.org/drawingml/2006/main" noGrp="1"/>
          </p:cNvSpPr>
          <p:nvPr/>
        </p:nvSpPr>
        <p:spPr>
          <a:xfrm xmlns:a="http://schemas.openxmlformats.org/drawingml/2006/main" rot="5400000">
            <a:off x="930859" y="5634990"/>
            <a:ext cx="274320" cy="240030"/>
          </a:xfrm>
          <a:prstGeom xmlns:a="http://schemas.openxmlformats.org/drawingml/2006/main" prst="triangle">
            <a:avLst/>
          </a:prstGeom>
          <a:solidFill xmlns:a="http://schemas.openxmlformats.org/drawingml/2006/main">
            <a:srgbClr val="DCE6F8"/>
          </a:solidFill>
        </p:spPr>
      </p:sp>
      <p:sp>
        <p:nvSpPr>
          <p:cNvPr id="12" name="Shape 10">
            <a:extLst xmlns:a="http://schemas.openxmlformats.org/drawingml/2006/main">
              <a:ext uri="{FF2B5EF4-FFF2-40B4-BE49-F238E27FC236}">
                <a16:creationId xmlns:a16="http://schemas.microsoft.com/office/drawing/2014/main" id="{19CC54CB-3599-4550-B32C-A19D69518A70}"/>
              </a:ext>
            </a:extLst>
          </p:cNvPr>
          <p:cNvSpPr>
            <a:spLocks xmlns:a="http://schemas.openxmlformats.org/drawingml/2006/main" noGrp="1"/>
          </p:cNvSpPr>
          <p:nvPr/>
        </p:nvSpPr>
        <p:spPr>
          <a:xfrm xmlns:a="http://schemas.openxmlformats.org/drawingml/2006/main" rot="5400000">
            <a:off x="930859" y="6115050"/>
            <a:ext cx="274320" cy="240030"/>
          </a:xfrm>
          <a:prstGeom xmlns:a="http://schemas.openxmlformats.org/drawingml/2006/main" prst="triangle">
            <a:avLst/>
          </a:prstGeom>
          <a:solidFill xmlns:a="http://schemas.openxmlformats.org/drawingml/2006/main">
            <a:srgbClr val="00A79D"/>
          </a:solidFill>
        </p:spPr>
      </p:sp>
      <p:sp>
        <p:nvSpPr>
          <p:cNvPr id="13" name="Shape 11">
            <a:extLst xmlns:a="http://schemas.openxmlformats.org/drawingml/2006/main">
              <a:ext uri="{FF2B5EF4-FFF2-40B4-BE49-F238E27FC236}">
                <a16:creationId xmlns:a16="http://schemas.microsoft.com/office/drawing/2014/main" id="{827B31A1-E4E3-4D5A-BFC6-6918B6CA7988}"/>
              </a:ext>
            </a:extLst>
          </p:cNvPr>
          <p:cNvSpPr>
            <a:spLocks xmlns:a="http://schemas.openxmlformats.org/drawingml/2006/main" noGrp="1"/>
          </p:cNvSpPr>
          <p:nvPr/>
        </p:nvSpPr>
        <p:spPr>
          <a:xfrm xmlns:a="http://schemas.openxmlformats.org/drawingml/2006/main" rot="5400000" flipH="1">
            <a:off x="1221638" y="5394960"/>
            <a:ext cx="274320" cy="240030"/>
          </a:xfrm>
          <a:prstGeom xmlns:a="http://schemas.openxmlformats.org/drawingml/2006/main" prst="triangle">
            <a:avLst/>
          </a:prstGeom>
          <a:solidFill xmlns:a="http://schemas.openxmlformats.org/drawingml/2006/main">
            <a:srgbClr val="29ABE2"/>
          </a:solidFill>
        </p:spPr>
      </p:sp>
      <p:sp>
        <p:nvSpPr>
          <p:cNvPr id="14" name="Shape 12">
            <a:extLst xmlns:a="http://schemas.openxmlformats.org/drawingml/2006/main">
              <a:ext uri="{FF2B5EF4-FFF2-40B4-BE49-F238E27FC236}">
                <a16:creationId xmlns:a16="http://schemas.microsoft.com/office/drawing/2014/main" id="{49BA60E6-1601-4FD4-8CBB-89F7D3169F68}"/>
              </a:ext>
            </a:extLst>
          </p:cNvPr>
          <p:cNvSpPr>
            <a:spLocks xmlns:a="http://schemas.openxmlformats.org/drawingml/2006/main" noGrp="1"/>
          </p:cNvSpPr>
          <p:nvPr/>
        </p:nvSpPr>
        <p:spPr>
          <a:xfrm xmlns:a="http://schemas.openxmlformats.org/drawingml/2006/main" rot="5400000">
            <a:off x="1221638" y="5875020"/>
            <a:ext cx="274320" cy="240030"/>
          </a:xfrm>
          <a:prstGeom xmlns:a="http://schemas.openxmlformats.org/drawingml/2006/main" prst="triangle">
            <a:avLst/>
          </a:prstGeom>
          <a:solidFill xmlns:a="http://schemas.openxmlformats.org/drawingml/2006/main">
            <a:srgbClr val="B9C8E8"/>
          </a:solidFill>
        </p:spPr>
      </p:sp>
      <p:sp>
        <p:nvSpPr>
          <p:cNvPr id="15" name="Shape 13">
            <a:extLst xmlns:a="http://schemas.openxmlformats.org/drawingml/2006/main">
              <a:ext uri="{FF2B5EF4-FFF2-40B4-BE49-F238E27FC236}">
                <a16:creationId xmlns:a16="http://schemas.microsoft.com/office/drawing/2014/main" id="{369CD463-5609-4631-AF61-CD615CAAD9A4}"/>
              </a:ext>
            </a:extLst>
          </p:cNvPr>
          <p:cNvSpPr>
            <a:spLocks xmlns:a="http://schemas.openxmlformats.org/drawingml/2006/main" noGrp="1"/>
          </p:cNvSpPr>
          <p:nvPr/>
        </p:nvSpPr>
        <p:spPr>
          <a:xfrm xmlns:a="http://schemas.openxmlformats.org/drawingml/2006/main" rot="5400000">
            <a:off x="1512418" y="5634990"/>
            <a:ext cx="274320" cy="240030"/>
          </a:xfrm>
          <a:prstGeom xmlns:a="http://schemas.openxmlformats.org/drawingml/2006/main" prst="triangle">
            <a:avLst/>
          </a:prstGeom>
          <a:solidFill xmlns:a="http://schemas.openxmlformats.org/drawingml/2006/main">
            <a:srgbClr val="DCE6F8"/>
          </a:solidFill>
        </p:spPr>
      </p:sp>
      <p:sp>
        <p:nvSpPr>
          <p:cNvPr id="16" name="Shape 14">
            <a:extLst xmlns:a="http://schemas.openxmlformats.org/drawingml/2006/main">
              <a:ext uri="{FF2B5EF4-FFF2-40B4-BE49-F238E27FC236}">
                <a16:creationId xmlns:a16="http://schemas.microsoft.com/office/drawing/2014/main" id="{905EE55D-BE74-4836-A754-6A0A58F2D469}"/>
              </a:ext>
            </a:extLst>
          </p:cNvPr>
          <p:cNvSpPr>
            <a:spLocks xmlns:a="http://schemas.openxmlformats.org/drawingml/2006/main" noGrp="1"/>
          </p:cNvSpPr>
          <p:nvPr/>
        </p:nvSpPr>
        <p:spPr>
          <a:xfrm xmlns:a="http://schemas.openxmlformats.org/drawingml/2006/main" rot="5400000" flipH="1">
            <a:off x="1512418" y="6115050"/>
            <a:ext cx="274320" cy="240030"/>
          </a:xfrm>
          <a:prstGeom xmlns:a="http://schemas.openxmlformats.org/drawingml/2006/main" prst="triangle">
            <a:avLst/>
          </a:prstGeom>
          <a:solidFill xmlns:a="http://schemas.openxmlformats.org/drawingml/2006/main">
            <a:srgbClr val="00A79D"/>
          </a:solidFill>
        </p:spPr>
      </p:sp>
      <p:sp>
        <p:nvSpPr>
          <p:cNvPr id="17" name="Shape 15">
            <a:extLst xmlns:a="http://schemas.openxmlformats.org/drawingml/2006/main">
              <a:ext uri="{FF2B5EF4-FFF2-40B4-BE49-F238E27FC236}">
                <a16:creationId xmlns:a16="http://schemas.microsoft.com/office/drawing/2014/main" id="{EC095DC4-7A4B-42F1-8EC7-1F02B21785AA}"/>
              </a:ext>
            </a:extLst>
          </p:cNvPr>
          <p:cNvSpPr>
            <a:spLocks xmlns:a="http://schemas.openxmlformats.org/drawingml/2006/main" noGrp="1"/>
          </p:cNvSpPr>
          <p:nvPr/>
        </p:nvSpPr>
        <p:spPr>
          <a:xfrm xmlns:a="http://schemas.openxmlformats.org/drawingml/2006/main" rot="5400000">
            <a:off x="1803197" y="5875020"/>
            <a:ext cx="274320" cy="240030"/>
          </a:xfrm>
          <a:prstGeom xmlns:a="http://schemas.openxmlformats.org/drawingml/2006/main" prst="triangle">
            <a:avLst/>
          </a:prstGeom>
          <a:solidFill xmlns:a="http://schemas.openxmlformats.org/drawingml/2006/main">
            <a:srgbClr val="29ABE2"/>
          </a:solidFill>
        </p:spPr>
      </p:sp>
      <p:sp>
        <p:nvSpPr>
          <p:cNvPr id="18" name="Text 16">
            <a:extLst xmlns:a="http://schemas.openxmlformats.org/drawingml/2006/main">
              <a:ext uri="{FF2B5EF4-FFF2-40B4-BE49-F238E27FC236}">
                <a16:creationId xmlns:a16="http://schemas.microsoft.com/office/drawing/2014/main" id="{96B5B61F-5F02-437C-BF33-F910FE4EAEB7}"/>
              </a:ext>
            </a:extLst>
          </p:cNvPr>
          <p:cNvSpPr>
            <a:spLocks xmlns:a="http://schemas.openxmlformats.org/drawingml/2006/main" noGrp="1"/>
          </p:cNvSpPr>
          <p:nvPr/>
        </p:nvSpPr>
        <p:spPr>
          <a:xfrm xmlns:a="http://schemas.openxmlformats.org/drawingml/2006/main">
            <a:off x="1097280" y="192024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spc="300">
                <a:solidFill>
                  <a:srgbClr val="00A79D"/>
                </a:solidFill>
                <a:latin typeface="Calibri"/>
                <a:ea typeface="Calibri"/>
                <a:cs typeface="Calibri"/>
              </a:rPr>
              <a:t>MODULE 2 TAKEAWAY</a:t>
            </a:r>
            <a:endParaRPr sz="1300"/>
          </a:p>
        </p:txBody>
      </p:sp>
      <p:sp>
        <p:nvSpPr>
          <p:cNvPr id="19" name="Text 17">
            <a:extLst xmlns:a="http://schemas.openxmlformats.org/drawingml/2006/main">
              <a:ext uri="{FF2B5EF4-FFF2-40B4-BE49-F238E27FC236}">
                <a16:creationId xmlns:a16="http://schemas.microsoft.com/office/drawing/2014/main" id="{79F4F191-FFD3-4358-B412-B83F3DBBDA96}"/>
              </a:ext>
            </a:extLst>
          </p:cNvPr>
          <p:cNvSpPr>
            <a:spLocks xmlns:a="http://schemas.openxmlformats.org/drawingml/2006/main" noGrp="1"/>
          </p:cNvSpPr>
          <p:nvPr/>
        </p:nvSpPr>
        <p:spPr>
          <a:xfrm xmlns:a="http://schemas.openxmlformats.org/drawingml/2006/main">
            <a:off x="1097280" y="2377440"/>
            <a:ext cx="9994392" cy="1737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3000" b="1">
                <a:solidFill>
                  <a:srgbClr val="1D2A5C"/>
                </a:solidFill>
                <a:latin typeface="Calibri"/>
                <a:ea typeface="Calibri"/>
                <a:cs typeface="Calibri"/>
              </a:rPr>
              <a:t>The API is the model's contract with the world — validate in, validate out, version deliberately.</a:t>
            </a:r>
            <a:endParaRPr sz="3000"/>
          </a:p>
        </p:txBody>
      </p:sp>
      <p:sp>
        <p:nvSpPr>
          <p:cNvPr id="20" name="Text 18">
            <a:extLst xmlns:a="http://schemas.openxmlformats.org/drawingml/2006/main">
              <a:ext uri="{FF2B5EF4-FFF2-40B4-BE49-F238E27FC236}">
                <a16:creationId xmlns:a16="http://schemas.microsoft.com/office/drawing/2014/main" id="{4A8B9864-7329-443F-96BF-9E6508DD5F34}"/>
              </a:ext>
            </a:extLst>
          </p:cNvPr>
          <p:cNvSpPr>
            <a:spLocks xmlns:a="http://schemas.openxmlformats.org/drawingml/2006/main" noGrp="1"/>
          </p:cNvSpPr>
          <p:nvPr/>
        </p:nvSpPr>
        <p:spPr>
          <a:xfrm xmlns:a="http://schemas.openxmlformats.org/drawingml/2006/main">
            <a:off x="2011680" y="4251960"/>
            <a:ext cx="8165592"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350">
                <a:solidFill>
                  <a:srgbClr val="5F6B7A"/>
                </a:solidFill>
                <a:latin typeface="Calibri"/>
                <a:ea typeface="Calibri"/>
                <a:cs typeface="Calibri"/>
              </a:rPr>
              <a:t>Strict schemas turn garbage into 422s instead of incidents. Readiness turns startup into a non-event. One error envelope keeps every consumer honest.</a:t>
            </a:r>
            <a:endParaRPr sz="1350"/>
          </a:p>
        </p:txBody>
      </p:sp>
      <p:pic>
        <p:nvPicPr>
          <p:cNvPr id="44" name="Image 0"/>
          <p:cNvPicPr>
            <a:picLocks xmlns:a="http://schemas.openxmlformats.org/drawingml/2006/main" noChangeAspect="1"/>
          </p:cNvPicPr>
          <p:nvPr/>
        </p:nvPicPr>
        <p:blipFill>
          <a:blip xmlns:r="http://schemas.openxmlformats.org/officeDocument/2006/relationships" xmlns:a="http://schemas.openxmlformats.org/drawingml/2006/main" r:embed="R3e8e6faad45d4f0e"/>
          <a:stretch xmlns:a="http://schemas.openxmlformats.org/drawingml/2006/main">
            <a:fillRect l="0" t="0" r="0" b="0"/>
          </a:stretch>
        </p:blipFill>
        <p:spPr>
          <a:xfrm xmlns:a="http://schemas.openxmlformats.org/drawingml/2006/main">
            <a:off x="5559552" y="6172200"/>
            <a:ext cx="1078992" cy="265176"/>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6F0C7808-113A-4577-BAF6-A3D10846BA19}"/>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 MODULE 2   </a:t>
            </a:r>
            <a:r>
              <a:rPr sz="850" spc="100">
                <a:solidFill>
                  <a:srgbClr val="8A96A6"/>
                </a:solidFill>
                <a:latin typeface="Calibri"/>
                <a:ea typeface="Calibri"/>
                <a:cs typeface="Calibri"/>
              </a:rPr>
              <a:t>SDA-AIE-113 · Software Engineering Practices for AI Systems</a:t>
            </a:r>
            <a:endParaRPr sz="850"/>
          </a:p>
        </p:txBody>
      </p:sp>
      <p:sp>
        <p:nvSpPr>
          <p:cNvPr id="23" name="Text 20">
            <a:extLst xmlns:a="http://schemas.openxmlformats.org/drawingml/2006/main">
              <a:ext uri="{FF2B5EF4-FFF2-40B4-BE49-F238E27FC236}">
                <a16:creationId xmlns:a16="http://schemas.microsoft.com/office/drawing/2014/main" id="{FB91EA6F-C952-45F9-8DF4-C2DB5371D027}"/>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55</a:t>
            </a:r>
            <a:endParaRPr sz="850"/>
          </a:p>
        </p:txBody>
      </p:sp>
    </p:spTree>
    <p:extLst>
      <p:ext uri="{BB962C8B-B14F-4D97-AF65-F5344CB8AC3E}">
        <p14:creationId xmlns:p14="http://schemas.microsoft.com/office/powerpoint/2010/main" val="365198475"/>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6B02239-BB53-499E-8D1D-579BED81DB86}"/>
              </a:ext>
            </a:extLst>
          </p:cNvPr>
          <p:cNvSpPr>
            <a:spLocks xmlns:a="http://schemas.openxmlformats.org/drawingml/2006/main" noGrp="1"/>
          </p:cNvSpPr>
          <p:nvPr/>
        </p:nvSpPr>
        <p:spPr>
          <a:xfrm xmlns:a="http://schemas.openxmlformats.org/drawingml/2006/main" rot="5400000" flipH="1">
            <a:off x="9692640" y="1124712"/>
            <a:ext cx="329184" cy="288036"/>
          </a:xfrm>
          <a:prstGeom xmlns:a="http://schemas.openxmlformats.org/drawingml/2006/main" prst="triangle">
            <a:avLst/>
          </a:prstGeom>
          <a:solidFill xmlns:a="http://schemas.openxmlformats.org/drawingml/2006/main">
            <a:srgbClr val="00A79D"/>
          </a:solidFill>
        </p:spPr>
      </p:sp>
      <p:sp>
        <p:nvSpPr>
          <p:cNvPr id="3" name="Shape 1">
            <a:extLst xmlns:a="http://schemas.openxmlformats.org/drawingml/2006/main">
              <a:ext uri="{FF2B5EF4-FFF2-40B4-BE49-F238E27FC236}">
                <a16:creationId xmlns:a16="http://schemas.microsoft.com/office/drawing/2014/main" id="{656C6C77-5334-4EDD-AEBC-0F73D663B00B}"/>
              </a:ext>
            </a:extLst>
          </p:cNvPr>
          <p:cNvSpPr>
            <a:spLocks xmlns:a="http://schemas.openxmlformats.org/drawingml/2006/main" noGrp="1"/>
          </p:cNvSpPr>
          <p:nvPr/>
        </p:nvSpPr>
        <p:spPr>
          <a:xfrm xmlns:a="http://schemas.openxmlformats.org/drawingml/2006/main" rot="5400000">
            <a:off x="10041575" y="836676"/>
            <a:ext cx="329184" cy="288036"/>
          </a:xfrm>
          <a:prstGeom xmlns:a="http://schemas.openxmlformats.org/drawingml/2006/main" prst="triangle">
            <a:avLst/>
          </a:prstGeom>
          <a:solidFill xmlns:a="http://schemas.openxmlformats.org/drawingml/2006/main">
            <a:srgbClr val="29ABE2"/>
          </a:solidFill>
        </p:spPr>
      </p:sp>
      <p:sp>
        <p:nvSpPr>
          <p:cNvPr id="4" name="Shape 2">
            <a:extLst xmlns:a="http://schemas.openxmlformats.org/drawingml/2006/main">
              <a:ext uri="{FF2B5EF4-FFF2-40B4-BE49-F238E27FC236}">
                <a16:creationId xmlns:a16="http://schemas.microsoft.com/office/drawing/2014/main" id="{9ECEC87B-35D2-4DF3-A709-471585685CC4}"/>
              </a:ext>
            </a:extLst>
          </p:cNvPr>
          <p:cNvSpPr>
            <a:spLocks xmlns:a="http://schemas.openxmlformats.org/drawingml/2006/main" noGrp="1"/>
          </p:cNvSpPr>
          <p:nvPr/>
        </p:nvSpPr>
        <p:spPr>
          <a:xfrm xmlns:a="http://schemas.openxmlformats.org/drawingml/2006/main" rot="5400000">
            <a:off x="10041575" y="1412748"/>
            <a:ext cx="329184" cy="288036"/>
          </a:xfrm>
          <a:prstGeom xmlns:a="http://schemas.openxmlformats.org/drawingml/2006/main" prst="triangle">
            <a:avLst/>
          </a:prstGeom>
          <a:solidFill xmlns:a="http://schemas.openxmlformats.org/drawingml/2006/main">
            <a:srgbClr val="F58220"/>
          </a:solidFill>
        </p:spPr>
      </p:sp>
      <p:sp>
        <p:nvSpPr>
          <p:cNvPr id="5" name="Shape 3">
            <a:extLst xmlns:a="http://schemas.openxmlformats.org/drawingml/2006/main">
              <a:ext uri="{FF2B5EF4-FFF2-40B4-BE49-F238E27FC236}">
                <a16:creationId xmlns:a16="http://schemas.microsoft.com/office/drawing/2014/main" id="{0DB6CEDD-67AE-4BE1-956B-913B20A8D100}"/>
              </a:ext>
            </a:extLst>
          </p:cNvPr>
          <p:cNvSpPr>
            <a:spLocks xmlns:a="http://schemas.openxmlformats.org/drawingml/2006/main" noGrp="1"/>
          </p:cNvSpPr>
          <p:nvPr/>
        </p:nvSpPr>
        <p:spPr>
          <a:xfrm xmlns:a="http://schemas.openxmlformats.org/drawingml/2006/main" rot="5400000" flipH="1">
            <a:off x="10390510" y="548640"/>
            <a:ext cx="329184" cy="288036"/>
          </a:xfrm>
          <a:prstGeom xmlns:a="http://schemas.openxmlformats.org/drawingml/2006/main" prst="triangle">
            <a:avLst/>
          </a:prstGeom>
          <a:solidFill xmlns:a="http://schemas.openxmlformats.org/drawingml/2006/main">
            <a:srgbClr val="8DC63F"/>
          </a:solidFill>
        </p:spPr>
      </p:sp>
      <p:sp>
        <p:nvSpPr>
          <p:cNvPr id="6" name="Shape 4">
            <a:extLst xmlns:a="http://schemas.openxmlformats.org/drawingml/2006/main">
              <a:ext uri="{FF2B5EF4-FFF2-40B4-BE49-F238E27FC236}">
                <a16:creationId xmlns:a16="http://schemas.microsoft.com/office/drawing/2014/main" id="{B03C806A-5979-4B90-AECC-3474A50C7D1F}"/>
              </a:ext>
            </a:extLst>
          </p:cNvPr>
          <p:cNvSpPr>
            <a:spLocks xmlns:a="http://schemas.openxmlformats.org/drawingml/2006/main" noGrp="1"/>
          </p:cNvSpPr>
          <p:nvPr/>
        </p:nvSpPr>
        <p:spPr>
          <a:xfrm xmlns:a="http://schemas.openxmlformats.org/drawingml/2006/main" rot="5400000">
            <a:off x="10390510" y="1124712"/>
            <a:ext cx="329184" cy="288036"/>
          </a:xfrm>
          <a:prstGeom xmlns:a="http://schemas.openxmlformats.org/drawingml/2006/main" prst="triangle">
            <a:avLst/>
          </a:prstGeom>
          <a:solidFill xmlns:a="http://schemas.openxmlformats.org/drawingml/2006/main">
            <a:srgbClr val="B9C8E8"/>
          </a:solidFill>
        </p:spPr>
      </p:sp>
      <p:sp>
        <p:nvSpPr>
          <p:cNvPr id="7" name="Shape 5">
            <a:extLst xmlns:a="http://schemas.openxmlformats.org/drawingml/2006/main">
              <a:ext uri="{FF2B5EF4-FFF2-40B4-BE49-F238E27FC236}">
                <a16:creationId xmlns:a16="http://schemas.microsoft.com/office/drawing/2014/main" id="{B2FEFEDC-95AC-40B5-9895-78721394958C}"/>
              </a:ext>
            </a:extLst>
          </p:cNvPr>
          <p:cNvSpPr>
            <a:spLocks xmlns:a="http://schemas.openxmlformats.org/drawingml/2006/main" noGrp="1"/>
          </p:cNvSpPr>
          <p:nvPr/>
        </p:nvSpPr>
        <p:spPr>
          <a:xfrm xmlns:a="http://schemas.openxmlformats.org/drawingml/2006/main" rot="5400000">
            <a:off x="10739445" y="836676"/>
            <a:ext cx="329184" cy="288036"/>
          </a:xfrm>
          <a:prstGeom xmlns:a="http://schemas.openxmlformats.org/drawingml/2006/main" prst="triangle">
            <a:avLst/>
          </a:prstGeom>
          <a:solidFill xmlns:a="http://schemas.openxmlformats.org/drawingml/2006/main">
            <a:srgbClr val="00A79D"/>
          </a:solidFill>
        </p:spPr>
      </p:sp>
      <p:sp>
        <p:nvSpPr>
          <p:cNvPr id="8" name="Shape 6">
            <a:extLst xmlns:a="http://schemas.openxmlformats.org/drawingml/2006/main">
              <a:ext uri="{FF2B5EF4-FFF2-40B4-BE49-F238E27FC236}">
                <a16:creationId xmlns:a16="http://schemas.microsoft.com/office/drawing/2014/main" id="{4875A4BF-860E-4CA5-BAB2-7A8E7D8FFDC0}"/>
              </a:ext>
            </a:extLst>
          </p:cNvPr>
          <p:cNvSpPr>
            <a:spLocks xmlns:a="http://schemas.openxmlformats.org/drawingml/2006/main" noGrp="1"/>
          </p:cNvSpPr>
          <p:nvPr/>
        </p:nvSpPr>
        <p:spPr>
          <a:xfrm xmlns:a="http://schemas.openxmlformats.org/drawingml/2006/main" rot="5400000" flipH="1">
            <a:off x="10739445" y="1412748"/>
            <a:ext cx="329184" cy="288036"/>
          </a:xfrm>
          <a:prstGeom xmlns:a="http://schemas.openxmlformats.org/drawingml/2006/main" prst="triangle">
            <a:avLst/>
          </a:prstGeom>
          <a:solidFill xmlns:a="http://schemas.openxmlformats.org/drawingml/2006/main">
            <a:srgbClr val="29ABE2"/>
          </a:solidFill>
        </p:spPr>
      </p:sp>
      <p:sp>
        <p:nvSpPr>
          <p:cNvPr id="9" name="Shape 7">
            <a:extLst xmlns:a="http://schemas.openxmlformats.org/drawingml/2006/main">
              <a:ext uri="{FF2B5EF4-FFF2-40B4-BE49-F238E27FC236}">
                <a16:creationId xmlns:a16="http://schemas.microsoft.com/office/drawing/2014/main" id="{9BD9AA28-6F5C-4D80-A46F-2FD5643173A9}"/>
              </a:ext>
            </a:extLst>
          </p:cNvPr>
          <p:cNvSpPr>
            <a:spLocks xmlns:a="http://schemas.openxmlformats.org/drawingml/2006/main" noGrp="1"/>
          </p:cNvSpPr>
          <p:nvPr/>
        </p:nvSpPr>
        <p:spPr>
          <a:xfrm xmlns:a="http://schemas.openxmlformats.org/drawingml/2006/main" rot="5400000">
            <a:off x="11088380" y="1124712"/>
            <a:ext cx="329184" cy="288036"/>
          </a:xfrm>
          <a:prstGeom xmlns:a="http://schemas.openxmlformats.org/drawingml/2006/main" prst="triangle">
            <a:avLst/>
          </a:prstGeom>
          <a:solidFill xmlns:a="http://schemas.openxmlformats.org/drawingml/2006/main">
            <a:srgbClr val="F58220"/>
          </a:solidFill>
        </p:spPr>
      </p:sp>
      <p:sp>
        <p:nvSpPr>
          <p:cNvPr id="10" name="Shape 8">
            <a:extLst xmlns:a="http://schemas.openxmlformats.org/drawingml/2006/main">
              <a:ext uri="{FF2B5EF4-FFF2-40B4-BE49-F238E27FC236}">
                <a16:creationId xmlns:a16="http://schemas.microsoft.com/office/drawing/2014/main" id="{F6F41EC1-BD63-4E52-886A-0D364BECAC61}"/>
              </a:ext>
            </a:extLst>
          </p:cNvPr>
          <p:cNvSpPr>
            <a:spLocks xmlns:a="http://schemas.openxmlformats.org/drawingml/2006/main" noGrp="1"/>
          </p:cNvSpPr>
          <p:nvPr/>
        </p:nvSpPr>
        <p:spPr>
          <a:xfrm xmlns:a="http://schemas.openxmlformats.org/drawingml/2006/main" rot="5400000" flipH="1">
            <a:off x="640080" y="5875020"/>
            <a:ext cx="274320" cy="240030"/>
          </a:xfrm>
          <a:prstGeom xmlns:a="http://schemas.openxmlformats.org/drawingml/2006/main" prst="triangle">
            <a:avLst/>
          </a:prstGeom>
          <a:solidFill xmlns:a="http://schemas.openxmlformats.org/drawingml/2006/main">
            <a:srgbClr val="B9C8E8"/>
          </a:solidFill>
        </p:spPr>
      </p:sp>
      <p:sp>
        <p:nvSpPr>
          <p:cNvPr id="11" name="Shape 9">
            <a:extLst xmlns:a="http://schemas.openxmlformats.org/drawingml/2006/main">
              <a:ext uri="{FF2B5EF4-FFF2-40B4-BE49-F238E27FC236}">
                <a16:creationId xmlns:a16="http://schemas.microsoft.com/office/drawing/2014/main" id="{F19FE97A-8B1E-47BC-B80B-1ACDD17B9EB3}"/>
              </a:ext>
            </a:extLst>
          </p:cNvPr>
          <p:cNvSpPr>
            <a:spLocks xmlns:a="http://schemas.openxmlformats.org/drawingml/2006/main" noGrp="1"/>
          </p:cNvSpPr>
          <p:nvPr/>
        </p:nvSpPr>
        <p:spPr>
          <a:xfrm xmlns:a="http://schemas.openxmlformats.org/drawingml/2006/main" rot="5400000">
            <a:off x="930859" y="5634990"/>
            <a:ext cx="274320" cy="240030"/>
          </a:xfrm>
          <a:prstGeom xmlns:a="http://schemas.openxmlformats.org/drawingml/2006/main" prst="triangle">
            <a:avLst/>
          </a:prstGeom>
          <a:solidFill xmlns:a="http://schemas.openxmlformats.org/drawingml/2006/main">
            <a:srgbClr val="DCE6F8"/>
          </a:solidFill>
        </p:spPr>
      </p:sp>
      <p:sp>
        <p:nvSpPr>
          <p:cNvPr id="12" name="Shape 10">
            <a:extLst xmlns:a="http://schemas.openxmlformats.org/drawingml/2006/main">
              <a:ext uri="{FF2B5EF4-FFF2-40B4-BE49-F238E27FC236}">
                <a16:creationId xmlns:a16="http://schemas.microsoft.com/office/drawing/2014/main" id="{FFEE161F-EB08-4EC0-B081-6DC755E19EA7}"/>
              </a:ext>
            </a:extLst>
          </p:cNvPr>
          <p:cNvSpPr>
            <a:spLocks xmlns:a="http://schemas.openxmlformats.org/drawingml/2006/main" noGrp="1"/>
          </p:cNvSpPr>
          <p:nvPr/>
        </p:nvSpPr>
        <p:spPr>
          <a:xfrm xmlns:a="http://schemas.openxmlformats.org/drawingml/2006/main" rot="5400000">
            <a:off x="930859" y="6115050"/>
            <a:ext cx="274320" cy="240030"/>
          </a:xfrm>
          <a:prstGeom xmlns:a="http://schemas.openxmlformats.org/drawingml/2006/main" prst="triangle">
            <a:avLst/>
          </a:prstGeom>
          <a:solidFill xmlns:a="http://schemas.openxmlformats.org/drawingml/2006/main">
            <a:srgbClr val="00A79D"/>
          </a:solidFill>
        </p:spPr>
      </p:sp>
      <p:sp>
        <p:nvSpPr>
          <p:cNvPr id="13" name="Shape 11">
            <a:extLst xmlns:a="http://schemas.openxmlformats.org/drawingml/2006/main">
              <a:ext uri="{FF2B5EF4-FFF2-40B4-BE49-F238E27FC236}">
                <a16:creationId xmlns:a16="http://schemas.microsoft.com/office/drawing/2014/main" id="{DE1213E5-5B48-491C-9039-C704B76F9ECD}"/>
              </a:ext>
            </a:extLst>
          </p:cNvPr>
          <p:cNvSpPr>
            <a:spLocks xmlns:a="http://schemas.openxmlformats.org/drawingml/2006/main" noGrp="1"/>
          </p:cNvSpPr>
          <p:nvPr/>
        </p:nvSpPr>
        <p:spPr>
          <a:xfrm xmlns:a="http://schemas.openxmlformats.org/drawingml/2006/main" rot="5400000" flipH="1">
            <a:off x="1221638" y="5394960"/>
            <a:ext cx="274320" cy="240030"/>
          </a:xfrm>
          <a:prstGeom xmlns:a="http://schemas.openxmlformats.org/drawingml/2006/main" prst="triangle">
            <a:avLst/>
          </a:prstGeom>
          <a:solidFill xmlns:a="http://schemas.openxmlformats.org/drawingml/2006/main">
            <a:srgbClr val="29ABE2"/>
          </a:solidFill>
        </p:spPr>
      </p:sp>
      <p:sp>
        <p:nvSpPr>
          <p:cNvPr id="14" name="Shape 12">
            <a:extLst xmlns:a="http://schemas.openxmlformats.org/drawingml/2006/main">
              <a:ext uri="{FF2B5EF4-FFF2-40B4-BE49-F238E27FC236}">
                <a16:creationId xmlns:a16="http://schemas.microsoft.com/office/drawing/2014/main" id="{4201D111-9785-40F5-B82F-ACE4A6005441}"/>
              </a:ext>
            </a:extLst>
          </p:cNvPr>
          <p:cNvSpPr>
            <a:spLocks xmlns:a="http://schemas.openxmlformats.org/drawingml/2006/main" noGrp="1"/>
          </p:cNvSpPr>
          <p:nvPr/>
        </p:nvSpPr>
        <p:spPr>
          <a:xfrm xmlns:a="http://schemas.openxmlformats.org/drawingml/2006/main" rot="5400000">
            <a:off x="1221638" y="5875020"/>
            <a:ext cx="274320" cy="240030"/>
          </a:xfrm>
          <a:prstGeom xmlns:a="http://schemas.openxmlformats.org/drawingml/2006/main" prst="triangle">
            <a:avLst/>
          </a:prstGeom>
          <a:solidFill xmlns:a="http://schemas.openxmlformats.org/drawingml/2006/main">
            <a:srgbClr val="B9C8E8"/>
          </a:solidFill>
        </p:spPr>
      </p:sp>
      <p:sp>
        <p:nvSpPr>
          <p:cNvPr id="15" name="Shape 13">
            <a:extLst xmlns:a="http://schemas.openxmlformats.org/drawingml/2006/main">
              <a:ext uri="{FF2B5EF4-FFF2-40B4-BE49-F238E27FC236}">
                <a16:creationId xmlns:a16="http://schemas.microsoft.com/office/drawing/2014/main" id="{7C00955F-D587-431F-A3F3-DE270366FFA2}"/>
              </a:ext>
            </a:extLst>
          </p:cNvPr>
          <p:cNvSpPr>
            <a:spLocks xmlns:a="http://schemas.openxmlformats.org/drawingml/2006/main" noGrp="1"/>
          </p:cNvSpPr>
          <p:nvPr/>
        </p:nvSpPr>
        <p:spPr>
          <a:xfrm xmlns:a="http://schemas.openxmlformats.org/drawingml/2006/main" rot="5400000">
            <a:off x="1512418" y="5634990"/>
            <a:ext cx="274320" cy="240030"/>
          </a:xfrm>
          <a:prstGeom xmlns:a="http://schemas.openxmlformats.org/drawingml/2006/main" prst="triangle">
            <a:avLst/>
          </a:prstGeom>
          <a:solidFill xmlns:a="http://schemas.openxmlformats.org/drawingml/2006/main">
            <a:srgbClr val="DCE6F8"/>
          </a:solidFill>
        </p:spPr>
      </p:sp>
      <p:sp>
        <p:nvSpPr>
          <p:cNvPr id="16" name="Shape 14">
            <a:extLst xmlns:a="http://schemas.openxmlformats.org/drawingml/2006/main">
              <a:ext uri="{FF2B5EF4-FFF2-40B4-BE49-F238E27FC236}">
                <a16:creationId xmlns:a16="http://schemas.microsoft.com/office/drawing/2014/main" id="{20EA2C35-8C57-4A5F-99A4-BCBE6BE9BC4B}"/>
              </a:ext>
            </a:extLst>
          </p:cNvPr>
          <p:cNvSpPr>
            <a:spLocks xmlns:a="http://schemas.openxmlformats.org/drawingml/2006/main" noGrp="1"/>
          </p:cNvSpPr>
          <p:nvPr/>
        </p:nvSpPr>
        <p:spPr>
          <a:xfrm xmlns:a="http://schemas.openxmlformats.org/drawingml/2006/main" rot="5400000" flipH="1">
            <a:off x="1512418" y="6115050"/>
            <a:ext cx="274320" cy="240030"/>
          </a:xfrm>
          <a:prstGeom xmlns:a="http://schemas.openxmlformats.org/drawingml/2006/main" prst="triangle">
            <a:avLst/>
          </a:prstGeom>
          <a:solidFill xmlns:a="http://schemas.openxmlformats.org/drawingml/2006/main">
            <a:srgbClr val="00A79D"/>
          </a:solidFill>
        </p:spPr>
      </p:sp>
      <p:sp>
        <p:nvSpPr>
          <p:cNvPr id="17" name="Shape 15">
            <a:extLst xmlns:a="http://schemas.openxmlformats.org/drawingml/2006/main">
              <a:ext uri="{FF2B5EF4-FFF2-40B4-BE49-F238E27FC236}">
                <a16:creationId xmlns:a16="http://schemas.microsoft.com/office/drawing/2014/main" id="{CBE3468E-0DE8-42FE-8FC2-923E37B3C3BB}"/>
              </a:ext>
            </a:extLst>
          </p:cNvPr>
          <p:cNvSpPr>
            <a:spLocks xmlns:a="http://schemas.openxmlformats.org/drawingml/2006/main" noGrp="1"/>
          </p:cNvSpPr>
          <p:nvPr/>
        </p:nvSpPr>
        <p:spPr>
          <a:xfrm xmlns:a="http://schemas.openxmlformats.org/drawingml/2006/main" rot="5400000">
            <a:off x="1803197" y="5875020"/>
            <a:ext cx="274320" cy="240030"/>
          </a:xfrm>
          <a:prstGeom xmlns:a="http://schemas.openxmlformats.org/drawingml/2006/main" prst="triangle">
            <a:avLst/>
          </a:prstGeom>
          <a:solidFill xmlns:a="http://schemas.openxmlformats.org/drawingml/2006/main">
            <a:srgbClr val="29ABE2"/>
          </a:solidFill>
        </p:spPr>
      </p:sp>
      <p:sp>
        <p:nvSpPr>
          <p:cNvPr id="18" name="Text 16">
            <a:extLst xmlns:a="http://schemas.openxmlformats.org/drawingml/2006/main">
              <a:ext uri="{FF2B5EF4-FFF2-40B4-BE49-F238E27FC236}">
                <a16:creationId xmlns:a16="http://schemas.microsoft.com/office/drawing/2014/main" id="{E0FB57EF-9B47-452F-A5E5-F08EC55D1F53}"/>
              </a:ext>
            </a:extLst>
          </p:cNvPr>
          <p:cNvSpPr>
            <a:spLocks xmlns:a="http://schemas.openxmlformats.org/drawingml/2006/main" noGrp="1"/>
          </p:cNvSpPr>
          <p:nvPr/>
        </p:nvSpPr>
        <p:spPr>
          <a:xfrm xmlns:a="http://schemas.openxmlformats.org/drawingml/2006/main">
            <a:off x="1097280" y="192024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spc="300">
                <a:solidFill>
                  <a:srgbClr val="00A79D"/>
                </a:solidFill>
                <a:latin typeface="Calibri"/>
                <a:ea typeface="Calibri"/>
                <a:cs typeface="Calibri"/>
              </a:rPr>
              <a:t>END OF DAY 1</a:t>
            </a:r>
            <a:endParaRPr sz="1300"/>
          </a:p>
        </p:txBody>
      </p:sp>
      <p:sp>
        <p:nvSpPr>
          <p:cNvPr id="19" name="Text 17">
            <a:extLst xmlns:a="http://schemas.openxmlformats.org/drawingml/2006/main">
              <a:ext uri="{FF2B5EF4-FFF2-40B4-BE49-F238E27FC236}">
                <a16:creationId xmlns:a16="http://schemas.microsoft.com/office/drawing/2014/main" id="{68FBD2B0-FEA0-499D-8052-861B5F921633}"/>
              </a:ext>
            </a:extLst>
          </p:cNvPr>
          <p:cNvSpPr>
            <a:spLocks xmlns:a="http://schemas.openxmlformats.org/drawingml/2006/main" noGrp="1"/>
          </p:cNvSpPr>
          <p:nvPr/>
        </p:nvSpPr>
        <p:spPr>
          <a:xfrm xmlns:a="http://schemas.openxmlformats.org/drawingml/2006/main">
            <a:off x="1097280" y="2377440"/>
            <a:ext cx="9994392" cy="1737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3000" b="1">
                <a:solidFill>
                  <a:srgbClr val="1D2A5C"/>
                </a:solidFill>
                <a:latin typeface="Calibri"/>
                <a:ea typeface="Calibri"/>
                <a:cs typeface="Calibri"/>
              </a:rPr>
              <a:t>You now have a clean-architecture skeleton and a working, validated prediction API.</a:t>
            </a:r>
            <a:endParaRPr sz="3000"/>
          </a:p>
        </p:txBody>
      </p:sp>
      <p:sp>
        <p:nvSpPr>
          <p:cNvPr id="20" name="Text 18">
            <a:extLst xmlns:a="http://schemas.openxmlformats.org/drawingml/2006/main">
              <a:ext uri="{FF2B5EF4-FFF2-40B4-BE49-F238E27FC236}">
                <a16:creationId xmlns:a16="http://schemas.microsoft.com/office/drawing/2014/main" id="{3199826C-E1B4-430B-A170-6410BDB8A912}"/>
              </a:ext>
            </a:extLst>
          </p:cNvPr>
          <p:cNvSpPr>
            <a:spLocks xmlns:a="http://schemas.openxmlformats.org/drawingml/2006/main" noGrp="1"/>
          </p:cNvSpPr>
          <p:nvPr/>
        </p:nvSpPr>
        <p:spPr>
          <a:xfrm xmlns:a="http://schemas.openxmlformats.org/drawingml/2006/main">
            <a:off x="2011680" y="4251960"/>
            <a:ext cx="8165592"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350">
                <a:solidFill>
                  <a:srgbClr val="5F6B7A"/>
                </a:solidFill>
                <a:latin typeface="Calibri"/>
                <a:ea typeface="Calibri"/>
                <a:cs typeface="Calibri"/>
              </a:rPr>
              <a:t>Same fraud-service, two faces: a batch scorer and /v1/predict, both importing one FraudScorer. Tomorrow it gets a container and a test suite; Lab 2 Part B opens Day 2.</a:t>
            </a:r>
            <a:endParaRPr sz="1350"/>
          </a:p>
        </p:txBody>
      </p:sp>
      <p:pic>
        <p:nvPicPr>
          <p:cNvPr id="44" name="Image 0"/>
          <p:cNvPicPr>
            <a:picLocks xmlns:a="http://schemas.openxmlformats.org/drawingml/2006/main" noChangeAspect="1"/>
          </p:cNvPicPr>
          <p:nvPr/>
        </p:nvPicPr>
        <p:blipFill>
          <a:blip xmlns:r="http://schemas.openxmlformats.org/officeDocument/2006/relationships" xmlns:a="http://schemas.openxmlformats.org/drawingml/2006/main" r:embed="R336c64a270784370"/>
          <a:stretch xmlns:a="http://schemas.openxmlformats.org/drawingml/2006/main">
            <a:fillRect l="0" t="0" r="0" b="0"/>
          </a:stretch>
        </p:blipFill>
        <p:spPr>
          <a:xfrm xmlns:a="http://schemas.openxmlformats.org/drawingml/2006/main">
            <a:off x="5559552" y="6172200"/>
            <a:ext cx="1078992" cy="265176"/>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26935528-7D5D-4904-8771-8860CB2FCB19}"/>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1   </a:t>
            </a:r>
            <a:r>
              <a:rPr sz="850" spc="100">
                <a:solidFill>
                  <a:srgbClr val="8A96A6"/>
                </a:solidFill>
                <a:latin typeface="Calibri"/>
                <a:ea typeface="Calibri"/>
                <a:cs typeface="Calibri"/>
              </a:rPr>
              <a:t>SDA-AIE-113 · Software Engineering Practices for AI Systems</a:t>
            </a:r>
            <a:endParaRPr sz="850"/>
          </a:p>
        </p:txBody>
      </p:sp>
      <p:sp>
        <p:nvSpPr>
          <p:cNvPr id="23" name="Text 20">
            <a:extLst xmlns:a="http://schemas.openxmlformats.org/drawingml/2006/main">
              <a:ext uri="{FF2B5EF4-FFF2-40B4-BE49-F238E27FC236}">
                <a16:creationId xmlns:a16="http://schemas.microsoft.com/office/drawing/2014/main" id="{70DD0DBC-424D-4933-97F4-B564958E124E}"/>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56</a:t>
            </a:r>
            <a:endParaRPr sz="850"/>
          </a:p>
        </p:txBody>
      </p:sp>
    </p:spTree>
    <p:extLst>
      <p:ext uri="{BB962C8B-B14F-4D97-AF65-F5344CB8AC3E}">
        <p14:creationId xmlns:p14="http://schemas.microsoft.com/office/powerpoint/2010/main" val="1778514403"/>
      </p:ext>
    </p:extLst>
  </p:cSld>
</p:sld>
</file>

<file path=ppt/slides/slide57.xml><?xml version="1.0" encoding="utf-8"?>
<p:sld xmlns:p="http://schemas.openxmlformats.org/presentationml/2006/main">
  <p:cSld>
    <p:bg>
      <p:bgPr>
        <a:solidFill xmlns:a="http://schemas.openxmlformats.org/drawingml/2006/main">
          <a:srgbClr val="1D2A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838FEC5-55DA-422A-84B4-C42C651A330E}"/>
              </a:ext>
            </a:extLst>
          </p:cNvPr>
          <p:cNvSpPr>
            <a:spLocks xmlns:a="http://schemas.openxmlformats.org/drawingml/2006/main" noGrp="1"/>
          </p:cNvSpPr>
          <p:nvPr/>
        </p:nvSpPr>
        <p:spPr>
          <a:xfrm xmlns:a="http://schemas.openxmlformats.org/drawingml/2006/main" rot="5400000" flipH="1">
            <a:off x="9235440" y="1298448"/>
            <a:ext cx="402336" cy="352044"/>
          </a:xfrm>
          <a:prstGeom xmlns:a="http://schemas.openxmlformats.org/drawingml/2006/main" prst="triangle">
            <a:avLst/>
          </a:prstGeom>
          <a:solidFill xmlns:a="http://schemas.openxmlformats.org/drawingml/2006/main">
            <a:srgbClr val="00A79D"/>
          </a:solidFill>
        </p:spPr>
      </p:sp>
      <p:sp>
        <p:nvSpPr>
          <p:cNvPr id="3" name="Shape 1">
            <a:extLst xmlns:a="http://schemas.openxmlformats.org/drawingml/2006/main">
              <a:ext uri="{FF2B5EF4-FFF2-40B4-BE49-F238E27FC236}">
                <a16:creationId xmlns:a16="http://schemas.microsoft.com/office/drawing/2014/main" id="{61BAA4F3-7984-4700-8F0F-9A90AEEA32ED}"/>
              </a:ext>
            </a:extLst>
          </p:cNvPr>
          <p:cNvSpPr>
            <a:spLocks xmlns:a="http://schemas.openxmlformats.org/drawingml/2006/main" noGrp="1"/>
          </p:cNvSpPr>
          <p:nvPr/>
        </p:nvSpPr>
        <p:spPr>
          <a:xfrm xmlns:a="http://schemas.openxmlformats.org/drawingml/2006/main" rot="5400000">
            <a:off x="9661916" y="946404"/>
            <a:ext cx="402336" cy="352044"/>
          </a:xfrm>
          <a:prstGeom xmlns:a="http://schemas.openxmlformats.org/drawingml/2006/main" prst="triangle">
            <a:avLst/>
          </a:prstGeom>
          <a:solidFill xmlns:a="http://schemas.openxmlformats.org/drawingml/2006/main">
            <a:srgbClr val="29ABE2"/>
          </a:solidFill>
        </p:spPr>
      </p:sp>
      <p:sp>
        <p:nvSpPr>
          <p:cNvPr id="4" name="Shape 2">
            <a:extLst xmlns:a="http://schemas.openxmlformats.org/drawingml/2006/main">
              <a:ext uri="{FF2B5EF4-FFF2-40B4-BE49-F238E27FC236}">
                <a16:creationId xmlns:a16="http://schemas.microsoft.com/office/drawing/2014/main" id="{DC05A735-621C-40D0-BEEA-34F6B77AF968}"/>
              </a:ext>
            </a:extLst>
          </p:cNvPr>
          <p:cNvSpPr>
            <a:spLocks xmlns:a="http://schemas.openxmlformats.org/drawingml/2006/main" noGrp="1"/>
          </p:cNvSpPr>
          <p:nvPr/>
        </p:nvSpPr>
        <p:spPr>
          <a:xfrm xmlns:a="http://schemas.openxmlformats.org/drawingml/2006/main" rot="5400000">
            <a:off x="9661916" y="1650492"/>
            <a:ext cx="402336" cy="352044"/>
          </a:xfrm>
          <a:prstGeom xmlns:a="http://schemas.openxmlformats.org/drawingml/2006/main" prst="triangle">
            <a:avLst/>
          </a:prstGeom>
          <a:solidFill xmlns:a="http://schemas.openxmlformats.org/drawingml/2006/main">
            <a:srgbClr val="F58220"/>
          </a:solidFill>
        </p:spPr>
      </p:sp>
      <p:sp>
        <p:nvSpPr>
          <p:cNvPr id="5" name="Shape 3">
            <a:extLst xmlns:a="http://schemas.openxmlformats.org/drawingml/2006/main">
              <a:ext uri="{FF2B5EF4-FFF2-40B4-BE49-F238E27FC236}">
                <a16:creationId xmlns:a16="http://schemas.microsoft.com/office/drawing/2014/main" id="{44AC8DB1-3BC7-4512-B2EB-B74C2747F94F}"/>
              </a:ext>
            </a:extLst>
          </p:cNvPr>
          <p:cNvSpPr>
            <a:spLocks xmlns:a="http://schemas.openxmlformats.org/drawingml/2006/main" noGrp="1"/>
          </p:cNvSpPr>
          <p:nvPr/>
        </p:nvSpPr>
        <p:spPr>
          <a:xfrm xmlns:a="http://schemas.openxmlformats.org/drawingml/2006/main" rot="5400000" flipH="1">
            <a:off x="10088392" y="594360"/>
            <a:ext cx="402336" cy="352044"/>
          </a:xfrm>
          <a:prstGeom xmlns:a="http://schemas.openxmlformats.org/drawingml/2006/main" prst="triangle">
            <a:avLst/>
          </a:prstGeom>
          <a:solidFill xmlns:a="http://schemas.openxmlformats.org/drawingml/2006/main">
            <a:srgbClr val="8DC63F"/>
          </a:solidFill>
        </p:spPr>
      </p:sp>
      <p:sp>
        <p:nvSpPr>
          <p:cNvPr id="6" name="Shape 4">
            <a:extLst xmlns:a="http://schemas.openxmlformats.org/drawingml/2006/main">
              <a:ext uri="{FF2B5EF4-FFF2-40B4-BE49-F238E27FC236}">
                <a16:creationId xmlns:a16="http://schemas.microsoft.com/office/drawing/2014/main" id="{14B22F06-EF15-4E7F-8E4F-81F37E74BBD7}"/>
              </a:ext>
            </a:extLst>
          </p:cNvPr>
          <p:cNvSpPr>
            <a:spLocks xmlns:a="http://schemas.openxmlformats.org/drawingml/2006/main" noGrp="1"/>
          </p:cNvSpPr>
          <p:nvPr/>
        </p:nvSpPr>
        <p:spPr>
          <a:xfrm xmlns:a="http://schemas.openxmlformats.org/drawingml/2006/main" rot="5400000">
            <a:off x="10088392" y="1298448"/>
            <a:ext cx="402336" cy="352044"/>
          </a:xfrm>
          <a:prstGeom xmlns:a="http://schemas.openxmlformats.org/drawingml/2006/main" prst="triangle">
            <a:avLst/>
          </a:prstGeom>
          <a:solidFill xmlns:a="http://schemas.openxmlformats.org/drawingml/2006/main">
            <a:srgbClr val="00A79D"/>
          </a:solidFill>
        </p:spPr>
      </p:sp>
      <p:sp>
        <p:nvSpPr>
          <p:cNvPr id="7" name="Shape 5">
            <a:extLst xmlns:a="http://schemas.openxmlformats.org/drawingml/2006/main">
              <a:ext uri="{FF2B5EF4-FFF2-40B4-BE49-F238E27FC236}">
                <a16:creationId xmlns:a16="http://schemas.microsoft.com/office/drawing/2014/main" id="{838D7D62-46D5-428F-B92F-0084C3ED14EC}"/>
              </a:ext>
            </a:extLst>
          </p:cNvPr>
          <p:cNvSpPr>
            <a:spLocks xmlns:a="http://schemas.openxmlformats.org/drawingml/2006/main" noGrp="1"/>
          </p:cNvSpPr>
          <p:nvPr/>
        </p:nvSpPr>
        <p:spPr>
          <a:xfrm xmlns:a="http://schemas.openxmlformats.org/drawingml/2006/main" rot="5400000">
            <a:off x="10514868" y="946404"/>
            <a:ext cx="402336" cy="352044"/>
          </a:xfrm>
          <a:prstGeom xmlns:a="http://schemas.openxmlformats.org/drawingml/2006/main" prst="triangle">
            <a:avLst/>
          </a:prstGeom>
          <a:solidFill xmlns:a="http://schemas.openxmlformats.org/drawingml/2006/main">
            <a:srgbClr val="29ABE2"/>
          </a:solidFill>
        </p:spPr>
      </p:sp>
      <p:sp>
        <p:nvSpPr>
          <p:cNvPr id="8" name="Shape 6">
            <a:extLst xmlns:a="http://schemas.openxmlformats.org/drawingml/2006/main">
              <a:ext uri="{FF2B5EF4-FFF2-40B4-BE49-F238E27FC236}">
                <a16:creationId xmlns:a16="http://schemas.microsoft.com/office/drawing/2014/main" id="{4706132B-903D-4726-A92A-24040C46B6FD}"/>
              </a:ext>
            </a:extLst>
          </p:cNvPr>
          <p:cNvSpPr>
            <a:spLocks xmlns:a="http://schemas.openxmlformats.org/drawingml/2006/main" noGrp="1"/>
          </p:cNvSpPr>
          <p:nvPr/>
        </p:nvSpPr>
        <p:spPr>
          <a:xfrm xmlns:a="http://schemas.openxmlformats.org/drawingml/2006/main" rot="5400000" flipH="1">
            <a:off x="10514868" y="1650492"/>
            <a:ext cx="402336" cy="352044"/>
          </a:xfrm>
          <a:prstGeom xmlns:a="http://schemas.openxmlformats.org/drawingml/2006/main" prst="triangle">
            <a:avLst/>
          </a:prstGeom>
          <a:solidFill xmlns:a="http://schemas.openxmlformats.org/drawingml/2006/main">
            <a:srgbClr val="F58220"/>
          </a:solidFill>
        </p:spPr>
      </p:sp>
      <p:sp>
        <p:nvSpPr>
          <p:cNvPr id="9" name="Shape 7">
            <a:extLst xmlns:a="http://schemas.openxmlformats.org/drawingml/2006/main">
              <a:ext uri="{FF2B5EF4-FFF2-40B4-BE49-F238E27FC236}">
                <a16:creationId xmlns:a16="http://schemas.microsoft.com/office/drawing/2014/main" id="{F17047F7-ECEA-4324-AA56-D9A0DF4EDD63}"/>
              </a:ext>
            </a:extLst>
          </p:cNvPr>
          <p:cNvSpPr>
            <a:spLocks xmlns:a="http://schemas.openxmlformats.org/drawingml/2006/main" noGrp="1"/>
          </p:cNvSpPr>
          <p:nvPr/>
        </p:nvSpPr>
        <p:spPr>
          <a:xfrm xmlns:a="http://schemas.openxmlformats.org/drawingml/2006/main" rot="5400000">
            <a:off x="10941345" y="1298448"/>
            <a:ext cx="402336" cy="352044"/>
          </a:xfrm>
          <a:prstGeom xmlns:a="http://schemas.openxmlformats.org/drawingml/2006/main" prst="triangle">
            <a:avLst/>
          </a:prstGeom>
          <a:solidFill xmlns:a="http://schemas.openxmlformats.org/drawingml/2006/main">
            <a:srgbClr val="8DC63F"/>
          </a:solidFill>
        </p:spPr>
      </p:sp>
      <p:sp>
        <p:nvSpPr>
          <p:cNvPr id="10" name="Text 8">
            <a:extLst xmlns:a="http://schemas.openxmlformats.org/drawingml/2006/main">
              <a:ext uri="{FF2B5EF4-FFF2-40B4-BE49-F238E27FC236}">
                <a16:creationId xmlns:a16="http://schemas.microsoft.com/office/drawing/2014/main" id="{A0ACA68D-703A-4A29-B670-6549FD6B11F4}"/>
              </a:ext>
            </a:extLst>
          </p:cNvPr>
          <p:cNvSpPr>
            <a:spLocks xmlns:a="http://schemas.openxmlformats.org/drawingml/2006/main" noGrp="1"/>
          </p:cNvSpPr>
          <p:nvPr/>
        </p:nvSpPr>
        <p:spPr>
          <a:xfrm xmlns:a="http://schemas.openxmlformats.org/drawingml/2006/main">
            <a:off x="777240" y="1417320"/>
            <a:ext cx="731520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spc="400">
                <a:solidFill>
                  <a:srgbClr val="00A79D"/>
                </a:solidFill>
                <a:latin typeface="Calibri"/>
                <a:ea typeface="Calibri"/>
                <a:cs typeface="Calibri"/>
              </a:rPr>
              <a:t>DAY 2 — SHIP IT IN A BOX, PROVE IT WORKS</a:t>
            </a:r>
            <a:endParaRPr sz="1500"/>
          </a:p>
        </p:txBody>
      </p:sp>
      <p:sp>
        <p:nvSpPr>
          <p:cNvPr id="11" name="Text 9">
            <a:extLst xmlns:a="http://schemas.openxmlformats.org/drawingml/2006/main">
              <a:ext uri="{FF2B5EF4-FFF2-40B4-BE49-F238E27FC236}">
                <a16:creationId xmlns:a16="http://schemas.microsoft.com/office/drawing/2014/main" id="{20310912-D947-486D-97FD-6AF264264166}"/>
              </a:ext>
            </a:extLst>
          </p:cNvPr>
          <p:cNvSpPr>
            <a:spLocks xmlns:a="http://schemas.openxmlformats.org/drawingml/2006/main" noGrp="1"/>
          </p:cNvSpPr>
          <p:nvPr/>
        </p:nvSpPr>
        <p:spPr>
          <a:xfrm xmlns:a="http://schemas.openxmlformats.org/drawingml/2006/main">
            <a:off x="749808" y="1874520"/>
            <a:ext cx="106070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600" b="1">
                <a:solidFill>
                  <a:srgbClr val="FFFFFF"/>
                </a:solidFill>
                <a:latin typeface="Calibri"/>
                <a:ea typeface="Calibri"/>
                <a:cs typeface="Calibri"/>
              </a:rPr>
              <a:t>Ship It in a Box, Prove It Works</a:t>
            </a:r>
            <a:endParaRPr sz="3600"/>
          </a:p>
        </p:txBody>
      </p:sp>
      <p:sp>
        <p:nvSpPr>
          <p:cNvPr id="12" name="Text 10">
            <a:extLst xmlns:a="http://schemas.openxmlformats.org/drawingml/2006/main">
              <a:ext uri="{FF2B5EF4-FFF2-40B4-BE49-F238E27FC236}">
                <a16:creationId xmlns:a16="http://schemas.microsoft.com/office/drawing/2014/main" id="{BD7E9B63-95EA-4EE9-A10F-1FE797C6BC68}"/>
              </a:ext>
            </a:extLst>
          </p:cNvPr>
          <p:cNvSpPr>
            <a:spLocks xmlns:a="http://schemas.openxmlformats.org/drawingml/2006/main" noGrp="1"/>
          </p:cNvSpPr>
          <p:nvPr/>
        </p:nvSpPr>
        <p:spPr>
          <a:xfrm xmlns:a="http://schemas.openxmlformats.org/drawingml/2006/main">
            <a:off x="777240" y="2761488"/>
            <a:ext cx="100584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a:solidFill>
                  <a:srgbClr val="B9C8E8"/>
                </a:solidFill>
                <a:latin typeface="Calibri"/>
                <a:ea typeface="Calibri"/>
                <a:cs typeface="Calibri"/>
              </a:rPr>
              <a:t>اليوم الثاني — ضعها في صندوق وأثبت أنها تعمل</a:t>
            </a:r>
            <a:endParaRPr sz="1700"/>
          </a:p>
        </p:txBody>
      </p:sp>
      <p:sp>
        <p:nvSpPr>
          <p:cNvPr id="13" name="Shape 11">
            <a:extLst xmlns:a="http://schemas.openxmlformats.org/drawingml/2006/main">
              <a:ext uri="{FF2B5EF4-FFF2-40B4-BE49-F238E27FC236}">
                <a16:creationId xmlns:a16="http://schemas.microsoft.com/office/drawing/2014/main" id="{B1EB777E-0211-4929-A592-75D37EAF6A6A}"/>
              </a:ext>
            </a:extLst>
          </p:cNvPr>
          <p:cNvSpPr>
            <a:spLocks xmlns:a="http://schemas.openxmlformats.org/drawingml/2006/main" noGrp="1"/>
          </p:cNvSpPr>
          <p:nvPr/>
        </p:nvSpPr>
        <p:spPr>
          <a:xfrm xmlns:a="http://schemas.openxmlformats.org/drawingml/2006/main">
            <a:off x="777240"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14" name="Text 12">
            <a:extLst xmlns:a="http://schemas.openxmlformats.org/drawingml/2006/main">
              <a:ext uri="{FF2B5EF4-FFF2-40B4-BE49-F238E27FC236}">
                <a16:creationId xmlns:a16="http://schemas.microsoft.com/office/drawing/2014/main" id="{2CD16268-E616-4BE5-9D06-596E61156446}"/>
              </a:ext>
            </a:extLst>
          </p:cNvPr>
          <p:cNvSpPr>
            <a:spLocks xmlns:a="http://schemas.openxmlformats.org/drawingml/2006/main" noGrp="1"/>
          </p:cNvSpPr>
          <p:nvPr/>
        </p:nvSpPr>
        <p:spPr>
          <a:xfrm xmlns:a="http://schemas.openxmlformats.org/drawingml/2006/main">
            <a:off x="923544"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A79D"/>
                </a:solidFill>
                <a:latin typeface="Calibri"/>
                <a:ea typeface="Calibri"/>
                <a:cs typeface="Calibri"/>
              </a:rPr>
              <a:t>01</a:t>
            </a:r>
            <a:endParaRPr sz="1400"/>
          </a:p>
        </p:txBody>
      </p:sp>
      <p:sp>
        <p:nvSpPr>
          <p:cNvPr id="15" name="Text 13">
            <a:extLst xmlns:a="http://schemas.openxmlformats.org/drawingml/2006/main">
              <a:ext uri="{FF2B5EF4-FFF2-40B4-BE49-F238E27FC236}">
                <a16:creationId xmlns:a16="http://schemas.microsoft.com/office/drawing/2014/main" id="{DB531960-C735-4A77-A1F6-1CB6C4EAB7FE}"/>
              </a:ext>
            </a:extLst>
          </p:cNvPr>
          <p:cNvSpPr>
            <a:spLocks xmlns:a="http://schemas.openxmlformats.org/drawingml/2006/main" noGrp="1"/>
          </p:cNvSpPr>
          <p:nvPr/>
        </p:nvSpPr>
        <p:spPr>
          <a:xfrm xmlns:a="http://schemas.openxmlformats.org/drawingml/2006/main">
            <a:off x="923544"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Lab 2b — Hardening the API</a:t>
            </a:r>
            <a:endParaRPr sz="1200"/>
          </a:p>
        </p:txBody>
      </p:sp>
      <p:sp>
        <p:nvSpPr>
          <p:cNvPr id="16" name="Text 14">
            <a:extLst xmlns:a="http://schemas.openxmlformats.org/drawingml/2006/main">
              <a:ext uri="{FF2B5EF4-FFF2-40B4-BE49-F238E27FC236}">
                <a16:creationId xmlns:a16="http://schemas.microsoft.com/office/drawing/2014/main" id="{8BB90D6A-FF8E-4756-9F34-D10CD229D8BA}"/>
              </a:ext>
            </a:extLst>
          </p:cNvPr>
          <p:cNvSpPr>
            <a:spLocks xmlns:a="http://schemas.openxmlformats.org/drawingml/2006/main" noGrp="1"/>
          </p:cNvSpPr>
          <p:nvPr/>
        </p:nvSpPr>
        <p:spPr>
          <a:xfrm xmlns:a="http://schemas.openxmlformats.org/drawingml/2006/main">
            <a:off x="923544"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warm-up on startup, logging middleware, OpenAPI docs, load-test with hey</a:t>
            </a:r>
            <a:endParaRPr sz="950"/>
          </a:p>
        </p:txBody>
      </p:sp>
      <p:sp>
        <p:nvSpPr>
          <p:cNvPr id="17" name="Shape 15">
            <a:extLst xmlns:a="http://schemas.openxmlformats.org/drawingml/2006/main">
              <a:ext uri="{FF2B5EF4-FFF2-40B4-BE49-F238E27FC236}">
                <a16:creationId xmlns:a16="http://schemas.microsoft.com/office/drawing/2014/main" id="{CC99B4B2-3B08-4A8E-A0D8-1E74F6A75157}"/>
              </a:ext>
            </a:extLst>
          </p:cNvPr>
          <p:cNvSpPr>
            <a:spLocks xmlns:a="http://schemas.openxmlformats.org/drawingml/2006/main" noGrp="1"/>
          </p:cNvSpPr>
          <p:nvPr/>
        </p:nvSpPr>
        <p:spPr>
          <a:xfrm xmlns:a="http://schemas.openxmlformats.org/drawingml/2006/main">
            <a:off x="3493008"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18" name="Text 16">
            <a:extLst xmlns:a="http://schemas.openxmlformats.org/drawingml/2006/main">
              <a:ext uri="{FF2B5EF4-FFF2-40B4-BE49-F238E27FC236}">
                <a16:creationId xmlns:a16="http://schemas.microsoft.com/office/drawing/2014/main" id="{3406FD63-FFA8-4DF0-BCC7-C88E6E66A7B9}"/>
              </a:ext>
            </a:extLst>
          </p:cNvPr>
          <p:cNvSpPr>
            <a:spLocks xmlns:a="http://schemas.openxmlformats.org/drawingml/2006/main" noGrp="1"/>
          </p:cNvSpPr>
          <p:nvPr/>
        </p:nvSpPr>
        <p:spPr>
          <a:xfrm xmlns:a="http://schemas.openxmlformats.org/drawingml/2006/main">
            <a:off x="3639312"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29ABE2"/>
                </a:solidFill>
                <a:latin typeface="Calibri"/>
                <a:ea typeface="Calibri"/>
                <a:cs typeface="Calibri"/>
              </a:rPr>
              <a:t>02</a:t>
            </a:r>
            <a:endParaRPr sz="1400"/>
          </a:p>
        </p:txBody>
      </p:sp>
      <p:sp>
        <p:nvSpPr>
          <p:cNvPr id="19" name="Text 17">
            <a:extLst xmlns:a="http://schemas.openxmlformats.org/drawingml/2006/main">
              <a:ext uri="{FF2B5EF4-FFF2-40B4-BE49-F238E27FC236}">
                <a16:creationId xmlns:a16="http://schemas.microsoft.com/office/drawing/2014/main" id="{EA49BADA-E220-45BD-8A2C-489F2F1DD3F4}"/>
              </a:ext>
            </a:extLst>
          </p:cNvPr>
          <p:cNvSpPr>
            <a:spLocks xmlns:a="http://schemas.openxmlformats.org/drawingml/2006/main" noGrp="1"/>
          </p:cNvSpPr>
          <p:nvPr/>
        </p:nvSpPr>
        <p:spPr>
          <a:xfrm xmlns:a="http://schemas.openxmlformats.org/drawingml/2006/main">
            <a:off x="3639312"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Module 3 — Docker for AI services</a:t>
            </a:r>
            <a:endParaRPr sz="1200"/>
          </a:p>
        </p:txBody>
      </p:sp>
      <p:sp>
        <p:nvSpPr>
          <p:cNvPr id="20" name="Text 18">
            <a:extLst xmlns:a="http://schemas.openxmlformats.org/drawingml/2006/main">
              <a:ext uri="{FF2B5EF4-FFF2-40B4-BE49-F238E27FC236}">
                <a16:creationId xmlns:a16="http://schemas.microsoft.com/office/drawing/2014/main" id="{98C93451-A8B3-4019-B680-A0E38E103DF9}"/>
              </a:ext>
            </a:extLst>
          </p:cNvPr>
          <p:cNvSpPr>
            <a:spLocks xmlns:a="http://schemas.openxmlformats.org/drawingml/2006/main" noGrp="1"/>
          </p:cNvSpPr>
          <p:nvPr/>
        </p:nvSpPr>
        <p:spPr>
          <a:xfrm xmlns:a="http://schemas.openxmlformats.org/drawingml/2006/main">
            <a:off x="3639312"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images, layers, multi-stage builds, size discipline, compose</a:t>
            </a:r>
            <a:endParaRPr sz="950"/>
          </a:p>
        </p:txBody>
      </p:sp>
      <p:sp>
        <p:nvSpPr>
          <p:cNvPr id="21" name="Shape 19">
            <a:extLst xmlns:a="http://schemas.openxmlformats.org/drawingml/2006/main">
              <a:ext uri="{FF2B5EF4-FFF2-40B4-BE49-F238E27FC236}">
                <a16:creationId xmlns:a16="http://schemas.microsoft.com/office/drawing/2014/main" id="{C406D5E1-7FE8-4D19-BE3D-E4E452AF3122}"/>
              </a:ext>
            </a:extLst>
          </p:cNvPr>
          <p:cNvSpPr>
            <a:spLocks xmlns:a="http://schemas.openxmlformats.org/drawingml/2006/main" noGrp="1"/>
          </p:cNvSpPr>
          <p:nvPr/>
        </p:nvSpPr>
        <p:spPr>
          <a:xfrm xmlns:a="http://schemas.openxmlformats.org/drawingml/2006/main">
            <a:off x="6208776"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22" name="Text 20">
            <a:extLst xmlns:a="http://schemas.openxmlformats.org/drawingml/2006/main">
              <a:ext uri="{FF2B5EF4-FFF2-40B4-BE49-F238E27FC236}">
                <a16:creationId xmlns:a16="http://schemas.microsoft.com/office/drawing/2014/main" id="{19B3F368-1E2E-4416-9BC8-EDBB5B786F05}"/>
              </a:ext>
            </a:extLst>
          </p:cNvPr>
          <p:cNvSpPr>
            <a:spLocks xmlns:a="http://schemas.openxmlformats.org/drawingml/2006/main" noGrp="1"/>
          </p:cNvSpPr>
          <p:nvPr/>
        </p:nvSpPr>
        <p:spPr>
          <a:xfrm xmlns:a="http://schemas.openxmlformats.org/drawingml/2006/main">
            <a:off x="6355080"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F58220"/>
                </a:solidFill>
                <a:latin typeface="Calibri"/>
                <a:ea typeface="Calibri"/>
                <a:cs typeface="Calibri"/>
              </a:rPr>
              <a:t>03</a:t>
            </a:r>
            <a:endParaRPr sz="1400"/>
          </a:p>
        </p:txBody>
      </p:sp>
      <p:sp>
        <p:nvSpPr>
          <p:cNvPr id="23" name="Text 21">
            <a:extLst xmlns:a="http://schemas.openxmlformats.org/drawingml/2006/main">
              <a:ext uri="{FF2B5EF4-FFF2-40B4-BE49-F238E27FC236}">
                <a16:creationId xmlns:a16="http://schemas.microsoft.com/office/drawing/2014/main" id="{983B0651-6F9C-4A1F-AEF1-02CFCDE8CA48}"/>
              </a:ext>
            </a:extLst>
          </p:cNvPr>
          <p:cNvSpPr>
            <a:spLocks xmlns:a="http://schemas.openxmlformats.org/drawingml/2006/main" noGrp="1"/>
          </p:cNvSpPr>
          <p:nvPr/>
        </p:nvSpPr>
        <p:spPr>
          <a:xfrm xmlns:a="http://schemas.openxmlformats.org/drawingml/2006/main">
            <a:off x="6355080"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Module 4 — Testing ML code</a:t>
            </a:r>
            <a:endParaRPr sz="1200"/>
          </a:p>
        </p:txBody>
      </p:sp>
      <p:sp>
        <p:nvSpPr>
          <p:cNvPr id="24" name="Text 22">
            <a:extLst xmlns:a="http://schemas.openxmlformats.org/drawingml/2006/main">
              <a:ext uri="{FF2B5EF4-FFF2-40B4-BE49-F238E27FC236}">
                <a16:creationId xmlns:a16="http://schemas.microsoft.com/office/drawing/2014/main" id="{670DB6F9-2B8A-4115-B532-F77330928930}"/>
              </a:ext>
            </a:extLst>
          </p:cNvPr>
          <p:cNvSpPr>
            <a:spLocks xmlns:a="http://schemas.openxmlformats.org/drawingml/2006/main" noGrp="1"/>
          </p:cNvSpPr>
          <p:nvPr/>
        </p:nvSpPr>
        <p:spPr>
          <a:xfrm xmlns:a="http://schemas.openxmlformats.org/drawingml/2006/main">
            <a:off x="6355080"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testing pyramid, fixtures, invariance and directional tests, coverage</a:t>
            </a:r>
            <a:endParaRPr sz="950"/>
          </a:p>
        </p:txBody>
      </p:sp>
      <p:sp>
        <p:nvSpPr>
          <p:cNvPr id="25" name="Shape 23">
            <a:extLst xmlns:a="http://schemas.openxmlformats.org/drawingml/2006/main">
              <a:ext uri="{FF2B5EF4-FFF2-40B4-BE49-F238E27FC236}">
                <a16:creationId xmlns:a16="http://schemas.microsoft.com/office/drawing/2014/main" id="{D56772C5-6E2B-4099-B8AD-C5444BCAC365}"/>
              </a:ext>
            </a:extLst>
          </p:cNvPr>
          <p:cNvSpPr>
            <a:spLocks xmlns:a="http://schemas.openxmlformats.org/drawingml/2006/main" noGrp="1"/>
          </p:cNvSpPr>
          <p:nvPr/>
        </p:nvSpPr>
        <p:spPr>
          <a:xfrm xmlns:a="http://schemas.openxmlformats.org/drawingml/2006/main">
            <a:off x="8924544"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26" name="Text 24">
            <a:extLst xmlns:a="http://schemas.openxmlformats.org/drawingml/2006/main">
              <a:ext uri="{FF2B5EF4-FFF2-40B4-BE49-F238E27FC236}">
                <a16:creationId xmlns:a16="http://schemas.microsoft.com/office/drawing/2014/main" id="{690ABAA3-3025-43BF-8044-77BE793EB288}"/>
              </a:ext>
            </a:extLst>
          </p:cNvPr>
          <p:cNvSpPr>
            <a:spLocks xmlns:a="http://schemas.openxmlformats.org/drawingml/2006/main" noGrp="1"/>
          </p:cNvSpPr>
          <p:nvPr/>
        </p:nvSpPr>
        <p:spPr>
          <a:xfrm xmlns:a="http://schemas.openxmlformats.org/drawingml/2006/main">
            <a:off x="9070848"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8DC63F"/>
                </a:solidFill>
                <a:latin typeface="Calibri"/>
                <a:ea typeface="Calibri"/>
                <a:cs typeface="Calibri"/>
              </a:rPr>
              <a:t>04</a:t>
            </a:r>
            <a:endParaRPr sz="1400"/>
          </a:p>
        </p:txBody>
      </p:sp>
      <p:sp>
        <p:nvSpPr>
          <p:cNvPr id="27" name="Text 25">
            <a:extLst xmlns:a="http://schemas.openxmlformats.org/drawingml/2006/main">
              <a:ext uri="{FF2B5EF4-FFF2-40B4-BE49-F238E27FC236}">
                <a16:creationId xmlns:a16="http://schemas.microsoft.com/office/drawing/2014/main" id="{365F6B0B-21F1-441B-81E2-6A7D9B4859BD}"/>
              </a:ext>
            </a:extLst>
          </p:cNvPr>
          <p:cNvSpPr>
            <a:spLocks xmlns:a="http://schemas.openxmlformats.org/drawingml/2006/main" noGrp="1"/>
          </p:cNvSpPr>
          <p:nvPr/>
        </p:nvSpPr>
        <p:spPr>
          <a:xfrm xmlns:a="http://schemas.openxmlformats.org/drawingml/2006/main">
            <a:off x="9070848"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Labs 3 &amp; 4 — container + tests</a:t>
            </a:r>
            <a:endParaRPr sz="1200"/>
          </a:p>
        </p:txBody>
      </p:sp>
      <p:sp>
        <p:nvSpPr>
          <p:cNvPr id="28" name="Text 26">
            <a:extLst xmlns:a="http://schemas.openxmlformats.org/drawingml/2006/main">
              <a:ext uri="{FF2B5EF4-FFF2-40B4-BE49-F238E27FC236}">
                <a16:creationId xmlns:a16="http://schemas.microsoft.com/office/drawing/2014/main" id="{3BE02739-EB77-4D0E-9E50-6E8C286FF074}"/>
              </a:ext>
            </a:extLst>
          </p:cNvPr>
          <p:cNvSpPr>
            <a:spLocks xmlns:a="http://schemas.openxmlformats.org/drawingml/2006/main" noGrp="1"/>
          </p:cNvSpPr>
          <p:nvPr/>
        </p:nvSpPr>
        <p:spPr>
          <a:xfrm xmlns:a="http://schemas.openxmlformats.org/drawingml/2006/main">
            <a:off x="9070848"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containerise the fraud service, then prove it with a three-level suite</a:t>
            </a:r>
            <a:endParaRPr sz="950"/>
          </a:p>
        </p:txBody>
      </p:sp>
      <p:sp>
        <p:nvSpPr>
          <p:cNvPr id="29" name="Text 27">
            <a:extLst xmlns:a="http://schemas.openxmlformats.org/drawingml/2006/main">
              <a:ext uri="{FF2B5EF4-FFF2-40B4-BE49-F238E27FC236}">
                <a16:creationId xmlns:a16="http://schemas.microsoft.com/office/drawing/2014/main" id="{F76B5746-CA3D-49B6-A67F-02A05070FED6}"/>
              </a:ext>
            </a:extLst>
          </p:cNvPr>
          <p:cNvSpPr>
            <a:spLocks xmlns:a="http://schemas.openxmlformats.org/drawingml/2006/main" noGrp="1"/>
          </p:cNvSpPr>
          <p:nvPr/>
        </p:nvSpPr>
        <p:spPr>
          <a:xfrm xmlns:a="http://schemas.openxmlformats.org/drawingml/2006/main">
            <a:off x="777240" y="5806440"/>
            <a:ext cx="100584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8A96C8"/>
                </a:solidFill>
                <a:latin typeface="Calibri"/>
                <a:ea typeface="Calibri"/>
                <a:cs typeface="Calibri"/>
              </a:rPr>
              <a:t>5 hours · 40% theory / 60% lab</a:t>
            </a:r>
            <a:endParaRPr sz="1100"/>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9ea531a3ba914b26"/>
          <a:stretch xmlns:a="http://schemas.openxmlformats.org/drawingml/2006/main">
            <a:fillRect l="0" t="0" r="0" b="0"/>
          </a:stretch>
        </p:blipFill>
        <p:spPr>
          <a:xfrm xmlns:a="http://schemas.openxmlformats.org/drawingml/2006/main">
            <a:off x="777240" y="6309360"/>
            <a:ext cx="1078992" cy="265176"/>
          </a:xfrm>
          <a:prstGeom xmlns:a="http://schemas.openxmlformats.org/drawingml/2006/main" prst="rect">
            <a:avLst/>
          </a:prstGeom>
        </p:spPr>
      </p:pic>
    </p:spTree>
    <p:extLst>
      <p:ext uri="{BB962C8B-B14F-4D97-AF65-F5344CB8AC3E}">
        <p14:creationId xmlns:p14="http://schemas.microsoft.com/office/powerpoint/2010/main" val="294004188"/>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1B0CE21-8742-411B-873B-1F86A616B42B}"/>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Day 2 — hour by hour</a:t>
            </a:r>
            <a:endParaRPr sz="2600"/>
          </a:p>
        </p:txBody>
      </p:sp>
      <p:sp>
        <p:nvSpPr>
          <p:cNvPr id="3" name="Text 1">
            <a:extLst xmlns:a="http://schemas.openxmlformats.org/drawingml/2006/main">
              <a:ext uri="{FF2B5EF4-FFF2-40B4-BE49-F238E27FC236}">
                <a16:creationId xmlns:a16="http://schemas.microsoft.com/office/drawing/2014/main" id="{33E25767-C72D-457E-B400-1F8F35093AB6}"/>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اليوم الثاني — ساعة بساعة</a:t>
            </a:r>
            <a:endParaRPr sz="1300"/>
          </a:p>
        </p:txBody>
      </p:sp>
      <p:pic>
        <p:nvPicPr>
          <p:cNvPr id="51" name="Image 0"/>
          <p:cNvPicPr>
            <a:picLocks xmlns:a="http://schemas.openxmlformats.org/drawingml/2006/main" noChangeAspect="1"/>
          </p:cNvPicPr>
          <p:nvPr/>
        </p:nvPicPr>
        <p:blipFill>
          <a:blip xmlns:r="http://schemas.openxmlformats.org/officeDocument/2006/relationships" xmlns:a="http://schemas.openxmlformats.org/drawingml/2006/main" r:embed="Rbae13cd1f312440d"/>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762C62A6-491A-4AC2-A03D-984F80654F55}"/>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8E899023-387A-440F-8007-514672408F93}"/>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C1BE5A54-3F38-4462-8FED-3EBFF58AA70E}"/>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58</a:t>
            </a:r>
            <a:endParaRPr sz="850"/>
          </a:p>
        </p:txBody>
      </p:sp>
      <p:sp>
        <p:nvSpPr>
          <p:cNvPr id="8" name="Shape 5">
            <a:extLst xmlns:a="http://schemas.openxmlformats.org/drawingml/2006/main">
              <a:ext uri="{FF2B5EF4-FFF2-40B4-BE49-F238E27FC236}">
                <a16:creationId xmlns:a16="http://schemas.microsoft.com/office/drawing/2014/main" id="{84E5F9E1-9AF9-4DA0-87B0-DDA120A9B36F}"/>
              </a:ext>
            </a:extLst>
          </p:cNvPr>
          <p:cNvSpPr>
            <a:spLocks xmlns:a="http://schemas.openxmlformats.org/drawingml/2006/main" noGrp="1"/>
          </p:cNvSpPr>
          <p:nvPr/>
        </p:nvSpPr>
        <p:spPr>
          <a:xfrm xmlns:a="http://schemas.openxmlformats.org/drawingml/2006/main">
            <a:off x="502920" y="1481328"/>
            <a:ext cx="11183112" cy="82296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D9E4F5"/>
            </a:solidFill>
            <a:prstDash val="solid"/>
          </a:ln>
        </p:spPr>
      </p:sp>
      <p:sp>
        <p:nvSpPr>
          <p:cNvPr id="9" name="Text 6">
            <a:extLst xmlns:a="http://schemas.openxmlformats.org/drawingml/2006/main">
              <a:ext uri="{FF2B5EF4-FFF2-40B4-BE49-F238E27FC236}">
                <a16:creationId xmlns:a16="http://schemas.microsoft.com/office/drawing/2014/main" id="{11F3AB65-90FD-455D-861F-C6BEA4F74BF7}"/>
              </a:ext>
            </a:extLst>
          </p:cNvPr>
          <p:cNvSpPr>
            <a:spLocks xmlns:a="http://schemas.openxmlformats.org/drawingml/2006/main" noGrp="1"/>
          </p:cNvSpPr>
          <p:nvPr/>
        </p:nvSpPr>
        <p:spPr>
          <a:xfrm xmlns:a="http://schemas.openxmlformats.org/drawingml/2006/main">
            <a:off x="685800" y="1655064"/>
            <a:ext cx="475488" cy="475488"/>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H1</a:t>
            </a:r>
            <a:endParaRPr sz="1300"/>
          </a:p>
        </p:txBody>
      </p:sp>
      <p:sp>
        <p:nvSpPr>
          <p:cNvPr id="10" name="Text 7">
            <a:extLst xmlns:a="http://schemas.openxmlformats.org/drawingml/2006/main">
              <a:ext uri="{FF2B5EF4-FFF2-40B4-BE49-F238E27FC236}">
                <a16:creationId xmlns:a16="http://schemas.microsoft.com/office/drawing/2014/main" id="{1B005B2C-6C24-466A-9DF5-F818219A47C3}"/>
              </a:ext>
            </a:extLst>
          </p:cNvPr>
          <p:cNvSpPr>
            <a:spLocks xmlns:a="http://schemas.openxmlformats.org/drawingml/2006/main" noGrp="1"/>
          </p:cNvSpPr>
          <p:nvPr/>
        </p:nvSpPr>
        <p:spPr>
          <a:xfrm xmlns:a="http://schemas.openxmlformats.org/drawingml/2006/main">
            <a:off x="1353312" y="1572768"/>
            <a:ext cx="603504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Lab 2b — Hardening the API</a:t>
            </a:r>
            <a:endParaRPr sz="1350"/>
          </a:p>
        </p:txBody>
      </p:sp>
      <p:sp>
        <p:nvSpPr>
          <p:cNvPr id="11" name="Text 8">
            <a:extLst xmlns:a="http://schemas.openxmlformats.org/drawingml/2006/main">
              <a:ext uri="{FF2B5EF4-FFF2-40B4-BE49-F238E27FC236}">
                <a16:creationId xmlns:a16="http://schemas.microsoft.com/office/drawing/2014/main" id="{4D985D81-53F4-46C0-8FA2-B3C18B24BB6A}"/>
              </a:ext>
            </a:extLst>
          </p:cNvPr>
          <p:cNvSpPr>
            <a:spLocks xmlns:a="http://schemas.openxmlformats.org/drawingml/2006/main" noGrp="1"/>
          </p:cNvSpPr>
          <p:nvPr/>
        </p:nvSpPr>
        <p:spPr>
          <a:xfrm xmlns:a="http://schemas.openxmlformats.org/drawingml/2006/main">
            <a:off x="1353312" y="1883664"/>
            <a:ext cx="6035040" cy="3840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5F6B7A"/>
                </a:solidFill>
                <a:latin typeface="Calibri"/>
                <a:ea typeface="Calibri"/>
                <a:cs typeface="Calibri"/>
              </a:rPr>
              <a:t>Model warm-up on startup, request logging middleware, OpenAPI docs; load-test with hey</a:t>
            </a:r>
            <a:endParaRPr sz="1000"/>
          </a:p>
        </p:txBody>
      </p:sp>
      <p:sp>
        <p:nvSpPr>
          <p:cNvPr id="12" name="Text 9">
            <a:extLst xmlns:a="http://schemas.openxmlformats.org/drawingml/2006/main">
              <a:ext uri="{FF2B5EF4-FFF2-40B4-BE49-F238E27FC236}">
                <a16:creationId xmlns:a16="http://schemas.microsoft.com/office/drawing/2014/main" id="{C4669218-8C78-4955-9AE6-56651DB55F25}"/>
              </a:ext>
            </a:extLst>
          </p:cNvPr>
          <p:cNvSpPr>
            <a:spLocks xmlns:a="http://schemas.openxmlformats.org/drawingml/2006/main" noGrp="1"/>
          </p:cNvSpPr>
          <p:nvPr/>
        </p:nvSpPr>
        <p:spPr>
          <a:xfrm xmlns:a="http://schemas.openxmlformats.org/drawingml/2006/main">
            <a:off x="7589520" y="1737360"/>
            <a:ext cx="1783080" cy="310896"/>
          </a:xfrm>
          <a:prstGeom xmlns:a="http://schemas.openxmlformats.org/drawingml/2006/main" prst="roundRect">
            <a:avLst>
              <a:gd name="adj" fmla="val 17647"/>
            </a:avLst>
          </a:prstGeom>
          <a:solidFill xmlns:a="http://schemas.openxmlformats.org/drawingml/2006/main">
            <a:srgbClr val="D4F1EE"/>
          </a:solidFill>
        </p:spPr>
        <p:txBody>
          <a:bodyPr xmlns:a="http://schemas.openxmlformats.org/drawingml/2006/main" wrap="square" anchor="ctr"/>
          <a:lstStyle xmlns:a="http://schemas.openxmlformats.org/drawingml/2006/main"/>
          <a:p xmlns:a="http://schemas.openxmlformats.org/drawingml/2006/main">
            <a:pPr marL="0" indent="0" algn="ctr">
              <a:buNone/>
            </a:pPr>
            <a:r>
              <a:rPr sz="950" b="1">
                <a:solidFill>
                  <a:srgbClr val="056A63"/>
                </a:solidFill>
                <a:latin typeface="Calibri"/>
                <a:ea typeface="Calibri"/>
                <a:cs typeface="Calibri"/>
              </a:rPr>
              <a:t>Lab + micro-lecture</a:t>
            </a:r>
            <a:endParaRPr sz="950"/>
          </a:p>
        </p:txBody>
      </p:sp>
      <p:sp>
        <p:nvSpPr>
          <p:cNvPr id="13" name="Shape 10">
            <a:extLst xmlns:a="http://schemas.openxmlformats.org/drawingml/2006/main">
              <a:ext uri="{FF2B5EF4-FFF2-40B4-BE49-F238E27FC236}">
                <a16:creationId xmlns:a16="http://schemas.microsoft.com/office/drawing/2014/main" id="{D28A69D2-B66A-4567-BEF4-7A3EF7802020}"/>
              </a:ext>
            </a:extLst>
          </p:cNvPr>
          <p:cNvSpPr>
            <a:spLocks xmlns:a="http://schemas.openxmlformats.org/drawingml/2006/main" noGrp="1"/>
          </p:cNvSpPr>
          <p:nvPr/>
        </p:nvSpPr>
        <p:spPr>
          <a:xfrm xmlns:a="http://schemas.openxmlformats.org/drawingml/2006/main">
            <a:off x="9555480" y="1810512"/>
            <a:ext cx="347472" cy="164592"/>
          </a:xfrm>
          <a:prstGeom xmlns:a="http://schemas.openxmlformats.org/drawingml/2006/main" prst="rect">
            <a:avLst/>
          </a:prstGeom>
          <a:solidFill xmlns:a="http://schemas.openxmlformats.org/drawingml/2006/main">
            <a:srgbClr val="1D2A5C"/>
          </a:solidFill>
        </p:spPr>
      </p:sp>
      <p:sp>
        <p:nvSpPr>
          <p:cNvPr id="14" name="Shape 11">
            <a:extLst xmlns:a="http://schemas.openxmlformats.org/drawingml/2006/main">
              <a:ext uri="{FF2B5EF4-FFF2-40B4-BE49-F238E27FC236}">
                <a16:creationId xmlns:a16="http://schemas.microsoft.com/office/drawing/2014/main" id="{70BD174E-A6D5-43C9-9121-68B26FBCA36A}"/>
              </a:ext>
            </a:extLst>
          </p:cNvPr>
          <p:cNvSpPr>
            <a:spLocks xmlns:a="http://schemas.openxmlformats.org/drawingml/2006/main" noGrp="1"/>
          </p:cNvSpPr>
          <p:nvPr/>
        </p:nvSpPr>
        <p:spPr>
          <a:xfrm xmlns:a="http://schemas.openxmlformats.org/drawingml/2006/main">
            <a:off x="9902952" y="1810512"/>
            <a:ext cx="1389888" cy="164592"/>
          </a:xfrm>
          <a:prstGeom xmlns:a="http://schemas.openxmlformats.org/drawingml/2006/main" prst="rect">
            <a:avLst/>
          </a:prstGeom>
          <a:solidFill xmlns:a="http://schemas.openxmlformats.org/drawingml/2006/main">
            <a:srgbClr val="00A79D"/>
          </a:solidFill>
        </p:spPr>
      </p:sp>
      <p:sp>
        <p:nvSpPr>
          <p:cNvPr id="15" name="Text 12">
            <a:extLst xmlns:a="http://schemas.openxmlformats.org/drawingml/2006/main">
              <a:ext uri="{FF2B5EF4-FFF2-40B4-BE49-F238E27FC236}">
                <a16:creationId xmlns:a16="http://schemas.microsoft.com/office/drawing/2014/main" id="{3C85CF92-3C1F-4E35-A209-FA4F066FE8A3}"/>
              </a:ext>
            </a:extLst>
          </p:cNvPr>
          <p:cNvSpPr>
            <a:spLocks xmlns:a="http://schemas.openxmlformats.org/drawingml/2006/main" noGrp="1"/>
          </p:cNvSpPr>
          <p:nvPr/>
        </p:nvSpPr>
        <p:spPr>
          <a:xfrm xmlns:a="http://schemas.openxmlformats.org/drawingml/2006/main">
            <a:off x="9509760" y="1993392"/>
            <a:ext cx="182880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50">
                <a:solidFill>
                  <a:srgbClr val="8A96A6"/>
                </a:solidFill>
                <a:latin typeface="Calibri"/>
                <a:ea typeface="Calibri"/>
                <a:cs typeface="Calibri"/>
              </a:rPr>
              <a:t>20% theory · 80% lab</a:t>
            </a:r>
            <a:endParaRPr sz="750"/>
          </a:p>
        </p:txBody>
      </p:sp>
      <p:sp>
        <p:nvSpPr>
          <p:cNvPr id="16" name="Shape 13">
            <a:extLst xmlns:a="http://schemas.openxmlformats.org/drawingml/2006/main">
              <a:ext uri="{FF2B5EF4-FFF2-40B4-BE49-F238E27FC236}">
                <a16:creationId xmlns:a16="http://schemas.microsoft.com/office/drawing/2014/main" id="{54035020-B0B8-46E3-B2E7-5323E6CF1786}"/>
              </a:ext>
            </a:extLst>
          </p:cNvPr>
          <p:cNvSpPr>
            <a:spLocks xmlns:a="http://schemas.openxmlformats.org/drawingml/2006/main" noGrp="1"/>
          </p:cNvSpPr>
          <p:nvPr/>
        </p:nvSpPr>
        <p:spPr>
          <a:xfrm xmlns:a="http://schemas.openxmlformats.org/drawingml/2006/main">
            <a:off x="502920" y="2414016"/>
            <a:ext cx="11183112" cy="822960"/>
          </a:xfrm>
          <a:prstGeom xmlns:a="http://schemas.openxmlformats.org/drawingml/2006/main" prst="roundRect">
            <a:avLst>
              <a:gd name="adj" fmla="val 5556"/>
            </a:avLst>
          </a:prstGeom>
          <a:solidFill xmlns:a="http://schemas.openxmlformats.org/drawingml/2006/main">
            <a:srgbClr val="EEF3FB"/>
          </a:solidFill>
          <a:ln xmlns:a="http://schemas.openxmlformats.org/drawingml/2006/main" w="9525">
            <a:solidFill>
              <a:srgbClr val="D9E4F5"/>
            </a:solidFill>
            <a:prstDash val="solid"/>
          </a:ln>
        </p:spPr>
      </p:sp>
      <p:sp>
        <p:nvSpPr>
          <p:cNvPr id="17" name="Text 14">
            <a:extLst xmlns:a="http://schemas.openxmlformats.org/drawingml/2006/main">
              <a:ext uri="{FF2B5EF4-FFF2-40B4-BE49-F238E27FC236}">
                <a16:creationId xmlns:a16="http://schemas.microsoft.com/office/drawing/2014/main" id="{FE8B0921-F2A9-496A-AE49-150BEE66F8EE}"/>
              </a:ext>
            </a:extLst>
          </p:cNvPr>
          <p:cNvSpPr>
            <a:spLocks xmlns:a="http://schemas.openxmlformats.org/drawingml/2006/main" noGrp="1"/>
          </p:cNvSpPr>
          <p:nvPr/>
        </p:nvSpPr>
        <p:spPr>
          <a:xfrm xmlns:a="http://schemas.openxmlformats.org/drawingml/2006/main">
            <a:off x="685800" y="2587752"/>
            <a:ext cx="475488" cy="475488"/>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H2</a:t>
            </a:r>
            <a:endParaRPr sz="1300"/>
          </a:p>
        </p:txBody>
      </p:sp>
      <p:sp>
        <p:nvSpPr>
          <p:cNvPr id="18" name="Text 15">
            <a:extLst xmlns:a="http://schemas.openxmlformats.org/drawingml/2006/main">
              <a:ext uri="{FF2B5EF4-FFF2-40B4-BE49-F238E27FC236}">
                <a16:creationId xmlns:a16="http://schemas.microsoft.com/office/drawing/2014/main" id="{8C46213A-CD89-45B9-AC7C-744BC2FC5D34}"/>
              </a:ext>
            </a:extLst>
          </p:cNvPr>
          <p:cNvSpPr>
            <a:spLocks xmlns:a="http://schemas.openxmlformats.org/drawingml/2006/main" noGrp="1"/>
          </p:cNvSpPr>
          <p:nvPr/>
        </p:nvSpPr>
        <p:spPr>
          <a:xfrm xmlns:a="http://schemas.openxmlformats.org/drawingml/2006/main">
            <a:off x="1353312" y="2505456"/>
            <a:ext cx="603504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Docker fundamentals for AI services (M3)</a:t>
            </a:r>
            <a:endParaRPr sz="1350"/>
          </a:p>
        </p:txBody>
      </p:sp>
      <p:sp>
        <p:nvSpPr>
          <p:cNvPr id="19" name="Text 16">
            <a:extLst xmlns:a="http://schemas.openxmlformats.org/drawingml/2006/main">
              <a:ext uri="{FF2B5EF4-FFF2-40B4-BE49-F238E27FC236}">
                <a16:creationId xmlns:a16="http://schemas.microsoft.com/office/drawing/2014/main" id="{899569B0-734B-4559-8FBA-3CE683E32D26}"/>
              </a:ext>
            </a:extLst>
          </p:cNvPr>
          <p:cNvSpPr>
            <a:spLocks xmlns:a="http://schemas.openxmlformats.org/drawingml/2006/main" noGrp="1"/>
          </p:cNvSpPr>
          <p:nvPr/>
        </p:nvSpPr>
        <p:spPr>
          <a:xfrm xmlns:a="http://schemas.openxmlformats.org/drawingml/2006/main">
            <a:off x="1353312" y="2816352"/>
            <a:ext cx="6035040" cy="3840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5F6B7A"/>
                </a:solidFill>
                <a:latin typeface="Calibri"/>
                <a:ea typeface="Calibri"/>
                <a:cs typeface="Calibri"/>
              </a:rPr>
              <a:t>Images vs containers, layers and caching, multi-stage builds, image size discipline, compose</a:t>
            </a:r>
            <a:endParaRPr sz="1000"/>
          </a:p>
        </p:txBody>
      </p:sp>
      <p:sp>
        <p:nvSpPr>
          <p:cNvPr id="20" name="Text 17">
            <a:extLst xmlns:a="http://schemas.openxmlformats.org/drawingml/2006/main">
              <a:ext uri="{FF2B5EF4-FFF2-40B4-BE49-F238E27FC236}">
                <a16:creationId xmlns:a16="http://schemas.microsoft.com/office/drawing/2014/main" id="{82A8A5A6-3CEB-44C8-B7E3-2B953CBD0253}"/>
              </a:ext>
            </a:extLst>
          </p:cNvPr>
          <p:cNvSpPr>
            <a:spLocks xmlns:a="http://schemas.openxmlformats.org/drawingml/2006/main" noGrp="1"/>
          </p:cNvSpPr>
          <p:nvPr/>
        </p:nvSpPr>
        <p:spPr>
          <a:xfrm xmlns:a="http://schemas.openxmlformats.org/drawingml/2006/main">
            <a:off x="7589520" y="2670048"/>
            <a:ext cx="1783080" cy="310896"/>
          </a:xfrm>
          <a:prstGeom xmlns:a="http://schemas.openxmlformats.org/drawingml/2006/main" prst="roundRect">
            <a:avLst>
              <a:gd name="adj" fmla="val 17647"/>
            </a:avLst>
          </a:prstGeom>
          <a:solidFill xmlns:a="http://schemas.openxmlformats.org/drawingml/2006/main">
            <a:srgbClr val="D4F1EE"/>
          </a:solidFill>
        </p:spPr>
        <p:txBody>
          <a:bodyPr xmlns:a="http://schemas.openxmlformats.org/drawingml/2006/main" wrap="square" anchor="ctr"/>
          <a:lstStyle xmlns:a="http://schemas.openxmlformats.org/drawingml/2006/main"/>
          <a:p xmlns:a="http://schemas.openxmlformats.org/drawingml/2006/main">
            <a:pPr marL="0" indent="0" algn="ctr">
              <a:buNone/>
            </a:pPr>
            <a:r>
              <a:rPr sz="950" b="1">
                <a:solidFill>
                  <a:srgbClr val="056A63"/>
                </a:solidFill>
                <a:latin typeface="Calibri"/>
                <a:ea typeface="Calibri"/>
                <a:cs typeface="Calibri"/>
              </a:rPr>
              <a:t>Lecture + live build demo</a:t>
            </a:r>
            <a:endParaRPr sz="950"/>
          </a:p>
        </p:txBody>
      </p:sp>
      <p:sp>
        <p:nvSpPr>
          <p:cNvPr id="21" name="Shape 18">
            <a:extLst xmlns:a="http://schemas.openxmlformats.org/drawingml/2006/main">
              <a:ext uri="{FF2B5EF4-FFF2-40B4-BE49-F238E27FC236}">
                <a16:creationId xmlns:a16="http://schemas.microsoft.com/office/drawing/2014/main" id="{9ECF2E5F-572D-42F1-829D-73A61263550A}"/>
              </a:ext>
            </a:extLst>
          </p:cNvPr>
          <p:cNvSpPr>
            <a:spLocks xmlns:a="http://schemas.openxmlformats.org/drawingml/2006/main" noGrp="1"/>
          </p:cNvSpPr>
          <p:nvPr/>
        </p:nvSpPr>
        <p:spPr>
          <a:xfrm xmlns:a="http://schemas.openxmlformats.org/drawingml/2006/main">
            <a:off x="9555480" y="2743200"/>
            <a:ext cx="1216152" cy="164592"/>
          </a:xfrm>
          <a:prstGeom xmlns:a="http://schemas.openxmlformats.org/drawingml/2006/main" prst="rect">
            <a:avLst/>
          </a:prstGeom>
          <a:solidFill xmlns:a="http://schemas.openxmlformats.org/drawingml/2006/main">
            <a:srgbClr val="1D2A5C"/>
          </a:solidFill>
        </p:spPr>
      </p:sp>
      <p:sp>
        <p:nvSpPr>
          <p:cNvPr id="22" name="Shape 19">
            <a:extLst xmlns:a="http://schemas.openxmlformats.org/drawingml/2006/main">
              <a:ext uri="{FF2B5EF4-FFF2-40B4-BE49-F238E27FC236}">
                <a16:creationId xmlns:a16="http://schemas.microsoft.com/office/drawing/2014/main" id="{DC6168B1-7172-4AD7-A1C9-D55D8FA328B2}"/>
              </a:ext>
            </a:extLst>
          </p:cNvPr>
          <p:cNvSpPr>
            <a:spLocks xmlns:a="http://schemas.openxmlformats.org/drawingml/2006/main" noGrp="1"/>
          </p:cNvSpPr>
          <p:nvPr/>
        </p:nvSpPr>
        <p:spPr>
          <a:xfrm xmlns:a="http://schemas.openxmlformats.org/drawingml/2006/main">
            <a:off x="10771632" y="2743200"/>
            <a:ext cx="521208" cy="164592"/>
          </a:xfrm>
          <a:prstGeom xmlns:a="http://schemas.openxmlformats.org/drawingml/2006/main" prst="rect">
            <a:avLst/>
          </a:prstGeom>
          <a:solidFill xmlns:a="http://schemas.openxmlformats.org/drawingml/2006/main">
            <a:srgbClr val="00A79D"/>
          </a:solidFill>
        </p:spPr>
      </p:sp>
      <p:sp>
        <p:nvSpPr>
          <p:cNvPr id="23" name="Text 20">
            <a:extLst xmlns:a="http://schemas.openxmlformats.org/drawingml/2006/main">
              <a:ext uri="{FF2B5EF4-FFF2-40B4-BE49-F238E27FC236}">
                <a16:creationId xmlns:a16="http://schemas.microsoft.com/office/drawing/2014/main" id="{41F7B368-04D8-4E4B-AE0F-F9174E63A8D8}"/>
              </a:ext>
            </a:extLst>
          </p:cNvPr>
          <p:cNvSpPr>
            <a:spLocks xmlns:a="http://schemas.openxmlformats.org/drawingml/2006/main" noGrp="1"/>
          </p:cNvSpPr>
          <p:nvPr/>
        </p:nvSpPr>
        <p:spPr>
          <a:xfrm xmlns:a="http://schemas.openxmlformats.org/drawingml/2006/main">
            <a:off x="9509760" y="2926080"/>
            <a:ext cx="182880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50">
                <a:solidFill>
                  <a:srgbClr val="8A96A6"/>
                </a:solidFill>
                <a:latin typeface="Calibri"/>
                <a:ea typeface="Calibri"/>
                <a:cs typeface="Calibri"/>
              </a:rPr>
              <a:t>70% theory · 30% lab</a:t>
            </a:r>
            <a:endParaRPr sz="750"/>
          </a:p>
        </p:txBody>
      </p:sp>
      <p:sp>
        <p:nvSpPr>
          <p:cNvPr id="24" name="Shape 21">
            <a:extLst xmlns:a="http://schemas.openxmlformats.org/drawingml/2006/main">
              <a:ext uri="{FF2B5EF4-FFF2-40B4-BE49-F238E27FC236}">
                <a16:creationId xmlns:a16="http://schemas.microsoft.com/office/drawing/2014/main" id="{BD2F9F9A-2501-40CC-8F06-FC4F94F50B31}"/>
              </a:ext>
            </a:extLst>
          </p:cNvPr>
          <p:cNvSpPr>
            <a:spLocks xmlns:a="http://schemas.openxmlformats.org/drawingml/2006/main" noGrp="1"/>
          </p:cNvSpPr>
          <p:nvPr/>
        </p:nvSpPr>
        <p:spPr>
          <a:xfrm xmlns:a="http://schemas.openxmlformats.org/drawingml/2006/main">
            <a:off x="502920" y="3346704"/>
            <a:ext cx="11183112" cy="82296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D9E4F5"/>
            </a:solidFill>
            <a:prstDash val="solid"/>
          </a:ln>
        </p:spPr>
      </p:sp>
      <p:sp>
        <p:nvSpPr>
          <p:cNvPr id="25" name="Text 22">
            <a:extLst xmlns:a="http://schemas.openxmlformats.org/drawingml/2006/main">
              <a:ext uri="{FF2B5EF4-FFF2-40B4-BE49-F238E27FC236}">
                <a16:creationId xmlns:a16="http://schemas.microsoft.com/office/drawing/2014/main" id="{5E683448-E08C-4B73-89DA-FEA2BF0274F0}"/>
              </a:ext>
            </a:extLst>
          </p:cNvPr>
          <p:cNvSpPr>
            <a:spLocks xmlns:a="http://schemas.openxmlformats.org/drawingml/2006/main" noGrp="1"/>
          </p:cNvSpPr>
          <p:nvPr/>
        </p:nvSpPr>
        <p:spPr>
          <a:xfrm xmlns:a="http://schemas.openxmlformats.org/drawingml/2006/main">
            <a:off x="685800" y="3520440"/>
            <a:ext cx="475488" cy="475488"/>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H3</a:t>
            </a:r>
            <a:endParaRPr sz="1300"/>
          </a:p>
        </p:txBody>
      </p:sp>
      <p:sp>
        <p:nvSpPr>
          <p:cNvPr id="26" name="Text 23">
            <a:extLst xmlns:a="http://schemas.openxmlformats.org/drawingml/2006/main">
              <a:ext uri="{FF2B5EF4-FFF2-40B4-BE49-F238E27FC236}">
                <a16:creationId xmlns:a16="http://schemas.microsoft.com/office/drawing/2014/main" id="{8B421E52-04C5-4E41-9DAD-7F9E4D927015}"/>
              </a:ext>
            </a:extLst>
          </p:cNvPr>
          <p:cNvSpPr>
            <a:spLocks xmlns:a="http://schemas.openxmlformats.org/drawingml/2006/main" noGrp="1"/>
          </p:cNvSpPr>
          <p:nvPr/>
        </p:nvSpPr>
        <p:spPr>
          <a:xfrm xmlns:a="http://schemas.openxmlformats.org/drawingml/2006/main">
            <a:off x="1353312" y="3438144"/>
            <a:ext cx="603504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Lab 3 — Containerise the service</a:t>
            </a:r>
            <a:endParaRPr sz="1350"/>
          </a:p>
        </p:txBody>
      </p:sp>
      <p:sp>
        <p:nvSpPr>
          <p:cNvPr id="27" name="Text 24">
            <a:extLst xmlns:a="http://schemas.openxmlformats.org/drawingml/2006/main">
              <a:ext uri="{FF2B5EF4-FFF2-40B4-BE49-F238E27FC236}">
                <a16:creationId xmlns:a16="http://schemas.microsoft.com/office/drawing/2014/main" id="{F444BF36-3F6E-4A47-AFA1-9CCFD319A65E}"/>
              </a:ext>
            </a:extLst>
          </p:cNvPr>
          <p:cNvSpPr>
            <a:spLocks xmlns:a="http://schemas.openxmlformats.org/drawingml/2006/main" noGrp="1"/>
          </p:cNvSpPr>
          <p:nvPr/>
        </p:nvSpPr>
        <p:spPr>
          <a:xfrm xmlns:a="http://schemas.openxmlformats.org/drawingml/2006/main">
            <a:off x="1353312" y="3749040"/>
            <a:ext cx="6035040" cy="3840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5F6B7A"/>
                </a:solidFill>
                <a:latin typeface="Calibri"/>
                <a:ea typeface="Calibri"/>
                <a:cs typeface="Calibri"/>
              </a:rPr>
              <a:t>Multi-stage Dockerfile, .dockerignore, compose with healthcheck; measure image size and startup</a:t>
            </a:r>
            <a:endParaRPr sz="1000"/>
          </a:p>
        </p:txBody>
      </p:sp>
      <p:sp>
        <p:nvSpPr>
          <p:cNvPr id="28" name="Text 25">
            <a:extLst xmlns:a="http://schemas.openxmlformats.org/drawingml/2006/main">
              <a:ext uri="{FF2B5EF4-FFF2-40B4-BE49-F238E27FC236}">
                <a16:creationId xmlns:a16="http://schemas.microsoft.com/office/drawing/2014/main" id="{08E12E96-41EB-4027-AFCE-34AAFE1D200F}"/>
              </a:ext>
            </a:extLst>
          </p:cNvPr>
          <p:cNvSpPr>
            <a:spLocks xmlns:a="http://schemas.openxmlformats.org/drawingml/2006/main" noGrp="1"/>
          </p:cNvSpPr>
          <p:nvPr/>
        </p:nvSpPr>
        <p:spPr>
          <a:xfrm xmlns:a="http://schemas.openxmlformats.org/drawingml/2006/main">
            <a:off x="7589520" y="3602736"/>
            <a:ext cx="1783080" cy="310896"/>
          </a:xfrm>
          <a:prstGeom xmlns:a="http://schemas.openxmlformats.org/drawingml/2006/main" prst="roundRect">
            <a:avLst>
              <a:gd name="adj" fmla="val 17647"/>
            </a:avLst>
          </a:prstGeom>
          <a:solidFill xmlns:a="http://schemas.openxmlformats.org/drawingml/2006/main">
            <a:srgbClr val="D4F1EE"/>
          </a:solidFill>
        </p:spPr>
        <p:txBody>
          <a:bodyPr xmlns:a="http://schemas.openxmlformats.org/drawingml/2006/main" wrap="square" anchor="ctr"/>
          <a:lstStyle xmlns:a="http://schemas.openxmlformats.org/drawingml/2006/main"/>
          <a:p xmlns:a="http://schemas.openxmlformats.org/drawingml/2006/main">
            <a:pPr marL="0" indent="0" algn="ctr">
              <a:buNone/>
            </a:pPr>
            <a:r>
              <a:rPr sz="950" b="1">
                <a:solidFill>
                  <a:srgbClr val="056A63"/>
                </a:solidFill>
                <a:latin typeface="Calibri"/>
                <a:ea typeface="Calibri"/>
                <a:cs typeface="Calibri"/>
              </a:rPr>
              <a:t>Guided lab</a:t>
            </a:r>
            <a:endParaRPr sz="950"/>
          </a:p>
        </p:txBody>
      </p:sp>
      <p:sp>
        <p:nvSpPr>
          <p:cNvPr id="29" name="Shape 26">
            <a:extLst xmlns:a="http://schemas.openxmlformats.org/drawingml/2006/main">
              <a:ext uri="{FF2B5EF4-FFF2-40B4-BE49-F238E27FC236}">
                <a16:creationId xmlns:a16="http://schemas.microsoft.com/office/drawing/2014/main" id="{151D7955-223E-46D6-BE5E-421A7710611F}"/>
              </a:ext>
            </a:extLst>
          </p:cNvPr>
          <p:cNvSpPr>
            <a:spLocks xmlns:a="http://schemas.openxmlformats.org/drawingml/2006/main" noGrp="1"/>
          </p:cNvSpPr>
          <p:nvPr/>
        </p:nvSpPr>
        <p:spPr>
          <a:xfrm xmlns:a="http://schemas.openxmlformats.org/drawingml/2006/main">
            <a:off x="9555480" y="3675888"/>
            <a:ext cx="173736" cy="164592"/>
          </a:xfrm>
          <a:prstGeom xmlns:a="http://schemas.openxmlformats.org/drawingml/2006/main" prst="rect">
            <a:avLst/>
          </a:prstGeom>
          <a:solidFill xmlns:a="http://schemas.openxmlformats.org/drawingml/2006/main">
            <a:srgbClr val="1D2A5C"/>
          </a:solidFill>
        </p:spPr>
      </p:sp>
      <p:sp>
        <p:nvSpPr>
          <p:cNvPr id="30" name="Shape 27">
            <a:extLst xmlns:a="http://schemas.openxmlformats.org/drawingml/2006/main">
              <a:ext uri="{FF2B5EF4-FFF2-40B4-BE49-F238E27FC236}">
                <a16:creationId xmlns:a16="http://schemas.microsoft.com/office/drawing/2014/main" id="{F2FB7752-A56B-498A-B60E-34A758A915B8}"/>
              </a:ext>
            </a:extLst>
          </p:cNvPr>
          <p:cNvSpPr>
            <a:spLocks xmlns:a="http://schemas.openxmlformats.org/drawingml/2006/main" noGrp="1"/>
          </p:cNvSpPr>
          <p:nvPr/>
        </p:nvSpPr>
        <p:spPr>
          <a:xfrm xmlns:a="http://schemas.openxmlformats.org/drawingml/2006/main">
            <a:off x="9729216" y="3675888"/>
            <a:ext cx="1563624" cy="164592"/>
          </a:xfrm>
          <a:prstGeom xmlns:a="http://schemas.openxmlformats.org/drawingml/2006/main" prst="rect">
            <a:avLst/>
          </a:prstGeom>
          <a:solidFill xmlns:a="http://schemas.openxmlformats.org/drawingml/2006/main">
            <a:srgbClr val="00A79D"/>
          </a:solidFill>
        </p:spPr>
      </p:sp>
      <p:sp>
        <p:nvSpPr>
          <p:cNvPr id="31" name="Text 28">
            <a:extLst xmlns:a="http://schemas.openxmlformats.org/drawingml/2006/main">
              <a:ext uri="{FF2B5EF4-FFF2-40B4-BE49-F238E27FC236}">
                <a16:creationId xmlns:a16="http://schemas.microsoft.com/office/drawing/2014/main" id="{3E0895A8-6E3D-4C5D-8575-A322AB8AFBDC}"/>
              </a:ext>
            </a:extLst>
          </p:cNvPr>
          <p:cNvSpPr>
            <a:spLocks xmlns:a="http://schemas.openxmlformats.org/drawingml/2006/main" noGrp="1"/>
          </p:cNvSpPr>
          <p:nvPr/>
        </p:nvSpPr>
        <p:spPr>
          <a:xfrm xmlns:a="http://schemas.openxmlformats.org/drawingml/2006/main">
            <a:off x="9509760" y="3858768"/>
            <a:ext cx="182880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50">
                <a:solidFill>
                  <a:srgbClr val="8A96A6"/>
                </a:solidFill>
                <a:latin typeface="Calibri"/>
                <a:ea typeface="Calibri"/>
                <a:cs typeface="Calibri"/>
              </a:rPr>
              <a:t>10% theory · 90% lab</a:t>
            </a:r>
            <a:endParaRPr sz="750"/>
          </a:p>
        </p:txBody>
      </p:sp>
      <p:sp>
        <p:nvSpPr>
          <p:cNvPr id="32" name="Shape 29">
            <a:extLst xmlns:a="http://schemas.openxmlformats.org/drawingml/2006/main">
              <a:ext uri="{FF2B5EF4-FFF2-40B4-BE49-F238E27FC236}">
                <a16:creationId xmlns:a16="http://schemas.microsoft.com/office/drawing/2014/main" id="{097355BE-B150-488F-8527-681A6224B5D9}"/>
              </a:ext>
            </a:extLst>
          </p:cNvPr>
          <p:cNvSpPr>
            <a:spLocks xmlns:a="http://schemas.openxmlformats.org/drawingml/2006/main" noGrp="1"/>
          </p:cNvSpPr>
          <p:nvPr/>
        </p:nvSpPr>
        <p:spPr>
          <a:xfrm xmlns:a="http://schemas.openxmlformats.org/drawingml/2006/main">
            <a:off x="502920" y="4279392"/>
            <a:ext cx="11183112" cy="822960"/>
          </a:xfrm>
          <a:prstGeom xmlns:a="http://schemas.openxmlformats.org/drawingml/2006/main" prst="roundRect">
            <a:avLst>
              <a:gd name="adj" fmla="val 5556"/>
            </a:avLst>
          </a:prstGeom>
          <a:solidFill xmlns:a="http://schemas.openxmlformats.org/drawingml/2006/main">
            <a:srgbClr val="EEF3FB"/>
          </a:solidFill>
          <a:ln xmlns:a="http://schemas.openxmlformats.org/drawingml/2006/main" w="9525">
            <a:solidFill>
              <a:srgbClr val="D9E4F5"/>
            </a:solidFill>
            <a:prstDash val="solid"/>
          </a:ln>
        </p:spPr>
      </p:sp>
      <p:sp>
        <p:nvSpPr>
          <p:cNvPr id="33" name="Text 30">
            <a:extLst xmlns:a="http://schemas.openxmlformats.org/drawingml/2006/main">
              <a:ext uri="{FF2B5EF4-FFF2-40B4-BE49-F238E27FC236}">
                <a16:creationId xmlns:a16="http://schemas.microsoft.com/office/drawing/2014/main" id="{340781D8-67DC-4E99-95B1-27D6DD77A68C}"/>
              </a:ext>
            </a:extLst>
          </p:cNvPr>
          <p:cNvSpPr>
            <a:spLocks xmlns:a="http://schemas.openxmlformats.org/drawingml/2006/main" noGrp="1"/>
          </p:cNvSpPr>
          <p:nvPr/>
        </p:nvSpPr>
        <p:spPr>
          <a:xfrm xmlns:a="http://schemas.openxmlformats.org/drawingml/2006/main">
            <a:off x="685800" y="4453128"/>
            <a:ext cx="475488" cy="475488"/>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H4</a:t>
            </a:r>
            <a:endParaRPr sz="1300"/>
          </a:p>
        </p:txBody>
      </p:sp>
      <p:sp>
        <p:nvSpPr>
          <p:cNvPr id="34" name="Text 31">
            <a:extLst xmlns:a="http://schemas.openxmlformats.org/drawingml/2006/main">
              <a:ext uri="{FF2B5EF4-FFF2-40B4-BE49-F238E27FC236}">
                <a16:creationId xmlns:a16="http://schemas.microsoft.com/office/drawing/2014/main" id="{EAF7BD66-BD6E-404B-AA5A-134E59DE4CFA}"/>
              </a:ext>
            </a:extLst>
          </p:cNvPr>
          <p:cNvSpPr>
            <a:spLocks xmlns:a="http://schemas.openxmlformats.org/drawingml/2006/main" noGrp="1"/>
          </p:cNvSpPr>
          <p:nvPr/>
        </p:nvSpPr>
        <p:spPr>
          <a:xfrm xmlns:a="http://schemas.openxmlformats.org/drawingml/2006/main">
            <a:off x="1353312" y="4370832"/>
            <a:ext cx="603504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Testing strategies for ML code (M4)</a:t>
            </a:r>
            <a:endParaRPr sz="1350"/>
          </a:p>
        </p:txBody>
      </p:sp>
      <p:sp>
        <p:nvSpPr>
          <p:cNvPr id="35" name="Text 32">
            <a:extLst xmlns:a="http://schemas.openxmlformats.org/drawingml/2006/main">
              <a:ext uri="{FF2B5EF4-FFF2-40B4-BE49-F238E27FC236}">
                <a16:creationId xmlns:a16="http://schemas.microsoft.com/office/drawing/2014/main" id="{CF9FAE8A-463B-44CD-AF3B-80EFDB30B5E9}"/>
              </a:ext>
            </a:extLst>
          </p:cNvPr>
          <p:cNvSpPr>
            <a:spLocks xmlns:a="http://schemas.openxmlformats.org/drawingml/2006/main" noGrp="1"/>
          </p:cNvSpPr>
          <p:nvPr/>
        </p:nvSpPr>
        <p:spPr>
          <a:xfrm xmlns:a="http://schemas.openxmlformats.org/drawingml/2006/main">
            <a:off x="1353312" y="4681728"/>
            <a:ext cx="6035040" cy="3840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5F6B7A"/>
                </a:solidFill>
                <a:latin typeface="Calibri"/>
                <a:ea typeface="Calibri"/>
                <a:cs typeface="Calibri"/>
              </a:rPr>
              <a:t>Testing pyramid for ML; unit vs integration vs model-behaviour; fixtures; invariance/directional</a:t>
            </a:r>
            <a:endParaRPr sz="1000"/>
          </a:p>
        </p:txBody>
      </p:sp>
      <p:sp>
        <p:nvSpPr>
          <p:cNvPr id="36" name="Text 33">
            <a:extLst xmlns:a="http://schemas.openxmlformats.org/drawingml/2006/main">
              <a:ext uri="{FF2B5EF4-FFF2-40B4-BE49-F238E27FC236}">
                <a16:creationId xmlns:a16="http://schemas.microsoft.com/office/drawing/2014/main" id="{8557E50C-F18D-4428-81ED-F4E88E2BBB60}"/>
              </a:ext>
            </a:extLst>
          </p:cNvPr>
          <p:cNvSpPr>
            <a:spLocks xmlns:a="http://schemas.openxmlformats.org/drawingml/2006/main" noGrp="1"/>
          </p:cNvSpPr>
          <p:nvPr/>
        </p:nvSpPr>
        <p:spPr>
          <a:xfrm xmlns:a="http://schemas.openxmlformats.org/drawingml/2006/main">
            <a:off x="7589520" y="4535424"/>
            <a:ext cx="1783080" cy="310896"/>
          </a:xfrm>
          <a:prstGeom xmlns:a="http://schemas.openxmlformats.org/drawingml/2006/main" prst="roundRect">
            <a:avLst>
              <a:gd name="adj" fmla="val 17647"/>
            </a:avLst>
          </a:prstGeom>
          <a:solidFill xmlns:a="http://schemas.openxmlformats.org/drawingml/2006/main">
            <a:srgbClr val="D4F1EE"/>
          </a:solidFill>
        </p:spPr>
        <p:txBody>
          <a:bodyPr xmlns:a="http://schemas.openxmlformats.org/drawingml/2006/main" wrap="square" anchor="ctr"/>
          <a:lstStyle xmlns:a="http://schemas.openxmlformats.org/drawingml/2006/main"/>
          <a:p xmlns:a="http://schemas.openxmlformats.org/drawingml/2006/main">
            <a:pPr marL="0" indent="0" algn="ctr">
              <a:buNone/>
            </a:pPr>
            <a:r>
              <a:rPr sz="950" b="1">
                <a:solidFill>
                  <a:srgbClr val="056A63"/>
                </a:solidFill>
                <a:latin typeface="Calibri"/>
                <a:ea typeface="Calibri"/>
                <a:cs typeface="Calibri"/>
              </a:rPr>
              <a:t>Lecture + test-writing demo</a:t>
            </a:r>
            <a:endParaRPr sz="950"/>
          </a:p>
        </p:txBody>
      </p:sp>
      <p:sp>
        <p:nvSpPr>
          <p:cNvPr id="37" name="Shape 34">
            <a:extLst xmlns:a="http://schemas.openxmlformats.org/drawingml/2006/main">
              <a:ext uri="{FF2B5EF4-FFF2-40B4-BE49-F238E27FC236}">
                <a16:creationId xmlns:a16="http://schemas.microsoft.com/office/drawing/2014/main" id="{BC0177E7-5006-4266-9E8E-7E43BB1BF219}"/>
              </a:ext>
            </a:extLst>
          </p:cNvPr>
          <p:cNvSpPr>
            <a:spLocks xmlns:a="http://schemas.openxmlformats.org/drawingml/2006/main" noGrp="1"/>
          </p:cNvSpPr>
          <p:nvPr/>
        </p:nvSpPr>
        <p:spPr>
          <a:xfrm xmlns:a="http://schemas.openxmlformats.org/drawingml/2006/main">
            <a:off x="9555480" y="4608576"/>
            <a:ext cx="1216152" cy="164592"/>
          </a:xfrm>
          <a:prstGeom xmlns:a="http://schemas.openxmlformats.org/drawingml/2006/main" prst="rect">
            <a:avLst/>
          </a:prstGeom>
          <a:solidFill xmlns:a="http://schemas.openxmlformats.org/drawingml/2006/main">
            <a:srgbClr val="1D2A5C"/>
          </a:solidFill>
        </p:spPr>
      </p:sp>
      <p:sp>
        <p:nvSpPr>
          <p:cNvPr id="38" name="Shape 35">
            <a:extLst xmlns:a="http://schemas.openxmlformats.org/drawingml/2006/main">
              <a:ext uri="{FF2B5EF4-FFF2-40B4-BE49-F238E27FC236}">
                <a16:creationId xmlns:a16="http://schemas.microsoft.com/office/drawing/2014/main" id="{BF89FE61-458B-4985-BE88-9299132777A5}"/>
              </a:ext>
            </a:extLst>
          </p:cNvPr>
          <p:cNvSpPr>
            <a:spLocks xmlns:a="http://schemas.openxmlformats.org/drawingml/2006/main" noGrp="1"/>
          </p:cNvSpPr>
          <p:nvPr/>
        </p:nvSpPr>
        <p:spPr>
          <a:xfrm xmlns:a="http://schemas.openxmlformats.org/drawingml/2006/main">
            <a:off x="10771632" y="4608576"/>
            <a:ext cx="521208" cy="164592"/>
          </a:xfrm>
          <a:prstGeom xmlns:a="http://schemas.openxmlformats.org/drawingml/2006/main" prst="rect">
            <a:avLst/>
          </a:prstGeom>
          <a:solidFill xmlns:a="http://schemas.openxmlformats.org/drawingml/2006/main">
            <a:srgbClr val="00A79D"/>
          </a:solidFill>
        </p:spPr>
      </p:sp>
      <p:sp>
        <p:nvSpPr>
          <p:cNvPr id="39" name="Text 36">
            <a:extLst xmlns:a="http://schemas.openxmlformats.org/drawingml/2006/main">
              <a:ext uri="{FF2B5EF4-FFF2-40B4-BE49-F238E27FC236}">
                <a16:creationId xmlns:a16="http://schemas.microsoft.com/office/drawing/2014/main" id="{05AF8D6F-A154-49E8-85A4-63A5A7867C5F}"/>
              </a:ext>
            </a:extLst>
          </p:cNvPr>
          <p:cNvSpPr>
            <a:spLocks xmlns:a="http://schemas.openxmlformats.org/drawingml/2006/main" noGrp="1"/>
          </p:cNvSpPr>
          <p:nvPr/>
        </p:nvSpPr>
        <p:spPr>
          <a:xfrm xmlns:a="http://schemas.openxmlformats.org/drawingml/2006/main">
            <a:off x="9509760" y="4791456"/>
            <a:ext cx="182880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50">
                <a:solidFill>
                  <a:srgbClr val="8A96A6"/>
                </a:solidFill>
                <a:latin typeface="Calibri"/>
                <a:ea typeface="Calibri"/>
                <a:cs typeface="Calibri"/>
              </a:rPr>
              <a:t>70% theory · 30% lab</a:t>
            </a:r>
            <a:endParaRPr sz="750"/>
          </a:p>
        </p:txBody>
      </p:sp>
      <p:sp>
        <p:nvSpPr>
          <p:cNvPr id="40" name="Shape 37">
            <a:extLst xmlns:a="http://schemas.openxmlformats.org/drawingml/2006/main">
              <a:ext uri="{FF2B5EF4-FFF2-40B4-BE49-F238E27FC236}">
                <a16:creationId xmlns:a16="http://schemas.microsoft.com/office/drawing/2014/main" id="{7B0A7757-82B2-42B8-B4D7-527130D240DE}"/>
              </a:ext>
            </a:extLst>
          </p:cNvPr>
          <p:cNvSpPr>
            <a:spLocks xmlns:a="http://schemas.openxmlformats.org/drawingml/2006/main" noGrp="1"/>
          </p:cNvSpPr>
          <p:nvPr/>
        </p:nvSpPr>
        <p:spPr>
          <a:xfrm xmlns:a="http://schemas.openxmlformats.org/drawingml/2006/main">
            <a:off x="502920" y="5212080"/>
            <a:ext cx="11183112" cy="82296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D9E4F5"/>
            </a:solidFill>
            <a:prstDash val="solid"/>
          </a:ln>
        </p:spPr>
      </p:sp>
      <p:sp>
        <p:nvSpPr>
          <p:cNvPr id="41" name="Text 38">
            <a:extLst xmlns:a="http://schemas.openxmlformats.org/drawingml/2006/main">
              <a:ext uri="{FF2B5EF4-FFF2-40B4-BE49-F238E27FC236}">
                <a16:creationId xmlns:a16="http://schemas.microsoft.com/office/drawing/2014/main" id="{ED927EA1-22C5-45C4-A23B-C92255AC14EF}"/>
              </a:ext>
            </a:extLst>
          </p:cNvPr>
          <p:cNvSpPr>
            <a:spLocks xmlns:a="http://schemas.openxmlformats.org/drawingml/2006/main" noGrp="1"/>
          </p:cNvSpPr>
          <p:nvPr/>
        </p:nvSpPr>
        <p:spPr>
          <a:xfrm xmlns:a="http://schemas.openxmlformats.org/drawingml/2006/main">
            <a:off x="685800" y="5385816"/>
            <a:ext cx="475488" cy="475488"/>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H5</a:t>
            </a:r>
            <a:endParaRPr sz="1300"/>
          </a:p>
        </p:txBody>
      </p:sp>
      <p:sp>
        <p:nvSpPr>
          <p:cNvPr id="42" name="Text 39">
            <a:extLst xmlns:a="http://schemas.openxmlformats.org/drawingml/2006/main">
              <a:ext uri="{FF2B5EF4-FFF2-40B4-BE49-F238E27FC236}">
                <a16:creationId xmlns:a16="http://schemas.microsoft.com/office/drawing/2014/main" id="{24972289-BEE1-4C50-BBC3-B9D3F3BCF65A}"/>
              </a:ext>
            </a:extLst>
          </p:cNvPr>
          <p:cNvSpPr>
            <a:spLocks xmlns:a="http://schemas.openxmlformats.org/drawingml/2006/main" noGrp="1"/>
          </p:cNvSpPr>
          <p:nvPr/>
        </p:nvSpPr>
        <p:spPr>
          <a:xfrm xmlns:a="http://schemas.openxmlformats.org/drawingml/2006/main">
            <a:off x="1353312" y="5303520"/>
            <a:ext cx="603504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Lab 4 — Test suite</a:t>
            </a:r>
            <a:endParaRPr sz="1350"/>
          </a:p>
        </p:txBody>
      </p:sp>
      <p:sp>
        <p:nvSpPr>
          <p:cNvPr id="43" name="Text 40">
            <a:extLst xmlns:a="http://schemas.openxmlformats.org/drawingml/2006/main">
              <a:ext uri="{FF2B5EF4-FFF2-40B4-BE49-F238E27FC236}">
                <a16:creationId xmlns:a16="http://schemas.microsoft.com/office/drawing/2014/main" id="{6023D95A-B14E-4E8C-AC4C-B643054CB953}"/>
              </a:ext>
            </a:extLst>
          </p:cNvPr>
          <p:cNvSpPr>
            <a:spLocks xmlns:a="http://schemas.openxmlformats.org/drawingml/2006/main" noGrp="1"/>
          </p:cNvSpPr>
          <p:nvPr/>
        </p:nvSpPr>
        <p:spPr>
          <a:xfrm xmlns:a="http://schemas.openxmlformats.org/drawingml/2006/main">
            <a:off x="1353312" y="5614416"/>
            <a:ext cx="6035040" cy="3840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5F6B7A"/>
                </a:solidFill>
                <a:latin typeface="Calibri"/>
                <a:ea typeface="Calibri"/>
                <a:cs typeface="Calibri"/>
              </a:rPr>
              <a:t>pytest unit + API integration + behavioural tests; coverage report ≥ 80% on the service layer</a:t>
            </a:r>
            <a:endParaRPr sz="1000"/>
          </a:p>
        </p:txBody>
      </p:sp>
      <p:sp>
        <p:nvSpPr>
          <p:cNvPr id="44" name="Text 41">
            <a:extLst xmlns:a="http://schemas.openxmlformats.org/drawingml/2006/main">
              <a:ext uri="{FF2B5EF4-FFF2-40B4-BE49-F238E27FC236}">
                <a16:creationId xmlns:a16="http://schemas.microsoft.com/office/drawing/2014/main" id="{BB5BE233-41CD-4EAC-BADE-DFFA70E12CC5}"/>
              </a:ext>
            </a:extLst>
          </p:cNvPr>
          <p:cNvSpPr>
            <a:spLocks xmlns:a="http://schemas.openxmlformats.org/drawingml/2006/main" noGrp="1"/>
          </p:cNvSpPr>
          <p:nvPr/>
        </p:nvSpPr>
        <p:spPr>
          <a:xfrm xmlns:a="http://schemas.openxmlformats.org/drawingml/2006/main">
            <a:off x="7589520" y="5468112"/>
            <a:ext cx="1783080" cy="310896"/>
          </a:xfrm>
          <a:prstGeom xmlns:a="http://schemas.openxmlformats.org/drawingml/2006/main" prst="roundRect">
            <a:avLst>
              <a:gd name="adj" fmla="val 17647"/>
            </a:avLst>
          </a:prstGeom>
          <a:solidFill xmlns:a="http://schemas.openxmlformats.org/drawingml/2006/main">
            <a:srgbClr val="D4F1EE"/>
          </a:solidFill>
        </p:spPr>
        <p:txBody>
          <a:bodyPr xmlns:a="http://schemas.openxmlformats.org/drawingml/2006/main" wrap="square" anchor="ctr"/>
          <a:lstStyle xmlns:a="http://schemas.openxmlformats.org/drawingml/2006/main"/>
          <a:p xmlns:a="http://schemas.openxmlformats.org/drawingml/2006/main">
            <a:pPr marL="0" indent="0" algn="ctr">
              <a:buNone/>
            </a:pPr>
            <a:r>
              <a:rPr sz="950" b="1">
                <a:solidFill>
                  <a:srgbClr val="056A63"/>
                </a:solidFill>
                <a:latin typeface="Calibri"/>
                <a:ea typeface="Calibri"/>
                <a:cs typeface="Calibri"/>
              </a:rPr>
              <a:t>Guided lab</a:t>
            </a:r>
            <a:endParaRPr sz="950"/>
          </a:p>
        </p:txBody>
      </p:sp>
      <p:sp>
        <p:nvSpPr>
          <p:cNvPr id="45" name="Shape 42">
            <a:extLst xmlns:a="http://schemas.openxmlformats.org/drawingml/2006/main">
              <a:ext uri="{FF2B5EF4-FFF2-40B4-BE49-F238E27FC236}">
                <a16:creationId xmlns:a16="http://schemas.microsoft.com/office/drawing/2014/main" id="{EBAD760B-58FF-4DE0-B251-513307BDAC94}"/>
              </a:ext>
            </a:extLst>
          </p:cNvPr>
          <p:cNvSpPr>
            <a:spLocks xmlns:a="http://schemas.openxmlformats.org/drawingml/2006/main" noGrp="1"/>
          </p:cNvSpPr>
          <p:nvPr/>
        </p:nvSpPr>
        <p:spPr>
          <a:xfrm xmlns:a="http://schemas.openxmlformats.org/drawingml/2006/main">
            <a:off x="9555480" y="5541264"/>
            <a:ext cx="173736" cy="164592"/>
          </a:xfrm>
          <a:prstGeom xmlns:a="http://schemas.openxmlformats.org/drawingml/2006/main" prst="rect">
            <a:avLst/>
          </a:prstGeom>
          <a:solidFill xmlns:a="http://schemas.openxmlformats.org/drawingml/2006/main">
            <a:srgbClr val="1D2A5C"/>
          </a:solidFill>
        </p:spPr>
      </p:sp>
      <p:sp>
        <p:nvSpPr>
          <p:cNvPr id="46" name="Shape 43">
            <a:extLst xmlns:a="http://schemas.openxmlformats.org/drawingml/2006/main">
              <a:ext uri="{FF2B5EF4-FFF2-40B4-BE49-F238E27FC236}">
                <a16:creationId xmlns:a16="http://schemas.microsoft.com/office/drawing/2014/main" id="{C587BFD0-353D-432D-B930-681880F42402}"/>
              </a:ext>
            </a:extLst>
          </p:cNvPr>
          <p:cNvSpPr>
            <a:spLocks xmlns:a="http://schemas.openxmlformats.org/drawingml/2006/main" noGrp="1"/>
          </p:cNvSpPr>
          <p:nvPr/>
        </p:nvSpPr>
        <p:spPr>
          <a:xfrm xmlns:a="http://schemas.openxmlformats.org/drawingml/2006/main">
            <a:off x="9729216" y="5541264"/>
            <a:ext cx="1563624" cy="164592"/>
          </a:xfrm>
          <a:prstGeom xmlns:a="http://schemas.openxmlformats.org/drawingml/2006/main" prst="rect">
            <a:avLst/>
          </a:prstGeom>
          <a:solidFill xmlns:a="http://schemas.openxmlformats.org/drawingml/2006/main">
            <a:srgbClr val="00A79D"/>
          </a:solidFill>
        </p:spPr>
      </p:sp>
      <p:sp>
        <p:nvSpPr>
          <p:cNvPr id="47" name="Text 44">
            <a:extLst xmlns:a="http://schemas.openxmlformats.org/drawingml/2006/main">
              <a:ext uri="{FF2B5EF4-FFF2-40B4-BE49-F238E27FC236}">
                <a16:creationId xmlns:a16="http://schemas.microsoft.com/office/drawing/2014/main" id="{CBE701B6-A9B6-4921-AEA8-F11334B09E12}"/>
              </a:ext>
            </a:extLst>
          </p:cNvPr>
          <p:cNvSpPr>
            <a:spLocks xmlns:a="http://schemas.openxmlformats.org/drawingml/2006/main" noGrp="1"/>
          </p:cNvSpPr>
          <p:nvPr/>
        </p:nvSpPr>
        <p:spPr>
          <a:xfrm xmlns:a="http://schemas.openxmlformats.org/drawingml/2006/main">
            <a:off x="9509760" y="5724144"/>
            <a:ext cx="182880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50">
                <a:solidFill>
                  <a:srgbClr val="8A96A6"/>
                </a:solidFill>
                <a:latin typeface="Calibri"/>
                <a:ea typeface="Calibri"/>
                <a:cs typeface="Calibri"/>
              </a:rPr>
              <a:t>10% theory · 90% lab</a:t>
            </a:r>
            <a:endParaRPr sz="750"/>
          </a:p>
        </p:txBody>
      </p:sp>
    </p:spTree>
    <p:extLst>
      <p:ext uri="{BB962C8B-B14F-4D97-AF65-F5344CB8AC3E}">
        <p14:creationId xmlns:p14="http://schemas.microsoft.com/office/powerpoint/2010/main" val="2004546841"/>
      </p:ext>
    </p:extLst>
  </p:cSld>
</p:sld>
</file>

<file path=ppt/slides/slide59.xml><?xml version="1.0" encoding="utf-8"?>
<p:sld xmlns:p="http://schemas.openxmlformats.org/presentationml/2006/main">
  <p:cSld>
    <p:bg>
      <p:bgPr>
        <a:solidFill xmlns:a="http://schemas.openxmlformats.org/drawingml/2006/main">
          <a:srgbClr val="1D2A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79E62BD-D958-4455-BAA2-43C8CDAA2541}"/>
              </a:ext>
            </a:extLst>
          </p:cNvPr>
          <p:cNvSpPr>
            <a:spLocks xmlns:a="http://schemas.openxmlformats.org/drawingml/2006/main" noGrp="1"/>
          </p:cNvSpPr>
          <p:nvPr/>
        </p:nvSpPr>
        <p:spPr>
          <a:xfrm xmlns:a="http://schemas.openxmlformats.org/drawingml/2006/main" rot="5400000" flipH="1">
            <a:off x="9235440" y="1298448"/>
            <a:ext cx="402336" cy="352044"/>
          </a:xfrm>
          <a:prstGeom xmlns:a="http://schemas.openxmlformats.org/drawingml/2006/main" prst="triangle">
            <a:avLst/>
          </a:prstGeom>
          <a:solidFill xmlns:a="http://schemas.openxmlformats.org/drawingml/2006/main">
            <a:srgbClr val="00A79D"/>
          </a:solidFill>
        </p:spPr>
      </p:sp>
      <p:sp>
        <p:nvSpPr>
          <p:cNvPr id="3" name="Shape 1">
            <a:extLst xmlns:a="http://schemas.openxmlformats.org/drawingml/2006/main">
              <a:ext uri="{FF2B5EF4-FFF2-40B4-BE49-F238E27FC236}">
                <a16:creationId xmlns:a16="http://schemas.microsoft.com/office/drawing/2014/main" id="{7F5D7C84-7C44-43ED-868A-4E52E031085B}"/>
              </a:ext>
            </a:extLst>
          </p:cNvPr>
          <p:cNvSpPr>
            <a:spLocks xmlns:a="http://schemas.openxmlformats.org/drawingml/2006/main" noGrp="1"/>
          </p:cNvSpPr>
          <p:nvPr/>
        </p:nvSpPr>
        <p:spPr>
          <a:xfrm xmlns:a="http://schemas.openxmlformats.org/drawingml/2006/main" rot="5400000">
            <a:off x="9661916" y="946404"/>
            <a:ext cx="402336" cy="352044"/>
          </a:xfrm>
          <a:prstGeom xmlns:a="http://schemas.openxmlformats.org/drawingml/2006/main" prst="triangle">
            <a:avLst/>
          </a:prstGeom>
          <a:solidFill xmlns:a="http://schemas.openxmlformats.org/drawingml/2006/main">
            <a:srgbClr val="29ABE2"/>
          </a:solidFill>
        </p:spPr>
      </p:sp>
      <p:sp>
        <p:nvSpPr>
          <p:cNvPr id="4" name="Shape 2">
            <a:extLst xmlns:a="http://schemas.openxmlformats.org/drawingml/2006/main">
              <a:ext uri="{FF2B5EF4-FFF2-40B4-BE49-F238E27FC236}">
                <a16:creationId xmlns:a16="http://schemas.microsoft.com/office/drawing/2014/main" id="{6D7EB4FF-15C0-43F5-914F-DAACA79FDCFD}"/>
              </a:ext>
            </a:extLst>
          </p:cNvPr>
          <p:cNvSpPr>
            <a:spLocks xmlns:a="http://schemas.openxmlformats.org/drawingml/2006/main" noGrp="1"/>
          </p:cNvSpPr>
          <p:nvPr/>
        </p:nvSpPr>
        <p:spPr>
          <a:xfrm xmlns:a="http://schemas.openxmlformats.org/drawingml/2006/main" rot="5400000">
            <a:off x="9661916" y="1650492"/>
            <a:ext cx="402336" cy="352044"/>
          </a:xfrm>
          <a:prstGeom xmlns:a="http://schemas.openxmlformats.org/drawingml/2006/main" prst="triangle">
            <a:avLst/>
          </a:prstGeom>
          <a:solidFill xmlns:a="http://schemas.openxmlformats.org/drawingml/2006/main">
            <a:srgbClr val="F58220"/>
          </a:solidFill>
        </p:spPr>
      </p:sp>
      <p:sp>
        <p:nvSpPr>
          <p:cNvPr id="5" name="Shape 3">
            <a:extLst xmlns:a="http://schemas.openxmlformats.org/drawingml/2006/main">
              <a:ext uri="{FF2B5EF4-FFF2-40B4-BE49-F238E27FC236}">
                <a16:creationId xmlns:a16="http://schemas.microsoft.com/office/drawing/2014/main" id="{9B2C2170-D30B-4A34-B7AF-280A46CB39A3}"/>
              </a:ext>
            </a:extLst>
          </p:cNvPr>
          <p:cNvSpPr>
            <a:spLocks xmlns:a="http://schemas.openxmlformats.org/drawingml/2006/main" noGrp="1"/>
          </p:cNvSpPr>
          <p:nvPr/>
        </p:nvSpPr>
        <p:spPr>
          <a:xfrm xmlns:a="http://schemas.openxmlformats.org/drawingml/2006/main" rot="5400000" flipH="1">
            <a:off x="10088392" y="594360"/>
            <a:ext cx="402336" cy="352044"/>
          </a:xfrm>
          <a:prstGeom xmlns:a="http://schemas.openxmlformats.org/drawingml/2006/main" prst="triangle">
            <a:avLst/>
          </a:prstGeom>
          <a:solidFill xmlns:a="http://schemas.openxmlformats.org/drawingml/2006/main">
            <a:srgbClr val="8DC63F"/>
          </a:solidFill>
        </p:spPr>
      </p:sp>
      <p:sp>
        <p:nvSpPr>
          <p:cNvPr id="6" name="Shape 4">
            <a:extLst xmlns:a="http://schemas.openxmlformats.org/drawingml/2006/main">
              <a:ext uri="{FF2B5EF4-FFF2-40B4-BE49-F238E27FC236}">
                <a16:creationId xmlns:a16="http://schemas.microsoft.com/office/drawing/2014/main" id="{019B7C5E-0321-47DE-8E66-C535E74042C3}"/>
              </a:ext>
            </a:extLst>
          </p:cNvPr>
          <p:cNvSpPr>
            <a:spLocks xmlns:a="http://schemas.openxmlformats.org/drawingml/2006/main" noGrp="1"/>
          </p:cNvSpPr>
          <p:nvPr/>
        </p:nvSpPr>
        <p:spPr>
          <a:xfrm xmlns:a="http://schemas.openxmlformats.org/drawingml/2006/main" rot="5400000">
            <a:off x="10088392" y="1298448"/>
            <a:ext cx="402336" cy="352044"/>
          </a:xfrm>
          <a:prstGeom xmlns:a="http://schemas.openxmlformats.org/drawingml/2006/main" prst="triangle">
            <a:avLst/>
          </a:prstGeom>
          <a:solidFill xmlns:a="http://schemas.openxmlformats.org/drawingml/2006/main">
            <a:srgbClr val="00A79D"/>
          </a:solidFill>
        </p:spPr>
      </p:sp>
      <p:sp>
        <p:nvSpPr>
          <p:cNvPr id="7" name="Shape 5">
            <a:extLst xmlns:a="http://schemas.openxmlformats.org/drawingml/2006/main">
              <a:ext uri="{FF2B5EF4-FFF2-40B4-BE49-F238E27FC236}">
                <a16:creationId xmlns:a16="http://schemas.microsoft.com/office/drawing/2014/main" id="{E4BC4D23-A449-4E79-8DC1-7A53511AF002}"/>
              </a:ext>
            </a:extLst>
          </p:cNvPr>
          <p:cNvSpPr>
            <a:spLocks xmlns:a="http://schemas.openxmlformats.org/drawingml/2006/main" noGrp="1"/>
          </p:cNvSpPr>
          <p:nvPr/>
        </p:nvSpPr>
        <p:spPr>
          <a:xfrm xmlns:a="http://schemas.openxmlformats.org/drawingml/2006/main" rot="5400000">
            <a:off x="10514868" y="946404"/>
            <a:ext cx="402336" cy="352044"/>
          </a:xfrm>
          <a:prstGeom xmlns:a="http://schemas.openxmlformats.org/drawingml/2006/main" prst="triangle">
            <a:avLst/>
          </a:prstGeom>
          <a:solidFill xmlns:a="http://schemas.openxmlformats.org/drawingml/2006/main">
            <a:srgbClr val="29ABE2"/>
          </a:solidFill>
        </p:spPr>
      </p:sp>
      <p:sp>
        <p:nvSpPr>
          <p:cNvPr id="8" name="Shape 6">
            <a:extLst xmlns:a="http://schemas.openxmlformats.org/drawingml/2006/main">
              <a:ext uri="{FF2B5EF4-FFF2-40B4-BE49-F238E27FC236}">
                <a16:creationId xmlns:a16="http://schemas.microsoft.com/office/drawing/2014/main" id="{D1913E2F-CD94-4EF3-8091-191282258CF0}"/>
              </a:ext>
            </a:extLst>
          </p:cNvPr>
          <p:cNvSpPr>
            <a:spLocks xmlns:a="http://schemas.openxmlformats.org/drawingml/2006/main" noGrp="1"/>
          </p:cNvSpPr>
          <p:nvPr/>
        </p:nvSpPr>
        <p:spPr>
          <a:xfrm xmlns:a="http://schemas.openxmlformats.org/drawingml/2006/main" rot="5400000" flipH="1">
            <a:off x="10514868" y="1650492"/>
            <a:ext cx="402336" cy="352044"/>
          </a:xfrm>
          <a:prstGeom xmlns:a="http://schemas.openxmlformats.org/drawingml/2006/main" prst="triangle">
            <a:avLst/>
          </a:prstGeom>
          <a:solidFill xmlns:a="http://schemas.openxmlformats.org/drawingml/2006/main">
            <a:srgbClr val="F58220"/>
          </a:solidFill>
        </p:spPr>
      </p:sp>
      <p:sp>
        <p:nvSpPr>
          <p:cNvPr id="9" name="Shape 7">
            <a:extLst xmlns:a="http://schemas.openxmlformats.org/drawingml/2006/main">
              <a:ext uri="{FF2B5EF4-FFF2-40B4-BE49-F238E27FC236}">
                <a16:creationId xmlns:a16="http://schemas.microsoft.com/office/drawing/2014/main" id="{7B4CBBFC-C0DF-4C57-A6B6-B768FD619017}"/>
              </a:ext>
            </a:extLst>
          </p:cNvPr>
          <p:cNvSpPr>
            <a:spLocks xmlns:a="http://schemas.openxmlformats.org/drawingml/2006/main" noGrp="1"/>
          </p:cNvSpPr>
          <p:nvPr/>
        </p:nvSpPr>
        <p:spPr>
          <a:xfrm xmlns:a="http://schemas.openxmlformats.org/drawingml/2006/main" rot="5400000">
            <a:off x="10941345" y="1298448"/>
            <a:ext cx="402336" cy="352044"/>
          </a:xfrm>
          <a:prstGeom xmlns:a="http://schemas.openxmlformats.org/drawingml/2006/main" prst="triangle">
            <a:avLst/>
          </a:prstGeom>
          <a:solidFill xmlns:a="http://schemas.openxmlformats.org/drawingml/2006/main">
            <a:srgbClr val="8DC63F"/>
          </a:solidFill>
        </p:spPr>
      </p:sp>
      <p:sp>
        <p:nvSpPr>
          <p:cNvPr id="10" name="Text 8">
            <a:extLst xmlns:a="http://schemas.openxmlformats.org/drawingml/2006/main">
              <a:ext uri="{FF2B5EF4-FFF2-40B4-BE49-F238E27FC236}">
                <a16:creationId xmlns:a16="http://schemas.microsoft.com/office/drawing/2014/main" id="{43D57D80-D8F5-406D-816C-67B4652A4C79}"/>
              </a:ext>
            </a:extLst>
          </p:cNvPr>
          <p:cNvSpPr>
            <a:spLocks xmlns:a="http://schemas.openxmlformats.org/drawingml/2006/main" noGrp="1"/>
          </p:cNvSpPr>
          <p:nvPr/>
        </p:nvSpPr>
        <p:spPr>
          <a:xfrm xmlns:a="http://schemas.openxmlformats.org/drawingml/2006/main">
            <a:off x="777240" y="1417320"/>
            <a:ext cx="731520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spc="400">
                <a:solidFill>
                  <a:srgbClr val="00A79D"/>
                </a:solidFill>
                <a:latin typeface="Calibri"/>
                <a:ea typeface="Calibri"/>
                <a:cs typeface="Calibri"/>
              </a:rPr>
              <a:t>DAY 2 · MODULE 3</a:t>
            </a:r>
            <a:endParaRPr sz="1500"/>
          </a:p>
        </p:txBody>
      </p:sp>
      <p:sp>
        <p:nvSpPr>
          <p:cNvPr id="11" name="Text 9">
            <a:extLst xmlns:a="http://schemas.openxmlformats.org/drawingml/2006/main">
              <a:ext uri="{FF2B5EF4-FFF2-40B4-BE49-F238E27FC236}">
                <a16:creationId xmlns:a16="http://schemas.microsoft.com/office/drawing/2014/main" id="{94A59F86-DC8A-44D9-982C-0F6DAF936614}"/>
              </a:ext>
            </a:extLst>
          </p:cNvPr>
          <p:cNvSpPr>
            <a:spLocks xmlns:a="http://schemas.openxmlformats.org/drawingml/2006/main" noGrp="1"/>
          </p:cNvSpPr>
          <p:nvPr/>
        </p:nvSpPr>
        <p:spPr>
          <a:xfrm xmlns:a="http://schemas.openxmlformats.org/drawingml/2006/main">
            <a:off x="749808" y="1874520"/>
            <a:ext cx="106070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600" b="1">
                <a:solidFill>
                  <a:srgbClr val="FFFFFF"/>
                </a:solidFill>
                <a:latin typeface="Calibri"/>
                <a:ea typeface="Calibri"/>
                <a:cs typeface="Calibri"/>
              </a:rPr>
              <a:t>Docker and Containerised Services</a:t>
            </a:r>
            <a:endParaRPr sz="3600"/>
          </a:p>
        </p:txBody>
      </p:sp>
      <p:sp>
        <p:nvSpPr>
          <p:cNvPr id="12" name="Text 10">
            <a:extLst xmlns:a="http://schemas.openxmlformats.org/drawingml/2006/main">
              <a:ext uri="{FF2B5EF4-FFF2-40B4-BE49-F238E27FC236}">
                <a16:creationId xmlns:a16="http://schemas.microsoft.com/office/drawing/2014/main" id="{C92E699A-EF94-44DD-BF3E-8A5DAD994491}"/>
              </a:ext>
            </a:extLst>
          </p:cNvPr>
          <p:cNvSpPr>
            <a:spLocks xmlns:a="http://schemas.openxmlformats.org/drawingml/2006/main" noGrp="1"/>
          </p:cNvSpPr>
          <p:nvPr/>
        </p:nvSpPr>
        <p:spPr>
          <a:xfrm xmlns:a="http://schemas.openxmlformats.org/drawingml/2006/main">
            <a:off x="777240" y="2761488"/>
            <a:ext cx="100584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a:solidFill>
                  <a:srgbClr val="B9C8E8"/>
                </a:solidFill>
                <a:latin typeface="Calibri"/>
                <a:ea typeface="Calibri"/>
                <a:cs typeface="Calibri"/>
              </a:rPr>
              <a:t>دوكر والخدمات الموضوعة في حاويات</a:t>
            </a:r>
            <a:endParaRPr sz="1700"/>
          </a:p>
        </p:txBody>
      </p:sp>
      <p:sp>
        <p:nvSpPr>
          <p:cNvPr id="13" name="Shape 11">
            <a:extLst xmlns:a="http://schemas.openxmlformats.org/drawingml/2006/main">
              <a:ext uri="{FF2B5EF4-FFF2-40B4-BE49-F238E27FC236}">
                <a16:creationId xmlns:a16="http://schemas.microsoft.com/office/drawing/2014/main" id="{64AA79B6-046F-4C63-B315-E5D061976B3B}"/>
              </a:ext>
            </a:extLst>
          </p:cNvPr>
          <p:cNvSpPr>
            <a:spLocks xmlns:a="http://schemas.openxmlformats.org/drawingml/2006/main" noGrp="1"/>
          </p:cNvSpPr>
          <p:nvPr/>
        </p:nvSpPr>
        <p:spPr>
          <a:xfrm xmlns:a="http://schemas.openxmlformats.org/drawingml/2006/main">
            <a:off x="777240"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14" name="Text 12">
            <a:extLst xmlns:a="http://schemas.openxmlformats.org/drawingml/2006/main">
              <a:ext uri="{FF2B5EF4-FFF2-40B4-BE49-F238E27FC236}">
                <a16:creationId xmlns:a16="http://schemas.microsoft.com/office/drawing/2014/main" id="{2B06B78F-B4E5-4A83-8643-E81C6B5FCC6E}"/>
              </a:ext>
            </a:extLst>
          </p:cNvPr>
          <p:cNvSpPr>
            <a:spLocks xmlns:a="http://schemas.openxmlformats.org/drawingml/2006/main" noGrp="1"/>
          </p:cNvSpPr>
          <p:nvPr/>
        </p:nvSpPr>
        <p:spPr>
          <a:xfrm xmlns:a="http://schemas.openxmlformats.org/drawingml/2006/main">
            <a:off x="923544"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A79D"/>
                </a:solidFill>
                <a:latin typeface="Calibri"/>
                <a:ea typeface="Calibri"/>
                <a:cs typeface="Calibri"/>
              </a:rPr>
              <a:t>01</a:t>
            </a:r>
            <a:endParaRPr sz="1400"/>
          </a:p>
        </p:txBody>
      </p:sp>
      <p:sp>
        <p:nvSpPr>
          <p:cNvPr id="15" name="Text 13">
            <a:extLst xmlns:a="http://schemas.openxmlformats.org/drawingml/2006/main">
              <a:ext uri="{FF2B5EF4-FFF2-40B4-BE49-F238E27FC236}">
                <a16:creationId xmlns:a16="http://schemas.microsoft.com/office/drawing/2014/main" id="{3E263A3C-F4AA-4259-B383-08D6E7803ADD}"/>
              </a:ext>
            </a:extLst>
          </p:cNvPr>
          <p:cNvSpPr>
            <a:spLocks xmlns:a="http://schemas.openxmlformats.org/drawingml/2006/main" noGrp="1"/>
          </p:cNvSpPr>
          <p:nvPr/>
        </p:nvSpPr>
        <p:spPr>
          <a:xfrm xmlns:a="http://schemas.openxmlformats.org/drawingml/2006/main">
            <a:off x="923544"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The mental model</a:t>
            </a:r>
            <a:endParaRPr sz="1200"/>
          </a:p>
        </p:txBody>
      </p:sp>
      <p:sp>
        <p:nvSpPr>
          <p:cNvPr id="16" name="Text 14">
            <a:extLst xmlns:a="http://schemas.openxmlformats.org/drawingml/2006/main">
              <a:ext uri="{FF2B5EF4-FFF2-40B4-BE49-F238E27FC236}">
                <a16:creationId xmlns:a16="http://schemas.microsoft.com/office/drawing/2014/main" id="{518FACE8-AF9F-425D-BB60-32000EE650C4}"/>
              </a:ext>
            </a:extLst>
          </p:cNvPr>
          <p:cNvSpPr>
            <a:spLocks xmlns:a="http://schemas.openxmlformats.org/drawingml/2006/main" noGrp="1"/>
          </p:cNvSpPr>
          <p:nvPr/>
        </p:nvSpPr>
        <p:spPr>
          <a:xfrm xmlns:a="http://schemas.openxmlformats.org/drawingml/2006/main">
            <a:off x="923544"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images, layers, containers, registries — and the build cache</a:t>
            </a:r>
            <a:endParaRPr sz="950"/>
          </a:p>
        </p:txBody>
      </p:sp>
      <p:sp>
        <p:nvSpPr>
          <p:cNvPr id="17" name="Shape 15">
            <a:extLst xmlns:a="http://schemas.openxmlformats.org/drawingml/2006/main">
              <a:ext uri="{FF2B5EF4-FFF2-40B4-BE49-F238E27FC236}">
                <a16:creationId xmlns:a16="http://schemas.microsoft.com/office/drawing/2014/main" id="{06FA097F-77EE-4DB9-BBDA-4A397707B137}"/>
              </a:ext>
            </a:extLst>
          </p:cNvPr>
          <p:cNvSpPr>
            <a:spLocks xmlns:a="http://schemas.openxmlformats.org/drawingml/2006/main" noGrp="1"/>
          </p:cNvSpPr>
          <p:nvPr/>
        </p:nvSpPr>
        <p:spPr>
          <a:xfrm xmlns:a="http://schemas.openxmlformats.org/drawingml/2006/main">
            <a:off x="3493008"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18" name="Text 16">
            <a:extLst xmlns:a="http://schemas.openxmlformats.org/drawingml/2006/main">
              <a:ext uri="{FF2B5EF4-FFF2-40B4-BE49-F238E27FC236}">
                <a16:creationId xmlns:a16="http://schemas.microsoft.com/office/drawing/2014/main" id="{A7197CA2-FE27-486E-9C01-85005B856D39}"/>
              </a:ext>
            </a:extLst>
          </p:cNvPr>
          <p:cNvSpPr>
            <a:spLocks xmlns:a="http://schemas.openxmlformats.org/drawingml/2006/main" noGrp="1"/>
          </p:cNvSpPr>
          <p:nvPr/>
        </p:nvSpPr>
        <p:spPr>
          <a:xfrm xmlns:a="http://schemas.openxmlformats.org/drawingml/2006/main">
            <a:off x="3639312"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29ABE2"/>
                </a:solidFill>
                <a:latin typeface="Calibri"/>
                <a:ea typeface="Calibri"/>
                <a:cs typeface="Calibri"/>
              </a:rPr>
              <a:t>02</a:t>
            </a:r>
            <a:endParaRPr sz="1400"/>
          </a:p>
        </p:txBody>
      </p:sp>
      <p:sp>
        <p:nvSpPr>
          <p:cNvPr id="19" name="Text 17">
            <a:extLst xmlns:a="http://schemas.openxmlformats.org/drawingml/2006/main">
              <a:ext uri="{FF2B5EF4-FFF2-40B4-BE49-F238E27FC236}">
                <a16:creationId xmlns:a16="http://schemas.microsoft.com/office/drawing/2014/main" id="{6B504788-DBB2-4916-AFAF-FA34D634B63A}"/>
              </a:ext>
            </a:extLst>
          </p:cNvPr>
          <p:cNvSpPr>
            <a:spLocks xmlns:a="http://schemas.openxmlformats.org/drawingml/2006/main" noGrp="1"/>
          </p:cNvSpPr>
          <p:nvPr/>
        </p:nvSpPr>
        <p:spPr>
          <a:xfrm xmlns:a="http://schemas.openxmlformats.org/drawingml/2006/main">
            <a:off x="3639312"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Multi-stage builds</a:t>
            </a:r>
            <a:endParaRPr sz="1200"/>
          </a:p>
        </p:txBody>
      </p:sp>
      <p:sp>
        <p:nvSpPr>
          <p:cNvPr id="20" name="Text 18">
            <a:extLst xmlns:a="http://schemas.openxmlformats.org/drawingml/2006/main">
              <a:ext uri="{FF2B5EF4-FFF2-40B4-BE49-F238E27FC236}">
                <a16:creationId xmlns:a16="http://schemas.microsoft.com/office/drawing/2014/main" id="{C2F1A31D-128D-429D-A74B-6263220325BF}"/>
              </a:ext>
            </a:extLst>
          </p:cNvPr>
          <p:cNvSpPr>
            <a:spLocks xmlns:a="http://schemas.openxmlformats.org/drawingml/2006/main" noGrp="1"/>
          </p:cNvSpPr>
          <p:nvPr/>
        </p:nvSpPr>
        <p:spPr>
          <a:xfrm xmlns:a="http://schemas.openxmlformats.org/drawingml/2006/main">
            <a:off x="3639312"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builder room vs runtime room: 2.4 GB naive → 410 MB slim</a:t>
            </a:r>
            <a:endParaRPr sz="950"/>
          </a:p>
        </p:txBody>
      </p:sp>
      <p:sp>
        <p:nvSpPr>
          <p:cNvPr id="21" name="Shape 19">
            <a:extLst xmlns:a="http://schemas.openxmlformats.org/drawingml/2006/main">
              <a:ext uri="{FF2B5EF4-FFF2-40B4-BE49-F238E27FC236}">
                <a16:creationId xmlns:a16="http://schemas.microsoft.com/office/drawing/2014/main" id="{2E4837AC-BFA9-4DB3-AC06-0A160031AAA4}"/>
              </a:ext>
            </a:extLst>
          </p:cNvPr>
          <p:cNvSpPr>
            <a:spLocks xmlns:a="http://schemas.openxmlformats.org/drawingml/2006/main" noGrp="1"/>
          </p:cNvSpPr>
          <p:nvPr/>
        </p:nvSpPr>
        <p:spPr>
          <a:xfrm xmlns:a="http://schemas.openxmlformats.org/drawingml/2006/main">
            <a:off x="6208776"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22" name="Text 20">
            <a:extLst xmlns:a="http://schemas.openxmlformats.org/drawingml/2006/main">
              <a:ext uri="{FF2B5EF4-FFF2-40B4-BE49-F238E27FC236}">
                <a16:creationId xmlns:a16="http://schemas.microsoft.com/office/drawing/2014/main" id="{733C628D-2E46-42C3-B7A3-BF3404C38963}"/>
              </a:ext>
            </a:extLst>
          </p:cNvPr>
          <p:cNvSpPr>
            <a:spLocks xmlns:a="http://schemas.openxmlformats.org/drawingml/2006/main" noGrp="1"/>
          </p:cNvSpPr>
          <p:nvPr/>
        </p:nvSpPr>
        <p:spPr>
          <a:xfrm xmlns:a="http://schemas.openxmlformats.org/drawingml/2006/main">
            <a:off x="6355080"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F58220"/>
                </a:solidFill>
                <a:latin typeface="Calibri"/>
                <a:ea typeface="Calibri"/>
                <a:cs typeface="Calibri"/>
              </a:rPr>
              <a:t>03</a:t>
            </a:r>
            <a:endParaRPr sz="1400"/>
          </a:p>
        </p:txBody>
      </p:sp>
      <p:sp>
        <p:nvSpPr>
          <p:cNvPr id="23" name="Text 21">
            <a:extLst xmlns:a="http://schemas.openxmlformats.org/drawingml/2006/main">
              <a:ext uri="{FF2B5EF4-FFF2-40B4-BE49-F238E27FC236}">
                <a16:creationId xmlns:a16="http://schemas.microsoft.com/office/drawing/2014/main" id="{B6A25B42-5DE1-42DA-BC44-C9DBF1B212E4}"/>
              </a:ext>
            </a:extLst>
          </p:cNvPr>
          <p:cNvSpPr>
            <a:spLocks xmlns:a="http://schemas.openxmlformats.org/drawingml/2006/main" noGrp="1"/>
          </p:cNvSpPr>
          <p:nvPr/>
        </p:nvSpPr>
        <p:spPr>
          <a:xfrm xmlns:a="http://schemas.openxmlformats.org/drawingml/2006/main">
            <a:off x="6355080"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Runtime hygiene</a:t>
            </a:r>
            <a:endParaRPr sz="1200"/>
          </a:p>
        </p:txBody>
      </p:sp>
      <p:sp>
        <p:nvSpPr>
          <p:cNvPr id="24" name="Text 22">
            <a:extLst xmlns:a="http://schemas.openxmlformats.org/drawingml/2006/main">
              <a:ext uri="{FF2B5EF4-FFF2-40B4-BE49-F238E27FC236}">
                <a16:creationId xmlns:a16="http://schemas.microsoft.com/office/drawing/2014/main" id="{D179C830-D43E-4AC2-83C9-FD74EF3AF8FD}"/>
              </a:ext>
            </a:extLst>
          </p:cNvPr>
          <p:cNvSpPr>
            <a:spLocks xmlns:a="http://schemas.openxmlformats.org/drawingml/2006/main" noGrp="1"/>
          </p:cNvSpPr>
          <p:nvPr/>
        </p:nvSpPr>
        <p:spPr>
          <a:xfrm xmlns:a="http://schemas.openxmlformats.org/drawingml/2006/main">
            <a:off x="6355080"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non-root, /ready healthcheck, exec-form CMD, secrets discipline</a:t>
            </a:r>
            <a:endParaRPr sz="950"/>
          </a:p>
        </p:txBody>
      </p:sp>
      <p:sp>
        <p:nvSpPr>
          <p:cNvPr id="25" name="Shape 23">
            <a:extLst xmlns:a="http://schemas.openxmlformats.org/drawingml/2006/main">
              <a:ext uri="{FF2B5EF4-FFF2-40B4-BE49-F238E27FC236}">
                <a16:creationId xmlns:a16="http://schemas.microsoft.com/office/drawing/2014/main" id="{20FE9BB6-C5DB-490B-9A66-05C0256E57E3}"/>
              </a:ext>
            </a:extLst>
          </p:cNvPr>
          <p:cNvSpPr>
            <a:spLocks xmlns:a="http://schemas.openxmlformats.org/drawingml/2006/main" noGrp="1"/>
          </p:cNvSpPr>
          <p:nvPr/>
        </p:nvSpPr>
        <p:spPr>
          <a:xfrm xmlns:a="http://schemas.openxmlformats.org/drawingml/2006/main">
            <a:off x="8924544"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26" name="Text 24">
            <a:extLst xmlns:a="http://schemas.openxmlformats.org/drawingml/2006/main">
              <a:ext uri="{FF2B5EF4-FFF2-40B4-BE49-F238E27FC236}">
                <a16:creationId xmlns:a16="http://schemas.microsoft.com/office/drawing/2014/main" id="{FCED2B29-DB82-489D-A3FF-AED9E7CEF6B9}"/>
              </a:ext>
            </a:extLst>
          </p:cNvPr>
          <p:cNvSpPr>
            <a:spLocks xmlns:a="http://schemas.openxmlformats.org/drawingml/2006/main" noGrp="1"/>
          </p:cNvSpPr>
          <p:nvPr/>
        </p:nvSpPr>
        <p:spPr>
          <a:xfrm xmlns:a="http://schemas.openxmlformats.org/drawingml/2006/main">
            <a:off x="9070848"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8DC63F"/>
                </a:solidFill>
                <a:latin typeface="Calibri"/>
                <a:ea typeface="Calibri"/>
                <a:cs typeface="Calibri"/>
              </a:rPr>
              <a:t>04</a:t>
            </a:r>
            <a:endParaRPr sz="1400"/>
          </a:p>
        </p:txBody>
      </p:sp>
      <p:sp>
        <p:nvSpPr>
          <p:cNvPr id="27" name="Text 25">
            <a:extLst xmlns:a="http://schemas.openxmlformats.org/drawingml/2006/main">
              <a:ext uri="{FF2B5EF4-FFF2-40B4-BE49-F238E27FC236}">
                <a16:creationId xmlns:a16="http://schemas.microsoft.com/office/drawing/2014/main" id="{132C4432-AE3A-46D1-B453-C8E12538C0AD}"/>
              </a:ext>
            </a:extLst>
          </p:cNvPr>
          <p:cNvSpPr>
            <a:spLocks xmlns:a="http://schemas.openxmlformats.org/drawingml/2006/main" noGrp="1"/>
          </p:cNvSpPr>
          <p:nvPr/>
        </p:nvSpPr>
        <p:spPr>
          <a:xfrm xmlns:a="http://schemas.openxmlformats.org/drawingml/2006/main">
            <a:off x="9070848"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docker compose</a:t>
            </a:r>
            <a:endParaRPr sz="1200"/>
          </a:p>
        </p:txBody>
      </p:sp>
      <p:sp>
        <p:nvSpPr>
          <p:cNvPr id="28" name="Text 26">
            <a:extLst xmlns:a="http://schemas.openxmlformats.org/drawingml/2006/main">
              <a:ext uri="{FF2B5EF4-FFF2-40B4-BE49-F238E27FC236}">
                <a16:creationId xmlns:a16="http://schemas.microsoft.com/office/drawing/2014/main" id="{9F1B55A7-B855-4068-ACCD-343DCDD1058A}"/>
              </a:ext>
            </a:extLst>
          </p:cNvPr>
          <p:cNvSpPr>
            <a:spLocks xmlns:a="http://schemas.openxmlformats.org/drawingml/2006/main" noGrp="1"/>
          </p:cNvSpPr>
          <p:nvPr/>
        </p:nvSpPr>
        <p:spPr>
          <a:xfrm xmlns:a="http://schemas.openxmlformats.org/drawingml/2006/main">
            <a:off x="9070848"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the local production simulator, healthcheck-gated</a:t>
            </a:r>
            <a:endParaRPr sz="950"/>
          </a:p>
        </p:txBody>
      </p:sp>
      <p:sp>
        <p:nvSpPr>
          <p:cNvPr id="29" name="Text 27">
            <a:extLst xmlns:a="http://schemas.openxmlformats.org/drawingml/2006/main">
              <a:ext uri="{FF2B5EF4-FFF2-40B4-BE49-F238E27FC236}">
                <a16:creationId xmlns:a16="http://schemas.microsoft.com/office/drawing/2014/main" id="{1A0733B9-7BEC-4898-9544-4CC253B4B6C1}"/>
              </a:ext>
            </a:extLst>
          </p:cNvPr>
          <p:cNvSpPr>
            <a:spLocks xmlns:a="http://schemas.openxmlformats.org/drawingml/2006/main" noGrp="1"/>
          </p:cNvSpPr>
          <p:nvPr/>
        </p:nvSpPr>
        <p:spPr>
          <a:xfrm xmlns:a="http://schemas.openxmlformats.org/drawingml/2006/main">
            <a:off x="777240" y="5806440"/>
            <a:ext cx="100584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8A96C8"/>
                </a:solidFill>
                <a:latin typeface="Calibri"/>
                <a:ea typeface="Calibri"/>
                <a:cs typeface="Calibri"/>
              </a:rPr>
              <a:t>1 hour lecture + 50 min lab</a:t>
            </a:r>
            <a:endParaRPr sz="1100"/>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aa822809611c4d1d"/>
          <a:stretch xmlns:a="http://schemas.openxmlformats.org/drawingml/2006/main">
            <a:fillRect l="0" t="0" r="0" b="0"/>
          </a:stretch>
        </p:blipFill>
        <p:spPr>
          <a:xfrm xmlns:a="http://schemas.openxmlformats.org/drawingml/2006/main">
            <a:off x="777240" y="6309360"/>
            <a:ext cx="1078992" cy="265176"/>
          </a:xfrm>
          <a:prstGeom xmlns:a="http://schemas.openxmlformats.org/drawingml/2006/main" prst="rect">
            <a:avLst/>
          </a:prstGeom>
        </p:spPr>
      </p:pic>
    </p:spTree>
    <p:extLst>
      <p:ext uri="{BB962C8B-B14F-4D97-AF65-F5344CB8AC3E}">
        <p14:creationId xmlns:p14="http://schemas.microsoft.com/office/powerpoint/2010/main" val="1801174810"/>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E971844-0D57-48D1-9F00-81B8738ACC5A}"/>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Module 3 — learning objectives</a:t>
            </a:r>
            <a:endParaRPr sz="2600"/>
          </a:p>
        </p:txBody>
      </p:sp>
      <p:sp>
        <p:nvSpPr>
          <p:cNvPr id="3" name="Text 1">
            <a:extLst xmlns:a="http://schemas.openxmlformats.org/drawingml/2006/main">
              <a:ext uri="{FF2B5EF4-FFF2-40B4-BE49-F238E27FC236}">
                <a16:creationId xmlns:a16="http://schemas.microsoft.com/office/drawing/2014/main" id="{C5AA39D9-B643-4E28-A935-505CE146C96E}"/>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الوحدة الثالثة — أهداف التعلم</a:t>
            </a:r>
            <a:endParaRPr sz="1300"/>
          </a:p>
        </p:txBody>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feb52608371841ef"/>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3C4AAE2B-1B70-4132-BE28-C81291DFC5AE}"/>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490B8068-224C-4815-81B5-15CEC4F3FB19}"/>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3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D644A050-2D79-4398-BDCA-2AD0CEDC71F8}"/>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60</a:t>
            </a:r>
            <a:endParaRPr sz="850"/>
          </a:p>
        </p:txBody>
      </p:sp>
      <p:sp>
        <p:nvSpPr>
          <p:cNvPr id="8" name="Shape 5">
            <a:extLst xmlns:a="http://schemas.openxmlformats.org/drawingml/2006/main">
              <a:ext uri="{FF2B5EF4-FFF2-40B4-BE49-F238E27FC236}">
                <a16:creationId xmlns:a16="http://schemas.microsoft.com/office/drawing/2014/main" id="{72B87893-624A-4DEC-8D8A-1DCEA5C600FC}"/>
              </a:ext>
            </a:extLst>
          </p:cNvPr>
          <p:cNvSpPr>
            <a:spLocks xmlns:a="http://schemas.openxmlformats.org/drawingml/2006/main" noGrp="1"/>
          </p:cNvSpPr>
          <p:nvPr/>
        </p:nvSpPr>
        <p:spPr>
          <a:xfrm xmlns:a="http://schemas.openxmlformats.org/drawingml/2006/main">
            <a:off x="502920" y="1481328"/>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EF87BB12-2CF4-40E2-8051-72EB43FCA891}"/>
              </a:ext>
            </a:extLst>
          </p:cNvPr>
          <p:cNvSpPr>
            <a:spLocks xmlns:a="http://schemas.openxmlformats.org/drawingml/2006/main" noGrp="1"/>
          </p:cNvSpPr>
          <p:nvPr/>
        </p:nvSpPr>
        <p:spPr>
          <a:xfrm xmlns:a="http://schemas.openxmlformats.org/drawingml/2006/main">
            <a:off x="502920" y="1481328"/>
            <a:ext cx="64008" cy="1417320"/>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C70DADD2-736F-4802-BF81-F95DB662C16B}"/>
              </a:ext>
            </a:extLst>
          </p:cNvPr>
          <p:cNvSpPr>
            <a:spLocks xmlns:a="http://schemas.openxmlformats.org/drawingml/2006/main" noGrp="1"/>
          </p:cNvSpPr>
          <p:nvPr/>
        </p:nvSpPr>
        <p:spPr>
          <a:xfrm xmlns:a="http://schemas.openxmlformats.org/drawingml/2006/main">
            <a:off x="685800" y="1609344"/>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3.1</a:t>
            </a:r>
            <a:endParaRPr sz="1200"/>
          </a:p>
        </p:txBody>
      </p:sp>
      <p:sp>
        <p:nvSpPr>
          <p:cNvPr id="11" name="Text 8">
            <a:extLst xmlns:a="http://schemas.openxmlformats.org/drawingml/2006/main">
              <a:ext uri="{FF2B5EF4-FFF2-40B4-BE49-F238E27FC236}">
                <a16:creationId xmlns:a16="http://schemas.microsoft.com/office/drawing/2014/main" id="{5B33D429-58F2-44C2-93D1-81EB79B88D07}"/>
              </a:ext>
            </a:extLst>
          </p:cNvPr>
          <p:cNvSpPr>
            <a:spLocks xmlns:a="http://schemas.openxmlformats.org/drawingml/2006/main" noGrp="1"/>
          </p:cNvSpPr>
          <p:nvPr/>
        </p:nvSpPr>
        <p:spPr>
          <a:xfrm xmlns:a="http://schemas.openxmlformats.org/drawingml/2006/main">
            <a:off x="4997196" y="1609344"/>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LO2</a:t>
            </a:r>
            <a:endParaRPr sz="850"/>
          </a:p>
        </p:txBody>
      </p:sp>
      <p:sp>
        <p:nvSpPr>
          <p:cNvPr id="12" name="Text 9">
            <a:extLst xmlns:a="http://schemas.openxmlformats.org/drawingml/2006/main">
              <a:ext uri="{FF2B5EF4-FFF2-40B4-BE49-F238E27FC236}">
                <a16:creationId xmlns:a16="http://schemas.microsoft.com/office/drawing/2014/main" id="{F5EF55C5-2E78-4261-B208-7CBF09019CE2}"/>
              </a:ext>
            </a:extLst>
          </p:cNvPr>
          <p:cNvSpPr>
            <a:spLocks xmlns:a="http://schemas.openxmlformats.org/drawingml/2006/main" noGrp="1"/>
          </p:cNvSpPr>
          <p:nvPr/>
        </p:nvSpPr>
        <p:spPr>
          <a:xfrm xmlns:a="http://schemas.openxmlformats.org/drawingml/2006/main">
            <a:off x="685800" y="1901952"/>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Explain images, layers, containers, registries, and the build cache</a:t>
            </a:r>
            <a:endParaRPr sz="1100"/>
          </a:p>
        </p:txBody>
      </p:sp>
      <p:sp>
        <p:nvSpPr>
          <p:cNvPr id="13" name="Shape 10">
            <a:extLst xmlns:a="http://schemas.openxmlformats.org/drawingml/2006/main">
              <a:ext uri="{FF2B5EF4-FFF2-40B4-BE49-F238E27FC236}">
                <a16:creationId xmlns:a16="http://schemas.microsoft.com/office/drawing/2014/main" id="{9CE750C5-E72E-403A-9805-6F4A4ABEB745}"/>
              </a:ext>
            </a:extLst>
          </p:cNvPr>
          <p:cNvSpPr>
            <a:spLocks xmlns:a="http://schemas.openxmlformats.org/drawingml/2006/main" noGrp="1"/>
          </p:cNvSpPr>
          <p:nvPr/>
        </p:nvSpPr>
        <p:spPr>
          <a:xfrm xmlns:a="http://schemas.openxmlformats.org/drawingml/2006/main">
            <a:off x="6231636" y="1481328"/>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14" name="Shape 11">
            <a:extLst xmlns:a="http://schemas.openxmlformats.org/drawingml/2006/main">
              <a:ext uri="{FF2B5EF4-FFF2-40B4-BE49-F238E27FC236}">
                <a16:creationId xmlns:a16="http://schemas.microsoft.com/office/drawing/2014/main" id="{61A72415-C880-41FA-9E04-DD071C722DEF}"/>
              </a:ext>
            </a:extLst>
          </p:cNvPr>
          <p:cNvSpPr>
            <a:spLocks xmlns:a="http://schemas.openxmlformats.org/drawingml/2006/main" noGrp="1"/>
          </p:cNvSpPr>
          <p:nvPr/>
        </p:nvSpPr>
        <p:spPr>
          <a:xfrm xmlns:a="http://schemas.openxmlformats.org/drawingml/2006/main">
            <a:off x="6231636" y="1481328"/>
            <a:ext cx="64008" cy="1417320"/>
          </a:xfrm>
          <a:prstGeom xmlns:a="http://schemas.openxmlformats.org/drawingml/2006/main" prst="rect">
            <a:avLst/>
          </a:prstGeom>
          <a:solidFill xmlns:a="http://schemas.openxmlformats.org/drawingml/2006/main">
            <a:srgbClr val="29ABE2"/>
          </a:solidFill>
        </p:spPr>
      </p:sp>
      <p:sp>
        <p:nvSpPr>
          <p:cNvPr id="15" name="Text 12">
            <a:extLst xmlns:a="http://schemas.openxmlformats.org/drawingml/2006/main">
              <a:ext uri="{FF2B5EF4-FFF2-40B4-BE49-F238E27FC236}">
                <a16:creationId xmlns:a16="http://schemas.microsoft.com/office/drawing/2014/main" id="{E43CE0F1-FA32-4D1D-B8FB-E14753B2CDA2}"/>
              </a:ext>
            </a:extLst>
          </p:cNvPr>
          <p:cNvSpPr>
            <a:spLocks xmlns:a="http://schemas.openxmlformats.org/drawingml/2006/main" noGrp="1"/>
          </p:cNvSpPr>
          <p:nvPr/>
        </p:nvSpPr>
        <p:spPr>
          <a:xfrm xmlns:a="http://schemas.openxmlformats.org/drawingml/2006/main">
            <a:off x="6414516" y="1609344"/>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3.2</a:t>
            </a:r>
            <a:endParaRPr sz="1200"/>
          </a:p>
        </p:txBody>
      </p:sp>
      <p:sp>
        <p:nvSpPr>
          <p:cNvPr id="16" name="Text 13">
            <a:extLst xmlns:a="http://schemas.openxmlformats.org/drawingml/2006/main">
              <a:ext uri="{FF2B5EF4-FFF2-40B4-BE49-F238E27FC236}">
                <a16:creationId xmlns:a16="http://schemas.microsoft.com/office/drawing/2014/main" id="{A82C1F18-171F-4B2F-A270-11C1249966EF}"/>
              </a:ext>
            </a:extLst>
          </p:cNvPr>
          <p:cNvSpPr>
            <a:spLocks xmlns:a="http://schemas.openxmlformats.org/drawingml/2006/main" noGrp="1"/>
          </p:cNvSpPr>
          <p:nvPr/>
        </p:nvSpPr>
        <p:spPr>
          <a:xfrm xmlns:a="http://schemas.openxmlformats.org/drawingml/2006/main">
            <a:off x="10725912" y="1609344"/>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LO2</a:t>
            </a:r>
            <a:endParaRPr sz="850"/>
          </a:p>
        </p:txBody>
      </p:sp>
      <p:sp>
        <p:nvSpPr>
          <p:cNvPr id="17" name="Text 14">
            <a:extLst xmlns:a="http://schemas.openxmlformats.org/drawingml/2006/main">
              <a:ext uri="{FF2B5EF4-FFF2-40B4-BE49-F238E27FC236}">
                <a16:creationId xmlns:a16="http://schemas.microsoft.com/office/drawing/2014/main" id="{774CF878-BF90-4CF9-B4D7-A94E3021C1C8}"/>
              </a:ext>
            </a:extLst>
          </p:cNvPr>
          <p:cNvSpPr>
            <a:spLocks xmlns:a="http://schemas.openxmlformats.org/drawingml/2006/main" noGrp="1"/>
          </p:cNvSpPr>
          <p:nvPr/>
        </p:nvSpPr>
        <p:spPr>
          <a:xfrm xmlns:a="http://schemas.openxmlformats.org/drawingml/2006/main">
            <a:off x="6414516" y="1901952"/>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Author a multi-stage Dockerfile for the fraud service — slim, non-root, healthchecked</a:t>
            </a:r>
            <a:endParaRPr sz="1100"/>
          </a:p>
        </p:txBody>
      </p:sp>
      <p:sp>
        <p:nvSpPr>
          <p:cNvPr id="18" name="Shape 15">
            <a:extLst xmlns:a="http://schemas.openxmlformats.org/drawingml/2006/main">
              <a:ext uri="{FF2B5EF4-FFF2-40B4-BE49-F238E27FC236}">
                <a16:creationId xmlns:a16="http://schemas.microsoft.com/office/drawing/2014/main" id="{1ADDCCFB-BE7E-417B-A36C-FE8D03750234}"/>
              </a:ext>
            </a:extLst>
          </p:cNvPr>
          <p:cNvSpPr>
            <a:spLocks xmlns:a="http://schemas.openxmlformats.org/drawingml/2006/main" noGrp="1"/>
          </p:cNvSpPr>
          <p:nvPr/>
        </p:nvSpPr>
        <p:spPr>
          <a:xfrm xmlns:a="http://schemas.openxmlformats.org/drawingml/2006/main">
            <a:off x="502920" y="3099816"/>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19" name="Shape 16">
            <a:extLst xmlns:a="http://schemas.openxmlformats.org/drawingml/2006/main">
              <a:ext uri="{FF2B5EF4-FFF2-40B4-BE49-F238E27FC236}">
                <a16:creationId xmlns:a16="http://schemas.microsoft.com/office/drawing/2014/main" id="{4A4EF529-BEBA-462B-86F8-388D8F1E8F2E}"/>
              </a:ext>
            </a:extLst>
          </p:cNvPr>
          <p:cNvSpPr>
            <a:spLocks xmlns:a="http://schemas.openxmlformats.org/drawingml/2006/main" noGrp="1"/>
          </p:cNvSpPr>
          <p:nvPr/>
        </p:nvSpPr>
        <p:spPr>
          <a:xfrm xmlns:a="http://schemas.openxmlformats.org/drawingml/2006/main">
            <a:off x="502920" y="3099816"/>
            <a:ext cx="64008" cy="1417320"/>
          </a:xfrm>
          <a:prstGeom xmlns:a="http://schemas.openxmlformats.org/drawingml/2006/main" prst="rect">
            <a:avLst/>
          </a:prstGeom>
          <a:solidFill xmlns:a="http://schemas.openxmlformats.org/drawingml/2006/main">
            <a:srgbClr val="F58220"/>
          </a:solidFill>
        </p:spPr>
      </p:sp>
      <p:sp>
        <p:nvSpPr>
          <p:cNvPr id="20" name="Text 17">
            <a:extLst xmlns:a="http://schemas.openxmlformats.org/drawingml/2006/main">
              <a:ext uri="{FF2B5EF4-FFF2-40B4-BE49-F238E27FC236}">
                <a16:creationId xmlns:a16="http://schemas.microsoft.com/office/drawing/2014/main" id="{540E8101-DF2A-4470-8649-EFCD7F351E24}"/>
              </a:ext>
            </a:extLst>
          </p:cNvPr>
          <p:cNvSpPr>
            <a:spLocks xmlns:a="http://schemas.openxmlformats.org/drawingml/2006/main" noGrp="1"/>
          </p:cNvSpPr>
          <p:nvPr/>
        </p:nvSpPr>
        <p:spPr>
          <a:xfrm xmlns:a="http://schemas.openxmlformats.org/drawingml/2006/main">
            <a:off x="685800" y="3227832"/>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3.3</a:t>
            </a:r>
            <a:endParaRPr sz="1200"/>
          </a:p>
        </p:txBody>
      </p:sp>
      <p:sp>
        <p:nvSpPr>
          <p:cNvPr id="21" name="Text 18">
            <a:extLst xmlns:a="http://schemas.openxmlformats.org/drawingml/2006/main">
              <a:ext uri="{FF2B5EF4-FFF2-40B4-BE49-F238E27FC236}">
                <a16:creationId xmlns:a16="http://schemas.microsoft.com/office/drawing/2014/main" id="{31EBA147-1529-417A-916B-6C645DB1DAEF}"/>
              </a:ext>
            </a:extLst>
          </p:cNvPr>
          <p:cNvSpPr>
            <a:spLocks xmlns:a="http://schemas.openxmlformats.org/drawingml/2006/main" noGrp="1"/>
          </p:cNvSpPr>
          <p:nvPr/>
        </p:nvSpPr>
        <p:spPr>
          <a:xfrm xmlns:a="http://schemas.openxmlformats.org/drawingml/2006/main">
            <a:off x="4997196" y="3227832"/>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LO2</a:t>
            </a:r>
            <a:endParaRPr sz="850"/>
          </a:p>
        </p:txBody>
      </p:sp>
      <p:sp>
        <p:nvSpPr>
          <p:cNvPr id="22" name="Text 19">
            <a:extLst xmlns:a="http://schemas.openxmlformats.org/drawingml/2006/main">
              <a:ext uri="{FF2B5EF4-FFF2-40B4-BE49-F238E27FC236}">
                <a16:creationId xmlns:a16="http://schemas.microsoft.com/office/drawing/2014/main" id="{A4517F3E-1123-4621-BAD0-173DC92EBEB5}"/>
              </a:ext>
            </a:extLst>
          </p:cNvPr>
          <p:cNvSpPr>
            <a:spLocks xmlns:a="http://schemas.openxmlformats.org/drawingml/2006/main" noGrp="1"/>
          </p:cNvSpPr>
          <p:nvPr/>
        </p:nvSpPr>
        <p:spPr>
          <a:xfrm xmlns:a="http://schemas.openxmlformats.org/drawingml/2006/main">
            <a:off x="685800" y="3520440"/>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Use .dockerignore and layer ordering to achieve &lt; 30 s warm rebuilds</a:t>
            </a:r>
            <a:endParaRPr sz="1100"/>
          </a:p>
        </p:txBody>
      </p:sp>
      <p:sp>
        <p:nvSpPr>
          <p:cNvPr id="23" name="Shape 20">
            <a:extLst xmlns:a="http://schemas.openxmlformats.org/drawingml/2006/main">
              <a:ext uri="{FF2B5EF4-FFF2-40B4-BE49-F238E27FC236}">
                <a16:creationId xmlns:a16="http://schemas.microsoft.com/office/drawing/2014/main" id="{D75E13AA-9FCD-411E-9DF1-E2928F13D2E5}"/>
              </a:ext>
            </a:extLst>
          </p:cNvPr>
          <p:cNvSpPr>
            <a:spLocks xmlns:a="http://schemas.openxmlformats.org/drawingml/2006/main" noGrp="1"/>
          </p:cNvSpPr>
          <p:nvPr/>
        </p:nvSpPr>
        <p:spPr>
          <a:xfrm xmlns:a="http://schemas.openxmlformats.org/drawingml/2006/main">
            <a:off x="6231636" y="3099816"/>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24" name="Shape 21">
            <a:extLst xmlns:a="http://schemas.openxmlformats.org/drawingml/2006/main">
              <a:ext uri="{FF2B5EF4-FFF2-40B4-BE49-F238E27FC236}">
                <a16:creationId xmlns:a16="http://schemas.microsoft.com/office/drawing/2014/main" id="{52EFA2BD-F947-4BCF-998B-A573342E00B0}"/>
              </a:ext>
            </a:extLst>
          </p:cNvPr>
          <p:cNvSpPr>
            <a:spLocks xmlns:a="http://schemas.openxmlformats.org/drawingml/2006/main" noGrp="1"/>
          </p:cNvSpPr>
          <p:nvPr/>
        </p:nvSpPr>
        <p:spPr>
          <a:xfrm xmlns:a="http://schemas.openxmlformats.org/drawingml/2006/main">
            <a:off x="6231636" y="3099816"/>
            <a:ext cx="64008" cy="1417320"/>
          </a:xfrm>
          <a:prstGeom xmlns:a="http://schemas.openxmlformats.org/drawingml/2006/main" prst="rect">
            <a:avLst/>
          </a:prstGeom>
          <a:solidFill xmlns:a="http://schemas.openxmlformats.org/drawingml/2006/main">
            <a:srgbClr val="8DC63F"/>
          </a:solidFill>
        </p:spPr>
      </p:sp>
      <p:sp>
        <p:nvSpPr>
          <p:cNvPr id="25" name="Text 22">
            <a:extLst xmlns:a="http://schemas.openxmlformats.org/drawingml/2006/main">
              <a:ext uri="{FF2B5EF4-FFF2-40B4-BE49-F238E27FC236}">
                <a16:creationId xmlns:a16="http://schemas.microsoft.com/office/drawing/2014/main" id="{48C84D70-D53B-45EB-B0BF-FB7868D6CD6E}"/>
              </a:ext>
            </a:extLst>
          </p:cNvPr>
          <p:cNvSpPr>
            <a:spLocks xmlns:a="http://schemas.openxmlformats.org/drawingml/2006/main" noGrp="1"/>
          </p:cNvSpPr>
          <p:nvPr/>
        </p:nvSpPr>
        <p:spPr>
          <a:xfrm xmlns:a="http://schemas.openxmlformats.org/drawingml/2006/main">
            <a:off x="6414516" y="3227832"/>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3.4</a:t>
            </a:r>
            <a:endParaRPr sz="1200"/>
          </a:p>
        </p:txBody>
      </p:sp>
      <p:sp>
        <p:nvSpPr>
          <p:cNvPr id="26" name="Text 23">
            <a:extLst xmlns:a="http://schemas.openxmlformats.org/drawingml/2006/main">
              <a:ext uri="{FF2B5EF4-FFF2-40B4-BE49-F238E27FC236}">
                <a16:creationId xmlns:a16="http://schemas.microsoft.com/office/drawing/2014/main" id="{6B0B8CE1-DD17-4386-B3F4-CF3C3C83FBC7}"/>
              </a:ext>
            </a:extLst>
          </p:cNvPr>
          <p:cNvSpPr>
            <a:spLocks xmlns:a="http://schemas.openxmlformats.org/drawingml/2006/main" noGrp="1"/>
          </p:cNvSpPr>
          <p:nvPr/>
        </p:nvSpPr>
        <p:spPr>
          <a:xfrm xmlns:a="http://schemas.openxmlformats.org/drawingml/2006/main">
            <a:off x="10725912" y="3227832"/>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LO2</a:t>
            </a:r>
            <a:endParaRPr sz="850"/>
          </a:p>
        </p:txBody>
      </p:sp>
      <p:sp>
        <p:nvSpPr>
          <p:cNvPr id="27" name="Text 24">
            <a:extLst xmlns:a="http://schemas.openxmlformats.org/drawingml/2006/main">
              <a:ext uri="{FF2B5EF4-FFF2-40B4-BE49-F238E27FC236}">
                <a16:creationId xmlns:a16="http://schemas.microsoft.com/office/drawing/2014/main" id="{A33C293E-B3FA-4DB7-8B7F-772549E635BB}"/>
              </a:ext>
            </a:extLst>
          </p:cNvPr>
          <p:cNvSpPr>
            <a:spLocks xmlns:a="http://schemas.openxmlformats.org/drawingml/2006/main" noGrp="1"/>
          </p:cNvSpPr>
          <p:nvPr/>
        </p:nvSpPr>
        <p:spPr>
          <a:xfrm xmlns:a="http://schemas.openxmlformats.org/drawingml/2006/main">
            <a:off x="6414516" y="3520440"/>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Orchestrate the service and its dependencies locally with docker compose</a:t>
            </a:r>
            <a:endParaRPr sz="1100"/>
          </a:p>
        </p:txBody>
      </p:sp>
      <p:sp>
        <p:nvSpPr>
          <p:cNvPr id="28" name="Shape 25">
            <a:extLst xmlns:a="http://schemas.openxmlformats.org/drawingml/2006/main">
              <a:ext uri="{FF2B5EF4-FFF2-40B4-BE49-F238E27FC236}">
                <a16:creationId xmlns:a16="http://schemas.microsoft.com/office/drawing/2014/main" id="{9AD34FD3-0364-4567-88DB-E394586A8B27}"/>
              </a:ext>
            </a:extLst>
          </p:cNvPr>
          <p:cNvSpPr>
            <a:spLocks xmlns:a="http://schemas.openxmlformats.org/drawingml/2006/main" noGrp="1"/>
          </p:cNvSpPr>
          <p:nvPr/>
        </p:nvSpPr>
        <p:spPr>
          <a:xfrm xmlns:a="http://schemas.openxmlformats.org/drawingml/2006/main">
            <a:off x="502920" y="4718304"/>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29" name="Shape 26">
            <a:extLst xmlns:a="http://schemas.openxmlformats.org/drawingml/2006/main">
              <a:ext uri="{FF2B5EF4-FFF2-40B4-BE49-F238E27FC236}">
                <a16:creationId xmlns:a16="http://schemas.microsoft.com/office/drawing/2014/main" id="{BC035CF9-C0C6-4C80-9AD9-48BAA9A1794D}"/>
              </a:ext>
            </a:extLst>
          </p:cNvPr>
          <p:cNvSpPr>
            <a:spLocks xmlns:a="http://schemas.openxmlformats.org/drawingml/2006/main" noGrp="1"/>
          </p:cNvSpPr>
          <p:nvPr/>
        </p:nvSpPr>
        <p:spPr>
          <a:xfrm xmlns:a="http://schemas.openxmlformats.org/drawingml/2006/main">
            <a:off x="502920" y="4718304"/>
            <a:ext cx="64008" cy="1417320"/>
          </a:xfrm>
          <a:prstGeom xmlns:a="http://schemas.openxmlformats.org/drawingml/2006/main" prst="rect">
            <a:avLst/>
          </a:prstGeom>
          <a:solidFill xmlns:a="http://schemas.openxmlformats.org/drawingml/2006/main">
            <a:srgbClr val="E8503A"/>
          </a:solidFill>
        </p:spPr>
      </p:sp>
      <p:sp>
        <p:nvSpPr>
          <p:cNvPr id="30" name="Text 27">
            <a:extLst xmlns:a="http://schemas.openxmlformats.org/drawingml/2006/main">
              <a:ext uri="{FF2B5EF4-FFF2-40B4-BE49-F238E27FC236}">
                <a16:creationId xmlns:a16="http://schemas.microsoft.com/office/drawing/2014/main" id="{05292410-C570-4A83-B49D-D2074E605E0F}"/>
              </a:ext>
            </a:extLst>
          </p:cNvPr>
          <p:cNvSpPr>
            <a:spLocks xmlns:a="http://schemas.openxmlformats.org/drawingml/2006/main" noGrp="1"/>
          </p:cNvSpPr>
          <p:nvPr/>
        </p:nvSpPr>
        <p:spPr>
          <a:xfrm xmlns:a="http://schemas.openxmlformats.org/drawingml/2006/main">
            <a:off x="685800" y="4846320"/>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3.5</a:t>
            </a:r>
            <a:endParaRPr sz="1200"/>
          </a:p>
        </p:txBody>
      </p:sp>
      <p:sp>
        <p:nvSpPr>
          <p:cNvPr id="31" name="Text 28">
            <a:extLst xmlns:a="http://schemas.openxmlformats.org/drawingml/2006/main">
              <a:ext uri="{FF2B5EF4-FFF2-40B4-BE49-F238E27FC236}">
                <a16:creationId xmlns:a16="http://schemas.microsoft.com/office/drawing/2014/main" id="{2469E755-51EE-495D-BD51-04C1A7F450C6}"/>
              </a:ext>
            </a:extLst>
          </p:cNvPr>
          <p:cNvSpPr>
            <a:spLocks xmlns:a="http://schemas.openxmlformats.org/drawingml/2006/main" noGrp="1"/>
          </p:cNvSpPr>
          <p:nvPr/>
        </p:nvSpPr>
        <p:spPr>
          <a:xfrm xmlns:a="http://schemas.openxmlformats.org/drawingml/2006/main">
            <a:off x="4997196" y="4846320"/>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LO2 · LO6</a:t>
            </a:r>
            <a:endParaRPr sz="850"/>
          </a:p>
        </p:txBody>
      </p:sp>
      <p:sp>
        <p:nvSpPr>
          <p:cNvPr id="32" name="Text 29">
            <a:extLst xmlns:a="http://schemas.openxmlformats.org/drawingml/2006/main">
              <a:ext uri="{FF2B5EF4-FFF2-40B4-BE49-F238E27FC236}">
                <a16:creationId xmlns:a16="http://schemas.microsoft.com/office/drawing/2014/main" id="{2F95BD00-3BA3-4C8D-988C-B75BCA2D85BF}"/>
              </a:ext>
            </a:extLst>
          </p:cNvPr>
          <p:cNvSpPr>
            <a:spLocks xmlns:a="http://schemas.openxmlformats.org/drawingml/2006/main" noGrp="1"/>
          </p:cNvSpPr>
          <p:nvPr/>
        </p:nvSpPr>
        <p:spPr>
          <a:xfrm xmlns:a="http://schemas.openxmlformats.org/drawingml/2006/main">
            <a:off x="685800" y="5138928"/>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Benchmark image size, startup time, and containerised latency</a:t>
            </a:r>
            <a:endParaRPr sz="1100"/>
          </a:p>
        </p:txBody>
      </p:sp>
      <p:sp>
        <p:nvSpPr>
          <p:cNvPr id="33" name="Text 30">
            <a:extLst xmlns:a="http://schemas.openxmlformats.org/drawingml/2006/main">
              <a:ext uri="{FF2B5EF4-FFF2-40B4-BE49-F238E27FC236}">
                <a16:creationId xmlns:a16="http://schemas.microsoft.com/office/drawing/2014/main" id="{EB38F6F3-C7A5-4315-A7A5-7C272C328E78}"/>
              </a:ext>
            </a:extLst>
          </p:cNvPr>
          <p:cNvSpPr>
            <a:spLocks xmlns:a="http://schemas.openxmlformats.org/drawingml/2006/main" noGrp="1"/>
          </p:cNvSpPr>
          <p:nvPr/>
        </p:nvSpPr>
        <p:spPr>
          <a:xfrm xmlns:a="http://schemas.openxmlformats.org/drawingml/2006/main">
            <a:off x="502920" y="6080760"/>
            <a:ext cx="11155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5F6B7A"/>
                </a:solidFill>
                <a:latin typeface="Calibri"/>
                <a:ea typeface="Calibri"/>
                <a:cs typeface="Calibri"/>
              </a:rPr>
              <a:t>Every objective is exercised in Lab 3 and measured against the module benchmark table.</a:t>
            </a:r>
            <a:endParaRPr sz="1000"/>
          </a:p>
        </p:txBody>
      </p:sp>
    </p:spTree>
    <p:extLst>
      <p:ext uri="{BB962C8B-B14F-4D97-AF65-F5344CB8AC3E}">
        <p14:creationId xmlns:p14="http://schemas.microsoft.com/office/powerpoint/2010/main" val="1549556096"/>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2E9E002-C7F2-4182-BA75-45B42D03F875}"/>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Why containers for AI services</a:t>
            </a:r>
            <a:endParaRPr sz="2600"/>
          </a:p>
        </p:txBody>
      </p:sp>
      <p:sp>
        <p:nvSpPr>
          <p:cNvPr id="3" name="Text 1">
            <a:extLst xmlns:a="http://schemas.openxmlformats.org/drawingml/2006/main">
              <a:ext uri="{FF2B5EF4-FFF2-40B4-BE49-F238E27FC236}">
                <a16:creationId xmlns:a16="http://schemas.microsoft.com/office/drawing/2014/main" id="{8B971B92-AE43-49C3-9248-967E03A56392}"/>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لماذا الحاويات لخدمات الذكاء الاصطناعي</a:t>
            </a:r>
            <a:endParaRPr sz="1300"/>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8b92d53b57c84742"/>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CF009CB3-5D6F-49F4-A257-838F11311F3C}"/>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206950AD-E396-48A1-A1DA-904332204912}"/>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3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4B4446A0-7F26-4C44-8E83-DA6023613D91}"/>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61</a:t>
            </a:r>
            <a:endParaRPr sz="850"/>
          </a:p>
        </p:txBody>
      </p:sp>
      <p:sp>
        <p:nvSpPr>
          <p:cNvPr id="8" name="Text 5">
            <a:extLst xmlns:a="http://schemas.openxmlformats.org/drawingml/2006/main">
              <a:ext uri="{FF2B5EF4-FFF2-40B4-BE49-F238E27FC236}">
                <a16:creationId xmlns:a16="http://schemas.microsoft.com/office/drawing/2014/main" id="{53C74607-700A-4400-B504-046BA3BF525B}"/>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1BE2C3A2-00B7-4DD3-9634-9373D6F0BA27}"/>
              </a:ext>
            </a:extLst>
          </p:cNvPr>
          <p:cNvSpPr>
            <a:spLocks xmlns:a="http://schemas.openxmlformats.org/drawingml/2006/main" noGrp="1"/>
          </p:cNvSpPr>
          <p:nvPr/>
        </p:nvSpPr>
        <p:spPr>
          <a:xfrm xmlns:a="http://schemas.openxmlformats.org/drawingml/2006/main">
            <a:off x="1005840" y="14996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'It works on my machine' is fatal</a:t>
            </a:r>
            <a:endParaRPr sz="1350"/>
          </a:p>
        </p:txBody>
      </p:sp>
      <p:sp>
        <p:nvSpPr>
          <p:cNvPr id="10" name="Text 7">
            <a:extLst xmlns:a="http://schemas.openxmlformats.org/drawingml/2006/main">
              <a:ext uri="{FF2B5EF4-FFF2-40B4-BE49-F238E27FC236}">
                <a16:creationId xmlns:a16="http://schemas.microsoft.com/office/drawing/2014/main" id="{24B94F1B-E2C0-4CAF-94CF-0FAC0409961A}"/>
              </a:ext>
            </a:extLst>
          </p:cNvPr>
          <p:cNvSpPr>
            <a:spLocks xmlns:a="http://schemas.openxmlformats.org/drawingml/2006/main" noGrp="1"/>
          </p:cNvSpPr>
          <p:nvPr/>
        </p:nvSpPr>
        <p:spPr>
          <a:xfrm xmlns:a="http://schemas.openxmlformats.org/drawingml/2006/main">
            <a:off x="1005840" y="18013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AI services couple code to heavyweight, version-sensitive numerical stacks. Containers freeze the entire runtime — OS libraries, Python, BLAS, model deps — into an immutable, shippable artefact.</a:t>
            </a:r>
            <a:endParaRPr sz="1050"/>
          </a:p>
        </p:txBody>
      </p:sp>
      <p:sp>
        <p:nvSpPr>
          <p:cNvPr id="11" name="Text 8">
            <a:extLst xmlns:a="http://schemas.openxmlformats.org/drawingml/2006/main">
              <a:ext uri="{FF2B5EF4-FFF2-40B4-BE49-F238E27FC236}">
                <a16:creationId xmlns:a16="http://schemas.microsoft.com/office/drawing/2014/main" id="{1F24DF79-5814-4A3B-AE8C-72AC0246D602}"/>
              </a:ext>
            </a:extLst>
          </p:cNvPr>
          <p:cNvSpPr>
            <a:spLocks xmlns:a="http://schemas.openxmlformats.org/drawingml/2006/main" noGrp="1"/>
          </p:cNvSpPr>
          <p:nvPr/>
        </p:nvSpPr>
        <p:spPr>
          <a:xfrm xmlns:a="http://schemas.openxmlformats.org/drawingml/2006/main">
            <a:off x="502920" y="292608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06CFC70A-C693-423E-916C-CE8A9441352C}"/>
              </a:ext>
            </a:extLst>
          </p:cNvPr>
          <p:cNvSpPr>
            <a:spLocks xmlns:a="http://schemas.openxmlformats.org/drawingml/2006/main" noGrp="1"/>
          </p:cNvSpPr>
          <p:nvPr/>
        </p:nvSpPr>
        <p:spPr>
          <a:xfrm xmlns:a="http://schemas.openxmlformats.org/drawingml/2006/main">
            <a:off x="1005840" y="28712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The deployment currency</a:t>
            </a:r>
            <a:endParaRPr sz="1350"/>
          </a:p>
        </p:txBody>
      </p:sp>
      <p:sp>
        <p:nvSpPr>
          <p:cNvPr id="13" name="Text 10">
            <a:extLst xmlns:a="http://schemas.openxmlformats.org/drawingml/2006/main">
              <a:ext uri="{FF2B5EF4-FFF2-40B4-BE49-F238E27FC236}">
                <a16:creationId xmlns:a16="http://schemas.microsoft.com/office/drawing/2014/main" id="{C093A8B5-8C76-45DE-A250-8223FAC23602}"/>
              </a:ext>
            </a:extLst>
          </p:cNvPr>
          <p:cNvSpPr>
            <a:spLocks xmlns:a="http://schemas.openxmlformats.org/drawingml/2006/main" noGrp="1"/>
          </p:cNvSpPr>
          <p:nvPr/>
        </p:nvSpPr>
        <p:spPr>
          <a:xfrm xmlns:a="http://schemas.openxmlformats.org/drawingml/2006/main">
            <a:off x="1005840" y="31729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On-prem OpenShift in Saudi banks, managed Kubernetes at STC/Aramco scale, serverless container platforms — a clean image with a healthcheck integrates in days; 'a conda env and a README', months.</a:t>
            </a:r>
            <a:endParaRPr sz="1050"/>
          </a:p>
        </p:txBody>
      </p:sp>
      <p:sp>
        <p:nvSpPr>
          <p:cNvPr id="14" name="Text 11">
            <a:extLst xmlns:a="http://schemas.openxmlformats.org/drawingml/2006/main">
              <a:ext uri="{FF2B5EF4-FFF2-40B4-BE49-F238E27FC236}">
                <a16:creationId xmlns:a16="http://schemas.microsoft.com/office/drawing/2014/main" id="{39CC6456-A146-40C5-82E0-40779394AC85}"/>
              </a:ext>
            </a:extLst>
          </p:cNvPr>
          <p:cNvSpPr>
            <a:spLocks xmlns:a="http://schemas.openxmlformats.org/drawingml/2006/main" noGrp="1"/>
          </p:cNvSpPr>
          <p:nvPr/>
        </p:nvSpPr>
        <p:spPr>
          <a:xfrm xmlns:a="http://schemas.openxmlformats.org/drawingml/2006/main">
            <a:off x="502920" y="429768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6BEB25D9-5019-4E2B-AD6B-71AD626B1DE8}"/>
              </a:ext>
            </a:extLst>
          </p:cNvPr>
          <p:cNvSpPr>
            <a:spLocks xmlns:a="http://schemas.openxmlformats.org/drawingml/2006/main" noGrp="1"/>
          </p:cNvSpPr>
          <p:nvPr/>
        </p:nvSpPr>
        <p:spPr>
          <a:xfrm xmlns:a="http://schemas.openxmlformats.org/drawingml/2006/main">
            <a:off x="1005840" y="42428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Size and startup are money</a:t>
            </a:r>
            <a:endParaRPr sz="1350"/>
          </a:p>
        </p:txBody>
      </p:sp>
      <p:sp>
        <p:nvSpPr>
          <p:cNvPr id="16" name="Text 13">
            <a:extLst xmlns:a="http://schemas.openxmlformats.org/drawingml/2006/main">
              <a:ext uri="{FF2B5EF4-FFF2-40B4-BE49-F238E27FC236}">
                <a16:creationId xmlns:a16="http://schemas.microsoft.com/office/drawing/2014/main" id="{CDD729D2-0CB0-45FE-A4BB-24C49F19A401}"/>
              </a:ext>
            </a:extLst>
          </p:cNvPr>
          <p:cNvSpPr>
            <a:spLocks xmlns:a="http://schemas.openxmlformats.org/drawingml/2006/main" noGrp="1"/>
          </p:cNvSpPr>
          <p:nvPr/>
        </p:nvSpPr>
        <p:spPr>
          <a:xfrm xmlns:a="http://schemas.openxmlformats.org/drawingml/2006/main">
            <a:off x="1005840" y="45445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Image size and startup time translate directly into autoscaling cost and incident recovery speed — pull time on cold nodes bounds how fast you can scale out.</a:t>
            </a:r>
            <a:endParaRPr sz="1050"/>
          </a:p>
        </p:txBody>
      </p:sp>
      <p:sp>
        <p:nvSpPr>
          <p:cNvPr id="17" name="Shape 14">
            <a:extLst xmlns:a="http://schemas.openxmlformats.org/drawingml/2006/main">
              <a:ext uri="{FF2B5EF4-FFF2-40B4-BE49-F238E27FC236}">
                <a16:creationId xmlns:a16="http://schemas.microsoft.com/office/drawing/2014/main" id="{A7750A49-7480-4B2C-8565-C84E4088AC7D}"/>
              </a:ext>
            </a:extLst>
          </p:cNvPr>
          <p:cNvSpPr>
            <a:spLocks xmlns:a="http://schemas.openxmlformats.org/drawingml/2006/main" noGrp="1"/>
          </p:cNvSpPr>
          <p:nvPr/>
        </p:nvSpPr>
        <p:spPr>
          <a:xfrm xmlns:a="http://schemas.openxmlformats.org/drawingml/2006/main">
            <a:off x="6355080" y="1481328"/>
            <a:ext cx="5330952" cy="4663440"/>
          </a:xfrm>
          <a:prstGeom xmlns:a="http://schemas.openxmlformats.org/drawingml/2006/main" prst="roundRect">
            <a:avLst>
              <a:gd name="adj" fmla="val 1373"/>
            </a:avLst>
          </a:prstGeom>
          <a:solidFill xmlns:a="http://schemas.openxmlformats.org/drawingml/2006/main">
            <a:srgbClr val="EEF3FB"/>
          </a:solidFill>
          <a:ln xmlns:a="http://schemas.openxmlformats.org/drawingml/2006/main" w="9525">
            <a:solidFill>
              <a:srgbClr val="D9E4F5"/>
            </a:solidFill>
            <a:prstDash val="solid"/>
          </a:ln>
        </p:spPr>
      </p:sp>
      <p:sp>
        <p:nvSpPr>
          <p:cNvPr id="18" name="Text 15">
            <a:extLst xmlns:a="http://schemas.openxmlformats.org/drawingml/2006/main">
              <a:ext uri="{FF2B5EF4-FFF2-40B4-BE49-F238E27FC236}">
                <a16:creationId xmlns:a16="http://schemas.microsoft.com/office/drawing/2014/main" id="{BC63B6C6-B1C6-42BC-AFAE-82DBC3070DEE}"/>
              </a:ext>
            </a:extLst>
          </p:cNvPr>
          <p:cNvSpPr>
            <a:spLocks xmlns:a="http://schemas.openxmlformats.org/drawingml/2006/main" noGrp="1"/>
          </p:cNvSpPr>
          <p:nvPr/>
        </p:nvSpPr>
        <p:spPr>
          <a:xfrm xmlns:a="http://schemas.openxmlformats.org/drawingml/2006/main">
            <a:off x="6556248" y="1645920"/>
            <a:ext cx="492861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D2A5C"/>
                </a:solidFill>
                <a:latin typeface="Calibri"/>
                <a:ea typeface="Calibri"/>
                <a:cs typeface="Calibri"/>
              </a:rPr>
              <a:t>Where this bites</a:t>
            </a:r>
            <a:endParaRPr sz="1300"/>
          </a:p>
        </p:txBody>
      </p:sp>
      <p:sp>
        <p:nvSpPr>
          <p:cNvPr id="19" name="Shape 16">
            <a:extLst xmlns:a="http://schemas.openxmlformats.org/drawingml/2006/main">
              <a:ext uri="{FF2B5EF4-FFF2-40B4-BE49-F238E27FC236}">
                <a16:creationId xmlns:a16="http://schemas.microsoft.com/office/drawing/2014/main" id="{6FC19A66-C9C9-4846-8777-133E773F0AE7}"/>
              </a:ext>
            </a:extLst>
          </p:cNvPr>
          <p:cNvSpPr>
            <a:spLocks xmlns:a="http://schemas.openxmlformats.org/drawingml/2006/main" noGrp="1"/>
          </p:cNvSpPr>
          <p:nvPr/>
        </p:nvSpPr>
        <p:spPr>
          <a:xfrm xmlns:a="http://schemas.openxmlformats.org/drawingml/2006/main" rot="2700000">
            <a:off x="6556248" y="2130552"/>
            <a:ext cx="128016" cy="128016"/>
          </a:xfrm>
          <a:prstGeom xmlns:a="http://schemas.openxmlformats.org/drawingml/2006/main" prst="rect">
            <a:avLst/>
          </a:prstGeom>
          <a:solidFill xmlns:a="http://schemas.openxmlformats.org/drawingml/2006/main">
            <a:srgbClr val="00A79D"/>
          </a:solidFill>
        </p:spPr>
      </p:sp>
      <p:sp>
        <p:nvSpPr>
          <p:cNvPr id="20" name="Text 17">
            <a:extLst xmlns:a="http://schemas.openxmlformats.org/drawingml/2006/main">
              <a:ext uri="{FF2B5EF4-FFF2-40B4-BE49-F238E27FC236}">
                <a16:creationId xmlns:a16="http://schemas.microsoft.com/office/drawing/2014/main" id="{F3DFEE33-B03E-4110-A252-E3E21BE48D18}"/>
              </a:ext>
            </a:extLst>
          </p:cNvPr>
          <p:cNvSpPr>
            <a:spLocks xmlns:a="http://schemas.openxmlformats.org/drawingml/2006/main" noGrp="1"/>
          </p:cNvSpPr>
          <p:nvPr/>
        </p:nvSpPr>
        <p:spPr>
          <a:xfrm xmlns:a="http://schemas.openxmlformats.org/drawingml/2006/main">
            <a:off x="6812280" y="2039112"/>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Factory edge boxes</a:t>
            </a:r>
            <a:endParaRPr sz="1100"/>
          </a:p>
        </p:txBody>
      </p:sp>
      <p:sp>
        <p:nvSpPr>
          <p:cNvPr id="21" name="Text 18">
            <a:extLst xmlns:a="http://schemas.openxmlformats.org/drawingml/2006/main">
              <a:ext uri="{FF2B5EF4-FFF2-40B4-BE49-F238E27FC236}">
                <a16:creationId xmlns:a16="http://schemas.microsoft.com/office/drawing/2014/main" id="{57BC7373-7B8D-4737-A427-8F62295BDF39}"/>
              </a:ext>
            </a:extLst>
          </p:cNvPr>
          <p:cNvSpPr>
            <a:spLocks xmlns:a="http://schemas.openxmlformats.org/drawingml/2006/main" noGrp="1"/>
          </p:cNvSpPr>
          <p:nvPr/>
        </p:nvSpPr>
        <p:spPr>
          <a:xfrm xmlns:a="http://schemas.openxmlformats.org/drawingml/2006/main">
            <a:off x="6812280" y="2304288"/>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CV inspection image must be &lt; 1 GB and start &lt; 10 s on modest hardware</a:t>
            </a:r>
            <a:endParaRPr sz="950"/>
          </a:p>
        </p:txBody>
      </p:sp>
      <p:sp>
        <p:nvSpPr>
          <p:cNvPr id="22" name="Shape 19">
            <a:extLst xmlns:a="http://schemas.openxmlformats.org/drawingml/2006/main">
              <a:ext uri="{FF2B5EF4-FFF2-40B4-BE49-F238E27FC236}">
                <a16:creationId xmlns:a16="http://schemas.microsoft.com/office/drawing/2014/main" id="{DC2C13AF-F6F2-4DC0-A998-798D4CF870CC}"/>
              </a:ext>
            </a:extLst>
          </p:cNvPr>
          <p:cNvSpPr>
            <a:spLocks xmlns:a="http://schemas.openxmlformats.org/drawingml/2006/main" noGrp="1"/>
          </p:cNvSpPr>
          <p:nvPr/>
        </p:nvSpPr>
        <p:spPr>
          <a:xfrm xmlns:a="http://schemas.openxmlformats.org/drawingml/2006/main" rot="2700000">
            <a:off x="6556248" y="3441192"/>
            <a:ext cx="128016" cy="128016"/>
          </a:xfrm>
          <a:prstGeom xmlns:a="http://schemas.openxmlformats.org/drawingml/2006/main" prst="rect">
            <a:avLst/>
          </a:prstGeom>
          <a:solidFill xmlns:a="http://schemas.openxmlformats.org/drawingml/2006/main">
            <a:srgbClr val="29ABE2"/>
          </a:solidFill>
        </p:spPr>
      </p:sp>
      <p:sp>
        <p:nvSpPr>
          <p:cNvPr id="23" name="Text 20">
            <a:extLst xmlns:a="http://schemas.openxmlformats.org/drawingml/2006/main">
              <a:ext uri="{FF2B5EF4-FFF2-40B4-BE49-F238E27FC236}">
                <a16:creationId xmlns:a16="http://schemas.microsoft.com/office/drawing/2014/main" id="{2D2C7851-0DA1-41EF-B981-38C447015C7A}"/>
              </a:ext>
            </a:extLst>
          </p:cNvPr>
          <p:cNvSpPr>
            <a:spLocks xmlns:a="http://schemas.openxmlformats.org/drawingml/2006/main" noGrp="1"/>
          </p:cNvSpPr>
          <p:nvPr/>
        </p:nvSpPr>
        <p:spPr>
          <a:xfrm xmlns:a="http://schemas.openxmlformats.org/drawingml/2006/main">
            <a:off x="6812280" y="3349752"/>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Fraud scorer autoscaling</a:t>
            </a:r>
            <a:endParaRPr sz="1100"/>
          </a:p>
        </p:txBody>
      </p:sp>
      <p:sp>
        <p:nvSpPr>
          <p:cNvPr id="24" name="Text 21">
            <a:extLst xmlns:a="http://schemas.openxmlformats.org/drawingml/2006/main">
              <a:ext uri="{FF2B5EF4-FFF2-40B4-BE49-F238E27FC236}">
                <a16:creationId xmlns:a16="http://schemas.microsoft.com/office/drawing/2014/main" id="{9146E822-682E-4FC6-9E0A-A434CC27E717}"/>
              </a:ext>
            </a:extLst>
          </p:cNvPr>
          <p:cNvSpPr>
            <a:spLocks xmlns:a="http://schemas.openxmlformats.org/drawingml/2006/main" noGrp="1"/>
          </p:cNvSpPr>
          <p:nvPr/>
        </p:nvSpPr>
        <p:spPr>
          <a:xfrm xmlns:a="http://schemas.openxmlformats.org/drawingml/2006/main">
            <a:off x="6812280" y="3614928"/>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container startup time bounds scale-out during salary-day traffic spikes</a:t>
            </a:r>
            <a:endParaRPr sz="950"/>
          </a:p>
        </p:txBody>
      </p:sp>
      <p:sp>
        <p:nvSpPr>
          <p:cNvPr id="25" name="Shape 22">
            <a:extLst xmlns:a="http://schemas.openxmlformats.org/drawingml/2006/main">
              <a:ext uri="{FF2B5EF4-FFF2-40B4-BE49-F238E27FC236}">
                <a16:creationId xmlns:a16="http://schemas.microsoft.com/office/drawing/2014/main" id="{80B6880F-5261-4A6E-83C3-7F8DB31524A1}"/>
              </a:ext>
            </a:extLst>
          </p:cNvPr>
          <p:cNvSpPr>
            <a:spLocks xmlns:a="http://schemas.openxmlformats.org/drawingml/2006/main" noGrp="1"/>
          </p:cNvSpPr>
          <p:nvPr/>
        </p:nvSpPr>
        <p:spPr>
          <a:xfrm xmlns:a="http://schemas.openxmlformats.org/drawingml/2006/main" rot="2700000">
            <a:off x="6556248" y="4751832"/>
            <a:ext cx="128016" cy="128016"/>
          </a:xfrm>
          <a:prstGeom xmlns:a="http://schemas.openxmlformats.org/drawingml/2006/main" prst="rect">
            <a:avLst/>
          </a:prstGeom>
          <a:solidFill xmlns:a="http://schemas.openxmlformats.org/drawingml/2006/main">
            <a:srgbClr val="F58220"/>
          </a:solidFill>
        </p:spPr>
      </p:sp>
      <p:sp>
        <p:nvSpPr>
          <p:cNvPr id="26" name="Text 23">
            <a:extLst xmlns:a="http://schemas.openxmlformats.org/drawingml/2006/main">
              <a:ext uri="{FF2B5EF4-FFF2-40B4-BE49-F238E27FC236}">
                <a16:creationId xmlns:a16="http://schemas.microsoft.com/office/drawing/2014/main" id="{623CC955-B427-4E00-9616-18F7011DE880}"/>
              </a:ext>
            </a:extLst>
          </p:cNvPr>
          <p:cNvSpPr>
            <a:spLocks xmlns:a="http://schemas.openxmlformats.org/drawingml/2006/main" noGrp="1"/>
          </p:cNvSpPr>
          <p:nvPr/>
        </p:nvSpPr>
        <p:spPr>
          <a:xfrm xmlns:a="http://schemas.openxmlformats.org/drawingml/2006/main">
            <a:off x="6812280" y="4660392"/>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Hospital compliance</a:t>
            </a:r>
            <a:endParaRPr sz="1100"/>
          </a:p>
        </p:txBody>
      </p:sp>
      <p:sp>
        <p:nvSpPr>
          <p:cNvPr id="27" name="Text 24">
            <a:extLst xmlns:a="http://schemas.openxmlformats.org/drawingml/2006/main">
              <a:ext uri="{FF2B5EF4-FFF2-40B4-BE49-F238E27FC236}">
                <a16:creationId xmlns:a16="http://schemas.microsoft.com/office/drawing/2014/main" id="{5D579879-AAEF-46BE-8541-21AE30278A48}"/>
              </a:ext>
            </a:extLst>
          </p:cNvPr>
          <p:cNvSpPr>
            <a:spLocks xmlns:a="http://schemas.openxmlformats.org/drawingml/2006/main" noGrp="1"/>
          </p:cNvSpPr>
          <p:nvPr/>
        </p:nvSpPr>
        <p:spPr>
          <a:xfrm xmlns:a="http://schemas.openxmlformats.org/drawingml/2006/main">
            <a:off x="6812280" y="4925568"/>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same triage image, byte-identical, in two isolated networks</a:t>
            </a:r>
            <a:endParaRPr sz="950"/>
          </a:p>
        </p:txBody>
      </p:sp>
    </p:spTree>
    <p:extLst>
      <p:ext uri="{BB962C8B-B14F-4D97-AF65-F5344CB8AC3E}">
        <p14:creationId xmlns:p14="http://schemas.microsoft.com/office/powerpoint/2010/main" val="1507325148"/>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15AE9-A2EC-4DDF-9EFE-48F904886971}"/>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The mental model — image, container, registry</a:t>
            </a:r>
            <a:endParaRPr sz="2600"/>
          </a:p>
        </p:txBody>
      </p:sp>
      <p:sp>
        <p:nvSpPr>
          <p:cNvPr id="3" name="Text 1">
            <a:extLst xmlns:a="http://schemas.openxmlformats.org/drawingml/2006/main">
              <a:ext uri="{FF2B5EF4-FFF2-40B4-BE49-F238E27FC236}">
                <a16:creationId xmlns:a16="http://schemas.microsoft.com/office/drawing/2014/main" id="{50B6027B-5AB9-417E-B92E-C92A78A763CF}"/>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النموذج الذهني — الصورة والحاوية والسجل</a:t>
            </a:r>
            <a:endParaRPr sz="1300"/>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26856b7a48ef4f9c"/>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B885353C-E867-4ABD-9E69-72E86682A125}"/>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85390E2E-E3FC-4555-83D0-1562145049C9}"/>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3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8606871D-720F-48B1-B61E-F86031FCECB2}"/>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62</a:t>
            </a:r>
            <a:endParaRPr sz="850"/>
          </a:p>
        </p:txBody>
      </p:sp>
      <p:sp>
        <p:nvSpPr>
          <p:cNvPr id="8" name="Shape 5">
            <a:extLst xmlns:a="http://schemas.openxmlformats.org/drawingml/2006/main">
              <a:ext uri="{FF2B5EF4-FFF2-40B4-BE49-F238E27FC236}">
                <a16:creationId xmlns:a16="http://schemas.microsoft.com/office/drawing/2014/main" id="{7B1AB611-334C-4C43-92A9-FCAF5CAD72C0}"/>
              </a:ext>
            </a:extLst>
          </p:cNvPr>
          <p:cNvSpPr>
            <a:spLocks xmlns:a="http://schemas.openxmlformats.org/drawingml/2006/main" noGrp="1"/>
          </p:cNvSpPr>
          <p:nvPr/>
        </p:nvSpPr>
        <p:spPr>
          <a:xfrm xmlns:a="http://schemas.openxmlformats.org/drawingml/2006/main">
            <a:off x="502920" y="1517904"/>
            <a:ext cx="5454396"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AD39536C-051C-4BDD-9FAC-B9A8B54C938A}"/>
              </a:ext>
            </a:extLst>
          </p:cNvPr>
          <p:cNvSpPr>
            <a:spLocks xmlns:a="http://schemas.openxmlformats.org/drawingml/2006/main" noGrp="1"/>
          </p:cNvSpPr>
          <p:nvPr/>
        </p:nvSpPr>
        <p:spPr>
          <a:xfrm xmlns:a="http://schemas.openxmlformats.org/drawingml/2006/main">
            <a:off x="502920" y="1517904"/>
            <a:ext cx="82296" cy="2272284"/>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D62E1A74-1938-4349-A472-2246DE546078}"/>
              </a:ext>
            </a:extLst>
          </p:cNvPr>
          <p:cNvSpPr>
            <a:spLocks xmlns:a="http://schemas.openxmlformats.org/drawingml/2006/main" noGrp="1"/>
          </p:cNvSpPr>
          <p:nvPr/>
        </p:nvSpPr>
        <p:spPr>
          <a:xfrm xmlns:a="http://schemas.openxmlformats.org/drawingml/2006/main">
            <a:off x="722376" y="1636776"/>
            <a:ext cx="501548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00A79D"/>
                </a:solidFill>
                <a:latin typeface="Calibri"/>
                <a:ea typeface="Calibri"/>
                <a:cs typeface="Calibri"/>
              </a:rPr>
              <a:t>IMAGE</a:t>
            </a:r>
            <a:endParaRPr sz="900"/>
          </a:p>
        </p:txBody>
      </p:sp>
      <p:sp>
        <p:nvSpPr>
          <p:cNvPr id="11" name="Text 8">
            <a:extLst xmlns:a="http://schemas.openxmlformats.org/drawingml/2006/main">
              <a:ext uri="{FF2B5EF4-FFF2-40B4-BE49-F238E27FC236}">
                <a16:creationId xmlns:a16="http://schemas.microsoft.com/office/drawing/2014/main" id="{F065BF9F-B40A-43E7-8700-394A37334B15}"/>
              </a:ext>
            </a:extLst>
          </p:cNvPr>
          <p:cNvSpPr>
            <a:spLocks xmlns:a="http://schemas.openxmlformats.org/drawingml/2006/main" noGrp="1"/>
          </p:cNvSpPr>
          <p:nvPr/>
        </p:nvSpPr>
        <p:spPr>
          <a:xfrm xmlns:a="http://schemas.openxmlformats.org/drawingml/2006/main">
            <a:off x="722376" y="1883664"/>
            <a:ext cx="501548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A read-only layer stack</a:t>
            </a:r>
            <a:endParaRPr sz="1250"/>
          </a:p>
        </p:txBody>
      </p:sp>
      <p:sp>
        <p:nvSpPr>
          <p:cNvPr id="12" name="Text 9">
            <a:extLst xmlns:a="http://schemas.openxmlformats.org/drawingml/2006/main">
              <a:ext uri="{FF2B5EF4-FFF2-40B4-BE49-F238E27FC236}">
                <a16:creationId xmlns:a16="http://schemas.microsoft.com/office/drawing/2014/main" id="{941AF300-CEDC-409F-AF0D-35F9482DF928}"/>
              </a:ext>
            </a:extLst>
          </p:cNvPr>
          <p:cNvSpPr>
            <a:spLocks xmlns:a="http://schemas.openxmlformats.org/drawingml/2006/main" noGrp="1"/>
          </p:cNvSpPr>
          <p:nvPr/>
        </p:nvSpPr>
        <p:spPr>
          <a:xfrm xmlns:a="http://schemas.openxmlformats.org/drawingml/2006/main">
            <a:off x="722376" y="2404872"/>
            <a:ext cx="5015484"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Filesystem layers plus metadata — env, entrypoint, exposed ports. Immutable once built: the frozen artefact you ship.</a:t>
            </a:r>
            <a:endParaRPr sz="980"/>
          </a:p>
        </p:txBody>
      </p:sp>
      <p:sp>
        <p:nvSpPr>
          <p:cNvPr id="13" name="Shape 10">
            <a:extLst xmlns:a="http://schemas.openxmlformats.org/drawingml/2006/main">
              <a:ext uri="{FF2B5EF4-FFF2-40B4-BE49-F238E27FC236}">
                <a16:creationId xmlns:a16="http://schemas.microsoft.com/office/drawing/2014/main" id="{4DBFC2A4-665C-4F6C-966E-CD754FEAF3DB}"/>
              </a:ext>
            </a:extLst>
          </p:cNvPr>
          <p:cNvSpPr>
            <a:spLocks xmlns:a="http://schemas.openxmlformats.org/drawingml/2006/main" noGrp="1"/>
          </p:cNvSpPr>
          <p:nvPr/>
        </p:nvSpPr>
        <p:spPr>
          <a:xfrm xmlns:a="http://schemas.openxmlformats.org/drawingml/2006/main">
            <a:off x="6231636" y="1517904"/>
            <a:ext cx="5454396"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14" name="Shape 11">
            <a:extLst xmlns:a="http://schemas.openxmlformats.org/drawingml/2006/main">
              <a:ext uri="{FF2B5EF4-FFF2-40B4-BE49-F238E27FC236}">
                <a16:creationId xmlns:a16="http://schemas.microsoft.com/office/drawing/2014/main" id="{2F20F23E-974E-4B64-B515-079DA47F8C75}"/>
              </a:ext>
            </a:extLst>
          </p:cNvPr>
          <p:cNvSpPr>
            <a:spLocks xmlns:a="http://schemas.openxmlformats.org/drawingml/2006/main" noGrp="1"/>
          </p:cNvSpPr>
          <p:nvPr/>
        </p:nvSpPr>
        <p:spPr>
          <a:xfrm xmlns:a="http://schemas.openxmlformats.org/drawingml/2006/main">
            <a:off x="6231636" y="1517904"/>
            <a:ext cx="82296" cy="2272284"/>
          </a:xfrm>
          <a:prstGeom xmlns:a="http://schemas.openxmlformats.org/drawingml/2006/main" prst="rect">
            <a:avLst/>
          </a:prstGeom>
          <a:solidFill xmlns:a="http://schemas.openxmlformats.org/drawingml/2006/main">
            <a:srgbClr val="29ABE2"/>
          </a:solidFill>
        </p:spPr>
      </p:sp>
      <p:sp>
        <p:nvSpPr>
          <p:cNvPr id="15" name="Text 12">
            <a:extLst xmlns:a="http://schemas.openxmlformats.org/drawingml/2006/main">
              <a:ext uri="{FF2B5EF4-FFF2-40B4-BE49-F238E27FC236}">
                <a16:creationId xmlns:a16="http://schemas.microsoft.com/office/drawing/2014/main" id="{2B4E8FA1-B65F-4158-9AD2-E19FF34B4DD4}"/>
              </a:ext>
            </a:extLst>
          </p:cNvPr>
          <p:cNvSpPr>
            <a:spLocks xmlns:a="http://schemas.openxmlformats.org/drawingml/2006/main" noGrp="1"/>
          </p:cNvSpPr>
          <p:nvPr/>
        </p:nvSpPr>
        <p:spPr>
          <a:xfrm xmlns:a="http://schemas.openxmlformats.org/drawingml/2006/main">
            <a:off x="6451092" y="1636776"/>
            <a:ext cx="501548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29ABE2"/>
                </a:solidFill>
                <a:latin typeface="Calibri"/>
                <a:ea typeface="Calibri"/>
                <a:cs typeface="Calibri"/>
              </a:rPr>
              <a:t>CONTAINER</a:t>
            </a:r>
            <a:endParaRPr sz="900"/>
          </a:p>
        </p:txBody>
      </p:sp>
      <p:sp>
        <p:nvSpPr>
          <p:cNvPr id="16" name="Text 13">
            <a:extLst xmlns:a="http://schemas.openxmlformats.org/drawingml/2006/main">
              <a:ext uri="{FF2B5EF4-FFF2-40B4-BE49-F238E27FC236}">
                <a16:creationId xmlns:a16="http://schemas.microsoft.com/office/drawing/2014/main" id="{C5C12469-F909-4B03-85F7-D958BDAA32E2}"/>
              </a:ext>
            </a:extLst>
          </p:cNvPr>
          <p:cNvSpPr>
            <a:spLocks xmlns:a="http://schemas.openxmlformats.org/drawingml/2006/main" noGrp="1"/>
          </p:cNvSpPr>
          <p:nvPr/>
        </p:nvSpPr>
        <p:spPr>
          <a:xfrm xmlns:a="http://schemas.openxmlformats.org/drawingml/2006/main">
            <a:off x="6451092" y="1883664"/>
            <a:ext cx="501548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Image + writable layer + process</a:t>
            </a:r>
            <a:endParaRPr sz="1250"/>
          </a:p>
        </p:txBody>
      </p:sp>
      <p:sp>
        <p:nvSpPr>
          <p:cNvPr id="17" name="Text 14">
            <a:extLst xmlns:a="http://schemas.openxmlformats.org/drawingml/2006/main">
              <a:ext uri="{FF2B5EF4-FFF2-40B4-BE49-F238E27FC236}">
                <a16:creationId xmlns:a16="http://schemas.microsoft.com/office/drawing/2014/main" id="{FDED6AF3-0136-4019-9A1A-3B4806C43AC7}"/>
              </a:ext>
            </a:extLst>
          </p:cNvPr>
          <p:cNvSpPr>
            <a:spLocks xmlns:a="http://schemas.openxmlformats.org/drawingml/2006/main" noGrp="1"/>
          </p:cNvSpPr>
          <p:nvPr/>
        </p:nvSpPr>
        <p:spPr>
          <a:xfrm xmlns:a="http://schemas.openxmlformats.org/drawingml/2006/main">
            <a:off x="6451092" y="2404872"/>
            <a:ext cx="5015484"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A running instance: the image plus a thin writable layer and a process. Start, stop, remove — the image is untouched.</a:t>
            </a:r>
            <a:endParaRPr sz="980"/>
          </a:p>
        </p:txBody>
      </p:sp>
      <p:sp>
        <p:nvSpPr>
          <p:cNvPr id="18" name="Shape 15">
            <a:extLst xmlns:a="http://schemas.openxmlformats.org/drawingml/2006/main">
              <a:ext uri="{FF2B5EF4-FFF2-40B4-BE49-F238E27FC236}">
                <a16:creationId xmlns:a16="http://schemas.microsoft.com/office/drawing/2014/main" id="{39A19597-F49C-4CDC-A5BF-CF34F9727722}"/>
              </a:ext>
            </a:extLst>
          </p:cNvPr>
          <p:cNvSpPr>
            <a:spLocks xmlns:a="http://schemas.openxmlformats.org/drawingml/2006/main" noGrp="1"/>
          </p:cNvSpPr>
          <p:nvPr/>
        </p:nvSpPr>
        <p:spPr>
          <a:xfrm xmlns:a="http://schemas.openxmlformats.org/drawingml/2006/main">
            <a:off x="502920" y="4046220"/>
            <a:ext cx="5454396"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19" name="Shape 16">
            <a:extLst xmlns:a="http://schemas.openxmlformats.org/drawingml/2006/main">
              <a:ext uri="{FF2B5EF4-FFF2-40B4-BE49-F238E27FC236}">
                <a16:creationId xmlns:a16="http://schemas.microsoft.com/office/drawing/2014/main" id="{718E628F-3778-4CAA-B3E9-66D3B62C5531}"/>
              </a:ext>
            </a:extLst>
          </p:cNvPr>
          <p:cNvSpPr>
            <a:spLocks xmlns:a="http://schemas.openxmlformats.org/drawingml/2006/main" noGrp="1"/>
          </p:cNvSpPr>
          <p:nvPr/>
        </p:nvSpPr>
        <p:spPr>
          <a:xfrm xmlns:a="http://schemas.openxmlformats.org/drawingml/2006/main">
            <a:off x="502920" y="4046220"/>
            <a:ext cx="82296" cy="2272284"/>
          </a:xfrm>
          <a:prstGeom xmlns:a="http://schemas.openxmlformats.org/drawingml/2006/main" prst="rect">
            <a:avLst/>
          </a:prstGeom>
          <a:solidFill xmlns:a="http://schemas.openxmlformats.org/drawingml/2006/main">
            <a:srgbClr val="F58220"/>
          </a:solidFill>
        </p:spPr>
      </p:sp>
      <p:sp>
        <p:nvSpPr>
          <p:cNvPr id="20" name="Text 17">
            <a:extLst xmlns:a="http://schemas.openxmlformats.org/drawingml/2006/main">
              <a:ext uri="{FF2B5EF4-FFF2-40B4-BE49-F238E27FC236}">
                <a16:creationId xmlns:a16="http://schemas.microsoft.com/office/drawing/2014/main" id="{AEBEF9CC-8DB6-462A-96A7-FD4B4763608D}"/>
              </a:ext>
            </a:extLst>
          </p:cNvPr>
          <p:cNvSpPr>
            <a:spLocks xmlns:a="http://schemas.openxmlformats.org/drawingml/2006/main" noGrp="1"/>
          </p:cNvSpPr>
          <p:nvPr/>
        </p:nvSpPr>
        <p:spPr>
          <a:xfrm xmlns:a="http://schemas.openxmlformats.org/drawingml/2006/main">
            <a:off x="722376" y="4165092"/>
            <a:ext cx="501548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F58220"/>
                </a:solidFill>
                <a:latin typeface="Calibri"/>
                <a:ea typeface="Calibri"/>
                <a:cs typeface="Calibri"/>
              </a:rPr>
              <a:t>REGISTRY</a:t>
            </a:r>
            <a:endParaRPr sz="900"/>
          </a:p>
        </p:txBody>
      </p:sp>
      <p:sp>
        <p:nvSpPr>
          <p:cNvPr id="21" name="Text 18">
            <a:extLst xmlns:a="http://schemas.openxmlformats.org/drawingml/2006/main">
              <a:ext uri="{FF2B5EF4-FFF2-40B4-BE49-F238E27FC236}">
                <a16:creationId xmlns:a16="http://schemas.microsoft.com/office/drawing/2014/main" id="{CC449BBD-DF78-4005-9A38-CE4AFE4594DD}"/>
              </a:ext>
            </a:extLst>
          </p:cNvPr>
          <p:cNvSpPr>
            <a:spLocks xmlns:a="http://schemas.openxmlformats.org/drawingml/2006/main" noGrp="1"/>
          </p:cNvSpPr>
          <p:nvPr/>
        </p:nvSpPr>
        <p:spPr>
          <a:xfrm xmlns:a="http://schemas.openxmlformats.org/drawingml/2006/main">
            <a:off x="722376" y="4411980"/>
            <a:ext cx="501548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Distribution by content digest</a:t>
            </a:r>
            <a:endParaRPr sz="1250"/>
          </a:p>
        </p:txBody>
      </p:sp>
      <p:sp>
        <p:nvSpPr>
          <p:cNvPr id="22" name="Text 19">
            <a:extLst xmlns:a="http://schemas.openxmlformats.org/drawingml/2006/main">
              <a:ext uri="{FF2B5EF4-FFF2-40B4-BE49-F238E27FC236}">
                <a16:creationId xmlns:a16="http://schemas.microsoft.com/office/drawing/2014/main" id="{2C31A368-1950-4416-8C54-11078BECE8B2}"/>
              </a:ext>
            </a:extLst>
          </p:cNvPr>
          <p:cNvSpPr>
            <a:spLocks xmlns:a="http://schemas.openxmlformats.org/drawingml/2006/main" noGrp="1"/>
          </p:cNvSpPr>
          <p:nvPr/>
        </p:nvSpPr>
        <p:spPr>
          <a:xfrm xmlns:a="http://schemas.openxmlformats.org/drawingml/2006/main">
            <a:off x="722376" y="4933188"/>
            <a:ext cx="5015484"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fraud-service@sha256:… is immutable truth; tags like :1.4.2 or :latest are movable pointers over it.</a:t>
            </a:r>
            <a:endParaRPr sz="980"/>
          </a:p>
        </p:txBody>
      </p:sp>
      <p:sp>
        <p:nvSpPr>
          <p:cNvPr id="23" name="Shape 20">
            <a:extLst xmlns:a="http://schemas.openxmlformats.org/drawingml/2006/main">
              <a:ext uri="{FF2B5EF4-FFF2-40B4-BE49-F238E27FC236}">
                <a16:creationId xmlns:a16="http://schemas.microsoft.com/office/drawing/2014/main" id="{71578FB8-64C0-4D0C-ADBE-C7A70EF9BD68}"/>
              </a:ext>
            </a:extLst>
          </p:cNvPr>
          <p:cNvSpPr>
            <a:spLocks xmlns:a="http://schemas.openxmlformats.org/drawingml/2006/main" noGrp="1"/>
          </p:cNvSpPr>
          <p:nvPr/>
        </p:nvSpPr>
        <p:spPr>
          <a:xfrm xmlns:a="http://schemas.openxmlformats.org/drawingml/2006/main">
            <a:off x="6231636" y="4046220"/>
            <a:ext cx="5454396"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24" name="Shape 21">
            <a:extLst xmlns:a="http://schemas.openxmlformats.org/drawingml/2006/main">
              <a:ext uri="{FF2B5EF4-FFF2-40B4-BE49-F238E27FC236}">
                <a16:creationId xmlns:a16="http://schemas.microsoft.com/office/drawing/2014/main" id="{CA2CC682-DA54-48E9-B587-8CF36C29BA5B}"/>
              </a:ext>
            </a:extLst>
          </p:cNvPr>
          <p:cNvSpPr>
            <a:spLocks xmlns:a="http://schemas.openxmlformats.org/drawingml/2006/main" noGrp="1"/>
          </p:cNvSpPr>
          <p:nvPr/>
        </p:nvSpPr>
        <p:spPr>
          <a:xfrm xmlns:a="http://schemas.openxmlformats.org/drawingml/2006/main">
            <a:off x="6231636" y="4046220"/>
            <a:ext cx="82296" cy="2272284"/>
          </a:xfrm>
          <a:prstGeom xmlns:a="http://schemas.openxmlformats.org/drawingml/2006/main" prst="rect">
            <a:avLst/>
          </a:prstGeom>
          <a:solidFill xmlns:a="http://schemas.openxmlformats.org/drawingml/2006/main">
            <a:srgbClr val="8DC63F"/>
          </a:solidFill>
        </p:spPr>
      </p:sp>
      <p:sp>
        <p:nvSpPr>
          <p:cNvPr id="25" name="Text 22">
            <a:extLst xmlns:a="http://schemas.openxmlformats.org/drawingml/2006/main">
              <a:ext uri="{FF2B5EF4-FFF2-40B4-BE49-F238E27FC236}">
                <a16:creationId xmlns:a16="http://schemas.microsoft.com/office/drawing/2014/main" id="{5737A801-B368-4798-B628-27B8B8858271}"/>
              </a:ext>
            </a:extLst>
          </p:cNvPr>
          <p:cNvSpPr>
            <a:spLocks xmlns:a="http://schemas.openxmlformats.org/drawingml/2006/main" noGrp="1"/>
          </p:cNvSpPr>
          <p:nvPr/>
        </p:nvSpPr>
        <p:spPr>
          <a:xfrm xmlns:a="http://schemas.openxmlformats.org/drawingml/2006/main">
            <a:off x="6451092" y="4165092"/>
            <a:ext cx="501548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8DC63F"/>
                </a:solidFill>
                <a:latin typeface="Calibri"/>
                <a:ea typeface="Calibri"/>
                <a:cs typeface="Calibri"/>
              </a:rPr>
              <a:t>TAGS</a:t>
            </a:r>
            <a:endParaRPr sz="900"/>
          </a:p>
        </p:txBody>
      </p:sp>
      <p:sp>
        <p:nvSpPr>
          <p:cNvPr id="26" name="Text 23">
            <a:extLst xmlns:a="http://schemas.openxmlformats.org/drawingml/2006/main">
              <a:ext uri="{FF2B5EF4-FFF2-40B4-BE49-F238E27FC236}">
                <a16:creationId xmlns:a16="http://schemas.microsoft.com/office/drawing/2014/main" id="{EF0C306D-42AA-4C74-9069-4A7344B56CA6}"/>
              </a:ext>
            </a:extLst>
          </p:cNvPr>
          <p:cNvSpPr>
            <a:spLocks xmlns:a="http://schemas.openxmlformats.org/drawingml/2006/main" noGrp="1"/>
          </p:cNvSpPr>
          <p:nvPr/>
        </p:nvSpPr>
        <p:spPr>
          <a:xfrm xmlns:a="http://schemas.openxmlformats.org/drawingml/2006/main">
            <a:off x="6451092" y="4411980"/>
            <a:ext cx="501548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:latest is an anti-pattern</a:t>
            </a:r>
            <a:endParaRPr sz="1250"/>
          </a:p>
        </p:txBody>
      </p:sp>
      <p:sp>
        <p:nvSpPr>
          <p:cNvPr id="27" name="Text 24">
            <a:extLst xmlns:a="http://schemas.openxmlformats.org/drawingml/2006/main">
              <a:ext uri="{FF2B5EF4-FFF2-40B4-BE49-F238E27FC236}">
                <a16:creationId xmlns:a16="http://schemas.microsoft.com/office/drawing/2014/main" id="{822BB750-B459-4E83-B562-A84CCD3C419E}"/>
              </a:ext>
            </a:extLst>
          </p:cNvPr>
          <p:cNvSpPr>
            <a:spLocks xmlns:a="http://schemas.openxmlformats.org/drawingml/2006/main" noGrp="1"/>
          </p:cNvSpPr>
          <p:nvPr/>
        </p:nvSpPr>
        <p:spPr>
          <a:xfrm xmlns:a="http://schemas.openxmlformats.org/drawingml/2006/main">
            <a:off x="6451092" y="4933188"/>
            <a:ext cx="5015484"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Production pins digests or immutable tags. With :latest deployed, 'what is running?' becomes unanswerable.</a:t>
            </a:r>
            <a:endParaRPr sz="980"/>
          </a:p>
        </p:txBody>
      </p:sp>
    </p:spTree>
    <p:extLst>
      <p:ext uri="{BB962C8B-B14F-4D97-AF65-F5344CB8AC3E}">
        <p14:creationId xmlns:p14="http://schemas.microsoft.com/office/powerpoint/2010/main" val="2102150896"/>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942FABE-F5B5-4B30-A064-02EB2670D5FF}"/>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Layer caching — the golden ordering</a:t>
            </a:r>
            <a:endParaRPr sz="2600"/>
          </a:p>
        </p:txBody>
      </p:sp>
      <p:sp>
        <p:nvSpPr>
          <p:cNvPr id="3" name="Text 1">
            <a:extLst xmlns:a="http://schemas.openxmlformats.org/drawingml/2006/main">
              <a:ext uri="{FF2B5EF4-FFF2-40B4-BE49-F238E27FC236}">
                <a16:creationId xmlns:a16="http://schemas.microsoft.com/office/drawing/2014/main" id="{02C66077-5DB2-42DF-998B-F63A766EBADD}"/>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التخزين المؤقت للطبقات — الترتيب الذهبي</a:t>
            </a:r>
            <a:endParaRPr sz="1300"/>
          </a:p>
        </p:txBody>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b5e6b93765d1480f"/>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E7E7CF20-57BC-4B5C-A17A-B97A7F678247}"/>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81E13488-5276-436E-9E77-CCAE01D3986B}"/>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3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B1D21E2A-8E03-4673-89A2-244BFBE6ECF7}"/>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63</a:t>
            </a:r>
            <a:endParaRPr sz="850"/>
          </a:p>
        </p:txBody>
      </p:sp>
      <p:sp>
        <p:nvSpPr>
          <p:cNvPr id="8" name="Shape 5">
            <a:extLst xmlns:a="http://schemas.openxmlformats.org/drawingml/2006/main">
              <a:ext uri="{FF2B5EF4-FFF2-40B4-BE49-F238E27FC236}">
                <a16:creationId xmlns:a16="http://schemas.microsoft.com/office/drawing/2014/main" id="{DEB30139-7355-4A32-993C-0010DD39E5A8}"/>
              </a:ext>
            </a:extLst>
          </p:cNvPr>
          <p:cNvSpPr>
            <a:spLocks xmlns:a="http://schemas.openxmlformats.org/drawingml/2006/main" noGrp="1"/>
          </p:cNvSpPr>
          <p:nvPr/>
        </p:nvSpPr>
        <p:spPr>
          <a:xfrm xmlns:a="http://schemas.openxmlformats.org/drawingml/2006/main">
            <a:off x="502920" y="1965960"/>
            <a:ext cx="3471672" cy="2377440"/>
          </a:xfrm>
          <a:prstGeom xmlns:a="http://schemas.openxmlformats.org/drawingml/2006/main" prst="roundRect">
            <a:avLst>
              <a:gd name="adj" fmla="val 2692"/>
            </a:avLst>
          </a:prstGeom>
          <a:solidFill xmlns:a="http://schemas.openxmlformats.org/drawingml/2006/main">
            <a:srgbClr val="FFFFFF"/>
          </a:solidFill>
          <a:ln xmlns:a="http://schemas.openxmlformats.org/drawingml/2006/main" w="12700">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FC2FF7D9-15FA-484E-9385-18F9999DA8EC}"/>
              </a:ext>
            </a:extLst>
          </p:cNvPr>
          <p:cNvSpPr>
            <a:spLocks xmlns:a="http://schemas.openxmlformats.org/drawingml/2006/main" noGrp="1"/>
          </p:cNvSpPr>
          <p:nvPr/>
        </p:nvSpPr>
        <p:spPr>
          <a:xfrm xmlns:a="http://schemas.openxmlformats.org/drawingml/2006/main">
            <a:off x="502920" y="1965960"/>
            <a:ext cx="3471672" cy="82296"/>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DCB745EC-B03D-457D-89BC-27AB33364364}"/>
              </a:ext>
            </a:extLst>
          </p:cNvPr>
          <p:cNvSpPr>
            <a:spLocks xmlns:a="http://schemas.openxmlformats.org/drawingml/2006/main" noGrp="1"/>
          </p:cNvSpPr>
          <p:nvPr/>
        </p:nvSpPr>
        <p:spPr>
          <a:xfrm xmlns:a="http://schemas.openxmlformats.org/drawingml/2006/main">
            <a:off x="640080" y="2148840"/>
            <a:ext cx="319735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00A79D"/>
                </a:solidFill>
                <a:latin typeface="Calibri"/>
                <a:ea typeface="Calibri"/>
                <a:cs typeface="Calibri"/>
              </a:rPr>
              <a:t>STEP 1</a:t>
            </a:r>
            <a:endParaRPr sz="900"/>
          </a:p>
        </p:txBody>
      </p:sp>
      <p:sp>
        <p:nvSpPr>
          <p:cNvPr id="11" name="Text 8">
            <a:extLst xmlns:a="http://schemas.openxmlformats.org/drawingml/2006/main">
              <a:ext uri="{FF2B5EF4-FFF2-40B4-BE49-F238E27FC236}">
                <a16:creationId xmlns:a16="http://schemas.microsoft.com/office/drawing/2014/main" id="{282B24AC-E154-4636-8CFE-C4441216031F}"/>
              </a:ext>
            </a:extLst>
          </p:cNvPr>
          <p:cNvSpPr>
            <a:spLocks xmlns:a="http://schemas.openxmlformats.org/drawingml/2006/main" noGrp="1"/>
          </p:cNvSpPr>
          <p:nvPr/>
        </p:nvSpPr>
        <p:spPr>
          <a:xfrm xmlns:a="http://schemas.openxmlformats.org/drawingml/2006/main">
            <a:off x="640080" y="2404872"/>
            <a:ext cx="3197352"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1 · Dependency layer</a:t>
            </a:r>
            <a:endParaRPr sz="1250"/>
          </a:p>
        </p:txBody>
      </p:sp>
      <p:sp>
        <p:nvSpPr>
          <p:cNvPr id="12" name="Text 9">
            <a:extLst xmlns:a="http://schemas.openxmlformats.org/drawingml/2006/main">
              <a:ext uri="{FF2B5EF4-FFF2-40B4-BE49-F238E27FC236}">
                <a16:creationId xmlns:a16="http://schemas.microsoft.com/office/drawing/2014/main" id="{20CEC276-0598-4ADF-8B99-119202BDB4A5}"/>
              </a:ext>
            </a:extLst>
          </p:cNvPr>
          <p:cNvSpPr>
            <a:spLocks xmlns:a="http://schemas.openxmlformats.org/drawingml/2006/main" noGrp="1"/>
          </p:cNvSpPr>
          <p:nvPr/>
        </p:nvSpPr>
        <p:spPr>
          <a:xfrm xmlns:a="http://schemas.openxmlformats.org/drawingml/2006/main">
            <a:off x="640080" y="2971800"/>
            <a:ext cx="3197352"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COPY requirements.lock alone, then pip install — slow, rarely changes, cached across code edits</a:t>
            </a:r>
            <a:endParaRPr sz="950"/>
          </a:p>
        </p:txBody>
      </p:sp>
      <p:sp>
        <p:nvSpPr>
          <p:cNvPr id="13" name="Shape 10">
            <a:extLst xmlns:a="http://schemas.openxmlformats.org/drawingml/2006/main">
              <a:ext uri="{FF2B5EF4-FFF2-40B4-BE49-F238E27FC236}">
                <a16:creationId xmlns:a16="http://schemas.microsoft.com/office/drawing/2014/main" id="{607EC9FB-B65E-4F04-97FF-593F7D19A529}"/>
              </a:ext>
            </a:extLst>
          </p:cNvPr>
          <p:cNvSpPr>
            <a:spLocks xmlns:a="http://schemas.openxmlformats.org/drawingml/2006/main" noGrp="1"/>
          </p:cNvSpPr>
          <p:nvPr/>
        </p:nvSpPr>
        <p:spPr>
          <a:xfrm xmlns:a="http://schemas.openxmlformats.org/drawingml/2006/main">
            <a:off x="4029456" y="3026664"/>
            <a:ext cx="274320" cy="256032"/>
          </a:xfrm>
          <a:prstGeom xmlns:a="http://schemas.openxmlformats.org/drawingml/2006/main" prst="chevron">
            <a:avLst/>
          </a:prstGeom>
          <a:solidFill xmlns:a="http://schemas.openxmlformats.org/drawingml/2006/main">
            <a:srgbClr val="00A79D"/>
          </a:solidFill>
        </p:spPr>
      </p:sp>
      <p:sp>
        <p:nvSpPr>
          <p:cNvPr id="14" name="Shape 11">
            <a:extLst xmlns:a="http://schemas.openxmlformats.org/drawingml/2006/main">
              <a:ext uri="{FF2B5EF4-FFF2-40B4-BE49-F238E27FC236}">
                <a16:creationId xmlns:a16="http://schemas.microsoft.com/office/drawing/2014/main" id="{2746E47A-63D2-4781-86D8-9DC8B2CD0722}"/>
              </a:ext>
            </a:extLst>
          </p:cNvPr>
          <p:cNvSpPr>
            <a:spLocks xmlns:a="http://schemas.openxmlformats.org/drawingml/2006/main" noGrp="1"/>
          </p:cNvSpPr>
          <p:nvPr/>
        </p:nvSpPr>
        <p:spPr>
          <a:xfrm xmlns:a="http://schemas.openxmlformats.org/drawingml/2006/main">
            <a:off x="4358640" y="1965960"/>
            <a:ext cx="3471672" cy="2377440"/>
          </a:xfrm>
          <a:prstGeom xmlns:a="http://schemas.openxmlformats.org/drawingml/2006/main" prst="roundRect">
            <a:avLst>
              <a:gd name="adj" fmla="val 2692"/>
            </a:avLst>
          </a:prstGeom>
          <a:solidFill xmlns:a="http://schemas.openxmlformats.org/drawingml/2006/main">
            <a:srgbClr val="FFFFFF"/>
          </a:solidFill>
          <a:ln xmlns:a="http://schemas.openxmlformats.org/drawingml/2006/main" w="12700">
            <a:solidFill>
              <a:srgbClr val="D9E4F5"/>
            </a:solidFill>
            <a:prstDash val="solid"/>
          </a:ln>
        </p:spPr>
      </p:sp>
      <p:sp>
        <p:nvSpPr>
          <p:cNvPr id="15" name="Shape 12">
            <a:extLst xmlns:a="http://schemas.openxmlformats.org/drawingml/2006/main">
              <a:ext uri="{FF2B5EF4-FFF2-40B4-BE49-F238E27FC236}">
                <a16:creationId xmlns:a16="http://schemas.microsoft.com/office/drawing/2014/main" id="{04CC96F1-C58D-4B0D-B513-A77130065E9F}"/>
              </a:ext>
            </a:extLst>
          </p:cNvPr>
          <p:cNvSpPr>
            <a:spLocks xmlns:a="http://schemas.openxmlformats.org/drawingml/2006/main" noGrp="1"/>
          </p:cNvSpPr>
          <p:nvPr/>
        </p:nvSpPr>
        <p:spPr>
          <a:xfrm xmlns:a="http://schemas.openxmlformats.org/drawingml/2006/main">
            <a:off x="4358640" y="1965960"/>
            <a:ext cx="3471672" cy="82296"/>
          </a:xfrm>
          <a:prstGeom xmlns:a="http://schemas.openxmlformats.org/drawingml/2006/main" prst="rect">
            <a:avLst/>
          </a:prstGeom>
          <a:solidFill xmlns:a="http://schemas.openxmlformats.org/drawingml/2006/main">
            <a:srgbClr val="29ABE2"/>
          </a:solidFill>
        </p:spPr>
      </p:sp>
      <p:sp>
        <p:nvSpPr>
          <p:cNvPr id="16" name="Text 13">
            <a:extLst xmlns:a="http://schemas.openxmlformats.org/drawingml/2006/main">
              <a:ext uri="{FF2B5EF4-FFF2-40B4-BE49-F238E27FC236}">
                <a16:creationId xmlns:a16="http://schemas.microsoft.com/office/drawing/2014/main" id="{1657D53B-56BE-426E-BAB2-DDC68EFE872B}"/>
              </a:ext>
            </a:extLst>
          </p:cNvPr>
          <p:cNvSpPr>
            <a:spLocks xmlns:a="http://schemas.openxmlformats.org/drawingml/2006/main" noGrp="1"/>
          </p:cNvSpPr>
          <p:nvPr/>
        </p:nvSpPr>
        <p:spPr>
          <a:xfrm xmlns:a="http://schemas.openxmlformats.org/drawingml/2006/main">
            <a:off x="4495800" y="2148840"/>
            <a:ext cx="319735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29ABE2"/>
                </a:solidFill>
                <a:latin typeface="Calibri"/>
                <a:ea typeface="Calibri"/>
                <a:cs typeface="Calibri"/>
              </a:rPr>
              <a:t>STEP 2</a:t>
            </a:r>
            <a:endParaRPr sz="900"/>
          </a:p>
        </p:txBody>
      </p:sp>
      <p:sp>
        <p:nvSpPr>
          <p:cNvPr id="17" name="Text 14">
            <a:extLst xmlns:a="http://schemas.openxmlformats.org/drawingml/2006/main">
              <a:ext uri="{FF2B5EF4-FFF2-40B4-BE49-F238E27FC236}">
                <a16:creationId xmlns:a16="http://schemas.microsoft.com/office/drawing/2014/main" id="{B9A8B6B0-8D08-47F7-98F4-9B129A611365}"/>
              </a:ext>
            </a:extLst>
          </p:cNvPr>
          <p:cNvSpPr>
            <a:spLocks xmlns:a="http://schemas.openxmlformats.org/drawingml/2006/main" noGrp="1"/>
          </p:cNvSpPr>
          <p:nvPr/>
        </p:nvSpPr>
        <p:spPr>
          <a:xfrm xmlns:a="http://schemas.openxmlformats.org/drawingml/2006/main">
            <a:off x="4495800" y="2404872"/>
            <a:ext cx="3197352"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2 · Source layer</a:t>
            </a:r>
            <a:endParaRPr sz="1250"/>
          </a:p>
        </p:txBody>
      </p:sp>
      <p:sp>
        <p:nvSpPr>
          <p:cNvPr id="18" name="Text 15">
            <a:extLst xmlns:a="http://schemas.openxmlformats.org/drawingml/2006/main">
              <a:ext uri="{FF2B5EF4-FFF2-40B4-BE49-F238E27FC236}">
                <a16:creationId xmlns:a16="http://schemas.microsoft.com/office/drawing/2014/main" id="{03844544-3339-4D3D-B8DA-E769A5469578}"/>
              </a:ext>
            </a:extLst>
          </p:cNvPr>
          <p:cNvSpPr>
            <a:spLocks xmlns:a="http://schemas.openxmlformats.org/drawingml/2006/main" noGrp="1"/>
          </p:cNvSpPr>
          <p:nvPr/>
        </p:nvSpPr>
        <p:spPr>
          <a:xfrm xmlns:a="http://schemas.openxmlformats.org/drawingml/2006/main">
            <a:off x="4495800" y="2971800"/>
            <a:ext cx="3197352"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COPY src/ — changes every commit, but rebuilds in seconds</a:t>
            </a:r>
            <a:endParaRPr sz="950"/>
          </a:p>
        </p:txBody>
      </p:sp>
      <p:sp>
        <p:nvSpPr>
          <p:cNvPr id="19" name="Shape 16">
            <a:extLst xmlns:a="http://schemas.openxmlformats.org/drawingml/2006/main">
              <a:ext uri="{FF2B5EF4-FFF2-40B4-BE49-F238E27FC236}">
                <a16:creationId xmlns:a16="http://schemas.microsoft.com/office/drawing/2014/main" id="{23952747-E68A-4119-96EB-5A567435DE66}"/>
              </a:ext>
            </a:extLst>
          </p:cNvPr>
          <p:cNvSpPr>
            <a:spLocks xmlns:a="http://schemas.openxmlformats.org/drawingml/2006/main" noGrp="1"/>
          </p:cNvSpPr>
          <p:nvPr/>
        </p:nvSpPr>
        <p:spPr>
          <a:xfrm xmlns:a="http://schemas.openxmlformats.org/drawingml/2006/main">
            <a:off x="7885176" y="3026664"/>
            <a:ext cx="274320" cy="256032"/>
          </a:xfrm>
          <a:prstGeom xmlns:a="http://schemas.openxmlformats.org/drawingml/2006/main" prst="chevron">
            <a:avLst/>
          </a:prstGeom>
          <a:solidFill xmlns:a="http://schemas.openxmlformats.org/drawingml/2006/main">
            <a:srgbClr val="00A79D"/>
          </a:solidFill>
        </p:spPr>
      </p:sp>
      <p:sp>
        <p:nvSpPr>
          <p:cNvPr id="20" name="Shape 17">
            <a:extLst xmlns:a="http://schemas.openxmlformats.org/drawingml/2006/main">
              <a:ext uri="{FF2B5EF4-FFF2-40B4-BE49-F238E27FC236}">
                <a16:creationId xmlns:a16="http://schemas.microsoft.com/office/drawing/2014/main" id="{41B717D2-27F9-46C0-8B58-D5DC6ED0DA4B}"/>
              </a:ext>
            </a:extLst>
          </p:cNvPr>
          <p:cNvSpPr>
            <a:spLocks xmlns:a="http://schemas.openxmlformats.org/drawingml/2006/main" noGrp="1"/>
          </p:cNvSpPr>
          <p:nvPr/>
        </p:nvSpPr>
        <p:spPr>
          <a:xfrm xmlns:a="http://schemas.openxmlformats.org/drawingml/2006/main">
            <a:off x="8214360" y="1965960"/>
            <a:ext cx="3471672" cy="2377440"/>
          </a:xfrm>
          <a:prstGeom xmlns:a="http://schemas.openxmlformats.org/drawingml/2006/main" prst="roundRect">
            <a:avLst>
              <a:gd name="adj" fmla="val 2692"/>
            </a:avLst>
          </a:prstGeom>
          <a:solidFill xmlns:a="http://schemas.openxmlformats.org/drawingml/2006/main">
            <a:srgbClr val="FFFFFF"/>
          </a:solidFill>
          <a:ln xmlns:a="http://schemas.openxmlformats.org/drawingml/2006/main" w="12700">
            <a:solidFill>
              <a:srgbClr val="D9E4F5"/>
            </a:solidFill>
            <a:prstDash val="solid"/>
          </a:ln>
        </p:spPr>
      </p:sp>
      <p:sp>
        <p:nvSpPr>
          <p:cNvPr id="21" name="Shape 18">
            <a:extLst xmlns:a="http://schemas.openxmlformats.org/drawingml/2006/main">
              <a:ext uri="{FF2B5EF4-FFF2-40B4-BE49-F238E27FC236}">
                <a16:creationId xmlns:a16="http://schemas.microsoft.com/office/drawing/2014/main" id="{9D4B9F5A-6B98-4E52-A3BE-40D2ABC49645}"/>
              </a:ext>
            </a:extLst>
          </p:cNvPr>
          <p:cNvSpPr>
            <a:spLocks xmlns:a="http://schemas.openxmlformats.org/drawingml/2006/main" noGrp="1"/>
          </p:cNvSpPr>
          <p:nvPr/>
        </p:nvSpPr>
        <p:spPr>
          <a:xfrm xmlns:a="http://schemas.openxmlformats.org/drawingml/2006/main">
            <a:off x="8214360" y="1965960"/>
            <a:ext cx="3471672" cy="82296"/>
          </a:xfrm>
          <a:prstGeom xmlns:a="http://schemas.openxmlformats.org/drawingml/2006/main" prst="rect">
            <a:avLst/>
          </a:prstGeom>
          <a:solidFill xmlns:a="http://schemas.openxmlformats.org/drawingml/2006/main">
            <a:srgbClr val="F58220"/>
          </a:solidFill>
        </p:spPr>
      </p:sp>
      <p:sp>
        <p:nvSpPr>
          <p:cNvPr id="22" name="Text 19">
            <a:extLst xmlns:a="http://schemas.openxmlformats.org/drawingml/2006/main">
              <a:ext uri="{FF2B5EF4-FFF2-40B4-BE49-F238E27FC236}">
                <a16:creationId xmlns:a16="http://schemas.microsoft.com/office/drawing/2014/main" id="{F28FF403-C48C-437D-AF03-3330814D59E6}"/>
              </a:ext>
            </a:extLst>
          </p:cNvPr>
          <p:cNvSpPr>
            <a:spLocks xmlns:a="http://schemas.openxmlformats.org/drawingml/2006/main" noGrp="1"/>
          </p:cNvSpPr>
          <p:nvPr/>
        </p:nvSpPr>
        <p:spPr>
          <a:xfrm xmlns:a="http://schemas.openxmlformats.org/drawingml/2006/main">
            <a:off x="8351520" y="2148840"/>
            <a:ext cx="319735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F58220"/>
                </a:solidFill>
                <a:latin typeface="Calibri"/>
                <a:ea typeface="Calibri"/>
                <a:cs typeface="Calibri"/>
              </a:rPr>
              <a:t>STEP 3</a:t>
            </a:r>
            <a:endParaRPr sz="900"/>
          </a:p>
        </p:txBody>
      </p:sp>
      <p:sp>
        <p:nvSpPr>
          <p:cNvPr id="23" name="Text 20">
            <a:extLst xmlns:a="http://schemas.openxmlformats.org/drawingml/2006/main">
              <a:ext uri="{FF2B5EF4-FFF2-40B4-BE49-F238E27FC236}">
                <a16:creationId xmlns:a16="http://schemas.microsoft.com/office/drawing/2014/main" id="{8959BCD7-77E8-413E-A2B4-A0DE6798D41F}"/>
              </a:ext>
            </a:extLst>
          </p:cNvPr>
          <p:cNvSpPr>
            <a:spLocks xmlns:a="http://schemas.openxmlformats.org/drawingml/2006/main" noGrp="1"/>
          </p:cNvSpPr>
          <p:nvPr/>
        </p:nvSpPr>
        <p:spPr>
          <a:xfrm xmlns:a="http://schemas.openxmlformats.org/drawingml/2006/main">
            <a:off x="8351520" y="2404872"/>
            <a:ext cx="3197352"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3 · Model layer</a:t>
            </a:r>
            <a:endParaRPr sz="1250"/>
          </a:p>
        </p:txBody>
      </p:sp>
      <p:sp>
        <p:nvSpPr>
          <p:cNvPr id="24" name="Text 21">
            <a:extLst xmlns:a="http://schemas.openxmlformats.org/drawingml/2006/main">
              <a:ext uri="{FF2B5EF4-FFF2-40B4-BE49-F238E27FC236}">
                <a16:creationId xmlns:a16="http://schemas.microsoft.com/office/drawing/2014/main" id="{23853F13-9607-4AAF-ADD8-50A5E48B226C}"/>
              </a:ext>
            </a:extLst>
          </p:cNvPr>
          <p:cNvSpPr>
            <a:spLocks xmlns:a="http://schemas.openxmlformats.org/drawingml/2006/main" noGrp="1"/>
          </p:cNvSpPr>
          <p:nvPr/>
        </p:nvSpPr>
        <p:spPr>
          <a:xfrm xmlns:a="http://schemas.openxmlformats.org/drawingml/2006/main">
            <a:off x="8351520" y="2971800"/>
            <a:ext cx="3197352"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COPY models/ as its own layer — changes on retrain, not on code change</a:t>
            </a:r>
            <a:endParaRPr sz="950"/>
          </a:p>
        </p:txBody>
      </p:sp>
      <p:sp>
        <p:nvSpPr>
          <p:cNvPr id="25" name="Shape 22">
            <a:extLst xmlns:a="http://schemas.openxmlformats.org/drawingml/2006/main">
              <a:ext uri="{FF2B5EF4-FFF2-40B4-BE49-F238E27FC236}">
                <a16:creationId xmlns:a16="http://schemas.microsoft.com/office/drawing/2014/main" id="{67359C77-55B3-4599-9382-873E11AC2E93}"/>
              </a:ext>
            </a:extLst>
          </p:cNvPr>
          <p:cNvSpPr>
            <a:spLocks xmlns:a="http://schemas.openxmlformats.org/drawingml/2006/main" noGrp="1"/>
          </p:cNvSpPr>
          <p:nvPr/>
        </p:nvSpPr>
        <p:spPr>
          <a:xfrm xmlns:a="http://schemas.openxmlformats.org/drawingml/2006/main">
            <a:off x="502920" y="4892040"/>
            <a:ext cx="11183112" cy="1051560"/>
          </a:xfrm>
          <a:prstGeom xmlns:a="http://schemas.openxmlformats.org/drawingml/2006/main" prst="roundRect">
            <a:avLst>
              <a:gd name="adj" fmla="val 6087"/>
            </a:avLst>
          </a:prstGeom>
          <a:solidFill xmlns:a="http://schemas.openxmlformats.org/drawingml/2006/main">
            <a:srgbClr val="D4F1EE"/>
          </a:solidFill>
        </p:spPr>
      </p:sp>
      <p:sp>
        <p:nvSpPr>
          <p:cNvPr id="26" name="Text 23">
            <a:extLst xmlns:a="http://schemas.openxmlformats.org/drawingml/2006/main">
              <a:ext uri="{FF2B5EF4-FFF2-40B4-BE49-F238E27FC236}">
                <a16:creationId xmlns:a16="http://schemas.microsoft.com/office/drawing/2014/main" id="{1291686E-6489-4CC8-B0AC-3366818D51D0}"/>
              </a:ext>
            </a:extLst>
          </p:cNvPr>
          <p:cNvSpPr>
            <a:spLocks xmlns:a="http://schemas.openxmlformats.org/drawingml/2006/main" noGrp="1"/>
          </p:cNvSpPr>
          <p:nvPr/>
        </p:nvSpPr>
        <p:spPr>
          <a:xfrm xmlns:a="http://schemas.openxmlformats.org/drawingml/2006/main">
            <a:off x="731520" y="4892040"/>
            <a:ext cx="10789920" cy="10515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b="1">
                <a:solidFill>
                  <a:srgbClr val="056A63"/>
                </a:solidFill>
                <a:latin typeface="Calibri"/>
                <a:ea typeface="Calibri"/>
                <a:cs typeface="Calibri"/>
              </a:rPr>
              <a:t>WHY IT MATTERS   </a:t>
            </a:r>
            <a:r>
              <a:rPr sz="1100">
                <a:solidFill>
                  <a:srgbClr val="056A63"/>
                </a:solidFill>
                <a:latin typeface="Calibri"/>
                <a:ea typeface="Calibri"/>
                <a:cs typeface="Calibri"/>
              </a:rPr>
              <a:t>A layer rebuilds only if its inputs changed: the instruction, the files it copies, and every layer before it. COPY . . before pip install forces a full dependency reinstall on every edit — 25-second rebuilds become 8-minute rebuilds.</a:t>
            </a:r>
            <a:endParaRPr sz="950"/>
          </a:p>
        </p:txBody>
      </p:sp>
    </p:spTree>
    <p:extLst>
      <p:ext uri="{BB962C8B-B14F-4D97-AF65-F5344CB8AC3E}">
        <p14:creationId xmlns:p14="http://schemas.microsoft.com/office/powerpoint/2010/main" val="2005776293"/>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05EFEFC-3A12-456E-B51A-075738CC2E71}"/>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Naive build vs cache-disciplined build</a:t>
            </a:r>
            <a:endParaRPr sz="2600"/>
          </a:p>
        </p:txBody>
      </p:sp>
      <p:sp>
        <p:nvSpPr>
          <p:cNvPr id="3" name="Text 1">
            <a:extLst xmlns:a="http://schemas.openxmlformats.org/drawingml/2006/main">
              <a:ext uri="{FF2B5EF4-FFF2-40B4-BE49-F238E27FC236}">
                <a16:creationId xmlns:a16="http://schemas.microsoft.com/office/drawing/2014/main" id="{A3EB543B-D83E-4DB9-96D8-3902D1C375A6}"/>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بناء ساذج مقابل بناء منضبط الذاكرة المؤقتة</a:t>
            </a:r>
            <a:endParaRPr sz="1300"/>
          </a:p>
        </p:txBody>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9edb899285bd4570"/>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79E433F2-2DC2-4BAD-A0E0-547F15A92C69}"/>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F80F971D-59FF-4FE1-8170-C5573FB94322}"/>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3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87F83351-F191-4106-9574-430899F98267}"/>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64</a:t>
            </a:r>
            <a:endParaRPr sz="850"/>
          </a:p>
        </p:txBody>
      </p:sp>
      <p:sp>
        <p:nvSpPr>
          <p:cNvPr id="8" name="Shape 5">
            <a:extLst xmlns:a="http://schemas.openxmlformats.org/drawingml/2006/main">
              <a:ext uri="{FF2B5EF4-FFF2-40B4-BE49-F238E27FC236}">
                <a16:creationId xmlns:a16="http://schemas.microsoft.com/office/drawing/2014/main" id="{FADA41B2-9B2E-4181-9AE8-9DFCD0F07638}"/>
              </a:ext>
            </a:extLst>
          </p:cNvPr>
          <p:cNvSpPr>
            <a:spLocks xmlns:a="http://schemas.openxmlformats.org/drawingml/2006/main" noGrp="1"/>
          </p:cNvSpPr>
          <p:nvPr/>
        </p:nvSpPr>
        <p:spPr>
          <a:xfrm xmlns:a="http://schemas.openxmlformats.org/drawingml/2006/main">
            <a:off x="502920" y="1508760"/>
            <a:ext cx="5440680" cy="3977640"/>
          </a:xfrm>
          <a:prstGeom xmlns:a="http://schemas.openxmlformats.org/drawingml/2006/main" prst="roundRect">
            <a:avLst>
              <a:gd name="adj" fmla="val 1609"/>
            </a:avLst>
          </a:prstGeom>
          <a:solidFill xmlns:a="http://schemas.openxmlformats.org/drawingml/2006/main">
            <a:srgbClr val="FFFFFF"/>
          </a:solidFill>
          <a:ln xmlns:a="http://schemas.openxmlformats.org/drawingml/2006/main" w="12700">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D9F4A55D-BF0A-42D4-AFF0-A198C5E278BB}"/>
              </a:ext>
            </a:extLst>
          </p:cNvPr>
          <p:cNvSpPr>
            <a:spLocks xmlns:a="http://schemas.openxmlformats.org/drawingml/2006/main" noGrp="1"/>
          </p:cNvSpPr>
          <p:nvPr/>
        </p:nvSpPr>
        <p:spPr>
          <a:xfrm xmlns:a="http://schemas.openxmlformats.org/drawingml/2006/main">
            <a:off x="502920" y="1508760"/>
            <a:ext cx="5440680" cy="475488"/>
          </a:xfrm>
          <a:prstGeom xmlns:a="http://schemas.openxmlformats.org/drawingml/2006/main" prst="roundRect">
            <a:avLst>
              <a:gd name="adj" fmla="val 13462"/>
            </a:avLst>
          </a:prstGeom>
          <a:solidFill xmlns:a="http://schemas.openxmlformats.org/drawingml/2006/main">
            <a:srgbClr val="FADDD8"/>
          </a:solidFill>
        </p:spPr>
      </p:sp>
      <p:sp>
        <p:nvSpPr>
          <p:cNvPr id="10" name="Text 7">
            <a:extLst xmlns:a="http://schemas.openxmlformats.org/drawingml/2006/main">
              <a:ext uri="{FF2B5EF4-FFF2-40B4-BE49-F238E27FC236}">
                <a16:creationId xmlns:a16="http://schemas.microsoft.com/office/drawing/2014/main" id="{4DB6958E-0464-44F3-90D9-B50BD127B354}"/>
              </a:ext>
            </a:extLst>
          </p:cNvPr>
          <p:cNvSpPr>
            <a:spLocks xmlns:a="http://schemas.openxmlformats.org/drawingml/2006/main" noGrp="1"/>
          </p:cNvSpPr>
          <p:nvPr/>
        </p:nvSpPr>
        <p:spPr>
          <a:xfrm xmlns:a="http://schemas.openxmlformats.org/drawingml/2006/main">
            <a:off x="685800" y="1545336"/>
            <a:ext cx="5074920"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E8503A"/>
                </a:solidFill>
                <a:latin typeface="Calibri"/>
                <a:ea typeface="Calibri"/>
                <a:cs typeface="Calibri"/>
              </a:rPr>
              <a:t>Naive single-stage</a:t>
            </a:r>
            <a:endParaRPr sz="1300"/>
          </a:p>
        </p:txBody>
      </p:sp>
      <p:sp>
        <p:nvSpPr>
          <p:cNvPr id="11" name="Text 8">
            <a:extLst xmlns:a="http://schemas.openxmlformats.org/drawingml/2006/main">
              <a:ext uri="{FF2B5EF4-FFF2-40B4-BE49-F238E27FC236}">
                <a16:creationId xmlns:a16="http://schemas.microsoft.com/office/drawing/2014/main" id="{0C591101-D675-46EF-9FEA-0318CD45E10F}"/>
              </a:ext>
            </a:extLst>
          </p:cNvPr>
          <p:cNvSpPr>
            <a:spLocks xmlns:a="http://schemas.openxmlformats.org/drawingml/2006/main" noGrp="1"/>
          </p:cNvSpPr>
          <p:nvPr/>
        </p:nvSpPr>
        <p:spPr>
          <a:xfrm xmlns:a="http://schemas.openxmlformats.org/drawingml/2006/main">
            <a:off x="667512" y="21671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8503A"/>
                </a:solidFill>
                <a:latin typeface="Calibri"/>
                <a:ea typeface="Calibri"/>
                <a:cs typeface="Calibri"/>
              </a:rPr>
              <a:t>✕</a:t>
            </a:r>
            <a:endParaRPr sz="1200"/>
          </a:p>
        </p:txBody>
      </p:sp>
      <p:sp>
        <p:nvSpPr>
          <p:cNvPr id="12" name="Text 9">
            <a:extLst xmlns:a="http://schemas.openxmlformats.org/drawingml/2006/main">
              <a:ext uri="{FF2B5EF4-FFF2-40B4-BE49-F238E27FC236}">
                <a16:creationId xmlns:a16="http://schemas.microsoft.com/office/drawing/2014/main" id="{E18040BA-BF47-4A4C-ADCD-E31D2F65DB5F}"/>
              </a:ext>
            </a:extLst>
          </p:cNvPr>
          <p:cNvSpPr>
            <a:spLocks xmlns:a="http://schemas.openxmlformats.org/drawingml/2006/main" noGrp="1"/>
          </p:cNvSpPr>
          <p:nvPr/>
        </p:nvSpPr>
        <p:spPr>
          <a:xfrm xmlns:a="http://schemas.openxmlformats.org/drawingml/2006/main">
            <a:off x="978408" y="21396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COPY . . before pip install — cache destroyed on every edit</a:t>
            </a:r>
            <a:endParaRPr sz="1050"/>
          </a:p>
        </p:txBody>
      </p:sp>
      <p:sp>
        <p:nvSpPr>
          <p:cNvPr id="13" name="Text 10">
            <a:extLst xmlns:a="http://schemas.openxmlformats.org/drawingml/2006/main">
              <a:ext uri="{FF2B5EF4-FFF2-40B4-BE49-F238E27FC236}">
                <a16:creationId xmlns:a16="http://schemas.microsoft.com/office/drawing/2014/main" id="{4353F30C-0A64-4273-89BB-E5FE41490B8A}"/>
              </a:ext>
            </a:extLst>
          </p:cNvPr>
          <p:cNvSpPr>
            <a:spLocks xmlns:a="http://schemas.openxmlformats.org/drawingml/2006/main" noGrp="1"/>
          </p:cNvSpPr>
          <p:nvPr/>
        </p:nvSpPr>
        <p:spPr>
          <a:xfrm xmlns:a="http://schemas.openxmlformats.org/drawingml/2006/main">
            <a:off x="667512" y="29672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8503A"/>
                </a:solidFill>
                <a:latin typeface="Calibri"/>
                <a:ea typeface="Calibri"/>
                <a:cs typeface="Calibri"/>
              </a:rPr>
              <a:t>✕</a:t>
            </a:r>
            <a:endParaRPr sz="1200"/>
          </a:p>
        </p:txBody>
      </p:sp>
      <p:sp>
        <p:nvSpPr>
          <p:cNvPr id="14" name="Text 11">
            <a:extLst xmlns:a="http://schemas.openxmlformats.org/drawingml/2006/main">
              <a:ext uri="{FF2B5EF4-FFF2-40B4-BE49-F238E27FC236}">
                <a16:creationId xmlns:a16="http://schemas.microsoft.com/office/drawing/2014/main" id="{45D0A65E-4986-426E-9EEE-5F5F2A827C63}"/>
              </a:ext>
            </a:extLst>
          </p:cNvPr>
          <p:cNvSpPr>
            <a:spLocks xmlns:a="http://schemas.openxmlformats.org/drawingml/2006/main" noGrp="1"/>
          </p:cNvSpPr>
          <p:nvPr/>
        </p:nvSpPr>
        <p:spPr>
          <a:xfrm xmlns:a="http://schemas.openxmlformats.org/drawingml/2006/main">
            <a:off x="978408" y="29397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2.41 GB image · 6m12s cold build · 5m40s warm rebuild</a:t>
            </a:r>
            <a:endParaRPr sz="1050"/>
          </a:p>
        </p:txBody>
      </p:sp>
      <p:sp>
        <p:nvSpPr>
          <p:cNvPr id="15" name="Text 12">
            <a:extLst xmlns:a="http://schemas.openxmlformats.org/drawingml/2006/main">
              <a:ext uri="{FF2B5EF4-FFF2-40B4-BE49-F238E27FC236}">
                <a16:creationId xmlns:a16="http://schemas.microsoft.com/office/drawing/2014/main" id="{1DBB189F-0739-442E-8845-731D349D631A}"/>
              </a:ext>
            </a:extLst>
          </p:cNvPr>
          <p:cNvSpPr>
            <a:spLocks xmlns:a="http://schemas.openxmlformats.org/drawingml/2006/main" noGrp="1"/>
          </p:cNvSpPr>
          <p:nvPr/>
        </p:nvSpPr>
        <p:spPr>
          <a:xfrm xmlns:a="http://schemas.openxmlformats.org/drawingml/2006/main">
            <a:off x="667512" y="37673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8503A"/>
                </a:solidFill>
                <a:latin typeface="Calibri"/>
                <a:ea typeface="Calibri"/>
                <a:cs typeface="Calibri"/>
              </a:rPr>
              <a:t>✕</a:t>
            </a:r>
            <a:endParaRPr sz="1200"/>
          </a:p>
        </p:txBody>
      </p:sp>
      <p:sp>
        <p:nvSpPr>
          <p:cNvPr id="16" name="Text 13">
            <a:extLst xmlns:a="http://schemas.openxmlformats.org/drawingml/2006/main">
              <a:ext uri="{FF2B5EF4-FFF2-40B4-BE49-F238E27FC236}">
                <a16:creationId xmlns:a16="http://schemas.microsoft.com/office/drawing/2014/main" id="{5C11A8A9-0493-4610-AC74-0A056989D708}"/>
              </a:ext>
            </a:extLst>
          </p:cNvPr>
          <p:cNvSpPr>
            <a:spLocks xmlns:a="http://schemas.openxmlformats.org/drawingml/2006/main" noGrp="1"/>
          </p:cNvSpPr>
          <p:nvPr/>
        </p:nvSpPr>
        <p:spPr>
          <a:xfrm xmlns:a="http://schemas.openxmlformats.org/drawingml/2006/main">
            <a:off x="978408" y="37398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Compilers, pip cache and tests shipped to production</a:t>
            </a:r>
            <a:endParaRPr sz="1050"/>
          </a:p>
        </p:txBody>
      </p:sp>
      <p:sp>
        <p:nvSpPr>
          <p:cNvPr id="17" name="Text 14">
            <a:extLst xmlns:a="http://schemas.openxmlformats.org/drawingml/2006/main">
              <a:ext uri="{FF2B5EF4-FFF2-40B4-BE49-F238E27FC236}">
                <a16:creationId xmlns:a16="http://schemas.microsoft.com/office/drawing/2014/main" id="{378429A3-E48D-4815-9C0D-4AA301B5E749}"/>
              </a:ext>
            </a:extLst>
          </p:cNvPr>
          <p:cNvSpPr>
            <a:spLocks xmlns:a="http://schemas.openxmlformats.org/drawingml/2006/main" noGrp="1"/>
          </p:cNvSpPr>
          <p:nvPr/>
        </p:nvSpPr>
        <p:spPr>
          <a:xfrm xmlns:a="http://schemas.openxmlformats.org/drawingml/2006/main">
            <a:off x="667512" y="45674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8503A"/>
                </a:solidFill>
                <a:latin typeface="Calibri"/>
                <a:ea typeface="Calibri"/>
                <a:cs typeface="Calibri"/>
              </a:rPr>
              <a:t>✕</a:t>
            </a:r>
            <a:endParaRPr sz="1200"/>
          </a:p>
        </p:txBody>
      </p:sp>
      <p:sp>
        <p:nvSpPr>
          <p:cNvPr id="18" name="Text 15">
            <a:extLst xmlns:a="http://schemas.openxmlformats.org/drawingml/2006/main">
              <a:ext uri="{FF2B5EF4-FFF2-40B4-BE49-F238E27FC236}">
                <a16:creationId xmlns:a16="http://schemas.microsoft.com/office/drawing/2014/main" id="{73401974-5458-4A98-9C23-E094BCBCFBB7}"/>
              </a:ext>
            </a:extLst>
          </p:cNvPr>
          <p:cNvSpPr>
            <a:spLocks xmlns:a="http://schemas.openxmlformats.org/drawingml/2006/main" noGrp="1"/>
          </p:cNvSpPr>
          <p:nvPr/>
        </p:nvSpPr>
        <p:spPr>
          <a:xfrm xmlns:a="http://schemas.openxmlformats.org/drawingml/2006/main">
            <a:off x="978408" y="45399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Root user, no healthcheck — first flags in any security review</a:t>
            </a:r>
            <a:endParaRPr sz="1050"/>
          </a:p>
        </p:txBody>
      </p:sp>
      <p:sp>
        <p:nvSpPr>
          <p:cNvPr id="19" name="Shape 16">
            <a:extLst xmlns:a="http://schemas.openxmlformats.org/drawingml/2006/main">
              <a:ext uri="{FF2B5EF4-FFF2-40B4-BE49-F238E27FC236}">
                <a16:creationId xmlns:a16="http://schemas.microsoft.com/office/drawing/2014/main" id="{ADF43372-A211-4572-9A32-B8FA506CFD75}"/>
              </a:ext>
            </a:extLst>
          </p:cNvPr>
          <p:cNvSpPr>
            <a:spLocks xmlns:a="http://schemas.openxmlformats.org/drawingml/2006/main" noGrp="1"/>
          </p:cNvSpPr>
          <p:nvPr/>
        </p:nvSpPr>
        <p:spPr>
          <a:xfrm xmlns:a="http://schemas.openxmlformats.org/drawingml/2006/main">
            <a:off x="6245352" y="1508760"/>
            <a:ext cx="5440680" cy="3977640"/>
          </a:xfrm>
          <a:prstGeom xmlns:a="http://schemas.openxmlformats.org/drawingml/2006/main" prst="roundRect">
            <a:avLst>
              <a:gd name="adj" fmla="val 1609"/>
            </a:avLst>
          </a:prstGeom>
          <a:solidFill xmlns:a="http://schemas.openxmlformats.org/drawingml/2006/main">
            <a:srgbClr val="FFFFFF"/>
          </a:solidFill>
          <a:ln xmlns:a="http://schemas.openxmlformats.org/drawingml/2006/main" w="12700">
            <a:solidFill>
              <a:srgbClr val="D9E4F5"/>
            </a:solidFill>
            <a:prstDash val="solid"/>
          </a:ln>
        </p:spPr>
      </p:sp>
      <p:sp>
        <p:nvSpPr>
          <p:cNvPr id="20" name="Shape 17">
            <a:extLst xmlns:a="http://schemas.openxmlformats.org/drawingml/2006/main">
              <a:ext uri="{FF2B5EF4-FFF2-40B4-BE49-F238E27FC236}">
                <a16:creationId xmlns:a16="http://schemas.microsoft.com/office/drawing/2014/main" id="{74B30734-E7C2-4FFA-97CC-B5FA914521A2}"/>
              </a:ext>
            </a:extLst>
          </p:cNvPr>
          <p:cNvSpPr>
            <a:spLocks xmlns:a="http://schemas.openxmlformats.org/drawingml/2006/main" noGrp="1"/>
          </p:cNvSpPr>
          <p:nvPr/>
        </p:nvSpPr>
        <p:spPr>
          <a:xfrm xmlns:a="http://schemas.openxmlformats.org/drawingml/2006/main">
            <a:off x="6245352" y="1508760"/>
            <a:ext cx="5440680" cy="475488"/>
          </a:xfrm>
          <a:prstGeom xmlns:a="http://schemas.openxmlformats.org/drawingml/2006/main" prst="roundRect">
            <a:avLst>
              <a:gd name="adj" fmla="val 13462"/>
            </a:avLst>
          </a:prstGeom>
          <a:solidFill xmlns:a="http://schemas.openxmlformats.org/drawingml/2006/main">
            <a:srgbClr val="EAF4DC"/>
          </a:solidFill>
        </p:spPr>
      </p:sp>
      <p:sp>
        <p:nvSpPr>
          <p:cNvPr id="21" name="Text 18">
            <a:extLst xmlns:a="http://schemas.openxmlformats.org/drawingml/2006/main">
              <a:ext uri="{FF2B5EF4-FFF2-40B4-BE49-F238E27FC236}">
                <a16:creationId xmlns:a16="http://schemas.microsoft.com/office/drawing/2014/main" id="{104DE93C-DC94-4BAF-BE34-8EF9A598F4FD}"/>
              </a:ext>
            </a:extLst>
          </p:cNvPr>
          <p:cNvSpPr>
            <a:spLocks xmlns:a="http://schemas.openxmlformats.org/drawingml/2006/main" noGrp="1"/>
          </p:cNvSpPr>
          <p:nvPr/>
        </p:nvSpPr>
        <p:spPr>
          <a:xfrm xmlns:a="http://schemas.openxmlformats.org/drawingml/2006/main">
            <a:off x="6428232" y="1545336"/>
            <a:ext cx="5074920"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5A8F1F"/>
                </a:solidFill>
                <a:latin typeface="Calibri"/>
                <a:ea typeface="Calibri"/>
                <a:cs typeface="Calibri"/>
              </a:rPr>
              <a:t>Multi-stage, cache-disciplined</a:t>
            </a:r>
            <a:endParaRPr sz="1300"/>
          </a:p>
        </p:txBody>
      </p:sp>
      <p:sp>
        <p:nvSpPr>
          <p:cNvPr id="22" name="Text 19">
            <a:extLst xmlns:a="http://schemas.openxmlformats.org/drawingml/2006/main">
              <a:ext uri="{FF2B5EF4-FFF2-40B4-BE49-F238E27FC236}">
                <a16:creationId xmlns:a16="http://schemas.microsoft.com/office/drawing/2014/main" id="{DDB71F99-F9C8-4320-B374-08EF57E558DD}"/>
              </a:ext>
            </a:extLst>
          </p:cNvPr>
          <p:cNvSpPr>
            <a:spLocks xmlns:a="http://schemas.openxmlformats.org/drawingml/2006/main" noGrp="1"/>
          </p:cNvSpPr>
          <p:nvPr/>
        </p:nvSpPr>
        <p:spPr>
          <a:xfrm xmlns:a="http://schemas.openxmlformats.org/drawingml/2006/main">
            <a:off x="6409944" y="21671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5A8F1F"/>
                </a:solidFill>
                <a:latin typeface="Calibri"/>
                <a:ea typeface="Calibri"/>
                <a:cs typeface="Calibri"/>
              </a:rPr>
              <a:t>✓</a:t>
            </a:r>
            <a:endParaRPr sz="1200"/>
          </a:p>
        </p:txBody>
      </p:sp>
      <p:sp>
        <p:nvSpPr>
          <p:cNvPr id="23" name="Text 20">
            <a:extLst xmlns:a="http://schemas.openxmlformats.org/drawingml/2006/main">
              <a:ext uri="{FF2B5EF4-FFF2-40B4-BE49-F238E27FC236}">
                <a16:creationId xmlns:a16="http://schemas.microsoft.com/office/drawing/2014/main" id="{4916B6D1-156F-4EB6-AF4F-9FFDEE245B8F}"/>
              </a:ext>
            </a:extLst>
          </p:cNvPr>
          <p:cNvSpPr>
            <a:spLocks xmlns:a="http://schemas.openxmlformats.org/drawingml/2006/main" noGrp="1"/>
          </p:cNvSpPr>
          <p:nvPr/>
        </p:nvSpPr>
        <p:spPr>
          <a:xfrm xmlns:a="http://schemas.openxmlformats.org/drawingml/2006/main">
            <a:off x="6720840" y="21396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deps → src → model ordering; dependency layer cache-hits</a:t>
            </a:r>
            <a:endParaRPr sz="1050"/>
          </a:p>
        </p:txBody>
      </p:sp>
      <p:sp>
        <p:nvSpPr>
          <p:cNvPr id="24" name="Text 21">
            <a:extLst xmlns:a="http://schemas.openxmlformats.org/drawingml/2006/main">
              <a:ext uri="{FF2B5EF4-FFF2-40B4-BE49-F238E27FC236}">
                <a16:creationId xmlns:a16="http://schemas.microsoft.com/office/drawing/2014/main" id="{74804424-1A0C-4D39-83AE-4AFB40EC7028}"/>
              </a:ext>
            </a:extLst>
          </p:cNvPr>
          <p:cNvSpPr>
            <a:spLocks xmlns:a="http://schemas.openxmlformats.org/drawingml/2006/main" noGrp="1"/>
          </p:cNvSpPr>
          <p:nvPr/>
        </p:nvSpPr>
        <p:spPr>
          <a:xfrm xmlns:a="http://schemas.openxmlformats.org/drawingml/2006/main">
            <a:off x="6409944" y="29672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5A8F1F"/>
                </a:solidFill>
                <a:latin typeface="Calibri"/>
                <a:ea typeface="Calibri"/>
                <a:cs typeface="Calibri"/>
              </a:rPr>
              <a:t>✓</a:t>
            </a:r>
            <a:endParaRPr sz="1200"/>
          </a:p>
        </p:txBody>
      </p:sp>
      <p:sp>
        <p:nvSpPr>
          <p:cNvPr id="25" name="Text 22">
            <a:extLst xmlns:a="http://schemas.openxmlformats.org/drawingml/2006/main">
              <a:ext uri="{FF2B5EF4-FFF2-40B4-BE49-F238E27FC236}">
                <a16:creationId xmlns:a16="http://schemas.microsoft.com/office/drawing/2014/main" id="{B1367753-359B-4F12-BCE5-51CF1E80750C}"/>
              </a:ext>
            </a:extLst>
          </p:cNvPr>
          <p:cNvSpPr>
            <a:spLocks xmlns:a="http://schemas.openxmlformats.org/drawingml/2006/main" noGrp="1"/>
          </p:cNvSpPr>
          <p:nvPr/>
        </p:nvSpPr>
        <p:spPr>
          <a:xfrm xmlns:a="http://schemas.openxmlformats.org/drawingml/2006/main">
            <a:off x="6720840" y="29397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412 MB image · 3m05s cold build · 22 s warm rebuild</a:t>
            </a:r>
            <a:endParaRPr sz="1050"/>
          </a:p>
        </p:txBody>
      </p:sp>
      <p:sp>
        <p:nvSpPr>
          <p:cNvPr id="26" name="Text 23">
            <a:extLst xmlns:a="http://schemas.openxmlformats.org/drawingml/2006/main">
              <a:ext uri="{FF2B5EF4-FFF2-40B4-BE49-F238E27FC236}">
                <a16:creationId xmlns:a16="http://schemas.microsoft.com/office/drawing/2014/main" id="{441A18D6-3C72-4CCE-AC01-09F435DE988C}"/>
              </a:ext>
            </a:extLst>
          </p:cNvPr>
          <p:cNvSpPr>
            <a:spLocks xmlns:a="http://schemas.openxmlformats.org/drawingml/2006/main" noGrp="1"/>
          </p:cNvSpPr>
          <p:nvPr/>
        </p:nvSpPr>
        <p:spPr>
          <a:xfrm xmlns:a="http://schemas.openxmlformats.org/drawingml/2006/main">
            <a:off x="6409944" y="37673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5A8F1F"/>
                </a:solidFill>
                <a:latin typeface="Calibri"/>
                <a:ea typeface="Calibri"/>
                <a:cs typeface="Calibri"/>
              </a:rPr>
              <a:t>✓</a:t>
            </a:r>
            <a:endParaRPr sz="1200"/>
          </a:p>
        </p:txBody>
      </p:sp>
      <p:sp>
        <p:nvSpPr>
          <p:cNvPr id="27" name="Text 24">
            <a:extLst xmlns:a="http://schemas.openxmlformats.org/drawingml/2006/main">
              <a:ext uri="{FF2B5EF4-FFF2-40B4-BE49-F238E27FC236}">
                <a16:creationId xmlns:a16="http://schemas.microsoft.com/office/drawing/2014/main" id="{6949EF27-EB32-4AD7-8A6D-A5A3C3E20B93}"/>
              </a:ext>
            </a:extLst>
          </p:cNvPr>
          <p:cNvSpPr>
            <a:spLocks xmlns:a="http://schemas.openxmlformats.org/drawingml/2006/main" noGrp="1"/>
          </p:cNvSpPr>
          <p:nvPr/>
        </p:nvSpPr>
        <p:spPr>
          <a:xfrm xmlns:a="http://schemas.openxmlformats.org/drawingml/2006/main">
            <a:off x="6720840" y="37398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Runtime ships only /opt/venv, src and the model artefact</a:t>
            </a:r>
            <a:endParaRPr sz="1050"/>
          </a:p>
        </p:txBody>
      </p:sp>
      <p:sp>
        <p:nvSpPr>
          <p:cNvPr id="28" name="Text 25">
            <a:extLst xmlns:a="http://schemas.openxmlformats.org/drawingml/2006/main">
              <a:ext uri="{FF2B5EF4-FFF2-40B4-BE49-F238E27FC236}">
                <a16:creationId xmlns:a16="http://schemas.microsoft.com/office/drawing/2014/main" id="{35389535-EE0D-4A89-9647-2D7DDB9369A4}"/>
              </a:ext>
            </a:extLst>
          </p:cNvPr>
          <p:cNvSpPr>
            <a:spLocks xmlns:a="http://schemas.openxmlformats.org/drawingml/2006/main" noGrp="1"/>
          </p:cNvSpPr>
          <p:nvPr/>
        </p:nvSpPr>
        <p:spPr>
          <a:xfrm xmlns:a="http://schemas.openxmlformats.org/drawingml/2006/main">
            <a:off x="6409944" y="45674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5A8F1F"/>
                </a:solidFill>
                <a:latin typeface="Calibri"/>
                <a:ea typeface="Calibri"/>
                <a:cs typeface="Calibri"/>
              </a:rPr>
              <a:t>✓</a:t>
            </a:r>
            <a:endParaRPr sz="1200"/>
          </a:p>
        </p:txBody>
      </p:sp>
      <p:sp>
        <p:nvSpPr>
          <p:cNvPr id="29" name="Text 26">
            <a:extLst xmlns:a="http://schemas.openxmlformats.org/drawingml/2006/main">
              <a:ext uri="{FF2B5EF4-FFF2-40B4-BE49-F238E27FC236}">
                <a16:creationId xmlns:a16="http://schemas.microsoft.com/office/drawing/2014/main" id="{72776FAE-81C3-4E66-9DAE-E188FCF1B7A5}"/>
              </a:ext>
            </a:extLst>
          </p:cNvPr>
          <p:cNvSpPr>
            <a:spLocks xmlns:a="http://schemas.openxmlformats.org/drawingml/2006/main" noGrp="1"/>
          </p:cNvSpPr>
          <p:nvPr/>
        </p:nvSpPr>
        <p:spPr>
          <a:xfrm xmlns:a="http://schemas.openxmlformats.org/drawingml/2006/main">
            <a:off x="6720840" y="45399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Non-root appuser, /ready healthcheck, exec-form CMD</a:t>
            </a:r>
            <a:endParaRPr sz="1050"/>
          </a:p>
        </p:txBody>
      </p:sp>
      <p:sp>
        <p:nvSpPr>
          <p:cNvPr id="30" name="Shape 27">
            <a:extLst xmlns:a="http://schemas.openxmlformats.org/drawingml/2006/main">
              <a:ext uri="{FF2B5EF4-FFF2-40B4-BE49-F238E27FC236}">
                <a16:creationId xmlns:a16="http://schemas.microsoft.com/office/drawing/2014/main" id="{882B8807-312E-483F-94FB-6CD23B4E8BB4}"/>
              </a:ext>
            </a:extLst>
          </p:cNvPr>
          <p:cNvSpPr>
            <a:spLocks xmlns:a="http://schemas.openxmlformats.org/drawingml/2006/main" noGrp="1"/>
          </p:cNvSpPr>
          <p:nvPr/>
        </p:nvSpPr>
        <p:spPr>
          <a:xfrm xmlns:a="http://schemas.openxmlformats.org/drawingml/2006/main">
            <a:off x="502920" y="5650992"/>
            <a:ext cx="11183112" cy="566928"/>
          </a:xfrm>
          <a:prstGeom xmlns:a="http://schemas.openxmlformats.org/drawingml/2006/main" prst="roundRect">
            <a:avLst>
              <a:gd name="adj" fmla="val 11290"/>
            </a:avLst>
          </a:prstGeom>
          <a:solidFill xmlns:a="http://schemas.openxmlformats.org/drawingml/2006/main">
            <a:srgbClr val="1D2A5C"/>
          </a:solidFill>
        </p:spPr>
      </p:sp>
      <p:sp>
        <p:nvSpPr>
          <p:cNvPr id="31" name="Text 28">
            <a:extLst xmlns:a="http://schemas.openxmlformats.org/drawingml/2006/main">
              <a:ext uri="{FF2B5EF4-FFF2-40B4-BE49-F238E27FC236}">
                <a16:creationId xmlns:a16="http://schemas.microsoft.com/office/drawing/2014/main" id="{EE15EA70-3405-4CE4-9BFD-896D4EE8C452}"/>
              </a:ext>
            </a:extLst>
          </p:cNvPr>
          <p:cNvSpPr>
            <a:spLocks xmlns:a="http://schemas.openxmlformats.org/drawingml/2006/main" noGrp="1"/>
          </p:cNvSpPr>
          <p:nvPr/>
        </p:nvSpPr>
        <p:spPr>
          <a:xfrm xmlns:a="http://schemas.openxmlformats.org/drawingml/2006/main">
            <a:off x="777240" y="5650992"/>
            <a:ext cx="1069848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00A79D"/>
                </a:solidFill>
                <a:latin typeface="Calibri"/>
                <a:ea typeface="Calibri"/>
                <a:cs typeface="Calibri"/>
              </a:rPr>
              <a:t>TAKEAWAY   </a:t>
            </a:r>
            <a:r>
              <a:rPr sz="1150">
                <a:solidFill>
                  <a:srgbClr val="FFFFFF"/>
                </a:solidFill>
                <a:latin typeface="Calibri"/>
                <a:ea typeface="Calibri"/>
                <a:cs typeface="Calibri"/>
              </a:rPr>
              <a:t>Same service, same code — 6× smaller and 15× faster rebuilds. Lab 3 makes every pair measure both and post their numbers.</a:t>
            </a:r>
            <a:endParaRPr sz="1000"/>
          </a:p>
        </p:txBody>
      </p:sp>
    </p:spTree>
    <p:extLst>
      <p:ext uri="{BB962C8B-B14F-4D97-AF65-F5344CB8AC3E}">
        <p14:creationId xmlns:p14="http://schemas.microsoft.com/office/powerpoint/2010/main" val="1632982742"/>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59E1990-044B-4FFE-8BDC-336E418E6E6C}"/>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Multi-stage builds — build room vs run room</a:t>
            </a:r>
            <a:endParaRPr sz="2600"/>
          </a:p>
        </p:txBody>
      </p:sp>
      <p:sp>
        <p:nvSpPr>
          <p:cNvPr id="3" name="Text 1">
            <a:extLst xmlns:a="http://schemas.openxmlformats.org/drawingml/2006/main">
              <a:ext uri="{FF2B5EF4-FFF2-40B4-BE49-F238E27FC236}">
                <a16:creationId xmlns:a16="http://schemas.microsoft.com/office/drawing/2014/main" id="{CDE0232D-E868-4154-B10D-5E8EB52106C3}"/>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البناء متعدد المراحل — غرفة البناء وغرفة التشغيل</a:t>
            </a:r>
            <a:endParaRPr sz="1300"/>
          </a:p>
        </p:txBody>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ece9158fa9d34cc1"/>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E184A223-3601-42ED-8177-66C398068532}"/>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5C975D14-EE93-4BBB-BBE2-C7EA6B56BCB4}"/>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3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D4BA8035-2D8B-4E91-BC85-44DCFB8A0ED5}"/>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65</a:t>
            </a:r>
            <a:endParaRPr sz="850"/>
          </a:p>
        </p:txBody>
      </p:sp>
      <p:sp>
        <p:nvSpPr>
          <p:cNvPr id="8" name="Text 5">
            <a:extLst xmlns:a="http://schemas.openxmlformats.org/drawingml/2006/main">
              <a:ext uri="{FF2B5EF4-FFF2-40B4-BE49-F238E27FC236}">
                <a16:creationId xmlns:a16="http://schemas.microsoft.com/office/drawing/2014/main" id="{02EF35CC-4470-4716-B1E8-E75AB4DA90D1}"/>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F9E7B7E0-58F0-4187-9F42-A95C9B04B178}"/>
              </a:ext>
            </a:extLst>
          </p:cNvPr>
          <p:cNvSpPr>
            <a:spLocks xmlns:a="http://schemas.openxmlformats.org/drawingml/2006/main" noGrp="1"/>
          </p:cNvSpPr>
          <p:nvPr/>
        </p:nvSpPr>
        <p:spPr>
          <a:xfrm xmlns:a="http://schemas.openxmlformats.org/drawingml/2006/main">
            <a:off x="1005840" y="14996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Stage 1 — builder</a:t>
            </a:r>
            <a:endParaRPr sz="1350"/>
          </a:p>
        </p:txBody>
      </p:sp>
      <p:sp>
        <p:nvSpPr>
          <p:cNvPr id="10" name="Text 7">
            <a:extLst xmlns:a="http://schemas.openxmlformats.org/drawingml/2006/main">
              <a:ext uri="{FF2B5EF4-FFF2-40B4-BE49-F238E27FC236}">
                <a16:creationId xmlns:a16="http://schemas.microsoft.com/office/drawing/2014/main" id="{EB22734C-8CF2-4DA2-931E-826427BAC6EE}"/>
              </a:ext>
            </a:extLst>
          </p:cNvPr>
          <p:cNvSpPr>
            <a:spLocks xmlns:a="http://schemas.openxmlformats.org/drawingml/2006/main" noGrp="1"/>
          </p:cNvSpPr>
          <p:nvPr/>
        </p:nvSpPr>
        <p:spPr>
          <a:xfrm xmlns:a="http://schemas.openxmlformats.org/drawingml/2006/main">
            <a:off x="1005840" y="180136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Full toolchain: build-essential, headers, pip. Resolves and installs dependencies into a virtualenv. Nothing from this room ships.</a:t>
            </a:r>
            <a:endParaRPr sz="1050"/>
          </a:p>
        </p:txBody>
      </p:sp>
      <p:sp>
        <p:nvSpPr>
          <p:cNvPr id="11" name="Text 8">
            <a:extLst xmlns:a="http://schemas.openxmlformats.org/drawingml/2006/main">
              <a:ext uri="{FF2B5EF4-FFF2-40B4-BE49-F238E27FC236}">
                <a16:creationId xmlns:a16="http://schemas.microsoft.com/office/drawing/2014/main" id="{78089BC9-0BC8-4D1B-B425-65BF37791FAF}"/>
              </a:ext>
            </a:extLst>
          </p:cNvPr>
          <p:cNvSpPr>
            <a:spLocks xmlns:a="http://schemas.openxmlformats.org/drawingml/2006/main" noGrp="1"/>
          </p:cNvSpPr>
          <p:nvPr/>
        </p:nvSpPr>
        <p:spPr>
          <a:xfrm xmlns:a="http://schemas.openxmlformats.org/drawingml/2006/main">
            <a:off x="502920" y="280035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97B751AF-A597-4854-AF59-E899B48198FD}"/>
              </a:ext>
            </a:extLst>
          </p:cNvPr>
          <p:cNvSpPr>
            <a:spLocks xmlns:a="http://schemas.openxmlformats.org/drawingml/2006/main" noGrp="1"/>
          </p:cNvSpPr>
          <p:nvPr/>
        </p:nvSpPr>
        <p:spPr>
          <a:xfrm xmlns:a="http://schemas.openxmlformats.org/drawingml/2006/main">
            <a:off x="1005840" y="274548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Stage 2 — runtime</a:t>
            </a:r>
            <a:endParaRPr sz="1350"/>
          </a:p>
        </p:txBody>
      </p:sp>
      <p:sp>
        <p:nvSpPr>
          <p:cNvPr id="13" name="Text 10">
            <a:extLst xmlns:a="http://schemas.openxmlformats.org/drawingml/2006/main">
              <a:ext uri="{FF2B5EF4-FFF2-40B4-BE49-F238E27FC236}">
                <a16:creationId xmlns:a16="http://schemas.microsoft.com/office/drawing/2014/main" id="{5A1D836E-509C-423B-99FF-3DDDE139EF4C}"/>
              </a:ext>
            </a:extLst>
          </p:cNvPr>
          <p:cNvSpPr>
            <a:spLocks xmlns:a="http://schemas.openxmlformats.org/drawingml/2006/main" noGrp="1"/>
          </p:cNvSpPr>
          <p:nvPr/>
        </p:nvSpPr>
        <p:spPr>
          <a:xfrm xmlns:a="http://schemas.openxmlformats.org/drawingml/2006/main">
            <a:off x="1005840" y="304723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python:3.12-slim. Copies only the virtualenv and src/ — no compilers, no pip cache, no tests. Every binary left behind is one less CVE candidate.</a:t>
            </a:r>
            <a:endParaRPr sz="1050"/>
          </a:p>
        </p:txBody>
      </p:sp>
      <p:sp>
        <p:nvSpPr>
          <p:cNvPr id="14" name="Text 11">
            <a:extLst xmlns:a="http://schemas.openxmlformats.org/drawingml/2006/main">
              <a:ext uri="{FF2B5EF4-FFF2-40B4-BE49-F238E27FC236}">
                <a16:creationId xmlns:a16="http://schemas.microsoft.com/office/drawing/2014/main" id="{D50F8E37-FFEC-401B-952E-FB052551F3D8}"/>
              </a:ext>
            </a:extLst>
          </p:cNvPr>
          <p:cNvSpPr>
            <a:spLocks xmlns:a="http://schemas.openxmlformats.org/drawingml/2006/main" noGrp="1"/>
          </p:cNvSpPr>
          <p:nvPr/>
        </p:nvSpPr>
        <p:spPr>
          <a:xfrm xmlns:a="http://schemas.openxmlformats.org/drawingml/2006/main">
            <a:off x="502920" y="404622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318E2FC1-AF32-4035-AC37-AEA6476A16D3}"/>
              </a:ext>
            </a:extLst>
          </p:cNvPr>
          <p:cNvSpPr>
            <a:spLocks xmlns:a="http://schemas.openxmlformats.org/drawingml/2006/main" noGrp="1"/>
          </p:cNvSpPr>
          <p:nvPr/>
        </p:nvSpPr>
        <p:spPr>
          <a:xfrm xmlns:a="http://schemas.openxmlformats.org/drawingml/2006/main">
            <a:off x="1005840" y="399135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What crosses the door</a:t>
            </a:r>
            <a:endParaRPr sz="1350"/>
          </a:p>
        </p:txBody>
      </p:sp>
      <p:sp>
        <p:nvSpPr>
          <p:cNvPr id="16" name="Text 13">
            <a:extLst xmlns:a="http://schemas.openxmlformats.org/drawingml/2006/main">
              <a:ext uri="{FF2B5EF4-FFF2-40B4-BE49-F238E27FC236}">
                <a16:creationId xmlns:a16="http://schemas.microsoft.com/office/drawing/2014/main" id="{DA5672BD-FDC8-45BC-8361-7CEC4A720299}"/>
              </a:ext>
            </a:extLst>
          </p:cNvPr>
          <p:cNvSpPr>
            <a:spLocks xmlns:a="http://schemas.openxmlformats.org/drawingml/2006/main" noGrp="1"/>
          </p:cNvSpPr>
          <p:nvPr/>
        </p:nvSpPr>
        <p:spPr>
          <a:xfrm xmlns:a="http://schemas.openxmlformats.org/drawingml/2006/main">
            <a:off x="1005840" y="429310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COPY --from=builder /opt/venv /opt/venv is the single narrow doorway. Typical fraud-service result: 2.4 GB naive → 410 MB multi-stage slim.</a:t>
            </a:r>
            <a:endParaRPr sz="1050"/>
          </a:p>
        </p:txBody>
      </p:sp>
      <p:sp>
        <p:nvSpPr>
          <p:cNvPr id="17" name="Text 14">
            <a:extLst xmlns:a="http://schemas.openxmlformats.org/drawingml/2006/main">
              <a:ext uri="{FF2B5EF4-FFF2-40B4-BE49-F238E27FC236}">
                <a16:creationId xmlns:a16="http://schemas.microsoft.com/office/drawing/2014/main" id="{1BFDAE70-EADC-4512-9BAE-3F84DF0B7A04}"/>
              </a:ext>
            </a:extLst>
          </p:cNvPr>
          <p:cNvSpPr>
            <a:spLocks xmlns:a="http://schemas.openxmlformats.org/drawingml/2006/main" noGrp="1"/>
          </p:cNvSpPr>
          <p:nvPr/>
        </p:nvSpPr>
        <p:spPr>
          <a:xfrm xmlns:a="http://schemas.openxmlformats.org/drawingml/2006/main">
            <a:off x="502920" y="5292090"/>
            <a:ext cx="329184" cy="329184"/>
          </a:xfrm>
          <a:prstGeom xmlns:a="http://schemas.openxmlformats.org/drawingml/2006/main" prst="ellipse">
            <a:avLst/>
          </a:prstGeom>
          <a:solidFill xmlns:a="http://schemas.openxmlformats.org/drawingml/2006/main">
            <a:srgbClr val="8DC63F"/>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4</a:t>
            </a:r>
            <a:endParaRPr sz="1300"/>
          </a:p>
        </p:txBody>
      </p:sp>
      <p:sp>
        <p:nvSpPr>
          <p:cNvPr id="18" name="Text 15">
            <a:extLst xmlns:a="http://schemas.openxmlformats.org/drawingml/2006/main">
              <a:ext uri="{FF2B5EF4-FFF2-40B4-BE49-F238E27FC236}">
                <a16:creationId xmlns:a16="http://schemas.microsoft.com/office/drawing/2014/main" id="{BB16FD43-5B68-47EC-9378-63AF5B8DEFCA}"/>
              </a:ext>
            </a:extLst>
          </p:cNvPr>
          <p:cNvSpPr>
            <a:spLocks xmlns:a="http://schemas.openxmlformats.org/drawingml/2006/main" noGrp="1"/>
          </p:cNvSpPr>
          <p:nvPr/>
        </p:nvSpPr>
        <p:spPr>
          <a:xfrm xmlns:a="http://schemas.openxmlformats.org/drawingml/2006/main">
            <a:off x="1005840" y="523722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GPU services — same pattern, 10× stakes</a:t>
            </a:r>
            <a:endParaRPr sz="1350"/>
          </a:p>
        </p:txBody>
      </p:sp>
      <p:sp>
        <p:nvSpPr>
          <p:cNvPr id="19" name="Text 16">
            <a:extLst xmlns:a="http://schemas.openxmlformats.org/drawingml/2006/main">
              <a:ext uri="{FF2B5EF4-FFF2-40B4-BE49-F238E27FC236}">
                <a16:creationId xmlns:a16="http://schemas.microsoft.com/office/drawing/2014/main" id="{8D5DDA04-A2EB-4BE7-A267-A1B1EAB46D4C}"/>
              </a:ext>
            </a:extLst>
          </p:cNvPr>
          <p:cNvSpPr>
            <a:spLocks xmlns:a="http://schemas.openxmlformats.org/drawingml/2006/main" noGrp="1"/>
          </p:cNvSpPr>
          <p:nvPr/>
        </p:nvSpPr>
        <p:spPr>
          <a:xfrm xmlns:a="http://schemas.openxmlformats.org/drawingml/2006/main">
            <a:off x="1005840" y="553897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With CUDA base images the pattern is identical and the size stakes are ten times larger — the Jubail case study lives exactly here.</a:t>
            </a:r>
            <a:endParaRPr sz="1050"/>
          </a:p>
        </p:txBody>
      </p:sp>
    </p:spTree>
    <p:extLst>
      <p:ext uri="{BB962C8B-B14F-4D97-AF65-F5344CB8AC3E}">
        <p14:creationId xmlns:p14="http://schemas.microsoft.com/office/powerpoint/2010/main" val="1326896306"/>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2ADE9FD-FA2F-4B5D-ABD0-C5A764B6DE39}"/>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Multi-stage Dockerfile — the builder stage</a:t>
            </a:r>
            <a:endParaRPr sz="2600"/>
          </a:p>
        </p:txBody>
      </p:sp>
      <p:sp>
        <p:nvSpPr>
          <p:cNvPr id="3" name="Text 1">
            <a:extLst xmlns:a="http://schemas.openxmlformats.org/drawingml/2006/main">
              <a:ext uri="{FF2B5EF4-FFF2-40B4-BE49-F238E27FC236}">
                <a16:creationId xmlns:a16="http://schemas.microsoft.com/office/drawing/2014/main" id="{6EE08B9B-D021-4677-9C01-F6A29D99C02E}"/>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ملف دوكر متعدد المراحل — مرحلة البناء</a:t>
            </a:r>
            <a:endParaRPr sz="1300"/>
          </a:p>
        </p:txBody>
      </p:sp>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0d9a44d176a74181"/>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0F74BA45-9DBA-489C-9659-2C02BCED34E4}"/>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C32DF5C1-1366-43FB-B20B-49667B906FD4}"/>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3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1F2AD7C3-6B6A-43AA-B00B-22B2E3837315}"/>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66</a:t>
            </a:r>
            <a:endParaRPr sz="850"/>
          </a:p>
        </p:txBody>
      </p:sp>
      <p:sp>
        <p:nvSpPr>
          <p:cNvPr id="8" name="Shape 5">
            <a:extLst xmlns:a="http://schemas.openxmlformats.org/drawingml/2006/main">
              <a:ext uri="{FF2B5EF4-FFF2-40B4-BE49-F238E27FC236}">
                <a16:creationId xmlns:a16="http://schemas.microsoft.com/office/drawing/2014/main" id="{1BFD3789-AA25-4887-9B1C-EB03D3ED561C}"/>
              </a:ext>
            </a:extLst>
          </p:cNvPr>
          <p:cNvSpPr>
            <a:spLocks xmlns:a="http://schemas.openxmlformats.org/drawingml/2006/main" noGrp="1"/>
          </p:cNvSpPr>
          <p:nvPr/>
        </p:nvSpPr>
        <p:spPr>
          <a:xfrm xmlns:a="http://schemas.openxmlformats.org/drawingml/2006/main">
            <a:off x="502920" y="1481328"/>
            <a:ext cx="7635240" cy="4617720"/>
          </a:xfrm>
          <a:prstGeom xmlns:a="http://schemas.openxmlformats.org/drawingml/2006/main" prst="roundRect">
            <a:avLst>
              <a:gd name="adj" fmla="val 1584"/>
            </a:avLst>
          </a:prstGeom>
          <a:solidFill xmlns:a="http://schemas.openxmlformats.org/drawingml/2006/main">
            <a:srgbClr val="1A2233"/>
          </a:solidFill>
        </p:spPr>
      </p:sp>
      <p:sp>
        <p:nvSpPr>
          <p:cNvPr id="9" name="Shape 6">
            <a:extLst xmlns:a="http://schemas.openxmlformats.org/drawingml/2006/main">
              <a:ext uri="{FF2B5EF4-FFF2-40B4-BE49-F238E27FC236}">
                <a16:creationId xmlns:a16="http://schemas.microsoft.com/office/drawing/2014/main" id="{24DBCF63-0744-45D5-883F-BFCD2BF40D48}"/>
              </a:ext>
            </a:extLst>
          </p:cNvPr>
          <p:cNvSpPr>
            <a:spLocks xmlns:a="http://schemas.openxmlformats.org/drawingml/2006/main" noGrp="1"/>
          </p:cNvSpPr>
          <p:nvPr/>
        </p:nvSpPr>
        <p:spPr>
          <a:xfrm xmlns:a="http://schemas.openxmlformats.org/drawingml/2006/main">
            <a:off x="731520" y="1664208"/>
            <a:ext cx="109728" cy="109728"/>
          </a:xfrm>
          <a:prstGeom xmlns:a="http://schemas.openxmlformats.org/drawingml/2006/main" prst="ellipse">
            <a:avLst/>
          </a:prstGeom>
          <a:solidFill xmlns:a="http://schemas.openxmlformats.org/drawingml/2006/main">
            <a:srgbClr val="E8503A"/>
          </a:solidFill>
        </p:spPr>
      </p:sp>
      <p:sp>
        <p:nvSpPr>
          <p:cNvPr id="10" name="Shape 7">
            <a:extLst xmlns:a="http://schemas.openxmlformats.org/drawingml/2006/main">
              <a:ext uri="{FF2B5EF4-FFF2-40B4-BE49-F238E27FC236}">
                <a16:creationId xmlns:a16="http://schemas.microsoft.com/office/drawing/2014/main" id="{23DEAAFC-5EEA-4DE3-950D-53B73B98ADCF}"/>
              </a:ext>
            </a:extLst>
          </p:cNvPr>
          <p:cNvSpPr>
            <a:spLocks xmlns:a="http://schemas.openxmlformats.org/drawingml/2006/main" noGrp="1"/>
          </p:cNvSpPr>
          <p:nvPr/>
        </p:nvSpPr>
        <p:spPr>
          <a:xfrm xmlns:a="http://schemas.openxmlformats.org/drawingml/2006/main">
            <a:off x="932688" y="1664208"/>
            <a:ext cx="109728" cy="109728"/>
          </a:xfrm>
          <a:prstGeom xmlns:a="http://schemas.openxmlformats.org/drawingml/2006/main" prst="ellipse">
            <a:avLst/>
          </a:prstGeom>
          <a:solidFill xmlns:a="http://schemas.openxmlformats.org/drawingml/2006/main">
            <a:srgbClr val="F5B820"/>
          </a:solidFill>
        </p:spPr>
      </p:sp>
      <p:sp>
        <p:nvSpPr>
          <p:cNvPr id="11" name="Shape 8">
            <a:extLst xmlns:a="http://schemas.openxmlformats.org/drawingml/2006/main">
              <a:ext uri="{FF2B5EF4-FFF2-40B4-BE49-F238E27FC236}">
                <a16:creationId xmlns:a16="http://schemas.microsoft.com/office/drawing/2014/main" id="{16A4697C-0129-471E-9E97-0F7FF42C6706}"/>
              </a:ext>
            </a:extLst>
          </p:cNvPr>
          <p:cNvSpPr>
            <a:spLocks xmlns:a="http://schemas.openxmlformats.org/drawingml/2006/main" noGrp="1"/>
          </p:cNvSpPr>
          <p:nvPr/>
        </p:nvSpPr>
        <p:spPr>
          <a:xfrm xmlns:a="http://schemas.openxmlformats.org/drawingml/2006/main">
            <a:off x="1133856" y="1664208"/>
            <a:ext cx="109728" cy="109728"/>
          </a:xfrm>
          <a:prstGeom xmlns:a="http://schemas.openxmlformats.org/drawingml/2006/main" prst="ellipse">
            <a:avLst/>
          </a:prstGeom>
          <a:solidFill xmlns:a="http://schemas.openxmlformats.org/drawingml/2006/main">
            <a:srgbClr val="8DC63F"/>
          </a:solidFill>
        </p:spPr>
      </p:sp>
      <p:sp>
        <p:nvSpPr>
          <p:cNvPr id="12" name="Text 9">
            <a:extLst xmlns:a="http://schemas.openxmlformats.org/drawingml/2006/main">
              <a:ext uri="{FF2B5EF4-FFF2-40B4-BE49-F238E27FC236}">
                <a16:creationId xmlns:a16="http://schemas.microsoft.com/office/drawing/2014/main" id="{DA522E3D-8F81-4534-AA9C-4244F40016AC}"/>
              </a:ext>
            </a:extLst>
          </p:cNvPr>
          <p:cNvSpPr>
            <a:spLocks xmlns:a="http://schemas.openxmlformats.org/drawingml/2006/main" noGrp="1"/>
          </p:cNvSpPr>
          <p:nvPr/>
        </p:nvSpPr>
        <p:spPr>
          <a:xfrm xmlns:a="http://schemas.openxmlformats.org/drawingml/2006/main">
            <a:off x="4526280" y="1609344"/>
            <a:ext cx="32918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6C8"/>
                </a:solidFill>
                <a:latin typeface="Consolas"/>
                <a:ea typeface="Consolas"/>
                <a:cs typeface="Consolas"/>
              </a:rPr>
              <a:t>Dockerfile — stage 1 of 2</a:t>
            </a:r>
            <a:endParaRPr sz="900"/>
          </a:p>
        </p:txBody>
      </p:sp>
      <p:sp>
        <p:nvSpPr>
          <p:cNvPr id="13" name="Text 10">
            <a:extLst xmlns:a="http://schemas.openxmlformats.org/drawingml/2006/main">
              <a:ext uri="{FF2B5EF4-FFF2-40B4-BE49-F238E27FC236}">
                <a16:creationId xmlns:a16="http://schemas.microsoft.com/office/drawing/2014/main" id="{0AE0FA3E-0C8E-46D4-99AF-0FF9D28892B6}"/>
              </a:ext>
            </a:extLst>
          </p:cNvPr>
          <p:cNvSpPr>
            <a:spLocks xmlns:a="http://schemas.openxmlformats.org/drawingml/2006/main" noGrp="1"/>
          </p:cNvSpPr>
          <p:nvPr/>
        </p:nvSpPr>
        <p:spPr>
          <a:xfrm xmlns:a="http://schemas.openxmlformats.org/drawingml/2006/main">
            <a:off x="713232" y="1965960"/>
            <a:ext cx="717804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000">
                <a:solidFill>
                  <a:srgbClr val="D9E4F5"/>
                </a:solidFill>
                <a:latin typeface="Consolas"/>
                <a:ea typeface="Consolas"/>
                <a:cs typeface="Consolas"/>
              </a:rPr>
              <a:t># ---------- Stage 1: builder ----------</a:t>
            </a:r>
            <a:endParaRPr sz="1000"/>
          </a:p>
          <a:p xmlns:a="http://schemas.openxmlformats.org/drawingml/2006/main">
            <a:pPr marL="0" indent="0">
              <a:lnSpc>
                <a:spcPct val="112000"/>
              </a:lnSpc>
              <a:buNone/>
            </a:pPr>
            <a:r>
              <a:rPr sz="1000">
                <a:solidFill>
                  <a:srgbClr val="D9E4F5"/>
                </a:solidFill>
                <a:latin typeface="Consolas"/>
                <a:ea typeface="Consolas"/>
                <a:cs typeface="Consolas"/>
              </a:rPr>
              <a:t>FROM python:3.12-slim AS builder</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RUN apt-get update &amp;&amp; apt-get install -y \</a:t>
            </a:r>
            <a:endParaRPr sz="1000"/>
          </a:p>
          <a:p xmlns:a="http://schemas.openxmlformats.org/drawingml/2006/main">
            <a:pPr marL="0" indent="0">
              <a:lnSpc>
                <a:spcPct val="112000"/>
              </a:lnSpc>
              <a:buNone/>
            </a:pPr>
            <a:r>
              <a:rPr sz="1000">
                <a:solidFill>
                  <a:srgbClr val="D9E4F5"/>
                </a:solidFill>
                <a:latin typeface="Consolas"/>
                <a:ea typeface="Consolas"/>
                <a:cs typeface="Consolas"/>
              </a:rPr>
              <a:t>        --no-install-recommends build-essential \</a:t>
            </a:r>
            <a:endParaRPr sz="1000"/>
          </a:p>
          <a:p xmlns:a="http://schemas.openxmlformats.org/drawingml/2006/main">
            <a:pPr marL="0" indent="0">
              <a:lnSpc>
                <a:spcPct val="112000"/>
              </a:lnSpc>
              <a:buNone/>
            </a:pPr>
            <a:r>
              <a:rPr sz="1000">
                <a:solidFill>
                  <a:srgbClr val="D9E4F5"/>
                </a:solidFill>
                <a:latin typeface="Consolas"/>
                <a:ea typeface="Consolas"/>
                <a:cs typeface="Consolas"/>
              </a:rPr>
              <a:t>    &amp;&amp; rm -rf /var/lib/apt/lists/*</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WORKDIR /app</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 1) Dependency layer: changes rarely =&gt; cached</a:t>
            </a:r>
            <a:endParaRPr sz="1000"/>
          </a:p>
          <a:p xmlns:a="http://schemas.openxmlformats.org/drawingml/2006/main">
            <a:pPr marL="0" indent="0">
              <a:lnSpc>
                <a:spcPct val="112000"/>
              </a:lnSpc>
              <a:buNone/>
            </a:pPr>
            <a:r>
              <a:rPr sz="1000">
                <a:solidFill>
                  <a:srgbClr val="D9E4F5"/>
                </a:solidFill>
                <a:latin typeface="Consolas"/>
                <a:ea typeface="Consolas"/>
                <a:cs typeface="Consolas"/>
              </a:rPr>
              <a:t>COPY requirements.lock .</a:t>
            </a:r>
            <a:endParaRPr sz="1000"/>
          </a:p>
          <a:p xmlns:a="http://schemas.openxmlformats.org/drawingml/2006/main">
            <a:pPr marL="0" indent="0">
              <a:lnSpc>
                <a:spcPct val="112000"/>
              </a:lnSpc>
              <a:buNone/>
            </a:pPr>
            <a:r>
              <a:rPr sz="1000">
                <a:solidFill>
                  <a:srgbClr val="D9E4F5"/>
                </a:solidFill>
                <a:latin typeface="Consolas"/>
                <a:ea typeface="Consolas"/>
                <a:cs typeface="Consolas"/>
              </a:rPr>
              <a:t>RUN python -m venv /opt/venv \</a:t>
            </a:r>
            <a:endParaRPr sz="1000"/>
          </a:p>
          <a:p xmlns:a="http://schemas.openxmlformats.org/drawingml/2006/main">
            <a:pPr marL="0" indent="0">
              <a:lnSpc>
                <a:spcPct val="112000"/>
              </a:lnSpc>
              <a:buNone/>
            </a:pPr>
            <a:r>
              <a:rPr sz="1000">
                <a:solidFill>
                  <a:srgbClr val="D9E4F5"/>
                </a:solidFill>
                <a:latin typeface="Consolas"/>
                <a:ea typeface="Consolas"/>
                <a:cs typeface="Consolas"/>
              </a:rPr>
              <a:t>    &amp;&amp; /opt/venv/bin/pip install --no-cache-dir \</a:t>
            </a:r>
            <a:endParaRPr sz="1000"/>
          </a:p>
          <a:p xmlns:a="http://schemas.openxmlformats.org/drawingml/2006/main">
            <a:pPr marL="0" indent="0">
              <a:lnSpc>
                <a:spcPct val="112000"/>
              </a:lnSpc>
              <a:buNone/>
            </a:pPr>
            <a:r>
              <a:rPr sz="1000">
                <a:solidFill>
                  <a:srgbClr val="D9E4F5"/>
                </a:solidFill>
                <a:latin typeface="Consolas"/>
                <a:ea typeface="Consolas"/>
                <a:cs typeface="Consolas"/>
              </a:rPr>
              <a:t>       -r requirements.lock</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 2) Source layer: changes every commit, cheap</a:t>
            </a:r>
            <a:endParaRPr sz="1000"/>
          </a:p>
          <a:p xmlns:a="http://schemas.openxmlformats.org/drawingml/2006/main">
            <a:pPr marL="0" indent="0">
              <a:lnSpc>
                <a:spcPct val="112000"/>
              </a:lnSpc>
              <a:buNone/>
            </a:pPr>
            <a:r>
              <a:rPr sz="1000">
                <a:solidFill>
                  <a:srgbClr val="D9E4F5"/>
                </a:solidFill>
                <a:latin typeface="Consolas"/>
                <a:ea typeface="Consolas"/>
                <a:cs typeface="Consolas"/>
              </a:rPr>
              <a:t>COPY pyproject.toml README.md ./</a:t>
            </a:r>
            <a:endParaRPr sz="1000"/>
          </a:p>
          <a:p xmlns:a="http://schemas.openxmlformats.org/drawingml/2006/main">
            <a:pPr marL="0" indent="0">
              <a:lnSpc>
                <a:spcPct val="112000"/>
              </a:lnSpc>
              <a:buNone/>
            </a:pPr>
            <a:r>
              <a:rPr sz="1000">
                <a:solidFill>
                  <a:srgbClr val="D9E4F5"/>
                </a:solidFill>
                <a:latin typeface="Consolas"/>
                <a:ea typeface="Consolas"/>
                <a:cs typeface="Consolas"/>
              </a:rPr>
              <a:t>COPY src/ src/</a:t>
            </a:r>
            <a:endParaRPr sz="1000"/>
          </a:p>
          <a:p xmlns:a="http://schemas.openxmlformats.org/drawingml/2006/main">
            <a:pPr marL="0" indent="0">
              <a:lnSpc>
                <a:spcPct val="112000"/>
              </a:lnSpc>
              <a:buNone/>
            </a:pPr>
            <a:r>
              <a:rPr sz="1000">
                <a:solidFill>
                  <a:srgbClr val="D9E4F5"/>
                </a:solidFill>
                <a:latin typeface="Consolas"/>
                <a:ea typeface="Consolas"/>
                <a:cs typeface="Consolas"/>
              </a:rPr>
              <a:t>RUN /opt/venv/bin/pip install --no-cache-dir --no-deps .</a:t>
            </a:r>
            <a:endParaRPr sz="1000"/>
          </a:p>
        </p:txBody>
      </p:sp>
      <p:sp>
        <p:nvSpPr>
          <p:cNvPr id="14" name="Shape 11">
            <a:extLst xmlns:a="http://schemas.openxmlformats.org/drawingml/2006/main">
              <a:ext uri="{FF2B5EF4-FFF2-40B4-BE49-F238E27FC236}">
                <a16:creationId xmlns:a16="http://schemas.microsoft.com/office/drawing/2014/main" id="{E73D7C40-1B3A-4623-AD92-4361D0AF6D56}"/>
              </a:ext>
            </a:extLst>
          </p:cNvPr>
          <p:cNvSpPr>
            <a:spLocks xmlns:a="http://schemas.openxmlformats.org/drawingml/2006/main" noGrp="1"/>
          </p:cNvSpPr>
          <p:nvPr/>
        </p:nvSpPr>
        <p:spPr>
          <a:xfrm xmlns:a="http://schemas.openxmlformats.org/drawingml/2006/main">
            <a:off x="8321040" y="1481328"/>
            <a:ext cx="3364992" cy="1402080"/>
          </a:xfrm>
          <a:prstGeom xmlns:a="http://schemas.openxmlformats.org/drawingml/2006/main" prst="roundRect">
            <a:avLst>
              <a:gd name="adj" fmla="val 3913"/>
            </a:avLst>
          </a:prstGeom>
          <a:solidFill xmlns:a="http://schemas.openxmlformats.org/drawingml/2006/main">
            <a:srgbClr val="D4F1EE"/>
          </a:solidFill>
        </p:spPr>
      </p:sp>
      <p:sp>
        <p:nvSpPr>
          <p:cNvPr id="15" name="Text 12">
            <a:extLst xmlns:a="http://schemas.openxmlformats.org/drawingml/2006/main">
              <a:ext uri="{FF2B5EF4-FFF2-40B4-BE49-F238E27FC236}">
                <a16:creationId xmlns:a16="http://schemas.microsoft.com/office/drawing/2014/main" id="{501A357F-1C72-4B25-930C-FE0E969BB3B3}"/>
              </a:ext>
            </a:extLst>
          </p:cNvPr>
          <p:cNvSpPr>
            <a:spLocks xmlns:a="http://schemas.openxmlformats.org/drawingml/2006/main" noGrp="1"/>
          </p:cNvSpPr>
          <p:nvPr/>
        </p:nvSpPr>
        <p:spPr>
          <a:xfrm xmlns:a="http://schemas.openxmlformats.org/drawingml/2006/main">
            <a:off x="8485632" y="157276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Builder-only toolchain</a:t>
            </a:r>
            <a:endParaRPr sz="1050"/>
          </a:p>
        </p:txBody>
      </p:sp>
      <p:sp>
        <p:nvSpPr>
          <p:cNvPr id="16" name="Text 13">
            <a:extLst xmlns:a="http://schemas.openxmlformats.org/drawingml/2006/main">
              <a:ext uri="{FF2B5EF4-FFF2-40B4-BE49-F238E27FC236}">
                <a16:creationId xmlns:a16="http://schemas.microsoft.com/office/drawing/2014/main" id="{5CA1D651-AA3B-4000-B8A9-C051B5D53993}"/>
              </a:ext>
            </a:extLst>
          </p:cNvPr>
          <p:cNvSpPr>
            <a:spLocks xmlns:a="http://schemas.openxmlformats.org/drawingml/2006/main" noGrp="1"/>
          </p:cNvSpPr>
          <p:nvPr/>
        </p:nvSpPr>
        <p:spPr>
          <a:xfrm xmlns:a="http://schemas.openxmlformats.org/drawingml/2006/main">
            <a:off x="8485632" y="184708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build-essential exists to compile wheels; it never reaches the runtime image.</a:t>
            </a:r>
            <a:endParaRPr sz="930"/>
          </a:p>
        </p:txBody>
      </p:sp>
      <p:sp>
        <p:nvSpPr>
          <p:cNvPr id="17" name="Shape 14">
            <a:extLst xmlns:a="http://schemas.openxmlformats.org/drawingml/2006/main">
              <a:ext uri="{FF2B5EF4-FFF2-40B4-BE49-F238E27FC236}">
                <a16:creationId xmlns:a16="http://schemas.microsoft.com/office/drawing/2014/main" id="{6A9BE52E-D836-49E0-A317-82B563C75D17}"/>
              </a:ext>
            </a:extLst>
          </p:cNvPr>
          <p:cNvSpPr>
            <a:spLocks xmlns:a="http://schemas.openxmlformats.org/drawingml/2006/main" noGrp="1"/>
          </p:cNvSpPr>
          <p:nvPr/>
        </p:nvSpPr>
        <p:spPr>
          <a:xfrm xmlns:a="http://schemas.openxmlformats.org/drawingml/2006/main">
            <a:off x="8321040" y="3020568"/>
            <a:ext cx="3364992" cy="1402080"/>
          </a:xfrm>
          <a:prstGeom xmlns:a="http://schemas.openxmlformats.org/drawingml/2006/main" prst="roundRect">
            <a:avLst>
              <a:gd name="adj" fmla="val 3913"/>
            </a:avLst>
          </a:prstGeom>
          <a:solidFill xmlns:a="http://schemas.openxmlformats.org/drawingml/2006/main">
            <a:srgbClr val="D9F0FA"/>
          </a:solidFill>
        </p:spPr>
      </p:sp>
      <p:sp>
        <p:nvSpPr>
          <p:cNvPr id="18" name="Text 15">
            <a:extLst xmlns:a="http://schemas.openxmlformats.org/drawingml/2006/main">
              <a:ext uri="{FF2B5EF4-FFF2-40B4-BE49-F238E27FC236}">
                <a16:creationId xmlns:a16="http://schemas.microsoft.com/office/drawing/2014/main" id="{812CBD49-441E-4848-B7D5-264453300ED9}"/>
              </a:ext>
            </a:extLst>
          </p:cNvPr>
          <p:cNvSpPr>
            <a:spLocks xmlns:a="http://schemas.openxmlformats.org/drawingml/2006/main" noGrp="1"/>
          </p:cNvSpPr>
          <p:nvPr/>
        </p:nvSpPr>
        <p:spPr>
          <a:xfrm xmlns:a="http://schemas.openxmlformats.org/drawingml/2006/main">
            <a:off x="8485632" y="311200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Dependency layer first</a:t>
            </a:r>
            <a:endParaRPr sz="1050"/>
          </a:p>
        </p:txBody>
      </p:sp>
      <p:sp>
        <p:nvSpPr>
          <p:cNvPr id="19" name="Text 16">
            <a:extLst xmlns:a="http://schemas.openxmlformats.org/drawingml/2006/main">
              <a:ext uri="{FF2B5EF4-FFF2-40B4-BE49-F238E27FC236}">
                <a16:creationId xmlns:a16="http://schemas.microsoft.com/office/drawing/2014/main" id="{40237011-9813-45E4-A73E-E41EACC4B4D9}"/>
              </a:ext>
            </a:extLst>
          </p:cNvPr>
          <p:cNvSpPr>
            <a:spLocks xmlns:a="http://schemas.openxmlformats.org/drawingml/2006/main" noGrp="1"/>
          </p:cNvSpPr>
          <p:nvPr/>
        </p:nvSpPr>
        <p:spPr>
          <a:xfrm xmlns:a="http://schemas.openxmlformats.org/drawingml/2006/main">
            <a:off x="8485632" y="338632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requirements.lock is copied alone — the slow pip install caches across every code edit.</a:t>
            </a:r>
            <a:endParaRPr sz="930"/>
          </a:p>
        </p:txBody>
      </p:sp>
      <p:sp>
        <p:nvSpPr>
          <p:cNvPr id="20" name="Shape 17">
            <a:extLst xmlns:a="http://schemas.openxmlformats.org/drawingml/2006/main">
              <a:ext uri="{FF2B5EF4-FFF2-40B4-BE49-F238E27FC236}">
                <a16:creationId xmlns:a16="http://schemas.microsoft.com/office/drawing/2014/main" id="{DA02CDCF-CF78-432B-B5A7-8DB68B13C4F1}"/>
              </a:ext>
            </a:extLst>
          </p:cNvPr>
          <p:cNvSpPr>
            <a:spLocks xmlns:a="http://schemas.openxmlformats.org/drawingml/2006/main" noGrp="1"/>
          </p:cNvSpPr>
          <p:nvPr/>
        </p:nvSpPr>
        <p:spPr>
          <a:xfrm xmlns:a="http://schemas.openxmlformats.org/drawingml/2006/main">
            <a:off x="8321040" y="4559808"/>
            <a:ext cx="3364992" cy="1402080"/>
          </a:xfrm>
          <a:prstGeom xmlns:a="http://schemas.openxmlformats.org/drawingml/2006/main" prst="roundRect">
            <a:avLst>
              <a:gd name="adj" fmla="val 3913"/>
            </a:avLst>
          </a:prstGeom>
          <a:solidFill xmlns:a="http://schemas.openxmlformats.org/drawingml/2006/main">
            <a:srgbClr val="FDEBD7"/>
          </a:solidFill>
        </p:spPr>
      </p:sp>
      <p:sp>
        <p:nvSpPr>
          <p:cNvPr id="21" name="Text 18">
            <a:extLst xmlns:a="http://schemas.openxmlformats.org/drawingml/2006/main">
              <a:ext uri="{FF2B5EF4-FFF2-40B4-BE49-F238E27FC236}">
                <a16:creationId xmlns:a16="http://schemas.microsoft.com/office/drawing/2014/main" id="{C0114080-5C5A-42B8-8E4E-B71300BAB78C}"/>
              </a:ext>
            </a:extLst>
          </p:cNvPr>
          <p:cNvSpPr>
            <a:spLocks xmlns:a="http://schemas.openxmlformats.org/drawingml/2006/main" noGrp="1"/>
          </p:cNvSpPr>
          <p:nvPr/>
        </p:nvSpPr>
        <p:spPr>
          <a:xfrm xmlns:a="http://schemas.openxmlformats.org/drawingml/2006/main">
            <a:off x="8485632" y="465124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Source layer second</a:t>
            </a:r>
            <a:endParaRPr sz="1050"/>
          </a:p>
        </p:txBody>
      </p:sp>
      <p:sp>
        <p:nvSpPr>
          <p:cNvPr id="22" name="Text 19">
            <a:extLst xmlns:a="http://schemas.openxmlformats.org/drawingml/2006/main">
              <a:ext uri="{FF2B5EF4-FFF2-40B4-BE49-F238E27FC236}">
                <a16:creationId xmlns:a16="http://schemas.microsoft.com/office/drawing/2014/main" id="{7CF42C6D-EE54-4415-88BE-0B0A2839D26F}"/>
              </a:ext>
            </a:extLst>
          </p:cNvPr>
          <p:cNvSpPr>
            <a:spLocks xmlns:a="http://schemas.openxmlformats.org/drawingml/2006/main" noGrp="1"/>
          </p:cNvSpPr>
          <p:nvPr/>
        </p:nvSpPr>
        <p:spPr>
          <a:xfrm xmlns:a="http://schemas.openxmlformats.org/drawingml/2006/main">
            <a:off x="8485632" y="492556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src/ changes every commit but rebuilds in seconds; never place it above the install.</a:t>
            </a:r>
            <a:endParaRPr sz="930"/>
          </a:p>
        </p:txBody>
      </p:sp>
    </p:spTree>
    <p:extLst>
      <p:ext uri="{BB962C8B-B14F-4D97-AF65-F5344CB8AC3E}">
        <p14:creationId xmlns:p14="http://schemas.microsoft.com/office/powerpoint/2010/main" val="1022805540"/>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DDC55CF-B486-4116-8828-956D8421956E}"/>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Multi-stage Dockerfile — the runtime stage</a:t>
            </a:r>
            <a:endParaRPr sz="2600"/>
          </a:p>
        </p:txBody>
      </p:sp>
      <p:sp>
        <p:nvSpPr>
          <p:cNvPr id="3" name="Text 1">
            <a:extLst xmlns:a="http://schemas.openxmlformats.org/drawingml/2006/main">
              <a:ext uri="{FF2B5EF4-FFF2-40B4-BE49-F238E27FC236}">
                <a16:creationId xmlns:a16="http://schemas.microsoft.com/office/drawing/2014/main" id="{56D4D843-E763-4300-B939-6D535AC96A38}"/>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ملف دوكر متعدد المراحل — مرحلة التشغيل</a:t>
            </a:r>
            <a:endParaRPr sz="1300"/>
          </a:p>
        </p:txBody>
      </p:sp>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eda73cfa62744f70"/>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4FA71167-E372-4ABF-9482-53755271EE58}"/>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ABE636F9-4A8E-47C5-AE29-4E6FD0F3FB07}"/>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3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21E98BD5-72EA-4C81-BFB6-8465B4A472B5}"/>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67</a:t>
            </a:r>
            <a:endParaRPr sz="850"/>
          </a:p>
        </p:txBody>
      </p:sp>
      <p:sp>
        <p:nvSpPr>
          <p:cNvPr id="8" name="Shape 5">
            <a:extLst xmlns:a="http://schemas.openxmlformats.org/drawingml/2006/main">
              <a:ext uri="{FF2B5EF4-FFF2-40B4-BE49-F238E27FC236}">
                <a16:creationId xmlns:a16="http://schemas.microsoft.com/office/drawing/2014/main" id="{DCDAC01B-5E36-4EF1-A6D1-72DA1387E068}"/>
              </a:ext>
            </a:extLst>
          </p:cNvPr>
          <p:cNvSpPr>
            <a:spLocks xmlns:a="http://schemas.openxmlformats.org/drawingml/2006/main" noGrp="1"/>
          </p:cNvSpPr>
          <p:nvPr/>
        </p:nvSpPr>
        <p:spPr>
          <a:xfrm xmlns:a="http://schemas.openxmlformats.org/drawingml/2006/main">
            <a:off x="502920" y="1481328"/>
            <a:ext cx="7635240" cy="4617720"/>
          </a:xfrm>
          <a:prstGeom xmlns:a="http://schemas.openxmlformats.org/drawingml/2006/main" prst="roundRect">
            <a:avLst>
              <a:gd name="adj" fmla="val 1584"/>
            </a:avLst>
          </a:prstGeom>
          <a:solidFill xmlns:a="http://schemas.openxmlformats.org/drawingml/2006/main">
            <a:srgbClr val="1A2233"/>
          </a:solidFill>
        </p:spPr>
      </p:sp>
      <p:sp>
        <p:nvSpPr>
          <p:cNvPr id="9" name="Shape 6">
            <a:extLst xmlns:a="http://schemas.openxmlformats.org/drawingml/2006/main">
              <a:ext uri="{FF2B5EF4-FFF2-40B4-BE49-F238E27FC236}">
                <a16:creationId xmlns:a16="http://schemas.microsoft.com/office/drawing/2014/main" id="{F24C199A-B000-4941-8F6B-5F88ED24A070}"/>
              </a:ext>
            </a:extLst>
          </p:cNvPr>
          <p:cNvSpPr>
            <a:spLocks xmlns:a="http://schemas.openxmlformats.org/drawingml/2006/main" noGrp="1"/>
          </p:cNvSpPr>
          <p:nvPr/>
        </p:nvSpPr>
        <p:spPr>
          <a:xfrm xmlns:a="http://schemas.openxmlformats.org/drawingml/2006/main">
            <a:off x="731520" y="1664208"/>
            <a:ext cx="109728" cy="109728"/>
          </a:xfrm>
          <a:prstGeom xmlns:a="http://schemas.openxmlformats.org/drawingml/2006/main" prst="ellipse">
            <a:avLst/>
          </a:prstGeom>
          <a:solidFill xmlns:a="http://schemas.openxmlformats.org/drawingml/2006/main">
            <a:srgbClr val="E8503A"/>
          </a:solidFill>
        </p:spPr>
      </p:sp>
      <p:sp>
        <p:nvSpPr>
          <p:cNvPr id="10" name="Shape 7">
            <a:extLst xmlns:a="http://schemas.openxmlformats.org/drawingml/2006/main">
              <a:ext uri="{FF2B5EF4-FFF2-40B4-BE49-F238E27FC236}">
                <a16:creationId xmlns:a16="http://schemas.microsoft.com/office/drawing/2014/main" id="{421D1AC8-7BF2-476E-8166-B349C4A040CD}"/>
              </a:ext>
            </a:extLst>
          </p:cNvPr>
          <p:cNvSpPr>
            <a:spLocks xmlns:a="http://schemas.openxmlformats.org/drawingml/2006/main" noGrp="1"/>
          </p:cNvSpPr>
          <p:nvPr/>
        </p:nvSpPr>
        <p:spPr>
          <a:xfrm xmlns:a="http://schemas.openxmlformats.org/drawingml/2006/main">
            <a:off x="932688" y="1664208"/>
            <a:ext cx="109728" cy="109728"/>
          </a:xfrm>
          <a:prstGeom xmlns:a="http://schemas.openxmlformats.org/drawingml/2006/main" prst="ellipse">
            <a:avLst/>
          </a:prstGeom>
          <a:solidFill xmlns:a="http://schemas.openxmlformats.org/drawingml/2006/main">
            <a:srgbClr val="F5B820"/>
          </a:solidFill>
        </p:spPr>
      </p:sp>
      <p:sp>
        <p:nvSpPr>
          <p:cNvPr id="11" name="Shape 8">
            <a:extLst xmlns:a="http://schemas.openxmlformats.org/drawingml/2006/main">
              <a:ext uri="{FF2B5EF4-FFF2-40B4-BE49-F238E27FC236}">
                <a16:creationId xmlns:a16="http://schemas.microsoft.com/office/drawing/2014/main" id="{7A4E10B9-619F-4FDC-8151-CCF8FD7A04A0}"/>
              </a:ext>
            </a:extLst>
          </p:cNvPr>
          <p:cNvSpPr>
            <a:spLocks xmlns:a="http://schemas.openxmlformats.org/drawingml/2006/main" noGrp="1"/>
          </p:cNvSpPr>
          <p:nvPr/>
        </p:nvSpPr>
        <p:spPr>
          <a:xfrm xmlns:a="http://schemas.openxmlformats.org/drawingml/2006/main">
            <a:off x="1133856" y="1664208"/>
            <a:ext cx="109728" cy="109728"/>
          </a:xfrm>
          <a:prstGeom xmlns:a="http://schemas.openxmlformats.org/drawingml/2006/main" prst="ellipse">
            <a:avLst/>
          </a:prstGeom>
          <a:solidFill xmlns:a="http://schemas.openxmlformats.org/drawingml/2006/main">
            <a:srgbClr val="8DC63F"/>
          </a:solidFill>
        </p:spPr>
      </p:sp>
      <p:sp>
        <p:nvSpPr>
          <p:cNvPr id="12" name="Text 9">
            <a:extLst xmlns:a="http://schemas.openxmlformats.org/drawingml/2006/main">
              <a:ext uri="{FF2B5EF4-FFF2-40B4-BE49-F238E27FC236}">
                <a16:creationId xmlns:a16="http://schemas.microsoft.com/office/drawing/2014/main" id="{C4727889-A157-4EFE-A317-CA3A79861891}"/>
              </a:ext>
            </a:extLst>
          </p:cNvPr>
          <p:cNvSpPr>
            <a:spLocks xmlns:a="http://schemas.openxmlformats.org/drawingml/2006/main" noGrp="1"/>
          </p:cNvSpPr>
          <p:nvPr/>
        </p:nvSpPr>
        <p:spPr>
          <a:xfrm xmlns:a="http://schemas.openxmlformats.org/drawingml/2006/main">
            <a:off x="4526280" y="1609344"/>
            <a:ext cx="32918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6C8"/>
                </a:solidFill>
                <a:latin typeface="Consolas"/>
                <a:ea typeface="Consolas"/>
                <a:cs typeface="Consolas"/>
              </a:rPr>
              <a:t>Dockerfile — stage 2 of 2</a:t>
            </a:r>
            <a:endParaRPr sz="900"/>
          </a:p>
        </p:txBody>
      </p:sp>
      <p:sp>
        <p:nvSpPr>
          <p:cNvPr id="13" name="Text 10">
            <a:extLst xmlns:a="http://schemas.openxmlformats.org/drawingml/2006/main">
              <a:ext uri="{FF2B5EF4-FFF2-40B4-BE49-F238E27FC236}">
                <a16:creationId xmlns:a16="http://schemas.microsoft.com/office/drawing/2014/main" id="{A7E6A5C3-FF33-4A9A-BAC5-E705FAFF2C96}"/>
              </a:ext>
            </a:extLst>
          </p:cNvPr>
          <p:cNvSpPr>
            <a:spLocks xmlns:a="http://schemas.openxmlformats.org/drawingml/2006/main" noGrp="1"/>
          </p:cNvSpPr>
          <p:nvPr/>
        </p:nvSpPr>
        <p:spPr>
          <a:xfrm xmlns:a="http://schemas.openxmlformats.org/drawingml/2006/main">
            <a:off x="713232" y="1965960"/>
            <a:ext cx="717804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000">
                <a:solidFill>
                  <a:srgbClr val="D9E4F5"/>
                </a:solidFill>
                <a:latin typeface="Consolas"/>
                <a:ea typeface="Consolas"/>
                <a:cs typeface="Consolas"/>
              </a:rPr>
              <a:t># ---------- Stage 2: runtime ----------</a:t>
            </a:r>
            <a:endParaRPr sz="1000"/>
          </a:p>
          <a:p xmlns:a="http://schemas.openxmlformats.org/drawingml/2006/main">
            <a:pPr marL="0" indent="0">
              <a:lnSpc>
                <a:spcPct val="112000"/>
              </a:lnSpc>
              <a:buNone/>
            </a:pPr>
            <a:r>
              <a:rPr sz="1000">
                <a:solidFill>
                  <a:srgbClr val="D9E4F5"/>
                </a:solidFill>
                <a:latin typeface="Consolas"/>
                <a:ea typeface="Consolas"/>
                <a:cs typeface="Consolas"/>
              </a:rPr>
              <a:t>FROM python:3.12-slim AS runtime</a:t>
            </a:r>
            <a:endParaRPr sz="1000"/>
          </a:p>
          <a:p xmlns:a="http://schemas.openxmlformats.org/drawingml/2006/main">
            <a:pPr marL="0" indent="0">
              <a:lnSpc>
                <a:spcPct val="112000"/>
              </a:lnSpc>
              <a:buNone/>
            </a:pPr>
            <a:r>
              <a:rPr sz="1000">
                <a:solidFill>
                  <a:srgbClr val="D9E4F5"/>
                </a:solidFill>
                <a:latin typeface="Consolas"/>
                <a:ea typeface="Consolas"/>
                <a:cs typeface="Consolas"/>
              </a:rPr>
              <a:t>RUN useradd --create-home --uid 10001 appuser</a:t>
            </a:r>
            <a:endParaRPr sz="1000"/>
          </a:p>
          <a:p xmlns:a="http://schemas.openxmlformats.org/drawingml/2006/main">
            <a:pPr marL="0" indent="0">
              <a:lnSpc>
                <a:spcPct val="112000"/>
              </a:lnSpc>
              <a:buNone/>
            </a:pPr>
            <a:r>
              <a:rPr sz="1000">
                <a:solidFill>
                  <a:srgbClr val="D9E4F5"/>
                </a:solidFill>
                <a:latin typeface="Consolas"/>
                <a:ea typeface="Consolas"/>
                <a:cs typeface="Consolas"/>
              </a:rPr>
              <a:t>RUN apt-get update &amp;&amp; apt-get install -y \</a:t>
            </a:r>
            <a:endParaRPr sz="1000"/>
          </a:p>
          <a:p xmlns:a="http://schemas.openxmlformats.org/drawingml/2006/main">
            <a:pPr marL="0" indent="0">
              <a:lnSpc>
                <a:spcPct val="112000"/>
              </a:lnSpc>
              <a:buNone/>
            </a:pPr>
            <a:r>
              <a:rPr sz="1000">
                <a:solidFill>
                  <a:srgbClr val="D9E4F5"/>
                </a:solidFill>
                <a:latin typeface="Consolas"/>
                <a:ea typeface="Consolas"/>
                <a:cs typeface="Consolas"/>
              </a:rPr>
              <a:t>    --no-install-recommends curl \</a:t>
            </a:r>
            <a:endParaRPr sz="1000"/>
          </a:p>
          <a:p xmlns:a="http://schemas.openxmlformats.org/drawingml/2006/main">
            <a:pPr marL="0" indent="0">
              <a:lnSpc>
                <a:spcPct val="112000"/>
              </a:lnSpc>
              <a:buNone/>
            </a:pPr>
            <a:r>
              <a:rPr sz="1000">
                <a:solidFill>
                  <a:srgbClr val="D9E4F5"/>
                </a:solidFill>
                <a:latin typeface="Consolas"/>
                <a:ea typeface="Consolas"/>
                <a:cs typeface="Consolas"/>
              </a:rPr>
              <a:t>    &amp;&amp; rm -rf /var/lib/apt/lists/*</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COPY --from=builder /opt/venv /opt/venv</a:t>
            </a:r>
            <a:endParaRPr sz="1000"/>
          </a:p>
          <a:p xmlns:a="http://schemas.openxmlformats.org/drawingml/2006/main">
            <a:pPr marL="0" indent="0">
              <a:lnSpc>
                <a:spcPct val="112000"/>
              </a:lnSpc>
              <a:buNone/>
            </a:pPr>
            <a:r>
              <a:rPr sz="1000">
                <a:solidFill>
                  <a:srgbClr val="D9E4F5"/>
                </a:solidFill>
                <a:latin typeface="Consolas"/>
                <a:ea typeface="Consolas"/>
                <a:cs typeface="Consolas"/>
              </a:rPr>
              <a:t># 3) Model layer: retrain won't invalidate src cache</a:t>
            </a:r>
            <a:endParaRPr sz="1000"/>
          </a:p>
          <a:p xmlns:a="http://schemas.openxmlformats.org/drawingml/2006/main">
            <a:pPr marL="0" indent="0">
              <a:lnSpc>
                <a:spcPct val="112000"/>
              </a:lnSpc>
              <a:buNone/>
            </a:pPr>
            <a:r>
              <a:rPr sz="1000">
                <a:solidFill>
                  <a:srgbClr val="D9E4F5"/>
                </a:solidFill>
                <a:latin typeface="Consolas"/>
                <a:ea typeface="Consolas"/>
                <a:cs typeface="Consolas"/>
              </a:rPr>
              <a:t>COPY models/fraud_xgb_v3.joblib /models/fraud_xgb_v3.joblib</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ENV PATH="/opt/venv/bin:$PATH" PYTHONUNBUFFERED=1</a:t>
            </a:r>
            <a:endParaRPr sz="1000"/>
          </a:p>
          <a:p xmlns:a="http://schemas.openxmlformats.org/drawingml/2006/main">
            <a:pPr marL="0" indent="0">
              <a:lnSpc>
                <a:spcPct val="112000"/>
              </a:lnSpc>
              <a:buNone/>
            </a:pPr>
            <a:r>
              <a:rPr sz="1000">
                <a:solidFill>
                  <a:srgbClr val="D9E4F5"/>
                </a:solidFill>
                <a:latin typeface="Consolas"/>
                <a:ea typeface="Consolas"/>
                <a:cs typeface="Consolas"/>
              </a:rPr>
              <a:t>USER appuser</a:t>
            </a:r>
            <a:endParaRPr sz="1000"/>
          </a:p>
          <a:p xmlns:a="http://schemas.openxmlformats.org/drawingml/2006/main">
            <a:pPr marL="0" indent="0">
              <a:lnSpc>
                <a:spcPct val="112000"/>
              </a:lnSpc>
              <a:buNone/>
            </a:pPr>
            <a:r>
              <a:rPr sz="1000">
                <a:solidFill>
                  <a:srgbClr val="D9E4F5"/>
                </a:solidFill>
                <a:latin typeface="Consolas"/>
                <a:ea typeface="Consolas"/>
                <a:cs typeface="Consolas"/>
              </a:rPr>
              <a:t>EXPOSE 8000</a:t>
            </a:r>
            <a:endParaRPr sz="1000"/>
          </a:p>
          <a:p xmlns:a="http://schemas.openxmlformats.org/drawingml/2006/main">
            <a:pPr marL="0" indent="0">
              <a:lnSpc>
                <a:spcPct val="112000"/>
              </a:lnSpc>
              <a:buNone/>
            </a:pPr>
            <a:r>
              <a:rPr sz="1000">
                <a:solidFill>
                  <a:srgbClr val="D9E4F5"/>
                </a:solidFill>
                <a:latin typeface="Consolas"/>
                <a:ea typeface="Consolas"/>
                <a:cs typeface="Consolas"/>
              </a:rPr>
              <a:t>HEALTHCHECK --interval=10s --timeout=3s \</a:t>
            </a:r>
            <a:endParaRPr sz="1000"/>
          </a:p>
          <a:p xmlns:a="http://schemas.openxmlformats.org/drawingml/2006/main">
            <a:pPr marL="0" indent="0">
              <a:lnSpc>
                <a:spcPct val="112000"/>
              </a:lnSpc>
              <a:buNone/>
            </a:pPr>
            <a:r>
              <a:rPr sz="1000">
                <a:solidFill>
                  <a:srgbClr val="D9E4F5"/>
                </a:solidFill>
                <a:latin typeface="Consolas"/>
                <a:ea typeface="Consolas"/>
                <a:cs typeface="Consolas"/>
              </a:rPr>
              <a:t>    --start-period=20s --retries=3 \</a:t>
            </a:r>
            <a:endParaRPr sz="1000"/>
          </a:p>
          <a:p xmlns:a="http://schemas.openxmlformats.org/drawingml/2006/main">
            <a:pPr marL="0" indent="0">
              <a:lnSpc>
                <a:spcPct val="112000"/>
              </a:lnSpc>
              <a:buNone/>
            </a:pPr>
            <a:r>
              <a:rPr sz="1000">
                <a:solidFill>
                  <a:srgbClr val="D9E4F5"/>
                </a:solidFill>
                <a:latin typeface="Consolas"/>
                <a:ea typeface="Consolas"/>
                <a:cs typeface="Consolas"/>
              </a:rPr>
              <a:t>    CMD curl -fsS http://localhost:8000/v1/ready || exit 1</a:t>
            </a:r>
            <a:endParaRPr sz="1000"/>
          </a:p>
          <a:p xmlns:a="http://schemas.openxmlformats.org/drawingml/2006/main">
            <a:pPr marL="0" indent="0">
              <a:lnSpc>
                <a:spcPct val="112000"/>
              </a:lnSpc>
              <a:buNone/>
            </a:pPr>
            <a:r>
              <a:rPr sz="1000">
                <a:solidFill>
                  <a:srgbClr val="D9E4F5"/>
                </a:solidFill>
                <a:latin typeface="Consolas"/>
                <a:ea typeface="Consolas"/>
                <a:cs typeface="Consolas"/>
              </a:rPr>
              <a:t>CMD ["uvicorn", "fraud_service.api.app:create_app", \</a:t>
            </a:r>
            <a:endParaRPr sz="1000"/>
          </a:p>
          <a:p xmlns:a="http://schemas.openxmlformats.org/drawingml/2006/main">
            <a:pPr marL="0" indent="0">
              <a:lnSpc>
                <a:spcPct val="112000"/>
              </a:lnSpc>
              <a:buNone/>
            </a:pPr>
            <a:r>
              <a:rPr sz="1000">
                <a:solidFill>
                  <a:srgbClr val="D9E4F5"/>
                </a:solidFill>
                <a:latin typeface="Consolas"/>
                <a:ea typeface="Consolas"/>
                <a:cs typeface="Consolas"/>
              </a:rPr>
              <a:t>     "--factory", "--host", "0.0.0.0", "--port", "8000"]</a:t>
            </a:r>
            <a:endParaRPr sz="1000"/>
          </a:p>
        </p:txBody>
      </p:sp>
      <p:sp>
        <p:nvSpPr>
          <p:cNvPr id="14" name="Shape 11">
            <a:extLst xmlns:a="http://schemas.openxmlformats.org/drawingml/2006/main">
              <a:ext uri="{FF2B5EF4-FFF2-40B4-BE49-F238E27FC236}">
                <a16:creationId xmlns:a16="http://schemas.microsoft.com/office/drawing/2014/main" id="{AA91ABD0-CB9E-47B7-A336-1D2550EEA760}"/>
              </a:ext>
            </a:extLst>
          </p:cNvPr>
          <p:cNvSpPr>
            <a:spLocks xmlns:a="http://schemas.openxmlformats.org/drawingml/2006/main" noGrp="1"/>
          </p:cNvSpPr>
          <p:nvPr/>
        </p:nvSpPr>
        <p:spPr>
          <a:xfrm xmlns:a="http://schemas.openxmlformats.org/drawingml/2006/main">
            <a:off x="8321040" y="1481328"/>
            <a:ext cx="3364992" cy="1017270"/>
          </a:xfrm>
          <a:prstGeom xmlns:a="http://schemas.openxmlformats.org/drawingml/2006/main" prst="roundRect">
            <a:avLst>
              <a:gd name="adj" fmla="val 5393"/>
            </a:avLst>
          </a:prstGeom>
          <a:solidFill xmlns:a="http://schemas.openxmlformats.org/drawingml/2006/main">
            <a:srgbClr val="D4F1EE"/>
          </a:solidFill>
        </p:spPr>
      </p:sp>
      <p:sp>
        <p:nvSpPr>
          <p:cNvPr id="15" name="Text 12">
            <a:extLst xmlns:a="http://schemas.openxmlformats.org/drawingml/2006/main">
              <a:ext uri="{FF2B5EF4-FFF2-40B4-BE49-F238E27FC236}">
                <a16:creationId xmlns:a16="http://schemas.microsoft.com/office/drawing/2014/main" id="{37E92A15-14D8-4AC8-9245-7BC985030890}"/>
              </a:ext>
            </a:extLst>
          </p:cNvPr>
          <p:cNvSpPr>
            <a:spLocks xmlns:a="http://schemas.openxmlformats.org/drawingml/2006/main" noGrp="1"/>
          </p:cNvSpPr>
          <p:nvPr/>
        </p:nvSpPr>
        <p:spPr>
          <a:xfrm xmlns:a="http://schemas.openxmlformats.org/drawingml/2006/main">
            <a:off x="8485632" y="157276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Non-root user</a:t>
            </a:r>
            <a:endParaRPr sz="1050"/>
          </a:p>
        </p:txBody>
      </p:sp>
      <p:sp>
        <p:nvSpPr>
          <p:cNvPr id="16" name="Text 13">
            <a:extLst xmlns:a="http://schemas.openxmlformats.org/drawingml/2006/main">
              <a:ext uri="{FF2B5EF4-FFF2-40B4-BE49-F238E27FC236}">
                <a16:creationId xmlns:a16="http://schemas.microsoft.com/office/drawing/2014/main" id="{1C202AB5-3F2B-4977-A5D6-961FA11EDF54}"/>
              </a:ext>
            </a:extLst>
          </p:cNvPr>
          <p:cNvSpPr>
            <a:spLocks xmlns:a="http://schemas.openxmlformats.org/drawingml/2006/main" noGrp="1"/>
          </p:cNvSpPr>
          <p:nvPr/>
        </p:nvSpPr>
        <p:spPr>
          <a:xfrm xmlns:a="http://schemas.openxmlformats.org/drawingml/2006/main">
            <a:off x="8485632" y="1847088"/>
            <a:ext cx="3063240" cy="5600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USER appuser before CMD — root-in-container is the first thing any security review flags.</a:t>
            </a:r>
            <a:endParaRPr sz="930"/>
          </a:p>
        </p:txBody>
      </p:sp>
      <p:sp>
        <p:nvSpPr>
          <p:cNvPr id="17" name="Shape 14">
            <a:extLst xmlns:a="http://schemas.openxmlformats.org/drawingml/2006/main">
              <a:ext uri="{FF2B5EF4-FFF2-40B4-BE49-F238E27FC236}">
                <a16:creationId xmlns:a16="http://schemas.microsoft.com/office/drawing/2014/main" id="{B36BC49C-93E1-44DB-9AE9-6B56BC24589F}"/>
              </a:ext>
            </a:extLst>
          </p:cNvPr>
          <p:cNvSpPr>
            <a:spLocks xmlns:a="http://schemas.openxmlformats.org/drawingml/2006/main" noGrp="1"/>
          </p:cNvSpPr>
          <p:nvPr/>
        </p:nvSpPr>
        <p:spPr>
          <a:xfrm xmlns:a="http://schemas.openxmlformats.org/drawingml/2006/main">
            <a:off x="8321040" y="2635758"/>
            <a:ext cx="3364992" cy="1017270"/>
          </a:xfrm>
          <a:prstGeom xmlns:a="http://schemas.openxmlformats.org/drawingml/2006/main" prst="roundRect">
            <a:avLst>
              <a:gd name="adj" fmla="val 5393"/>
            </a:avLst>
          </a:prstGeom>
          <a:solidFill xmlns:a="http://schemas.openxmlformats.org/drawingml/2006/main">
            <a:srgbClr val="D9F0FA"/>
          </a:solidFill>
        </p:spPr>
      </p:sp>
      <p:sp>
        <p:nvSpPr>
          <p:cNvPr id="18" name="Text 15">
            <a:extLst xmlns:a="http://schemas.openxmlformats.org/drawingml/2006/main">
              <a:ext uri="{FF2B5EF4-FFF2-40B4-BE49-F238E27FC236}">
                <a16:creationId xmlns:a16="http://schemas.microsoft.com/office/drawing/2014/main" id="{08C4F6C5-4F8C-4C50-8025-41221D1D67F1}"/>
              </a:ext>
            </a:extLst>
          </p:cNvPr>
          <p:cNvSpPr>
            <a:spLocks xmlns:a="http://schemas.openxmlformats.org/drawingml/2006/main" noGrp="1"/>
          </p:cNvSpPr>
          <p:nvPr/>
        </p:nvSpPr>
        <p:spPr>
          <a:xfrm xmlns:a="http://schemas.openxmlformats.org/drawingml/2006/main">
            <a:off x="8485632" y="272719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Healthcheck hits /ready</a:t>
            </a:r>
            <a:endParaRPr sz="1050"/>
          </a:p>
        </p:txBody>
      </p:sp>
      <p:sp>
        <p:nvSpPr>
          <p:cNvPr id="19" name="Text 16">
            <a:extLst xmlns:a="http://schemas.openxmlformats.org/drawingml/2006/main">
              <a:ext uri="{FF2B5EF4-FFF2-40B4-BE49-F238E27FC236}">
                <a16:creationId xmlns:a16="http://schemas.microsoft.com/office/drawing/2014/main" id="{303A0D17-25AA-42D4-AB33-73404C86D67E}"/>
              </a:ext>
            </a:extLst>
          </p:cNvPr>
          <p:cNvSpPr>
            <a:spLocks xmlns:a="http://schemas.openxmlformats.org/drawingml/2006/main" noGrp="1"/>
          </p:cNvSpPr>
          <p:nvPr/>
        </p:nvSpPr>
        <p:spPr>
          <a:xfrm xmlns:a="http://schemas.openxmlformats.org/drawingml/2006/main">
            <a:off x="8485632" y="3001518"/>
            <a:ext cx="3063240" cy="5600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Not /health. start-period=20s covers model load so a warming container isn't marked unhealthy.</a:t>
            </a:r>
            <a:endParaRPr sz="930"/>
          </a:p>
        </p:txBody>
      </p:sp>
      <p:sp>
        <p:nvSpPr>
          <p:cNvPr id="20" name="Shape 17">
            <a:extLst xmlns:a="http://schemas.openxmlformats.org/drawingml/2006/main">
              <a:ext uri="{FF2B5EF4-FFF2-40B4-BE49-F238E27FC236}">
                <a16:creationId xmlns:a16="http://schemas.microsoft.com/office/drawing/2014/main" id="{31711C1B-5FF5-4694-968E-2EC4835A5B3C}"/>
              </a:ext>
            </a:extLst>
          </p:cNvPr>
          <p:cNvSpPr>
            <a:spLocks xmlns:a="http://schemas.openxmlformats.org/drawingml/2006/main" noGrp="1"/>
          </p:cNvSpPr>
          <p:nvPr/>
        </p:nvSpPr>
        <p:spPr>
          <a:xfrm xmlns:a="http://schemas.openxmlformats.org/drawingml/2006/main">
            <a:off x="8321040" y="3790188"/>
            <a:ext cx="3364992" cy="1017270"/>
          </a:xfrm>
          <a:prstGeom xmlns:a="http://schemas.openxmlformats.org/drawingml/2006/main" prst="roundRect">
            <a:avLst>
              <a:gd name="adj" fmla="val 5393"/>
            </a:avLst>
          </a:prstGeom>
          <a:solidFill xmlns:a="http://schemas.openxmlformats.org/drawingml/2006/main">
            <a:srgbClr val="FDEBD7"/>
          </a:solidFill>
        </p:spPr>
      </p:sp>
      <p:sp>
        <p:nvSpPr>
          <p:cNvPr id="21" name="Text 18">
            <a:extLst xmlns:a="http://schemas.openxmlformats.org/drawingml/2006/main">
              <a:ext uri="{FF2B5EF4-FFF2-40B4-BE49-F238E27FC236}">
                <a16:creationId xmlns:a16="http://schemas.microsoft.com/office/drawing/2014/main" id="{C9FEE6D5-94DB-4D06-BFF5-0469F6047080}"/>
              </a:ext>
            </a:extLst>
          </p:cNvPr>
          <p:cNvSpPr>
            <a:spLocks xmlns:a="http://schemas.openxmlformats.org/drawingml/2006/main" noGrp="1"/>
          </p:cNvSpPr>
          <p:nvPr/>
        </p:nvSpPr>
        <p:spPr>
          <a:xfrm xmlns:a="http://schemas.openxmlformats.org/drawingml/2006/main">
            <a:off x="8485632" y="388162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Exec-form CMD = PID 1</a:t>
            </a:r>
            <a:endParaRPr sz="1050"/>
          </a:p>
        </p:txBody>
      </p:sp>
      <p:sp>
        <p:nvSpPr>
          <p:cNvPr id="22" name="Text 19">
            <a:extLst xmlns:a="http://schemas.openxmlformats.org/drawingml/2006/main">
              <a:ext uri="{FF2B5EF4-FFF2-40B4-BE49-F238E27FC236}">
                <a16:creationId xmlns:a16="http://schemas.microsoft.com/office/drawing/2014/main" id="{1C7CFD95-58BB-42FD-9EEA-1270B8159CF9}"/>
              </a:ext>
            </a:extLst>
          </p:cNvPr>
          <p:cNvSpPr>
            <a:spLocks xmlns:a="http://schemas.openxmlformats.org/drawingml/2006/main" noGrp="1"/>
          </p:cNvSpPr>
          <p:nvPr/>
        </p:nvSpPr>
        <p:spPr>
          <a:xfrm xmlns:a="http://schemas.openxmlformats.org/drawingml/2006/main">
            <a:off x="8485632" y="4155948"/>
            <a:ext cx="3063240" cy="5600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uvicorn receives SIGTERM directly → graceful shutdown. Shell form swallows the signal.</a:t>
            </a:r>
            <a:endParaRPr sz="930"/>
          </a:p>
        </p:txBody>
      </p:sp>
      <p:sp>
        <p:nvSpPr>
          <p:cNvPr id="23" name="Shape 20">
            <a:extLst xmlns:a="http://schemas.openxmlformats.org/drawingml/2006/main">
              <a:ext uri="{FF2B5EF4-FFF2-40B4-BE49-F238E27FC236}">
                <a16:creationId xmlns:a16="http://schemas.microsoft.com/office/drawing/2014/main" id="{BB50D26E-42EA-4F38-8D86-DDACFE759C09}"/>
              </a:ext>
            </a:extLst>
          </p:cNvPr>
          <p:cNvSpPr>
            <a:spLocks xmlns:a="http://schemas.openxmlformats.org/drawingml/2006/main" noGrp="1"/>
          </p:cNvSpPr>
          <p:nvPr/>
        </p:nvSpPr>
        <p:spPr>
          <a:xfrm xmlns:a="http://schemas.openxmlformats.org/drawingml/2006/main">
            <a:off x="8321040" y="4944618"/>
            <a:ext cx="3364992" cy="1017270"/>
          </a:xfrm>
          <a:prstGeom xmlns:a="http://schemas.openxmlformats.org/drawingml/2006/main" prst="roundRect">
            <a:avLst>
              <a:gd name="adj" fmla="val 5393"/>
            </a:avLst>
          </a:prstGeom>
          <a:solidFill xmlns:a="http://schemas.openxmlformats.org/drawingml/2006/main">
            <a:srgbClr val="EAF4DC"/>
          </a:solidFill>
        </p:spPr>
      </p:sp>
      <p:sp>
        <p:nvSpPr>
          <p:cNvPr id="24" name="Text 21">
            <a:extLst xmlns:a="http://schemas.openxmlformats.org/drawingml/2006/main">
              <a:ext uri="{FF2B5EF4-FFF2-40B4-BE49-F238E27FC236}">
                <a16:creationId xmlns:a16="http://schemas.microsoft.com/office/drawing/2014/main" id="{5F349DEC-8693-4347-BC73-888BEB3CC5EA}"/>
              </a:ext>
            </a:extLst>
          </p:cNvPr>
          <p:cNvSpPr>
            <a:spLocks xmlns:a="http://schemas.openxmlformats.org/drawingml/2006/main" noGrp="1"/>
          </p:cNvSpPr>
          <p:nvPr/>
        </p:nvSpPr>
        <p:spPr>
          <a:xfrm xmlns:a="http://schemas.openxmlformats.org/drawingml/2006/main">
            <a:off x="8485632" y="503605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Model as its own layer</a:t>
            </a:r>
            <a:endParaRPr sz="1050"/>
          </a:p>
        </p:txBody>
      </p:sp>
      <p:sp>
        <p:nvSpPr>
          <p:cNvPr id="25" name="Text 22">
            <a:extLst xmlns:a="http://schemas.openxmlformats.org/drawingml/2006/main">
              <a:ext uri="{FF2B5EF4-FFF2-40B4-BE49-F238E27FC236}">
                <a16:creationId xmlns:a16="http://schemas.microsoft.com/office/drawing/2014/main" id="{76ADA9D9-F329-43DD-8B0D-1CE5A057613D}"/>
              </a:ext>
            </a:extLst>
          </p:cNvPr>
          <p:cNvSpPr>
            <a:spLocks xmlns:a="http://schemas.openxmlformats.org/drawingml/2006/main" noGrp="1"/>
          </p:cNvSpPr>
          <p:nvPr/>
        </p:nvSpPr>
        <p:spPr>
          <a:xfrm xmlns:a="http://schemas.openxmlformats.org/drawingml/2006/main">
            <a:off x="8485632" y="5310378"/>
            <a:ext cx="3063240" cy="5600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A retrain rebuilds only this layer; a code edit never re-copies the artefact.</a:t>
            </a:r>
            <a:endParaRPr sz="930"/>
          </a:p>
        </p:txBody>
      </p:sp>
    </p:spTree>
    <p:extLst>
      <p:ext uri="{BB962C8B-B14F-4D97-AF65-F5344CB8AC3E}">
        <p14:creationId xmlns:p14="http://schemas.microsoft.com/office/powerpoint/2010/main" val="2083963934"/>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A2E19AC-0306-484F-8C0D-174414FB093A}"/>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Image-size discipline in numbers</a:t>
            </a:r>
            <a:endParaRPr sz="2600"/>
          </a:p>
        </p:txBody>
      </p:sp>
      <p:sp>
        <p:nvSpPr>
          <p:cNvPr id="3" name="Text 1">
            <a:extLst xmlns:a="http://schemas.openxmlformats.org/drawingml/2006/main">
              <a:ext uri="{FF2B5EF4-FFF2-40B4-BE49-F238E27FC236}">
                <a16:creationId xmlns:a16="http://schemas.microsoft.com/office/drawing/2014/main" id="{61AE9F3E-4247-40C0-A844-921DF1352263}"/>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انضباط حجم الصورة بالأرقام</a:t>
            </a:r>
            <a:endParaRPr sz="1300"/>
          </a:p>
        </p:txBody>
      </p:sp>
      <p:pic>
        <p:nvPicPr>
          <p:cNvPr id="32" name="Image 0"/>
          <p:cNvPicPr>
            <a:picLocks xmlns:a="http://schemas.openxmlformats.org/drawingml/2006/main" noChangeAspect="1"/>
          </p:cNvPicPr>
          <p:nvPr/>
        </p:nvPicPr>
        <p:blipFill>
          <a:blip xmlns:r="http://schemas.openxmlformats.org/officeDocument/2006/relationships" xmlns:a="http://schemas.openxmlformats.org/drawingml/2006/main" r:embed="R2de87b7f6cce48cb"/>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CF66CAE9-1A43-4A57-8B74-4BC7FB38E3F1}"/>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DF4B64BD-D098-4D5F-AD8A-C0508AD65083}"/>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3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FE62CB86-A688-4722-BDE4-3DF6E730B2A1}"/>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68</a:t>
            </a:r>
            <a:endParaRPr sz="850"/>
          </a:p>
        </p:txBody>
      </p:sp>
      <p:sp>
        <p:nvSpPr>
          <p:cNvPr id="8" name="Shape 5">
            <a:extLst xmlns:a="http://schemas.openxmlformats.org/drawingml/2006/main">
              <a:ext uri="{FF2B5EF4-FFF2-40B4-BE49-F238E27FC236}">
                <a16:creationId xmlns:a16="http://schemas.microsoft.com/office/drawing/2014/main" id="{8BFED0B8-A7AA-47C5-B3D3-69450FEEF742}"/>
              </a:ext>
            </a:extLst>
          </p:cNvPr>
          <p:cNvSpPr>
            <a:spLocks xmlns:a="http://schemas.openxmlformats.org/drawingml/2006/main" noGrp="1"/>
          </p:cNvSpPr>
          <p:nvPr/>
        </p:nvSpPr>
        <p:spPr>
          <a:xfrm xmlns:a="http://schemas.openxmlformats.org/drawingml/2006/main">
            <a:off x="502920" y="2011680"/>
            <a:ext cx="2555748" cy="3108960"/>
          </a:xfrm>
          <a:prstGeom xmlns:a="http://schemas.openxmlformats.org/drawingml/2006/main" prst="roundRect">
            <a:avLst>
              <a:gd name="adj" fmla="val 2862"/>
            </a:avLst>
          </a:prstGeom>
          <a:solidFill xmlns:a="http://schemas.openxmlformats.org/drawingml/2006/main">
            <a:srgbClr val="EEF3FB"/>
          </a:solidFill>
        </p:spPr>
      </p:sp>
      <p:sp>
        <p:nvSpPr>
          <p:cNvPr id="9" name="Shape 6">
            <a:extLst xmlns:a="http://schemas.openxmlformats.org/drawingml/2006/main">
              <a:ext uri="{FF2B5EF4-FFF2-40B4-BE49-F238E27FC236}">
                <a16:creationId xmlns:a16="http://schemas.microsoft.com/office/drawing/2014/main" id="{3AF2FF06-E2F3-42F3-AFF3-4A741D867567}"/>
              </a:ext>
            </a:extLst>
          </p:cNvPr>
          <p:cNvSpPr>
            <a:spLocks xmlns:a="http://schemas.openxmlformats.org/drawingml/2006/main" noGrp="1"/>
          </p:cNvSpPr>
          <p:nvPr/>
        </p:nvSpPr>
        <p:spPr>
          <a:xfrm xmlns:a="http://schemas.openxmlformats.org/drawingml/2006/main">
            <a:off x="731520" y="2331720"/>
            <a:ext cx="502920" cy="54864"/>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637909F8-5D54-45B6-9965-0C3945F07204}"/>
              </a:ext>
            </a:extLst>
          </p:cNvPr>
          <p:cNvSpPr>
            <a:spLocks xmlns:a="http://schemas.openxmlformats.org/drawingml/2006/main" noGrp="1"/>
          </p:cNvSpPr>
          <p:nvPr/>
        </p:nvSpPr>
        <p:spPr>
          <a:xfrm xmlns:a="http://schemas.openxmlformats.org/drawingml/2006/main">
            <a:off x="685800" y="2514600"/>
            <a:ext cx="2189988"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800" b="1">
                <a:solidFill>
                  <a:srgbClr val="00A79D"/>
                </a:solidFill>
                <a:latin typeface="Calibri"/>
                <a:ea typeface="Calibri"/>
                <a:cs typeface="Calibri"/>
              </a:rPr>
              <a:t>2.41 GB</a:t>
            </a:r>
            <a:endParaRPr sz="3800"/>
          </a:p>
        </p:txBody>
      </p:sp>
      <p:sp>
        <p:nvSpPr>
          <p:cNvPr id="11" name="Text 8">
            <a:extLst xmlns:a="http://schemas.openxmlformats.org/drawingml/2006/main">
              <a:ext uri="{FF2B5EF4-FFF2-40B4-BE49-F238E27FC236}">
                <a16:creationId xmlns:a16="http://schemas.microsoft.com/office/drawing/2014/main" id="{1834BF01-1BB9-482E-9E3A-A150D26FCAEA}"/>
              </a:ext>
            </a:extLst>
          </p:cNvPr>
          <p:cNvSpPr>
            <a:spLocks xmlns:a="http://schemas.openxmlformats.org/drawingml/2006/main" noGrp="1"/>
          </p:cNvSpPr>
          <p:nvPr/>
        </p:nvSpPr>
        <p:spPr>
          <a:xfrm xmlns:a="http://schemas.openxmlformats.org/drawingml/2006/main">
            <a:off x="731520" y="3429000"/>
            <a:ext cx="209854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naive single-stage</a:t>
            </a:r>
            <a:endParaRPr sz="1250"/>
          </a:p>
        </p:txBody>
      </p:sp>
      <p:sp>
        <p:nvSpPr>
          <p:cNvPr id="12" name="Text 9">
            <a:extLst xmlns:a="http://schemas.openxmlformats.org/drawingml/2006/main">
              <a:ext uri="{FF2B5EF4-FFF2-40B4-BE49-F238E27FC236}">
                <a16:creationId xmlns:a16="http://schemas.microsoft.com/office/drawing/2014/main" id="{9AF0E618-9942-4E30-93B0-937965E50E42}"/>
              </a:ext>
            </a:extLst>
          </p:cNvPr>
          <p:cNvSpPr>
            <a:spLocks xmlns:a="http://schemas.openxmlformats.org/drawingml/2006/main" noGrp="1"/>
          </p:cNvSpPr>
          <p:nvPr/>
        </p:nvSpPr>
        <p:spPr>
          <a:xfrm xmlns:a="http://schemas.openxmlformats.org/drawingml/2006/main">
            <a:off x="731520" y="3977640"/>
            <a:ext cx="2098548" cy="960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COPY . . plus full toolchain shipped — 6m12s cold build</a:t>
            </a:r>
            <a:endParaRPr sz="980"/>
          </a:p>
        </p:txBody>
      </p:sp>
      <p:sp>
        <p:nvSpPr>
          <p:cNvPr id="13" name="Shape 10">
            <a:extLst xmlns:a="http://schemas.openxmlformats.org/drawingml/2006/main">
              <a:ext uri="{FF2B5EF4-FFF2-40B4-BE49-F238E27FC236}">
                <a16:creationId xmlns:a16="http://schemas.microsoft.com/office/drawing/2014/main" id="{57DAAB4C-9EE4-442F-9E6E-852B9E29F4F5}"/>
              </a:ext>
            </a:extLst>
          </p:cNvPr>
          <p:cNvSpPr>
            <a:spLocks xmlns:a="http://schemas.openxmlformats.org/drawingml/2006/main" noGrp="1"/>
          </p:cNvSpPr>
          <p:nvPr/>
        </p:nvSpPr>
        <p:spPr>
          <a:xfrm xmlns:a="http://schemas.openxmlformats.org/drawingml/2006/main">
            <a:off x="3378708" y="2011680"/>
            <a:ext cx="2555748" cy="3108960"/>
          </a:xfrm>
          <a:prstGeom xmlns:a="http://schemas.openxmlformats.org/drawingml/2006/main" prst="roundRect">
            <a:avLst>
              <a:gd name="adj" fmla="val 2862"/>
            </a:avLst>
          </a:prstGeom>
          <a:solidFill xmlns:a="http://schemas.openxmlformats.org/drawingml/2006/main">
            <a:srgbClr val="EEF3FB"/>
          </a:solidFill>
        </p:spPr>
      </p:sp>
      <p:sp>
        <p:nvSpPr>
          <p:cNvPr id="14" name="Shape 11">
            <a:extLst xmlns:a="http://schemas.openxmlformats.org/drawingml/2006/main">
              <a:ext uri="{FF2B5EF4-FFF2-40B4-BE49-F238E27FC236}">
                <a16:creationId xmlns:a16="http://schemas.microsoft.com/office/drawing/2014/main" id="{63D4A5AC-1A9D-4AEA-A563-548194C1B8CE}"/>
              </a:ext>
            </a:extLst>
          </p:cNvPr>
          <p:cNvSpPr>
            <a:spLocks xmlns:a="http://schemas.openxmlformats.org/drawingml/2006/main" noGrp="1"/>
          </p:cNvSpPr>
          <p:nvPr/>
        </p:nvSpPr>
        <p:spPr>
          <a:xfrm xmlns:a="http://schemas.openxmlformats.org/drawingml/2006/main">
            <a:off x="3607308" y="2331720"/>
            <a:ext cx="502920" cy="54864"/>
          </a:xfrm>
          <a:prstGeom xmlns:a="http://schemas.openxmlformats.org/drawingml/2006/main" prst="rect">
            <a:avLst/>
          </a:prstGeom>
          <a:solidFill xmlns:a="http://schemas.openxmlformats.org/drawingml/2006/main">
            <a:srgbClr val="29ABE2"/>
          </a:solidFill>
        </p:spPr>
      </p:sp>
      <p:sp>
        <p:nvSpPr>
          <p:cNvPr id="15" name="Text 12">
            <a:extLst xmlns:a="http://schemas.openxmlformats.org/drawingml/2006/main">
              <a:ext uri="{FF2B5EF4-FFF2-40B4-BE49-F238E27FC236}">
                <a16:creationId xmlns:a16="http://schemas.microsoft.com/office/drawing/2014/main" id="{8460288E-14C8-4D7F-8C7B-39AA6B57391E}"/>
              </a:ext>
            </a:extLst>
          </p:cNvPr>
          <p:cNvSpPr>
            <a:spLocks xmlns:a="http://schemas.openxmlformats.org/drawingml/2006/main" noGrp="1"/>
          </p:cNvSpPr>
          <p:nvPr/>
        </p:nvSpPr>
        <p:spPr>
          <a:xfrm xmlns:a="http://schemas.openxmlformats.org/drawingml/2006/main">
            <a:off x="3561588" y="2514600"/>
            <a:ext cx="2189988"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800" b="1">
                <a:solidFill>
                  <a:srgbClr val="29ABE2"/>
                </a:solidFill>
                <a:latin typeface="Calibri"/>
                <a:ea typeface="Calibri"/>
                <a:cs typeface="Calibri"/>
              </a:rPr>
              <a:t>412 MB</a:t>
            </a:r>
            <a:endParaRPr sz="3800"/>
          </a:p>
        </p:txBody>
      </p:sp>
      <p:sp>
        <p:nvSpPr>
          <p:cNvPr id="16" name="Text 13">
            <a:extLst xmlns:a="http://schemas.openxmlformats.org/drawingml/2006/main">
              <a:ext uri="{FF2B5EF4-FFF2-40B4-BE49-F238E27FC236}">
                <a16:creationId xmlns:a16="http://schemas.microsoft.com/office/drawing/2014/main" id="{E420BDDF-C875-4E4B-84E5-5FA9C87C998F}"/>
              </a:ext>
            </a:extLst>
          </p:cNvPr>
          <p:cNvSpPr>
            <a:spLocks xmlns:a="http://schemas.openxmlformats.org/drawingml/2006/main" noGrp="1"/>
          </p:cNvSpPr>
          <p:nvPr/>
        </p:nvSpPr>
        <p:spPr>
          <a:xfrm xmlns:a="http://schemas.openxmlformats.org/drawingml/2006/main">
            <a:off x="3607308" y="3429000"/>
            <a:ext cx="209854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multi-stage slim</a:t>
            </a:r>
            <a:endParaRPr sz="1250"/>
          </a:p>
        </p:txBody>
      </p:sp>
      <p:sp>
        <p:nvSpPr>
          <p:cNvPr id="17" name="Text 14">
            <a:extLst xmlns:a="http://schemas.openxmlformats.org/drawingml/2006/main">
              <a:ext uri="{FF2B5EF4-FFF2-40B4-BE49-F238E27FC236}">
                <a16:creationId xmlns:a16="http://schemas.microsoft.com/office/drawing/2014/main" id="{A3A0C07E-3E8F-44D4-8E46-2C3A5E3EDEE9}"/>
              </a:ext>
            </a:extLst>
          </p:cNvPr>
          <p:cNvSpPr>
            <a:spLocks xmlns:a="http://schemas.openxmlformats.org/drawingml/2006/main" noGrp="1"/>
          </p:cNvSpPr>
          <p:nvPr/>
        </p:nvSpPr>
        <p:spPr>
          <a:xfrm xmlns:a="http://schemas.openxmlformats.org/drawingml/2006/main">
            <a:off x="3607308" y="3977640"/>
            <a:ext cx="2098548" cy="960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22 s warm rebuild — beats the ≤ 450 MB course target</a:t>
            </a:r>
            <a:endParaRPr sz="980"/>
          </a:p>
        </p:txBody>
      </p:sp>
      <p:sp>
        <p:nvSpPr>
          <p:cNvPr id="18" name="Shape 15">
            <a:extLst xmlns:a="http://schemas.openxmlformats.org/drawingml/2006/main">
              <a:ext uri="{FF2B5EF4-FFF2-40B4-BE49-F238E27FC236}">
                <a16:creationId xmlns:a16="http://schemas.microsoft.com/office/drawing/2014/main" id="{4E28D50D-9B6B-4E1E-84A6-E595AEA93D8F}"/>
              </a:ext>
            </a:extLst>
          </p:cNvPr>
          <p:cNvSpPr>
            <a:spLocks xmlns:a="http://schemas.openxmlformats.org/drawingml/2006/main" noGrp="1"/>
          </p:cNvSpPr>
          <p:nvPr/>
        </p:nvSpPr>
        <p:spPr>
          <a:xfrm xmlns:a="http://schemas.openxmlformats.org/drawingml/2006/main">
            <a:off x="6254496" y="2011680"/>
            <a:ext cx="2555748" cy="3108960"/>
          </a:xfrm>
          <a:prstGeom xmlns:a="http://schemas.openxmlformats.org/drawingml/2006/main" prst="roundRect">
            <a:avLst>
              <a:gd name="adj" fmla="val 2862"/>
            </a:avLst>
          </a:prstGeom>
          <a:solidFill xmlns:a="http://schemas.openxmlformats.org/drawingml/2006/main">
            <a:srgbClr val="EEF3FB"/>
          </a:solidFill>
        </p:spPr>
      </p:sp>
      <p:sp>
        <p:nvSpPr>
          <p:cNvPr id="19" name="Shape 16">
            <a:extLst xmlns:a="http://schemas.openxmlformats.org/drawingml/2006/main">
              <a:ext uri="{FF2B5EF4-FFF2-40B4-BE49-F238E27FC236}">
                <a16:creationId xmlns:a16="http://schemas.microsoft.com/office/drawing/2014/main" id="{6E886BF3-F95C-45AB-9329-C906D3C29A47}"/>
              </a:ext>
            </a:extLst>
          </p:cNvPr>
          <p:cNvSpPr>
            <a:spLocks xmlns:a="http://schemas.openxmlformats.org/drawingml/2006/main" noGrp="1"/>
          </p:cNvSpPr>
          <p:nvPr/>
        </p:nvSpPr>
        <p:spPr>
          <a:xfrm xmlns:a="http://schemas.openxmlformats.org/drawingml/2006/main">
            <a:off x="6483096" y="2331720"/>
            <a:ext cx="502920" cy="54864"/>
          </a:xfrm>
          <a:prstGeom xmlns:a="http://schemas.openxmlformats.org/drawingml/2006/main" prst="rect">
            <a:avLst/>
          </a:prstGeom>
          <a:solidFill xmlns:a="http://schemas.openxmlformats.org/drawingml/2006/main">
            <a:srgbClr val="F58220"/>
          </a:solidFill>
        </p:spPr>
      </p:sp>
      <p:sp>
        <p:nvSpPr>
          <p:cNvPr id="20" name="Text 17">
            <a:extLst xmlns:a="http://schemas.openxmlformats.org/drawingml/2006/main">
              <a:ext uri="{FF2B5EF4-FFF2-40B4-BE49-F238E27FC236}">
                <a16:creationId xmlns:a16="http://schemas.microsoft.com/office/drawing/2014/main" id="{7155AE7A-757E-4CF0-9E13-3497AEC6BAEA}"/>
              </a:ext>
            </a:extLst>
          </p:cNvPr>
          <p:cNvSpPr>
            <a:spLocks xmlns:a="http://schemas.openxmlformats.org/drawingml/2006/main" noGrp="1"/>
          </p:cNvSpPr>
          <p:nvPr/>
        </p:nvSpPr>
        <p:spPr>
          <a:xfrm xmlns:a="http://schemas.openxmlformats.org/drawingml/2006/main">
            <a:off x="6437376" y="2514600"/>
            <a:ext cx="2189988"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800" b="1">
                <a:solidFill>
                  <a:srgbClr val="F58220"/>
                </a:solidFill>
                <a:latin typeface="Calibri"/>
                <a:ea typeface="Calibri"/>
                <a:cs typeface="Calibri"/>
              </a:rPr>
              <a:t>6.8 s</a:t>
            </a:r>
            <a:endParaRPr sz="3800"/>
          </a:p>
        </p:txBody>
      </p:sp>
      <p:sp>
        <p:nvSpPr>
          <p:cNvPr id="21" name="Text 18">
            <a:extLst xmlns:a="http://schemas.openxmlformats.org/drawingml/2006/main">
              <a:ext uri="{FF2B5EF4-FFF2-40B4-BE49-F238E27FC236}">
                <a16:creationId xmlns:a16="http://schemas.microsoft.com/office/drawing/2014/main" id="{A5A6DEF8-D251-4F1B-8916-A5F711F8A169}"/>
              </a:ext>
            </a:extLst>
          </p:cNvPr>
          <p:cNvSpPr>
            <a:spLocks xmlns:a="http://schemas.openxmlformats.org/drawingml/2006/main" noGrp="1"/>
          </p:cNvSpPr>
          <p:nvPr/>
        </p:nvSpPr>
        <p:spPr>
          <a:xfrm xmlns:a="http://schemas.openxmlformats.org/drawingml/2006/main">
            <a:off x="6483096" y="3429000"/>
            <a:ext cx="209854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time-to-ready</a:t>
            </a:r>
            <a:endParaRPr sz="1250"/>
          </a:p>
        </p:txBody>
      </p:sp>
      <p:sp>
        <p:nvSpPr>
          <p:cNvPr id="22" name="Text 19">
            <a:extLst xmlns:a="http://schemas.openxmlformats.org/drawingml/2006/main">
              <a:ext uri="{FF2B5EF4-FFF2-40B4-BE49-F238E27FC236}">
                <a16:creationId xmlns:a16="http://schemas.microsoft.com/office/drawing/2014/main" id="{96875427-53BA-4E3F-81D4-0F6D89D7F3BA}"/>
              </a:ext>
            </a:extLst>
          </p:cNvPr>
          <p:cNvSpPr>
            <a:spLocks xmlns:a="http://schemas.openxmlformats.org/drawingml/2006/main" noGrp="1"/>
          </p:cNvSpPr>
          <p:nvPr/>
        </p:nvSpPr>
        <p:spPr>
          <a:xfrm xmlns:a="http://schemas.openxmlformats.org/drawingml/2006/main">
            <a:off x="6483096" y="3977640"/>
            <a:ext cx="2098548" cy="960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start_period covers model load; course target ≤ 10 s</a:t>
            </a:r>
            <a:endParaRPr sz="980"/>
          </a:p>
        </p:txBody>
      </p:sp>
      <p:sp>
        <p:nvSpPr>
          <p:cNvPr id="23" name="Shape 20">
            <a:extLst xmlns:a="http://schemas.openxmlformats.org/drawingml/2006/main">
              <a:ext uri="{FF2B5EF4-FFF2-40B4-BE49-F238E27FC236}">
                <a16:creationId xmlns:a16="http://schemas.microsoft.com/office/drawing/2014/main" id="{09DD3FDD-2CC4-4C0B-9695-23373ACCE2EB}"/>
              </a:ext>
            </a:extLst>
          </p:cNvPr>
          <p:cNvSpPr>
            <a:spLocks xmlns:a="http://schemas.openxmlformats.org/drawingml/2006/main" noGrp="1"/>
          </p:cNvSpPr>
          <p:nvPr/>
        </p:nvSpPr>
        <p:spPr>
          <a:xfrm xmlns:a="http://schemas.openxmlformats.org/drawingml/2006/main">
            <a:off x="9130284" y="2011680"/>
            <a:ext cx="2555748" cy="3108960"/>
          </a:xfrm>
          <a:prstGeom xmlns:a="http://schemas.openxmlformats.org/drawingml/2006/main" prst="roundRect">
            <a:avLst>
              <a:gd name="adj" fmla="val 2862"/>
            </a:avLst>
          </a:prstGeom>
          <a:solidFill xmlns:a="http://schemas.openxmlformats.org/drawingml/2006/main">
            <a:srgbClr val="EEF3FB"/>
          </a:solidFill>
        </p:spPr>
      </p:sp>
      <p:sp>
        <p:nvSpPr>
          <p:cNvPr id="24" name="Shape 21">
            <a:extLst xmlns:a="http://schemas.openxmlformats.org/drawingml/2006/main">
              <a:ext uri="{FF2B5EF4-FFF2-40B4-BE49-F238E27FC236}">
                <a16:creationId xmlns:a16="http://schemas.microsoft.com/office/drawing/2014/main" id="{6043B944-C656-494E-A061-347737E3CC5E}"/>
              </a:ext>
            </a:extLst>
          </p:cNvPr>
          <p:cNvSpPr>
            <a:spLocks xmlns:a="http://schemas.openxmlformats.org/drawingml/2006/main" noGrp="1"/>
          </p:cNvSpPr>
          <p:nvPr/>
        </p:nvSpPr>
        <p:spPr>
          <a:xfrm xmlns:a="http://schemas.openxmlformats.org/drawingml/2006/main">
            <a:off x="9358884" y="2331720"/>
            <a:ext cx="502920" cy="54864"/>
          </a:xfrm>
          <a:prstGeom xmlns:a="http://schemas.openxmlformats.org/drawingml/2006/main" prst="rect">
            <a:avLst/>
          </a:prstGeom>
          <a:solidFill xmlns:a="http://schemas.openxmlformats.org/drawingml/2006/main">
            <a:srgbClr val="8DC63F"/>
          </a:solidFill>
        </p:spPr>
      </p:sp>
      <p:sp>
        <p:nvSpPr>
          <p:cNvPr id="25" name="Text 22">
            <a:extLst xmlns:a="http://schemas.openxmlformats.org/drawingml/2006/main">
              <a:ext uri="{FF2B5EF4-FFF2-40B4-BE49-F238E27FC236}">
                <a16:creationId xmlns:a16="http://schemas.microsoft.com/office/drawing/2014/main" id="{C89A641D-F523-44C2-8CD0-8315EE07099B}"/>
              </a:ext>
            </a:extLst>
          </p:cNvPr>
          <p:cNvSpPr>
            <a:spLocks xmlns:a="http://schemas.openxmlformats.org/drawingml/2006/main" noGrp="1"/>
          </p:cNvSpPr>
          <p:nvPr/>
        </p:nvSpPr>
        <p:spPr>
          <a:xfrm xmlns:a="http://schemas.openxmlformats.org/drawingml/2006/main">
            <a:off x="9313164" y="2514600"/>
            <a:ext cx="2189988"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800" b="1">
                <a:solidFill>
                  <a:srgbClr val="8DC63F"/>
                </a:solidFill>
                <a:latin typeface="Calibri"/>
                <a:ea typeface="Calibri"/>
                <a:cs typeface="Calibri"/>
              </a:rPr>
              <a:t>41 ms</a:t>
            </a:r>
            <a:endParaRPr sz="3800"/>
          </a:p>
        </p:txBody>
      </p:sp>
      <p:sp>
        <p:nvSpPr>
          <p:cNvPr id="26" name="Text 23">
            <a:extLst xmlns:a="http://schemas.openxmlformats.org/drawingml/2006/main">
              <a:ext uri="{FF2B5EF4-FFF2-40B4-BE49-F238E27FC236}">
                <a16:creationId xmlns:a16="http://schemas.microsoft.com/office/drawing/2014/main" id="{99F6BB75-4604-4024-8F63-4C3AF859B169}"/>
              </a:ext>
            </a:extLst>
          </p:cNvPr>
          <p:cNvSpPr>
            <a:spLocks xmlns:a="http://schemas.openxmlformats.org/drawingml/2006/main" noGrp="1"/>
          </p:cNvSpPr>
          <p:nvPr/>
        </p:nvSpPr>
        <p:spPr>
          <a:xfrm xmlns:a="http://schemas.openxmlformats.org/drawingml/2006/main">
            <a:off x="9358884" y="3429000"/>
            <a:ext cx="209854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containerised p99</a:t>
            </a:r>
            <a:endParaRPr sz="1250"/>
          </a:p>
        </p:txBody>
      </p:sp>
      <p:sp>
        <p:nvSpPr>
          <p:cNvPr id="27" name="Text 24">
            <a:extLst xmlns:a="http://schemas.openxmlformats.org/drawingml/2006/main">
              <a:ext uri="{FF2B5EF4-FFF2-40B4-BE49-F238E27FC236}">
                <a16:creationId xmlns:a16="http://schemas.microsoft.com/office/drawing/2014/main" id="{B30D13F0-3CB8-4DC2-8D06-903B5E2CF3F3}"/>
              </a:ext>
            </a:extLst>
          </p:cNvPr>
          <p:cNvSpPr>
            <a:spLocks xmlns:a="http://schemas.openxmlformats.org/drawingml/2006/main" noGrp="1"/>
          </p:cNvSpPr>
          <p:nvPr/>
        </p:nvSpPr>
        <p:spPr>
          <a:xfrm xmlns:a="http://schemas.openxmlformats.org/drawingml/2006/main">
            <a:off x="9358884" y="3977640"/>
            <a:ext cx="2098548" cy="960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vs 38 ms bare-metal — container overhead ≈ nil</a:t>
            </a:r>
            <a:endParaRPr sz="980"/>
          </a:p>
        </p:txBody>
      </p:sp>
      <p:sp>
        <p:nvSpPr>
          <p:cNvPr id="28" name="Text 25">
            <a:extLst xmlns:a="http://schemas.openxmlformats.org/drawingml/2006/main">
              <a:ext uri="{FF2B5EF4-FFF2-40B4-BE49-F238E27FC236}">
                <a16:creationId xmlns:a16="http://schemas.microsoft.com/office/drawing/2014/main" id="{82726B3D-9F70-489E-8BF3-B2E80B7A005D}"/>
              </a:ext>
            </a:extLst>
          </p:cNvPr>
          <p:cNvSpPr>
            <a:spLocks xmlns:a="http://schemas.openxmlformats.org/drawingml/2006/main" noGrp="1"/>
          </p:cNvSpPr>
          <p:nvPr/>
        </p:nvSpPr>
        <p:spPr>
          <a:xfrm xmlns:a="http://schemas.openxmlformats.org/drawingml/2006/main">
            <a:off x="502920" y="5486400"/>
            <a:ext cx="11155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i="1">
                <a:solidFill>
                  <a:srgbClr val="8A96A6"/>
                </a:solidFill>
                <a:latin typeface="Calibri"/>
                <a:ea typeface="Calibri"/>
                <a:cs typeface="Calibri"/>
              </a:rPr>
              <a:t>Lab 3 expected outputs · stretch goal: +ONNX variant at 264 MB, ready in 4.2 s</a:t>
            </a:r>
            <a:endParaRPr sz="900"/>
          </a:p>
        </p:txBody>
      </p:sp>
    </p:spTree>
    <p:extLst>
      <p:ext uri="{BB962C8B-B14F-4D97-AF65-F5344CB8AC3E}">
        <p14:creationId xmlns:p14="http://schemas.microsoft.com/office/powerpoint/2010/main" val="444315573"/>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E9A9B62-6C05-4E30-B4F3-FFB2796AA0CC}"/>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.dockerignore — build-context hygiene</a:t>
            </a:r>
            <a:endParaRPr sz="2600"/>
          </a:p>
        </p:txBody>
      </p:sp>
      <p:sp>
        <p:nvSpPr>
          <p:cNvPr id="3" name="Text 1">
            <a:extLst xmlns:a="http://schemas.openxmlformats.org/drawingml/2006/main">
              <a:ext uri="{FF2B5EF4-FFF2-40B4-BE49-F238E27FC236}">
                <a16:creationId xmlns:a16="http://schemas.microsoft.com/office/drawing/2014/main" id="{B037B4FE-10D0-45AA-8A0A-BA4DF02BC121}"/>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نظافة سياق البناء — ملف التجاهل</a:t>
            </a:r>
            <a:endParaRPr sz="1300"/>
          </a:p>
        </p:txBody>
      </p:sp>
      <p:pic>
        <p:nvPicPr>
          <p:cNvPr id="18" name="Image 0"/>
          <p:cNvPicPr>
            <a:picLocks xmlns:a="http://schemas.openxmlformats.org/drawingml/2006/main" noChangeAspect="1"/>
          </p:cNvPicPr>
          <p:nvPr/>
        </p:nvPicPr>
        <p:blipFill>
          <a:blip xmlns:r="http://schemas.openxmlformats.org/officeDocument/2006/relationships" xmlns:a="http://schemas.openxmlformats.org/drawingml/2006/main" r:embed="R5ab4012ad7944738"/>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7EA9632F-01C4-4BD7-8A50-A2FF0B3E9101}"/>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34793DBF-5D00-4E5E-BA85-127DC3EDBA7F}"/>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3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22482266-2A51-4BFA-AF90-99D2DC6D6661}"/>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69</a:t>
            </a:r>
            <a:endParaRPr sz="850"/>
          </a:p>
        </p:txBody>
      </p:sp>
      <p:sp>
        <p:nvSpPr>
          <p:cNvPr id="8" name="Shape 5">
            <a:extLst xmlns:a="http://schemas.openxmlformats.org/drawingml/2006/main">
              <a:ext uri="{FF2B5EF4-FFF2-40B4-BE49-F238E27FC236}">
                <a16:creationId xmlns:a16="http://schemas.microsoft.com/office/drawing/2014/main" id="{24339394-96C8-4A32-8999-8B8BF3A0A055}"/>
              </a:ext>
            </a:extLst>
          </p:cNvPr>
          <p:cNvSpPr>
            <a:spLocks xmlns:a="http://schemas.openxmlformats.org/drawingml/2006/main" noGrp="1"/>
          </p:cNvSpPr>
          <p:nvPr/>
        </p:nvSpPr>
        <p:spPr>
          <a:xfrm xmlns:a="http://schemas.openxmlformats.org/drawingml/2006/main">
            <a:off x="502920" y="1481328"/>
            <a:ext cx="11183112" cy="4617720"/>
          </a:xfrm>
          <a:prstGeom xmlns:a="http://schemas.openxmlformats.org/drawingml/2006/main" prst="roundRect">
            <a:avLst>
              <a:gd name="adj" fmla="val 1584"/>
            </a:avLst>
          </a:prstGeom>
          <a:solidFill xmlns:a="http://schemas.openxmlformats.org/drawingml/2006/main">
            <a:srgbClr val="1A2233"/>
          </a:solidFill>
        </p:spPr>
      </p:sp>
      <p:sp>
        <p:nvSpPr>
          <p:cNvPr id="9" name="Shape 6">
            <a:extLst xmlns:a="http://schemas.openxmlformats.org/drawingml/2006/main">
              <a:ext uri="{FF2B5EF4-FFF2-40B4-BE49-F238E27FC236}">
                <a16:creationId xmlns:a16="http://schemas.microsoft.com/office/drawing/2014/main" id="{B5EC6FF7-F7F0-4000-BDB6-3CBFF178A1DD}"/>
              </a:ext>
            </a:extLst>
          </p:cNvPr>
          <p:cNvSpPr>
            <a:spLocks xmlns:a="http://schemas.openxmlformats.org/drawingml/2006/main" noGrp="1"/>
          </p:cNvSpPr>
          <p:nvPr/>
        </p:nvSpPr>
        <p:spPr>
          <a:xfrm xmlns:a="http://schemas.openxmlformats.org/drawingml/2006/main">
            <a:off x="731520" y="1664208"/>
            <a:ext cx="109728" cy="109728"/>
          </a:xfrm>
          <a:prstGeom xmlns:a="http://schemas.openxmlformats.org/drawingml/2006/main" prst="ellipse">
            <a:avLst/>
          </a:prstGeom>
          <a:solidFill xmlns:a="http://schemas.openxmlformats.org/drawingml/2006/main">
            <a:srgbClr val="E8503A"/>
          </a:solidFill>
        </p:spPr>
      </p:sp>
      <p:sp>
        <p:nvSpPr>
          <p:cNvPr id="10" name="Shape 7">
            <a:extLst xmlns:a="http://schemas.openxmlformats.org/drawingml/2006/main">
              <a:ext uri="{FF2B5EF4-FFF2-40B4-BE49-F238E27FC236}">
                <a16:creationId xmlns:a16="http://schemas.microsoft.com/office/drawing/2014/main" id="{812E5944-B9F8-473E-A7FA-2BED4D15E4B3}"/>
              </a:ext>
            </a:extLst>
          </p:cNvPr>
          <p:cNvSpPr>
            <a:spLocks xmlns:a="http://schemas.openxmlformats.org/drawingml/2006/main" noGrp="1"/>
          </p:cNvSpPr>
          <p:nvPr/>
        </p:nvSpPr>
        <p:spPr>
          <a:xfrm xmlns:a="http://schemas.openxmlformats.org/drawingml/2006/main">
            <a:off x="932688" y="1664208"/>
            <a:ext cx="109728" cy="109728"/>
          </a:xfrm>
          <a:prstGeom xmlns:a="http://schemas.openxmlformats.org/drawingml/2006/main" prst="ellipse">
            <a:avLst/>
          </a:prstGeom>
          <a:solidFill xmlns:a="http://schemas.openxmlformats.org/drawingml/2006/main">
            <a:srgbClr val="F5B820"/>
          </a:solidFill>
        </p:spPr>
      </p:sp>
      <p:sp>
        <p:nvSpPr>
          <p:cNvPr id="11" name="Shape 8">
            <a:extLst xmlns:a="http://schemas.openxmlformats.org/drawingml/2006/main">
              <a:ext uri="{FF2B5EF4-FFF2-40B4-BE49-F238E27FC236}">
                <a16:creationId xmlns:a16="http://schemas.microsoft.com/office/drawing/2014/main" id="{61B4B861-DE0F-4C70-92FF-21C4262DB295}"/>
              </a:ext>
            </a:extLst>
          </p:cNvPr>
          <p:cNvSpPr>
            <a:spLocks xmlns:a="http://schemas.openxmlformats.org/drawingml/2006/main" noGrp="1"/>
          </p:cNvSpPr>
          <p:nvPr/>
        </p:nvSpPr>
        <p:spPr>
          <a:xfrm xmlns:a="http://schemas.openxmlformats.org/drawingml/2006/main">
            <a:off x="1133856" y="1664208"/>
            <a:ext cx="109728" cy="109728"/>
          </a:xfrm>
          <a:prstGeom xmlns:a="http://schemas.openxmlformats.org/drawingml/2006/main" prst="ellipse">
            <a:avLst/>
          </a:prstGeom>
          <a:solidFill xmlns:a="http://schemas.openxmlformats.org/drawingml/2006/main">
            <a:srgbClr val="8DC63F"/>
          </a:solidFill>
        </p:spPr>
      </p:sp>
      <p:sp>
        <p:nvSpPr>
          <p:cNvPr id="12" name="Text 9">
            <a:extLst xmlns:a="http://schemas.openxmlformats.org/drawingml/2006/main">
              <a:ext uri="{FF2B5EF4-FFF2-40B4-BE49-F238E27FC236}">
                <a16:creationId xmlns:a16="http://schemas.microsoft.com/office/drawing/2014/main" id="{ADAD8429-D62B-42EA-AA5D-261654749B9C}"/>
              </a:ext>
            </a:extLst>
          </p:cNvPr>
          <p:cNvSpPr>
            <a:spLocks xmlns:a="http://schemas.openxmlformats.org/drawingml/2006/main" noGrp="1"/>
          </p:cNvSpPr>
          <p:nvPr/>
        </p:nvSpPr>
        <p:spPr>
          <a:xfrm xmlns:a="http://schemas.openxmlformats.org/drawingml/2006/main">
            <a:off x="8074152" y="1609344"/>
            <a:ext cx="32918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6C8"/>
                </a:solidFill>
                <a:latin typeface="Consolas"/>
                <a:ea typeface="Consolas"/>
                <a:cs typeface="Consolas"/>
              </a:rPr>
              <a:t>.dockerignore</a:t>
            </a:r>
            <a:endParaRPr sz="900"/>
          </a:p>
        </p:txBody>
      </p:sp>
      <p:sp>
        <p:nvSpPr>
          <p:cNvPr id="13" name="Text 10">
            <a:extLst xmlns:a="http://schemas.openxmlformats.org/drawingml/2006/main">
              <a:ext uri="{FF2B5EF4-FFF2-40B4-BE49-F238E27FC236}">
                <a16:creationId xmlns:a16="http://schemas.microsoft.com/office/drawing/2014/main" id="{8A8B0F4E-E473-4537-ADFD-3BF70A6489A9}"/>
              </a:ext>
            </a:extLst>
          </p:cNvPr>
          <p:cNvSpPr>
            <a:spLocks xmlns:a="http://schemas.openxmlformats.org/drawingml/2006/main" noGrp="1"/>
          </p:cNvSpPr>
          <p:nvPr/>
        </p:nvSpPr>
        <p:spPr>
          <a:xfrm xmlns:a="http://schemas.openxmlformats.org/drawingml/2006/main">
            <a:off x="713232" y="1965960"/>
            <a:ext cx="10725912"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100">
                <a:solidFill>
                  <a:srgbClr val="D9E4F5"/>
                </a:solidFill>
                <a:latin typeface="Consolas"/>
                <a:ea typeface="Consolas"/>
                <a:cs typeface="Consolas"/>
              </a:rPr>
              <a:t># Build context hygiene: what Docker never needs to see</a:t>
            </a:r>
            <a:endParaRPr sz="1100"/>
          </a:p>
          <a:p xmlns:a="http://schemas.openxmlformats.org/drawingml/2006/main">
            <a:pPr marL="0" indent="0">
              <a:lnSpc>
                <a:spcPct val="112000"/>
              </a:lnSpc>
              <a:buNone/>
            </a:pPr>
            <a:r>
              <a:rPr sz="1100">
                <a:solidFill>
                  <a:srgbClr val="D9E4F5"/>
                </a:solidFill>
                <a:latin typeface="Consolas"/>
                <a:ea typeface="Consolas"/>
                <a:cs typeface="Consolas"/>
              </a:rPr>
              <a:t>.git</a:t>
            </a:r>
            <a:endParaRPr sz="1100"/>
          </a:p>
          <a:p xmlns:a="http://schemas.openxmlformats.org/drawingml/2006/main">
            <a:pPr marL="0" indent="0">
              <a:lnSpc>
                <a:spcPct val="112000"/>
              </a:lnSpc>
              <a:buNone/>
            </a:pPr>
            <a:r>
              <a:rPr sz="1100">
                <a:solidFill>
                  <a:srgbClr val="D9E4F5"/>
                </a:solidFill>
                <a:latin typeface="Consolas"/>
                <a:ea typeface="Consolas"/>
                <a:cs typeface="Consolas"/>
              </a:rPr>
              <a:t>.venv</a:t>
            </a:r>
            <a:endParaRPr sz="1100"/>
          </a:p>
          <a:p xmlns:a="http://schemas.openxmlformats.org/drawingml/2006/main">
            <a:pPr marL="0" indent="0">
              <a:lnSpc>
                <a:spcPct val="112000"/>
              </a:lnSpc>
              <a:buNone/>
            </a:pPr>
            <a:r>
              <a:rPr sz="1100">
                <a:solidFill>
                  <a:srgbClr val="D9E4F5"/>
                </a:solidFill>
                <a:latin typeface="Consolas"/>
                <a:ea typeface="Consolas"/>
                <a:cs typeface="Consolas"/>
              </a:rPr>
              <a:t>__pycache__/</a:t>
            </a:r>
            <a:endParaRPr sz="1100"/>
          </a:p>
          <a:p xmlns:a="http://schemas.openxmlformats.org/drawingml/2006/main">
            <a:pPr marL="0" indent="0">
              <a:lnSpc>
                <a:spcPct val="112000"/>
              </a:lnSpc>
              <a:buNone/>
            </a:pPr>
            <a:r>
              <a:rPr sz="1100">
                <a:solidFill>
                  <a:srgbClr val="D9E4F5"/>
                </a:solidFill>
                <a:latin typeface="Consolas"/>
                <a:ea typeface="Consolas"/>
                <a:cs typeface="Consolas"/>
              </a:rPr>
              <a:t>*.pyc</a:t>
            </a:r>
            <a:endParaRPr sz="1100"/>
          </a:p>
          <a:p xmlns:a="http://schemas.openxmlformats.org/drawingml/2006/main">
            <a:pPr marL="0" indent="0">
              <a:lnSpc>
                <a:spcPct val="112000"/>
              </a:lnSpc>
              <a:buNone/>
            </a:pPr>
            <a:r>
              <a:rPr sz="1100">
                <a:solidFill>
                  <a:srgbClr val="D9E4F5"/>
                </a:solidFill>
                <a:latin typeface="Consolas"/>
                <a:ea typeface="Consolas"/>
                <a:cs typeface="Consolas"/>
              </a:rPr>
              <a:t>tests/</a:t>
            </a:r>
            <a:endParaRPr sz="1100"/>
          </a:p>
          <a:p xmlns:a="http://schemas.openxmlformats.org/drawingml/2006/main">
            <a:pPr marL="0" indent="0">
              <a:lnSpc>
                <a:spcPct val="112000"/>
              </a:lnSpc>
              <a:buNone/>
            </a:pPr>
            <a:r>
              <a:rPr sz="1100">
                <a:solidFill>
                  <a:srgbClr val="D9E4F5"/>
                </a:solidFill>
                <a:latin typeface="Consolas"/>
                <a:ea typeface="Consolas"/>
                <a:cs typeface="Consolas"/>
              </a:rPr>
              <a:t>data/</a:t>
            </a:r>
            <a:endParaRPr sz="1100"/>
          </a:p>
          <a:p xmlns:a="http://schemas.openxmlformats.org/drawingml/2006/main">
            <a:pPr marL="0" indent="0">
              <a:lnSpc>
                <a:spcPct val="112000"/>
              </a:lnSpc>
              <a:buNone/>
            </a:pPr>
            <a:r>
              <a:rPr sz="1100">
                <a:solidFill>
                  <a:srgbClr val="D9E4F5"/>
                </a:solidFill>
                <a:latin typeface="Consolas"/>
                <a:ea typeface="Consolas"/>
                <a:cs typeface="Consolas"/>
              </a:rPr>
              <a:t>notebooks/</a:t>
            </a:r>
            <a:endParaRPr sz="1100"/>
          </a:p>
          <a:p xmlns:a="http://schemas.openxmlformats.org/drawingml/2006/main">
            <a:pPr marL="0" indent="0">
              <a:lnSpc>
                <a:spcPct val="112000"/>
              </a:lnSpc>
              <a:buNone/>
            </a:pPr>
            <a:r>
              <a:rPr sz="1100">
                <a:solidFill>
                  <a:srgbClr val="D9E4F5"/>
                </a:solidFill>
                <a:latin typeface="Consolas"/>
                <a:ea typeface="Consolas"/>
                <a:cs typeface="Consolas"/>
              </a:rPr>
              <a:t>.env            # CRITICAL: secrets must never enter the build context</a:t>
            </a:r>
            <a:endParaRPr sz="1100"/>
          </a:p>
          <a:p xmlns:a="http://schemas.openxmlformats.org/drawingml/2006/main">
            <a:pPr marL="0" indent="0">
              <a:lnSpc>
                <a:spcPct val="112000"/>
              </a:lnSpc>
              <a:buNone/>
            </a:pPr>
            <a:r>
              <a:rPr sz="1100">
                <a:solidFill>
                  <a:srgbClr val="D9E4F5"/>
                </a:solidFill>
                <a:latin typeface="Consolas"/>
                <a:ea typeface="Consolas"/>
                <a:cs typeface="Consolas"/>
              </a:rPr>
              <a:t>*.md</a:t>
            </a:r>
            <a:endParaRPr sz="1100"/>
          </a:p>
          <a:p xmlns:a="http://schemas.openxmlformats.org/drawingml/2006/main">
            <a:pPr marL="0" indent="0">
              <a:lnSpc>
                <a:spcPct val="112000"/>
              </a:lnSpc>
              <a:buNone/>
            </a:pPr>
            <a:r>
              <a:rPr sz="1100">
                <a:solidFill>
                  <a:srgbClr val="D9E4F5"/>
                </a:solidFill>
                <a:latin typeface="Consolas"/>
                <a:ea typeface="Consolas"/>
                <a:cs typeface="Consolas"/>
              </a:rPr>
              <a:t>!README.md</a:t>
            </a:r>
            <a:endParaRPr sz="1100"/>
          </a:p>
          <a:p xmlns:a="http://schemas.openxmlformats.org/drawingml/2006/main">
            <a:pPr marL="0" indent="0">
              <a:lnSpc>
                <a:spcPct val="112000"/>
              </a:lnSpc>
              <a:buNone/>
            </a:pPr>
            <a:r>
              <a:rPr sz="1100">
                <a:solidFill>
                  <a:srgbClr val="D9E4F5"/>
                </a:solidFill>
                <a:latin typeface="Consolas"/>
                <a:ea typeface="Consolas"/>
                <a:cs typeface="Consolas"/>
              </a:rPr>
              <a:t>.github/</a:t>
            </a:r>
            <a:endParaRPr sz="1100"/>
          </a:p>
          <a:p xmlns:a="http://schemas.openxmlformats.org/drawingml/2006/main">
            <a:pPr marL="0" indent="0">
              <a:lnSpc>
                <a:spcPct val="112000"/>
              </a:lnSpc>
              <a:buNone/>
            </a:pPr>
            <a:r>
              <a:rPr sz="1100">
                <a:solidFill>
                  <a:srgbClr val="D9E4F5"/>
                </a:solidFill>
                <a:latin typeface="Consolas"/>
                <a:ea typeface="Consolas"/>
                <a:cs typeface="Consolas"/>
              </a:rPr>
              <a:t>.pytest_cache</a:t>
            </a:r>
            <a:endParaRPr sz="1100"/>
          </a:p>
          <a:p xmlns:a="http://schemas.openxmlformats.org/drawingml/2006/main">
            <a:pPr marL="0" indent="0">
              <a:lnSpc>
                <a:spcPct val="112000"/>
              </a:lnSpc>
              <a:buNone/>
            </a:pPr>
            <a:r>
              <a:rPr sz="1100">
                <a:solidFill>
                  <a:srgbClr val="D9E4F5"/>
                </a:solidFill>
                <a:latin typeface="Consolas"/>
                <a:ea typeface="Consolas"/>
                <a:cs typeface="Consolas"/>
              </a:rPr>
              <a:t>.ruff_cache</a:t>
            </a:r>
            <a:endParaRPr sz="1100"/>
          </a:p>
        </p:txBody>
      </p:sp>
      <p:sp>
        <p:nvSpPr>
          <p:cNvPr id="14" name="Text 11">
            <a:extLst xmlns:a="http://schemas.openxmlformats.org/drawingml/2006/main">
              <a:ext uri="{FF2B5EF4-FFF2-40B4-BE49-F238E27FC236}">
                <a16:creationId xmlns:a16="http://schemas.microsoft.com/office/drawing/2014/main" id="{E36FDFCA-47B2-4C15-8C56-91353205D974}"/>
              </a:ext>
            </a:extLst>
          </p:cNvPr>
          <p:cNvSpPr>
            <a:spLocks xmlns:a="http://schemas.openxmlformats.org/drawingml/2006/main" noGrp="1"/>
          </p:cNvSpPr>
          <p:nvPr/>
        </p:nvSpPr>
        <p:spPr>
          <a:xfrm xmlns:a="http://schemas.openxmlformats.org/drawingml/2006/main">
            <a:off x="502920" y="6144768"/>
            <a:ext cx="1115568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5F6B7A"/>
                </a:solidFill>
                <a:latin typeface="Calibri"/>
                <a:ea typeface="Calibri"/>
                <a:cs typeface="Calibri"/>
              </a:rPr>
              <a:t>No .dockerignore → a 1.2 GB build context with .git, datasets and venvs — slow builds and accidental secret inclusion.</a:t>
            </a:r>
            <a:endParaRPr sz="950"/>
          </a:p>
        </p:txBody>
      </p:sp>
    </p:spTree>
    <p:extLst>
      <p:ext uri="{BB962C8B-B14F-4D97-AF65-F5344CB8AC3E}">
        <p14:creationId xmlns:p14="http://schemas.microsoft.com/office/powerpoint/2010/main" val="1200377410"/>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058901F-E8B3-4A84-8683-91E72CF22B2D}"/>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Runtime hygiene checklist</a:t>
            </a:r>
            <a:endParaRPr sz="2600"/>
          </a:p>
        </p:txBody>
      </p:sp>
      <p:sp>
        <p:nvSpPr>
          <p:cNvPr id="3" name="Text 1">
            <a:extLst xmlns:a="http://schemas.openxmlformats.org/drawingml/2006/main">
              <a:ext uri="{FF2B5EF4-FFF2-40B4-BE49-F238E27FC236}">
                <a16:creationId xmlns:a16="http://schemas.microsoft.com/office/drawing/2014/main" id="{2FB485AF-6697-4D30-9D6A-4E0605909606}"/>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قائمة نظافة التشغيل</a:t>
            </a:r>
            <a:endParaRPr sz="1300"/>
          </a:p>
        </p:txBody>
      </p:sp>
      <p:pic>
        <p:nvPicPr>
          <p:cNvPr id="41" name="Image 0"/>
          <p:cNvPicPr>
            <a:picLocks xmlns:a="http://schemas.openxmlformats.org/drawingml/2006/main" noChangeAspect="1"/>
          </p:cNvPicPr>
          <p:nvPr/>
        </p:nvPicPr>
        <p:blipFill>
          <a:blip xmlns:r="http://schemas.openxmlformats.org/officeDocument/2006/relationships" xmlns:a="http://schemas.openxmlformats.org/drawingml/2006/main" r:embed="Rb4657b25d52c4e8d"/>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0E973144-52E6-4DB7-9335-9975E6301C22}"/>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843C3E41-AB1D-4004-BB6A-51E08B4E0878}"/>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3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F8CB82B5-AC6F-4AA0-851B-61933D9327A5}"/>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70</a:t>
            </a:r>
            <a:endParaRPr sz="850"/>
          </a:p>
        </p:txBody>
      </p:sp>
      <p:sp>
        <p:nvSpPr>
          <p:cNvPr id="8" name="Shape 5">
            <a:extLst xmlns:a="http://schemas.openxmlformats.org/drawingml/2006/main">
              <a:ext uri="{FF2B5EF4-FFF2-40B4-BE49-F238E27FC236}">
                <a16:creationId xmlns:a16="http://schemas.microsoft.com/office/drawing/2014/main" id="{A3B8BC8A-0E79-4659-88B1-CF71F8E6BF28}"/>
              </a:ext>
            </a:extLst>
          </p:cNvPr>
          <p:cNvSpPr>
            <a:spLocks xmlns:a="http://schemas.openxmlformats.org/drawingml/2006/main" noGrp="1"/>
          </p:cNvSpPr>
          <p:nvPr/>
        </p:nvSpPr>
        <p:spPr>
          <a:xfrm xmlns:a="http://schemas.openxmlformats.org/drawingml/2006/main">
            <a:off x="502920" y="1517904"/>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861EB81F-5B90-4467-AD63-290472087C61}"/>
              </a:ext>
            </a:extLst>
          </p:cNvPr>
          <p:cNvSpPr>
            <a:spLocks xmlns:a="http://schemas.openxmlformats.org/drawingml/2006/main" noGrp="1"/>
          </p:cNvSpPr>
          <p:nvPr/>
        </p:nvSpPr>
        <p:spPr>
          <a:xfrm xmlns:a="http://schemas.openxmlformats.org/drawingml/2006/main">
            <a:off x="502920" y="1517904"/>
            <a:ext cx="82296" cy="2272284"/>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543281B3-D6DE-468F-80D4-B5A902F9C190}"/>
              </a:ext>
            </a:extLst>
          </p:cNvPr>
          <p:cNvSpPr>
            <a:spLocks xmlns:a="http://schemas.openxmlformats.org/drawingml/2006/main" noGrp="1"/>
          </p:cNvSpPr>
          <p:nvPr/>
        </p:nvSpPr>
        <p:spPr>
          <a:xfrm xmlns:a="http://schemas.openxmlformats.org/drawingml/2006/main">
            <a:off x="722376" y="1636776"/>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00A79D"/>
                </a:solidFill>
                <a:latin typeface="Calibri"/>
                <a:ea typeface="Calibri"/>
                <a:cs typeface="Calibri"/>
              </a:rPr>
              <a:t>USER</a:t>
            </a:r>
            <a:endParaRPr sz="900"/>
          </a:p>
        </p:txBody>
      </p:sp>
      <p:sp>
        <p:nvSpPr>
          <p:cNvPr id="11" name="Text 8">
            <a:extLst xmlns:a="http://schemas.openxmlformats.org/drawingml/2006/main">
              <a:ext uri="{FF2B5EF4-FFF2-40B4-BE49-F238E27FC236}">
                <a16:creationId xmlns:a16="http://schemas.microsoft.com/office/drawing/2014/main" id="{477A221B-A4DC-4954-B3E8-3711D616F46E}"/>
              </a:ext>
            </a:extLst>
          </p:cNvPr>
          <p:cNvSpPr>
            <a:spLocks xmlns:a="http://schemas.openxmlformats.org/drawingml/2006/main" noGrp="1"/>
          </p:cNvSpPr>
          <p:nvPr/>
        </p:nvSpPr>
        <p:spPr>
          <a:xfrm xmlns:a="http://schemas.openxmlformats.org/drawingml/2006/main">
            <a:off x="722376" y="1883664"/>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Non-root or nothing</a:t>
            </a:r>
            <a:endParaRPr sz="1250"/>
          </a:p>
        </p:txBody>
      </p:sp>
      <p:sp>
        <p:nvSpPr>
          <p:cNvPr id="12" name="Text 9">
            <a:extLst xmlns:a="http://schemas.openxmlformats.org/drawingml/2006/main">
              <a:ext uri="{FF2B5EF4-FFF2-40B4-BE49-F238E27FC236}">
                <a16:creationId xmlns:a16="http://schemas.microsoft.com/office/drawing/2014/main" id="{1A600281-5DFF-4C22-B709-7C992FBD99D4}"/>
              </a:ext>
            </a:extLst>
          </p:cNvPr>
          <p:cNvSpPr>
            <a:spLocks xmlns:a="http://schemas.openxmlformats.org/drawingml/2006/main" noGrp="1"/>
          </p:cNvSpPr>
          <p:nvPr/>
        </p:nvSpPr>
        <p:spPr>
          <a:xfrm xmlns:a="http://schemas.openxmlformats.org/drawingml/2006/main">
            <a:off x="722376" y="2404872"/>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useradd appuser; USER before CMD. Root-in-container is the first flag in any security review.</a:t>
            </a:r>
            <a:endParaRPr sz="980"/>
          </a:p>
        </p:txBody>
      </p:sp>
      <p:sp>
        <p:nvSpPr>
          <p:cNvPr id="13" name="Shape 10">
            <a:extLst xmlns:a="http://schemas.openxmlformats.org/drawingml/2006/main">
              <a:ext uri="{FF2B5EF4-FFF2-40B4-BE49-F238E27FC236}">
                <a16:creationId xmlns:a16="http://schemas.microsoft.com/office/drawing/2014/main" id="{C6E611C1-7C55-4949-8876-B311CBFCCD83}"/>
              </a:ext>
            </a:extLst>
          </p:cNvPr>
          <p:cNvSpPr>
            <a:spLocks xmlns:a="http://schemas.openxmlformats.org/drawingml/2006/main" noGrp="1"/>
          </p:cNvSpPr>
          <p:nvPr/>
        </p:nvSpPr>
        <p:spPr>
          <a:xfrm xmlns:a="http://schemas.openxmlformats.org/drawingml/2006/main">
            <a:off x="4322064" y="1517904"/>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14" name="Shape 11">
            <a:extLst xmlns:a="http://schemas.openxmlformats.org/drawingml/2006/main">
              <a:ext uri="{FF2B5EF4-FFF2-40B4-BE49-F238E27FC236}">
                <a16:creationId xmlns:a16="http://schemas.microsoft.com/office/drawing/2014/main" id="{C0937B1D-BFF4-41FB-9EE7-C0A524592147}"/>
              </a:ext>
            </a:extLst>
          </p:cNvPr>
          <p:cNvSpPr>
            <a:spLocks xmlns:a="http://schemas.openxmlformats.org/drawingml/2006/main" noGrp="1"/>
          </p:cNvSpPr>
          <p:nvPr/>
        </p:nvSpPr>
        <p:spPr>
          <a:xfrm xmlns:a="http://schemas.openxmlformats.org/drawingml/2006/main">
            <a:off x="4322064" y="1517904"/>
            <a:ext cx="82296" cy="2272284"/>
          </a:xfrm>
          <a:prstGeom xmlns:a="http://schemas.openxmlformats.org/drawingml/2006/main" prst="rect">
            <a:avLst/>
          </a:prstGeom>
          <a:solidFill xmlns:a="http://schemas.openxmlformats.org/drawingml/2006/main">
            <a:srgbClr val="29ABE2"/>
          </a:solidFill>
        </p:spPr>
      </p:sp>
      <p:sp>
        <p:nvSpPr>
          <p:cNvPr id="15" name="Text 12">
            <a:extLst xmlns:a="http://schemas.openxmlformats.org/drawingml/2006/main">
              <a:ext uri="{FF2B5EF4-FFF2-40B4-BE49-F238E27FC236}">
                <a16:creationId xmlns:a16="http://schemas.microsoft.com/office/drawing/2014/main" id="{030B7F45-1ED4-4898-B7B4-2193B580545D}"/>
              </a:ext>
            </a:extLst>
          </p:cNvPr>
          <p:cNvSpPr>
            <a:spLocks xmlns:a="http://schemas.openxmlformats.org/drawingml/2006/main" noGrp="1"/>
          </p:cNvSpPr>
          <p:nvPr/>
        </p:nvSpPr>
        <p:spPr>
          <a:xfrm xmlns:a="http://schemas.openxmlformats.org/drawingml/2006/main">
            <a:off x="4541520" y="1636776"/>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29ABE2"/>
                </a:solidFill>
                <a:latin typeface="Calibri"/>
                <a:ea typeface="Calibri"/>
                <a:cs typeface="Calibri"/>
              </a:rPr>
              <a:t>INSTALLS</a:t>
            </a:r>
            <a:endParaRPr sz="900"/>
          </a:p>
        </p:txBody>
      </p:sp>
      <p:sp>
        <p:nvSpPr>
          <p:cNvPr id="16" name="Text 13">
            <a:extLst xmlns:a="http://schemas.openxmlformats.org/drawingml/2006/main">
              <a:ext uri="{FF2B5EF4-FFF2-40B4-BE49-F238E27FC236}">
                <a16:creationId xmlns:a16="http://schemas.microsoft.com/office/drawing/2014/main" id="{83E4C147-9718-4405-80CC-64FC3CCCD59E}"/>
              </a:ext>
            </a:extLst>
          </p:cNvPr>
          <p:cNvSpPr>
            <a:spLocks xmlns:a="http://schemas.openxmlformats.org/drawingml/2006/main" noGrp="1"/>
          </p:cNvSpPr>
          <p:nvPr/>
        </p:nvSpPr>
        <p:spPr>
          <a:xfrm xmlns:a="http://schemas.openxmlformats.org/drawingml/2006/main">
            <a:off x="4541520" y="1883664"/>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Deterministic installs</a:t>
            </a:r>
            <a:endParaRPr sz="1250"/>
          </a:p>
        </p:txBody>
      </p:sp>
      <p:sp>
        <p:nvSpPr>
          <p:cNvPr id="17" name="Text 14">
            <a:extLst xmlns:a="http://schemas.openxmlformats.org/drawingml/2006/main">
              <a:ext uri="{FF2B5EF4-FFF2-40B4-BE49-F238E27FC236}">
                <a16:creationId xmlns:a16="http://schemas.microsoft.com/office/drawing/2014/main" id="{143389F6-7F5F-45C6-98D3-62EA00115F92}"/>
              </a:ext>
            </a:extLst>
          </p:cNvPr>
          <p:cNvSpPr>
            <a:spLocks xmlns:a="http://schemas.openxmlformats.org/drawingml/2006/main" noGrp="1"/>
          </p:cNvSpPr>
          <p:nvPr/>
        </p:nvSpPr>
        <p:spPr>
          <a:xfrm xmlns:a="http://schemas.openxmlformats.org/drawingml/2006/main">
            <a:off x="4541520" y="2404872"/>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pip install --no-cache-dir -r requirements.lock — lock files inside images = reproducible images.</a:t>
            </a:r>
            <a:endParaRPr sz="980"/>
          </a:p>
        </p:txBody>
      </p:sp>
      <p:sp>
        <p:nvSpPr>
          <p:cNvPr id="18" name="Shape 15">
            <a:extLst xmlns:a="http://schemas.openxmlformats.org/drawingml/2006/main">
              <a:ext uri="{FF2B5EF4-FFF2-40B4-BE49-F238E27FC236}">
                <a16:creationId xmlns:a16="http://schemas.microsoft.com/office/drawing/2014/main" id="{B621DC89-0C71-439D-B31C-00C1B67F7E35}"/>
              </a:ext>
            </a:extLst>
          </p:cNvPr>
          <p:cNvSpPr>
            <a:spLocks xmlns:a="http://schemas.openxmlformats.org/drawingml/2006/main" noGrp="1"/>
          </p:cNvSpPr>
          <p:nvPr/>
        </p:nvSpPr>
        <p:spPr>
          <a:xfrm xmlns:a="http://schemas.openxmlformats.org/drawingml/2006/main">
            <a:off x="8141208" y="1517904"/>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19" name="Shape 16">
            <a:extLst xmlns:a="http://schemas.openxmlformats.org/drawingml/2006/main">
              <a:ext uri="{FF2B5EF4-FFF2-40B4-BE49-F238E27FC236}">
                <a16:creationId xmlns:a16="http://schemas.microsoft.com/office/drawing/2014/main" id="{FEE0A6EC-C1ED-4620-A65F-A8557B6E9CA1}"/>
              </a:ext>
            </a:extLst>
          </p:cNvPr>
          <p:cNvSpPr>
            <a:spLocks xmlns:a="http://schemas.openxmlformats.org/drawingml/2006/main" noGrp="1"/>
          </p:cNvSpPr>
          <p:nvPr/>
        </p:nvSpPr>
        <p:spPr>
          <a:xfrm xmlns:a="http://schemas.openxmlformats.org/drawingml/2006/main">
            <a:off x="8141208" y="1517904"/>
            <a:ext cx="82296" cy="2272284"/>
          </a:xfrm>
          <a:prstGeom xmlns:a="http://schemas.openxmlformats.org/drawingml/2006/main" prst="rect">
            <a:avLst/>
          </a:prstGeom>
          <a:solidFill xmlns:a="http://schemas.openxmlformats.org/drawingml/2006/main">
            <a:srgbClr val="F58220"/>
          </a:solidFill>
        </p:spPr>
      </p:sp>
      <p:sp>
        <p:nvSpPr>
          <p:cNvPr id="20" name="Text 17">
            <a:extLst xmlns:a="http://schemas.openxmlformats.org/drawingml/2006/main">
              <a:ext uri="{FF2B5EF4-FFF2-40B4-BE49-F238E27FC236}">
                <a16:creationId xmlns:a16="http://schemas.microsoft.com/office/drawing/2014/main" id="{73725A17-766F-4A4B-9400-E5105B2C358F}"/>
              </a:ext>
            </a:extLst>
          </p:cNvPr>
          <p:cNvSpPr>
            <a:spLocks xmlns:a="http://schemas.openxmlformats.org/drawingml/2006/main" noGrp="1"/>
          </p:cNvSpPr>
          <p:nvPr/>
        </p:nvSpPr>
        <p:spPr>
          <a:xfrm xmlns:a="http://schemas.openxmlformats.org/drawingml/2006/main">
            <a:off x="8360664" y="1636776"/>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F58220"/>
                </a:solidFill>
                <a:latin typeface="Calibri"/>
                <a:ea typeface="Calibri"/>
                <a:cs typeface="Calibri"/>
              </a:rPr>
              <a:t>HEALTH</a:t>
            </a:r>
            <a:endParaRPr sz="900"/>
          </a:p>
        </p:txBody>
      </p:sp>
      <p:sp>
        <p:nvSpPr>
          <p:cNvPr id="21" name="Text 18">
            <a:extLst xmlns:a="http://schemas.openxmlformats.org/drawingml/2006/main">
              <a:ext uri="{FF2B5EF4-FFF2-40B4-BE49-F238E27FC236}">
                <a16:creationId xmlns:a16="http://schemas.microsoft.com/office/drawing/2014/main" id="{93DD7132-8BFE-4A77-861B-47DD6E1541DD}"/>
              </a:ext>
            </a:extLst>
          </p:cNvPr>
          <p:cNvSpPr>
            <a:spLocks xmlns:a="http://schemas.openxmlformats.org/drawingml/2006/main" noGrp="1"/>
          </p:cNvSpPr>
          <p:nvPr/>
        </p:nvSpPr>
        <p:spPr>
          <a:xfrm xmlns:a="http://schemas.openxmlformats.org/drawingml/2006/main">
            <a:off x="8360664" y="1883664"/>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HEALTHCHECK hits /ready</a:t>
            </a:r>
            <a:endParaRPr sz="1250"/>
          </a:p>
        </p:txBody>
      </p:sp>
      <p:sp>
        <p:nvSpPr>
          <p:cNvPr id="22" name="Text 19">
            <a:extLst xmlns:a="http://schemas.openxmlformats.org/drawingml/2006/main">
              <a:ext uri="{FF2B5EF4-FFF2-40B4-BE49-F238E27FC236}">
                <a16:creationId xmlns:a16="http://schemas.microsoft.com/office/drawing/2014/main" id="{CBF3C7ED-C360-40A3-869C-79123F246741}"/>
              </a:ext>
            </a:extLst>
          </p:cNvPr>
          <p:cNvSpPr>
            <a:spLocks xmlns:a="http://schemas.openxmlformats.org/drawingml/2006/main" noGrp="1"/>
          </p:cNvSpPr>
          <p:nvPr/>
        </p:nvSpPr>
        <p:spPr>
          <a:xfrm xmlns:a="http://schemas.openxmlformats.org/drawingml/2006/main">
            <a:off x="8360664" y="2404872"/>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Not /health — docker ps and compose dependencies must reflect actual serviceability.</a:t>
            </a:r>
            <a:endParaRPr sz="980"/>
          </a:p>
        </p:txBody>
      </p:sp>
      <p:sp>
        <p:nvSpPr>
          <p:cNvPr id="23" name="Shape 20">
            <a:extLst xmlns:a="http://schemas.openxmlformats.org/drawingml/2006/main">
              <a:ext uri="{FF2B5EF4-FFF2-40B4-BE49-F238E27FC236}">
                <a16:creationId xmlns:a16="http://schemas.microsoft.com/office/drawing/2014/main" id="{6CBE3FCC-709F-4224-95CE-3AB568C6C4A5}"/>
              </a:ext>
            </a:extLst>
          </p:cNvPr>
          <p:cNvSpPr>
            <a:spLocks xmlns:a="http://schemas.openxmlformats.org/drawingml/2006/main" noGrp="1"/>
          </p:cNvSpPr>
          <p:nvPr/>
        </p:nvSpPr>
        <p:spPr>
          <a:xfrm xmlns:a="http://schemas.openxmlformats.org/drawingml/2006/main">
            <a:off x="502920" y="4046220"/>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24" name="Shape 21">
            <a:extLst xmlns:a="http://schemas.openxmlformats.org/drawingml/2006/main">
              <a:ext uri="{FF2B5EF4-FFF2-40B4-BE49-F238E27FC236}">
                <a16:creationId xmlns:a16="http://schemas.microsoft.com/office/drawing/2014/main" id="{C894D220-65CC-4CFE-8FBE-4B4C8A8DC9F9}"/>
              </a:ext>
            </a:extLst>
          </p:cNvPr>
          <p:cNvSpPr>
            <a:spLocks xmlns:a="http://schemas.openxmlformats.org/drawingml/2006/main" noGrp="1"/>
          </p:cNvSpPr>
          <p:nvPr/>
        </p:nvSpPr>
        <p:spPr>
          <a:xfrm xmlns:a="http://schemas.openxmlformats.org/drawingml/2006/main">
            <a:off x="502920" y="4046220"/>
            <a:ext cx="82296" cy="2272284"/>
          </a:xfrm>
          <a:prstGeom xmlns:a="http://schemas.openxmlformats.org/drawingml/2006/main" prst="rect">
            <a:avLst/>
          </a:prstGeom>
          <a:solidFill xmlns:a="http://schemas.openxmlformats.org/drawingml/2006/main">
            <a:srgbClr val="8DC63F"/>
          </a:solidFill>
        </p:spPr>
      </p:sp>
      <p:sp>
        <p:nvSpPr>
          <p:cNvPr id="25" name="Text 22">
            <a:extLst xmlns:a="http://schemas.openxmlformats.org/drawingml/2006/main">
              <a:ext uri="{FF2B5EF4-FFF2-40B4-BE49-F238E27FC236}">
                <a16:creationId xmlns:a16="http://schemas.microsoft.com/office/drawing/2014/main" id="{BC505C62-55F4-433D-869E-D23A801560B9}"/>
              </a:ext>
            </a:extLst>
          </p:cNvPr>
          <p:cNvSpPr>
            <a:spLocks xmlns:a="http://schemas.openxmlformats.org/drawingml/2006/main" noGrp="1"/>
          </p:cNvSpPr>
          <p:nvPr/>
        </p:nvSpPr>
        <p:spPr>
          <a:xfrm xmlns:a="http://schemas.openxmlformats.org/drawingml/2006/main">
            <a:off x="722376" y="4165092"/>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8DC63F"/>
                </a:solidFill>
                <a:latin typeface="Calibri"/>
                <a:ea typeface="Calibri"/>
                <a:cs typeface="Calibri"/>
              </a:rPr>
              <a:t>SIGNALS</a:t>
            </a:r>
            <a:endParaRPr sz="900"/>
          </a:p>
        </p:txBody>
      </p:sp>
      <p:sp>
        <p:nvSpPr>
          <p:cNvPr id="26" name="Text 23">
            <a:extLst xmlns:a="http://schemas.openxmlformats.org/drawingml/2006/main">
              <a:ext uri="{FF2B5EF4-FFF2-40B4-BE49-F238E27FC236}">
                <a16:creationId xmlns:a16="http://schemas.microsoft.com/office/drawing/2014/main" id="{624B73B6-AF3A-41EC-A563-E967BD96A2A8}"/>
              </a:ext>
            </a:extLst>
          </p:cNvPr>
          <p:cNvSpPr>
            <a:spLocks xmlns:a="http://schemas.openxmlformats.org/drawingml/2006/main" noGrp="1"/>
          </p:cNvSpPr>
          <p:nvPr/>
        </p:nvSpPr>
        <p:spPr>
          <a:xfrm xmlns:a="http://schemas.openxmlformats.org/drawingml/2006/main">
            <a:off x="722376" y="4411980"/>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Exec-form CMD, PID 1</a:t>
            </a:r>
            <a:endParaRPr sz="1250"/>
          </a:p>
        </p:txBody>
      </p:sp>
      <p:sp>
        <p:nvSpPr>
          <p:cNvPr id="27" name="Text 24">
            <a:extLst xmlns:a="http://schemas.openxmlformats.org/drawingml/2006/main">
              <a:ext uri="{FF2B5EF4-FFF2-40B4-BE49-F238E27FC236}">
                <a16:creationId xmlns:a16="http://schemas.microsoft.com/office/drawing/2014/main" id="{D5206656-6F18-436A-A9EB-CE013D373F73}"/>
              </a:ext>
            </a:extLst>
          </p:cNvPr>
          <p:cNvSpPr>
            <a:spLocks xmlns:a="http://schemas.openxmlformats.org/drawingml/2006/main" noGrp="1"/>
          </p:cNvSpPr>
          <p:nvPr/>
        </p:nvSpPr>
        <p:spPr>
          <a:xfrm xmlns:a="http://schemas.openxmlformats.org/drawingml/2006/main">
            <a:off x="722376" y="4933188"/>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uvicorn as PID 1 receives SIGTERM and shuts down gracefully; shell form swallows it.</a:t>
            </a:r>
            <a:endParaRPr sz="980"/>
          </a:p>
        </p:txBody>
      </p:sp>
      <p:sp>
        <p:nvSpPr>
          <p:cNvPr id="28" name="Shape 25">
            <a:extLst xmlns:a="http://schemas.openxmlformats.org/drawingml/2006/main">
              <a:ext uri="{FF2B5EF4-FFF2-40B4-BE49-F238E27FC236}">
                <a16:creationId xmlns:a16="http://schemas.microsoft.com/office/drawing/2014/main" id="{B050E623-58D5-4503-9053-9666D635ABD5}"/>
              </a:ext>
            </a:extLst>
          </p:cNvPr>
          <p:cNvSpPr>
            <a:spLocks xmlns:a="http://schemas.openxmlformats.org/drawingml/2006/main" noGrp="1"/>
          </p:cNvSpPr>
          <p:nvPr/>
        </p:nvSpPr>
        <p:spPr>
          <a:xfrm xmlns:a="http://schemas.openxmlformats.org/drawingml/2006/main">
            <a:off x="4322064" y="4046220"/>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29" name="Shape 26">
            <a:extLst xmlns:a="http://schemas.openxmlformats.org/drawingml/2006/main">
              <a:ext uri="{FF2B5EF4-FFF2-40B4-BE49-F238E27FC236}">
                <a16:creationId xmlns:a16="http://schemas.microsoft.com/office/drawing/2014/main" id="{15D4F962-8FAE-405B-8E0D-4DA07DD9756C}"/>
              </a:ext>
            </a:extLst>
          </p:cNvPr>
          <p:cNvSpPr>
            <a:spLocks xmlns:a="http://schemas.openxmlformats.org/drawingml/2006/main" noGrp="1"/>
          </p:cNvSpPr>
          <p:nvPr/>
        </p:nvSpPr>
        <p:spPr>
          <a:xfrm xmlns:a="http://schemas.openxmlformats.org/drawingml/2006/main">
            <a:off x="4322064" y="4046220"/>
            <a:ext cx="82296" cy="2272284"/>
          </a:xfrm>
          <a:prstGeom xmlns:a="http://schemas.openxmlformats.org/drawingml/2006/main" prst="rect">
            <a:avLst/>
          </a:prstGeom>
          <a:solidFill xmlns:a="http://schemas.openxmlformats.org/drawingml/2006/main">
            <a:srgbClr val="E8503A"/>
          </a:solidFill>
        </p:spPr>
      </p:sp>
      <p:sp>
        <p:nvSpPr>
          <p:cNvPr id="30" name="Text 27">
            <a:extLst xmlns:a="http://schemas.openxmlformats.org/drawingml/2006/main">
              <a:ext uri="{FF2B5EF4-FFF2-40B4-BE49-F238E27FC236}">
                <a16:creationId xmlns:a16="http://schemas.microsoft.com/office/drawing/2014/main" id="{B6CCDCE2-8BE5-4527-8F19-5C84914F1E1A}"/>
              </a:ext>
            </a:extLst>
          </p:cNvPr>
          <p:cNvSpPr>
            <a:spLocks xmlns:a="http://schemas.openxmlformats.org/drawingml/2006/main" noGrp="1"/>
          </p:cNvSpPr>
          <p:nvPr/>
        </p:nvSpPr>
        <p:spPr>
          <a:xfrm xmlns:a="http://schemas.openxmlformats.org/drawingml/2006/main">
            <a:off x="4541520" y="4165092"/>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E8503A"/>
                </a:solidFill>
                <a:latin typeface="Calibri"/>
                <a:ea typeface="Calibri"/>
                <a:cs typeface="Calibri"/>
              </a:rPr>
              <a:t>CONFIG</a:t>
            </a:r>
            <a:endParaRPr sz="900"/>
          </a:p>
        </p:txBody>
      </p:sp>
      <p:sp>
        <p:nvSpPr>
          <p:cNvPr id="31" name="Text 28">
            <a:extLst xmlns:a="http://schemas.openxmlformats.org/drawingml/2006/main">
              <a:ext uri="{FF2B5EF4-FFF2-40B4-BE49-F238E27FC236}">
                <a16:creationId xmlns:a16="http://schemas.microsoft.com/office/drawing/2014/main" id="{1962B803-C292-4E92-8B52-C020427B8483}"/>
              </a:ext>
            </a:extLst>
          </p:cNvPr>
          <p:cNvSpPr>
            <a:spLocks xmlns:a="http://schemas.openxmlformats.org/drawingml/2006/main" noGrp="1"/>
          </p:cNvSpPr>
          <p:nvPr/>
        </p:nvSpPr>
        <p:spPr>
          <a:xfrm xmlns:a="http://schemas.openxmlformats.org/drawingml/2006/main">
            <a:off x="4541520" y="4411980"/>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ENV in, secrets never baked</a:t>
            </a:r>
            <a:endParaRPr sz="1250"/>
          </a:p>
        </p:txBody>
      </p:sp>
      <p:sp>
        <p:nvSpPr>
          <p:cNvPr id="32" name="Text 29">
            <a:extLst xmlns:a="http://schemas.openxmlformats.org/drawingml/2006/main">
              <a:ext uri="{FF2B5EF4-FFF2-40B4-BE49-F238E27FC236}">
                <a16:creationId xmlns:a16="http://schemas.microsoft.com/office/drawing/2014/main" id="{3CBDDC7E-4454-4412-8B7C-A3392ED6558C}"/>
              </a:ext>
            </a:extLst>
          </p:cNvPr>
          <p:cNvSpPr>
            <a:spLocks xmlns:a="http://schemas.openxmlformats.org/drawingml/2006/main" noGrp="1"/>
          </p:cNvSpPr>
          <p:nvPr/>
        </p:nvSpPr>
        <p:spPr>
          <a:xfrm xmlns:a="http://schemas.openxmlformats.org/drawingml/2006/main">
            <a:off x="4541520" y="4933188"/>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12-factor: config via environment variables. docker history exposes baked secrets forever.</a:t>
            </a:r>
            <a:endParaRPr sz="980"/>
          </a:p>
        </p:txBody>
      </p:sp>
      <p:sp>
        <p:nvSpPr>
          <p:cNvPr id="33" name="Shape 30">
            <a:extLst xmlns:a="http://schemas.openxmlformats.org/drawingml/2006/main">
              <a:ext uri="{FF2B5EF4-FFF2-40B4-BE49-F238E27FC236}">
                <a16:creationId xmlns:a16="http://schemas.microsoft.com/office/drawing/2014/main" id="{ECF4BF07-9143-40B8-ABB6-2406AD3C6814}"/>
              </a:ext>
            </a:extLst>
          </p:cNvPr>
          <p:cNvSpPr>
            <a:spLocks xmlns:a="http://schemas.openxmlformats.org/drawingml/2006/main" noGrp="1"/>
          </p:cNvSpPr>
          <p:nvPr/>
        </p:nvSpPr>
        <p:spPr>
          <a:xfrm xmlns:a="http://schemas.openxmlformats.org/drawingml/2006/main">
            <a:off x="8141208" y="4046220"/>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34" name="Shape 31">
            <a:extLst xmlns:a="http://schemas.openxmlformats.org/drawingml/2006/main">
              <a:ext uri="{FF2B5EF4-FFF2-40B4-BE49-F238E27FC236}">
                <a16:creationId xmlns:a16="http://schemas.microsoft.com/office/drawing/2014/main" id="{EF59AF9A-29D4-472F-B546-DCE83A8D859B}"/>
              </a:ext>
            </a:extLst>
          </p:cNvPr>
          <p:cNvSpPr>
            <a:spLocks xmlns:a="http://schemas.openxmlformats.org/drawingml/2006/main" noGrp="1"/>
          </p:cNvSpPr>
          <p:nvPr/>
        </p:nvSpPr>
        <p:spPr>
          <a:xfrm xmlns:a="http://schemas.openxmlformats.org/drawingml/2006/main">
            <a:off x="8141208" y="4046220"/>
            <a:ext cx="82296" cy="2272284"/>
          </a:xfrm>
          <a:prstGeom xmlns:a="http://schemas.openxmlformats.org/drawingml/2006/main" prst="rect">
            <a:avLst/>
          </a:prstGeom>
          <a:solidFill xmlns:a="http://schemas.openxmlformats.org/drawingml/2006/main">
            <a:srgbClr val="7B61A6"/>
          </a:solidFill>
        </p:spPr>
      </p:sp>
      <p:sp>
        <p:nvSpPr>
          <p:cNvPr id="35" name="Text 32">
            <a:extLst xmlns:a="http://schemas.openxmlformats.org/drawingml/2006/main">
              <a:ext uri="{FF2B5EF4-FFF2-40B4-BE49-F238E27FC236}">
                <a16:creationId xmlns:a16="http://schemas.microsoft.com/office/drawing/2014/main" id="{1E2EE85E-07F8-4B05-B1DB-47AF41016C93}"/>
              </a:ext>
            </a:extLst>
          </p:cNvPr>
          <p:cNvSpPr>
            <a:spLocks xmlns:a="http://schemas.openxmlformats.org/drawingml/2006/main" noGrp="1"/>
          </p:cNvSpPr>
          <p:nvPr/>
        </p:nvSpPr>
        <p:spPr>
          <a:xfrm xmlns:a="http://schemas.openxmlformats.org/drawingml/2006/main">
            <a:off x="8360664" y="4165092"/>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7B61A6"/>
                </a:solidFill>
                <a:latin typeface="Calibri"/>
                <a:ea typeface="Calibri"/>
                <a:cs typeface="Calibri"/>
              </a:rPr>
              <a:t>PLATFORM</a:t>
            </a:r>
            <a:endParaRPr sz="900"/>
          </a:p>
        </p:txBody>
      </p:sp>
      <p:sp>
        <p:nvSpPr>
          <p:cNvPr id="36" name="Text 33">
            <a:extLst xmlns:a="http://schemas.openxmlformats.org/drawingml/2006/main">
              <a:ext uri="{FF2B5EF4-FFF2-40B4-BE49-F238E27FC236}">
                <a16:creationId xmlns:a16="http://schemas.microsoft.com/office/drawing/2014/main" id="{7B27FBBF-32BB-448F-8F0D-383B4C3AECB1}"/>
              </a:ext>
            </a:extLst>
          </p:cNvPr>
          <p:cNvSpPr>
            <a:spLocks xmlns:a="http://schemas.openxmlformats.org/drawingml/2006/main" noGrp="1"/>
          </p:cNvSpPr>
          <p:nvPr/>
        </p:nvSpPr>
        <p:spPr>
          <a:xfrm xmlns:a="http://schemas.openxmlformats.org/drawingml/2006/main">
            <a:off x="8360664" y="4411980"/>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Apple Silicon gotcha</a:t>
            </a:r>
            <a:endParaRPr sz="1250"/>
          </a:p>
        </p:txBody>
      </p:sp>
      <p:sp>
        <p:nvSpPr>
          <p:cNvPr id="37" name="Text 34">
            <a:extLst xmlns:a="http://schemas.openxmlformats.org/drawingml/2006/main">
              <a:ext uri="{FF2B5EF4-FFF2-40B4-BE49-F238E27FC236}">
                <a16:creationId xmlns:a16="http://schemas.microsoft.com/office/drawing/2014/main" id="{AB4D3C2B-CC6A-45FF-AA6A-F504BF4EBB08}"/>
              </a:ext>
            </a:extLst>
          </p:cNvPr>
          <p:cNvSpPr>
            <a:spLocks xmlns:a="http://schemas.openxmlformats.org/drawingml/2006/main" noGrp="1"/>
          </p:cNvSpPr>
          <p:nvPr/>
        </p:nvSpPr>
        <p:spPr>
          <a:xfrm xmlns:a="http://schemas.openxmlformats.org/drawingml/2006/main">
            <a:off x="8360664" y="4933188"/>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Build --platform linux/amd64 for x86 targets or go multi-arch — surface this before the lab.</a:t>
            </a:r>
            <a:endParaRPr sz="980"/>
          </a:p>
        </p:txBody>
      </p:sp>
    </p:spTree>
    <p:extLst>
      <p:ext uri="{BB962C8B-B14F-4D97-AF65-F5344CB8AC3E}">
        <p14:creationId xmlns:p14="http://schemas.microsoft.com/office/powerpoint/2010/main" val="887161553"/>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AAB6573-0AF4-46F3-B222-EB59C4B54BED}"/>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Model artefacts — three packaging patterns</a:t>
            </a:r>
            <a:endParaRPr sz="2600"/>
          </a:p>
        </p:txBody>
      </p:sp>
      <p:sp>
        <p:nvSpPr>
          <p:cNvPr id="3" name="Text 1">
            <a:extLst xmlns:a="http://schemas.openxmlformats.org/drawingml/2006/main">
              <a:ext uri="{FF2B5EF4-FFF2-40B4-BE49-F238E27FC236}">
                <a16:creationId xmlns:a16="http://schemas.microsoft.com/office/drawing/2014/main" id="{04F2343C-6257-4A29-A1DA-0BA9633F315D}"/>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أنماط تعبئة النموذج الثلاثة</a:t>
            </a:r>
            <a:endParaRPr sz="1300"/>
          </a:p>
        </p:txBody>
      </p:sp>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808b4eb9589d4f66"/>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E1B9EDA5-8CDD-4A32-8712-4EA34C52A96F}"/>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D81B5226-4FE6-46A0-A537-FE0DF7EB63E8}"/>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3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0A278F95-DFE1-47E0-9649-A83832DFDA92}"/>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71</a:t>
            </a:r>
            <a:endParaRPr sz="850"/>
          </a:p>
        </p:txBody>
      </p:sp>
      <p:sp>
        <p:nvSpPr>
          <p:cNvPr id="8" name="Text 5">
            <a:extLst xmlns:a="http://schemas.openxmlformats.org/drawingml/2006/main">
              <a:ext uri="{FF2B5EF4-FFF2-40B4-BE49-F238E27FC236}">
                <a16:creationId xmlns:a16="http://schemas.microsoft.com/office/drawing/2014/main" id="{560415AB-B6B5-4142-8A1B-866F0AB2053B}"/>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FEDF6030-8B7E-4458-A45C-86FFAFD01102}"/>
              </a:ext>
            </a:extLst>
          </p:cNvPr>
          <p:cNvSpPr>
            <a:spLocks xmlns:a="http://schemas.openxmlformats.org/drawingml/2006/main" noGrp="1"/>
          </p:cNvSpPr>
          <p:nvPr/>
        </p:nvSpPr>
        <p:spPr>
          <a:xfrm xmlns:a="http://schemas.openxmlformats.org/drawingml/2006/main">
            <a:off x="1005840" y="14996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(a) Baked into the image</a:t>
            </a:r>
            <a:endParaRPr sz="1350"/>
          </a:p>
        </p:txBody>
      </p:sp>
      <p:sp>
        <p:nvSpPr>
          <p:cNvPr id="10" name="Text 7">
            <a:extLst xmlns:a="http://schemas.openxmlformats.org/drawingml/2006/main">
              <a:ext uri="{FF2B5EF4-FFF2-40B4-BE49-F238E27FC236}">
                <a16:creationId xmlns:a16="http://schemas.microsoft.com/office/drawing/2014/main" id="{2769A303-0A3E-42E3-AFE2-42E64B192BBA}"/>
              </a:ext>
            </a:extLst>
          </p:cNvPr>
          <p:cNvSpPr>
            <a:spLocks xmlns:a="http://schemas.openxmlformats.org/drawingml/2006/main" noGrp="1"/>
          </p:cNvSpPr>
          <p:nvPr/>
        </p:nvSpPr>
        <p:spPr>
          <a:xfrm xmlns:a="http://schemas.openxmlformats.org/drawingml/2006/main">
            <a:off x="1005840" y="1801368"/>
            <a:ext cx="10680192"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Simple, immutable, one image per model version — atomic deploys and rollbacks. Course default: Lab 3 bakes fraud_xgb_v3.joblib as its own layer.</a:t>
            </a:r>
            <a:endParaRPr sz="1050"/>
          </a:p>
        </p:txBody>
      </p:sp>
      <p:sp>
        <p:nvSpPr>
          <p:cNvPr id="11" name="Text 8">
            <a:extLst xmlns:a="http://schemas.openxmlformats.org/drawingml/2006/main">
              <a:ext uri="{FF2B5EF4-FFF2-40B4-BE49-F238E27FC236}">
                <a16:creationId xmlns:a16="http://schemas.microsoft.com/office/drawing/2014/main" id="{3481C7C2-0813-41B2-B51E-5BF3E94A961D}"/>
              </a:ext>
            </a:extLst>
          </p:cNvPr>
          <p:cNvSpPr>
            <a:spLocks xmlns:a="http://schemas.openxmlformats.org/drawingml/2006/main" noGrp="1"/>
          </p:cNvSpPr>
          <p:nvPr/>
        </p:nvSpPr>
        <p:spPr>
          <a:xfrm xmlns:a="http://schemas.openxmlformats.org/drawingml/2006/main">
            <a:off x="502920" y="292608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A4086806-F606-4715-BF69-A4755C46975E}"/>
              </a:ext>
            </a:extLst>
          </p:cNvPr>
          <p:cNvSpPr>
            <a:spLocks xmlns:a="http://schemas.openxmlformats.org/drawingml/2006/main" noGrp="1"/>
          </p:cNvSpPr>
          <p:nvPr/>
        </p:nvSpPr>
        <p:spPr>
          <a:xfrm xmlns:a="http://schemas.openxmlformats.org/drawingml/2006/main">
            <a:off x="1005840" y="28712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(b) Volume-mounted</a:t>
            </a:r>
            <a:endParaRPr sz="1350"/>
          </a:p>
        </p:txBody>
      </p:sp>
      <p:sp>
        <p:nvSpPr>
          <p:cNvPr id="13" name="Text 10">
            <a:extLst xmlns:a="http://schemas.openxmlformats.org/drawingml/2006/main">
              <a:ext uri="{FF2B5EF4-FFF2-40B4-BE49-F238E27FC236}">
                <a16:creationId xmlns:a16="http://schemas.microsoft.com/office/drawing/2014/main" id="{7EF561BA-AE7F-481F-ABA9-FFBB760A9DD4}"/>
              </a:ext>
            </a:extLst>
          </p:cNvPr>
          <p:cNvSpPr>
            <a:spLocks xmlns:a="http://schemas.openxmlformats.org/drawingml/2006/main" noGrp="1"/>
          </p:cNvSpPr>
          <p:nvPr/>
        </p:nvSpPr>
        <p:spPr>
          <a:xfrm xmlns:a="http://schemas.openxmlformats.org/drawingml/2006/main">
            <a:off x="1005840" y="3172968"/>
            <a:ext cx="10680192"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Fast iteration while developing, but the image is no longer self-contained. Demonstrated in the compose stack.</a:t>
            </a:r>
            <a:endParaRPr sz="1050"/>
          </a:p>
        </p:txBody>
      </p:sp>
      <p:sp>
        <p:nvSpPr>
          <p:cNvPr id="14" name="Text 11">
            <a:extLst xmlns:a="http://schemas.openxmlformats.org/drawingml/2006/main">
              <a:ext uri="{FF2B5EF4-FFF2-40B4-BE49-F238E27FC236}">
                <a16:creationId xmlns:a16="http://schemas.microsoft.com/office/drawing/2014/main" id="{2E59FFE9-CCDB-4A30-AEC0-AE65633EDBF2}"/>
              </a:ext>
            </a:extLst>
          </p:cNvPr>
          <p:cNvSpPr>
            <a:spLocks xmlns:a="http://schemas.openxmlformats.org/drawingml/2006/main" noGrp="1"/>
          </p:cNvSpPr>
          <p:nvPr/>
        </p:nvSpPr>
        <p:spPr>
          <a:xfrm xmlns:a="http://schemas.openxmlformats.org/drawingml/2006/main">
            <a:off x="502920" y="429768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1F1E6FA3-66B0-4ACF-8215-EFD2B58F89C1}"/>
              </a:ext>
            </a:extLst>
          </p:cNvPr>
          <p:cNvSpPr>
            <a:spLocks xmlns:a="http://schemas.openxmlformats.org/drawingml/2006/main" noGrp="1"/>
          </p:cNvSpPr>
          <p:nvPr/>
        </p:nvSpPr>
        <p:spPr>
          <a:xfrm xmlns:a="http://schemas.openxmlformats.org/drawingml/2006/main">
            <a:off x="1005840" y="42428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(c) Pulled at startup</a:t>
            </a:r>
            <a:endParaRPr sz="1350"/>
          </a:p>
        </p:txBody>
      </p:sp>
      <p:sp>
        <p:nvSpPr>
          <p:cNvPr id="16" name="Text 13">
            <a:extLst xmlns:a="http://schemas.openxmlformats.org/drawingml/2006/main">
              <a:ext uri="{FF2B5EF4-FFF2-40B4-BE49-F238E27FC236}">
                <a16:creationId xmlns:a16="http://schemas.microsoft.com/office/drawing/2014/main" id="{EB336E60-3235-45BD-A637-5C2DFE8316C5}"/>
              </a:ext>
            </a:extLst>
          </p:cNvPr>
          <p:cNvSpPr>
            <a:spLocks xmlns:a="http://schemas.openxmlformats.org/drawingml/2006/main" noGrp="1"/>
          </p:cNvSpPr>
          <p:nvPr/>
        </p:nvSpPr>
        <p:spPr>
          <a:xfrm xmlns:a="http://schemas.openxmlformats.org/drawingml/2006/main">
            <a:off x="1005840" y="4544568"/>
            <a:ext cx="10680192"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From a model registry — decouples model release from code release, but requires readiness gating. The production pattern for large models and the bridge to MLOps.</a:t>
            </a:r>
            <a:endParaRPr sz="1050"/>
          </a:p>
        </p:txBody>
      </p:sp>
    </p:spTree>
    <p:extLst>
      <p:ext uri="{BB962C8B-B14F-4D97-AF65-F5344CB8AC3E}">
        <p14:creationId xmlns:p14="http://schemas.microsoft.com/office/powerpoint/2010/main" val="221136124"/>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49473B0-9303-47A3-8298-EE7C5A86F444}"/>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docker compose — the local production simulator</a:t>
            </a:r>
            <a:endParaRPr sz="2600"/>
          </a:p>
        </p:txBody>
      </p:sp>
      <p:sp>
        <p:nvSpPr>
          <p:cNvPr id="3" name="Text 1">
            <a:extLst xmlns:a="http://schemas.openxmlformats.org/drawingml/2006/main">
              <a:ext uri="{FF2B5EF4-FFF2-40B4-BE49-F238E27FC236}">
                <a16:creationId xmlns:a16="http://schemas.microsoft.com/office/drawing/2014/main" id="{E122F854-9A2E-4EA6-B385-5369E0942AB0}"/>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دوكر كومبوز — محاكي الإنتاج المحلي</a:t>
            </a:r>
            <a:endParaRPr sz="1300"/>
          </a:p>
        </p:txBody>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281d91201c294765"/>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E405893E-672F-4A94-9503-BBCCB708264A}"/>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78D3842C-BAC7-4594-8872-DA54C3910034}"/>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3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9EA45B7F-DA3F-4CA8-A2A6-464C9778E82A}"/>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72</a:t>
            </a:r>
            <a:endParaRPr sz="850"/>
          </a:p>
        </p:txBody>
      </p:sp>
      <p:sp>
        <p:nvSpPr>
          <p:cNvPr id="8" name="Shape 5">
            <a:extLst xmlns:a="http://schemas.openxmlformats.org/drawingml/2006/main">
              <a:ext uri="{FF2B5EF4-FFF2-40B4-BE49-F238E27FC236}">
                <a16:creationId xmlns:a16="http://schemas.microsoft.com/office/drawing/2014/main" id="{24BC2CB5-0870-45CA-BE8D-17495CBA0454}"/>
              </a:ext>
            </a:extLst>
          </p:cNvPr>
          <p:cNvSpPr>
            <a:spLocks xmlns:a="http://schemas.openxmlformats.org/drawingml/2006/main" noGrp="1"/>
          </p:cNvSpPr>
          <p:nvPr/>
        </p:nvSpPr>
        <p:spPr>
          <a:xfrm xmlns:a="http://schemas.openxmlformats.org/drawingml/2006/main">
            <a:off x="3886200" y="2217420"/>
            <a:ext cx="1435608" cy="0"/>
          </a:xfrm>
          <a:prstGeom xmlns:a="http://schemas.openxmlformats.org/drawingml/2006/main" prst="line">
            <a:avLst/>
          </a:prstGeom>
          <a:noFill xmlns:a="http://schemas.openxmlformats.org/drawingml/2006/main"/>
          <a:ln xmlns:a="http://schemas.openxmlformats.org/drawingml/2006/main" w="19050">
            <a:solidFill>
              <a:srgbClr val="D9E4F5"/>
            </a:solidFill>
            <a:prstDash val="dash"/>
          </a:ln>
        </p:spPr>
      </p:sp>
      <p:sp>
        <p:nvSpPr>
          <p:cNvPr id="9" name="Shape 6">
            <a:extLst xmlns:a="http://schemas.openxmlformats.org/drawingml/2006/main">
              <a:ext uri="{FF2B5EF4-FFF2-40B4-BE49-F238E27FC236}">
                <a16:creationId xmlns:a16="http://schemas.microsoft.com/office/drawing/2014/main" id="{E1EE2B38-5DD1-4024-8E13-2B19D1D9C28B}"/>
              </a:ext>
            </a:extLst>
          </p:cNvPr>
          <p:cNvSpPr>
            <a:spLocks xmlns:a="http://schemas.openxmlformats.org/drawingml/2006/main" noGrp="1"/>
          </p:cNvSpPr>
          <p:nvPr/>
        </p:nvSpPr>
        <p:spPr>
          <a:xfrm xmlns:a="http://schemas.openxmlformats.org/drawingml/2006/main">
            <a:off x="594360" y="1600200"/>
            <a:ext cx="3291840" cy="1234440"/>
          </a:xfrm>
          <a:prstGeom xmlns:a="http://schemas.openxmlformats.org/drawingml/2006/main" prst="roundRect">
            <a:avLst>
              <a:gd name="adj" fmla="val 5185"/>
            </a:avLst>
          </a:prstGeom>
          <a:solidFill xmlns:a="http://schemas.openxmlformats.org/drawingml/2006/main">
            <a:srgbClr val="D4F1EE"/>
          </a:solidFill>
        </p:spPr>
      </p:sp>
      <p:sp>
        <p:nvSpPr>
          <p:cNvPr id="10" name="Text 7">
            <a:extLst xmlns:a="http://schemas.openxmlformats.org/drawingml/2006/main">
              <a:ext uri="{FF2B5EF4-FFF2-40B4-BE49-F238E27FC236}">
                <a16:creationId xmlns:a16="http://schemas.microsoft.com/office/drawing/2014/main" id="{879EF6BA-64AD-47F3-AA25-C1CF8FD87024}"/>
              </a:ext>
            </a:extLst>
          </p:cNvPr>
          <p:cNvSpPr>
            <a:spLocks xmlns:a="http://schemas.openxmlformats.org/drawingml/2006/main" noGrp="1"/>
          </p:cNvSpPr>
          <p:nvPr/>
        </p:nvSpPr>
        <p:spPr>
          <a:xfrm xmlns:a="http://schemas.openxmlformats.org/drawingml/2006/main">
            <a:off x="740664" y="1691640"/>
            <a:ext cx="2999232"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One-command stack</a:t>
            </a:r>
            <a:endParaRPr sz="1200"/>
          </a:p>
        </p:txBody>
      </p:sp>
      <p:sp>
        <p:nvSpPr>
          <p:cNvPr id="11" name="Text 8">
            <a:extLst xmlns:a="http://schemas.openxmlformats.org/drawingml/2006/main">
              <a:ext uri="{FF2B5EF4-FFF2-40B4-BE49-F238E27FC236}">
                <a16:creationId xmlns:a16="http://schemas.microsoft.com/office/drawing/2014/main" id="{A2B46887-A345-405E-BCB8-6B1D9C861CDE}"/>
              </a:ext>
            </a:extLst>
          </p:cNvPr>
          <p:cNvSpPr>
            <a:spLocks xmlns:a="http://schemas.openxmlformats.org/drawingml/2006/main" noGrp="1"/>
          </p:cNvSpPr>
          <p:nvPr/>
        </p:nvSpPr>
        <p:spPr>
          <a:xfrm xmlns:a="http://schemas.openxmlformats.org/drawingml/2006/main">
            <a:off x="740664" y="2002536"/>
            <a:ext cx="2999232"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fraud service + Redis feature cache + mock consumer: docker compose up</a:t>
            </a:r>
            <a:endParaRPr sz="950"/>
          </a:p>
        </p:txBody>
      </p:sp>
      <p:sp>
        <p:nvSpPr>
          <p:cNvPr id="12" name="Shape 9">
            <a:extLst xmlns:a="http://schemas.openxmlformats.org/drawingml/2006/main">
              <a:ext uri="{FF2B5EF4-FFF2-40B4-BE49-F238E27FC236}">
                <a16:creationId xmlns:a16="http://schemas.microsoft.com/office/drawing/2014/main" id="{C14AC30B-DFD4-4057-A9D7-97B2DCB1F1FD}"/>
              </a:ext>
            </a:extLst>
          </p:cNvPr>
          <p:cNvSpPr>
            <a:spLocks xmlns:a="http://schemas.openxmlformats.org/drawingml/2006/main" noGrp="1"/>
          </p:cNvSpPr>
          <p:nvPr/>
        </p:nvSpPr>
        <p:spPr>
          <a:xfrm xmlns:a="http://schemas.openxmlformats.org/drawingml/2006/main">
            <a:off x="3886200" y="4320540"/>
            <a:ext cx="1435608" cy="0"/>
          </a:xfrm>
          <a:prstGeom xmlns:a="http://schemas.openxmlformats.org/drawingml/2006/main" prst="line">
            <a:avLst/>
          </a:prstGeom>
          <a:noFill xmlns:a="http://schemas.openxmlformats.org/drawingml/2006/main"/>
          <a:ln xmlns:a="http://schemas.openxmlformats.org/drawingml/2006/main" w="19050">
            <a:solidFill>
              <a:srgbClr val="D9E4F5"/>
            </a:solidFill>
            <a:prstDash val="dash"/>
          </a:ln>
        </p:spPr>
      </p:sp>
      <p:sp>
        <p:nvSpPr>
          <p:cNvPr id="13" name="Shape 10">
            <a:extLst xmlns:a="http://schemas.openxmlformats.org/drawingml/2006/main">
              <a:ext uri="{FF2B5EF4-FFF2-40B4-BE49-F238E27FC236}">
                <a16:creationId xmlns:a16="http://schemas.microsoft.com/office/drawing/2014/main" id="{A8158E2A-D3E2-463A-8A0E-3C89068E9BA9}"/>
              </a:ext>
            </a:extLst>
          </p:cNvPr>
          <p:cNvSpPr>
            <a:spLocks xmlns:a="http://schemas.openxmlformats.org/drawingml/2006/main" noGrp="1"/>
          </p:cNvSpPr>
          <p:nvPr/>
        </p:nvSpPr>
        <p:spPr>
          <a:xfrm xmlns:a="http://schemas.openxmlformats.org/drawingml/2006/main">
            <a:off x="594360" y="3703320"/>
            <a:ext cx="3291840" cy="1234440"/>
          </a:xfrm>
          <a:prstGeom xmlns:a="http://schemas.openxmlformats.org/drawingml/2006/main" prst="roundRect">
            <a:avLst>
              <a:gd name="adj" fmla="val 5185"/>
            </a:avLst>
          </a:prstGeom>
          <a:solidFill xmlns:a="http://schemas.openxmlformats.org/drawingml/2006/main">
            <a:srgbClr val="D9F0FA"/>
          </a:solidFill>
        </p:spPr>
      </p:sp>
      <p:sp>
        <p:nvSpPr>
          <p:cNvPr id="14" name="Text 11">
            <a:extLst xmlns:a="http://schemas.openxmlformats.org/drawingml/2006/main">
              <a:ext uri="{FF2B5EF4-FFF2-40B4-BE49-F238E27FC236}">
                <a16:creationId xmlns:a16="http://schemas.microsoft.com/office/drawing/2014/main" id="{55C35120-0BCD-4FB0-94B7-C1BD54E2990E}"/>
              </a:ext>
            </a:extLst>
          </p:cNvPr>
          <p:cNvSpPr>
            <a:spLocks xmlns:a="http://schemas.openxmlformats.org/drawingml/2006/main" noGrp="1"/>
          </p:cNvSpPr>
          <p:nvPr/>
        </p:nvSpPr>
        <p:spPr>
          <a:xfrm xmlns:a="http://schemas.openxmlformats.org/drawingml/2006/main">
            <a:off x="740664" y="3794760"/>
            <a:ext cx="2999232"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Healthcheck-gated depends_on</a:t>
            </a:r>
            <a:endParaRPr sz="1200"/>
          </a:p>
        </p:txBody>
      </p:sp>
      <p:sp>
        <p:nvSpPr>
          <p:cNvPr id="15" name="Text 12">
            <a:extLst xmlns:a="http://schemas.openxmlformats.org/drawingml/2006/main">
              <a:ext uri="{FF2B5EF4-FFF2-40B4-BE49-F238E27FC236}">
                <a16:creationId xmlns:a16="http://schemas.microsoft.com/office/drawing/2014/main" id="{DACCBD5E-53E7-4EBD-9237-E83B946D59B8}"/>
              </a:ext>
            </a:extLst>
          </p:cNvPr>
          <p:cNvSpPr>
            <a:spLocks xmlns:a="http://schemas.openxmlformats.org/drawingml/2006/main" noGrp="1"/>
          </p:cNvSpPr>
          <p:nvPr/>
        </p:nvSpPr>
        <p:spPr>
          <a:xfrm xmlns:a="http://schemas.openxmlformats.org/drawingml/2006/main">
            <a:off x="740664" y="4105656"/>
            <a:ext cx="2999232"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condition: service_healthy — gate on real readiness, not merely 'started'</a:t>
            </a:r>
            <a:endParaRPr sz="950"/>
          </a:p>
        </p:txBody>
      </p:sp>
      <p:sp>
        <p:nvSpPr>
          <p:cNvPr id="16" name="Shape 13">
            <a:extLst xmlns:a="http://schemas.openxmlformats.org/drawingml/2006/main">
              <a:ext uri="{FF2B5EF4-FFF2-40B4-BE49-F238E27FC236}">
                <a16:creationId xmlns:a16="http://schemas.microsoft.com/office/drawing/2014/main" id="{DE788843-F7EA-4978-9DB0-833AE6645E34}"/>
              </a:ext>
            </a:extLst>
          </p:cNvPr>
          <p:cNvSpPr>
            <a:spLocks xmlns:a="http://schemas.openxmlformats.org/drawingml/2006/main" noGrp="1"/>
          </p:cNvSpPr>
          <p:nvPr/>
        </p:nvSpPr>
        <p:spPr>
          <a:xfrm xmlns:a="http://schemas.openxmlformats.org/drawingml/2006/main">
            <a:off x="3886200" y="5737860"/>
            <a:ext cx="1435608" cy="0"/>
          </a:xfrm>
          <a:prstGeom xmlns:a="http://schemas.openxmlformats.org/drawingml/2006/main" prst="line">
            <a:avLst/>
          </a:prstGeom>
          <a:noFill xmlns:a="http://schemas.openxmlformats.org/drawingml/2006/main"/>
          <a:ln xmlns:a="http://schemas.openxmlformats.org/drawingml/2006/main" w="19050">
            <a:solidFill>
              <a:srgbClr val="D9E4F5"/>
            </a:solidFill>
            <a:prstDash val="dash"/>
          </a:ln>
        </p:spPr>
      </p:sp>
      <p:sp>
        <p:nvSpPr>
          <p:cNvPr id="17" name="Shape 14">
            <a:extLst xmlns:a="http://schemas.openxmlformats.org/drawingml/2006/main">
              <a:ext uri="{FF2B5EF4-FFF2-40B4-BE49-F238E27FC236}">
                <a16:creationId xmlns:a16="http://schemas.microsoft.com/office/drawing/2014/main" id="{AECE4159-1A00-44FE-A9FA-F8B333AF7849}"/>
              </a:ext>
            </a:extLst>
          </p:cNvPr>
          <p:cNvSpPr>
            <a:spLocks xmlns:a="http://schemas.openxmlformats.org/drawingml/2006/main" noGrp="1"/>
          </p:cNvSpPr>
          <p:nvPr/>
        </p:nvSpPr>
        <p:spPr>
          <a:xfrm xmlns:a="http://schemas.openxmlformats.org/drawingml/2006/main">
            <a:off x="594360" y="5120640"/>
            <a:ext cx="3291840" cy="1234440"/>
          </a:xfrm>
          <a:prstGeom xmlns:a="http://schemas.openxmlformats.org/drawingml/2006/main" prst="roundRect">
            <a:avLst>
              <a:gd name="adj" fmla="val 5185"/>
            </a:avLst>
          </a:prstGeom>
          <a:solidFill xmlns:a="http://schemas.openxmlformats.org/drawingml/2006/main">
            <a:srgbClr val="FDEBD7"/>
          </a:solidFill>
        </p:spPr>
      </p:sp>
      <p:sp>
        <p:nvSpPr>
          <p:cNvPr id="18" name="Text 15">
            <a:extLst xmlns:a="http://schemas.openxmlformats.org/drawingml/2006/main">
              <a:ext uri="{FF2B5EF4-FFF2-40B4-BE49-F238E27FC236}">
                <a16:creationId xmlns:a16="http://schemas.microsoft.com/office/drawing/2014/main" id="{12A5B412-E2EF-4784-B176-D5C8B5987D0B}"/>
              </a:ext>
            </a:extLst>
          </p:cNvPr>
          <p:cNvSpPr>
            <a:spLocks xmlns:a="http://schemas.openxmlformats.org/drawingml/2006/main" noGrp="1"/>
          </p:cNvSpPr>
          <p:nvPr/>
        </p:nvSpPr>
        <p:spPr>
          <a:xfrm xmlns:a="http://schemas.openxmlformats.org/drawingml/2006/main">
            <a:off x="740664" y="5212080"/>
            <a:ext cx="2999232"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Volumes &amp; networks</a:t>
            </a:r>
            <a:endParaRPr sz="1200"/>
          </a:p>
        </p:txBody>
      </p:sp>
      <p:sp>
        <p:nvSpPr>
          <p:cNvPr id="19" name="Text 16">
            <a:extLst xmlns:a="http://schemas.openxmlformats.org/drawingml/2006/main">
              <a:ext uri="{FF2B5EF4-FFF2-40B4-BE49-F238E27FC236}">
                <a16:creationId xmlns:a16="http://schemas.microsoft.com/office/drawing/2014/main" id="{CBBDCD3E-087F-4635-BA46-212976967343}"/>
              </a:ext>
            </a:extLst>
          </p:cNvPr>
          <p:cNvSpPr>
            <a:spLocks xmlns:a="http://schemas.openxmlformats.org/drawingml/2006/main" noGrp="1"/>
          </p:cNvSpPr>
          <p:nvPr/>
        </p:nvSpPr>
        <p:spPr>
          <a:xfrm xmlns:a="http://schemas.openxmlformats.org/drawingml/2006/main">
            <a:off x="740664" y="5522976"/>
            <a:ext cx="2999232"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named volumes for cache data; a private network per stack</a:t>
            </a:r>
            <a:endParaRPr sz="950"/>
          </a:p>
        </p:txBody>
      </p:sp>
      <p:sp>
        <p:nvSpPr>
          <p:cNvPr id="20" name="Shape 17">
            <a:extLst xmlns:a="http://schemas.openxmlformats.org/drawingml/2006/main">
              <a:ext uri="{FF2B5EF4-FFF2-40B4-BE49-F238E27FC236}">
                <a16:creationId xmlns:a16="http://schemas.microsoft.com/office/drawing/2014/main" id="{70CFF321-6F8C-4618-954C-085C8F066BB4}"/>
              </a:ext>
            </a:extLst>
          </p:cNvPr>
          <p:cNvSpPr>
            <a:spLocks xmlns:a="http://schemas.openxmlformats.org/drawingml/2006/main" noGrp="1"/>
          </p:cNvSpPr>
          <p:nvPr/>
        </p:nvSpPr>
        <p:spPr>
          <a:xfrm xmlns:a="http://schemas.openxmlformats.org/drawingml/2006/main">
            <a:off x="6858000" y="2217420"/>
            <a:ext cx="1463040" cy="0"/>
          </a:xfrm>
          <a:prstGeom xmlns:a="http://schemas.openxmlformats.org/drawingml/2006/main" prst="line">
            <a:avLst/>
          </a:prstGeom>
          <a:noFill xmlns:a="http://schemas.openxmlformats.org/drawingml/2006/main"/>
          <a:ln xmlns:a="http://schemas.openxmlformats.org/drawingml/2006/main" w="19050">
            <a:solidFill>
              <a:srgbClr val="D9E4F5"/>
            </a:solidFill>
            <a:prstDash val="dash"/>
          </a:ln>
        </p:spPr>
      </p:sp>
      <p:sp>
        <p:nvSpPr>
          <p:cNvPr id="21" name="Shape 18">
            <a:extLst xmlns:a="http://schemas.openxmlformats.org/drawingml/2006/main">
              <a:ext uri="{FF2B5EF4-FFF2-40B4-BE49-F238E27FC236}">
                <a16:creationId xmlns:a16="http://schemas.microsoft.com/office/drawing/2014/main" id="{DD9784CA-218C-4A99-BDFD-8DF370D04718}"/>
              </a:ext>
            </a:extLst>
          </p:cNvPr>
          <p:cNvSpPr>
            <a:spLocks xmlns:a="http://schemas.openxmlformats.org/drawingml/2006/main" noGrp="1"/>
          </p:cNvSpPr>
          <p:nvPr/>
        </p:nvSpPr>
        <p:spPr>
          <a:xfrm xmlns:a="http://schemas.openxmlformats.org/drawingml/2006/main">
            <a:off x="8321040" y="1600200"/>
            <a:ext cx="3291840" cy="1234440"/>
          </a:xfrm>
          <a:prstGeom xmlns:a="http://schemas.openxmlformats.org/drawingml/2006/main" prst="roundRect">
            <a:avLst>
              <a:gd name="adj" fmla="val 5185"/>
            </a:avLst>
          </a:prstGeom>
          <a:solidFill xmlns:a="http://schemas.openxmlformats.org/drawingml/2006/main">
            <a:srgbClr val="EAF4DC"/>
          </a:solidFill>
        </p:spPr>
      </p:sp>
      <p:sp>
        <p:nvSpPr>
          <p:cNvPr id="22" name="Text 19">
            <a:extLst xmlns:a="http://schemas.openxmlformats.org/drawingml/2006/main">
              <a:ext uri="{FF2B5EF4-FFF2-40B4-BE49-F238E27FC236}">
                <a16:creationId xmlns:a16="http://schemas.microsoft.com/office/drawing/2014/main" id="{8D953DA6-A362-47B4-AC2E-50934E4C8C52}"/>
              </a:ext>
            </a:extLst>
          </p:cNvPr>
          <p:cNvSpPr>
            <a:spLocks xmlns:a="http://schemas.openxmlformats.org/drawingml/2006/main" noGrp="1"/>
          </p:cNvSpPr>
          <p:nvPr/>
        </p:nvSpPr>
        <p:spPr>
          <a:xfrm xmlns:a="http://schemas.openxmlformats.org/drawingml/2006/main">
            <a:off x="8467344" y="1691640"/>
            <a:ext cx="2999232"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env_file</a:t>
            </a:r>
            <a:endParaRPr sz="1200"/>
          </a:p>
        </p:txBody>
      </p:sp>
      <p:sp>
        <p:nvSpPr>
          <p:cNvPr id="23" name="Text 20">
            <a:extLst xmlns:a="http://schemas.openxmlformats.org/drawingml/2006/main">
              <a:ext uri="{FF2B5EF4-FFF2-40B4-BE49-F238E27FC236}">
                <a16:creationId xmlns:a16="http://schemas.microsoft.com/office/drawing/2014/main" id="{38D7394F-3E78-4430-9F47-2A1DE897A6ED}"/>
              </a:ext>
            </a:extLst>
          </p:cNvPr>
          <p:cNvSpPr>
            <a:spLocks xmlns:a="http://schemas.openxmlformats.org/drawingml/2006/main" noGrp="1"/>
          </p:cNvSpPr>
          <p:nvPr/>
        </p:nvSpPr>
        <p:spPr>
          <a:xfrm xmlns:a="http://schemas.openxmlformats.org/drawingml/2006/main">
            <a:off x="8467344" y="2002536"/>
            <a:ext cx="2999232"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non-secret dev config enters as environment, never baked into layers</a:t>
            </a:r>
            <a:endParaRPr sz="950"/>
          </a:p>
        </p:txBody>
      </p:sp>
      <p:sp>
        <p:nvSpPr>
          <p:cNvPr id="24" name="Shape 21">
            <a:extLst xmlns:a="http://schemas.openxmlformats.org/drawingml/2006/main">
              <a:ext uri="{FF2B5EF4-FFF2-40B4-BE49-F238E27FC236}">
                <a16:creationId xmlns:a16="http://schemas.microsoft.com/office/drawing/2014/main" id="{E078DC14-0E4F-46EA-888A-82F1C55D9462}"/>
              </a:ext>
            </a:extLst>
          </p:cNvPr>
          <p:cNvSpPr>
            <a:spLocks xmlns:a="http://schemas.openxmlformats.org/drawingml/2006/main" noGrp="1"/>
          </p:cNvSpPr>
          <p:nvPr/>
        </p:nvSpPr>
        <p:spPr>
          <a:xfrm xmlns:a="http://schemas.openxmlformats.org/drawingml/2006/main">
            <a:off x="6858000" y="4320540"/>
            <a:ext cx="1463040" cy="0"/>
          </a:xfrm>
          <a:prstGeom xmlns:a="http://schemas.openxmlformats.org/drawingml/2006/main" prst="line">
            <a:avLst/>
          </a:prstGeom>
          <a:noFill xmlns:a="http://schemas.openxmlformats.org/drawingml/2006/main"/>
          <a:ln xmlns:a="http://schemas.openxmlformats.org/drawingml/2006/main" w="19050">
            <a:solidFill>
              <a:srgbClr val="D9E4F5"/>
            </a:solidFill>
            <a:prstDash val="dash"/>
          </a:ln>
        </p:spPr>
      </p:sp>
      <p:sp>
        <p:nvSpPr>
          <p:cNvPr id="25" name="Shape 22">
            <a:extLst xmlns:a="http://schemas.openxmlformats.org/drawingml/2006/main">
              <a:ext uri="{FF2B5EF4-FFF2-40B4-BE49-F238E27FC236}">
                <a16:creationId xmlns:a16="http://schemas.microsoft.com/office/drawing/2014/main" id="{65EFD901-AFBD-4516-8CD9-B15C25BFD5ED}"/>
              </a:ext>
            </a:extLst>
          </p:cNvPr>
          <p:cNvSpPr>
            <a:spLocks xmlns:a="http://schemas.openxmlformats.org/drawingml/2006/main" noGrp="1"/>
          </p:cNvSpPr>
          <p:nvPr/>
        </p:nvSpPr>
        <p:spPr>
          <a:xfrm xmlns:a="http://schemas.openxmlformats.org/drawingml/2006/main">
            <a:off x="8321040" y="3703320"/>
            <a:ext cx="3291840" cy="1234440"/>
          </a:xfrm>
          <a:prstGeom xmlns:a="http://schemas.openxmlformats.org/drawingml/2006/main" prst="roundRect">
            <a:avLst>
              <a:gd name="adj" fmla="val 5185"/>
            </a:avLst>
          </a:prstGeom>
          <a:solidFill xmlns:a="http://schemas.openxmlformats.org/drawingml/2006/main">
            <a:srgbClr val="FADDD8"/>
          </a:solidFill>
        </p:spPr>
      </p:sp>
      <p:sp>
        <p:nvSpPr>
          <p:cNvPr id="26" name="Text 23">
            <a:extLst xmlns:a="http://schemas.openxmlformats.org/drawingml/2006/main">
              <a:ext uri="{FF2B5EF4-FFF2-40B4-BE49-F238E27FC236}">
                <a16:creationId xmlns:a16="http://schemas.microsoft.com/office/drawing/2014/main" id="{E6554ADB-A9D7-4462-98AD-453E05FE9191}"/>
              </a:ext>
            </a:extLst>
          </p:cNvPr>
          <p:cNvSpPr>
            <a:spLocks xmlns:a="http://schemas.openxmlformats.org/drawingml/2006/main" noGrp="1"/>
          </p:cNvSpPr>
          <p:nvPr/>
        </p:nvSpPr>
        <p:spPr>
          <a:xfrm xmlns:a="http://schemas.openxmlformats.org/drawingml/2006/main">
            <a:off x="8467344" y="3794760"/>
            <a:ext cx="2999232"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Profiles</a:t>
            </a:r>
            <a:endParaRPr sz="1200"/>
          </a:p>
        </p:txBody>
      </p:sp>
      <p:sp>
        <p:nvSpPr>
          <p:cNvPr id="27" name="Text 24">
            <a:extLst xmlns:a="http://schemas.openxmlformats.org/drawingml/2006/main">
              <a:ext uri="{FF2B5EF4-FFF2-40B4-BE49-F238E27FC236}">
                <a16:creationId xmlns:a16="http://schemas.microsoft.com/office/drawing/2014/main" id="{EB7295C4-B924-416A-B004-96224F54FC59}"/>
              </a:ext>
            </a:extLst>
          </p:cNvPr>
          <p:cNvSpPr>
            <a:spLocks xmlns:a="http://schemas.openxmlformats.org/drawingml/2006/main" noGrp="1"/>
          </p:cNvSpPr>
          <p:nvPr/>
        </p:nvSpPr>
        <p:spPr>
          <a:xfrm xmlns:a="http://schemas.openxmlformats.org/drawingml/2006/main">
            <a:off x="8467344" y="4105656"/>
            <a:ext cx="2999232"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--profile loadtest adds a hey load-test container only when asked</a:t>
            </a:r>
            <a:endParaRPr sz="950"/>
          </a:p>
        </p:txBody>
      </p:sp>
      <p:sp>
        <p:nvSpPr>
          <p:cNvPr id="28" name="Shape 25">
            <a:extLst xmlns:a="http://schemas.openxmlformats.org/drawingml/2006/main">
              <a:ext uri="{FF2B5EF4-FFF2-40B4-BE49-F238E27FC236}">
                <a16:creationId xmlns:a16="http://schemas.microsoft.com/office/drawing/2014/main" id="{326127AC-CA7F-4B7C-B3DB-B92F6DFBFF00}"/>
              </a:ext>
            </a:extLst>
          </p:cNvPr>
          <p:cNvSpPr>
            <a:spLocks xmlns:a="http://schemas.openxmlformats.org/drawingml/2006/main" noGrp="1"/>
          </p:cNvSpPr>
          <p:nvPr/>
        </p:nvSpPr>
        <p:spPr>
          <a:xfrm xmlns:a="http://schemas.openxmlformats.org/drawingml/2006/main">
            <a:off x="6858000" y="5737860"/>
            <a:ext cx="1463040" cy="0"/>
          </a:xfrm>
          <a:prstGeom xmlns:a="http://schemas.openxmlformats.org/drawingml/2006/main" prst="line">
            <a:avLst/>
          </a:prstGeom>
          <a:noFill xmlns:a="http://schemas.openxmlformats.org/drawingml/2006/main"/>
          <a:ln xmlns:a="http://schemas.openxmlformats.org/drawingml/2006/main" w="19050">
            <a:solidFill>
              <a:srgbClr val="D9E4F5"/>
            </a:solidFill>
            <a:prstDash val="dash"/>
          </a:ln>
        </p:spPr>
      </p:sp>
      <p:sp>
        <p:nvSpPr>
          <p:cNvPr id="29" name="Shape 26">
            <a:extLst xmlns:a="http://schemas.openxmlformats.org/drawingml/2006/main">
              <a:ext uri="{FF2B5EF4-FFF2-40B4-BE49-F238E27FC236}">
                <a16:creationId xmlns:a16="http://schemas.microsoft.com/office/drawing/2014/main" id="{99D1EE2C-8CD7-447C-9E3E-0CE06DC5A193}"/>
              </a:ext>
            </a:extLst>
          </p:cNvPr>
          <p:cNvSpPr>
            <a:spLocks xmlns:a="http://schemas.openxmlformats.org/drawingml/2006/main" noGrp="1"/>
          </p:cNvSpPr>
          <p:nvPr/>
        </p:nvSpPr>
        <p:spPr>
          <a:xfrm xmlns:a="http://schemas.openxmlformats.org/drawingml/2006/main">
            <a:off x="8321040" y="5120640"/>
            <a:ext cx="3291840" cy="1234440"/>
          </a:xfrm>
          <a:prstGeom xmlns:a="http://schemas.openxmlformats.org/drawingml/2006/main" prst="roundRect">
            <a:avLst>
              <a:gd name="adj" fmla="val 5185"/>
            </a:avLst>
          </a:prstGeom>
          <a:solidFill xmlns:a="http://schemas.openxmlformats.org/drawingml/2006/main">
            <a:srgbClr val="E9E2F2"/>
          </a:solidFill>
        </p:spPr>
      </p:sp>
      <p:sp>
        <p:nvSpPr>
          <p:cNvPr id="30" name="Text 27">
            <a:extLst xmlns:a="http://schemas.openxmlformats.org/drawingml/2006/main">
              <a:ext uri="{FF2B5EF4-FFF2-40B4-BE49-F238E27FC236}">
                <a16:creationId xmlns:a16="http://schemas.microsoft.com/office/drawing/2014/main" id="{FC312523-D51F-40B1-84B2-CD79C7FD3E19}"/>
              </a:ext>
            </a:extLst>
          </p:cNvPr>
          <p:cNvSpPr>
            <a:spLocks xmlns:a="http://schemas.openxmlformats.org/drawingml/2006/main" noGrp="1"/>
          </p:cNvSpPr>
          <p:nvPr/>
        </p:nvSpPr>
        <p:spPr>
          <a:xfrm xmlns:a="http://schemas.openxmlformats.org/drawingml/2006/main">
            <a:off x="8467344" y="5212080"/>
            <a:ext cx="2999232"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The run-contract</a:t>
            </a:r>
            <a:endParaRPr sz="1200"/>
          </a:p>
        </p:txBody>
      </p:sp>
      <p:sp>
        <p:nvSpPr>
          <p:cNvPr id="31" name="Text 28">
            <a:extLst xmlns:a="http://schemas.openxmlformats.org/drawingml/2006/main">
              <a:ext uri="{FF2B5EF4-FFF2-40B4-BE49-F238E27FC236}">
                <a16:creationId xmlns:a16="http://schemas.microsoft.com/office/drawing/2014/main" id="{2724934D-20E3-40C3-860D-F0B10CC13A1D}"/>
              </a:ext>
            </a:extLst>
          </p:cNvPr>
          <p:cNvSpPr>
            <a:spLocks xmlns:a="http://schemas.openxmlformats.org/drawingml/2006/main" noGrp="1"/>
          </p:cNvSpPr>
          <p:nvPr/>
        </p:nvSpPr>
        <p:spPr>
          <a:xfrm xmlns:a="http://schemas.openxmlformats.org/drawingml/2006/main">
            <a:off x="8467344" y="5522976"/>
            <a:ext cx="2999232"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a new joiner types docker compose up and has the full stack running</a:t>
            </a:r>
            <a:endParaRPr sz="950"/>
          </a:p>
        </p:txBody>
      </p:sp>
      <p:sp>
        <p:nvSpPr>
          <p:cNvPr id="32" name="Shape 29">
            <a:extLst xmlns:a="http://schemas.openxmlformats.org/drawingml/2006/main">
              <a:ext uri="{FF2B5EF4-FFF2-40B4-BE49-F238E27FC236}">
                <a16:creationId xmlns:a16="http://schemas.microsoft.com/office/drawing/2014/main" id="{73C01B45-71E6-44DC-AF74-E0DE13CBC534}"/>
              </a:ext>
            </a:extLst>
          </p:cNvPr>
          <p:cNvSpPr>
            <a:spLocks xmlns:a="http://schemas.openxmlformats.org/drawingml/2006/main" noGrp="1"/>
          </p:cNvSpPr>
          <p:nvPr/>
        </p:nvSpPr>
        <p:spPr>
          <a:xfrm xmlns:a="http://schemas.openxmlformats.org/drawingml/2006/main">
            <a:off x="5129784" y="2953512"/>
            <a:ext cx="1920240" cy="1920240"/>
          </a:xfrm>
          <a:prstGeom xmlns:a="http://schemas.openxmlformats.org/drawingml/2006/main" prst="ellipse">
            <a:avLst/>
          </a:prstGeom>
          <a:solidFill xmlns:a="http://schemas.openxmlformats.org/drawingml/2006/main">
            <a:srgbClr val="1D2A5C"/>
          </a:solidFill>
          <a:ln xmlns:a="http://schemas.openxmlformats.org/drawingml/2006/main" w="31750">
            <a:solidFill>
              <a:srgbClr val="00A79D"/>
            </a:solidFill>
            <a:prstDash val="solid"/>
          </a:ln>
        </p:spPr>
      </p:sp>
      <p:sp>
        <p:nvSpPr>
          <p:cNvPr id="33" name="Text 30">
            <a:extLst xmlns:a="http://schemas.openxmlformats.org/drawingml/2006/main">
              <a:ext uri="{FF2B5EF4-FFF2-40B4-BE49-F238E27FC236}">
                <a16:creationId xmlns:a16="http://schemas.microsoft.com/office/drawing/2014/main" id="{F3B162DE-4D97-4D35-9DD6-988ED10ACF07}"/>
              </a:ext>
            </a:extLst>
          </p:cNvPr>
          <p:cNvSpPr>
            <a:spLocks xmlns:a="http://schemas.openxmlformats.org/drawingml/2006/main" noGrp="1"/>
          </p:cNvSpPr>
          <p:nvPr/>
        </p:nvSpPr>
        <p:spPr>
          <a:xfrm xmlns:a="http://schemas.openxmlformats.org/drawingml/2006/main">
            <a:off x="5221224" y="3044952"/>
            <a:ext cx="1737360" cy="1737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docker compose</a:t>
            </a:r>
            <a:endParaRPr sz="1400"/>
          </a:p>
        </p:txBody>
      </p:sp>
    </p:spTree>
    <p:extLst>
      <p:ext uri="{BB962C8B-B14F-4D97-AF65-F5344CB8AC3E}">
        <p14:creationId xmlns:p14="http://schemas.microsoft.com/office/powerpoint/2010/main" val="1455138014"/>
      </p:ext>
    </p:extLst>
  </p:cSld>
</p:sld>
</file>

<file path=ppt/slides/slide7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67E3595-778F-4F0C-8BCD-92A5330FC9D3}"/>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docker-compose.yml — healthcheck-gated stack</a:t>
            </a:r>
            <a:endParaRPr sz="2600"/>
          </a:p>
        </p:txBody>
      </p:sp>
      <p:sp>
        <p:nvSpPr>
          <p:cNvPr id="3" name="Text 1">
            <a:extLst xmlns:a="http://schemas.openxmlformats.org/drawingml/2006/main">
              <a:ext uri="{FF2B5EF4-FFF2-40B4-BE49-F238E27FC236}">
                <a16:creationId xmlns:a16="http://schemas.microsoft.com/office/drawing/2014/main" id="{F425AD2E-1E16-4123-A3ED-AD8F34A4F698}"/>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ملف كومبوز — تشغيل مشروط بفحص الصحة</a:t>
            </a:r>
            <a:endParaRPr sz="1300"/>
          </a:p>
        </p:txBody>
      </p:sp>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e251b38249cd4d54"/>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CF397BC4-302D-4D92-9F3C-8001726BD276}"/>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705DCDF8-79F1-47EC-B110-DFE84AB13F78}"/>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3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E7B7BDBB-4423-4204-9A34-988E5D25DD70}"/>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73</a:t>
            </a:r>
            <a:endParaRPr sz="850"/>
          </a:p>
        </p:txBody>
      </p:sp>
      <p:sp>
        <p:nvSpPr>
          <p:cNvPr id="8" name="Shape 5">
            <a:extLst xmlns:a="http://schemas.openxmlformats.org/drawingml/2006/main">
              <a:ext uri="{FF2B5EF4-FFF2-40B4-BE49-F238E27FC236}">
                <a16:creationId xmlns:a16="http://schemas.microsoft.com/office/drawing/2014/main" id="{A74EB64F-343B-4E98-8FD3-7C4DAECE961D}"/>
              </a:ext>
            </a:extLst>
          </p:cNvPr>
          <p:cNvSpPr>
            <a:spLocks xmlns:a="http://schemas.openxmlformats.org/drawingml/2006/main" noGrp="1"/>
          </p:cNvSpPr>
          <p:nvPr/>
        </p:nvSpPr>
        <p:spPr>
          <a:xfrm xmlns:a="http://schemas.openxmlformats.org/drawingml/2006/main">
            <a:off x="502920" y="1481328"/>
            <a:ext cx="7635240" cy="4617720"/>
          </a:xfrm>
          <a:prstGeom xmlns:a="http://schemas.openxmlformats.org/drawingml/2006/main" prst="roundRect">
            <a:avLst>
              <a:gd name="adj" fmla="val 1584"/>
            </a:avLst>
          </a:prstGeom>
          <a:solidFill xmlns:a="http://schemas.openxmlformats.org/drawingml/2006/main">
            <a:srgbClr val="1A2233"/>
          </a:solidFill>
        </p:spPr>
      </p:sp>
      <p:sp>
        <p:nvSpPr>
          <p:cNvPr id="9" name="Shape 6">
            <a:extLst xmlns:a="http://schemas.openxmlformats.org/drawingml/2006/main">
              <a:ext uri="{FF2B5EF4-FFF2-40B4-BE49-F238E27FC236}">
                <a16:creationId xmlns:a16="http://schemas.microsoft.com/office/drawing/2014/main" id="{A0B4F136-9D0D-4909-AAF3-3A05FBF40CC1}"/>
              </a:ext>
            </a:extLst>
          </p:cNvPr>
          <p:cNvSpPr>
            <a:spLocks xmlns:a="http://schemas.openxmlformats.org/drawingml/2006/main" noGrp="1"/>
          </p:cNvSpPr>
          <p:nvPr/>
        </p:nvSpPr>
        <p:spPr>
          <a:xfrm xmlns:a="http://schemas.openxmlformats.org/drawingml/2006/main">
            <a:off x="731520" y="1664208"/>
            <a:ext cx="109728" cy="109728"/>
          </a:xfrm>
          <a:prstGeom xmlns:a="http://schemas.openxmlformats.org/drawingml/2006/main" prst="ellipse">
            <a:avLst/>
          </a:prstGeom>
          <a:solidFill xmlns:a="http://schemas.openxmlformats.org/drawingml/2006/main">
            <a:srgbClr val="E8503A"/>
          </a:solidFill>
        </p:spPr>
      </p:sp>
      <p:sp>
        <p:nvSpPr>
          <p:cNvPr id="10" name="Shape 7">
            <a:extLst xmlns:a="http://schemas.openxmlformats.org/drawingml/2006/main">
              <a:ext uri="{FF2B5EF4-FFF2-40B4-BE49-F238E27FC236}">
                <a16:creationId xmlns:a16="http://schemas.microsoft.com/office/drawing/2014/main" id="{B8FECD07-5298-489E-9E8A-00B1A5BA56E4}"/>
              </a:ext>
            </a:extLst>
          </p:cNvPr>
          <p:cNvSpPr>
            <a:spLocks xmlns:a="http://schemas.openxmlformats.org/drawingml/2006/main" noGrp="1"/>
          </p:cNvSpPr>
          <p:nvPr/>
        </p:nvSpPr>
        <p:spPr>
          <a:xfrm xmlns:a="http://schemas.openxmlformats.org/drawingml/2006/main">
            <a:off x="932688" y="1664208"/>
            <a:ext cx="109728" cy="109728"/>
          </a:xfrm>
          <a:prstGeom xmlns:a="http://schemas.openxmlformats.org/drawingml/2006/main" prst="ellipse">
            <a:avLst/>
          </a:prstGeom>
          <a:solidFill xmlns:a="http://schemas.openxmlformats.org/drawingml/2006/main">
            <a:srgbClr val="F5B820"/>
          </a:solidFill>
        </p:spPr>
      </p:sp>
      <p:sp>
        <p:nvSpPr>
          <p:cNvPr id="11" name="Shape 8">
            <a:extLst xmlns:a="http://schemas.openxmlformats.org/drawingml/2006/main">
              <a:ext uri="{FF2B5EF4-FFF2-40B4-BE49-F238E27FC236}">
                <a16:creationId xmlns:a16="http://schemas.microsoft.com/office/drawing/2014/main" id="{E9DA2101-E352-47DD-AC94-9C27ABF013B3}"/>
              </a:ext>
            </a:extLst>
          </p:cNvPr>
          <p:cNvSpPr>
            <a:spLocks xmlns:a="http://schemas.openxmlformats.org/drawingml/2006/main" noGrp="1"/>
          </p:cNvSpPr>
          <p:nvPr/>
        </p:nvSpPr>
        <p:spPr>
          <a:xfrm xmlns:a="http://schemas.openxmlformats.org/drawingml/2006/main">
            <a:off x="1133856" y="1664208"/>
            <a:ext cx="109728" cy="109728"/>
          </a:xfrm>
          <a:prstGeom xmlns:a="http://schemas.openxmlformats.org/drawingml/2006/main" prst="ellipse">
            <a:avLst/>
          </a:prstGeom>
          <a:solidFill xmlns:a="http://schemas.openxmlformats.org/drawingml/2006/main">
            <a:srgbClr val="8DC63F"/>
          </a:solidFill>
        </p:spPr>
      </p:sp>
      <p:sp>
        <p:nvSpPr>
          <p:cNvPr id="12" name="Text 9">
            <a:extLst xmlns:a="http://schemas.openxmlformats.org/drawingml/2006/main">
              <a:ext uri="{FF2B5EF4-FFF2-40B4-BE49-F238E27FC236}">
                <a16:creationId xmlns:a16="http://schemas.microsoft.com/office/drawing/2014/main" id="{19D11575-BEE6-49B9-829B-0F0F3B11B8F0}"/>
              </a:ext>
            </a:extLst>
          </p:cNvPr>
          <p:cNvSpPr>
            <a:spLocks xmlns:a="http://schemas.openxmlformats.org/drawingml/2006/main" noGrp="1"/>
          </p:cNvSpPr>
          <p:nvPr/>
        </p:nvSpPr>
        <p:spPr>
          <a:xfrm xmlns:a="http://schemas.openxmlformats.org/drawingml/2006/main">
            <a:off x="4526280" y="1609344"/>
            <a:ext cx="32918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6C8"/>
                </a:solidFill>
                <a:latin typeface="Consolas"/>
                <a:ea typeface="Consolas"/>
                <a:cs typeface="Consolas"/>
              </a:rPr>
              <a:t>docker-compose.yml</a:t>
            </a:r>
            <a:endParaRPr sz="900"/>
          </a:p>
        </p:txBody>
      </p:sp>
      <p:sp>
        <p:nvSpPr>
          <p:cNvPr id="13" name="Text 10">
            <a:extLst xmlns:a="http://schemas.openxmlformats.org/drawingml/2006/main">
              <a:ext uri="{FF2B5EF4-FFF2-40B4-BE49-F238E27FC236}">
                <a16:creationId xmlns:a16="http://schemas.microsoft.com/office/drawing/2014/main" id="{DE07DFF7-9A93-494F-B5D5-1515C575FA7E}"/>
              </a:ext>
            </a:extLst>
          </p:cNvPr>
          <p:cNvSpPr>
            <a:spLocks xmlns:a="http://schemas.openxmlformats.org/drawingml/2006/main" noGrp="1"/>
          </p:cNvSpPr>
          <p:nvPr/>
        </p:nvSpPr>
        <p:spPr>
          <a:xfrm xmlns:a="http://schemas.openxmlformats.org/drawingml/2006/main">
            <a:off x="713232" y="1965960"/>
            <a:ext cx="717804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000">
                <a:solidFill>
                  <a:srgbClr val="D9E4F5"/>
                </a:solidFill>
                <a:latin typeface="Consolas"/>
                <a:ea typeface="Consolas"/>
                <a:cs typeface="Consolas"/>
              </a:rPr>
              <a:t>services:</a:t>
            </a:r>
            <a:endParaRPr sz="1000"/>
          </a:p>
          <a:p xmlns:a="http://schemas.openxmlformats.org/drawingml/2006/main">
            <a:pPr marL="0" indent="0">
              <a:lnSpc>
                <a:spcPct val="112000"/>
              </a:lnSpc>
              <a:buNone/>
            </a:pPr>
            <a:r>
              <a:rPr sz="1000">
                <a:solidFill>
                  <a:srgbClr val="D9E4F5"/>
                </a:solidFill>
                <a:latin typeface="Consolas"/>
                <a:ea typeface="Consolas"/>
                <a:cs typeface="Consolas"/>
              </a:rPr>
              <a:t>  fraud-api:</a:t>
            </a:r>
            <a:endParaRPr sz="1000"/>
          </a:p>
          <a:p xmlns:a="http://schemas.openxmlformats.org/drawingml/2006/main">
            <a:pPr marL="0" indent="0">
              <a:lnSpc>
                <a:spcPct val="112000"/>
              </a:lnSpc>
              <a:buNone/>
            </a:pPr>
            <a:r>
              <a:rPr sz="1000">
                <a:solidFill>
                  <a:srgbClr val="D9E4F5"/>
                </a:solidFill>
                <a:latin typeface="Consolas"/>
                <a:ea typeface="Consolas"/>
                <a:cs typeface="Consolas"/>
              </a:rPr>
              <a:t>    build: .</a:t>
            </a:r>
            <a:endParaRPr sz="1000"/>
          </a:p>
          <a:p xmlns:a="http://schemas.openxmlformats.org/drawingml/2006/main">
            <a:pPr marL="0" indent="0">
              <a:lnSpc>
                <a:spcPct val="112000"/>
              </a:lnSpc>
              <a:buNone/>
            </a:pPr>
            <a:r>
              <a:rPr sz="1000">
                <a:solidFill>
                  <a:srgbClr val="D9E4F5"/>
                </a:solidFill>
                <a:latin typeface="Consolas"/>
                <a:ea typeface="Consolas"/>
                <a:cs typeface="Consolas"/>
              </a:rPr>
              <a:t>    image: fraud-service:dev</a:t>
            </a:r>
            <a:endParaRPr sz="1000"/>
          </a:p>
          <a:p xmlns:a="http://schemas.openxmlformats.org/drawingml/2006/main">
            <a:pPr marL="0" indent="0">
              <a:lnSpc>
                <a:spcPct val="112000"/>
              </a:lnSpc>
              <a:buNone/>
            </a:pPr>
            <a:r>
              <a:rPr sz="1000">
                <a:solidFill>
                  <a:srgbClr val="D9E4F5"/>
                </a:solidFill>
                <a:latin typeface="Consolas"/>
                <a:ea typeface="Consolas"/>
                <a:cs typeface="Consolas"/>
              </a:rPr>
              <a:t>    ports: ["8000:8000"]</a:t>
            </a:r>
            <a:endParaRPr sz="1000"/>
          </a:p>
          <a:p xmlns:a="http://schemas.openxmlformats.org/drawingml/2006/main">
            <a:pPr marL="0" indent="0">
              <a:lnSpc>
                <a:spcPct val="112000"/>
              </a:lnSpc>
              <a:buNone/>
            </a:pPr>
            <a:r>
              <a:rPr sz="1000">
                <a:solidFill>
                  <a:srgbClr val="D9E4F5"/>
                </a:solidFill>
                <a:latin typeface="Consolas"/>
                <a:ea typeface="Consolas"/>
                <a:cs typeface="Consolas"/>
              </a:rPr>
              <a:t>    environment:</a:t>
            </a:r>
            <a:endParaRPr sz="1000"/>
          </a:p>
          <a:p xmlns:a="http://schemas.openxmlformats.org/drawingml/2006/main">
            <a:pPr marL="0" indent="0">
              <a:lnSpc>
                <a:spcPct val="112000"/>
              </a:lnSpc>
              <a:buNone/>
            </a:pPr>
            <a:r>
              <a:rPr sz="1000">
                <a:solidFill>
                  <a:srgbClr val="D9E4F5"/>
                </a:solidFill>
                <a:latin typeface="Consolas"/>
                <a:ea typeface="Consolas"/>
                <a:cs typeface="Consolas"/>
              </a:rPr>
              <a:t>      REDIS_URL: redis://feature-cache:6379/0</a:t>
            </a:r>
            <a:endParaRPr sz="1000"/>
          </a:p>
          <a:p xmlns:a="http://schemas.openxmlformats.org/drawingml/2006/main">
            <a:pPr marL="0" indent="0">
              <a:lnSpc>
                <a:spcPct val="112000"/>
              </a:lnSpc>
              <a:buNone/>
            </a:pPr>
            <a:r>
              <a:rPr sz="1000">
                <a:solidFill>
                  <a:srgbClr val="D9E4F5"/>
                </a:solidFill>
                <a:latin typeface="Consolas"/>
                <a:ea typeface="Consolas"/>
                <a:cs typeface="Consolas"/>
              </a:rPr>
              <a:t>    depends_on:</a:t>
            </a:r>
            <a:endParaRPr sz="1000"/>
          </a:p>
          <a:p xmlns:a="http://schemas.openxmlformats.org/drawingml/2006/main">
            <a:pPr marL="0" indent="0">
              <a:lnSpc>
                <a:spcPct val="112000"/>
              </a:lnSpc>
              <a:buNone/>
            </a:pPr>
            <a:r>
              <a:rPr sz="1000">
                <a:solidFill>
                  <a:srgbClr val="D9E4F5"/>
                </a:solidFill>
                <a:latin typeface="Consolas"/>
                <a:ea typeface="Consolas"/>
                <a:cs typeface="Consolas"/>
              </a:rPr>
              <a:t>      feature-cache:</a:t>
            </a:r>
            <a:endParaRPr sz="1000"/>
          </a:p>
          <a:p xmlns:a="http://schemas.openxmlformats.org/drawingml/2006/main">
            <a:pPr marL="0" indent="0">
              <a:lnSpc>
                <a:spcPct val="112000"/>
              </a:lnSpc>
              <a:buNone/>
            </a:pPr>
            <a:r>
              <a:rPr sz="1000">
                <a:solidFill>
                  <a:srgbClr val="D9E4F5"/>
                </a:solidFill>
                <a:latin typeface="Consolas"/>
                <a:ea typeface="Consolas"/>
                <a:cs typeface="Consolas"/>
              </a:rPr>
              <a:t>        condition: service_healthy</a:t>
            </a:r>
            <a:endParaRPr sz="1000"/>
          </a:p>
          <a:p xmlns:a="http://schemas.openxmlformats.org/drawingml/2006/main">
            <a:pPr marL="0" indent="0">
              <a:lnSpc>
                <a:spcPct val="112000"/>
              </a:lnSpc>
              <a:buNone/>
            </a:pPr>
            <a:r>
              <a:rPr sz="1000">
                <a:solidFill>
                  <a:srgbClr val="D9E4F5"/>
                </a:solidFill>
                <a:latin typeface="Consolas"/>
                <a:ea typeface="Consolas"/>
                <a:cs typeface="Consolas"/>
              </a:rPr>
              <a:t>    healthcheck:</a:t>
            </a:r>
            <a:endParaRPr sz="1000"/>
          </a:p>
          <a:p xmlns:a="http://schemas.openxmlformats.org/drawingml/2006/main">
            <a:pPr marL="0" indent="0">
              <a:lnSpc>
                <a:spcPct val="112000"/>
              </a:lnSpc>
              <a:buNone/>
            </a:pPr>
            <a:r>
              <a:rPr sz="1000">
                <a:solidFill>
                  <a:srgbClr val="D9E4F5"/>
                </a:solidFill>
                <a:latin typeface="Consolas"/>
                <a:ea typeface="Consolas"/>
                <a:cs typeface="Consolas"/>
              </a:rPr>
              <a:t>      test: ["CMD", "curl", "-fsS",</a:t>
            </a:r>
            <a:endParaRPr sz="1000"/>
          </a:p>
          <a:p xmlns:a="http://schemas.openxmlformats.org/drawingml/2006/main">
            <a:pPr marL="0" indent="0">
              <a:lnSpc>
                <a:spcPct val="112000"/>
              </a:lnSpc>
              <a:buNone/>
            </a:pPr>
            <a:r>
              <a:rPr sz="1000">
                <a:solidFill>
                  <a:srgbClr val="D9E4F5"/>
                </a:solidFill>
                <a:latin typeface="Consolas"/>
                <a:ea typeface="Consolas"/>
                <a:cs typeface="Consolas"/>
              </a:rPr>
              <a:t>             "http://localhost:8000/v1/ready"]</a:t>
            </a:r>
            <a:endParaRPr sz="1000"/>
          </a:p>
          <a:p xmlns:a="http://schemas.openxmlformats.org/drawingml/2006/main">
            <a:pPr marL="0" indent="0">
              <a:lnSpc>
                <a:spcPct val="112000"/>
              </a:lnSpc>
              <a:buNone/>
            </a:pPr>
            <a:r>
              <a:rPr sz="1000">
                <a:solidFill>
                  <a:srgbClr val="D9E4F5"/>
                </a:solidFill>
                <a:latin typeface="Consolas"/>
                <a:ea typeface="Consolas"/>
                <a:cs typeface="Consolas"/>
              </a:rPr>
              <a:t>      interval: 10s</a:t>
            </a:r>
            <a:endParaRPr sz="1000"/>
          </a:p>
          <a:p xmlns:a="http://schemas.openxmlformats.org/drawingml/2006/main">
            <a:pPr marL="0" indent="0">
              <a:lnSpc>
                <a:spcPct val="112000"/>
              </a:lnSpc>
              <a:buNone/>
            </a:pPr>
            <a:r>
              <a:rPr sz="1000">
                <a:solidFill>
                  <a:srgbClr val="D9E4F5"/>
                </a:solidFill>
                <a:latin typeface="Consolas"/>
                <a:ea typeface="Consolas"/>
                <a:cs typeface="Consolas"/>
              </a:rPr>
              <a:t>      start_period: 20s</a:t>
            </a:r>
            <a:endParaRPr sz="1000"/>
          </a:p>
          <a:p xmlns:a="http://schemas.openxmlformats.org/drawingml/2006/main">
            <a:pPr marL="0" indent="0">
              <a:lnSpc>
                <a:spcPct val="112000"/>
              </a:lnSpc>
              <a:buNone/>
            </a:pPr>
            <a:r>
              <a:rPr sz="1000">
                <a:solidFill>
                  <a:srgbClr val="D9E4F5"/>
                </a:solidFill>
                <a:latin typeface="Consolas"/>
                <a:ea typeface="Consolas"/>
                <a:cs typeface="Consolas"/>
              </a:rPr>
              <a:t>  feature-cache:</a:t>
            </a:r>
            <a:endParaRPr sz="1000"/>
          </a:p>
          <a:p xmlns:a="http://schemas.openxmlformats.org/drawingml/2006/main">
            <a:pPr marL="0" indent="0">
              <a:lnSpc>
                <a:spcPct val="112000"/>
              </a:lnSpc>
              <a:buNone/>
            </a:pPr>
            <a:r>
              <a:rPr sz="1000">
                <a:solidFill>
                  <a:srgbClr val="D9E4F5"/>
                </a:solidFill>
                <a:latin typeface="Consolas"/>
                <a:ea typeface="Consolas"/>
                <a:cs typeface="Consolas"/>
              </a:rPr>
              <a:t>    image: redis:7-alpine</a:t>
            </a:r>
            <a:endParaRPr sz="1000"/>
          </a:p>
          <a:p xmlns:a="http://schemas.openxmlformats.org/drawingml/2006/main">
            <a:pPr marL="0" indent="0">
              <a:lnSpc>
                <a:spcPct val="112000"/>
              </a:lnSpc>
              <a:buNone/>
            </a:pPr>
            <a:r>
              <a:rPr sz="1000">
                <a:solidFill>
                  <a:srgbClr val="D9E4F5"/>
                </a:solidFill>
                <a:latin typeface="Consolas"/>
                <a:ea typeface="Consolas"/>
                <a:cs typeface="Consolas"/>
              </a:rPr>
              <a:t>    healthcheck:</a:t>
            </a:r>
            <a:endParaRPr sz="1000"/>
          </a:p>
          <a:p xmlns:a="http://schemas.openxmlformats.org/drawingml/2006/main">
            <a:pPr marL="0" indent="0">
              <a:lnSpc>
                <a:spcPct val="112000"/>
              </a:lnSpc>
              <a:buNone/>
            </a:pPr>
            <a:r>
              <a:rPr sz="1000">
                <a:solidFill>
                  <a:srgbClr val="D9E4F5"/>
                </a:solidFill>
                <a:latin typeface="Consolas"/>
                <a:ea typeface="Consolas"/>
                <a:cs typeface="Consolas"/>
              </a:rPr>
              <a:t>      test: ["CMD", "redis-cli", "ping"]</a:t>
            </a:r>
            <a:endParaRPr sz="1000"/>
          </a:p>
        </p:txBody>
      </p:sp>
      <p:sp>
        <p:nvSpPr>
          <p:cNvPr id="14" name="Shape 11">
            <a:extLst xmlns:a="http://schemas.openxmlformats.org/drawingml/2006/main">
              <a:ext uri="{FF2B5EF4-FFF2-40B4-BE49-F238E27FC236}">
                <a16:creationId xmlns:a16="http://schemas.microsoft.com/office/drawing/2014/main" id="{8148182D-CEFF-4F9A-858E-9FA3815A5734}"/>
              </a:ext>
            </a:extLst>
          </p:cNvPr>
          <p:cNvSpPr>
            <a:spLocks xmlns:a="http://schemas.openxmlformats.org/drawingml/2006/main" noGrp="1"/>
          </p:cNvSpPr>
          <p:nvPr/>
        </p:nvSpPr>
        <p:spPr>
          <a:xfrm xmlns:a="http://schemas.openxmlformats.org/drawingml/2006/main">
            <a:off x="8321040" y="1481328"/>
            <a:ext cx="3364992" cy="1402080"/>
          </a:xfrm>
          <a:prstGeom xmlns:a="http://schemas.openxmlformats.org/drawingml/2006/main" prst="roundRect">
            <a:avLst>
              <a:gd name="adj" fmla="val 3913"/>
            </a:avLst>
          </a:prstGeom>
          <a:solidFill xmlns:a="http://schemas.openxmlformats.org/drawingml/2006/main">
            <a:srgbClr val="D4F1EE"/>
          </a:solidFill>
        </p:spPr>
      </p:sp>
      <p:sp>
        <p:nvSpPr>
          <p:cNvPr id="15" name="Text 12">
            <a:extLst xmlns:a="http://schemas.openxmlformats.org/drawingml/2006/main">
              <a:ext uri="{FF2B5EF4-FFF2-40B4-BE49-F238E27FC236}">
                <a16:creationId xmlns:a16="http://schemas.microsoft.com/office/drawing/2014/main" id="{FC85AA35-0527-4F3F-8E64-FC6BC7F59B08}"/>
              </a:ext>
            </a:extLst>
          </p:cNvPr>
          <p:cNvSpPr>
            <a:spLocks xmlns:a="http://schemas.openxmlformats.org/drawingml/2006/main" noGrp="1"/>
          </p:cNvSpPr>
          <p:nvPr/>
        </p:nvSpPr>
        <p:spPr>
          <a:xfrm xmlns:a="http://schemas.openxmlformats.org/drawingml/2006/main">
            <a:off x="8485632" y="157276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Gate on real readiness</a:t>
            </a:r>
            <a:endParaRPr sz="1050"/>
          </a:p>
        </p:txBody>
      </p:sp>
      <p:sp>
        <p:nvSpPr>
          <p:cNvPr id="16" name="Text 13">
            <a:extLst xmlns:a="http://schemas.openxmlformats.org/drawingml/2006/main">
              <a:ext uri="{FF2B5EF4-FFF2-40B4-BE49-F238E27FC236}">
                <a16:creationId xmlns:a16="http://schemas.microsoft.com/office/drawing/2014/main" id="{F4BEEF08-2C12-4224-98E7-184C08392FC4}"/>
              </a:ext>
            </a:extLst>
          </p:cNvPr>
          <p:cNvSpPr>
            <a:spLocks xmlns:a="http://schemas.openxmlformats.org/drawingml/2006/main" noGrp="1"/>
          </p:cNvSpPr>
          <p:nvPr/>
        </p:nvSpPr>
        <p:spPr>
          <a:xfrm xmlns:a="http://schemas.openxmlformats.org/drawingml/2006/main">
            <a:off x="8485632" y="184708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condition: service_healthy — the API waits for Redis to answer ping, not just to exist.</a:t>
            </a:r>
            <a:endParaRPr sz="930"/>
          </a:p>
        </p:txBody>
      </p:sp>
      <p:sp>
        <p:nvSpPr>
          <p:cNvPr id="17" name="Shape 14">
            <a:extLst xmlns:a="http://schemas.openxmlformats.org/drawingml/2006/main">
              <a:ext uri="{FF2B5EF4-FFF2-40B4-BE49-F238E27FC236}">
                <a16:creationId xmlns:a16="http://schemas.microsoft.com/office/drawing/2014/main" id="{B26415CE-3384-4706-A6D5-24CB9F7C1456}"/>
              </a:ext>
            </a:extLst>
          </p:cNvPr>
          <p:cNvSpPr>
            <a:spLocks xmlns:a="http://schemas.openxmlformats.org/drawingml/2006/main" noGrp="1"/>
          </p:cNvSpPr>
          <p:nvPr/>
        </p:nvSpPr>
        <p:spPr>
          <a:xfrm xmlns:a="http://schemas.openxmlformats.org/drawingml/2006/main">
            <a:off x="8321040" y="3020568"/>
            <a:ext cx="3364992" cy="1402080"/>
          </a:xfrm>
          <a:prstGeom xmlns:a="http://schemas.openxmlformats.org/drawingml/2006/main" prst="roundRect">
            <a:avLst>
              <a:gd name="adj" fmla="val 3913"/>
            </a:avLst>
          </a:prstGeom>
          <a:solidFill xmlns:a="http://schemas.openxmlformats.org/drawingml/2006/main">
            <a:srgbClr val="D9F0FA"/>
          </a:solidFill>
        </p:spPr>
      </p:sp>
      <p:sp>
        <p:nvSpPr>
          <p:cNvPr id="18" name="Text 15">
            <a:extLst xmlns:a="http://schemas.openxmlformats.org/drawingml/2006/main">
              <a:ext uri="{FF2B5EF4-FFF2-40B4-BE49-F238E27FC236}">
                <a16:creationId xmlns:a16="http://schemas.microsoft.com/office/drawing/2014/main" id="{8E552399-5ABB-4106-88DC-852E76DFBD9E}"/>
              </a:ext>
            </a:extLst>
          </p:cNvPr>
          <p:cNvSpPr>
            <a:spLocks xmlns:a="http://schemas.openxmlformats.org/drawingml/2006/main" noGrp="1"/>
          </p:cNvSpPr>
          <p:nvPr/>
        </p:nvSpPr>
        <p:spPr>
          <a:xfrm xmlns:a="http://schemas.openxmlformats.org/drawingml/2006/main">
            <a:off x="8485632" y="311200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/ready, again</a:t>
            </a:r>
            <a:endParaRPr sz="1050"/>
          </a:p>
        </p:txBody>
      </p:sp>
      <p:sp>
        <p:nvSpPr>
          <p:cNvPr id="19" name="Text 16">
            <a:extLst xmlns:a="http://schemas.openxmlformats.org/drawingml/2006/main">
              <a:ext uri="{FF2B5EF4-FFF2-40B4-BE49-F238E27FC236}">
                <a16:creationId xmlns:a16="http://schemas.microsoft.com/office/drawing/2014/main" id="{EC08E70A-2702-4345-8F94-71215CF83291}"/>
              </a:ext>
            </a:extLst>
          </p:cNvPr>
          <p:cNvSpPr>
            <a:spLocks xmlns:a="http://schemas.openxmlformats.org/drawingml/2006/main" noGrp="1"/>
          </p:cNvSpPr>
          <p:nvPr/>
        </p:nvSpPr>
        <p:spPr>
          <a:xfrm xmlns:a="http://schemas.openxmlformats.org/drawingml/2006/main">
            <a:off x="8485632" y="338632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The container-level healthcheck reuses the readiness endpoint built in Module 2.</a:t>
            </a:r>
            <a:endParaRPr sz="930"/>
          </a:p>
        </p:txBody>
      </p:sp>
      <p:sp>
        <p:nvSpPr>
          <p:cNvPr id="20" name="Shape 17">
            <a:extLst xmlns:a="http://schemas.openxmlformats.org/drawingml/2006/main">
              <a:ext uri="{FF2B5EF4-FFF2-40B4-BE49-F238E27FC236}">
                <a16:creationId xmlns:a16="http://schemas.microsoft.com/office/drawing/2014/main" id="{93CF5170-8C7D-4E11-AC37-88493BD60CCA}"/>
              </a:ext>
            </a:extLst>
          </p:cNvPr>
          <p:cNvSpPr>
            <a:spLocks xmlns:a="http://schemas.openxmlformats.org/drawingml/2006/main" noGrp="1"/>
          </p:cNvSpPr>
          <p:nvPr/>
        </p:nvSpPr>
        <p:spPr>
          <a:xfrm xmlns:a="http://schemas.openxmlformats.org/drawingml/2006/main">
            <a:off x="8321040" y="4559808"/>
            <a:ext cx="3364992" cy="1402080"/>
          </a:xfrm>
          <a:prstGeom xmlns:a="http://schemas.openxmlformats.org/drawingml/2006/main" prst="roundRect">
            <a:avLst>
              <a:gd name="adj" fmla="val 3913"/>
            </a:avLst>
          </a:prstGeom>
          <a:solidFill xmlns:a="http://schemas.openxmlformats.org/drawingml/2006/main">
            <a:srgbClr val="FDEBD7"/>
          </a:solidFill>
        </p:spPr>
      </p:sp>
      <p:sp>
        <p:nvSpPr>
          <p:cNvPr id="21" name="Text 18">
            <a:extLst xmlns:a="http://schemas.openxmlformats.org/drawingml/2006/main">
              <a:ext uri="{FF2B5EF4-FFF2-40B4-BE49-F238E27FC236}">
                <a16:creationId xmlns:a16="http://schemas.microsoft.com/office/drawing/2014/main" id="{77701EB0-4CEE-4A59-A654-82DA2572BA1C}"/>
              </a:ext>
            </a:extLst>
          </p:cNvPr>
          <p:cNvSpPr>
            <a:spLocks xmlns:a="http://schemas.openxmlformats.org/drawingml/2006/main" noGrp="1"/>
          </p:cNvSpPr>
          <p:nvPr/>
        </p:nvSpPr>
        <p:spPr>
          <a:xfrm xmlns:a="http://schemas.openxmlformats.org/drawingml/2006/main">
            <a:off x="8485632" y="465124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Trimmed from the full file</a:t>
            </a:r>
            <a:endParaRPr sz="1050"/>
          </a:p>
        </p:txBody>
      </p:sp>
      <p:sp>
        <p:nvSpPr>
          <p:cNvPr id="22" name="Text 19">
            <a:extLst xmlns:a="http://schemas.openxmlformats.org/drawingml/2006/main">
              <a:ext uri="{FF2B5EF4-FFF2-40B4-BE49-F238E27FC236}">
                <a16:creationId xmlns:a16="http://schemas.microsoft.com/office/drawing/2014/main" id="{FBF371C9-84FF-4DE8-BA68-ECA17B9EFBE6}"/>
              </a:ext>
            </a:extLst>
          </p:cNvPr>
          <p:cNvSpPr>
            <a:spLocks xmlns:a="http://schemas.openxmlformats.org/drawingml/2006/main" noGrp="1"/>
          </p:cNvSpPr>
          <p:nvPr/>
        </p:nvSpPr>
        <p:spPr>
          <a:xfrm xmlns:a="http://schemas.openxmlformats.org/drawingml/2006/main">
            <a:off x="8485632" y="492556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Full version adds a 512M memory limit, cache volume, and a hey loadtest profile.</a:t>
            </a:r>
            <a:endParaRPr sz="930"/>
          </a:p>
        </p:txBody>
      </p:sp>
    </p:spTree>
    <p:extLst>
      <p:ext uri="{BB962C8B-B14F-4D97-AF65-F5344CB8AC3E}">
        <p14:creationId xmlns:p14="http://schemas.microsoft.com/office/powerpoint/2010/main" val="756967916"/>
      </p:ext>
    </p:extLst>
  </p:cSld>
</p:sld>
</file>

<file path=ppt/slides/slide7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62441C6-74DE-4E90-BB95-DEEC43D1B233}"/>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Lab 3 — Containerise the fraud service</a:t>
            </a:r>
            <a:endParaRPr sz="2600"/>
          </a:p>
        </p:txBody>
      </p:sp>
      <p:sp>
        <p:nvSpPr>
          <p:cNvPr id="3" name="Text 1">
            <a:extLst xmlns:a="http://schemas.openxmlformats.org/drawingml/2006/main">
              <a:ext uri="{FF2B5EF4-FFF2-40B4-BE49-F238E27FC236}">
                <a16:creationId xmlns:a16="http://schemas.microsoft.com/office/drawing/2014/main" id="{A5577B14-B564-4288-A365-A82007068330}"/>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المختبر ٣ — وضع خدمة الاحتيال في حاوية</a:t>
            </a:r>
            <a:endParaRPr sz="1300"/>
          </a:p>
        </p:txBody>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adb5a25c24374360"/>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B9ADFA7E-AD7F-4F5F-965A-33367947AA3A}"/>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E941BEAC-70FE-4ABA-9483-71375A4BBCF8}"/>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3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C6665BF6-4965-42F2-AC00-B5B339721F33}"/>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74</a:t>
            </a:r>
            <a:endParaRPr sz="850"/>
          </a:p>
        </p:txBody>
      </p:sp>
      <p:sp>
        <p:nvSpPr>
          <p:cNvPr id="8" name="Text 5">
            <a:extLst xmlns:a="http://schemas.openxmlformats.org/drawingml/2006/main">
              <a:ext uri="{FF2B5EF4-FFF2-40B4-BE49-F238E27FC236}">
                <a16:creationId xmlns:a16="http://schemas.microsoft.com/office/drawing/2014/main" id="{3A33EB2B-9455-4240-BBBC-1506A84C47BF}"/>
              </a:ext>
            </a:extLst>
          </p:cNvPr>
          <p:cNvSpPr>
            <a:spLocks xmlns:a="http://schemas.openxmlformats.org/drawingml/2006/main" noGrp="1"/>
          </p:cNvSpPr>
          <p:nvPr/>
        </p:nvSpPr>
        <p:spPr>
          <a:xfrm xmlns:a="http://schemas.openxmlformats.org/drawingml/2006/main">
            <a:off x="502920" y="1481328"/>
            <a:ext cx="1188720" cy="310896"/>
          </a:xfrm>
          <a:prstGeom xmlns:a="http://schemas.openxmlformats.org/drawingml/2006/main" prst="roundRect">
            <a:avLst>
              <a:gd name="adj" fmla="val 17647"/>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LAB 3</a:t>
            </a:r>
            <a:endParaRPr sz="1100"/>
          </a:p>
        </p:txBody>
      </p:sp>
      <p:sp>
        <p:nvSpPr>
          <p:cNvPr id="9" name="Text 6">
            <a:extLst xmlns:a="http://schemas.openxmlformats.org/drawingml/2006/main">
              <a:ext uri="{FF2B5EF4-FFF2-40B4-BE49-F238E27FC236}">
                <a16:creationId xmlns:a16="http://schemas.microsoft.com/office/drawing/2014/main" id="{904DAB37-AAD1-4E4F-84E9-D67EB99DA82C}"/>
              </a:ext>
            </a:extLst>
          </p:cNvPr>
          <p:cNvSpPr>
            <a:spLocks xmlns:a="http://schemas.openxmlformats.org/drawingml/2006/main" noGrp="1"/>
          </p:cNvSpPr>
          <p:nvPr/>
        </p:nvSpPr>
        <p:spPr>
          <a:xfrm xmlns:a="http://schemas.openxmlformats.org/drawingml/2006/main">
            <a:off x="1874520" y="1481328"/>
            <a:ext cx="594360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5F6B7A"/>
                </a:solidFill>
                <a:latin typeface="Calibri"/>
                <a:ea typeface="Calibri"/>
                <a:cs typeface="Calibri"/>
              </a:rPr>
              <a:t>⏱ 50 min</a:t>
            </a:r>
            <a:r>
              <a:rPr sz="1050">
                <a:solidFill>
                  <a:srgbClr val="5F6B7A"/>
                </a:solidFill>
                <a:latin typeface="Calibri"/>
                <a:ea typeface="Calibri"/>
                <a:cs typeface="Calibri"/>
              </a:rPr>
              <a:t>     Pairs</a:t>
            </a:r>
            <a:r>
              <a:rPr sz="1050">
                <a:solidFill>
                  <a:srgbClr val="5F6B7A"/>
                </a:solidFill>
                <a:latin typeface="Calibri"/>
                <a:ea typeface="Calibri"/>
                <a:cs typeface="Calibri"/>
              </a:rPr>
              <a:t>     Difficulty: </a:t>
            </a:r>
            <a:r>
              <a:rPr sz="1050">
                <a:solidFill>
                  <a:srgbClr val="F58220"/>
                </a:solidFill>
                <a:latin typeface="Calibri"/>
                <a:ea typeface="Calibri"/>
                <a:cs typeface="Calibri"/>
              </a:rPr>
              <a:t>●●○</a:t>
            </a:r>
            <a:endParaRPr sz="1050"/>
          </a:p>
        </p:txBody>
      </p:sp>
      <p:sp>
        <p:nvSpPr>
          <p:cNvPr id="10" name="Text 7">
            <a:extLst xmlns:a="http://schemas.openxmlformats.org/drawingml/2006/main">
              <a:ext uri="{FF2B5EF4-FFF2-40B4-BE49-F238E27FC236}">
                <a16:creationId xmlns:a16="http://schemas.microsoft.com/office/drawing/2014/main" id="{83507523-C410-401F-BB40-E88D362AF157}"/>
              </a:ext>
            </a:extLst>
          </p:cNvPr>
          <p:cNvSpPr>
            <a:spLocks xmlns:a="http://schemas.openxmlformats.org/drawingml/2006/main" noGrp="1"/>
          </p:cNvSpPr>
          <p:nvPr/>
        </p:nvSpPr>
        <p:spPr>
          <a:xfrm xmlns:a="http://schemas.openxmlformats.org/drawingml/2006/main">
            <a:off x="502920" y="2029968"/>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1</a:t>
            </a:r>
            <a:endParaRPr sz="1050"/>
          </a:p>
        </p:txBody>
      </p:sp>
      <p:sp>
        <p:nvSpPr>
          <p:cNvPr id="11" name="Text 8">
            <a:extLst xmlns:a="http://schemas.openxmlformats.org/drawingml/2006/main">
              <a:ext uri="{FF2B5EF4-FFF2-40B4-BE49-F238E27FC236}">
                <a16:creationId xmlns:a16="http://schemas.microsoft.com/office/drawing/2014/main" id="{43216584-2814-4BF7-89F5-7DC0BAD07ECA}"/>
              </a:ext>
            </a:extLst>
          </p:cNvPr>
          <p:cNvSpPr>
            <a:spLocks xmlns:a="http://schemas.openxmlformats.org/drawingml/2006/main" noGrp="1"/>
          </p:cNvSpPr>
          <p:nvPr/>
        </p:nvSpPr>
        <p:spPr>
          <a:xfrm xmlns:a="http://schemas.openxmlformats.org/drawingml/2006/main">
            <a:off x="914400" y="2011680"/>
            <a:ext cx="6035040" cy="701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Baseline the naive build (5 min)  </a:t>
            </a:r>
            <a:r>
              <a:rPr sz="1000">
                <a:solidFill>
                  <a:srgbClr val="5F6B7A"/>
                </a:solidFill>
                <a:latin typeface="Calibri"/>
                <a:ea typeface="Calibri"/>
                <a:cs typeface="Calibri"/>
              </a:rPr>
              <a:t>Write .dockerignore first; build the provided COPY . . Dockerfile; record time and size</a:t>
            </a:r>
            <a:endParaRPr sz="1050"/>
          </a:p>
        </p:txBody>
      </p:sp>
      <p:sp>
        <p:nvSpPr>
          <p:cNvPr id="12" name="Text 9">
            <a:extLst xmlns:a="http://schemas.openxmlformats.org/drawingml/2006/main">
              <a:ext uri="{FF2B5EF4-FFF2-40B4-BE49-F238E27FC236}">
                <a16:creationId xmlns:a16="http://schemas.microsoft.com/office/drawing/2014/main" id="{3109D540-687C-425D-A51E-1FF45B48C169}"/>
              </a:ext>
            </a:extLst>
          </p:cNvPr>
          <p:cNvSpPr>
            <a:spLocks xmlns:a="http://schemas.openxmlformats.org/drawingml/2006/main" noGrp="1"/>
          </p:cNvSpPr>
          <p:nvPr/>
        </p:nvSpPr>
        <p:spPr>
          <a:xfrm xmlns:a="http://schemas.openxmlformats.org/drawingml/2006/main">
            <a:off x="502920" y="2731008"/>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2</a:t>
            </a:r>
            <a:endParaRPr sz="1050"/>
          </a:p>
        </p:txBody>
      </p:sp>
      <p:sp>
        <p:nvSpPr>
          <p:cNvPr id="13" name="Text 10">
            <a:extLst xmlns:a="http://schemas.openxmlformats.org/drawingml/2006/main">
              <a:ext uri="{FF2B5EF4-FFF2-40B4-BE49-F238E27FC236}">
                <a16:creationId xmlns:a16="http://schemas.microsoft.com/office/drawing/2014/main" id="{78CE4F51-7756-4040-9404-6B8E7E2FA8DF}"/>
              </a:ext>
            </a:extLst>
          </p:cNvPr>
          <p:cNvSpPr>
            <a:spLocks xmlns:a="http://schemas.openxmlformats.org/drawingml/2006/main" noGrp="1"/>
          </p:cNvSpPr>
          <p:nvPr/>
        </p:nvSpPr>
        <p:spPr>
          <a:xfrm xmlns:a="http://schemas.openxmlformats.org/drawingml/2006/main">
            <a:off x="914400" y="2712720"/>
            <a:ext cx="6035040" cy="701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Multi-stage Dockerfile (15 min)  </a:t>
            </a:r>
            <a:r>
              <a:rPr sz="1000">
                <a:solidFill>
                  <a:srgbClr val="5F6B7A"/>
                </a:solidFill>
                <a:latin typeface="Calibri"/>
                <a:ea typeface="Calibri"/>
                <a:cs typeface="Calibri"/>
              </a:rPr>
              <a:t>Author per template; build; record size with make image-size</a:t>
            </a:r>
            <a:endParaRPr sz="1050"/>
          </a:p>
        </p:txBody>
      </p:sp>
      <p:sp>
        <p:nvSpPr>
          <p:cNvPr id="14" name="Text 11">
            <a:extLst xmlns:a="http://schemas.openxmlformats.org/drawingml/2006/main">
              <a:ext uri="{FF2B5EF4-FFF2-40B4-BE49-F238E27FC236}">
                <a16:creationId xmlns:a16="http://schemas.microsoft.com/office/drawing/2014/main" id="{AEBCC8D6-207B-46B0-9983-2DB6BDE94534}"/>
              </a:ext>
            </a:extLst>
          </p:cNvPr>
          <p:cNvSpPr>
            <a:spLocks xmlns:a="http://schemas.openxmlformats.org/drawingml/2006/main" noGrp="1"/>
          </p:cNvSpPr>
          <p:nvPr/>
        </p:nvSpPr>
        <p:spPr>
          <a:xfrm xmlns:a="http://schemas.openxmlformats.org/drawingml/2006/main">
            <a:off x="502920" y="3432048"/>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3</a:t>
            </a:r>
            <a:endParaRPr sz="1050"/>
          </a:p>
        </p:txBody>
      </p:sp>
      <p:sp>
        <p:nvSpPr>
          <p:cNvPr id="15" name="Text 12">
            <a:extLst xmlns:a="http://schemas.openxmlformats.org/drawingml/2006/main">
              <a:ext uri="{FF2B5EF4-FFF2-40B4-BE49-F238E27FC236}">
                <a16:creationId xmlns:a16="http://schemas.microsoft.com/office/drawing/2014/main" id="{866B9A57-D27D-4BDC-B32C-8B3DE0B2D3BA}"/>
              </a:ext>
            </a:extLst>
          </p:cNvPr>
          <p:cNvSpPr>
            <a:spLocks xmlns:a="http://schemas.openxmlformats.org/drawingml/2006/main" noGrp="1"/>
          </p:cNvSpPr>
          <p:nvPr/>
        </p:nvSpPr>
        <p:spPr>
          <a:xfrm xmlns:a="http://schemas.openxmlformats.org/drawingml/2006/main">
            <a:off x="914400" y="3413760"/>
            <a:ext cx="6035040" cy="701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Prove cache discipline (5 min)  </a:t>
            </a:r>
            <a:r>
              <a:rPr sz="1000">
                <a:solidFill>
                  <a:srgbClr val="5F6B7A"/>
                </a:solidFill>
                <a:latin typeface="Calibri"/>
                <a:ea typeface="Calibri"/>
                <a:cs typeface="Calibri"/>
              </a:rPr>
              <a:t>Edit one line in routes.py, rebuild — confirm &lt; 30 s and a dependency-layer cache hit</a:t>
            </a:r>
            <a:endParaRPr sz="1050"/>
          </a:p>
        </p:txBody>
      </p:sp>
      <p:sp>
        <p:nvSpPr>
          <p:cNvPr id="16" name="Text 13">
            <a:extLst xmlns:a="http://schemas.openxmlformats.org/drawingml/2006/main">
              <a:ext uri="{FF2B5EF4-FFF2-40B4-BE49-F238E27FC236}">
                <a16:creationId xmlns:a16="http://schemas.microsoft.com/office/drawing/2014/main" id="{AA80D371-C3C5-4824-B643-290C03D53D6A}"/>
              </a:ext>
            </a:extLst>
          </p:cNvPr>
          <p:cNvSpPr>
            <a:spLocks xmlns:a="http://schemas.openxmlformats.org/drawingml/2006/main" noGrp="1"/>
          </p:cNvSpPr>
          <p:nvPr/>
        </p:nvSpPr>
        <p:spPr>
          <a:xfrm xmlns:a="http://schemas.openxmlformats.org/drawingml/2006/main">
            <a:off x="502920" y="4133088"/>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4</a:t>
            </a:r>
            <a:endParaRPr sz="1050"/>
          </a:p>
        </p:txBody>
      </p:sp>
      <p:sp>
        <p:nvSpPr>
          <p:cNvPr id="17" name="Text 14">
            <a:extLst xmlns:a="http://schemas.openxmlformats.org/drawingml/2006/main">
              <a:ext uri="{FF2B5EF4-FFF2-40B4-BE49-F238E27FC236}">
                <a16:creationId xmlns:a16="http://schemas.microsoft.com/office/drawing/2014/main" id="{FDF78F17-6237-4F9C-AE96-D07174E02584}"/>
              </a:ext>
            </a:extLst>
          </p:cNvPr>
          <p:cNvSpPr>
            <a:spLocks xmlns:a="http://schemas.openxmlformats.org/drawingml/2006/main" noGrp="1"/>
          </p:cNvSpPr>
          <p:nvPr/>
        </p:nvSpPr>
        <p:spPr>
          <a:xfrm xmlns:a="http://schemas.openxmlformats.org/drawingml/2006/main">
            <a:off x="914400" y="4114800"/>
            <a:ext cx="6035040" cy="701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Compose with gating (10 min)  </a:t>
            </a:r>
            <a:r>
              <a:rPr sz="1000">
                <a:solidFill>
                  <a:srgbClr val="5F6B7A"/>
                </a:solidFill>
                <a:latin typeface="Calibri"/>
                <a:ea typeface="Calibri"/>
                <a:cs typeface="Calibri"/>
              </a:rPr>
              <a:t>Redis + service_healthy; make up; docker compose ps must show healthy</a:t>
            </a:r>
            <a:endParaRPr sz="1050"/>
          </a:p>
        </p:txBody>
      </p:sp>
      <p:sp>
        <p:nvSpPr>
          <p:cNvPr id="18" name="Text 15">
            <a:extLst xmlns:a="http://schemas.openxmlformats.org/drawingml/2006/main">
              <a:ext uri="{FF2B5EF4-FFF2-40B4-BE49-F238E27FC236}">
                <a16:creationId xmlns:a16="http://schemas.microsoft.com/office/drawing/2014/main" id="{7C4AC81B-CC2F-4563-BC58-717EDB29A118}"/>
              </a:ext>
            </a:extLst>
          </p:cNvPr>
          <p:cNvSpPr>
            <a:spLocks xmlns:a="http://schemas.openxmlformats.org/drawingml/2006/main" noGrp="1"/>
          </p:cNvSpPr>
          <p:nvPr/>
        </p:nvSpPr>
        <p:spPr>
          <a:xfrm xmlns:a="http://schemas.openxmlformats.org/drawingml/2006/main">
            <a:off x="502920" y="4834128"/>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5</a:t>
            </a:r>
            <a:endParaRPr sz="1050"/>
          </a:p>
        </p:txBody>
      </p:sp>
      <p:sp>
        <p:nvSpPr>
          <p:cNvPr id="19" name="Text 16">
            <a:extLst xmlns:a="http://schemas.openxmlformats.org/drawingml/2006/main">
              <a:ext uri="{FF2B5EF4-FFF2-40B4-BE49-F238E27FC236}">
                <a16:creationId xmlns:a16="http://schemas.microsoft.com/office/drawing/2014/main" id="{5F6AFF2A-192F-413A-B825-2D52292D399E}"/>
              </a:ext>
            </a:extLst>
          </p:cNvPr>
          <p:cNvSpPr>
            <a:spLocks xmlns:a="http://schemas.openxmlformats.org/drawingml/2006/main" noGrp="1"/>
          </p:cNvSpPr>
          <p:nvPr/>
        </p:nvSpPr>
        <p:spPr>
          <a:xfrm xmlns:a="http://schemas.openxmlformats.org/drawingml/2006/main">
            <a:off x="914400" y="4815840"/>
            <a:ext cx="6035040" cy="701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Smoke + load test (10 min)  </a:t>
            </a:r>
            <a:r>
              <a:rPr sz="1000">
                <a:solidFill>
                  <a:srgbClr val="5F6B7A"/>
                </a:solidFill>
                <a:latin typeface="Calibri"/>
                <a:ea typeface="Calibri"/>
                <a:cs typeface="Calibri"/>
              </a:rPr>
              <a:t>make smoke, then --profile loadtest; compare p99 vs bare-metal Lab 2 in BENCHMARKS.md</a:t>
            </a:r>
            <a:endParaRPr sz="1050"/>
          </a:p>
        </p:txBody>
      </p:sp>
      <p:sp>
        <p:nvSpPr>
          <p:cNvPr id="20" name="Text 17">
            <a:extLst xmlns:a="http://schemas.openxmlformats.org/drawingml/2006/main">
              <a:ext uri="{FF2B5EF4-FFF2-40B4-BE49-F238E27FC236}">
                <a16:creationId xmlns:a16="http://schemas.microsoft.com/office/drawing/2014/main" id="{EF78DBB9-687A-416E-8B93-E541C59E13EF}"/>
              </a:ext>
            </a:extLst>
          </p:cNvPr>
          <p:cNvSpPr>
            <a:spLocks xmlns:a="http://schemas.openxmlformats.org/drawingml/2006/main" noGrp="1"/>
          </p:cNvSpPr>
          <p:nvPr/>
        </p:nvSpPr>
        <p:spPr>
          <a:xfrm xmlns:a="http://schemas.openxmlformats.org/drawingml/2006/main">
            <a:off x="502920" y="5535168"/>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6</a:t>
            </a:r>
            <a:endParaRPr sz="1050"/>
          </a:p>
        </p:txBody>
      </p:sp>
      <p:sp>
        <p:nvSpPr>
          <p:cNvPr id="21" name="Text 18">
            <a:extLst xmlns:a="http://schemas.openxmlformats.org/drawingml/2006/main">
              <a:ext uri="{FF2B5EF4-FFF2-40B4-BE49-F238E27FC236}">
                <a16:creationId xmlns:a16="http://schemas.microsoft.com/office/drawing/2014/main" id="{92AE7778-AEF1-4B82-AAA4-BC55DB96BA99}"/>
              </a:ext>
            </a:extLst>
          </p:cNvPr>
          <p:cNvSpPr>
            <a:spLocks xmlns:a="http://schemas.openxmlformats.org/drawingml/2006/main" noGrp="1"/>
          </p:cNvSpPr>
          <p:nvPr/>
        </p:nvSpPr>
        <p:spPr>
          <a:xfrm xmlns:a="http://schemas.openxmlformats.org/drawingml/2006/main">
            <a:off x="914400" y="5516880"/>
            <a:ext cx="6035040" cy="701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Measure startup (5 min)  </a:t>
            </a:r>
            <a:r>
              <a:rPr sz="1000">
                <a:solidFill>
                  <a:srgbClr val="5F6B7A"/>
                </a:solidFill>
                <a:latin typeface="Calibri"/>
                <a:ea typeface="Calibri"/>
                <a:cs typeface="Calibri"/>
              </a:rPr>
              <a:t>scripts/startup_time.sh; record time-to-ready; commit</a:t>
            </a:r>
            <a:endParaRPr sz="1050"/>
          </a:p>
        </p:txBody>
      </p:sp>
      <p:sp>
        <p:nvSpPr>
          <p:cNvPr id="22" name="Shape 19">
            <a:extLst xmlns:a="http://schemas.openxmlformats.org/drawingml/2006/main">
              <a:ext uri="{FF2B5EF4-FFF2-40B4-BE49-F238E27FC236}">
                <a16:creationId xmlns:a16="http://schemas.microsoft.com/office/drawing/2014/main" id="{CB761924-1971-4420-B087-9967D5E98E84}"/>
              </a:ext>
            </a:extLst>
          </p:cNvPr>
          <p:cNvSpPr>
            <a:spLocks xmlns:a="http://schemas.openxmlformats.org/drawingml/2006/main" noGrp="1"/>
          </p:cNvSpPr>
          <p:nvPr/>
        </p:nvSpPr>
        <p:spPr>
          <a:xfrm xmlns:a="http://schemas.openxmlformats.org/drawingml/2006/main">
            <a:off x="7269480" y="2011680"/>
            <a:ext cx="4416552" cy="1417320"/>
          </a:xfrm>
          <a:prstGeom xmlns:a="http://schemas.openxmlformats.org/drawingml/2006/main" prst="roundRect">
            <a:avLst>
              <a:gd name="adj" fmla="val 4516"/>
            </a:avLst>
          </a:prstGeom>
          <a:solidFill xmlns:a="http://schemas.openxmlformats.org/drawingml/2006/main">
            <a:srgbClr val="D4F1EE"/>
          </a:solidFill>
        </p:spPr>
      </p:sp>
      <p:sp>
        <p:nvSpPr>
          <p:cNvPr id="23" name="Text 20">
            <a:extLst xmlns:a="http://schemas.openxmlformats.org/drawingml/2006/main">
              <a:ext uri="{FF2B5EF4-FFF2-40B4-BE49-F238E27FC236}">
                <a16:creationId xmlns:a16="http://schemas.microsoft.com/office/drawing/2014/main" id="{7559EEED-A3FF-4870-9915-927BF583329C}"/>
              </a:ext>
            </a:extLst>
          </p:cNvPr>
          <p:cNvSpPr>
            <a:spLocks xmlns:a="http://schemas.openxmlformats.org/drawingml/2006/main" noGrp="1"/>
          </p:cNvSpPr>
          <p:nvPr/>
        </p:nvSpPr>
        <p:spPr>
          <a:xfrm xmlns:a="http://schemas.openxmlformats.org/drawingml/2006/main">
            <a:off x="7452360" y="2139696"/>
            <a:ext cx="405079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056A63"/>
                </a:solidFill>
                <a:latin typeface="Calibri"/>
                <a:ea typeface="Calibri"/>
                <a:cs typeface="Calibri"/>
              </a:rPr>
              <a:t>DELIVERABLE</a:t>
            </a:r>
            <a:endParaRPr sz="900"/>
          </a:p>
        </p:txBody>
      </p:sp>
      <p:sp>
        <p:nvSpPr>
          <p:cNvPr id="24" name="Text 21">
            <a:extLst xmlns:a="http://schemas.openxmlformats.org/drawingml/2006/main">
              <a:ext uri="{FF2B5EF4-FFF2-40B4-BE49-F238E27FC236}">
                <a16:creationId xmlns:a16="http://schemas.microsoft.com/office/drawing/2014/main" id="{88F20189-4733-43EC-9EDA-032F93F79E2A}"/>
              </a:ext>
            </a:extLst>
          </p:cNvPr>
          <p:cNvSpPr>
            <a:spLocks xmlns:a="http://schemas.openxmlformats.org/drawingml/2006/main" noGrp="1"/>
          </p:cNvSpPr>
          <p:nvPr/>
        </p:nvSpPr>
        <p:spPr>
          <a:xfrm xmlns:a="http://schemas.openxmlformats.org/drawingml/2006/main">
            <a:off x="7452360" y="2395728"/>
            <a:ext cx="4050792" cy="960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30">
                <a:solidFill>
                  <a:srgbClr val="056A63"/>
                </a:solidFill>
                <a:latin typeface="Calibri"/>
                <a:ea typeface="Calibri"/>
                <a:cs typeface="Calibri"/>
              </a:rPr>
              <a:t>A slim, non-root, healthchecked image plus a compose stack — naive vs multi-stage size, rebuild time, time-to-ready and p99 recorded in BENCHMARKS.md.</a:t>
            </a:r>
            <a:endParaRPr sz="1030"/>
          </a:p>
        </p:txBody>
      </p:sp>
      <p:sp>
        <p:nvSpPr>
          <p:cNvPr id="25" name="Shape 22">
            <a:extLst xmlns:a="http://schemas.openxmlformats.org/drawingml/2006/main">
              <a:ext uri="{FF2B5EF4-FFF2-40B4-BE49-F238E27FC236}">
                <a16:creationId xmlns:a16="http://schemas.microsoft.com/office/drawing/2014/main" id="{08A16923-0662-468C-8EEE-CDAA01FA6025}"/>
              </a:ext>
            </a:extLst>
          </p:cNvPr>
          <p:cNvSpPr>
            <a:spLocks xmlns:a="http://schemas.openxmlformats.org/drawingml/2006/main" noGrp="1"/>
          </p:cNvSpPr>
          <p:nvPr/>
        </p:nvSpPr>
        <p:spPr>
          <a:xfrm xmlns:a="http://schemas.openxmlformats.org/drawingml/2006/main">
            <a:off x="7269480" y="3611880"/>
            <a:ext cx="4416552" cy="1371600"/>
          </a:xfrm>
          <a:prstGeom xmlns:a="http://schemas.openxmlformats.org/drawingml/2006/main" prst="roundRect">
            <a:avLst>
              <a:gd name="adj" fmla="val 4667"/>
            </a:avLst>
          </a:prstGeom>
          <a:solidFill xmlns:a="http://schemas.openxmlformats.org/drawingml/2006/main">
            <a:srgbClr val="EEF3FB"/>
          </a:solidFill>
          <a:ln xmlns:a="http://schemas.openxmlformats.org/drawingml/2006/main" w="9525">
            <a:solidFill>
              <a:srgbClr val="D9E4F5"/>
            </a:solidFill>
            <a:prstDash val="solid"/>
          </a:ln>
        </p:spPr>
      </p:sp>
      <p:sp>
        <p:nvSpPr>
          <p:cNvPr id="26" name="Text 23">
            <a:extLst xmlns:a="http://schemas.openxmlformats.org/drawingml/2006/main">
              <a:ext uri="{FF2B5EF4-FFF2-40B4-BE49-F238E27FC236}">
                <a16:creationId xmlns:a16="http://schemas.microsoft.com/office/drawing/2014/main" id="{001123F3-E69B-4226-974F-2A302987C49C}"/>
              </a:ext>
            </a:extLst>
          </p:cNvPr>
          <p:cNvSpPr>
            <a:spLocks xmlns:a="http://schemas.openxmlformats.org/drawingml/2006/main" noGrp="1"/>
          </p:cNvSpPr>
          <p:nvPr/>
        </p:nvSpPr>
        <p:spPr>
          <a:xfrm xmlns:a="http://schemas.openxmlformats.org/drawingml/2006/main">
            <a:off x="7452360" y="3730752"/>
            <a:ext cx="405079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100">
                <a:solidFill>
                  <a:srgbClr val="1D2A5C"/>
                </a:solidFill>
                <a:latin typeface="Calibri"/>
                <a:ea typeface="Calibri"/>
                <a:cs typeface="Calibri"/>
              </a:rPr>
              <a:t>CHECKPOINT — how you know it worked</a:t>
            </a:r>
            <a:endParaRPr sz="900"/>
          </a:p>
        </p:txBody>
      </p:sp>
      <p:sp>
        <p:nvSpPr>
          <p:cNvPr id="27" name="Text 24">
            <a:extLst xmlns:a="http://schemas.openxmlformats.org/drawingml/2006/main">
              <a:ext uri="{FF2B5EF4-FFF2-40B4-BE49-F238E27FC236}">
                <a16:creationId xmlns:a16="http://schemas.microsoft.com/office/drawing/2014/main" id="{C5A451B3-A4CD-4872-955E-F119BACA0B98}"/>
              </a:ext>
            </a:extLst>
          </p:cNvPr>
          <p:cNvSpPr>
            <a:spLocks xmlns:a="http://schemas.openxmlformats.org/drawingml/2006/main" noGrp="1"/>
          </p:cNvSpPr>
          <p:nvPr/>
        </p:nvSpPr>
        <p:spPr>
          <a:xfrm xmlns:a="http://schemas.openxmlformats.org/drawingml/2006/main">
            <a:off x="7452360" y="3986784"/>
            <a:ext cx="4050792"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5F6B7A"/>
                </a:solidFill>
                <a:latin typeface="Calibri"/>
                <a:ea typeface="Calibri"/>
                <a:cs typeface="Calibri"/>
              </a:rPr>
              <a:t>docker compose ps shows fraud-api (healthy) and feature-cache (healthy); warm rebuild &lt; 30 s; image ≤ 450 MB.</a:t>
            </a:r>
            <a:endParaRPr sz="1000"/>
          </a:p>
        </p:txBody>
      </p:sp>
      <p:sp>
        <p:nvSpPr>
          <p:cNvPr id="28" name="Shape 25">
            <a:extLst xmlns:a="http://schemas.openxmlformats.org/drawingml/2006/main">
              <a:ext uri="{FF2B5EF4-FFF2-40B4-BE49-F238E27FC236}">
                <a16:creationId xmlns:a16="http://schemas.microsoft.com/office/drawing/2014/main" id="{FE82F969-7668-46E3-A82A-12A094720D72}"/>
              </a:ext>
            </a:extLst>
          </p:cNvPr>
          <p:cNvSpPr>
            <a:spLocks xmlns:a="http://schemas.openxmlformats.org/drawingml/2006/main" noGrp="1"/>
          </p:cNvSpPr>
          <p:nvPr/>
        </p:nvSpPr>
        <p:spPr>
          <a:xfrm xmlns:a="http://schemas.openxmlformats.org/drawingml/2006/main">
            <a:off x="7269480" y="5166360"/>
            <a:ext cx="4416552" cy="1051560"/>
          </a:xfrm>
          <a:prstGeom xmlns:a="http://schemas.openxmlformats.org/drawingml/2006/main" prst="roundRect">
            <a:avLst>
              <a:gd name="adj" fmla="val 6087"/>
            </a:avLst>
          </a:prstGeom>
          <a:solidFill xmlns:a="http://schemas.openxmlformats.org/drawingml/2006/main">
            <a:srgbClr val="FDEBD7"/>
          </a:solidFill>
        </p:spPr>
      </p:sp>
      <p:sp>
        <p:nvSpPr>
          <p:cNvPr id="29" name="Text 26">
            <a:extLst xmlns:a="http://schemas.openxmlformats.org/drawingml/2006/main">
              <a:ext uri="{FF2B5EF4-FFF2-40B4-BE49-F238E27FC236}">
                <a16:creationId xmlns:a16="http://schemas.microsoft.com/office/drawing/2014/main" id="{D43D44FE-9FD9-48EB-9D17-6152E12F8912}"/>
              </a:ext>
            </a:extLst>
          </p:cNvPr>
          <p:cNvSpPr>
            <a:spLocks xmlns:a="http://schemas.openxmlformats.org/drawingml/2006/main" noGrp="1"/>
          </p:cNvSpPr>
          <p:nvPr/>
        </p:nvSpPr>
        <p:spPr>
          <a:xfrm xmlns:a="http://schemas.openxmlformats.org/drawingml/2006/main">
            <a:off x="7452360" y="5230368"/>
            <a:ext cx="4050792"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850" b="1">
                <a:solidFill>
                  <a:srgbClr val="A6531C"/>
                </a:solidFill>
                <a:latin typeface="Calibri"/>
                <a:ea typeface="Calibri"/>
                <a:cs typeface="Calibri"/>
              </a:rPr>
              <a:t>INSTRUCTOR TIP  </a:t>
            </a:r>
            <a:r>
              <a:rPr sz="950">
                <a:solidFill>
                  <a:srgbClr val="A6531C"/>
                </a:solidFill>
                <a:latin typeface="Calibri"/>
                <a:ea typeface="Calibri"/>
                <a:cs typeface="Calibri"/>
              </a:rPr>
              <a:t>exec format error on Apple Silicon? Build with --platform linux/amd64. Container unhealthy? Raise start-period — the model needs load time.</a:t>
            </a:r>
            <a:endParaRPr sz="850"/>
          </a:p>
        </p:txBody>
      </p:sp>
    </p:spTree>
    <p:extLst>
      <p:ext uri="{BB962C8B-B14F-4D97-AF65-F5344CB8AC3E}">
        <p14:creationId xmlns:p14="http://schemas.microsoft.com/office/powerpoint/2010/main" val="1513446722"/>
      </p:ext>
    </p:extLst>
  </p:cSld>
</p:sld>
</file>

<file path=ppt/slides/slide7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DE5F17D-659E-48CC-9D2F-EC1A655C4B18}"/>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Container incident stations — diagnose before rebuilding</a:t>
            </a:r>
            <a:endParaRPr sz="2600"/>
          </a:p>
        </p:txBody>
      </p:sp>
      <p:sp>
        <p:nvSpPr>
          <p:cNvPr id="3" name="Text 1">
            <a:extLst xmlns:a="http://schemas.openxmlformats.org/drawingml/2006/main">
              <a:ext uri="{FF2B5EF4-FFF2-40B4-BE49-F238E27FC236}">
                <a16:creationId xmlns:a16="http://schemas.microsoft.com/office/drawing/2014/main" id="{16A3C7C4-974F-4731-AE67-C6A488FEC868}"/>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محطات أعطال الحاويات — شخّص قبل إعادة البناء</a:t>
            </a:r>
            <a:endParaRPr sz="1300"/>
          </a:p>
        </p:txBody>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a80400a76e144f23"/>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D60A61EA-B363-4398-BC98-A84121CFAE1F}"/>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BB66A3E8-A99A-4AF4-B699-7DE7040FFBAF}"/>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LAB 3</a:t>
            </a:r>
            <a:r>
              <a:rPr sz="850" b="1" spc="100">
                <a:solidFill>
                  <a:srgbClr val="00A79D"/>
                </a:solidFill>
                <a:latin typeface="Calibri"/>
                <a:ea typeface="Calibri"/>
                <a:cs typeface="Calibri"/>
              </a:rPr>
              <a:t>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7667CF09-35EA-459F-AE5E-228548E764FA}"/>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75</a:t>
            </a:r>
            <a:endParaRPr sz="850"/>
          </a:p>
        </p:txBody>
      </p:sp>
      <p:sp>
        <p:nvSpPr>
          <p:cNvPr id="8" name="Text 5">
            <a:extLst xmlns:a="http://schemas.openxmlformats.org/drawingml/2006/main">
              <a:ext uri="{FF2B5EF4-FFF2-40B4-BE49-F238E27FC236}">
                <a16:creationId xmlns:a16="http://schemas.microsoft.com/office/drawing/2014/main" id="{AD1E06BF-FB27-40AC-9620-6A2C25D75C02}"/>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A85E1220-86F3-4C31-AB2B-F1DE3B7144CB}"/>
              </a:ext>
            </a:extLst>
          </p:cNvPr>
          <p:cNvSpPr>
            <a:spLocks xmlns:a="http://schemas.openxmlformats.org/drawingml/2006/main" noGrp="1"/>
          </p:cNvSpPr>
          <p:nvPr/>
        </p:nvSpPr>
        <p:spPr>
          <a:xfrm xmlns:a="http://schemas.openxmlformats.org/drawingml/2006/main">
            <a:off x="1005840" y="14996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Platform mismatch</a:t>
            </a:r>
            <a:endParaRPr sz="1350"/>
          </a:p>
        </p:txBody>
      </p:sp>
      <p:sp>
        <p:nvSpPr>
          <p:cNvPr id="10" name="Text 7">
            <a:extLst xmlns:a="http://schemas.openxmlformats.org/drawingml/2006/main">
              <a:ext uri="{FF2B5EF4-FFF2-40B4-BE49-F238E27FC236}">
                <a16:creationId xmlns:a16="http://schemas.microsoft.com/office/drawing/2014/main" id="{A82ACBC5-1BFF-4AA9-B0B0-C3F7204F9481}"/>
              </a:ext>
            </a:extLst>
          </p:cNvPr>
          <p:cNvSpPr>
            <a:spLocks xmlns:a="http://schemas.openxmlformats.org/drawingml/2006/main" noGrp="1"/>
          </p:cNvSpPr>
          <p:nvPr/>
        </p:nvSpPr>
        <p:spPr>
          <a:xfrm xmlns:a="http://schemas.openxmlformats.org/drawingml/2006/main">
            <a:off x="1005840" y="180136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Read the exec-format error; choose native or explicit target architecture.</a:t>
            </a:r>
            <a:endParaRPr sz="1050"/>
          </a:p>
        </p:txBody>
      </p:sp>
      <p:sp>
        <p:nvSpPr>
          <p:cNvPr id="11" name="Text 8">
            <a:extLst xmlns:a="http://schemas.openxmlformats.org/drawingml/2006/main">
              <a:ext uri="{FF2B5EF4-FFF2-40B4-BE49-F238E27FC236}">
                <a16:creationId xmlns:a16="http://schemas.microsoft.com/office/drawing/2014/main" id="{6E412656-5263-45AE-82D5-31AA6B396614}"/>
              </a:ext>
            </a:extLst>
          </p:cNvPr>
          <p:cNvSpPr>
            <a:spLocks xmlns:a="http://schemas.openxmlformats.org/drawingml/2006/main" noGrp="1"/>
          </p:cNvSpPr>
          <p:nvPr/>
        </p:nvSpPr>
        <p:spPr>
          <a:xfrm xmlns:a="http://schemas.openxmlformats.org/drawingml/2006/main">
            <a:off x="502920" y="280035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0736F55E-3534-4AC1-B57C-0E7933249618}"/>
              </a:ext>
            </a:extLst>
          </p:cNvPr>
          <p:cNvSpPr>
            <a:spLocks xmlns:a="http://schemas.openxmlformats.org/drawingml/2006/main" noGrp="1"/>
          </p:cNvSpPr>
          <p:nvPr/>
        </p:nvSpPr>
        <p:spPr>
          <a:xfrm xmlns:a="http://schemas.openxmlformats.org/drawingml/2006/main">
            <a:off x="1005840" y="274548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Unhealthy service</a:t>
            </a:r>
            <a:endParaRPr sz="1350"/>
          </a:p>
        </p:txBody>
      </p:sp>
      <p:sp>
        <p:nvSpPr>
          <p:cNvPr id="13" name="Text 10">
            <a:extLst xmlns:a="http://schemas.openxmlformats.org/drawingml/2006/main">
              <a:ext uri="{FF2B5EF4-FFF2-40B4-BE49-F238E27FC236}">
                <a16:creationId xmlns:a16="http://schemas.microsoft.com/office/drawing/2014/main" id="{F1DBD095-EE3F-4C72-9CC1-5BAF1DF19F2D}"/>
              </a:ext>
            </a:extLst>
          </p:cNvPr>
          <p:cNvSpPr>
            <a:spLocks xmlns:a="http://schemas.openxmlformats.org/drawingml/2006/main" noGrp="1"/>
          </p:cNvSpPr>
          <p:nvPr/>
        </p:nvSpPr>
        <p:spPr>
          <a:xfrm xmlns:a="http://schemas.openxmlformats.org/drawingml/2006/main">
            <a:off x="1005840" y="304723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Inspect readiness, start-period, and logs before changing the healthcheck.</a:t>
            </a:r>
            <a:endParaRPr sz="1050"/>
          </a:p>
        </p:txBody>
      </p:sp>
      <p:sp>
        <p:nvSpPr>
          <p:cNvPr id="14" name="Text 11">
            <a:extLst xmlns:a="http://schemas.openxmlformats.org/drawingml/2006/main">
              <a:ext uri="{FF2B5EF4-FFF2-40B4-BE49-F238E27FC236}">
                <a16:creationId xmlns:a16="http://schemas.microsoft.com/office/drawing/2014/main" id="{5E6EAE5C-12C5-47A9-9452-01DF822D6446}"/>
              </a:ext>
            </a:extLst>
          </p:cNvPr>
          <p:cNvSpPr>
            <a:spLocks xmlns:a="http://schemas.openxmlformats.org/drawingml/2006/main" noGrp="1"/>
          </p:cNvSpPr>
          <p:nvPr/>
        </p:nvSpPr>
        <p:spPr>
          <a:xfrm xmlns:a="http://schemas.openxmlformats.org/drawingml/2006/main">
            <a:off x="502920" y="404622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1328E8FC-72BC-4EB6-B1D4-913BBA056ED3}"/>
              </a:ext>
            </a:extLst>
          </p:cNvPr>
          <p:cNvSpPr>
            <a:spLocks xmlns:a="http://schemas.openxmlformats.org/drawingml/2006/main" noGrp="1"/>
          </p:cNvSpPr>
          <p:nvPr/>
        </p:nvSpPr>
        <p:spPr>
          <a:xfrm xmlns:a="http://schemas.openxmlformats.org/drawingml/2006/main">
            <a:off x="1005840" y="399135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Secret survives a deleted layer</a:t>
            </a:r>
            <a:endParaRPr sz="1350"/>
          </a:p>
        </p:txBody>
      </p:sp>
      <p:sp>
        <p:nvSpPr>
          <p:cNvPr id="16" name="Text 13">
            <a:extLst xmlns:a="http://schemas.openxmlformats.org/drawingml/2006/main">
              <a:ext uri="{FF2B5EF4-FFF2-40B4-BE49-F238E27FC236}">
                <a16:creationId xmlns:a16="http://schemas.microsoft.com/office/drawing/2014/main" id="{3F5D62A0-6DDC-4E90-A328-72310E4B2B4B}"/>
              </a:ext>
            </a:extLst>
          </p:cNvPr>
          <p:cNvSpPr>
            <a:spLocks xmlns:a="http://schemas.openxmlformats.org/drawingml/2006/main" noGrp="1"/>
          </p:cNvSpPr>
          <p:nvPr/>
        </p:nvSpPr>
        <p:spPr>
          <a:xfrm xmlns:a="http://schemas.openxmlformats.org/drawingml/2006/main">
            <a:off x="1005840" y="429310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Use image history to prove persistence; fix the build context and runtime delivery.</a:t>
            </a:r>
            <a:endParaRPr sz="1050"/>
          </a:p>
        </p:txBody>
      </p:sp>
      <p:sp>
        <p:nvSpPr>
          <p:cNvPr id="17" name="Text 14">
            <a:extLst xmlns:a="http://schemas.openxmlformats.org/drawingml/2006/main">
              <a:ext uri="{FF2B5EF4-FFF2-40B4-BE49-F238E27FC236}">
                <a16:creationId xmlns:a16="http://schemas.microsoft.com/office/drawing/2014/main" id="{FB07FD8A-01E0-41A0-9EC7-11398930CF87}"/>
              </a:ext>
            </a:extLst>
          </p:cNvPr>
          <p:cNvSpPr>
            <a:spLocks xmlns:a="http://schemas.openxmlformats.org/drawingml/2006/main" noGrp="1"/>
          </p:cNvSpPr>
          <p:nvPr/>
        </p:nvSpPr>
        <p:spPr>
          <a:xfrm xmlns:a="http://schemas.openxmlformats.org/drawingml/2006/main">
            <a:off x="502920" y="5292090"/>
            <a:ext cx="329184" cy="329184"/>
          </a:xfrm>
          <a:prstGeom xmlns:a="http://schemas.openxmlformats.org/drawingml/2006/main" prst="ellipse">
            <a:avLst/>
          </a:prstGeom>
          <a:solidFill xmlns:a="http://schemas.openxmlformats.org/drawingml/2006/main">
            <a:srgbClr val="8DC63F"/>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4</a:t>
            </a:r>
            <a:endParaRPr sz="1300"/>
          </a:p>
        </p:txBody>
      </p:sp>
      <p:sp>
        <p:nvSpPr>
          <p:cNvPr id="18" name="Text 15">
            <a:extLst xmlns:a="http://schemas.openxmlformats.org/drawingml/2006/main">
              <a:ext uri="{FF2B5EF4-FFF2-40B4-BE49-F238E27FC236}">
                <a16:creationId xmlns:a16="http://schemas.microsoft.com/office/drawing/2014/main" id="{AEAF08CC-5E57-4839-B0C5-2220C8377B19}"/>
              </a:ext>
            </a:extLst>
          </p:cNvPr>
          <p:cNvSpPr>
            <a:spLocks xmlns:a="http://schemas.openxmlformats.org/drawingml/2006/main" noGrp="1"/>
          </p:cNvSpPr>
          <p:nvPr/>
        </p:nvSpPr>
        <p:spPr>
          <a:xfrm xmlns:a="http://schemas.openxmlformats.org/drawingml/2006/main">
            <a:off x="1005840" y="523722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Worker exits 137</a:t>
            </a:r>
            <a:endParaRPr sz="1350"/>
          </a:p>
        </p:txBody>
      </p:sp>
      <p:sp>
        <p:nvSpPr>
          <p:cNvPr id="19" name="Text 16">
            <a:extLst xmlns:a="http://schemas.openxmlformats.org/drawingml/2006/main">
              <a:ext uri="{FF2B5EF4-FFF2-40B4-BE49-F238E27FC236}">
                <a16:creationId xmlns:a16="http://schemas.microsoft.com/office/drawing/2014/main" id="{7F216B22-A29B-4D51-8C78-03BE97EBA8C0}"/>
              </a:ext>
            </a:extLst>
          </p:cNvPr>
          <p:cNvSpPr>
            <a:spLocks xmlns:a="http://schemas.openxmlformats.org/drawingml/2006/main" noGrp="1"/>
          </p:cNvSpPr>
          <p:nvPr/>
        </p:nvSpPr>
        <p:spPr>
          <a:xfrm xmlns:a="http://schemas.openxmlformats.org/drawingml/2006/main">
            <a:off x="1005840" y="553897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Relate model memory × workers to the container limit; resize or reduce workers.</a:t>
            </a:r>
            <a:endParaRPr sz="1050"/>
          </a:p>
        </p:txBody>
      </p:sp>
    </p:spTree>
    <p:extLst>
      <p:ext uri="{BB962C8B-B14F-4D97-AF65-F5344CB8AC3E}">
        <p14:creationId xmlns:p14="http://schemas.microsoft.com/office/powerpoint/2010/main" val="975794841"/>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464E456-BC67-40FA-B3F8-2CD4C211ECC1}"/>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Module 3 — mini exercises</a:t>
            </a:r>
            <a:endParaRPr sz="2600"/>
          </a:p>
        </p:txBody>
      </p:sp>
      <p:sp>
        <p:nvSpPr>
          <p:cNvPr id="3" name="Text 1">
            <a:extLst xmlns:a="http://schemas.openxmlformats.org/drawingml/2006/main">
              <a:ext uri="{FF2B5EF4-FFF2-40B4-BE49-F238E27FC236}">
                <a16:creationId xmlns:a16="http://schemas.microsoft.com/office/drawing/2014/main" id="{EBBF5A14-BDB3-4240-A5D6-EEE3CD0B3214}"/>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الوحدة الثالثة — تمارين قصيرة</a:t>
            </a:r>
            <a:endParaRPr sz="1300"/>
          </a:p>
        </p:txBody>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6c550c5df0d846af"/>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9730DAC1-6F3F-4FF0-A0F4-E7A15608A9D6}"/>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BEB726C3-7D40-447B-8E1C-ED8F622A67EA}"/>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3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2641894C-88E2-4FB9-987E-9BE9274AB282}"/>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76</a:t>
            </a:r>
            <a:endParaRPr sz="850"/>
          </a:p>
        </p:txBody>
      </p:sp>
      <p:sp>
        <p:nvSpPr>
          <p:cNvPr id="8" name="Text 5">
            <a:extLst xmlns:a="http://schemas.openxmlformats.org/drawingml/2006/main">
              <a:ext uri="{FF2B5EF4-FFF2-40B4-BE49-F238E27FC236}">
                <a16:creationId xmlns:a16="http://schemas.microsoft.com/office/drawing/2014/main" id="{B346D5A4-8DD6-4791-BA0C-116B9445A78B}"/>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C1EAB0E9-6874-4B0B-93C9-566F7F5BC019}"/>
              </a:ext>
            </a:extLst>
          </p:cNvPr>
          <p:cNvSpPr>
            <a:spLocks xmlns:a="http://schemas.openxmlformats.org/drawingml/2006/main" noGrp="1"/>
          </p:cNvSpPr>
          <p:nvPr/>
        </p:nvSpPr>
        <p:spPr>
          <a:xfrm xmlns:a="http://schemas.openxmlformats.org/drawingml/2006/main">
            <a:off x="1005840" y="14996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Debug — the secret that never left</a:t>
            </a:r>
            <a:endParaRPr sz="1350"/>
          </a:p>
        </p:txBody>
      </p:sp>
      <p:sp>
        <p:nvSpPr>
          <p:cNvPr id="10" name="Text 7">
            <a:extLst xmlns:a="http://schemas.openxmlformats.org/drawingml/2006/main">
              <a:ext uri="{FF2B5EF4-FFF2-40B4-BE49-F238E27FC236}">
                <a16:creationId xmlns:a16="http://schemas.microsoft.com/office/drawing/2014/main" id="{408F9A22-8B85-44B5-ADB7-0E4A1539E788}"/>
              </a:ext>
            </a:extLst>
          </p:cNvPr>
          <p:cNvSpPr>
            <a:spLocks xmlns:a="http://schemas.openxmlformats.org/drawingml/2006/main" noGrp="1"/>
          </p:cNvSpPr>
          <p:nvPr/>
        </p:nvSpPr>
        <p:spPr>
          <a:xfrm xmlns:a="http://schemas.openxmlformats.org/drawingml/2006/main">
            <a:off x="1005840" y="180136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Branch sim-secret-leak: a .env was COPY'd into a layer, then 'deleted'. Prove it is still extractable with docker history + docker save | tar; fix with .dockerignore + runtime env.</a:t>
            </a:r>
            <a:endParaRPr sz="1050"/>
          </a:p>
        </p:txBody>
      </p:sp>
      <p:sp>
        <p:nvSpPr>
          <p:cNvPr id="11" name="Text 8">
            <a:extLst xmlns:a="http://schemas.openxmlformats.org/drawingml/2006/main">
              <a:ext uri="{FF2B5EF4-FFF2-40B4-BE49-F238E27FC236}">
                <a16:creationId xmlns:a16="http://schemas.microsoft.com/office/drawing/2014/main" id="{4CB414F6-30A2-4B63-AA8E-AC05C70E3820}"/>
              </a:ext>
            </a:extLst>
          </p:cNvPr>
          <p:cNvSpPr>
            <a:spLocks xmlns:a="http://schemas.openxmlformats.org/drawingml/2006/main" noGrp="1"/>
          </p:cNvSpPr>
          <p:nvPr/>
        </p:nvSpPr>
        <p:spPr>
          <a:xfrm xmlns:a="http://schemas.openxmlformats.org/drawingml/2006/main">
            <a:off x="502920" y="280035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83A2F360-84BD-465F-B41F-899F4D2D3BA4}"/>
              </a:ext>
            </a:extLst>
          </p:cNvPr>
          <p:cNvSpPr>
            <a:spLocks xmlns:a="http://schemas.openxmlformats.org/drawingml/2006/main" noGrp="1"/>
          </p:cNvSpPr>
          <p:nvPr/>
        </p:nvSpPr>
        <p:spPr>
          <a:xfrm xmlns:a="http://schemas.openxmlformats.org/drawingml/2006/main">
            <a:off x="1005840" y="274548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Code review — five findings</a:t>
            </a:r>
            <a:endParaRPr sz="1350"/>
          </a:p>
        </p:txBody>
      </p:sp>
      <p:sp>
        <p:nvSpPr>
          <p:cNvPr id="13" name="Text 10">
            <a:extLst xmlns:a="http://schemas.openxmlformats.org/drawingml/2006/main">
              <a:ext uri="{FF2B5EF4-FFF2-40B4-BE49-F238E27FC236}">
                <a16:creationId xmlns:a16="http://schemas.microsoft.com/office/drawing/2014/main" id="{BEAD2989-6CEB-44F4-9757-40B71DE244CE}"/>
              </a:ext>
            </a:extLst>
          </p:cNvPr>
          <p:cNvSpPr>
            <a:spLocks xmlns:a="http://schemas.openxmlformats.org/drawingml/2006/main" noGrp="1"/>
          </p:cNvSpPr>
          <p:nvPr/>
        </p:nvSpPr>
        <p:spPr>
          <a:xfrm xmlns:a="http://schemas.openxmlformats.org/drawingml/2006/main">
            <a:off x="1005840" y="304723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A Dockerfile PR: FROM python:latest, root user, pip install without a lock, ADD of a URL, healthcheck via ps aux | grep uvicorn. Find all five.</a:t>
            </a:r>
            <a:endParaRPr sz="1050"/>
          </a:p>
        </p:txBody>
      </p:sp>
      <p:sp>
        <p:nvSpPr>
          <p:cNvPr id="14" name="Text 11">
            <a:extLst xmlns:a="http://schemas.openxmlformats.org/drawingml/2006/main">
              <a:ext uri="{FF2B5EF4-FFF2-40B4-BE49-F238E27FC236}">
                <a16:creationId xmlns:a16="http://schemas.microsoft.com/office/drawing/2014/main" id="{FD167E0D-F371-4B93-AD3D-677B62C9C63A}"/>
              </a:ext>
            </a:extLst>
          </p:cNvPr>
          <p:cNvSpPr>
            <a:spLocks xmlns:a="http://schemas.openxmlformats.org/drawingml/2006/main" noGrp="1"/>
          </p:cNvSpPr>
          <p:nvPr/>
        </p:nvSpPr>
        <p:spPr>
          <a:xfrm xmlns:a="http://schemas.openxmlformats.org/drawingml/2006/main">
            <a:off x="502920" y="404622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D664DFAE-0D07-4E82-BDA8-EA76ABDDC432}"/>
              </a:ext>
            </a:extLst>
          </p:cNvPr>
          <p:cNvSpPr>
            <a:spLocks xmlns:a="http://schemas.openxmlformats.org/drawingml/2006/main" noGrp="1"/>
          </p:cNvSpPr>
          <p:nvPr/>
        </p:nvSpPr>
        <p:spPr>
          <a:xfrm xmlns:a="http://schemas.openxmlformats.org/drawingml/2006/main">
            <a:off x="1005840" y="399135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Discussion — bake vs pull, 6 GB LLM</a:t>
            </a:r>
            <a:endParaRPr sz="1350"/>
          </a:p>
        </p:txBody>
      </p:sp>
      <p:sp>
        <p:nvSpPr>
          <p:cNvPr id="16" name="Text 13">
            <a:extLst xmlns:a="http://schemas.openxmlformats.org/drawingml/2006/main">
              <a:ext uri="{FF2B5EF4-FFF2-40B4-BE49-F238E27FC236}">
                <a16:creationId xmlns:a16="http://schemas.microsoft.com/office/drawing/2014/main" id="{0AB0B065-E5FC-43CC-B190-291C9EACF0EF}"/>
              </a:ext>
            </a:extLst>
          </p:cNvPr>
          <p:cNvSpPr>
            <a:spLocks xmlns:a="http://schemas.openxmlformats.org/drawingml/2006/main" noGrp="1"/>
          </p:cNvSpPr>
          <p:nvPr/>
        </p:nvSpPr>
        <p:spPr>
          <a:xfrm xmlns:a="http://schemas.openxmlformats.org/drawingml/2006/main">
            <a:off x="1005840" y="429310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For a 6 GB checkpoint, walk the autoscaling, rollback and registry-cost implications of baking versus pulling at startup.</a:t>
            </a:r>
            <a:endParaRPr sz="1050"/>
          </a:p>
        </p:txBody>
      </p:sp>
      <p:sp>
        <p:nvSpPr>
          <p:cNvPr id="17" name="Text 14">
            <a:extLst xmlns:a="http://schemas.openxmlformats.org/drawingml/2006/main">
              <a:ext uri="{FF2B5EF4-FFF2-40B4-BE49-F238E27FC236}">
                <a16:creationId xmlns:a16="http://schemas.microsoft.com/office/drawing/2014/main" id="{9C90C4E2-2C35-4521-8897-48FF3E972225}"/>
              </a:ext>
            </a:extLst>
          </p:cNvPr>
          <p:cNvSpPr>
            <a:spLocks xmlns:a="http://schemas.openxmlformats.org/drawingml/2006/main" noGrp="1"/>
          </p:cNvSpPr>
          <p:nvPr/>
        </p:nvSpPr>
        <p:spPr>
          <a:xfrm xmlns:a="http://schemas.openxmlformats.org/drawingml/2006/main">
            <a:off x="502920" y="5292090"/>
            <a:ext cx="329184" cy="329184"/>
          </a:xfrm>
          <a:prstGeom xmlns:a="http://schemas.openxmlformats.org/drawingml/2006/main" prst="ellipse">
            <a:avLst/>
          </a:prstGeom>
          <a:solidFill xmlns:a="http://schemas.openxmlformats.org/drawingml/2006/main">
            <a:srgbClr val="8DC63F"/>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4</a:t>
            </a:r>
            <a:endParaRPr sz="1300"/>
          </a:p>
        </p:txBody>
      </p:sp>
      <p:sp>
        <p:nvSpPr>
          <p:cNvPr id="18" name="Text 15">
            <a:extLst xmlns:a="http://schemas.openxmlformats.org/drawingml/2006/main">
              <a:ext uri="{FF2B5EF4-FFF2-40B4-BE49-F238E27FC236}">
                <a16:creationId xmlns:a16="http://schemas.microsoft.com/office/drawing/2014/main" id="{5E346B81-BEC5-4744-9A5B-C152F8C8FE26}"/>
              </a:ext>
            </a:extLst>
          </p:cNvPr>
          <p:cNvSpPr>
            <a:spLocks xmlns:a="http://schemas.openxmlformats.org/drawingml/2006/main" noGrp="1"/>
          </p:cNvSpPr>
          <p:nvPr/>
        </p:nvSpPr>
        <p:spPr>
          <a:xfrm xmlns:a="http://schemas.openxmlformats.org/drawingml/2006/main">
            <a:off x="1005840" y="523722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Dockerfile golf (15 min)</a:t>
            </a:r>
            <a:endParaRPr sz="1350"/>
          </a:p>
        </p:txBody>
      </p:sp>
      <p:sp>
        <p:nvSpPr>
          <p:cNvPr id="19" name="Text 16">
            <a:extLst xmlns:a="http://schemas.openxmlformats.org/drawingml/2006/main">
              <a:ext uri="{FF2B5EF4-FFF2-40B4-BE49-F238E27FC236}">
                <a16:creationId xmlns:a16="http://schemas.microsoft.com/office/drawing/2014/main" id="{07460F7B-37CC-4636-B51C-7B7350E4443F}"/>
              </a:ext>
            </a:extLst>
          </p:cNvPr>
          <p:cNvSpPr>
            <a:spLocks xmlns:a="http://schemas.openxmlformats.org/drawingml/2006/main" noGrp="1"/>
          </p:cNvSpPr>
          <p:nvPr/>
        </p:nvSpPr>
        <p:spPr>
          <a:xfrm xmlns:a="http://schemas.openxmlformats.org/drawingml/2006/main">
            <a:off x="1005840" y="553897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Pairs get the naive Dockerfile and compete for the smallest working image — leaderboard on the board; winners explain their cuts.</a:t>
            </a:r>
            <a:endParaRPr sz="1050"/>
          </a:p>
        </p:txBody>
      </p:sp>
    </p:spTree>
    <p:extLst>
      <p:ext uri="{BB962C8B-B14F-4D97-AF65-F5344CB8AC3E}">
        <p14:creationId xmlns:p14="http://schemas.microsoft.com/office/powerpoint/2010/main" val="1320502898"/>
      </p:ext>
    </p:extLst>
  </p:cSld>
</p:sld>
</file>

<file path=ppt/slides/slide7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C51388F-5742-4BF7-A3B3-2886AC93F4E8}"/>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Case study — CV inspection at a Jubail plant</a:t>
            </a:r>
            <a:endParaRPr sz="2600"/>
          </a:p>
        </p:txBody>
      </p:sp>
      <p:sp>
        <p:nvSpPr>
          <p:cNvPr id="3" name="Text 1">
            <a:extLst xmlns:a="http://schemas.openxmlformats.org/drawingml/2006/main">
              <a:ext uri="{FF2B5EF4-FFF2-40B4-BE49-F238E27FC236}">
                <a16:creationId xmlns:a16="http://schemas.microsoft.com/office/drawing/2014/main" id="{7CE55F06-1BEF-4798-994E-C6EC943C11F7}"/>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دراسة حالة — الفحص البصري في مصنع بالجبيل</a:t>
            </a:r>
            <a:endParaRPr sz="1300"/>
          </a:p>
        </p:txBody>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1d7f6300d4f845c9"/>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3CAAD9E5-03F1-4942-9A49-C416FC8CA12B}"/>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6464D344-4093-4DF3-B167-60ACEDD9C2B0}"/>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3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04D4D97C-1310-4380-BF32-508C61B11326}"/>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77</a:t>
            </a:r>
            <a:endParaRPr sz="850"/>
          </a:p>
        </p:txBody>
      </p:sp>
      <p:sp>
        <p:nvSpPr>
          <p:cNvPr id="8" name="Text 5">
            <a:extLst xmlns:a="http://schemas.openxmlformats.org/drawingml/2006/main">
              <a:ext uri="{FF2B5EF4-FFF2-40B4-BE49-F238E27FC236}">
                <a16:creationId xmlns:a16="http://schemas.microsoft.com/office/drawing/2014/main" id="{37CC3B9C-1FF5-4892-8F41-A3FB468D13AB}"/>
              </a:ext>
            </a:extLst>
          </p:cNvPr>
          <p:cNvSpPr>
            <a:spLocks xmlns:a="http://schemas.openxmlformats.org/drawingml/2006/main" noGrp="1"/>
          </p:cNvSpPr>
          <p:nvPr/>
        </p:nvSpPr>
        <p:spPr>
          <a:xfrm xmlns:a="http://schemas.openxmlformats.org/drawingml/2006/main">
            <a:off x="502920" y="1444752"/>
            <a:ext cx="1554480" cy="310896"/>
          </a:xfrm>
          <a:prstGeom xmlns:a="http://schemas.openxmlformats.org/drawingml/2006/main" prst="roundRect">
            <a:avLst>
              <a:gd name="adj" fmla="val 1764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CASE STUDY</a:t>
            </a:r>
            <a:endParaRPr sz="950"/>
          </a:p>
        </p:txBody>
      </p:sp>
      <p:sp>
        <p:nvSpPr>
          <p:cNvPr id="9" name="Text 6">
            <a:extLst xmlns:a="http://schemas.openxmlformats.org/drawingml/2006/main">
              <a:ext uri="{FF2B5EF4-FFF2-40B4-BE49-F238E27FC236}">
                <a16:creationId xmlns:a16="http://schemas.microsoft.com/office/drawing/2014/main" id="{CE860CCB-E7C3-43F1-B679-A26653D320D9}"/>
              </a:ext>
            </a:extLst>
          </p:cNvPr>
          <p:cNvSpPr>
            <a:spLocks xmlns:a="http://schemas.openxmlformats.org/drawingml/2006/main" noGrp="1"/>
          </p:cNvSpPr>
          <p:nvPr/>
        </p:nvSpPr>
        <p:spPr>
          <a:xfrm xmlns:a="http://schemas.openxmlformats.org/drawingml/2006/main">
            <a:off x="2240280" y="1444752"/>
            <a:ext cx="2377440" cy="310896"/>
          </a:xfrm>
          <a:prstGeom xmlns:a="http://schemas.openxmlformats.org/drawingml/2006/main" prst="roundRect">
            <a:avLst>
              <a:gd name="adj" fmla="val 17647"/>
            </a:avLst>
          </a:prstGeom>
          <a:solidFill xmlns:a="http://schemas.openxmlformats.org/drawingml/2006/main">
            <a:srgbClr val="EEF3FB"/>
          </a:solidFill>
          <a:ln xmlns:a="http://schemas.openxmlformats.org/drawingml/2006/main" w="12700">
            <a:solidFill>
              <a:srgbClr val="D9E4F5"/>
            </a:solidFill>
          </a:ln>
        </p:spPr>
        <p:txBody>
          <a:bodyPr xmlns:a="http://schemas.openxmlformats.org/drawingml/2006/main" wrap="square" anchor="ctr"/>
          <a:lstStyle xmlns:a="http://schemas.openxmlformats.org/drawingml/2006/main"/>
          <a:p xmlns:a="http://schemas.openxmlformats.org/drawingml/2006/main">
            <a:pPr marL="0" indent="0" algn="ctr">
              <a:buNone/>
            </a:pPr>
            <a:r>
              <a:rPr sz="950" b="1">
                <a:solidFill>
                  <a:srgbClr val="1D2A5C"/>
                </a:solidFill>
                <a:latin typeface="Calibri"/>
                <a:ea typeface="Calibri"/>
                <a:cs typeface="Calibri"/>
              </a:rPr>
              <a:t>Manufacturing · Jubail</a:t>
            </a:r>
            <a:endParaRPr sz="950"/>
          </a:p>
        </p:txBody>
      </p:sp>
      <p:sp>
        <p:nvSpPr>
          <p:cNvPr id="10" name="Text 7">
            <a:extLst xmlns:a="http://schemas.openxmlformats.org/drawingml/2006/main">
              <a:ext uri="{FF2B5EF4-FFF2-40B4-BE49-F238E27FC236}">
                <a16:creationId xmlns:a16="http://schemas.microsoft.com/office/drawing/2014/main" id="{4C4AAD16-2423-4F57-BFF9-3F689F8104C2}"/>
              </a:ext>
            </a:extLst>
          </p:cNvPr>
          <p:cNvSpPr>
            <a:spLocks xmlns:a="http://schemas.openxmlformats.org/drawingml/2006/main" noGrp="1"/>
          </p:cNvSpPr>
          <p:nvPr/>
        </p:nvSpPr>
        <p:spPr>
          <a:xfrm xmlns:a="http://schemas.openxmlformats.org/drawingml/2006/main">
            <a:off x="502920" y="1938528"/>
            <a:ext cx="658368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A defect-detection CNN must run on 14 edge servers inside a plant network: no internet, 4-hour maintenance windows, a 30-minute cellular backhaul for updates. Each false-negative batch costs ~SAR 40k in downstream rework.</a:t>
            </a:r>
            <a:endParaRPr sz="1100"/>
          </a:p>
        </p:txBody>
      </p:sp>
      <p:sp>
        <p:nvSpPr>
          <p:cNvPr id="11" name="Shape 8">
            <a:extLst xmlns:a="http://schemas.openxmlformats.org/drawingml/2006/main">
              <a:ext uri="{FF2B5EF4-FFF2-40B4-BE49-F238E27FC236}">
                <a16:creationId xmlns:a16="http://schemas.microsoft.com/office/drawing/2014/main" id="{62281DB8-0AF0-4006-84BD-22170758CE61}"/>
              </a:ext>
            </a:extLst>
          </p:cNvPr>
          <p:cNvSpPr>
            <a:spLocks xmlns:a="http://schemas.openxmlformats.org/drawingml/2006/main" noGrp="1"/>
          </p:cNvSpPr>
          <p:nvPr/>
        </p:nvSpPr>
        <p:spPr>
          <a:xfrm xmlns:a="http://schemas.openxmlformats.org/drawingml/2006/main">
            <a:off x="566928" y="3026664"/>
            <a:ext cx="182880" cy="182880"/>
          </a:xfrm>
          <a:prstGeom xmlns:a="http://schemas.openxmlformats.org/drawingml/2006/main" prst="ellipse">
            <a:avLst/>
          </a:prstGeom>
          <a:solidFill xmlns:a="http://schemas.openxmlformats.org/drawingml/2006/main">
            <a:srgbClr val="00A79D"/>
          </a:solidFill>
        </p:spPr>
      </p:sp>
      <p:sp>
        <p:nvSpPr>
          <p:cNvPr id="12" name="Shape 9">
            <a:extLst xmlns:a="http://schemas.openxmlformats.org/drawingml/2006/main">
              <a:ext uri="{FF2B5EF4-FFF2-40B4-BE49-F238E27FC236}">
                <a16:creationId xmlns:a16="http://schemas.microsoft.com/office/drawing/2014/main" id="{2E162372-6896-4B64-A4C8-2E381F8A301C}"/>
              </a:ext>
            </a:extLst>
          </p:cNvPr>
          <p:cNvSpPr>
            <a:spLocks xmlns:a="http://schemas.openxmlformats.org/drawingml/2006/main" noGrp="1"/>
          </p:cNvSpPr>
          <p:nvPr/>
        </p:nvSpPr>
        <p:spPr>
          <a:xfrm xmlns:a="http://schemas.openxmlformats.org/drawingml/2006/main">
            <a:off x="658368" y="3227832"/>
            <a:ext cx="0" cy="438912"/>
          </a:xfrm>
          <a:prstGeom xmlns:a="http://schemas.openxmlformats.org/drawingml/2006/main" prst="line">
            <a:avLst/>
          </a:prstGeom>
          <a:noFill xmlns:a="http://schemas.openxmlformats.org/drawingml/2006/main"/>
          <a:ln xmlns:a="http://schemas.openxmlformats.org/drawingml/2006/main" w="19050">
            <a:solidFill>
              <a:srgbClr val="D9E4F5"/>
            </a:solidFill>
            <a:prstDash val="solid"/>
          </a:ln>
        </p:spPr>
      </p:sp>
      <p:sp>
        <p:nvSpPr>
          <p:cNvPr id="13" name="Text 10">
            <a:extLst xmlns:a="http://schemas.openxmlformats.org/drawingml/2006/main">
              <a:ext uri="{FF2B5EF4-FFF2-40B4-BE49-F238E27FC236}">
                <a16:creationId xmlns:a16="http://schemas.microsoft.com/office/drawing/2014/main" id="{706CAA5B-6C04-4896-9C62-C6C81A7BB80E}"/>
              </a:ext>
            </a:extLst>
          </p:cNvPr>
          <p:cNvSpPr>
            <a:spLocks xmlns:a="http://schemas.openxmlformats.org/drawingml/2006/main" noGrp="1"/>
          </p:cNvSpPr>
          <p:nvPr/>
        </p:nvSpPr>
        <p:spPr>
          <a:xfrm xmlns:a="http://schemas.openxmlformats.org/drawingml/2006/main">
            <a:off x="960120" y="2953512"/>
            <a:ext cx="6126480" cy="6583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1D2A5C"/>
                </a:solidFill>
                <a:latin typeface="Calibri"/>
                <a:ea typeface="Calibri"/>
                <a:cs typeface="Calibri"/>
              </a:rPr>
              <a:t>Status quo: SSH + git pull + conda  </a:t>
            </a:r>
            <a:r>
              <a:rPr sz="1000">
                <a:solidFill>
                  <a:srgbClr val="5F6B7A"/>
                </a:solidFill>
                <a:latin typeface="Calibri"/>
                <a:ea typeface="Calibri"/>
                <a:cs typeface="Calibri"/>
              </a:rPr>
              <a:t>40 minutes per box, frequently divergent environments, no rollback</a:t>
            </a:r>
            <a:endParaRPr sz="1050"/>
          </a:p>
        </p:txBody>
      </p:sp>
      <p:sp>
        <p:nvSpPr>
          <p:cNvPr id="14" name="Shape 11">
            <a:extLst xmlns:a="http://schemas.openxmlformats.org/drawingml/2006/main">
              <a:ext uri="{FF2B5EF4-FFF2-40B4-BE49-F238E27FC236}">
                <a16:creationId xmlns:a16="http://schemas.microsoft.com/office/drawing/2014/main" id="{8DC373E7-9166-4537-8876-4880A429D899}"/>
              </a:ext>
            </a:extLst>
          </p:cNvPr>
          <p:cNvSpPr>
            <a:spLocks xmlns:a="http://schemas.openxmlformats.org/drawingml/2006/main" noGrp="1"/>
          </p:cNvSpPr>
          <p:nvPr/>
        </p:nvSpPr>
        <p:spPr>
          <a:xfrm xmlns:a="http://schemas.openxmlformats.org/drawingml/2006/main">
            <a:off x="566928" y="3685032"/>
            <a:ext cx="182880" cy="182880"/>
          </a:xfrm>
          <a:prstGeom xmlns:a="http://schemas.openxmlformats.org/drawingml/2006/main" prst="ellipse">
            <a:avLst/>
          </a:prstGeom>
          <a:solidFill xmlns:a="http://schemas.openxmlformats.org/drawingml/2006/main">
            <a:srgbClr val="29ABE2"/>
          </a:solidFill>
        </p:spPr>
      </p:sp>
      <p:sp>
        <p:nvSpPr>
          <p:cNvPr id="15" name="Shape 12">
            <a:extLst xmlns:a="http://schemas.openxmlformats.org/drawingml/2006/main">
              <a:ext uri="{FF2B5EF4-FFF2-40B4-BE49-F238E27FC236}">
                <a16:creationId xmlns:a16="http://schemas.microsoft.com/office/drawing/2014/main" id="{1BB22A29-B719-489B-B1FA-EC80AFAE6C79}"/>
              </a:ext>
            </a:extLst>
          </p:cNvPr>
          <p:cNvSpPr>
            <a:spLocks xmlns:a="http://schemas.openxmlformats.org/drawingml/2006/main" noGrp="1"/>
          </p:cNvSpPr>
          <p:nvPr/>
        </p:nvSpPr>
        <p:spPr>
          <a:xfrm xmlns:a="http://schemas.openxmlformats.org/drawingml/2006/main">
            <a:off x="658368" y="3886200"/>
            <a:ext cx="0" cy="438912"/>
          </a:xfrm>
          <a:prstGeom xmlns:a="http://schemas.openxmlformats.org/drawingml/2006/main" prst="line">
            <a:avLst/>
          </a:prstGeom>
          <a:noFill xmlns:a="http://schemas.openxmlformats.org/drawingml/2006/main"/>
          <a:ln xmlns:a="http://schemas.openxmlformats.org/drawingml/2006/main" w="19050">
            <a:solidFill>
              <a:srgbClr val="D9E4F5"/>
            </a:solidFill>
            <a:prstDash val="solid"/>
          </a:ln>
        </p:spPr>
      </p:sp>
      <p:sp>
        <p:nvSpPr>
          <p:cNvPr id="16" name="Text 13">
            <a:extLst xmlns:a="http://schemas.openxmlformats.org/drawingml/2006/main">
              <a:ext uri="{FF2B5EF4-FFF2-40B4-BE49-F238E27FC236}">
                <a16:creationId xmlns:a16="http://schemas.microsoft.com/office/drawing/2014/main" id="{EB5B0511-FA17-4C76-97E8-7B6A22C10D2A}"/>
              </a:ext>
            </a:extLst>
          </p:cNvPr>
          <p:cNvSpPr>
            <a:spLocks xmlns:a="http://schemas.openxmlformats.org/drawingml/2006/main" noGrp="1"/>
          </p:cNvSpPr>
          <p:nvPr/>
        </p:nvSpPr>
        <p:spPr>
          <a:xfrm xmlns:a="http://schemas.openxmlformats.org/drawingml/2006/main">
            <a:off x="960120" y="3611880"/>
            <a:ext cx="6126480" cy="6583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1D2A5C"/>
                </a:solidFill>
                <a:latin typeface="Calibri"/>
                <a:ea typeface="Calibri"/>
                <a:cs typeface="Calibri"/>
              </a:rPr>
              <a:t>Constraints frame the design  </a:t>
            </a:r>
            <a:r>
              <a:rPr sz="1000">
                <a:solidFill>
                  <a:srgbClr val="5F6B7A"/>
                </a:solidFill>
                <a:latin typeface="Calibri"/>
                <a:ea typeface="Calibri"/>
                <a:cs typeface="Calibri"/>
              </a:rPr>
              <a:t>1.9 GB CUDA baseline vs ≈ 900 MB transfer budget; no external registry reachable</a:t>
            </a:r>
            <a:endParaRPr sz="1050"/>
          </a:p>
        </p:txBody>
      </p:sp>
      <p:sp>
        <p:nvSpPr>
          <p:cNvPr id="17" name="Shape 14">
            <a:extLst xmlns:a="http://schemas.openxmlformats.org/drawingml/2006/main">
              <a:ext uri="{FF2B5EF4-FFF2-40B4-BE49-F238E27FC236}">
                <a16:creationId xmlns:a16="http://schemas.microsoft.com/office/drawing/2014/main" id="{5EC5F45E-20C6-41F3-B7D8-B35AB223294E}"/>
              </a:ext>
            </a:extLst>
          </p:cNvPr>
          <p:cNvSpPr>
            <a:spLocks xmlns:a="http://schemas.openxmlformats.org/drawingml/2006/main" noGrp="1"/>
          </p:cNvSpPr>
          <p:nvPr/>
        </p:nvSpPr>
        <p:spPr>
          <a:xfrm xmlns:a="http://schemas.openxmlformats.org/drawingml/2006/main">
            <a:off x="566928" y="4343400"/>
            <a:ext cx="182880" cy="182880"/>
          </a:xfrm>
          <a:prstGeom xmlns:a="http://schemas.openxmlformats.org/drawingml/2006/main" prst="ellipse">
            <a:avLst/>
          </a:prstGeom>
          <a:solidFill xmlns:a="http://schemas.openxmlformats.org/drawingml/2006/main">
            <a:srgbClr val="F58220"/>
          </a:solidFill>
        </p:spPr>
      </p:sp>
      <p:sp>
        <p:nvSpPr>
          <p:cNvPr id="18" name="Shape 15">
            <a:extLst xmlns:a="http://schemas.openxmlformats.org/drawingml/2006/main">
              <a:ext uri="{FF2B5EF4-FFF2-40B4-BE49-F238E27FC236}">
                <a16:creationId xmlns:a16="http://schemas.microsoft.com/office/drawing/2014/main" id="{7E789923-556E-4FE4-AB28-59E691ECFEA5}"/>
              </a:ext>
            </a:extLst>
          </p:cNvPr>
          <p:cNvSpPr>
            <a:spLocks xmlns:a="http://schemas.openxmlformats.org/drawingml/2006/main" noGrp="1"/>
          </p:cNvSpPr>
          <p:nvPr/>
        </p:nvSpPr>
        <p:spPr>
          <a:xfrm xmlns:a="http://schemas.openxmlformats.org/drawingml/2006/main">
            <a:off x="658368" y="4544568"/>
            <a:ext cx="0" cy="438912"/>
          </a:xfrm>
          <a:prstGeom xmlns:a="http://schemas.openxmlformats.org/drawingml/2006/main" prst="line">
            <a:avLst/>
          </a:prstGeom>
          <a:noFill xmlns:a="http://schemas.openxmlformats.org/drawingml/2006/main"/>
          <a:ln xmlns:a="http://schemas.openxmlformats.org/drawingml/2006/main" w="19050">
            <a:solidFill>
              <a:srgbClr val="D9E4F5"/>
            </a:solidFill>
            <a:prstDash val="solid"/>
          </a:ln>
        </p:spPr>
      </p:sp>
      <p:sp>
        <p:nvSpPr>
          <p:cNvPr id="19" name="Text 16">
            <a:extLst xmlns:a="http://schemas.openxmlformats.org/drawingml/2006/main">
              <a:ext uri="{FF2B5EF4-FFF2-40B4-BE49-F238E27FC236}">
                <a16:creationId xmlns:a16="http://schemas.microsoft.com/office/drawing/2014/main" id="{6902E1D8-B370-4858-A967-06712BC295F4}"/>
              </a:ext>
            </a:extLst>
          </p:cNvPr>
          <p:cNvSpPr>
            <a:spLocks xmlns:a="http://schemas.openxmlformats.org/drawingml/2006/main" noGrp="1"/>
          </p:cNvSpPr>
          <p:nvPr/>
        </p:nvSpPr>
        <p:spPr>
          <a:xfrm xmlns:a="http://schemas.openxmlformats.org/drawingml/2006/main">
            <a:off x="960120" y="4270248"/>
            <a:ext cx="6126480" cy="6583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1D2A5C"/>
                </a:solidFill>
                <a:latin typeface="Calibri"/>
                <a:ea typeface="Calibri"/>
                <a:cs typeface="Calibri"/>
              </a:rPr>
              <a:t>Prune hard: ONNX over PyTorch  </a:t>
            </a:r>
            <a:r>
              <a:rPr sz="1000">
                <a:solidFill>
                  <a:srgbClr val="5F6B7A"/>
                </a:solidFill>
                <a:latin typeface="Calibri"/>
                <a:ea typeface="Calibri"/>
                <a:cs typeface="Calibri"/>
              </a:rPr>
              <a:t>Multi-stage CUDA image, dev toolchain stripped, ONNX runtime → 780 MB</a:t>
            </a:r>
            <a:endParaRPr sz="1050"/>
          </a:p>
        </p:txBody>
      </p:sp>
      <p:sp>
        <p:nvSpPr>
          <p:cNvPr id="20" name="Shape 17">
            <a:extLst xmlns:a="http://schemas.openxmlformats.org/drawingml/2006/main">
              <a:ext uri="{FF2B5EF4-FFF2-40B4-BE49-F238E27FC236}">
                <a16:creationId xmlns:a16="http://schemas.microsoft.com/office/drawing/2014/main" id="{E84E82E8-C836-4968-9AE4-40E213B8DF36}"/>
              </a:ext>
            </a:extLst>
          </p:cNvPr>
          <p:cNvSpPr>
            <a:spLocks xmlns:a="http://schemas.openxmlformats.org/drawingml/2006/main" noGrp="1"/>
          </p:cNvSpPr>
          <p:nvPr/>
        </p:nvSpPr>
        <p:spPr>
          <a:xfrm xmlns:a="http://schemas.openxmlformats.org/drawingml/2006/main">
            <a:off x="566928" y="5001768"/>
            <a:ext cx="182880" cy="182880"/>
          </a:xfrm>
          <a:prstGeom xmlns:a="http://schemas.openxmlformats.org/drawingml/2006/main" prst="ellipse">
            <a:avLst/>
          </a:prstGeom>
          <a:solidFill xmlns:a="http://schemas.openxmlformats.org/drawingml/2006/main">
            <a:srgbClr val="8DC63F"/>
          </a:solidFill>
        </p:spPr>
      </p:sp>
      <p:sp>
        <p:nvSpPr>
          <p:cNvPr id="21" name="Shape 18">
            <a:extLst xmlns:a="http://schemas.openxmlformats.org/drawingml/2006/main">
              <a:ext uri="{FF2B5EF4-FFF2-40B4-BE49-F238E27FC236}">
                <a16:creationId xmlns:a16="http://schemas.microsoft.com/office/drawing/2014/main" id="{3FDA8490-DC03-4FE2-B8B7-83676A1E6388}"/>
              </a:ext>
            </a:extLst>
          </p:cNvPr>
          <p:cNvSpPr>
            <a:spLocks xmlns:a="http://schemas.openxmlformats.org/drawingml/2006/main" noGrp="1"/>
          </p:cNvSpPr>
          <p:nvPr/>
        </p:nvSpPr>
        <p:spPr>
          <a:xfrm xmlns:a="http://schemas.openxmlformats.org/drawingml/2006/main">
            <a:off x="658368" y="5202936"/>
            <a:ext cx="0" cy="438912"/>
          </a:xfrm>
          <a:prstGeom xmlns:a="http://schemas.openxmlformats.org/drawingml/2006/main" prst="line">
            <a:avLst/>
          </a:prstGeom>
          <a:noFill xmlns:a="http://schemas.openxmlformats.org/drawingml/2006/main"/>
          <a:ln xmlns:a="http://schemas.openxmlformats.org/drawingml/2006/main" w="19050">
            <a:solidFill>
              <a:srgbClr val="D9E4F5"/>
            </a:solidFill>
            <a:prstDash val="solid"/>
          </a:ln>
        </p:spPr>
      </p:sp>
      <p:sp>
        <p:nvSpPr>
          <p:cNvPr id="22" name="Text 19">
            <a:extLst xmlns:a="http://schemas.openxmlformats.org/drawingml/2006/main">
              <a:ext uri="{FF2B5EF4-FFF2-40B4-BE49-F238E27FC236}">
                <a16:creationId xmlns:a16="http://schemas.microsoft.com/office/drawing/2014/main" id="{238BF97A-6DDF-494F-B7E3-4D98D3ECDF01}"/>
              </a:ext>
            </a:extLst>
          </p:cNvPr>
          <p:cNvSpPr>
            <a:spLocks xmlns:a="http://schemas.openxmlformats.org/drawingml/2006/main" noGrp="1"/>
          </p:cNvSpPr>
          <p:nvPr/>
        </p:nvSpPr>
        <p:spPr>
          <a:xfrm xmlns:a="http://schemas.openxmlformats.org/drawingml/2006/main">
            <a:off x="960120" y="4928616"/>
            <a:ext cx="6126480" cy="6583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1D2A5C"/>
                </a:solidFill>
                <a:latin typeface="Calibri"/>
                <a:ea typeface="Calibri"/>
                <a:cs typeface="Calibri"/>
              </a:rPr>
              <a:t>In-plant registry + digest pins  </a:t>
            </a:r>
            <a:r>
              <a:rPr sz="1000">
                <a:solidFill>
                  <a:srgbClr val="5F6B7A"/>
                </a:solidFill>
                <a:latin typeface="Calibri"/>
                <a:ea typeface="Calibri"/>
                <a:cs typeface="Calibri"/>
              </a:rPr>
              <a:t>Mirror seeded during maintenance windows; deploys via compose-file swap</a:t>
            </a:r>
            <a:endParaRPr sz="1050"/>
          </a:p>
        </p:txBody>
      </p:sp>
      <p:sp>
        <p:nvSpPr>
          <p:cNvPr id="23" name="Shape 20">
            <a:extLst xmlns:a="http://schemas.openxmlformats.org/drawingml/2006/main">
              <a:ext uri="{FF2B5EF4-FFF2-40B4-BE49-F238E27FC236}">
                <a16:creationId xmlns:a16="http://schemas.microsoft.com/office/drawing/2014/main" id="{DD7927B2-537D-4611-9793-ABE02BE389FF}"/>
              </a:ext>
            </a:extLst>
          </p:cNvPr>
          <p:cNvSpPr>
            <a:spLocks xmlns:a="http://schemas.openxmlformats.org/drawingml/2006/main" noGrp="1"/>
          </p:cNvSpPr>
          <p:nvPr/>
        </p:nvSpPr>
        <p:spPr>
          <a:xfrm xmlns:a="http://schemas.openxmlformats.org/drawingml/2006/main">
            <a:off x="566928" y="5660136"/>
            <a:ext cx="182880" cy="182880"/>
          </a:xfrm>
          <a:prstGeom xmlns:a="http://schemas.openxmlformats.org/drawingml/2006/main" prst="ellipse">
            <a:avLst/>
          </a:prstGeom>
          <a:solidFill xmlns:a="http://schemas.openxmlformats.org/drawingml/2006/main">
            <a:srgbClr val="E8503A"/>
          </a:solidFill>
        </p:spPr>
      </p:sp>
      <p:sp>
        <p:nvSpPr>
          <p:cNvPr id="24" name="Text 21">
            <a:extLst xmlns:a="http://schemas.openxmlformats.org/drawingml/2006/main">
              <a:ext uri="{FF2B5EF4-FFF2-40B4-BE49-F238E27FC236}">
                <a16:creationId xmlns:a16="http://schemas.microsoft.com/office/drawing/2014/main" id="{52836B81-6876-415F-8C1D-469B7AD04496}"/>
              </a:ext>
            </a:extLst>
          </p:cNvPr>
          <p:cNvSpPr>
            <a:spLocks xmlns:a="http://schemas.openxmlformats.org/drawingml/2006/main" noGrp="1"/>
          </p:cNvSpPr>
          <p:nvPr/>
        </p:nvSpPr>
        <p:spPr>
          <a:xfrm xmlns:a="http://schemas.openxmlformats.org/drawingml/2006/main">
            <a:off x="960120" y="5586984"/>
            <a:ext cx="6126480" cy="6583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1D2A5C"/>
                </a:solidFill>
                <a:latin typeface="Calibri"/>
                <a:ea typeface="Calibri"/>
                <a:cs typeface="Calibri"/>
              </a:rPr>
              <a:t>Rollback in seconds  </a:t>
            </a:r>
            <a:r>
              <a:rPr sz="1000">
                <a:solidFill>
                  <a:srgbClr val="5F6B7A"/>
                </a:solidFill>
                <a:latin typeface="Calibri"/>
                <a:ea typeface="Calibri"/>
                <a:cs typeface="Calibri"/>
              </a:rPr>
              <a:t>Re-point the tag to the previous digest; healthcheck-gated cutover script</a:t>
            </a:r>
            <a:endParaRPr sz="1050"/>
          </a:p>
        </p:txBody>
      </p:sp>
      <p:sp>
        <p:nvSpPr>
          <p:cNvPr id="25" name="Shape 22">
            <a:extLst xmlns:a="http://schemas.openxmlformats.org/drawingml/2006/main">
              <a:ext uri="{FF2B5EF4-FFF2-40B4-BE49-F238E27FC236}">
                <a16:creationId xmlns:a16="http://schemas.microsoft.com/office/drawing/2014/main" id="{5765BDF2-C88E-430C-8313-DAFBE442DD79}"/>
              </a:ext>
            </a:extLst>
          </p:cNvPr>
          <p:cNvSpPr>
            <a:spLocks xmlns:a="http://schemas.openxmlformats.org/drawingml/2006/main" noGrp="1"/>
          </p:cNvSpPr>
          <p:nvPr/>
        </p:nvSpPr>
        <p:spPr>
          <a:xfrm xmlns:a="http://schemas.openxmlformats.org/drawingml/2006/main">
            <a:off x="7406640" y="1938528"/>
            <a:ext cx="4279392" cy="4160520"/>
          </a:xfrm>
          <a:prstGeom xmlns:a="http://schemas.openxmlformats.org/drawingml/2006/main" prst="roundRect">
            <a:avLst>
              <a:gd name="adj" fmla="val 1538"/>
            </a:avLst>
          </a:prstGeom>
          <a:solidFill xmlns:a="http://schemas.openxmlformats.org/drawingml/2006/main">
            <a:srgbClr val="EAF4DC"/>
          </a:solidFill>
        </p:spPr>
      </p:sp>
      <p:sp>
        <p:nvSpPr>
          <p:cNvPr id="26" name="Text 23">
            <a:extLst xmlns:a="http://schemas.openxmlformats.org/drawingml/2006/main">
              <a:ext uri="{FF2B5EF4-FFF2-40B4-BE49-F238E27FC236}">
                <a16:creationId xmlns:a16="http://schemas.microsoft.com/office/drawing/2014/main" id="{50D3E21E-7F9D-4CC6-9E8D-CFC06D7429A5}"/>
              </a:ext>
            </a:extLst>
          </p:cNvPr>
          <p:cNvSpPr>
            <a:spLocks xmlns:a="http://schemas.openxmlformats.org/drawingml/2006/main" noGrp="1"/>
          </p:cNvSpPr>
          <p:nvPr/>
        </p:nvSpPr>
        <p:spPr>
          <a:xfrm xmlns:a="http://schemas.openxmlformats.org/drawingml/2006/main">
            <a:off x="7607808" y="2103120"/>
            <a:ext cx="3877056"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b="1" spc="150">
                <a:solidFill>
                  <a:srgbClr val="4A7A15"/>
                </a:solidFill>
                <a:latin typeface="Calibri"/>
                <a:ea typeface="Calibri"/>
                <a:cs typeface="Calibri"/>
              </a:rPr>
              <a:t>LESSONS FOR YOUR SERVICE</a:t>
            </a:r>
            <a:endParaRPr sz="950"/>
          </a:p>
        </p:txBody>
      </p:sp>
      <p:sp>
        <p:nvSpPr>
          <p:cNvPr id="27" name="Text 24">
            <a:extLst xmlns:a="http://schemas.openxmlformats.org/drawingml/2006/main">
              <a:ext uri="{FF2B5EF4-FFF2-40B4-BE49-F238E27FC236}">
                <a16:creationId xmlns:a16="http://schemas.microsoft.com/office/drawing/2014/main" id="{0A28ECB2-7AF3-4B1F-9D39-266CEF44236F}"/>
              </a:ext>
            </a:extLst>
          </p:cNvPr>
          <p:cNvSpPr>
            <a:spLocks xmlns:a="http://schemas.openxmlformats.org/drawingml/2006/main" noGrp="1"/>
          </p:cNvSpPr>
          <p:nvPr/>
        </p:nvSpPr>
        <p:spPr>
          <a:xfrm xmlns:a="http://schemas.openxmlformats.org/drawingml/2006/main">
            <a:off x="7607808" y="2487168"/>
            <a:ext cx="256032"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5A8F1F"/>
                </a:solidFill>
                <a:latin typeface="Calibri"/>
                <a:ea typeface="Calibri"/>
                <a:cs typeface="Calibri"/>
              </a:rPr>
              <a:t>✓</a:t>
            </a:r>
            <a:endParaRPr sz="1100"/>
          </a:p>
        </p:txBody>
      </p:sp>
      <p:sp>
        <p:nvSpPr>
          <p:cNvPr id="28" name="Text 25">
            <a:extLst xmlns:a="http://schemas.openxmlformats.org/drawingml/2006/main">
              <a:ext uri="{FF2B5EF4-FFF2-40B4-BE49-F238E27FC236}">
                <a16:creationId xmlns:a16="http://schemas.microsoft.com/office/drawing/2014/main" id="{EF1DFCD4-2259-4554-8B07-F811A307C294}"/>
              </a:ext>
            </a:extLst>
          </p:cNvPr>
          <p:cNvSpPr>
            <a:spLocks xmlns:a="http://schemas.openxmlformats.org/drawingml/2006/main" noGrp="1"/>
          </p:cNvSpPr>
          <p:nvPr/>
        </p:nvSpPr>
        <p:spPr>
          <a:xfrm xmlns:a="http://schemas.openxmlformats.org/drawingml/2006/main">
            <a:off x="7909560" y="2468880"/>
            <a:ext cx="3547872"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3F5A18"/>
                </a:solidFill>
                <a:latin typeface="Calibri"/>
                <a:ea typeface="Calibri"/>
                <a:cs typeface="Calibri"/>
              </a:rPr>
              <a:t>Model baked into the image (pattern a): atomicity beats flexibility under these constraints</a:t>
            </a:r>
            <a:endParaRPr sz="1000"/>
          </a:p>
        </p:txBody>
      </p:sp>
      <p:sp>
        <p:nvSpPr>
          <p:cNvPr id="29" name="Text 26">
            <a:extLst xmlns:a="http://schemas.openxmlformats.org/drawingml/2006/main">
              <a:ext uri="{FF2B5EF4-FFF2-40B4-BE49-F238E27FC236}">
                <a16:creationId xmlns:a16="http://schemas.microsoft.com/office/drawing/2014/main" id="{A6CDE3F7-C148-4F0B-B963-B9F771C0630F}"/>
              </a:ext>
            </a:extLst>
          </p:cNvPr>
          <p:cNvSpPr>
            <a:spLocks xmlns:a="http://schemas.openxmlformats.org/drawingml/2006/main" noGrp="1"/>
          </p:cNvSpPr>
          <p:nvPr/>
        </p:nvSpPr>
        <p:spPr>
          <a:xfrm xmlns:a="http://schemas.openxmlformats.org/drawingml/2006/main">
            <a:off x="7607808" y="3355848"/>
            <a:ext cx="256032"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5A8F1F"/>
                </a:solidFill>
                <a:latin typeface="Calibri"/>
                <a:ea typeface="Calibri"/>
                <a:cs typeface="Calibri"/>
              </a:rPr>
              <a:t>✓</a:t>
            </a:r>
            <a:endParaRPr sz="1100"/>
          </a:p>
        </p:txBody>
      </p:sp>
      <p:sp>
        <p:nvSpPr>
          <p:cNvPr id="30" name="Text 27">
            <a:extLst xmlns:a="http://schemas.openxmlformats.org/drawingml/2006/main">
              <a:ext uri="{FF2B5EF4-FFF2-40B4-BE49-F238E27FC236}">
                <a16:creationId xmlns:a16="http://schemas.microsoft.com/office/drawing/2014/main" id="{DDC58365-8D9A-443B-8BF1-937F90D60060}"/>
              </a:ext>
            </a:extLst>
          </p:cNvPr>
          <p:cNvSpPr>
            <a:spLocks xmlns:a="http://schemas.openxmlformats.org/drawingml/2006/main" noGrp="1"/>
          </p:cNvSpPr>
          <p:nvPr/>
        </p:nvSpPr>
        <p:spPr>
          <a:xfrm xmlns:a="http://schemas.openxmlformats.org/drawingml/2006/main">
            <a:off x="7909560" y="3337560"/>
            <a:ext cx="3547872"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3F5A18"/>
                </a:solidFill>
                <a:latin typeface="Calibri"/>
                <a:ea typeface="Calibri"/>
                <a:cs typeface="Calibri"/>
              </a:rPr>
              <a:t>Digest-pinned deploys keep 'what is running?' answerable — :latest here would be untraceable</a:t>
            </a:r>
            <a:endParaRPr sz="1000"/>
          </a:p>
        </p:txBody>
      </p:sp>
      <p:sp>
        <p:nvSpPr>
          <p:cNvPr id="31" name="Text 28">
            <a:extLst xmlns:a="http://schemas.openxmlformats.org/drawingml/2006/main">
              <a:ext uri="{FF2B5EF4-FFF2-40B4-BE49-F238E27FC236}">
                <a16:creationId xmlns:a16="http://schemas.microsoft.com/office/drawing/2014/main" id="{4EB9FC76-E273-4126-8FF0-9DDE8F1F8A97}"/>
              </a:ext>
            </a:extLst>
          </p:cNvPr>
          <p:cNvSpPr>
            <a:spLocks xmlns:a="http://schemas.openxmlformats.org/drawingml/2006/main" noGrp="1"/>
          </p:cNvSpPr>
          <p:nvPr/>
        </p:nvSpPr>
        <p:spPr>
          <a:xfrm xmlns:a="http://schemas.openxmlformats.org/drawingml/2006/main">
            <a:off x="7607808" y="4224528"/>
            <a:ext cx="256032"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5A8F1F"/>
                </a:solidFill>
                <a:latin typeface="Calibri"/>
                <a:ea typeface="Calibri"/>
                <a:cs typeface="Calibri"/>
              </a:rPr>
              <a:t>✓</a:t>
            </a:r>
            <a:endParaRPr sz="1100"/>
          </a:p>
        </p:txBody>
      </p:sp>
      <p:sp>
        <p:nvSpPr>
          <p:cNvPr id="32" name="Text 29">
            <a:extLst xmlns:a="http://schemas.openxmlformats.org/drawingml/2006/main">
              <a:ext uri="{FF2B5EF4-FFF2-40B4-BE49-F238E27FC236}">
                <a16:creationId xmlns:a16="http://schemas.microsoft.com/office/drawing/2014/main" id="{4E167844-4574-47C6-B2C1-30271FD2A98E}"/>
              </a:ext>
            </a:extLst>
          </p:cNvPr>
          <p:cNvSpPr>
            <a:spLocks xmlns:a="http://schemas.openxmlformats.org/drawingml/2006/main" noGrp="1"/>
          </p:cNvSpPr>
          <p:nvPr/>
        </p:nvSpPr>
        <p:spPr>
          <a:xfrm xmlns:a="http://schemas.openxmlformats.org/drawingml/2006/main">
            <a:off x="7909560" y="4206240"/>
            <a:ext cx="3547872"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3F5A18"/>
                </a:solidFill>
                <a:latin typeface="Calibri"/>
                <a:ea typeface="Calibri"/>
                <a:cs typeface="Calibri"/>
              </a:rPr>
              <a:t>Image size is a hard business constraint, not aesthetics — the 30-min backhaul sets the budget</a:t>
            </a:r>
            <a:endParaRPr sz="1000"/>
          </a:p>
        </p:txBody>
      </p:sp>
      <p:sp>
        <p:nvSpPr>
          <p:cNvPr id="33" name="Text 30">
            <a:extLst xmlns:a="http://schemas.openxmlformats.org/drawingml/2006/main">
              <a:ext uri="{FF2B5EF4-FFF2-40B4-BE49-F238E27FC236}">
                <a16:creationId xmlns:a16="http://schemas.microsoft.com/office/drawing/2014/main" id="{177617E7-767D-4246-BB83-7F87FC035B57}"/>
              </a:ext>
            </a:extLst>
          </p:cNvPr>
          <p:cNvSpPr>
            <a:spLocks xmlns:a="http://schemas.openxmlformats.org/drawingml/2006/main" noGrp="1"/>
          </p:cNvSpPr>
          <p:nvPr/>
        </p:nvSpPr>
        <p:spPr>
          <a:xfrm xmlns:a="http://schemas.openxmlformats.org/drawingml/2006/main">
            <a:off x="7607808" y="5093208"/>
            <a:ext cx="256032"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5A8F1F"/>
                </a:solidFill>
                <a:latin typeface="Calibri"/>
                <a:ea typeface="Calibri"/>
                <a:cs typeface="Calibri"/>
              </a:rPr>
              <a:t>✓</a:t>
            </a:r>
            <a:endParaRPr sz="1100"/>
          </a:p>
        </p:txBody>
      </p:sp>
      <p:sp>
        <p:nvSpPr>
          <p:cNvPr id="34" name="Text 31">
            <a:extLst xmlns:a="http://schemas.openxmlformats.org/drawingml/2006/main">
              <a:ext uri="{FF2B5EF4-FFF2-40B4-BE49-F238E27FC236}">
                <a16:creationId xmlns:a16="http://schemas.microsoft.com/office/drawing/2014/main" id="{69EF86EF-944F-400A-BA54-11B8F301D69A}"/>
              </a:ext>
            </a:extLst>
          </p:cNvPr>
          <p:cNvSpPr>
            <a:spLocks xmlns:a="http://schemas.openxmlformats.org/drawingml/2006/main" noGrp="1"/>
          </p:cNvSpPr>
          <p:nvPr/>
        </p:nvSpPr>
        <p:spPr>
          <a:xfrm xmlns:a="http://schemas.openxmlformats.org/drawingml/2006/main">
            <a:off x="7909560" y="5074920"/>
            <a:ext cx="3547872"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3F5A18"/>
                </a:solidFill>
                <a:latin typeface="Calibri"/>
                <a:ea typeface="Calibri"/>
                <a:cs typeface="Calibri"/>
              </a:rPr>
              <a:t>Rollback must be executable by a technician at 02:00 — runbooks, not heroics</a:t>
            </a:r>
            <a:endParaRPr sz="1000"/>
          </a:p>
        </p:txBody>
      </p:sp>
    </p:spTree>
    <p:extLst>
      <p:ext uri="{BB962C8B-B14F-4D97-AF65-F5344CB8AC3E}">
        <p14:creationId xmlns:p14="http://schemas.microsoft.com/office/powerpoint/2010/main" val="1322960308"/>
      </p:ext>
    </p:extLst>
  </p:cSld>
</p:sld>
</file>

<file path=ppt/slides/slide7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C0AACDC-D64F-4C8D-AB8B-45BD013C13C5}"/>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Module 3 — checkpoint quiz</a:t>
            </a:r>
            <a:endParaRPr sz="2600"/>
          </a:p>
        </p:txBody>
      </p:sp>
      <p:sp>
        <p:nvSpPr>
          <p:cNvPr id="3" name="Text 1">
            <a:extLst xmlns:a="http://schemas.openxmlformats.org/drawingml/2006/main">
              <a:ext uri="{FF2B5EF4-FFF2-40B4-BE49-F238E27FC236}">
                <a16:creationId xmlns:a16="http://schemas.microsoft.com/office/drawing/2014/main" id="{D0E1E679-742D-47D6-A4EC-30F2CE65B1E2}"/>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اختبار قصير — الوحدة الثالثة</a:t>
            </a:r>
            <a:endParaRPr sz="1300"/>
          </a:p>
        </p:txBody>
      </p:sp>
      <p:pic>
        <p:nvPicPr>
          <p:cNvPr id="40" name="Image 0"/>
          <p:cNvPicPr>
            <a:picLocks xmlns:a="http://schemas.openxmlformats.org/drawingml/2006/main" noChangeAspect="1"/>
          </p:cNvPicPr>
          <p:nvPr/>
        </p:nvPicPr>
        <p:blipFill>
          <a:blip xmlns:r="http://schemas.openxmlformats.org/officeDocument/2006/relationships" xmlns:a="http://schemas.openxmlformats.org/drawingml/2006/main" r:embed="R324dbc5bdea04a52"/>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8EECD7CF-C92D-4ED6-AB01-0418AED74202}"/>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32663AF9-15B6-41B3-8C74-91C153282D85}"/>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3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83D92851-4DB0-4BBD-A633-F7402277A635}"/>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78</a:t>
            </a:r>
            <a:endParaRPr sz="850"/>
          </a:p>
        </p:txBody>
      </p:sp>
      <p:sp>
        <p:nvSpPr>
          <p:cNvPr id="8" name="Text 5">
            <a:extLst xmlns:a="http://schemas.openxmlformats.org/drawingml/2006/main">
              <a:ext uri="{FF2B5EF4-FFF2-40B4-BE49-F238E27FC236}">
                <a16:creationId xmlns:a16="http://schemas.microsoft.com/office/drawing/2014/main" id="{3EF9BB8C-B0D7-4E0B-8B62-A785989864D6}"/>
              </a:ext>
            </a:extLst>
          </p:cNvPr>
          <p:cNvSpPr>
            <a:spLocks xmlns:a="http://schemas.openxmlformats.org/drawingml/2006/main" noGrp="1"/>
          </p:cNvSpPr>
          <p:nvPr/>
        </p:nvSpPr>
        <p:spPr>
          <a:xfrm xmlns:a="http://schemas.openxmlformats.org/drawingml/2006/main">
            <a:off x="502920" y="1444752"/>
            <a:ext cx="1920240" cy="310896"/>
          </a:xfrm>
          <a:prstGeom xmlns:a="http://schemas.openxmlformats.org/drawingml/2006/main" prst="roundRect">
            <a:avLst>
              <a:gd name="adj" fmla="val 17647"/>
            </a:avLst>
          </a:prstGeom>
          <a:solidFill xmlns:a="http://schemas.openxmlformats.org/drawingml/2006/main">
            <a:srgbClr val="7B61A6"/>
          </a:solidFill>
        </p:spPr>
        <p:txBody>
          <a:bodyPr xmlns:a="http://schemas.openxmlformats.org/drawingml/2006/main" wrap="square"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KNOWLEDGE CHECK</a:t>
            </a:r>
            <a:endParaRPr sz="950"/>
          </a:p>
        </p:txBody>
      </p:sp>
      <p:sp>
        <p:nvSpPr>
          <p:cNvPr id="9" name="Text 6">
            <a:extLst xmlns:a="http://schemas.openxmlformats.org/drawingml/2006/main">
              <a:ext uri="{FF2B5EF4-FFF2-40B4-BE49-F238E27FC236}">
                <a16:creationId xmlns:a16="http://schemas.microsoft.com/office/drawing/2014/main" id="{6C20C9BD-EF72-4D38-9069-6BD65972137D}"/>
              </a:ext>
            </a:extLst>
          </p:cNvPr>
          <p:cNvSpPr>
            <a:spLocks xmlns:a="http://schemas.openxmlformats.org/drawingml/2006/main" noGrp="1"/>
          </p:cNvSpPr>
          <p:nvPr/>
        </p:nvSpPr>
        <p:spPr>
          <a:xfrm xmlns:a="http://schemas.openxmlformats.org/drawingml/2006/main">
            <a:off x="502920" y="1920240"/>
            <a:ext cx="544068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b="1">
                <a:solidFill>
                  <a:srgbClr val="1D2A5C"/>
                </a:solidFill>
                <a:latin typeface="Calibri"/>
                <a:ea typeface="Calibri"/>
                <a:cs typeface="Calibri"/>
              </a:rPr>
              <a:t>Q1. Your Dockerfile runs COPY . . before pip install. What actually breaks?</a:t>
            </a:r>
            <a:endParaRPr sz="1200"/>
          </a:p>
        </p:txBody>
      </p:sp>
      <p:sp>
        <p:nvSpPr>
          <p:cNvPr id="10" name="Shape 7">
            <a:extLst xmlns:a="http://schemas.openxmlformats.org/drawingml/2006/main">
              <a:ext uri="{FF2B5EF4-FFF2-40B4-BE49-F238E27FC236}">
                <a16:creationId xmlns:a16="http://schemas.microsoft.com/office/drawing/2014/main" id="{C2C729DF-CCF1-4D24-8FC0-B62E73546F71}"/>
              </a:ext>
            </a:extLst>
          </p:cNvPr>
          <p:cNvSpPr>
            <a:spLocks xmlns:a="http://schemas.openxmlformats.org/drawingml/2006/main" noGrp="1"/>
          </p:cNvSpPr>
          <p:nvPr/>
        </p:nvSpPr>
        <p:spPr>
          <a:xfrm xmlns:a="http://schemas.openxmlformats.org/drawingml/2006/main">
            <a:off x="502920" y="2788920"/>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11" name="Text 8">
            <a:extLst xmlns:a="http://schemas.openxmlformats.org/drawingml/2006/main">
              <a:ext uri="{FF2B5EF4-FFF2-40B4-BE49-F238E27FC236}">
                <a16:creationId xmlns:a16="http://schemas.microsoft.com/office/drawing/2014/main" id="{88614A13-1D96-4D2D-95FB-4664CF0B316F}"/>
              </a:ext>
            </a:extLst>
          </p:cNvPr>
          <p:cNvSpPr>
            <a:spLocks xmlns:a="http://schemas.openxmlformats.org/drawingml/2006/main" noGrp="1"/>
          </p:cNvSpPr>
          <p:nvPr/>
        </p:nvSpPr>
        <p:spPr>
          <a:xfrm xmlns:a="http://schemas.openxmlformats.org/drawingml/2006/main">
            <a:off x="612648" y="2907792"/>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A</a:t>
            </a:r>
            <a:endParaRPr sz="1100"/>
          </a:p>
        </p:txBody>
      </p:sp>
      <p:sp>
        <p:nvSpPr>
          <p:cNvPr id="12" name="Text 9">
            <a:extLst xmlns:a="http://schemas.openxmlformats.org/drawingml/2006/main">
              <a:ext uri="{FF2B5EF4-FFF2-40B4-BE49-F238E27FC236}">
                <a16:creationId xmlns:a16="http://schemas.microsoft.com/office/drawing/2014/main" id="{3B26A032-1F13-4FF4-8B73-5503EF8FB181}"/>
              </a:ext>
            </a:extLst>
          </p:cNvPr>
          <p:cNvSpPr>
            <a:spLocks xmlns:a="http://schemas.openxmlformats.org/drawingml/2006/main" noGrp="1"/>
          </p:cNvSpPr>
          <p:nvPr/>
        </p:nvSpPr>
        <p:spPr>
          <a:xfrm xmlns:a="http://schemas.openxmlformats.org/drawingml/2006/main">
            <a:off x="1033272" y="2788920"/>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The image no longer builds</a:t>
            </a:r>
            <a:endParaRPr sz="1050"/>
          </a:p>
        </p:txBody>
      </p:sp>
      <p:sp>
        <p:nvSpPr>
          <p:cNvPr id="13" name="Shape 10">
            <a:extLst xmlns:a="http://schemas.openxmlformats.org/drawingml/2006/main">
              <a:ext uri="{FF2B5EF4-FFF2-40B4-BE49-F238E27FC236}">
                <a16:creationId xmlns:a16="http://schemas.microsoft.com/office/drawing/2014/main" id="{FC5FE334-BA88-4CB1-BFB5-589E1CB9D10E}"/>
              </a:ext>
            </a:extLst>
          </p:cNvPr>
          <p:cNvSpPr>
            <a:spLocks xmlns:a="http://schemas.openxmlformats.org/drawingml/2006/main" noGrp="1"/>
          </p:cNvSpPr>
          <p:nvPr/>
        </p:nvSpPr>
        <p:spPr>
          <a:xfrm xmlns:a="http://schemas.openxmlformats.org/drawingml/2006/main">
            <a:off x="502920" y="3447288"/>
            <a:ext cx="5440680" cy="548640"/>
          </a:xfrm>
          <a:prstGeom xmlns:a="http://schemas.openxmlformats.org/drawingml/2006/main" prst="roundRect">
            <a:avLst>
              <a:gd name="adj" fmla="val 10000"/>
            </a:avLst>
          </a:prstGeom>
          <a:solidFill xmlns:a="http://schemas.openxmlformats.org/drawingml/2006/main">
            <a:srgbClr val="D4F1EE"/>
          </a:solidFill>
          <a:ln xmlns:a="http://schemas.openxmlformats.org/drawingml/2006/main" w="19050">
            <a:solidFill>
              <a:srgbClr val="00A79D"/>
            </a:solidFill>
            <a:prstDash val="solid"/>
          </a:ln>
        </p:spPr>
      </p:sp>
      <p:sp>
        <p:nvSpPr>
          <p:cNvPr id="14" name="Text 11">
            <a:extLst xmlns:a="http://schemas.openxmlformats.org/drawingml/2006/main">
              <a:ext uri="{FF2B5EF4-FFF2-40B4-BE49-F238E27FC236}">
                <a16:creationId xmlns:a16="http://schemas.microsoft.com/office/drawing/2014/main" id="{714E08D4-962E-44C7-84E7-4C43EF6FE02A}"/>
              </a:ext>
            </a:extLst>
          </p:cNvPr>
          <p:cNvSpPr>
            <a:spLocks xmlns:a="http://schemas.openxmlformats.org/drawingml/2006/main" noGrp="1"/>
          </p:cNvSpPr>
          <p:nvPr/>
        </p:nvSpPr>
        <p:spPr>
          <a:xfrm xmlns:a="http://schemas.openxmlformats.org/drawingml/2006/main">
            <a:off x="612648" y="3566160"/>
            <a:ext cx="310896" cy="310896"/>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B</a:t>
            </a:r>
            <a:endParaRPr sz="1100"/>
          </a:p>
        </p:txBody>
      </p:sp>
      <p:sp>
        <p:nvSpPr>
          <p:cNvPr id="15" name="Text 12">
            <a:extLst xmlns:a="http://schemas.openxmlformats.org/drawingml/2006/main">
              <a:ext uri="{FF2B5EF4-FFF2-40B4-BE49-F238E27FC236}">
                <a16:creationId xmlns:a16="http://schemas.microsoft.com/office/drawing/2014/main" id="{354FB68F-B7D2-47E9-A50D-EE3484661E4E}"/>
              </a:ext>
            </a:extLst>
          </p:cNvPr>
          <p:cNvSpPr>
            <a:spLocks xmlns:a="http://schemas.openxmlformats.org/drawingml/2006/main" noGrp="1"/>
          </p:cNvSpPr>
          <p:nvPr/>
        </p:nvSpPr>
        <p:spPr>
          <a:xfrm xmlns:a="http://schemas.openxmlformats.org/drawingml/2006/main">
            <a:off x="1033272" y="3447288"/>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056A63"/>
                </a:solidFill>
                <a:latin typeface="Calibri"/>
                <a:ea typeface="Calibri"/>
                <a:cs typeface="Calibri"/>
              </a:rPr>
              <a:t>Every code edit invalidates the dependency layer's cache   ✓</a:t>
            </a:r>
            <a:endParaRPr sz="1050"/>
          </a:p>
        </p:txBody>
      </p:sp>
      <p:sp>
        <p:nvSpPr>
          <p:cNvPr id="16" name="Shape 13">
            <a:extLst xmlns:a="http://schemas.openxmlformats.org/drawingml/2006/main">
              <a:ext uri="{FF2B5EF4-FFF2-40B4-BE49-F238E27FC236}">
                <a16:creationId xmlns:a16="http://schemas.microsoft.com/office/drawing/2014/main" id="{105599FA-D7C3-4027-9D7C-548F6447DC6C}"/>
              </a:ext>
            </a:extLst>
          </p:cNvPr>
          <p:cNvSpPr>
            <a:spLocks xmlns:a="http://schemas.openxmlformats.org/drawingml/2006/main" noGrp="1"/>
          </p:cNvSpPr>
          <p:nvPr/>
        </p:nvSpPr>
        <p:spPr>
          <a:xfrm xmlns:a="http://schemas.openxmlformats.org/drawingml/2006/main">
            <a:off x="502920" y="4105656"/>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17" name="Text 14">
            <a:extLst xmlns:a="http://schemas.openxmlformats.org/drawingml/2006/main">
              <a:ext uri="{FF2B5EF4-FFF2-40B4-BE49-F238E27FC236}">
                <a16:creationId xmlns:a16="http://schemas.microsoft.com/office/drawing/2014/main" id="{738628A2-0C52-45F6-B29F-2428F89A96FD}"/>
              </a:ext>
            </a:extLst>
          </p:cNvPr>
          <p:cNvSpPr>
            <a:spLocks xmlns:a="http://schemas.openxmlformats.org/drawingml/2006/main" noGrp="1"/>
          </p:cNvSpPr>
          <p:nvPr/>
        </p:nvSpPr>
        <p:spPr>
          <a:xfrm xmlns:a="http://schemas.openxmlformats.org/drawingml/2006/main">
            <a:off x="612648" y="4224528"/>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C</a:t>
            </a:r>
            <a:endParaRPr sz="1100"/>
          </a:p>
        </p:txBody>
      </p:sp>
      <p:sp>
        <p:nvSpPr>
          <p:cNvPr id="18" name="Text 15">
            <a:extLst xmlns:a="http://schemas.openxmlformats.org/drawingml/2006/main">
              <a:ext uri="{FF2B5EF4-FFF2-40B4-BE49-F238E27FC236}">
                <a16:creationId xmlns:a16="http://schemas.microsoft.com/office/drawing/2014/main" id="{D15DB79B-1C27-46B2-B2F7-2E0D1F22F3C1}"/>
              </a:ext>
            </a:extLst>
          </p:cNvPr>
          <p:cNvSpPr>
            <a:spLocks xmlns:a="http://schemas.openxmlformats.org/drawingml/2006/main" noGrp="1"/>
          </p:cNvSpPr>
          <p:nvPr/>
        </p:nvSpPr>
        <p:spPr>
          <a:xfrm xmlns:a="http://schemas.openxmlformats.org/drawingml/2006/main">
            <a:off x="1033272" y="4105656"/>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The container is forced to run as root</a:t>
            </a:r>
            <a:endParaRPr sz="1050"/>
          </a:p>
        </p:txBody>
      </p:sp>
      <p:sp>
        <p:nvSpPr>
          <p:cNvPr id="19" name="Shape 16">
            <a:extLst xmlns:a="http://schemas.openxmlformats.org/drawingml/2006/main">
              <a:ext uri="{FF2B5EF4-FFF2-40B4-BE49-F238E27FC236}">
                <a16:creationId xmlns:a16="http://schemas.microsoft.com/office/drawing/2014/main" id="{C4E11E4A-1173-4B15-9430-94F3BD848886}"/>
              </a:ext>
            </a:extLst>
          </p:cNvPr>
          <p:cNvSpPr>
            <a:spLocks xmlns:a="http://schemas.openxmlformats.org/drawingml/2006/main" noGrp="1"/>
          </p:cNvSpPr>
          <p:nvPr/>
        </p:nvSpPr>
        <p:spPr>
          <a:xfrm xmlns:a="http://schemas.openxmlformats.org/drawingml/2006/main">
            <a:off x="502920" y="4764024"/>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20" name="Text 17">
            <a:extLst xmlns:a="http://schemas.openxmlformats.org/drawingml/2006/main">
              <a:ext uri="{FF2B5EF4-FFF2-40B4-BE49-F238E27FC236}">
                <a16:creationId xmlns:a16="http://schemas.microsoft.com/office/drawing/2014/main" id="{2ACB5E6E-5818-43DA-ABCD-DB50FC246079}"/>
              </a:ext>
            </a:extLst>
          </p:cNvPr>
          <p:cNvSpPr>
            <a:spLocks xmlns:a="http://schemas.openxmlformats.org/drawingml/2006/main" noGrp="1"/>
          </p:cNvSpPr>
          <p:nvPr/>
        </p:nvSpPr>
        <p:spPr>
          <a:xfrm xmlns:a="http://schemas.openxmlformats.org/drawingml/2006/main">
            <a:off x="612648" y="4882896"/>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D</a:t>
            </a:r>
            <a:endParaRPr sz="1100"/>
          </a:p>
        </p:txBody>
      </p:sp>
      <p:sp>
        <p:nvSpPr>
          <p:cNvPr id="21" name="Text 18">
            <a:extLst xmlns:a="http://schemas.openxmlformats.org/drawingml/2006/main">
              <a:ext uri="{FF2B5EF4-FFF2-40B4-BE49-F238E27FC236}">
                <a16:creationId xmlns:a16="http://schemas.microsoft.com/office/drawing/2014/main" id="{D5B91544-9A2E-462B-9209-B1C66F73CD2C}"/>
              </a:ext>
            </a:extLst>
          </p:cNvPr>
          <p:cNvSpPr>
            <a:spLocks xmlns:a="http://schemas.openxmlformats.org/drawingml/2006/main" noGrp="1"/>
          </p:cNvSpPr>
          <p:nvPr/>
        </p:nvSpPr>
        <p:spPr>
          <a:xfrm xmlns:a="http://schemas.openxmlformats.org/drawingml/2006/main">
            <a:off x="1033272" y="4764024"/>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pip can no longer resolve the lock file</a:t>
            </a:r>
            <a:endParaRPr sz="1050"/>
          </a:p>
        </p:txBody>
      </p:sp>
      <p:sp>
        <p:nvSpPr>
          <p:cNvPr id="22" name="Text 19">
            <a:extLst xmlns:a="http://schemas.openxmlformats.org/drawingml/2006/main">
              <a:ext uri="{FF2B5EF4-FFF2-40B4-BE49-F238E27FC236}">
                <a16:creationId xmlns:a16="http://schemas.microsoft.com/office/drawing/2014/main" id="{0B4C8404-B019-4301-A461-4E7520439439}"/>
              </a:ext>
            </a:extLst>
          </p:cNvPr>
          <p:cNvSpPr>
            <a:spLocks xmlns:a="http://schemas.openxmlformats.org/drawingml/2006/main" noGrp="1"/>
          </p:cNvSpPr>
          <p:nvPr/>
        </p:nvSpPr>
        <p:spPr>
          <a:xfrm xmlns:a="http://schemas.openxmlformats.org/drawingml/2006/main">
            <a:off x="502920" y="5513832"/>
            <a:ext cx="544068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b="1" i="1">
                <a:solidFill>
                  <a:srgbClr val="5F6B7A"/>
                </a:solidFill>
                <a:latin typeface="Calibri"/>
                <a:ea typeface="Calibri"/>
                <a:cs typeface="Calibri"/>
              </a:rPr>
              <a:t>Why: </a:t>
            </a:r>
            <a:r>
              <a:rPr sz="950" i="1">
                <a:solidFill>
                  <a:srgbClr val="5F6B7A"/>
                </a:solidFill>
                <a:latin typeface="Calibri"/>
                <a:ea typeface="Calibri"/>
                <a:cs typeface="Calibri"/>
              </a:rPr>
              <a:t>A layer rebuilds when its inputs change. COPY . . makes all source an input to the install layer, so a one-line edit forces the 8-minute reinstall.</a:t>
            </a:r>
            <a:endParaRPr sz="950"/>
          </a:p>
        </p:txBody>
      </p:sp>
      <p:sp>
        <p:nvSpPr>
          <p:cNvPr id="23" name="Text 20">
            <a:extLst xmlns:a="http://schemas.openxmlformats.org/drawingml/2006/main">
              <a:ext uri="{FF2B5EF4-FFF2-40B4-BE49-F238E27FC236}">
                <a16:creationId xmlns:a16="http://schemas.microsoft.com/office/drawing/2014/main" id="{224C2574-4AB5-4518-B491-C2363891F79F}"/>
              </a:ext>
            </a:extLst>
          </p:cNvPr>
          <p:cNvSpPr>
            <a:spLocks xmlns:a="http://schemas.openxmlformats.org/drawingml/2006/main" noGrp="1"/>
          </p:cNvSpPr>
          <p:nvPr/>
        </p:nvSpPr>
        <p:spPr>
          <a:xfrm xmlns:a="http://schemas.openxmlformats.org/drawingml/2006/main">
            <a:off x="6245352" y="1920240"/>
            <a:ext cx="544068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b="1">
                <a:solidFill>
                  <a:srgbClr val="1D2A5C"/>
                </a:solidFill>
                <a:latin typeface="Calibri"/>
                <a:ea typeface="Calibri"/>
                <a:cs typeface="Calibri"/>
              </a:rPr>
              <a:t>Q2. Why must the CMD use exec form to run uvicorn?</a:t>
            </a:r>
            <a:endParaRPr sz="1200"/>
          </a:p>
        </p:txBody>
      </p:sp>
      <p:sp>
        <p:nvSpPr>
          <p:cNvPr id="24" name="Shape 21">
            <a:extLst xmlns:a="http://schemas.openxmlformats.org/drawingml/2006/main">
              <a:ext uri="{FF2B5EF4-FFF2-40B4-BE49-F238E27FC236}">
                <a16:creationId xmlns:a16="http://schemas.microsoft.com/office/drawing/2014/main" id="{2F6F133A-6032-4947-BD09-306B07E1278A}"/>
              </a:ext>
            </a:extLst>
          </p:cNvPr>
          <p:cNvSpPr>
            <a:spLocks xmlns:a="http://schemas.openxmlformats.org/drawingml/2006/main" noGrp="1"/>
          </p:cNvSpPr>
          <p:nvPr/>
        </p:nvSpPr>
        <p:spPr>
          <a:xfrm xmlns:a="http://schemas.openxmlformats.org/drawingml/2006/main">
            <a:off x="6245352" y="2788920"/>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25" name="Text 22">
            <a:extLst xmlns:a="http://schemas.openxmlformats.org/drawingml/2006/main">
              <a:ext uri="{FF2B5EF4-FFF2-40B4-BE49-F238E27FC236}">
                <a16:creationId xmlns:a16="http://schemas.microsoft.com/office/drawing/2014/main" id="{F86163EB-719D-4FAB-9954-79B41A330087}"/>
              </a:ext>
            </a:extLst>
          </p:cNvPr>
          <p:cNvSpPr>
            <a:spLocks xmlns:a="http://schemas.openxmlformats.org/drawingml/2006/main" noGrp="1"/>
          </p:cNvSpPr>
          <p:nvPr/>
        </p:nvSpPr>
        <p:spPr>
          <a:xfrm xmlns:a="http://schemas.openxmlformats.org/drawingml/2006/main">
            <a:off x="6355080" y="2907792"/>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A</a:t>
            </a:r>
            <a:endParaRPr sz="1100"/>
          </a:p>
        </p:txBody>
      </p:sp>
      <p:sp>
        <p:nvSpPr>
          <p:cNvPr id="26" name="Text 23">
            <a:extLst xmlns:a="http://schemas.openxmlformats.org/drawingml/2006/main">
              <a:ext uri="{FF2B5EF4-FFF2-40B4-BE49-F238E27FC236}">
                <a16:creationId xmlns:a16="http://schemas.microsoft.com/office/drawing/2014/main" id="{9252A660-DB85-45E3-8D40-5C8F07CC01FB}"/>
              </a:ext>
            </a:extLst>
          </p:cNvPr>
          <p:cNvSpPr>
            <a:spLocks xmlns:a="http://schemas.openxmlformats.org/drawingml/2006/main" noGrp="1"/>
          </p:cNvSpPr>
          <p:nvPr/>
        </p:nvSpPr>
        <p:spPr>
          <a:xfrm xmlns:a="http://schemas.openxmlformats.org/drawingml/2006/main">
            <a:off x="6775704" y="2788920"/>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It starts the process faster</a:t>
            </a:r>
            <a:endParaRPr sz="1050"/>
          </a:p>
        </p:txBody>
      </p:sp>
      <p:sp>
        <p:nvSpPr>
          <p:cNvPr id="27" name="Shape 24">
            <a:extLst xmlns:a="http://schemas.openxmlformats.org/drawingml/2006/main">
              <a:ext uri="{FF2B5EF4-FFF2-40B4-BE49-F238E27FC236}">
                <a16:creationId xmlns:a16="http://schemas.microsoft.com/office/drawing/2014/main" id="{32778BC4-DAF9-4442-9561-EF4663C96544}"/>
              </a:ext>
            </a:extLst>
          </p:cNvPr>
          <p:cNvSpPr>
            <a:spLocks xmlns:a="http://schemas.openxmlformats.org/drawingml/2006/main" noGrp="1"/>
          </p:cNvSpPr>
          <p:nvPr/>
        </p:nvSpPr>
        <p:spPr>
          <a:xfrm xmlns:a="http://schemas.openxmlformats.org/drawingml/2006/main">
            <a:off x="6245352" y="3447288"/>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28" name="Text 25">
            <a:extLst xmlns:a="http://schemas.openxmlformats.org/drawingml/2006/main">
              <a:ext uri="{FF2B5EF4-FFF2-40B4-BE49-F238E27FC236}">
                <a16:creationId xmlns:a16="http://schemas.microsoft.com/office/drawing/2014/main" id="{BFFF6EB7-05C6-4BB3-9973-93094F98F29D}"/>
              </a:ext>
            </a:extLst>
          </p:cNvPr>
          <p:cNvSpPr>
            <a:spLocks xmlns:a="http://schemas.openxmlformats.org/drawingml/2006/main" noGrp="1"/>
          </p:cNvSpPr>
          <p:nvPr/>
        </p:nvSpPr>
        <p:spPr>
          <a:xfrm xmlns:a="http://schemas.openxmlformats.org/drawingml/2006/main">
            <a:off x="6355080" y="3566160"/>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B</a:t>
            </a:r>
            <a:endParaRPr sz="1100"/>
          </a:p>
        </p:txBody>
      </p:sp>
      <p:sp>
        <p:nvSpPr>
          <p:cNvPr id="29" name="Text 26">
            <a:extLst xmlns:a="http://schemas.openxmlformats.org/drawingml/2006/main">
              <a:ext uri="{FF2B5EF4-FFF2-40B4-BE49-F238E27FC236}">
                <a16:creationId xmlns:a16="http://schemas.microsoft.com/office/drawing/2014/main" id="{25B83FD0-538D-4336-9B85-0FDD1A740355}"/>
              </a:ext>
            </a:extLst>
          </p:cNvPr>
          <p:cNvSpPr>
            <a:spLocks xmlns:a="http://schemas.openxmlformats.org/drawingml/2006/main" noGrp="1"/>
          </p:cNvSpPr>
          <p:nvPr/>
        </p:nvSpPr>
        <p:spPr>
          <a:xfrm xmlns:a="http://schemas.openxmlformats.org/drawingml/2006/main">
            <a:off x="6775704" y="3447288"/>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Shell form cannot pass command-line flags</a:t>
            </a:r>
            <a:endParaRPr sz="1050"/>
          </a:p>
        </p:txBody>
      </p:sp>
      <p:sp>
        <p:nvSpPr>
          <p:cNvPr id="30" name="Shape 27">
            <a:extLst xmlns:a="http://schemas.openxmlformats.org/drawingml/2006/main">
              <a:ext uri="{FF2B5EF4-FFF2-40B4-BE49-F238E27FC236}">
                <a16:creationId xmlns:a16="http://schemas.microsoft.com/office/drawing/2014/main" id="{662E9096-15AA-4FF6-BD4F-7CD9356E9B88}"/>
              </a:ext>
            </a:extLst>
          </p:cNvPr>
          <p:cNvSpPr>
            <a:spLocks xmlns:a="http://schemas.openxmlformats.org/drawingml/2006/main" noGrp="1"/>
          </p:cNvSpPr>
          <p:nvPr/>
        </p:nvSpPr>
        <p:spPr>
          <a:xfrm xmlns:a="http://schemas.openxmlformats.org/drawingml/2006/main">
            <a:off x="6245352" y="4105656"/>
            <a:ext cx="5440680" cy="548640"/>
          </a:xfrm>
          <a:prstGeom xmlns:a="http://schemas.openxmlformats.org/drawingml/2006/main" prst="roundRect">
            <a:avLst>
              <a:gd name="adj" fmla="val 10000"/>
            </a:avLst>
          </a:prstGeom>
          <a:solidFill xmlns:a="http://schemas.openxmlformats.org/drawingml/2006/main">
            <a:srgbClr val="D4F1EE"/>
          </a:solidFill>
          <a:ln xmlns:a="http://schemas.openxmlformats.org/drawingml/2006/main" w="19050">
            <a:solidFill>
              <a:srgbClr val="00A79D"/>
            </a:solidFill>
            <a:prstDash val="solid"/>
          </a:ln>
        </p:spPr>
      </p:sp>
      <p:sp>
        <p:nvSpPr>
          <p:cNvPr id="31" name="Text 28">
            <a:extLst xmlns:a="http://schemas.openxmlformats.org/drawingml/2006/main">
              <a:ext uri="{FF2B5EF4-FFF2-40B4-BE49-F238E27FC236}">
                <a16:creationId xmlns:a16="http://schemas.microsoft.com/office/drawing/2014/main" id="{D1B13240-3B19-4145-B785-5C450112A528}"/>
              </a:ext>
            </a:extLst>
          </p:cNvPr>
          <p:cNvSpPr>
            <a:spLocks xmlns:a="http://schemas.openxmlformats.org/drawingml/2006/main" noGrp="1"/>
          </p:cNvSpPr>
          <p:nvPr/>
        </p:nvSpPr>
        <p:spPr>
          <a:xfrm xmlns:a="http://schemas.openxmlformats.org/drawingml/2006/main">
            <a:off x="6355080" y="4224528"/>
            <a:ext cx="310896" cy="310896"/>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C</a:t>
            </a:r>
            <a:endParaRPr sz="1100"/>
          </a:p>
        </p:txBody>
      </p:sp>
      <p:sp>
        <p:nvSpPr>
          <p:cNvPr id="32" name="Text 29">
            <a:extLst xmlns:a="http://schemas.openxmlformats.org/drawingml/2006/main">
              <a:ext uri="{FF2B5EF4-FFF2-40B4-BE49-F238E27FC236}">
                <a16:creationId xmlns:a16="http://schemas.microsoft.com/office/drawing/2014/main" id="{AB2FA057-E4B5-457F-B54C-15656FC1E9BD}"/>
              </a:ext>
            </a:extLst>
          </p:cNvPr>
          <p:cNvSpPr>
            <a:spLocks xmlns:a="http://schemas.openxmlformats.org/drawingml/2006/main" noGrp="1"/>
          </p:cNvSpPr>
          <p:nvPr/>
        </p:nvSpPr>
        <p:spPr>
          <a:xfrm xmlns:a="http://schemas.openxmlformats.org/drawingml/2006/main">
            <a:off x="6775704" y="4105656"/>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056A63"/>
                </a:solidFill>
                <a:latin typeface="Calibri"/>
                <a:ea typeface="Calibri"/>
                <a:cs typeface="Calibri"/>
              </a:rPr>
              <a:t>uvicorn becomes PID 1 and receives SIGTERM for graceful shutdown   ✓</a:t>
            </a:r>
            <a:endParaRPr sz="1050"/>
          </a:p>
        </p:txBody>
      </p:sp>
      <p:sp>
        <p:nvSpPr>
          <p:cNvPr id="33" name="Shape 30">
            <a:extLst xmlns:a="http://schemas.openxmlformats.org/drawingml/2006/main">
              <a:ext uri="{FF2B5EF4-FFF2-40B4-BE49-F238E27FC236}">
                <a16:creationId xmlns:a16="http://schemas.microsoft.com/office/drawing/2014/main" id="{F71A497A-D58E-4EFD-AA69-220827B83E52}"/>
              </a:ext>
            </a:extLst>
          </p:cNvPr>
          <p:cNvSpPr>
            <a:spLocks xmlns:a="http://schemas.openxmlformats.org/drawingml/2006/main" noGrp="1"/>
          </p:cNvSpPr>
          <p:nvPr/>
        </p:nvSpPr>
        <p:spPr>
          <a:xfrm xmlns:a="http://schemas.openxmlformats.org/drawingml/2006/main">
            <a:off x="6245352" y="4764024"/>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34" name="Text 31">
            <a:extLst xmlns:a="http://schemas.openxmlformats.org/drawingml/2006/main">
              <a:ext uri="{FF2B5EF4-FFF2-40B4-BE49-F238E27FC236}">
                <a16:creationId xmlns:a16="http://schemas.microsoft.com/office/drawing/2014/main" id="{5B5B14AC-6A9C-45EC-9311-13B20F2FC09F}"/>
              </a:ext>
            </a:extLst>
          </p:cNvPr>
          <p:cNvSpPr>
            <a:spLocks xmlns:a="http://schemas.openxmlformats.org/drawingml/2006/main" noGrp="1"/>
          </p:cNvSpPr>
          <p:nvPr/>
        </p:nvSpPr>
        <p:spPr>
          <a:xfrm xmlns:a="http://schemas.openxmlformats.org/drawingml/2006/main">
            <a:off x="6355080" y="4882896"/>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D</a:t>
            </a:r>
            <a:endParaRPr sz="1100"/>
          </a:p>
        </p:txBody>
      </p:sp>
      <p:sp>
        <p:nvSpPr>
          <p:cNvPr id="35" name="Text 32">
            <a:extLst xmlns:a="http://schemas.openxmlformats.org/drawingml/2006/main">
              <a:ext uri="{FF2B5EF4-FFF2-40B4-BE49-F238E27FC236}">
                <a16:creationId xmlns:a16="http://schemas.microsoft.com/office/drawing/2014/main" id="{0A3E2D09-37C6-47A9-98CF-13BF5737A7B1}"/>
              </a:ext>
            </a:extLst>
          </p:cNvPr>
          <p:cNvSpPr>
            <a:spLocks xmlns:a="http://schemas.openxmlformats.org/drawingml/2006/main" noGrp="1"/>
          </p:cNvSpPr>
          <p:nvPr/>
        </p:nvSpPr>
        <p:spPr>
          <a:xfrm xmlns:a="http://schemas.openxmlformats.org/drawingml/2006/main">
            <a:off x="6775704" y="4764024"/>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Exec form uses less memory</a:t>
            </a:r>
            <a:endParaRPr sz="1050"/>
          </a:p>
        </p:txBody>
      </p:sp>
      <p:sp>
        <p:nvSpPr>
          <p:cNvPr id="36" name="Text 33">
            <a:extLst xmlns:a="http://schemas.openxmlformats.org/drawingml/2006/main">
              <a:ext uri="{FF2B5EF4-FFF2-40B4-BE49-F238E27FC236}">
                <a16:creationId xmlns:a16="http://schemas.microsoft.com/office/drawing/2014/main" id="{D908C87E-AF0F-4B5E-9B23-E27FE833668B}"/>
              </a:ext>
            </a:extLst>
          </p:cNvPr>
          <p:cNvSpPr>
            <a:spLocks xmlns:a="http://schemas.openxmlformats.org/drawingml/2006/main" noGrp="1"/>
          </p:cNvSpPr>
          <p:nvPr/>
        </p:nvSpPr>
        <p:spPr>
          <a:xfrm xmlns:a="http://schemas.openxmlformats.org/drawingml/2006/main">
            <a:off x="6245352" y="5513832"/>
            <a:ext cx="544068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b="1" i="1">
                <a:solidFill>
                  <a:srgbClr val="5F6B7A"/>
                </a:solidFill>
                <a:latin typeface="Calibri"/>
                <a:ea typeface="Calibri"/>
                <a:cs typeface="Calibri"/>
              </a:rPr>
              <a:t>Why: </a:t>
            </a:r>
            <a:r>
              <a:rPr sz="950" i="1">
                <a:solidFill>
                  <a:srgbClr val="5F6B7A"/>
                </a:solidFill>
                <a:latin typeface="Calibri"/>
                <a:ea typeface="Calibri"/>
                <a:cs typeface="Calibri"/>
              </a:rPr>
              <a:t>Shell form wraps the process in /bin/sh, which swallows SIGTERM — docker stop waits out the grace period and hard-kills. Exec form delivers the signal.</a:t>
            </a:r>
            <a:endParaRPr sz="950"/>
          </a:p>
        </p:txBody>
      </p:sp>
    </p:spTree>
    <p:extLst>
      <p:ext uri="{BB962C8B-B14F-4D97-AF65-F5344CB8AC3E}">
        <p14:creationId xmlns:p14="http://schemas.microsoft.com/office/powerpoint/2010/main" val="294813219"/>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F501701-9E50-45B4-ACD5-A56C7F867EA8}"/>
              </a:ext>
            </a:extLst>
          </p:cNvPr>
          <p:cNvSpPr>
            <a:spLocks xmlns:a="http://schemas.openxmlformats.org/drawingml/2006/main" noGrp="1"/>
          </p:cNvSpPr>
          <p:nvPr/>
        </p:nvSpPr>
        <p:spPr>
          <a:xfrm xmlns:a="http://schemas.openxmlformats.org/drawingml/2006/main" rot="5400000" flipH="1">
            <a:off x="9692640" y="1124712"/>
            <a:ext cx="329184" cy="288036"/>
          </a:xfrm>
          <a:prstGeom xmlns:a="http://schemas.openxmlformats.org/drawingml/2006/main" prst="triangle">
            <a:avLst/>
          </a:prstGeom>
          <a:solidFill xmlns:a="http://schemas.openxmlformats.org/drawingml/2006/main">
            <a:srgbClr val="00A79D"/>
          </a:solidFill>
        </p:spPr>
      </p:sp>
      <p:sp>
        <p:nvSpPr>
          <p:cNvPr id="3" name="Shape 1">
            <a:extLst xmlns:a="http://schemas.openxmlformats.org/drawingml/2006/main">
              <a:ext uri="{FF2B5EF4-FFF2-40B4-BE49-F238E27FC236}">
                <a16:creationId xmlns:a16="http://schemas.microsoft.com/office/drawing/2014/main" id="{8FC4143C-CB48-432D-9D7A-E1BAA04753F8}"/>
              </a:ext>
            </a:extLst>
          </p:cNvPr>
          <p:cNvSpPr>
            <a:spLocks xmlns:a="http://schemas.openxmlformats.org/drawingml/2006/main" noGrp="1"/>
          </p:cNvSpPr>
          <p:nvPr/>
        </p:nvSpPr>
        <p:spPr>
          <a:xfrm xmlns:a="http://schemas.openxmlformats.org/drawingml/2006/main" rot="5400000">
            <a:off x="10041575" y="836676"/>
            <a:ext cx="329184" cy="288036"/>
          </a:xfrm>
          <a:prstGeom xmlns:a="http://schemas.openxmlformats.org/drawingml/2006/main" prst="triangle">
            <a:avLst/>
          </a:prstGeom>
          <a:solidFill xmlns:a="http://schemas.openxmlformats.org/drawingml/2006/main">
            <a:srgbClr val="29ABE2"/>
          </a:solidFill>
        </p:spPr>
      </p:sp>
      <p:sp>
        <p:nvSpPr>
          <p:cNvPr id="4" name="Shape 2">
            <a:extLst xmlns:a="http://schemas.openxmlformats.org/drawingml/2006/main">
              <a:ext uri="{FF2B5EF4-FFF2-40B4-BE49-F238E27FC236}">
                <a16:creationId xmlns:a16="http://schemas.microsoft.com/office/drawing/2014/main" id="{102DA079-F1F1-453B-8B2F-FA924277D9C1}"/>
              </a:ext>
            </a:extLst>
          </p:cNvPr>
          <p:cNvSpPr>
            <a:spLocks xmlns:a="http://schemas.openxmlformats.org/drawingml/2006/main" noGrp="1"/>
          </p:cNvSpPr>
          <p:nvPr/>
        </p:nvSpPr>
        <p:spPr>
          <a:xfrm xmlns:a="http://schemas.openxmlformats.org/drawingml/2006/main" rot="5400000">
            <a:off x="10041575" y="1412748"/>
            <a:ext cx="329184" cy="288036"/>
          </a:xfrm>
          <a:prstGeom xmlns:a="http://schemas.openxmlformats.org/drawingml/2006/main" prst="triangle">
            <a:avLst/>
          </a:prstGeom>
          <a:solidFill xmlns:a="http://schemas.openxmlformats.org/drawingml/2006/main">
            <a:srgbClr val="F58220"/>
          </a:solidFill>
        </p:spPr>
      </p:sp>
      <p:sp>
        <p:nvSpPr>
          <p:cNvPr id="5" name="Shape 3">
            <a:extLst xmlns:a="http://schemas.openxmlformats.org/drawingml/2006/main">
              <a:ext uri="{FF2B5EF4-FFF2-40B4-BE49-F238E27FC236}">
                <a16:creationId xmlns:a16="http://schemas.microsoft.com/office/drawing/2014/main" id="{7F2A390F-5935-44FE-B55B-719453D9514D}"/>
              </a:ext>
            </a:extLst>
          </p:cNvPr>
          <p:cNvSpPr>
            <a:spLocks xmlns:a="http://schemas.openxmlformats.org/drawingml/2006/main" noGrp="1"/>
          </p:cNvSpPr>
          <p:nvPr/>
        </p:nvSpPr>
        <p:spPr>
          <a:xfrm xmlns:a="http://schemas.openxmlformats.org/drawingml/2006/main" rot="5400000" flipH="1">
            <a:off x="10390510" y="548640"/>
            <a:ext cx="329184" cy="288036"/>
          </a:xfrm>
          <a:prstGeom xmlns:a="http://schemas.openxmlformats.org/drawingml/2006/main" prst="triangle">
            <a:avLst/>
          </a:prstGeom>
          <a:solidFill xmlns:a="http://schemas.openxmlformats.org/drawingml/2006/main">
            <a:srgbClr val="8DC63F"/>
          </a:solidFill>
        </p:spPr>
      </p:sp>
      <p:sp>
        <p:nvSpPr>
          <p:cNvPr id="6" name="Shape 4">
            <a:extLst xmlns:a="http://schemas.openxmlformats.org/drawingml/2006/main">
              <a:ext uri="{FF2B5EF4-FFF2-40B4-BE49-F238E27FC236}">
                <a16:creationId xmlns:a16="http://schemas.microsoft.com/office/drawing/2014/main" id="{7F1C1010-502B-41B8-8613-1F6CF00E2F5C}"/>
              </a:ext>
            </a:extLst>
          </p:cNvPr>
          <p:cNvSpPr>
            <a:spLocks xmlns:a="http://schemas.openxmlformats.org/drawingml/2006/main" noGrp="1"/>
          </p:cNvSpPr>
          <p:nvPr/>
        </p:nvSpPr>
        <p:spPr>
          <a:xfrm xmlns:a="http://schemas.openxmlformats.org/drawingml/2006/main" rot="5400000">
            <a:off x="10390510" y="1124712"/>
            <a:ext cx="329184" cy="288036"/>
          </a:xfrm>
          <a:prstGeom xmlns:a="http://schemas.openxmlformats.org/drawingml/2006/main" prst="triangle">
            <a:avLst/>
          </a:prstGeom>
          <a:solidFill xmlns:a="http://schemas.openxmlformats.org/drawingml/2006/main">
            <a:srgbClr val="B9C8E8"/>
          </a:solidFill>
        </p:spPr>
      </p:sp>
      <p:sp>
        <p:nvSpPr>
          <p:cNvPr id="7" name="Shape 5">
            <a:extLst xmlns:a="http://schemas.openxmlformats.org/drawingml/2006/main">
              <a:ext uri="{FF2B5EF4-FFF2-40B4-BE49-F238E27FC236}">
                <a16:creationId xmlns:a16="http://schemas.microsoft.com/office/drawing/2014/main" id="{153D65DA-109E-47A7-B73C-8C26BE9EB813}"/>
              </a:ext>
            </a:extLst>
          </p:cNvPr>
          <p:cNvSpPr>
            <a:spLocks xmlns:a="http://schemas.openxmlformats.org/drawingml/2006/main" noGrp="1"/>
          </p:cNvSpPr>
          <p:nvPr/>
        </p:nvSpPr>
        <p:spPr>
          <a:xfrm xmlns:a="http://schemas.openxmlformats.org/drawingml/2006/main" rot="5400000">
            <a:off x="10739445" y="836676"/>
            <a:ext cx="329184" cy="288036"/>
          </a:xfrm>
          <a:prstGeom xmlns:a="http://schemas.openxmlformats.org/drawingml/2006/main" prst="triangle">
            <a:avLst/>
          </a:prstGeom>
          <a:solidFill xmlns:a="http://schemas.openxmlformats.org/drawingml/2006/main">
            <a:srgbClr val="00A79D"/>
          </a:solidFill>
        </p:spPr>
      </p:sp>
      <p:sp>
        <p:nvSpPr>
          <p:cNvPr id="8" name="Shape 6">
            <a:extLst xmlns:a="http://schemas.openxmlformats.org/drawingml/2006/main">
              <a:ext uri="{FF2B5EF4-FFF2-40B4-BE49-F238E27FC236}">
                <a16:creationId xmlns:a16="http://schemas.microsoft.com/office/drawing/2014/main" id="{E01F6360-2E49-4507-9DA7-CC5355A1047B}"/>
              </a:ext>
            </a:extLst>
          </p:cNvPr>
          <p:cNvSpPr>
            <a:spLocks xmlns:a="http://schemas.openxmlformats.org/drawingml/2006/main" noGrp="1"/>
          </p:cNvSpPr>
          <p:nvPr/>
        </p:nvSpPr>
        <p:spPr>
          <a:xfrm xmlns:a="http://schemas.openxmlformats.org/drawingml/2006/main" rot="5400000" flipH="1">
            <a:off x="10739445" y="1412748"/>
            <a:ext cx="329184" cy="288036"/>
          </a:xfrm>
          <a:prstGeom xmlns:a="http://schemas.openxmlformats.org/drawingml/2006/main" prst="triangle">
            <a:avLst/>
          </a:prstGeom>
          <a:solidFill xmlns:a="http://schemas.openxmlformats.org/drawingml/2006/main">
            <a:srgbClr val="29ABE2"/>
          </a:solidFill>
        </p:spPr>
      </p:sp>
      <p:sp>
        <p:nvSpPr>
          <p:cNvPr id="9" name="Shape 7">
            <a:extLst xmlns:a="http://schemas.openxmlformats.org/drawingml/2006/main">
              <a:ext uri="{FF2B5EF4-FFF2-40B4-BE49-F238E27FC236}">
                <a16:creationId xmlns:a16="http://schemas.microsoft.com/office/drawing/2014/main" id="{C960B260-FCBD-430F-BA3C-A4B69CDDCF33}"/>
              </a:ext>
            </a:extLst>
          </p:cNvPr>
          <p:cNvSpPr>
            <a:spLocks xmlns:a="http://schemas.openxmlformats.org/drawingml/2006/main" noGrp="1"/>
          </p:cNvSpPr>
          <p:nvPr/>
        </p:nvSpPr>
        <p:spPr>
          <a:xfrm xmlns:a="http://schemas.openxmlformats.org/drawingml/2006/main" rot="5400000">
            <a:off x="11088380" y="1124712"/>
            <a:ext cx="329184" cy="288036"/>
          </a:xfrm>
          <a:prstGeom xmlns:a="http://schemas.openxmlformats.org/drawingml/2006/main" prst="triangle">
            <a:avLst/>
          </a:prstGeom>
          <a:solidFill xmlns:a="http://schemas.openxmlformats.org/drawingml/2006/main">
            <a:srgbClr val="F58220"/>
          </a:solidFill>
        </p:spPr>
      </p:sp>
      <p:sp>
        <p:nvSpPr>
          <p:cNvPr id="10" name="Shape 8">
            <a:extLst xmlns:a="http://schemas.openxmlformats.org/drawingml/2006/main">
              <a:ext uri="{FF2B5EF4-FFF2-40B4-BE49-F238E27FC236}">
                <a16:creationId xmlns:a16="http://schemas.microsoft.com/office/drawing/2014/main" id="{E3000DF4-72CA-4676-BE52-1579DEE1F1FB}"/>
              </a:ext>
            </a:extLst>
          </p:cNvPr>
          <p:cNvSpPr>
            <a:spLocks xmlns:a="http://schemas.openxmlformats.org/drawingml/2006/main" noGrp="1"/>
          </p:cNvSpPr>
          <p:nvPr/>
        </p:nvSpPr>
        <p:spPr>
          <a:xfrm xmlns:a="http://schemas.openxmlformats.org/drawingml/2006/main" rot="5400000" flipH="1">
            <a:off x="640080" y="5875020"/>
            <a:ext cx="274320" cy="240030"/>
          </a:xfrm>
          <a:prstGeom xmlns:a="http://schemas.openxmlformats.org/drawingml/2006/main" prst="triangle">
            <a:avLst/>
          </a:prstGeom>
          <a:solidFill xmlns:a="http://schemas.openxmlformats.org/drawingml/2006/main">
            <a:srgbClr val="B9C8E8"/>
          </a:solidFill>
        </p:spPr>
      </p:sp>
      <p:sp>
        <p:nvSpPr>
          <p:cNvPr id="11" name="Shape 9">
            <a:extLst xmlns:a="http://schemas.openxmlformats.org/drawingml/2006/main">
              <a:ext uri="{FF2B5EF4-FFF2-40B4-BE49-F238E27FC236}">
                <a16:creationId xmlns:a16="http://schemas.microsoft.com/office/drawing/2014/main" id="{50099A4E-423C-47FF-99CA-5E18F967C095}"/>
              </a:ext>
            </a:extLst>
          </p:cNvPr>
          <p:cNvSpPr>
            <a:spLocks xmlns:a="http://schemas.openxmlformats.org/drawingml/2006/main" noGrp="1"/>
          </p:cNvSpPr>
          <p:nvPr/>
        </p:nvSpPr>
        <p:spPr>
          <a:xfrm xmlns:a="http://schemas.openxmlformats.org/drawingml/2006/main" rot="5400000">
            <a:off x="930859" y="5634990"/>
            <a:ext cx="274320" cy="240030"/>
          </a:xfrm>
          <a:prstGeom xmlns:a="http://schemas.openxmlformats.org/drawingml/2006/main" prst="triangle">
            <a:avLst/>
          </a:prstGeom>
          <a:solidFill xmlns:a="http://schemas.openxmlformats.org/drawingml/2006/main">
            <a:srgbClr val="DCE6F8"/>
          </a:solidFill>
        </p:spPr>
      </p:sp>
      <p:sp>
        <p:nvSpPr>
          <p:cNvPr id="12" name="Shape 10">
            <a:extLst xmlns:a="http://schemas.openxmlformats.org/drawingml/2006/main">
              <a:ext uri="{FF2B5EF4-FFF2-40B4-BE49-F238E27FC236}">
                <a16:creationId xmlns:a16="http://schemas.microsoft.com/office/drawing/2014/main" id="{48FB33AD-EB69-4EC2-82FF-DA2449A82EEB}"/>
              </a:ext>
            </a:extLst>
          </p:cNvPr>
          <p:cNvSpPr>
            <a:spLocks xmlns:a="http://schemas.openxmlformats.org/drawingml/2006/main" noGrp="1"/>
          </p:cNvSpPr>
          <p:nvPr/>
        </p:nvSpPr>
        <p:spPr>
          <a:xfrm xmlns:a="http://schemas.openxmlformats.org/drawingml/2006/main" rot="5400000">
            <a:off x="930859" y="6115050"/>
            <a:ext cx="274320" cy="240030"/>
          </a:xfrm>
          <a:prstGeom xmlns:a="http://schemas.openxmlformats.org/drawingml/2006/main" prst="triangle">
            <a:avLst/>
          </a:prstGeom>
          <a:solidFill xmlns:a="http://schemas.openxmlformats.org/drawingml/2006/main">
            <a:srgbClr val="00A79D"/>
          </a:solidFill>
        </p:spPr>
      </p:sp>
      <p:sp>
        <p:nvSpPr>
          <p:cNvPr id="13" name="Shape 11">
            <a:extLst xmlns:a="http://schemas.openxmlformats.org/drawingml/2006/main">
              <a:ext uri="{FF2B5EF4-FFF2-40B4-BE49-F238E27FC236}">
                <a16:creationId xmlns:a16="http://schemas.microsoft.com/office/drawing/2014/main" id="{DBCBB934-A772-4F7C-8C15-5BB5E90C9508}"/>
              </a:ext>
            </a:extLst>
          </p:cNvPr>
          <p:cNvSpPr>
            <a:spLocks xmlns:a="http://schemas.openxmlformats.org/drawingml/2006/main" noGrp="1"/>
          </p:cNvSpPr>
          <p:nvPr/>
        </p:nvSpPr>
        <p:spPr>
          <a:xfrm xmlns:a="http://schemas.openxmlformats.org/drawingml/2006/main" rot="5400000" flipH="1">
            <a:off x="1221638" y="5394960"/>
            <a:ext cx="274320" cy="240030"/>
          </a:xfrm>
          <a:prstGeom xmlns:a="http://schemas.openxmlformats.org/drawingml/2006/main" prst="triangle">
            <a:avLst/>
          </a:prstGeom>
          <a:solidFill xmlns:a="http://schemas.openxmlformats.org/drawingml/2006/main">
            <a:srgbClr val="29ABE2"/>
          </a:solidFill>
        </p:spPr>
      </p:sp>
      <p:sp>
        <p:nvSpPr>
          <p:cNvPr id="14" name="Shape 12">
            <a:extLst xmlns:a="http://schemas.openxmlformats.org/drawingml/2006/main">
              <a:ext uri="{FF2B5EF4-FFF2-40B4-BE49-F238E27FC236}">
                <a16:creationId xmlns:a16="http://schemas.microsoft.com/office/drawing/2014/main" id="{FD6A5CC7-9E45-484E-B626-0A801D85151C}"/>
              </a:ext>
            </a:extLst>
          </p:cNvPr>
          <p:cNvSpPr>
            <a:spLocks xmlns:a="http://schemas.openxmlformats.org/drawingml/2006/main" noGrp="1"/>
          </p:cNvSpPr>
          <p:nvPr/>
        </p:nvSpPr>
        <p:spPr>
          <a:xfrm xmlns:a="http://schemas.openxmlformats.org/drawingml/2006/main" rot="5400000">
            <a:off x="1221638" y="5875020"/>
            <a:ext cx="274320" cy="240030"/>
          </a:xfrm>
          <a:prstGeom xmlns:a="http://schemas.openxmlformats.org/drawingml/2006/main" prst="triangle">
            <a:avLst/>
          </a:prstGeom>
          <a:solidFill xmlns:a="http://schemas.openxmlformats.org/drawingml/2006/main">
            <a:srgbClr val="B9C8E8"/>
          </a:solidFill>
        </p:spPr>
      </p:sp>
      <p:sp>
        <p:nvSpPr>
          <p:cNvPr id="15" name="Shape 13">
            <a:extLst xmlns:a="http://schemas.openxmlformats.org/drawingml/2006/main">
              <a:ext uri="{FF2B5EF4-FFF2-40B4-BE49-F238E27FC236}">
                <a16:creationId xmlns:a16="http://schemas.microsoft.com/office/drawing/2014/main" id="{C93CABE9-1F8F-4C80-A6B0-A64AA8A71B7F}"/>
              </a:ext>
            </a:extLst>
          </p:cNvPr>
          <p:cNvSpPr>
            <a:spLocks xmlns:a="http://schemas.openxmlformats.org/drawingml/2006/main" noGrp="1"/>
          </p:cNvSpPr>
          <p:nvPr/>
        </p:nvSpPr>
        <p:spPr>
          <a:xfrm xmlns:a="http://schemas.openxmlformats.org/drawingml/2006/main" rot="5400000">
            <a:off x="1512418" y="5634990"/>
            <a:ext cx="274320" cy="240030"/>
          </a:xfrm>
          <a:prstGeom xmlns:a="http://schemas.openxmlformats.org/drawingml/2006/main" prst="triangle">
            <a:avLst/>
          </a:prstGeom>
          <a:solidFill xmlns:a="http://schemas.openxmlformats.org/drawingml/2006/main">
            <a:srgbClr val="DCE6F8"/>
          </a:solidFill>
        </p:spPr>
      </p:sp>
      <p:sp>
        <p:nvSpPr>
          <p:cNvPr id="16" name="Shape 14">
            <a:extLst xmlns:a="http://schemas.openxmlformats.org/drawingml/2006/main">
              <a:ext uri="{FF2B5EF4-FFF2-40B4-BE49-F238E27FC236}">
                <a16:creationId xmlns:a16="http://schemas.microsoft.com/office/drawing/2014/main" id="{12964BD4-2961-4BBC-8169-B02680293870}"/>
              </a:ext>
            </a:extLst>
          </p:cNvPr>
          <p:cNvSpPr>
            <a:spLocks xmlns:a="http://schemas.openxmlformats.org/drawingml/2006/main" noGrp="1"/>
          </p:cNvSpPr>
          <p:nvPr/>
        </p:nvSpPr>
        <p:spPr>
          <a:xfrm xmlns:a="http://schemas.openxmlformats.org/drawingml/2006/main" rot="5400000" flipH="1">
            <a:off x="1512418" y="6115050"/>
            <a:ext cx="274320" cy="240030"/>
          </a:xfrm>
          <a:prstGeom xmlns:a="http://schemas.openxmlformats.org/drawingml/2006/main" prst="triangle">
            <a:avLst/>
          </a:prstGeom>
          <a:solidFill xmlns:a="http://schemas.openxmlformats.org/drawingml/2006/main">
            <a:srgbClr val="00A79D"/>
          </a:solidFill>
        </p:spPr>
      </p:sp>
      <p:sp>
        <p:nvSpPr>
          <p:cNvPr id="17" name="Shape 15">
            <a:extLst xmlns:a="http://schemas.openxmlformats.org/drawingml/2006/main">
              <a:ext uri="{FF2B5EF4-FFF2-40B4-BE49-F238E27FC236}">
                <a16:creationId xmlns:a16="http://schemas.microsoft.com/office/drawing/2014/main" id="{3FD89769-CC22-470B-A705-CBB5581DB762}"/>
              </a:ext>
            </a:extLst>
          </p:cNvPr>
          <p:cNvSpPr>
            <a:spLocks xmlns:a="http://schemas.openxmlformats.org/drawingml/2006/main" noGrp="1"/>
          </p:cNvSpPr>
          <p:nvPr/>
        </p:nvSpPr>
        <p:spPr>
          <a:xfrm xmlns:a="http://schemas.openxmlformats.org/drawingml/2006/main" rot="5400000">
            <a:off x="1803197" y="5875020"/>
            <a:ext cx="274320" cy="240030"/>
          </a:xfrm>
          <a:prstGeom xmlns:a="http://schemas.openxmlformats.org/drawingml/2006/main" prst="triangle">
            <a:avLst/>
          </a:prstGeom>
          <a:solidFill xmlns:a="http://schemas.openxmlformats.org/drawingml/2006/main">
            <a:srgbClr val="29ABE2"/>
          </a:solidFill>
        </p:spPr>
      </p:sp>
      <p:sp>
        <p:nvSpPr>
          <p:cNvPr id="18" name="Text 16">
            <a:extLst xmlns:a="http://schemas.openxmlformats.org/drawingml/2006/main">
              <a:ext uri="{FF2B5EF4-FFF2-40B4-BE49-F238E27FC236}">
                <a16:creationId xmlns:a16="http://schemas.microsoft.com/office/drawing/2014/main" id="{127FE0B0-C920-41A2-B6E8-EF4B2BD34A10}"/>
              </a:ext>
            </a:extLst>
          </p:cNvPr>
          <p:cNvSpPr>
            <a:spLocks xmlns:a="http://schemas.openxmlformats.org/drawingml/2006/main" noGrp="1"/>
          </p:cNvSpPr>
          <p:nvPr/>
        </p:nvSpPr>
        <p:spPr>
          <a:xfrm xmlns:a="http://schemas.openxmlformats.org/drawingml/2006/main">
            <a:off x="1097280" y="192024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spc="300">
                <a:solidFill>
                  <a:srgbClr val="00A79D"/>
                </a:solidFill>
                <a:latin typeface="Calibri"/>
                <a:ea typeface="Calibri"/>
                <a:cs typeface="Calibri"/>
              </a:rPr>
              <a:t>MODULE 3 · TAKEAWAY</a:t>
            </a:r>
            <a:endParaRPr sz="1300"/>
          </a:p>
        </p:txBody>
      </p:sp>
      <p:sp>
        <p:nvSpPr>
          <p:cNvPr id="19" name="Text 17">
            <a:extLst xmlns:a="http://schemas.openxmlformats.org/drawingml/2006/main">
              <a:ext uri="{FF2B5EF4-FFF2-40B4-BE49-F238E27FC236}">
                <a16:creationId xmlns:a16="http://schemas.microsoft.com/office/drawing/2014/main" id="{2063C476-2442-42B8-9865-1D960271465A}"/>
              </a:ext>
            </a:extLst>
          </p:cNvPr>
          <p:cNvSpPr>
            <a:spLocks xmlns:a="http://schemas.openxmlformats.org/drawingml/2006/main" noGrp="1"/>
          </p:cNvSpPr>
          <p:nvPr/>
        </p:nvSpPr>
        <p:spPr>
          <a:xfrm xmlns:a="http://schemas.openxmlformats.org/drawingml/2006/main">
            <a:off x="1097280" y="2377440"/>
            <a:ext cx="9994392" cy="1737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3000" b="1">
                <a:solidFill>
                  <a:srgbClr val="1D2A5C"/>
                </a:solidFill>
                <a:latin typeface="Calibri"/>
                <a:ea typeface="Calibri"/>
                <a:cs typeface="Calibri"/>
              </a:rPr>
              <a:t>A clean image with a healthcheck integrates in days; a conda env and a README integrates in months.</a:t>
            </a:r>
            <a:endParaRPr sz="3000"/>
          </a:p>
        </p:txBody>
      </p:sp>
      <p:sp>
        <p:nvSpPr>
          <p:cNvPr id="20" name="Text 18">
            <a:extLst xmlns:a="http://schemas.openxmlformats.org/drawingml/2006/main">
              <a:ext uri="{FF2B5EF4-FFF2-40B4-BE49-F238E27FC236}">
                <a16:creationId xmlns:a16="http://schemas.microsoft.com/office/drawing/2014/main" id="{DBF27D8E-9B93-44B3-BD34-0D30257617E0}"/>
              </a:ext>
            </a:extLst>
          </p:cNvPr>
          <p:cNvSpPr>
            <a:spLocks xmlns:a="http://schemas.openxmlformats.org/drawingml/2006/main" noGrp="1"/>
          </p:cNvSpPr>
          <p:nvPr/>
        </p:nvSpPr>
        <p:spPr>
          <a:xfrm xmlns:a="http://schemas.openxmlformats.org/drawingml/2006/main">
            <a:off x="2011680" y="4251960"/>
            <a:ext cx="8165592"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350">
                <a:solidFill>
                  <a:srgbClr val="5F6B7A"/>
                </a:solidFill>
                <a:latin typeface="Calibri"/>
                <a:ea typeface="Calibri"/>
                <a:cs typeface="Calibri"/>
              </a:rPr>
              <a:t>412 MB, non-root, /ready-healthchecked, ready in 6.8 seconds — the fraud service is now a shippable artefact.</a:t>
            </a:r>
            <a:endParaRPr sz="1350"/>
          </a:p>
        </p:txBody>
      </p:sp>
      <p:pic>
        <p:nvPicPr>
          <p:cNvPr id="44" name="Image 0"/>
          <p:cNvPicPr>
            <a:picLocks xmlns:a="http://schemas.openxmlformats.org/drawingml/2006/main" noChangeAspect="1"/>
          </p:cNvPicPr>
          <p:nvPr/>
        </p:nvPicPr>
        <p:blipFill>
          <a:blip xmlns:r="http://schemas.openxmlformats.org/officeDocument/2006/relationships" xmlns:a="http://schemas.openxmlformats.org/drawingml/2006/main" r:embed="R74549d4a8c6b4c5e"/>
          <a:stretch xmlns:a="http://schemas.openxmlformats.org/drawingml/2006/main">
            <a:fillRect l="0" t="0" r="0" b="0"/>
          </a:stretch>
        </p:blipFill>
        <p:spPr>
          <a:xfrm xmlns:a="http://schemas.openxmlformats.org/drawingml/2006/main">
            <a:off x="5559552" y="6172200"/>
            <a:ext cx="1078992" cy="265176"/>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B623492C-D515-4906-9810-9F229B2D8873}"/>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3   </a:t>
            </a:r>
            <a:r>
              <a:rPr sz="850" spc="100">
                <a:solidFill>
                  <a:srgbClr val="8A96A6"/>
                </a:solidFill>
                <a:latin typeface="Calibri"/>
                <a:ea typeface="Calibri"/>
                <a:cs typeface="Calibri"/>
              </a:rPr>
              <a:t>SDA-AIE-113 · Software Engineering Practices for AI Systems</a:t>
            </a:r>
            <a:endParaRPr sz="850"/>
          </a:p>
        </p:txBody>
      </p:sp>
      <p:sp>
        <p:nvSpPr>
          <p:cNvPr id="23" name="Text 20">
            <a:extLst xmlns:a="http://schemas.openxmlformats.org/drawingml/2006/main">
              <a:ext uri="{FF2B5EF4-FFF2-40B4-BE49-F238E27FC236}">
                <a16:creationId xmlns:a16="http://schemas.microsoft.com/office/drawing/2014/main" id="{679BF642-7C04-4142-BAB4-4D9AD4B6CAAE}"/>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79</a:t>
            </a:r>
            <a:endParaRPr sz="850"/>
          </a:p>
        </p:txBody>
      </p:sp>
    </p:spTree>
    <p:extLst>
      <p:ext uri="{BB962C8B-B14F-4D97-AF65-F5344CB8AC3E}">
        <p14:creationId xmlns:p14="http://schemas.microsoft.com/office/powerpoint/2010/main" val="1096392507"/>
      </p:ext>
    </p:extLst>
  </p:cSld>
</p:sld>
</file>

<file path=ppt/slides/slide80.xml><?xml version="1.0" encoding="utf-8"?>
<p:sld xmlns:p="http://schemas.openxmlformats.org/presentationml/2006/main">
  <p:cSld>
    <p:bg>
      <p:bgPr>
        <a:solidFill xmlns:a="http://schemas.openxmlformats.org/drawingml/2006/main">
          <a:srgbClr val="1D2A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12B8168-2E0E-4175-8EBD-BB6BB4A87D13}"/>
              </a:ext>
            </a:extLst>
          </p:cNvPr>
          <p:cNvSpPr>
            <a:spLocks xmlns:a="http://schemas.openxmlformats.org/drawingml/2006/main" noGrp="1"/>
          </p:cNvSpPr>
          <p:nvPr/>
        </p:nvSpPr>
        <p:spPr>
          <a:xfrm xmlns:a="http://schemas.openxmlformats.org/drawingml/2006/main" rot="5400000" flipH="1">
            <a:off x="9235440" y="1298448"/>
            <a:ext cx="402336" cy="352044"/>
          </a:xfrm>
          <a:prstGeom xmlns:a="http://schemas.openxmlformats.org/drawingml/2006/main" prst="triangle">
            <a:avLst/>
          </a:prstGeom>
          <a:solidFill xmlns:a="http://schemas.openxmlformats.org/drawingml/2006/main">
            <a:srgbClr val="00A79D"/>
          </a:solidFill>
        </p:spPr>
      </p:sp>
      <p:sp>
        <p:nvSpPr>
          <p:cNvPr id="3" name="Shape 1">
            <a:extLst xmlns:a="http://schemas.openxmlformats.org/drawingml/2006/main">
              <a:ext uri="{FF2B5EF4-FFF2-40B4-BE49-F238E27FC236}">
                <a16:creationId xmlns:a16="http://schemas.microsoft.com/office/drawing/2014/main" id="{AD80A0C6-66A6-40CC-941A-4C6B6BD28A96}"/>
              </a:ext>
            </a:extLst>
          </p:cNvPr>
          <p:cNvSpPr>
            <a:spLocks xmlns:a="http://schemas.openxmlformats.org/drawingml/2006/main" noGrp="1"/>
          </p:cNvSpPr>
          <p:nvPr/>
        </p:nvSpPr>
        <p:spPr>
          <a:xfrm xmlns:a="http://schemas.openxmlformats.org/drawingml/2006/main" rot="5400000">
            <a:off x="9661916" y="946404"/>
            <a:ext cx="402336" cy="352044"/>
          </a:xfrm>
          <a:prstGeom xmlns:a="http://schemas.openxmlformats.org/drawingml/2006/main" prst="triangle">
            <a:avLst/>
          </a:prstGeom>
          <a:solidFill xmlns:a="http://schemas.openxmlformats.org/drawingml/2006/main">
            <a:srgbClr val="29ABE2"/>
          </a:solidFill>
        </p:spPr>
      </p:sp>
      <p:sp>
        <p:nvSpPr>
          <p:cNvPr id="4" name="Shape 2">
            <a:extLst xmlns:a="http://schemas.openxmlformats.org/drawingml/2006/main">
              <a:ext uri="{FF2B5EF4-FFF2-40B4-BE49-F238E27FC236}">
                <a16:creationId xmlns:a16="http://schemas.microsoft.com/office/drawing/2014/main" id="{49C6755F-E866-4FBE-AFF6-8B2FD193E788}"/>
              </a:ext>
            </a:extLst>
          </p:cNvPr>
          <p:cNvSpPr>
            <a:spLocks xmlns:a="http://schemas.openxmlformats.org/drawingml/2006/main" noGrp="1"/>
          </p:cNvSpPr>
          <p:nvPr/>
        </p:nvSpPr>
        <p:spPr>
          <a:xfrm xmlns:a="http://schemas.openxmlformats.org/drawingml/2006/main" rot="5400000">
            <a:off x="9661916" y="1650492"/>
            <a:ext cx="402336" cy="352044"/>
          </a:xfrm>
          <a:prstGeom xmlns:a="http://schemas.openxmlformats.org/drawingml/2006/main" prst="triangle">
            <a:avLst/>
          </a:prstGeom>
          <a:solidFill xmlns:a="http://schemas.openxmlformats.org/drawingml/2006/main">
            <a:srgbClr val="F58220"/>
          </a:solidFill>
        </p:spPr>
      </p:sp>
      <p:sp>
        <p:nvSpPr>
          <p:cNvPr id="5" name="Shape 3">
            <a:extLst xmlns:a="http://schemas.openxmlformats.org/drawingml/2006/main">
              <a:ext uri="{FF2B5EF4-FFF2-40B4-BE49-F238E27FC236}">
                <a16:creationId xmlns:a16="http://schemas.microsoft.com/office/drawing/2014/main" id="{D1B15C54-1CD7-4B4B-BBB2-3C361F44FADC}"/>
              </a:ext>
            </a:extLst>
          </p:cNvPr>
          <p:cNvSpPr>
            <a:spLocks xmlns:a="http://schemas.openxmlformats.org/drawingml/2006/main" noGrp="1"/>
          </p:cNvSpPr>
          <p:nvPr/>
        </p:nvSpPr>
        <p:spPr>
          <a:xfrm xmlns:a="http://schemas.openxmlformats.org/drawingml/2006/main" rot="5400000" flipH="1">
            <a:off x="10088392" y="594360"/>
            <a:ext cx="402336" cy="352044"/>
          </a:xfrm>
          <a:prstGeom xmlns:a="http://schemas.openxmlformats.org/drawingml/2006/main" prst="triangle">
            <a:avLst/>
          </a:prstGeom>
          <a:solidFill xmlns:a="http://schemas.openxmlformats.org/drawingml/2006/main">
            <a:srgbClr val="8DC63F"/>
          </a:solidFill>
        </p:spPr>
      </p:sp>
      <p:sp>
        <p:nvSpPr>
          <p:cNvPr id="6" name="Shape 4">
            <a:extLst xmlns:a="http://schemas.openxmlformats.org/drawingml/2006/main">
              <a:ext uri="{FF2B5EF4-FFF2-40B4-BE49-F238E27FC236}">
                <a16:creationId xmlns:a16="http://schemas.microsoft.com/office/drawing/2014/main" id="{F593C062-E01E-47BA-9E2D-A11B575BD3DB}"/>
              </a:ext>
            </a:extLst>
          </p:cNvPr>
          <p:cNvSpPr>
            <a:spLocks xmlns:a="http://schemas.openxmlformats.org/drawingml/2006/main" noGrp="1"/>
          </p:cNvSpPr>
          <p:nvPr/>
        </p:nvSpPr>
        <p:spPr>
          <a:xfrm xmlns:a="http://schemas.openxmlformats.org/drawingml/2006/main" rot="5400000">
            <a:off x="10088392" y="1298448"/>
            <a:ext cx="402336" cy="352044"/>
          </a:xfrm>
          <a:prstGeom xmlns:a="http://schemas.openxmlformats.org/drawingml/2006/main" prst="triangle">
            <a:avLst/>
          </a:prstGeom>
          <a:solidFill xmlns:a="http://schemas.openxmlformats.org/drawingml/2006/main">
            <a:srgbClr val="00A79D"/>
          </a:solidFill>
        </p:spPr>
      </p:sp>
      <p:sp>
        <p:nvSpPr>
          <p:cNvPr id="7" name="Shape 5">
            <a:extLst xmlns:a="http://schemas.openxmlformats.org/drawingml/2006/main">
              <a:ext uri="{FF2B5EF4-FFF2-40B4-BE49-F238E27FC236}">
                <a16:creationId xmlns:a16="http://schemas.microsoft.com/office/drawing/2014/main" id="{C03BB703-3AD2-4C7A-8C0C-98E28360FF8B}"/>
              </a:ext>
            </a:extLst>
          </p:cNvPr>
          <p:cNvSpPr>
            <a:spLocks xmlns:a="http://schemas.openxmlformats.org/drawingml/2006/main" noGrp="1"/>
          </p:cNvSpPr>
          <p:nvPr/>
        </p:nvSpPr>
        <p:spPr>
          <a:xfrm xmlns:a="http://schemas.openxmlformats.org/drawingml/2006/main" rot="5400000">
            <a:off x="10514868" y="946404"/>
            <a:ext cx="402336" cy="352044"/>
          </a:xfrm>
          <a:prstGeom xmlns:a="http://schemas.openxmlformats.org/drawingml/2006/main" prst="triangle">
            <a:avLst/>
          </a:prstGeom>
          <a:solidFill xmlns:a="http://schemas.openxmlformats.org/drawingml/2006/main">
            <a:srgbClr val="29ABE2"/>
          </a:solidFill>
        </p:spPr>
      </p:sp>
      <p:sp>
        <p:nvSpPr>
          <p:cNvPr id="8" name="Shape 6">
            <a:extLst xmlns:a="http://schemas.openxmlformats.org/drawingml/2006/main">
              <a:ext uri="{FF2B5EF4-FFF2-40B4-BE49-F238E27FC236}">
                <a16:creationId xmlns:a16="http://schemas.microsoft.com/office/drawing/2014/main" id="{773838A6-AB50-40D8-BF31-C19FEC05AC88}"/>
              </a:ext>
            </a:extLst>
          </p:cNvPr>
          <p:cNvSpPr>
            <a:spLocks xmlns:a="http://schemas.openxmlformats.org/drawingml/2006/main" noGrp="1"/>
          </p:cNvSpPr>
          <p:nvPr/>
        </p:nvSpPr>
        <p:spPr>
          <a:xfrm xmlns:a="http://schemas.openxmlformats.org/drawingml/2006/main" rot="5400000" flipH="1">
            <a:off x="10514868" y="1650492"/>
            <a:ext cx="402336" cy="352044"/>
          </a:xfrm>
          <a:prstGeom xmlns:a="http://schemas.openxmlformats.org/drawingml/2006/main" prst="triangle">
            <a:avLst/>
          </a:prstGeom>
          <a:solidFill xmlns:a="http://schemas.openxmlformats.org/drawingml/2006/main">
            <a:srgbClr val="F58220"/>
          </a:solidFill>
        </p:spPr>
      </p:sp>
      <p:sp>
        <p:nvSpPr>
          <p:cNvPr id="9" name="Shape 7">
            <a:extLst xmlns:a="http://schemas.openxmlformats.org/drawingml/2006/main">
              <a:ext uri="{FF2B5EF4-FFF2-40B4-BE49-F238E27FC236}">
                <a16:creationId xmlns:a16="http://schemas.microsoft.com/office/drawing/2014/main" id="{8F8F1DC9-1EE4-4DEC-AA52-706FA319FE4A}"/>
              </a:ext>
            </a:extLst>
          </p:cNvPr>
          <p:cNvSpPr>
            <a:spLocks xmlns:a="http://schemas.openxmlformats.org/drawingml/2006/main" noGrp="1"/>
          </p:cNvSpPr>
          <p:nvPr/>
        </p:nvSpPr>
        <p:spPr>
          <a:xfrm xmlns:a="http://schemas.openxmlformats.org/drawingml/2006/main" rot="5400000">
            <a:off x="10941345" y="1298448"/>
            <a:ext cx="402336" cy="352044"/>
          </a:xfrm>
          <a:prstGeom xmlns:a="http://schemas.openxmlformats.org/drawingml/2006/main" prst="triangle">
            <a:avLst/>
          </a:prstGeom>
          <a:solidFill xmlns:a="http://schemas.openxmlformats.org/drawingml/2006/main">
            <a:srgbClr val="8DC63F"/>
          </a:solidFill>
        </p:spPr>
      </p:sp>
      <p:sp>
        <p:nvSpPr>
          <p:cNvPr id="10" name="Text 8">
            <a:extLst xmlns:a="http://schemas.openxmlformats.org/drawingml/2006/main">
              <a:ext uri="{FF2B5EF4-FFF2-40B4-BE49-F238E27FC236}">
                <a16:creationId xmlns:a16="http://schemas.microsoft.com/office/drawing/2014/main" id="{D0C52219-D61D-4EFC-8D80-F75853A6B266}"/>
              </a:ext>
            </a:extLst>
          </p:cNvPr>
          <p:cNvSpPr>
            <a:spLocks xmlns:a="http://schemas.openxmlformats.org/drawingml/2006/main" noGrp="1"/>
          </p:cNvSpPr>
          <p:nvPr/>
        </p:nvSpPr>
        <p:spPr>
          <a:xfrm xmlns:a="http://schemas.openxmlformats.org/drawingml/2006/main">
            <a:off x="777240" y="1417320"/>
            <a:ext cx="731520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spc="400">
                <a:solidFill>
                  <a:srgbClr val="00A79D"/>
                </a:solidFill>
                <a:latin typeface="Calibri"/>
                <a:ea typeface="Calibri"/>
                <a:cs typeface="Calibri"/>
              </a:rPr>
              <a:t>DAY 2 · MODULE 4</a:t>
            </a:r>
            <a:endParaRPr sz="1500"/>
          </a:p>
        </p:txBody>
      </p:sp>
      <p:sp>
        <p:nvSpPr>
          <p:cNvPr id="11" name="Text 9">
            <a:extLst xmlns:a="http://schemas.openxmlformats.org/drawingml/2006/main">
              <a:ext uri="{FF2B5EF4-FFF2-40B4-BE49-F238E27FC236}">
                <a16:creationId xmlns:a16="http://schemas.microsoft.com/office/drawing/2014/main" id="{14E30BCB-0F9B-4848-93CD-488AB4436EE0}"/>
              </a:ext>
            </a:extLst>
          </p:cNvPr>
          <p:cNvSpPr>
            <a:spLocks xmlns:a="http://schemas.openxmlformats.org/drawingml/2006/main" noGrp="1"/>
          </p:cNvSpPr>
          <p:nvPr/>
        </p:nvSpPr>
        <p:spPr>
          <a:xfrm xmlns:a="http://schemas.openxmlformats.org/drawingml/2006/main">
            <a:off x="749808" y="1874520"/>
            <a:ext cx="106070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600" b="1">
                <a:solidFill>
                  <a:srgbClr val="FFFFFF"/>
                </a:solidFill>
                <a:latin typeface="Calibri"/>
                <a:ea typeface="Calibri"/>
                <a:cs typeface="Calibri"/>
              </a:rPr>
              <a:t>Testing Strategies for ML Code</a:t>
            </a:r>
            <a:endParaRPr sz="3600"/>
          </a:p>
        </p:txBody>
      </p:sp>
      <p:sp>
        <p:nvSpPr>
          <p:cNvPr id="12" name="Text 10">
            <a:extLst xmlns:a="http://schemas.openxmlformats.org/drawingml/2006/main">
              <a:ext uri="{FF2B5EF4-FFF2-40B4-BE49-F238E27FC236}">
                <a16:creationId xmlns:a16="http://schemas.microsoft.com/office/drawing/2014/main" id="{3FE04EB9-EE08-4933-A6F9-1A22954C0E3B}"/>
              </a:ext>
            </a:extLst>
          </p:cNvPr>
          <p:cNvSpPr>
            <a:spLocks xmlns:a="http://schemas.openxmlformats.org/drawingml/2006/main" noGrp="1"/>
          </p:cNvSpPr>
          <p:nvPr/>
        </p:nvSpPr>
        <p:spPr>
          <a:xfrm xmlns:a="http://schemas.openxmlformats.org/drawingml/2006/main">
            <a:off x="777240" y="2761488"/>
            <a:ext cx="100584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a:solidFill>
                  <a:srgbClr val="B9C8E8"/>
                </a:solidFill>
                <a:latin typeface="Calibri"/>
                <a:ea typeface="Calibri"/>
                <a:cs typeface="Calibri"/>
              </a:rPr>
              <a:t>استراتيجيات اختبار كود تعلم الآلة</a:t>
            </a:r>
            <a:endParaRPr sz="1700"/>
          </a:p>
        </p:txBody>
      </p:sp>
      <p:sp>
        <p:nvSpPr>
          <p:cNvPr id="13" name="Shape 11">
            <a:extLst xmlns:a="http://schemas.openxmlformats.org/drawingml/2006/main">
              <a:ext uri="{FF2B5EF4-FFF2-40B4-BE49-F238E27FC236}">
                <a16:creationId xmlns:a16="http://schemas.microsoft.com/office/drawing/2014/main" id="{B9E21486-81E5-4AF2-9C6E-60B0A628E3A5}"/>
              </a:ext>
            </a:extLst>
          </p:cNvPr>
          <p:cNvSpPr>
            <a:spLocks xmlns:a="http://schemas.openxmlformats.org/drawingml/2006/main" noGrp="1"/>
          </p:cNvSpPr>
          <p:nvPr/>
        </p:nvSpPr>
        <p:spPr>
          <a:xfrm xmlns:a="http://schemas.openxmlformats.org/drawingml/2006/main">
            <a:off x="777240"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14" name="Text 12">
            <a:extLst xmlns:a="http://schemas.openxmlformats.org/drawingml/2006/main">
              <a:ext uri="{FF2B5EF4-FFF2-40B4-BE49-F238E27FC236}">
                <a16:creationId xmlns:a16="http://schemas.microsoft.com/office/drawing/2014/main" id="{85A2F98D-4B8D-40D9-AD11-866E29AF8874}"/>
              </a:ext>
            </a:extLst>
          </p:cNvPr>
          <p:cNvSpPr>
            <a:spLocks xmlns:a="http://schemas.openxmlformats.org/drawingml/2006/main" noGrp="1"/>
          </p:cNvSpPr>
          <p:nvPr/>
        </p:nvSpPr>
        <p:spPr>
          <a:xfrm xmlns:a="http://schemas.openxmlformats.org/drawingml/2006/main">
            <a:off x="923544"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A79D"/>
                </a:solidFill>
                <a:latin typeface="Calibri"/>
                <a:ea typeface="Calibri"/>
                <a:cs typeface="Calibri"/>
              </a:rPr>
              <a:t>01</a:t>
            </a:r>
            <a:endParaRPr sz="1400"/>
          </a:p>
        </p:txBody>
      </p:sp>
      <p:sp>
        <p:nvSpPr>
          <p:cNvPr id="15" name="Text 13">
            <a:extLst xmlns:a="http://schemas.openxmlformats.org/drawingml/2006/main">
              <a:ext uri="{FF2B5EF4-FFF2-40B4-BE49-F238E27FC236}">
                <a16:creationId xmlns:a16="http://schemas.microsoft.com/office/drawing/2014/main" id="{CEB64C00-C1BD-4ECA-B94E-510C754E7580}"/>
              </a:ext>
            </a:extLst>
          </p:cNvPr>
          <p:cNvSpPr>
            <a:spLocks xmlns:a="http://schemas.openxmlformats.org/drawingml/2006/main" noGrp="1"/>
          </p:cNvSpPr>
          <p:nvPr/>
        </p:nvSpPr>
        <p:spPr>
          <a:xfrm xmlns:a="http://schemas.openxmlformats.org/drawingml/2006/main">
            <a:off x="923544"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The ML testing pyramid</a:t>
            </a:r>
            <a:endParaRPr sz="1200"/>
          </a:p>
        </p:txBody>
      </p:sp>
      <p:sp>
        <p:nvSpPr>
          <p:cNvPr id="16" name="Text 14">
            <a:extLst xmlns:a="http://schemas.openxmlformats.org/drawingml/2006/main">
              <a:ext uri="{FF2B5EF4-FFF2-40B4-BE49-F238E27FC236}">
                <a16:creationId xmlns:a16="http://schemas.microsoft.com/office/drawing/2014/main" id="{DA9CEA1D-A9DE-4987-BB62-56A4DD909A2B}"/>
              </a:ext>
            </a:extLst>
          </p:cNvPr>
          <p:cNvSpPr>
            <a:spLocks xmlns:a="http://schemas.openxmlformats.org/drawingml/2006/main" noGrp="1"/>
          </p:cNvSpPr>
          <p:nvPr/>
        </p:nvSpPr>
        <p:spPr>
          <a:xfrm xmlns:a="http://schemas.openxmlformats.org/drawingml/2006/main">
            <a:off x="923544"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unit, integration, model-behaviour, E2E — and where each test belongs</a:t>
            </a:r>
            <a:endParaRPr sz="950"/>
          </a:p>
        </p:txBody>
      </p:sp>
      <p:sp>
        <p:nvSpPr>
          <p:cNvPr id="17" name="Shape 15">
            <a:extLst xmlns:a="http://schemas.openxmlformats.org/drawingml/2006/main">
              <a:ext uri="{FF2B5EF4-FFF2-40B4-BE49-F238E27FC236}">
                <a16:creationId xmlns:a16="http://schemas.microsoft.com/office/drawing/2014/main" id="{E3551AED-6C90-4D9C-BC9E-BD636D0E5D27}"/>
              </a:ext>
            </a:extLst>
          </p:cNvPr>
          <p:cNvSpPr>
            <a:spLocks xmlns:a="http://schemas.openxmlformats.org/drawingml/2006/main" noGrp="1"/>
          </p:cNvSpPr>
          <p:nvPr/>
        </p:nvSpPr>
        <p:spPr>
          <a:xfrm xmlns:a="http://schemas.openxmlformats.org/drawingml/2006/main">
            <a:off x="3493008"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18" name="Text 16">
            <a:extLst xmlns:a="http://schemas.openxmlformats.org/drawingml/2006/main">
              <a:ext uri="{FF2B5EF4-FFF2-40B4-BE49-F238E27FC236}">
                <a16:creationId xmlns:a16="http://schemas.microsoft.com/office/drawing/2014/main" id="{C7596C23-C8D8-4C5D-A7BA-FAD8A244F3F2}"/>
              </a:ext>
            </a:extLst>
          </p:cNvPr>
          <p:cNvSpPr>
            <a:spLocks xmlns:a="http://schemas.openxmlformats.org/drawingml/2006/main" noGrp="1"/>
          </p:cNvSpPr>
          <p:nvPr/>
        </p:nvSpPr>
        <p:spPr>
          <a:xfrm xmlns:a="http://schemas.openxmlformats.org/drawingml/2006/main">
            <a:off x="3639312"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29ABE2"/>
                </a:solidFill>
                <a:latin typeface="Calibri"/>
                <a:ea typeface="Calibri"/>
                <a:cs typeface="Calibri"/>
              </a:rPr>
              <a:t>02</a:t>
            </a:r>
            <a:endParaRPr sz="1400"/>
          </a:p>
        </p:txBody>
      </p:sp>
      <p:sp>
        <p:nvSpPr>
          <p:cNvPr id="19" name="Text 17">
            <a:extLst xmlns:a="http://schemas.openxmlformats.org/drawingml/2006/main">
              <a:ext uri="{FF2B5EF4-FFF2-40B4-BE49-F238E27FC236}">
                <a16:creationId xmlns:a16="http://schemas.microsoft.com/office/drawing/2014/main" id="{2F2CE101-51D4-4A44-BDF9-8B3CA86114E5}"/>
              </a:ext>
            </a:extLst>
          </p:cNvPr>
          <p:cNvSpPr>
            <a:spLocks xmlns:a="http://schemas.openxmlformats.org/drawingml/2006/main" noGrp="1"/>
          </p:cNvSpPr>
          <p:nvPr/>
        </p:nvSpPr>
        <p:spPr>
          <a:xfrm xmlns:a="http://schemas.openxmlformats.org/drawingml/2006/main">
            <a:off x="3639312"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Fixtures and test doubles</a:t>
            </a:r>
            <a:endParaRPr sz="1200"/>
          </a:p>
        </p:txBody>
      </p:sp>
      <p:sp>
        <p:nvSpPr>
          <p:cNvPr id="20" name="Text 18">
            <a:extLst xmlns:a="http://schemas.openxmlformats.org/drawingml/2006/main">
              <a:ext uri="{FF2B5EF4-FFF2-40B4-BE49-F238E27FC236}">
                <a16:creationId xmlns:a16="http://schemas.microsoft.com/office/drawing/2014/main" id="{A21329D5-A52F-408D-96CA-D76D96973C82}"/>
              </a:ext>
            </a:extLst>
          </p:cNvPr>
          <p:cNvSpPr>
            <a:spLocks xmlns:a="http://schemas.openxmlformats.org/drawingml/2006/main" noGrp="1"/>
          </p:cNvSpPr>
          <p:nvPr/>
        </p:nvSpPr>
        <p:spPr>
          <a:xfrm xmlns:a="http://schemas.openxmlformats.org/drawingml/2006/main">
            <a:off x="3639312"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conftest.py, ConstantModel, dependency overrides — the DI payoff</a:t>
            </a:r>
            <a:endParaRPr sz="950"/>
          </a:p>
        </p:txBody>
      </p:sp>
      <p:sp>
        <p:nvSpPr>
          <p:cNvPr id="21" name="Shape 19">
            <a:extLst xmlns:a="http://schemas.openxmlformats.org/drawingml/2006/main">
              <a:ext uri="{FF2B5EF4-FFF2-40B4-BE49-F238E27FC236}">
                <a16:creationId xmlns:a16="http://schemas.microsoft.com/office/drawing/2014/main" id="{ECC73F98-4AEA-4AD4-B527-A68BABBD084B}"/>
              </a:ext>
            </a:extLst>
          </p:cNvPr>
          <p:cNvSpPr>
            <a:spLocks xmlns:a="http://schemas.openxmlformats.org/drawingml/2006/main" noGrp="1"/>
          </p:cNvSpPr>
          <p:nvPr/>
        </p:nvSpPr>
        <p:spPr>
          <a:xfrm xmlns:a="http://schemas.openxmlformats.org/drawingml/2006/main">
            <a:off x="6208776"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22" name="Text 20">
            <a:extLst xmlns:a="http://schemas.openxmlformats.org/drawingml/2006/main">
              <a:ext uri="{FF2B5EF4-FFF2-40B4-BE49-F238E27FC236}">
                <a16:creationId xmlns:a16="http://schemas.microsoft.com/office/drawing/2014/main" id="{DAD9A122-695E-4FC6-A278-755EC6E05330}"/>
              </a:ext>
            </a:extLst>
          </p:cNvPr>
          <p:cNvSpPr>
            <a:spLocks xmlns:a="http://schemas.openxmlformats.org/drawingml/2006/main" noGrp="1"/>
          </p:cNvSpPr>
          <p:nvPr/>
        </p:nvSpPr>
        <p:spPr>
          <a:xfrm xmlns:a="http://schemas.openxmlformats.org/drawingml/2006/main">
            <a:off x="6355080"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F58220"/>
                </a:solidFill>
                <a:latin typeface="Calibri"/>
                <a:ea typeface="Calibri"/>
                <a:cs typeface="Calibri"/>
              </a:rPr>
              <a:t>03</a:t>
            </a:r>
            <a:endParaRPr sz="1400"/>
          </a:p>
        </p:txBody>
      </p:sp>
      <p:sp>
        <p:nvSpPr>
          <p:cNvPr id="23" name="Text 21">
            <a:extLst xmlns:a="http://schemas.openxmlformats.org/drawingml/2006/main">
              <a:ext uri="{FF2B5EF4-FFF2-40B4-BE49-F238E27FC236}">
                <a16:creationId xmlns:a16="http://schemas.microsoft.com/office/drawing/2014/main" id="{B4C09BE7-4DD1-40A5-BF9A-F8A3AA5F5DD5}"/>
              </a:ext>
            </a:extLst>
          </p:cNvPr>
          <p:cNvSpPr>
            <a:spLocks xmlns:a="http://schemas.openxmlformats.org/drawingml/2006/main" noGrp="1"/>
          </p:cNvSpPr>
          <p:nvPr/>
        </p:nvSpPr>
        <p:spPr>
          <a:xfrm xmlns:a="http://schemas.openxmlformats.org/drawingml/2006/main">
            <a:off x="6355080"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Behavioural tests</a:t>
            </a:r>
            <a:endParaRPr sz="1200"/>
          </a:p>
        </p:txBody>
      </p:sp>
      <p:sp>
        <p:nvSpPr>
          <p:cNvPr id="24" name="Text 22">
            <a:extLst xmlns:a="http://schemas.openxmlformats.org/drawingml/2006/main">
              <a:ext uri="{FF2B5EF4-FFF2-40B4-BE49-F238E27FC236}">
                <a16:creationId xmlns:a16="http://schemas.microsoft.com/office/drawing/2014/main" id="{DAB5C3F3-82A8-49D2-9C84-AEB1D34563EA}"/>
              </a:ext>
            </a:extLst>
          </p:cNvPr>
          <p:cNvSpPr>
            <a:spLocks xmlns:a="http://schemas.openxmlformats.org/drawingml/2006/main" noGrp="1"/>
          </p:cNvSpPr>
          <p:nvPr/>
        </p:nvSpPr>
        <p:spPr>
          <a:xfrm xmlns:a="http://schemas.openxmlformats.org/drawingml/2006/main">
            <a:off x="6355080"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invariance, directional expectations, golden files, performance floors</a:t>
            </a:r>
            <a:endParaRPr sz="950"/>
          </a:p>
        </p:txBody>
      </p:sp>
      <p:sp>
        <p:nvSpPr>
          <p:cNvPr id="25" name="Shape 23">
            <a:extLst xmlns:a="http://schemas.openxmlformats.org/drawingml/2006/main">
              <a:ext uri="{FF2B5EF4-FFF2-40B4-BE49-F238E27FC236}">
                <a16:creationId xmlns:a16="http://schemas.microsoft.com/office/drawing/2014/main" id="{5391C2FB-9CC2-4B9D-B792-A8F965C3C867}"/>
              </a:ext>
            </a:extLst>
          </p:cNvPr>
          <p:cNvSpPr>
            <a:spLocks xmlns:a="http://schemas.openxmlformats.org/drawingml/2006/main" noGrp="1"/>
          </p:cNvSpPr>
          <p:nvPr/>
        </p:nvSpPr>
        <p:spPr>
          <a:xfrm xmlns:a="http://schemas.openxmlformats.org/drawingml/2006/main">
            <a:off x="8924544"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26" name="Text 24">
            <a:extLst xmlns:a="http://schemas.openxmlformats.org/drawingml/2006/main">
              <a:ext uri="{FF2B5EF4-FFF2-40B4-BE49-F238E27FC236}">
                <a16:creationId xmlns:a16="http://schemas.microsoft.com/office/drawing/2014/main" id="{DF8814EF-F235-447F-AEC6-F92EE9584E79}"/>
              </a:ext>
            </a:extLst>
          </p:cNvPr>
          <p:cNvSpPr>
            <a:spLocks xmlns:a="http://schemas.openxmlformats.org/drawingml/2006/main" noGrp="1"/>
          </p:cNvSpPr>
          <p:nvPr/>
        </p:nvSpPr>
        <p:spPr>
          <a:xfrm xmlns:a="http://schemas.openxmlformats.org/drawingml/2006/main">
            <a:off x="9070848"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8DC63F"/>
                </a:solidFill>
                <a:latin typeface="Calibri"/>
                <a:ea typeface="Calibri"/>
                <a:cs typeface="Calibri"/>
              </a:rPr>
              <a:t>04</a:t>
            </a:r>
            <a:endParaRPr sz="1400"/>
          </a:p>
        </p:txBody>
      </p:sp>
      <p:sp>
        <p:nvSpPr>
          <p:cNvPr id="27" name="Text 25">
            <a:extLst xmlns:a="http://schemas.openxmlformats.org/drawingml/2006/main">
              <a:ext uri="{FF2B5EF4-FFF2-40B4-BE49-F238E27FC236}">
                <a16:creationId xmlns:a16="http://schemas.microsoft.com/office/drawing/2014/main" id="{3DAE4F57-9CEB-49C9-A342-F3C36C4B6F76}"/>
              </a:ext>
            </a:extLst>
          </p:cNvPr>
          <p:cNvSpPr>
            <a:spLocks xmlns:a="http://schemas.openxmlformats.org/drawingml/2006/main" noGrp="1"/>
          </p:cNvSpPr>
          <p:nvPr/>
        </p:nvSpPr>
        <p:spPr>
          <a:xfrm xmlns:a="http://schemas.openxmlformats.org/drawingml/2006/main">
            <a:off x="9070848"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Coverage that means something</a:t>
            </a:r>
            <a:endParaRPr sz="1200"/>
          </a:p>
        </p:txBody>
      </p:sp>
      <p:sp>
        <p:nvSpPr>
          <p:cNvPr id="28" name="Text 26">
            <a:extLst xmlns:a="http://schemas.openxmlformats.org/drawingml/2006/main">
              <a:ext uri="{FF2B5EF4-FFF2-40B4-BE49-F238E27FC236}">
                <a16:creationId xmlns:a16="http://schemas.microsoft.com/office/drawing/2014/main" id="{506CFF30-A6AC-405B-A558-79FF1793E9DC}"/>
              </a:ext>
            </a:extLst>
          </p:cNvPr>
          <p:cNvSpPr>
            <a:spLocks xmlns:a="http://schemas.openxmlformats.org/drawingml/2006/main" noGrp="1"/>
          </p:cNvSpPr>
          <p:nvPr/>
        </p:nvSpPr>
        <p:spPr>
          <a:xfrm xmlns:a="http://schemas.openxmlformats.org/drawingml/2006/main">
            <a:off x="9070848"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branch coverage ≥ 80% on domain/service/api — smoke detector, not KPI</a:t>
            </a:r>
            <a:endParaRPr sz="950"/>
          </a:p>
        </p:txBody>
      </p:sp>
      <p:sp>
        <p:nvSpPr>
          <p:cNvPr id="29" name="Text 27">
            <a:extLst xmlns:a="http://schemas.openxmlformats.org/drawingml/2006/main">
              <a:ext uri="{FF2B5EF4-FFF2-40B4-BE49-F238E27FC236}">
                <a16:creationId xmlns:a16="http://schemas.microsoft.com/office/drawing/2014/main" id="{8083D849-0DCF-4035-8573-C24DCF63677C}"/>
              </a:ext>
            </a:extLst>
          </p:cNvPr>
          <p:cNvSpPr>
            <a:spLocks xmlns:a="http://schemas.openxmlformats.org/drawingml/2006/main" noGrp="1"/>
          </p:cNvSpPr>
          <p:nvPr/>
        </p:nvSpPr>
        <p:spPr>
          <a:xfrm xmlns:a="http://schemas.openxmlformats.org/drawingml/2006/main">
            <a:off x="777240" y="5806440"/>
            <a:ext cx="100584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8A96C8"/>
                </a:solidFill>
                <a:latin typeface="Calibri"/>
                <a:ea typeface="Calibri"/>
                <a:cs typeface="Calibri"/>
              </a:rPr>
              <a:t>1 hour lecture + 50 min lab</a:t>
            </a:r>
            <a:endParaRPr sz="1100"/>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13551959d630424c"/>
          <a:stretch xmlns:a="http://schemas.openxmlformats.org/drawingml/2006/main">
            <a:fillRect l="0" t="0" r="0" b="0"/>
          </a:stretch>
        </p:blipFill>
        <p:spPr>
          <a:xfrm xmlns:a="http://schemas.openxmlformats.org/drawingml/2006/main">
            <a:off x="777240" y="6309360"/>
            <a:ext cx="1078992" cy="265176"/>
          </a:xfrm>
          <a:prstGeom xmlns:a="http://schemas.openxmlformats.org/drawingml/2006/main" prst="rect">
            <a:avLst/>
          </a:prstGeom>
        </p:spPr>
      </p:pic>
    </p:spTree>
    <p:extLst>
      <p:ext uri="{BB962C8B-B14F-4D97-AF65-F5344CB8AC3E}">
        <p14:creationId xmlns:p14="http://schemas.microsoft.com/office/powerpoint/2010/main" val="1056454363"/>
      </p:ext>
    </p:extLst>
  </p:cSld>
</p:sld>
</file>

<file path=ppt/slides/slide8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72885E5-A7F5-41C4-8D8E-E33BAD6AC82C}"/>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Module 4 — learning objectives</a:t>
            </a:r>
            <a:endParaRPr sz="2600"/>
          </a:p>
        </p:txBody>
      </p:sp>
      <p:sp>
        <p:nvSpPr>
          <p:cNvPr id="3" name="Text 1">
            <a:extLst xmlns:a="http://schemas.openxmlformats.org/drawingml/2006/main">
              <a:ext uri="{FF2B5EF4-FFF2-40B4-BE49-F238E27FC236}">
                <a16:creationId xmlns:a16="http://schemas.microsoft.com/office/drawing/2014/main" id="{5DF35ED7-5A71-44BB-BB50-F1AEF91174EA}"/>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الوحدة الرابعة — أهداف التعلم</a:t>
            </a:r>
            <a:endParaRPr sz="1300"/>
          </a:p>
        </p:txBody>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0e4f9ce519ce4314"/>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7B6C22EE-9A12-4CA6-B4C3-F65729BE8E6E}"/>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67A0E1C8-F344-4C5E-A823-7AA00D3B5D27}"/>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4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E29E84BD-686A-4B17-88AA-1E8DBFACCBF4}"/>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81</a:t>
            </a:r>
            <a:endParaRPr sz="850"/>
          </a:p>
        </p:txBody>
      </p:sp>
      <p:sp>
        <p:nvSpPr>
          <p:cNvPr id="8" name="Shape 5">
            <a:extLst xmlns:a="http://schemas.openxmlformats.org/drawingml/2006/main">
              <a:ext uri="{FF2B5EF4-FFF2-40B4-BE49-F238E27FC236}">
                <a16:creationId xmlns:a16="http://schemas.microsoft.com/office/drawing/2014/main" id="{8472BBA0-B208-4FD2-8D4D-F2A7BC543C3A}"/>
              </a:ext>
            </a:extLst>
          </p:cNvPr>
          <p:cNvSpPr>
            <a:spLocks xmlns:a="http://schemas.openxmlformats.org/drawingml/2006/main" noGrp="1"/>
          </p:cNvSpPr>
          <p:nvPr/>
        </p:nvSpPr>
        <p:spPr>
          <a:xfrm xmlns:a="http://schemas.openxmlformats.org/drawingml/2006/main">
            <a:off x="502920" y="1481328"/>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97A491AD-B104-4F23-ABDD-A4443541A850}"/>
              </a:ext>
            </a:extLst>
          </p:cNvPr>
          <p:cNvSpPr>
            <a:spLocks xmlns:a="http://schemas.openxmlformats.org/drawingml/2006/main" noGrp="1"/>
          </p:cNvSpPr>
          <p:nvPr/>
        </p:nvSpPr>
        <p:spPr>
          <a:xfrm xmlns:a="http://schemas.openxmlformats.org/drawingml/2006/main">
            <a:off x="502920" y="1481328"/>
            <a:ext cx="64008" cy="1417320"/>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3E1A68F0-3874-40AE-BAA5-02AAE2664BC1}"/>
              </a:ext>
            </a:extLst>
          </p:cNvPr>
          <p:cNvSpPr>
            <a:spLocks xmlns:a="http://schemas.openxmlformats.org/drawingml/2006/main" noGrp="1"/>
          </p:cNvSpPr>
          <p:nvPr/>
        </p:nvSpPr>
        <p:spPr>
          <a:xfrm xmlns:a="http://schemas.openxmlformats.org/drawingml/2006/main">
            <a:off x="685800" y="1609344"/>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4.1</a:t>
            </a:r>
            <a:endParaRPr sz="1200"/>
          </a:p>
        </p:txBody>
      </p:sp>
      <p:sp>
        <p:nvSpPr>
          <p:cNvPr id="11" name="Text 8">
            <a:extLst xmlns:a="http://schemas.openxmlformats.org/drawingml/2006/main">
              <a:ext uri="{FF2B5EF4-FFF2-40B4-BE49-F238E27FC236}">
                <a16:creationId xmlns:a16="http://schemas.microsoft.com/office/drawing/2014/main" id="{F0736DF5-358E-4DAC-B2EA-64FD8B0819BB}"/>
              </a:ext>
            </a:extLst>
          </p:cNvPr>
          <p:cNvSpPr>
            <a:spLocks xmlns:a="http://schemas.openxmlformats.org/drawingml/2006/main" noGrp="1"/>
          </p:cNvSpPr>
          <p:nvPr/>
        </p:nvSpPr>
        <p:spPr>
          <a:xfrm xmlns:a="http://schemas.openxmlformats.org/drawingml/2006/main">
            <a:off x="4997196" y="1609344"/>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LO3</a:t>
            </a:r>
            <a:endParaRPr sz="850"/>
          </a:p>
        </p:txBody>
      </p:sp>
      <p:sp>
        <p:nvSpPr>
          <p:cNvPr id="12" name="Text 9">
            <a:extLst xmlns:a="http://schemas.openxmlformats.org/drawingml/2006/main">
              <a:ext uri="{FF2B5EF4-FFF2-40B4-BE49-F238E27FC236}">
                <a16:creationId xmlns:a16="http://schemas.microsoft.com/office/drawing/2014/main" id="{89C3BEA5-E2DA-4D95-A88D-B5B568ADBAA1}"/>
              </a:ext>
            </a:extLst>
          </p:cNvPr>
          <p:cNvSpPr>
            <a:spLocks xmlns:a="http://schemas.openxmlformats.org/drawingml/2006/main" noGrp="1"/>
          </p:cNvSpPr>
          <p:nvPr/>
        </p:nvSpPr>
        <p:spPr>
          <a:xfrm xmlns:a="http://schemas.openxmlformats.org/drawingml/2006/main">
            <a:off x="685800" y="1901952"/>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Structure the ML testing pyramid and place a given test correctly</a:t>
            </a:r>
            <a:endParaRPr sz="1100"/>
          </a:p>
        </p:txBody>
      </p:sp>
      <p:sp>
        <p:nvSpPr>
          <p:cNvPr id="13" name="Shape 10">
            <a:extLst xmlns:a="http://schemas.openxmlformats.org/drawingml/2006/main">
              <a:ext uri="{FF2B5EF4-FFF2-40B4-BE49-F238E27FC236}">
                <a16:creationId xmlns:a16="http://schemas.microsoft.com/office/drawing/2014/main" id="{C8B12143-E230-4734-BDB4-1373D5AC2187}"/>
              </a:ext>
            </a:extLst>
          </p:cNvPr>
          <p:cNvSpPr>
            <a:spLocks xmlns:a="http://schemas.openxmlformats.org/drawingml/2006/main" noGrp="1"/>
          </p:cNvSpPr>
          <p:nvPr/>
        </p:nvSpPr>
        <p:spPr>
          <a:xfrm xmlns:a="http://schemas.openxmlformats.org/drawingml/2006/main">
            <a:off x="6231636" y="1481328"/>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14" name="Shape 11">
            <a:extLst xmlns:a="http://schemas.openxmlformats.org/drawingml/2006/main">
              <a:ext uri="{FF2B5EF4-FFF2-40B4-BE49-F238E27FC236}">
                <a16:creationId xmlns:a16="http://schemas.microsoft.com/office/drawing/2014/main" id="{5ABD8539-ECE8-40DB-80E7-A5D99804F989}"/>
              </a:ext>
            </a:extLst>
          </p:cNvPr>
          <p:cNvSpPr>
            <a:spLocks xmlns:a="http://schemas.openxmlformats.org/drawingml/2006/main" noGrp="1"/>
          </p:cNvSpPr>
          <p:nvPr/>
        </p:nvSpPr>
        <p:spPr>
          <a:xfrm xmlns:a="http://schemas.openxmlformats.org/drawingml/2006/main">
            <a:off x="6231636" y="1481328"/>
            <a:ext cx="64008" cy="1417320"/>
          </a:xfrm>
          <a:prstGeom xmlns:a="http://schemas.openxmlformats.org/drawingml/2006/main" prst="rect">
            <a:avLst/>
          </a:prstGeom>
          <a:solidFill xmlns:a="http://schemas.openxmlformats.org/drawingml/2006/main">
            <a:srgbClr val="29ABE2"/>
          </a:solidFill>
        </p:spPr>
      </p:sp>
      <p:sp>
        <p:nvSpPr>
          <p:cNvPr id="15" name="Text 12">
            <a:extLst xmlns:a="http://schemas.openxmlformats.org/drawingml/2006/main">
              <a:ext uri="{FF2B5EF4-FFF2-40B4-BE49-F238E27FC236}">
                <a16:creationId xmlns:a16="http://schemas.microsoft.com/office/drawing/2014/main" id="{9EEB9B9F-C72C-4C29-BA1B-5E3C620B5B0B}"/>
              </a:ext>
            </a:extLst>
          </p:cNvPr>
          <p:cNvSpPr>
            <a:spLocks xmlns:a="http://schemas.openxmlformats.org/drawingml/2006/main" noGrp="1"/>
          </p:cNvSpPr>
          <p:nvPr/>
        </p:nvSpPr>
        <p:spPr>
          <a:xfrm xmlns:a="http://schemas.openxmlformats.org/drawingml/2006/main">
            <a:off x="6414516" y="1609344"/>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4.2</a:t>
            </a:r>
            <a:endParaRPr sz="1200"/>
          </a:p>
        </p:txBody>
      </p:sp>
      <p:sp>
        <p:nvSpPr>
          <p:cNvPr id="16" name="Text 13">
            <a:extLst xmlns:a="http://schemas.openxmlformats.org/drawingml/2006/main">
              <a:ext uri="{FF2B5EF4-FFF2-40B4-BE49-F238E27FC236}">
                <a16:creationId xmlns:a16="http://schemas.microsoft.com/office/drawing/2014/main" id="{C8CDD912-ECF9-44F1-B5DA-4F0125896A7B}"/>
              </a:ext>
            </a:extLst>
          </p:cNvPr>
          <p:cNvSpPr>
            <a:spLocks xmlns:a="http://schemas.openxmlformats.org/drawingml/2006/main" noGrp="1"/>
          </p:cNvSpPr>
          <p:nvPr/>
        </p:nvSpPr>
        <p:spPr>
          <a:xfrm xmlns:a="http://schemas.openxmlformats.org/drawingml/2006/main">
            <a:off x="10725912" y="1609344"/>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LO3 · LO5</a:t>
            </a:r>
            <a:endParaRPr sz="850"/>
          </a:p>
        </p:txBody>
      </p:sp>
      <p:sp>
        <p:nvSpPr>
          <p:cNvPr id="17" name="Text 14">
            <a:extLst xmlns:a="http://schemas.openxmlformats.org/drawingml/2006/main">
              <a:ext uri="{FF2B5EF4-FFF2-40B4-BE49-F238E27FC236}">
                <a16:creationId xmlns:a16="http://schemas.microsoft.com/office/drawing/2014/main" id="{3FA01674-CAC4-4787-A671-FFBF6CEE6AF6}"/>
              </a:ext>
            </a:extLst>
          </p:cNvPr>
          <p:cNvSpPr>
            <a:spLocks xmlns:a="http://schemas.openxmlformats.org/drawingml/2006/main" noGrp="1"/>
          </p:cNvSpPr>
          <p:nvPr/>
        </p:nvSpPr>
        <p:spPr>
          <a:xfrm xmlns:a="http://schemas.openxmlformats.org/drawingml/2006/main">
            <a:off x="6414516" y="1901952"/>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Write unit tests for domain and service layers using test doubles</a:t>
            </a:r>
            <a:endParaRPr sz="1100"/>
          </a:p>
        </p:txBody>
      </p:sp>
      <p:sp>
        <p:nvSpPr>
          <p:cNvPr id="18" name="Shape 15">
            <a:extLst xmlns:a="http://schemas.openxmlformats.org/drawingml/2006/main">
              <a:ext uri="{FF2B5EF4-FFF2-40B4-BE49-F238E27FC236}">
                <a16:creationId xmlns:a16="http://schemas.microsoft.com/office/drawing/2014/main" id="{F1D66C9A-7C14-4B19-8DAF-D9C304AF2B63}"/>
              </a:ext>
            </a:extLst>
          </p:cNvPr>
          <p:cNvSpPr>
            <a:spLocks xmlns:a="http://schemas.openxmlformats.org/drawingml/2006/main" noGrp="1"/>
          </p:cNvSpPr>
          <p:nvPr/>
        </p:nvSpPr>
        <p:spPr>
          <a:xfrm xmlns:a="http://schemas.openxmlformats.org/drawingml/2006/main">
            <a:off x="502920" y="3099816"/>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19" name="Shape 16">
            <a:extLst xmlns:a="http://schemas.openxmlformats.org/drawingml/2006/main">
              <a:ext uri="{FF2B5EF4-FFF2-40B4-BE49-F238E27FC236}">
                <a16:creationId xmlns:a16="http://schemas.microsoft.com/office/drawing/2014/main" id="{9365662C-7287-489B-9029-AD17BEBA87CE}"/>
              </a:ext>
            </a:extLst>
          </p:cNvPr>
          <p:cNvSpPr>
            <a:spLocks xmlns:a="http://schemas.openxmlformats.org/drawingml/2006/main" noGrp="1"/>
          </p:cNvSpPr>
          <p:nvPr/>
        </p:nvSpPr>
        <p:spPr>
          <a:xfrm xmlns:a="http://schemas.openxmlformats.org/drawingml/2006/main">
            <a:off x="502920" y="3099816"/>
            <a:ext cx="64008" cy="1417320"/>
          </a:xfrm>
          <a:prstGeom xmlns:a="http://schemas.openxmlformats.org/drawingml/2006/main" prst="rect">
            <a:avLst/>
          </a:prstGeom>
          <a:solidFill xmlns:a="http://schemas.openxmlformats.org/drawingml/2006/main">
            <a:srgbClr val="F58220"/>
          </a:solidFill>
        </p:spPr>
      </p:sp>
      <p:sp>
        <p:nvSpPr>
          <p:cNvPr id="20" name="Text 17">
            <a:extLst xmlns:a="http://schemas.openxmlformats.org/drawingml/2006/main">
              <a:ext uri="{FF2B5EF4-FFF2-40B4-BE49-F238E27FC236}">
                <a16:creationId xmlns:a16="http://schemas.microsoft.com/office/drawing/2014/main" id="{F9A4006C-0394-4084-936C-806E59B26308}"/>
              </a:ext>
            </a:extLst>
          </p:cNvPr>
          <p:cNvSpPr>
            <a:spLocks xmlns:a="http://schemas.openxmlformats.org/drawingml/2006/main" noGrp="1"/>
          </p:cNvSpPr>
          <p:nvPr/>
        </p:nvSpPr>
        <p:spPr>
          <a:xfrm xmlns:a="http://schemas.openxmlformats.org/drawingml/2006/main">
            <a:off x="685800" y="3227832"/>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4.3</a:t>
            </a:r>
            <a:endParaRPr sz="1200"/>
          </a:p>
        </p:txBody>
      </p:sp>
      <p:sp>
        <p:nvSpPr>
          <p:cNvPr id="21" name="Text 18">
            <a:extLst xmlns:a="http://schemas.openxmlformats.org/drawingml/2006/main">
              <a:ext uri="{FF2B5EF4-FFF2-40B4-BE49-F238E27FC236}">
                <a16:creationId xmlns:a16="http://schemas.microsoft.com/office/drawing/2014/main" id="{C5715358-F07F-45C5-94E9-290B07FC427E}"/>
              </a:ext>
            </a:extLst>
          </p:cNvPr>
          <p:cNvSpPr>
            <a:spLocks xmlns:a="http://schemas.openxmlformats.org/drawingml/2006/main" noGrp="1"/>
          </p:cNvSpPr>
          <p:nvPr/>
        </p:nvSpPr>
        <p:spPr>
          <a:xfrm xmlns:a="http://schemas.openxmlformats.org/drawingml/2006/main">
            <a:off x="4997196" y="3227832"/>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LO3 · LO1</a:t>
            </a:r>
            <a:endParaRPr sz="850"/>
          </a:p>
        </p:txBody>
      </p:sp>
      <p:sp>
        <p:nvSpPr>
          <p:cNvPr id="22" name="Text 19">
            <a:extLst xmlns:a="http://schemas.openxmlformats.org/drawingml/2006/main">
              <a:ext uri="{FF2B5EF4-FFF2-40B4-BE49-F238E27FC236}">
                <a16:creationId xmlns:a16="http://schemas.microsoft.com/office/drawing/2014/main" id="{03D371AF-20E1-429E-9915-AD64C8672A63}"/>
              </a:ext>
            </a:extLst>
          </p:cNvPr>
          <p:cNvSpPr>
            <a:spLocks xmlns:a="http://schemas.openxmlformats.org/drawingml/2006/main" noGrp="1"/>
          </p:cNvSpPr>
          <p:nvPr/>
        </p:nvSpPr>
        <p:spPr>
          <a:xfrm xmlns:a="http://schemas.openxmlformats.org/drawingml/2006/main">
            <a:off x="685800" y="3520440"/>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Write API integration tests with httpx + dependency overrides</a:t>
            </a:r>
            <a:endParaRPr sz="1100"/>
          </a:p>
        </p:txBody>
      </p:sp>
      <p:sp>
        <p:nvSpPr>
          <p:cNvPr id="23" name="Shape 20">
            <a:extLst xmlns:a="http://schemas.openxmlformats.org/drawingml/2006/main">
              <a:ext uri="{FF2B5EF4-FFF2-40B4-BE49-F238E27FC236}">
                <a16:creationId xmlns:a16="http://schemas.microsoft.com/office/drawing/2014/main" id="{AA57065D-4BDB-43E3-BED2-DFB2E564ADF7}"/>
              </a:ext>
            </a:extLst>
          </p:cNvPr>
          <p:cNvSpPr>
            <a:spLocks xmlns:a="http://schemas.openxmlformats.org/drawingml/2006/main" noGrp="1"/>
          </p:cNvSpPr>
          <p:nvPr/>
        </p:nvSpPr>
        <p:spPr>
          <a:xfrm xmlns:a="http://schemas.openxmlformats.org/drawingml/2006/main">
            <a:off x="6231636" y="3099816"/>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24" name="Shape 21">
            <a:extLst xmlns:a="http://schemas.openxmlformats.org/drawingml/2006/main">
              <a:ext uri="{FF2B5EF4-FFF2-40B4-BE49-F238E27FC236}">
                <a16:creationId xmlns:a16="http://schemas.microsoft.com/office/drawing/2014/main" id="{9C2C7C06-F98E-4B28-8017-3CE630D454FB}"/>
              </a:ext>
            </a:extLst>
          </p:cNvPr>
          <p:cNvSpPr>
            <a:spLocks xmlns:a="http://schemas.openxmlformats.org/drawingml/2006/main" noGrp="1"/>
          </p:cNvSpPr>
          <p:nvPr/>
        </p:nvSpPr>
        <p:spPr>
          <a:xfrm xmlns:a="http://schemas.openxmlformats.org/drawingml/2006/main">
            <a:off x="6231636" y="3099816"/>
            <a:ext cx="64008" cy="1417320"/>
          </a:xfrm>
          <a:prstGeom xmlns:a="http://schemas.openxmlformats.org/drawingml/2006/main" prst="rect">
            <a:avLst/>
          </a:prstGeom>
          <a:solidFill xmlns:a="http://schemas.openxmlformats.org/drawingml/2006/main">
            <a:srgbClr val="8DC63F"/>
          </a:solidFill>
        </p:spPr>
      </p:sp>
      <p:sp>
        <p:nvSpPr>
          <p:cNvPr id="25" name="Text 22">
            <a:extLst xmlns:a="http://schemas.openxmlformats.org/drawingml/2006/main">
              <a:ext uri="{FF2B5EF4-FFF2-40B4-BE49-F238E27FC236}">
                <a16:creationId xmlns:a16="http://schemas.microsoft.com/office/drawing/2014/main" id="{C039D97E-31DC-422F-B143-3D433813899B}"/>
              </a:ext>
            </a:extLst>
          </p:cNvPr>
          <p:cNvSpPr>
            <a:spLocks xmlns:a="http://schemas.openxmlformats.org/drawingml/2006/main" noGrp="1"/>
          </p:cNvSpPr>
          <p:nvPr/>
        </p:nvSpPr>
        <p:spPr>
          <a:xfrm xmlns:a="http://schemas.openxmlformats.org/drawingml/2006/main">
            <a:off x="6414516" y="3227832"/>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4.4</a:t>
            </a:r>
            <a:endParaRPr sz="1200"/>
          </a:p>
        </p:txBody>
      </p:sp>
      <p:sp>
        <p:nvSpPr>
          <p:cNvPr id="26" name="Text 23">
            <a:extLst xmlns:a="http://schemas.openxmlformats.org/drawingml/2006/main">
              <a:ext uri="{FF2B5EF4-FFF2-40B4-BE49-F238E27FC236}">
                <a16:creationId xmlns:a16="http://schemas.microsoft.com/office/drawing/2014/main" id="{AFAE2B41-EA71-4B37-83F0-89459A7E45B5}"/>
              </a:ext>
            </a:extLst>
          </p:cNvPr>
          <p:cNvSpPr>
            <a:spLocks xmlns:a="http://schemas.openxmlformats.org/drawingml/2006/main" noGrp="1"/>
          </p:cNvSpPr>
          <p:nvPr/>
        </p:nvSpPr>
        <p:spPr>
          <a:xfrm xmlns:a="http://schemas.openxmlformats.org/drawingml/2006/main">
            <a:off x="10725912" y="3227832"/>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LO3</a:t>
            </a:r>
            <a:endParaRPr sz="850"/>
          </a:p>
        </p:txBody>
      </p:sp>
      <p:sp>
        <p:nvSpPr>
          <p:cNvPr id="27" name="Text 24">
            <a:extLst xmlns:a="http://schemas.openxmlformats.org/drawingml/2006/main">
              <a:ext uri="{FF2B5EF4-FFF2-40B4-BE49-F238E27FC236}">
                <a16:creationId xmlns:a16="http://schemas.microsoft.com/office/drawing/2014/main" id="{29E1629C-D9E8-43F6-8233-D29F79DF35B0}"/>
              </a:ext>
            </a:extLst>
          </p:cNvPr>
          <p:cNvSpPr>
            <a:spLocks xmlns:a="http://schemas.openxmlformats.org/drawingml/2006/main" noGrp="1"/>
          </p:cNvSpPr>
          <p:nvPr/>
        </p:nvSpPr>
        <p:spPr>
          <a:xfrm xmlns:a="http://schemas.openxmlformats.org/drawingml/2006/main">
            <a:off x="6414516" y="3520440"/>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Implement invariance, directional, and golden-file model tests</a:t>
            </a:r>
            <a:endParaRPr sz="1100"/>
          </a:p>
        </p:txBody>
      </p:sp>
      <p:sp>
        <p:nvSpPr>
          <p:cNvPr id="28" name="Shape 25">
            <a:extLst xmlns:a="http://schemas.openxmlformats.org/drawingml/2006/main">
              <a:ext uri="{FF2B5EF4-FFF2-40B4-BE49-F238E27FC236}">
                <a16:creationId xmlns:a16="http://schemas.microsoft.com/office/drawing/2014/main" id="{29D0BBEA-9ED6-49E3-8018-BEAC67199AE9}"/>
              </a:ext>
            </a:extLst>
          </p:cNvPr>
          <p:cNvSpPr>
            <a:spLocks xmlns:a="http://schemas.openxmlformats.org/drawingml/2006/main" noGrp="1"/>
          </p:cNvSpPr>
          <p:nvPr/>
        </p:nvSpPr>
        <p:spPr>
          <a:xfrm xmlns:a="http://schemas.openxmlformats.org/drawingml/2006/main">
            <a:off x="502920" y="4718304"/>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29" name="Shape 26">
            <a:extLst xmlns:a="http://schemas.openxmlformats.org/drawingml/2006/main">
              <a:ext uri="{FF2B5EF4-FFF2-40B4-BE49-F238E27FC236}">
                <a16:creationId xmlns:a16="http://schemas.microsoft.com/office/drawing/2014/main" id="{8D31D0F1-D04E-45EA-A51B-433FC3519DB2}"/>
              </a:ext>
            </a:extLst>
          </p:cNvPr>
          <p:cNvSpPr>
            <a:spLocks xmlns:a="http://schemas.openxmlformats.org/drawingml/2006/main" noGrp="1"/>
          </p:cNvSpPr>
          <p:nvPr/>
        </p:nvSpPr>
        <p:spPr>
          <a:xfrm xmlns:a="http://schemas.openxmlformats.org/drawingml/2006/main">
            <a:off x="502920" y="4718304"/>
            <a:ext cx="64008" cy="1417320"/>
          </a:xfrm>
          <a:prstGeom xmlns:a="http://schemas.openxmlformats.org/drawingml/2006/main" prst="rect">
            <a:avLst/>
          </a:prstGeom>
          <a:solidFill xmlns:a="http://schemas.openxmlformats.org/drawingml/2006/main">
            <a:srgbClr val="E8503A"/>
          </a:solidFill>
        </p:spPr>
      </p:sp>
      <p:sp>
        <p:nvSpPr>
          <p:cNvPr id="30" name="Text 27">
            <a:extLst xmlns:a="http://schemas.openxmlformats.org/drawingml/2006/main">
              <a:ext uri="{FF2B5EF4-FFF2-40B4-BE49-F238E27FC236}">
                <a16:creationId xmlns:a16="http://schemas.microsoft.com/office/drawing/2014/main" id="{77813D2D-4846-49FF-8E84-92102B4D528A}"/>
              </a:ext>
            </a:extLst>
          </p:cNvPr>
          <p:cNvSpPr>
            <a:spLocks xmlns:a="http://schemas.openxmlformats.org/drawingml/2006/main" noGrp="1"/>
          </p:cNvSpPr>
          <p:nvPr/>
        </p:nvSpPr>
        <p:spPr>
          <a:xfrm xmlns:a="http://schemas.openxmlformats.org/drawingml/2006/main">
            <a:off x="685800" y="4846320"/>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4.5</a:t>
            </a:r>
            <a:endParaRPr sz="1200"/>
          </a:p>
        </p:txBody>
      </p:sp>
      <p:sp>
        <p:nvSpPr>
          <p:cNvPr id="31" name="Text 28">
            <a:extLst xmlns:a="http://schemas.openxmlformats.org/drawingml/2006/main">
              <a:ext uri="{FF2B5EF4-FFF2-40B4-BE49-F238E27FC236}">
                <a16:creationId xmlns:a16="http://schemas.microsoft.com/office/drawing/2014/main" id="{1BFE729F-969B-4A1B-9841-690CAE246673}"/>
              </a:ext>
            </a:extLst>
          </p:cNvPr>
          <p:cNvSpPr>
            <a:spLocks xmlns:a="http://schemas.openxmlformats.org/drawingml/2006/main" noGrp="1"/>
          </p:cNvSpPr>
          <p:nvPr/>
        </p:nvSpPr>
        <p:spPr>
          <a:xfrm xmlns:a="http://schemas.openxmlformats.org/drawingml/2006/main">
            <a:off x="4997196" y="4846320"/>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LO3 · LO6</a:t>
            </a:r>
            <a:endParaRPr sz="850"/>
          </a:p>
        </p:txBody>
      </p:sp>
      <p:sp>
        <p:nvSpPr>
          <p:cNvPr id="32" name="Text 29">
            <a:extLst xmlns:a="http://schemas.openxmlformats.org/drawingml/2006/main">
              <a:ext uri="{FF2B5EF4-FFF2-40B4-BE49-F238E27FC236}">
                <a16:creationId xmlns:a16="http://schemas.microsoft.com/office/drawing/2014/main" id="{092B591C-7D70-4343-918E-0E6E1FE5C2B3}"/>
              </a:ext>
            </a:extLst>
          </p:cNvPr>
          <p:cNvSpPr>
            <a:spLocks xmlns:a="http://schemas.openxmlformats.org/drawingml/2006/main" noGrp="1"/>
          </p:cNvSpPr>
          <p:nvPr/>
        </p:nvSpPr>
        <p:spPr>
          <a:xfrm xmlns:a="http://schemas.openxmlformats.org/drawingml/2006/main">
            <a:off x="685800" y="5138928"/>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Interpret coverage reports and set defensible thresholds</a:t>
            </a:r>
            <a:endParaRPr sz="1100"/>
          </a:p>
        </p:txBody>
      </p:sp>
      <p:sp>
        <p:nvSpPr>
          <p:cNvPr id="33" name="Text 30">
            <a:extLst xmlns:a="http://schemas.openxmlformats.org/drawingml/2006/main">
              <a:ext uri="{FF2B5EF4-FFF2-40B4-BE49-F238E27FC236}">
                <a16:creationId xmlns:a16="http://schemas.microsoft.com/office/drawing/2014/main" id="{7462005E-6B8F-4651-9F62-2C44DEDD439D}"/>
              </a:ext>
            </a:extLst>
          </p:cNvPr>
          <p:cNvSpPr>
            <a:spLocks xmlns:a="http://schemas.openxmlformats.org/drawingml/2006/main" noGrp="1"/>
          </p:cNvSpPr>
          <p:nvPr/>
        </p:nvSpPr>
        <p:spPr>
          <a:xfrm xmlns:a="http://schemas.openxmlformats.org/drawingml/2006/main">
            <a:off x="502920" y="6080760"/>
            <a:ext cx="11155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5F6B7A"/>
                </a:solidFill>
                <a:latin typeface="Calibri"/>
                <a:ea typeface="Calibri"/>
                <a:cs typeface="Calibri"/>
              </a:rPr>
              <a:t>Lab 4 delivers all five: a three-level suite at ≥ 80% branch coverage, green before Day 3 begins.</a:t>
            </a:r>
            <a:endParaRPr sz="1000"/>
          </a:p>
        </p:txBody>
      </p:sp>
    </p:spTree>
    <p:extLst>
      <p:ext uri="{BB962C8B-B14F-4D97-AF65-F5344CB8AC3E}">
        <p14:creationId xmlns:p14="http://schemas.microsoft.com/office/powerpoint/2010/main" val="893905813"/>
      </p:ext>
    </p:extLst>
  </p:cSld>
</p:sld>
</file>

<file path=ppt/slides/slide8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49D74D8-C9B5-42F0-B901-875F9B9BCDA7}"/>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Why testing ML code is different</a:t>
            </a:r>
            <a:endParaRPr sz="2600"/>
          </a:p>
        </p:txBody>
      </p:sp>
      <p:sp>
        <p:nvSpPr>
          <p:cNvPr id="3" name="Text 1">
            <a:extLst xmlns:a="http://schemas.openxmlformats.org/drawingml/2006/main">
              <a:ext uri="{FF2B5EF4-FFF2-40B4-BE49-F238E27FC236}">
                <a16:creationId xmlns:a16="http://schemas.microsoft.com/office/drawing/2014/main" id="{48EC855F-B195-454D-9F45-5E75B9B401FB}"/>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لماذا يختلف اختبار كود تعلم الآلة</a:t>
            </a:r>
            <a:endParaRPr sz="1300"/>
          </a:p>
        </p:txBody>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2127a1aa2b7848e4"/>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F41C5DED-6629-4BAD-9F25-9C954AF933A1}"/>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3F22468F-DDB1-408E-BD0A-608F8E463E17}"/>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4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B975599A-E6C3-4735-9887-9BB7D4B621D3}"/>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82</a:t>
            </a:r>
            <a:endParaRPr sz="850"/>
          </a:p>
        </p:txBody>
      </p:sp>
      <p:sp>
        <p:nvSpPr>
          <p:cNvPr id="8" name="Text 5">
            <a:extLst xmlns:a="http://schemas.openxmlformats.org/drawingml/2006/main">
              <a:ext uri="{FF2B5EF4-FFF2-40B4-BE49-F238E27FC236}">
                <a16:creationId xmlns:a16="http://schemas.microsoft.com/office/drawing/2014/main" id="{A7A17ADA-A5EE-4C08-89DA-27FA3D0E3575}"/>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02DA715F-3093-427B-9701-BA28A9A35512}"/>
              </a:ext>
            </a:extLst>
          </p:cNvPr>
          <p:cNvSpPr>
            <a:spLocks xmlns:a="http://schemas.openxmlformats.org/drawingml/2006/main" noGrp="1"/>
          </p:cNvSpPr>
          <p:nvPr/>
        </p:nvSpPr>
        <p:spPr>
          <a:xfrm xmlns:a="http://schemas.openxmlformats.org/drawingml/2006/main">
            <a:off x="1005840" y="14996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Wrong while running perfectly</a:t>
            </a:r>
            <a:endParaRPr sz="1350"/>
          </a:p>
        </p:txBody>
      </p:sp>
      <p:sp>
        <p:nvSpPr>
          <p:cNvPr id="10" name="Text 7">
            <a:extLst xmlns:a="http://schemas.openxmlformats.org/drawingml/2006/main">
              <a:ext uri="{FF2B5EF4-FFF2-40B4-BE49-F238E27FC236}">
                <a16:creationId xmlns:a16="http://schemas.microsoft.com/office/drawing/2014/main" id="{70920E9E-0158-4B73-AFD0-9D983C92FEDC}"/>
              </a:ext>
            </a:extLst>
          </p:cNvPr>
          <p:cNvSpPr>
            <a:spLocks xmlns:a="http://schemas.openxmlformats.org/drawingml/2006/main" noGrp="1"/>
          </p:cNvSpPr>
          <p:nvPr/>
        </p:nvSpPr>
        <p:spPr>
          <a:xfrm xmlns:a="http://schemas.openxmlformats.org/drawingml/2006/main">
            <a:off x="1005840" y="180136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200 OK, valid JSON, a plausible score — and a silently broken model. Classic tests catch broken code; only behavioural tests catch broken behaviour.</a:t>
            </a:r>
            <a:endParaRPr sz="1050"/>
          </a:p>
        </p:txBody>
      </p:sp>
      <p:sp>
        <p:nvSpPr>
          <p:cNvPr id="11" name="Text 8">
            <a:extLst xmlns:a="http://schemas.openxmlformats.org/drawingml/2006/main">
              <a:ext uri="{FF2B5EF4-FFF2-40B4-BE49-F238E27FC236}">
                <a16:creationId xmlns:a16="http://schemas.microsoft.com/office/drawing/2014/main" id="{5123DF52-19DD-4112-B5E5-CD2ACDEFE1AA}"/>
              </a:ext>
            </a:extLst>
          </p:cNvPr>
          <p:cNvSpPr>
            <a:spLocks xmlns:a="http://schemas.openxmlformats.org/drawingml/2006/main" noGrp="1"/>
          </p:cNvSpPr>
          <p:nvPr/>
        </p:nvSpPr>
        <p:spPr>
          <a:xfrm xmlns:a="http://schemas.openxmlformats.org/drawingml/2006/main">
            <a:off x="502920" y="280035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5D240E32-C6FD-4034-B748-36F77615C7B6}"/>
              </a:ext>
            </a:extLst>
          </p:cNvPr>
          <p:cNvSpPr>
            <a:spLocks xmlns:a="http://schemas.openxmlformats.org/drawingml/2006/main" noGrp="1"/>
          </p:cNvSpPr>
          <p:nvPr/>
        </p:nvSpPr>
        <p:spPr>
          <a:xfrm xmlns:a="http://schemas.openxmlformats.org/drawingml/2006/main">
            <a:off x="1005840" y="274548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Two defect classes, one suite</a:t>
            </a:r>
            <a:endParaRPr sz="1350"/>
          </a:p>
        </p:txBody>
      </p:sp>
      <p:sp>
        <p:nvSpPr>
          <p:cNvPr id="13" name="Text 10">
            <a:extLst xmlns:a="http://schemas.openxmlformats.org/drawingml/2006/main">
              <a:ext uri="{FF2B5EF4-FFF2-40B4-BE49-F238E27FC236}">
                <a16:creationId xmlns:a16="http://schemas.microsoft.com/office/drawing/2014/main" id="{0EE19D96-86FB-4203-84E6-2864AB9193D2}"/>
              </a:ext>
            </a:extLst>
          </p:cNvPr>
          <p:cNvSpPr>
            <a:spLocks xmlns:a="http://schemas.openxmlformats.org/drawingml/2006/main" noGrp="1"/>
          </p:cNvSpPr>
          <p:nvPr/>
        </p:nvSpPr>
        <p:spPr>
          <a:xfrm xmlns:a="http://schemas.openxmlformats.org/drawingml/2006/main">
            <a:off x="1005840" y="304723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Unit tests for logic, integration tests for the API surface, model-behaviour tests for the model itself — all in pytest, all runnable in CI.</a:t>
            </a:r>
            <a:endParaRPr sz="1050"/>
          </a:p>
        </p:txBody>
      </p:sp>
      <p:sp>
        <p:nvSpPr>
          <p:cNvPr id="14" name="Text 11">
            <a:extLst xmlns:a="http://schemas.openxmlformats.org/drawingml/2006/main">
              <a:ext uri="{FF2B5EF4-FFF2-40B4-BE49-F238E27FC236}">
                <a16:creationId xmlns:a16="http://schemas.microsoft.com/office/drawing/2014/main" id="{BCB49D07-9519-4FF7-AD98-CC54692FAC49}"/>
              </a:ext>
            </a:extLst>
          </p:cNvPr>
          <p:cNvSpPr>
            <a:spLocks xmlns:a="http://schemas.openxmlformats.org/drawingml/2006/main" noGrp="1"/>
          </p:cNvSpPr>
          <p:nvPr/>
        </p:nvSpPr>
        <p:spPr>
          <a:xfrm xmlns:a="http://schemas.openxmlformats.org/drawingml/2006/main">
            <a:off x="502920" y="404622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20F88DF7-9E60-4BEF-971B-50A40AF4E6C4}"/>
              </a:ext>
            </a:extLst>
          </p:cNvPr>
          <p:cNvSpPr>
            <a:spLocks xmlns:a="http://schemas.openxmlformats.org/drawingml/2006/main" noGrp="1"/>
          </p:cNvSpPr>
          <p:nvPr/>
        </p:nvSpPr>
        <p:spPr>
          <a:xfrm xmlns:a="http://schemas.openxmlformats.org/drawingml/2006/main">
            <a:off x="1005840" y="399135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Executable governance</a:t>
            </a:r>
            <a:endParaRPr sz="1350"/>
          </a:p>
        </p:txBody>
      </p:sp>
      <p:sp>
        <p:nvSpPr>
          <p:cNvPr id="16" name="Text 13">
            <a:extLst xmlns:a="http://schemas.openxmlformats.org/drawingml/2006/main">
              <a:ext uri="{FF2B5EF4-FFF2-40B4-BE49-F238E27FC236}">
                <a16:creationId xmlns:a16="http://schemas.microsoft.com/office/drawing/2014/main" id="{F7F4781D-99C9-4639-981E-C90E170B8F75}"/>
              </a:ext>
            </a:extLst>
          </p:cNvPr>
          <p:cNvSpPr>
            <a:spLocks xmlns:a="http://schemas.openxmlformats.org/drawingml/2006/main" noGrp="1"/>
          </p:cNvSpPr>
          <p:nvPr/>
        </p:nvSpPr>
        <p:spPr>
          <a:xfrm xmlns:a="http://schemas.openxmlformats.org/drawingml/2006/main">
            <a:off x="1005840" y="429310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Behavioural suites are increasingly demanded in model-risk reviews — banking model governance, health AI audits. They document what the model is supposed to do, executably.</a:t>
            </a:r>
            <a:endParaRPr sz="1050"/>
          </a:p>
        </p:txBody>
      </p:sp>
      <p:sp>
        <p:nvSpPr>
          <p:cNvPr id="17" name="Text 14">
            <a:extLst xmlns:a="http://schemas.openxmlformats.org/drawingml/2006/main">
              <a:ext uri="{FF2B5EF4-FFF2-40B4-BE49-F238E27FC236}">
                <a16:creationId xmlns:a16="http://schemas.microsoft.com/office/drawing/2014/main" id="{DA3C0AE6-D430-4B79-B2F7-08D5D0EC27F5}"/>
              </a:ext>
            </a:extLst>
          </p:cNvPr>
          <p:cNvSpPr>
            <a:spLocks xmlns:a="http://schemas.openxmlformats.org/drawingml/2006/main" noGrp="1"/>
          </p:cNvSpPr>
          <p:nvPr/>
        </p:nvSpPr>
        <p:spPr>
          <a:xfrm xmlns:a="http://schemas.openxmlformats.org/drawingml/2006/main">
            <a:off x="502920" y="5292090"/>
            <a:ext cx="329184" cy="329184"/>
          </a:xfrm>
          <a:prstGeom xmlns:a="http://schemas.openxmlformats.org/drawingml/2006/main" prst="ellipse">
            <a:avLst/>
          </a:prstGeom>
          <a:solidFill xmlns:a="http://schemas.openxmlformats.org/drawingml/2006/main">
            <a:srgbClr val="8DC63F"/>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4</a:t>
            </a:r>
            <a:endParaRPr sz="1300"/>
          </a:p>
        </p:txBody>
      </p:sp>
      <p:sp>
        <p:nvSpPr>
          <p:cNvPr id="18" name="Text 15">
            <a:extLst xmlns:a="http://schemas.openxmlformats.org/drawingml/2006/main">
              <a:ext uri="{FF2B5EF4-FFF2-40B4-BE49-F238E27FC236}">
                <a16:creationId xmlns:a16="http://schemas.microsoft.com/office/drawing/2014/main" id="{1E31BDBB-ACD0-4CD9-9303-5CE359EFEB78}"/>
              </a:ext>
            </a:extLst>
          </p:cNvPr>
          <p:cNvSpPr>
            <a:spLocks xmlns:a="http://schemas.openxmlformats.org/drawingml/2006/main" noGrp="1"/>
          </p:cNvSpPr>
          <p:nvPr/>
        </p:nvSpPr>
        <p:spPr>
          <a:xfrm xmlns:a="http://schemas.openxmlformats.org/drawingml/2006/main">
            <a:off x="1005840" y="523722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Ship daily or ship quarterly</a:t>
            </a:r>
            <a:endParaRPr sz="1350"/>
          </a:p>
        </p:txBody>
      </p:sp>
      <p:sp>
        <p:nvSpPr>
          <p:cNvPr id="19" name="Text 16">
            <a:extLst xmlns:a="http://schemas.openxmlformats.org/drawingml/2006/main">
              <a:ext uri="{FF2B5EF4-FFF2-40B4-BE49-F238E27FC236}">
                <a16:creationId xmlns:a16="http://schemas.microsoft.com/office/drawing/2014/main" id="{9D4EBC94-C596-47F1-B5EF-78D0E6125029}"/>
              </a:ext>
            </a:extLst>
          </p:cNvPr>
          <p:cNvSpPr>
            <a:spLocks xmlns:a="http://schemas.openxmlformats.org/drawingml/2006/main" noGrp="1"/>
          </p:cNvSpPr>
          <p:nvPr/>
        </p:nvSpPr>
        <p:spPr>
          <a:xfrm xmlns:a="http://schemas.openxmlformats.org/drawingml/2006/main">
            <a:off x="1005840" y="553897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Untested AI services turn every deploy into a bet. Teams with real test pyramids ship daily; teams without ship quarterly, fearfully.</a:t>
            </a:r>
            <a:endParaRPr sz="1050"/>
          </a:p>
        </p:txBody>
      </p:sp>
    </p:spTree>
    <p:extLst>
      <p:ext uri="{BB962C8B-B14F-4D97-AF65-F5344CB8AC3E}">
        <p14:creationId xmlns:p14="http://schemas.microsoft.com/office/powerpoint/2010/main" val="331759920"/>
      </p:ext>
    </p:extLst>
  </p:cSld>
</p:sld>
</file>

<file path=ppt/slides/slide8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1150941-4268-4D4E-86B5-C6AB67549327}"/>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The ML testing pyramid</a:t>
            </a:r>
            <a:endParaRPr sz="2600"/>
          </a:p>
        </p:txBody>
      </p:sp>
      <p:sp>
        <p:nvSpPr>
          <p:cNvPr id="3" name="Text 1">
            <a:extLst xmlns:a="http://schemas.openxmlformats.org/drawingml/2006/main">
              <a:ext uri="{FF2B5EF4-FFF2-40B4-BE49-F238E27FC236}">
                <a16:creationId xmlns:a16="http://schemas.microsoft.com/office/drawing/2014/main" id="{891C9B80-68EA-4E10-9254-291839793F18}"/>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هرم الاختبار لتعلم الآلة</a:t>
            </a:r>
            <a:endParaRPr sz="1300"/>
          </a:p>
        </p:txBody>
      </p:sp>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45b91cc0c52d49ee"/>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2BF3CF2D-2520-4AB0-A76F-00843198B0A1}"/>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797FB8CC-24D6-452C-9A38-F7048D720C05}"/>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4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4E570BB5-AF01-4C0C-8A90-26A88EA6ECBF}"/>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83</a:t>
            </a:r>
            <a:endParaRPr sz="850"/>
          </a:p>
        </p:txBody>
      </p:sp>
      <p:sp>
        <p:nvSpPr>
          <p:cNvPr id="8" name="Shape 5">
            <a:extLst xmlns:a="http://schemas.openxmlformats.org/drawingml/2006/main">
              <a:ext uri="{FF2B5EF4-FFF2-40B4-BE49-F238E27FC236}">
                <a16:creationId xmlns:a16="http://schemas.microsoft.com/office/drawing/2014/main" id="{CA3F1C47-1110-4CA8-9325-C5417940699C}"/>
              </a:ext>
            </a:extLst>
          </p:cNvPr>
          <p:cNvSpPr>
            <a:spLocks xmlns:a="http://schemas.openxmlformats.org/drawingml/2006/main" noGrp="1"/>
          </p:cNvSpPr>
          <p:nvPr/>
        </p:nvSpPr>
        <p:spPr>
          <a:xfrm xmlns:a="http://schemas.openxmlformats.org/drawingml/2006/main">
            <a:off x="502920" y="1600200"/>
            <a:ext cx="6949440" cy="1033272"/>
          </a:xfrm>
          <a:prstGeom xmlns:a="http://schemas.openxmlformats.org/drawingml/2006/main" prst="roundRect">
            <a:avLst>
              <a:gd name="adj" fmla="val 5310"/>
            </a:avLst>
          </a:prstGeom>
          <a:solidFill xmlns:a="http://schemas.openxmlformats.org/drawingml/2006/main">
            <a:srgbClr val="D4F1EE"/>
          </a:solidFill>
          <a:ln xmlns:a="http://schemas.openxmlformats.org/drawingml/2006/main" w="15875">
            <a:solidFill>
              <a:srgbClr val="00A79D"/>
            </a:solidFill>
            <a:prstDash val="solid"/>
          </a:ln>
        </p:spPr>
      </p:sp>
      <p:sp>
        <p:nvSpPr>
          <p:cNvPr id="9" name="Text 6">
            <a:extLst xmlns:a="http://schemas.openxmlformats.org/drawingml/2006/main">
              <a:ext uri="{FF2B5EF4-FFF2-40B4-BE49-F238E27FC236}">
                <a16:creationId xmlns:a16="http://schemas.microsoft.com/office/drawing/2014/main" id="{3703972F-496A-49BD-8962-E39FCF29AA66}"/>
              </a:ext>
            </a:extLst>
          </p:cNvPr>
          <p:cNvSpPr>
            <a:spLocks xmlns:a="http://schemas.openxmlformats.org/drawingml/2006/main" noGrp="1"/>
          </p:cNvSpPr>
          <p:nvPr/>
        </p:nvSpPr>
        <p:spPr>
          <a:xfrm xmlns:a="http://schemas.openxmlformats.org/drawingml/2006/main">
            <a:off x="731520" y="1673352"/>
            <a:ext cx="2362810" cy="8869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D2A5C"/>
                </a:solidFill>
                <a:latin typeface="Calibri"/>
                <a:ea typeface="Calibri"/>
                <a:cs typeface="Calibri"/>
              </a:rPr>
              <a:t>E2E / smoke</a:t>
            </a:r>
            <a:endParaRPr sz="1300"/>
          </a:p>
        </p:txBody>
      </p:sp>
      <p:sp>
        <p:nvSpPr>
          <p:cNvPr id="10" name="Text 7">
            <a:extLst xmlns:a="http://schemas.openxmlformats.org/drawingml/2006/main">
              <a:ext uri="{FF2B5EF4-FFF2-40B4-BE49-F238E27FC236}">
                <a16:creationId xmlns:a16="http://schemas.microsoft.com/office/drawing/2014/main" id="{545C0C93-AA28-433E-8AD6-0B522FA3E112}"/>
              </a:ext>
            </a:extLst>
          </p:cNvPr>
          <p:cNvSpPr>
            <a:spLocks xmlns:a="http://schemas.openxmlformats.org/drawingml/2006/main" noGrp="1"/>
          </p:cNvSpPr>
          <p:nvPr/>
        </p:nvSpPr>
        <p:spPr>
          <a:xfrm xmlns:a="http://schemas.openxmlformats.org/drawingml/2006/main">
            <a:off x="3004718" y="1673352"/>
            <a:ext cx="4308653" cy="8869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a:solidFill>
                  <a:srgbClr val="5F6B7A"/>
                </a:solidFill>
                <a:latin typeface="Calibri"/>
                <a:ea typeface="Calibri"/>
                <a:cs typeface="Calibri"/>
              </a:rPr>
              <a:t>Does the shipped artefact work? make smoke against the built container — s–min</a:t>
            </a:r>
            <a:endParaRPr sz="1000"/>
          </a:p>
        </p:txBody>
      </p:sp>
      <p:sp>
        <p:nvSpPr>
          <p:cNvPr id="11" name="Shape 8">
            <a:extLst xmlns:a="http://schemas.openxmlformats.org/drawingml/2006/main">
              <a:ext uri="{FF2B5EF4-FFF2-40B4-BE49-F238E27FC236}">
                <a16:creationId xmlns:a16="http://schemas.microsoft.com/office/drawing/2014/main" id="{2191006A-20E0-482C-8A1A-A31D94137F6F}"/>
              </a:ext>
            </a:extLst>
          </p:cNvPr>
          <p:cNvSpPr>
            <a:spLocks xmlns:a="http://schemas.openxmlformats.org/drawingml/2006/main" noGrp="1"/>
          </p:cNvSpPr>
          <p:nvPr/>
        </p:nvSpPr>
        <p:spPr>
          <a:xfrm xmlns:a="http://schemas.openxmlformats.org/drawingml/2006/main">
            <a:off x="502920" y="2779776"/>
            <a:ext cx="6949440" cy="1033272"/>
          </a:xfrm>
          <a:prstGeom xmlns:a="http://schemas.openxmlformats.org/drawingml/2006/main" prst="roundRect">
            <a:avLst>
              <a:gd name="adj" fmla="val 5310"/>
            </a:avLst>
          </a:prstGeom>
          <a:solidFill xmlns:a="http://schemas.openxmlformats.org/drawingml/2006/main">
            <a:srgbClr val="D9F0FA"/>
          </a:solidFill>
          <a:ln xmlns:a="http://schemas.openxmlformats.org/drawingml/2006/main" w="15875">
            <a:solidFill>
              <a:srgbClr val="29ABE2"/>
            </a:solidFill>
            <a:prstDash val="solid"/>
          </a:ln>
        </p:spPr>
      </p:sp>
      <p:sp>
        <p:nvSpPr>
          <p:cNvPr id="12" name="Text 9">
            <a:extLst xmlns:a="http://schemas.openxmlformats.org/drawingml/2006/main">
              <a:ext uri="{FF2B5EF4-FFF2-40B4-BE49-F238E27FC236}">
                <a16:creationId xmlns:a16="http://schemas.microsoft.com/office/drawing/2014/main" id="{14C163D8-593E-4B53-82B0-162BFFFCB468}"/>
              </a:ext>
            </a:extLst>
          </p:cNvPr>
          <p:cNvSpPr>
            <a:spLocks xmlns:a="http://schemas.openxmlformats.org/drawingml/2006/main" noGrp="1"/>
          </p:cNvSpPr>
          <p:nvPr/>
        </p:nvSpPr>
        <p:spPr>
          <a:xfrm xmlns:a="http://schemas.openxmlformats.org/drawingml/2006/main">
            <a:off x="731520" y="2852928"/>
            <a:ext cx="2362810" cy="8869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D2A5C"/>
                </a:solidFill>
                <a:latin typeface="Calibri"/>
                <a:ea typeface="Calibri"/>
                <a:cs typeface="Calibri"/>
              </a:rPr>
              <a:t>Model-behaviour</a:t>
            </a:r>
            <a:endParaRPr sz="1300"/>
          </a:p>
        </p:txBody>
      </p:sp>
      <p:sp>
        <p:nvSpPr>
          <p:cNvPr id="13" name="Text 10">
            <a:extLst xmlns:a="http://schemas.openxmlformats.org/drawingml/2006/main">
              <a:ext uri="{FF2B5EF4-FFF2-40B4-BE49-F238E27FC236}">
                <a16:creationId xmlns:a16="http://schemas.microsoft.com/office/drawing/2014/main" id="{1B220BEA-E51D-40AD-A38D-4AF5567F2CAF}"/>
              </a:ext>
            </a:extLst>
          </p:cNvPr>
          <p:cNvSpPr>
            <a:spLocks xmlns:a="http://schemas.openxmlformats.org/drawingml/2006/main" noGrp="1"/>
          </p:cNvSpPr>
          <p:nvPr/>
        </p:nvSpPr>
        <p:spPr>
          <a:xfrm xmlns:a="http://schemas.openxmlformats.org/drawingml/2006/main">
            <a:off x="3004718" y="2852928"/>
            <a:ext cx="4308653" cy="8869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a:solidFill>
                  <a:srgbClr val="5F6B7A"/>
                </a:solidFill>
                <a:latin typeface="Calibri"/>
                <a:ea typeface="Calibri"/>
                <a:cs typeface="Calibri"/>
              </a:rPr>
              <a:t>Does the model act as intended? Monotonicity, casing invariance, golden 5k scores — seconds</a:t>
            </a:r>
            <a:endParaRPr sz="1000"/>
          </a:p>
        </p:txBody>
      </p:sp>
      <p:sp>
        <p:nvSpPr>
          <p:cNvPr id="14" name="Shape 11">
            <a:extLst xmlns:a="http://schemas.openxmlformats.org/drawingml/2006/main">
              <a:ext uri="{FF2B5EF4-FFF2-40B4-BE49-F238E27FC236}">
                <a16:creationId xmlns:a16="http://schemas.microsoft.com/office/drawing/2014/main" id="{D429D248-359B-431C-B560-CE9BFF14BB4F}"/>
              </a:ext>
            </a:extLst>
          </p:cNvPr>
          <p:cNvSpPr>
            <a:spLocks xmlns:a="http://schemas.openxmlformats.org/drawingml/2006/main" noGrp="1"/>
          </p:cNvSpPr>
          <p:nvPr/>
        </p:nvSpPr>
        <p:spPr>
          <a:xfrm xmlns:a="http://schemas.openxmlformats.org/drawingml/2006/main">
            <a:off x="502920" y="3959352"/>
            <a:ext cx="6949440" cy="1033272"/>
          </a:xfrm>
          <a:prstGeom xmlns:a="http://schemas.openxmlformats.org/drawingml/2006/main" prst="roundRect">
            <a:avLst>
              <a:gd name="adj" fmla="val 5310"/>
            </a:avLst>
          </a:prstGeom>
          <a:solidFill xmlns:a="http://schemas.openxmlformats.org/drawingml/2006/main">
            <a:srgbClr val="FDEBD7"/>
          </a:solidFill>
          <a:ln xmlns:a="http://schemas.openxmlformats.org/drawingml/2006/main" w="15875">
            <a:solidFill>
              <a:srgbClr val="F58220"/>
            </a:solidFill>
            <a:prstDash val="solid"/>
          </a:ln>
        </p:spPr>
      </p:sp>
      <p:sp>
        <p:nvSpPr>
          <p:cNvPr id="15" name="Text 12">
            <a:extLst xmlns:a="http://schemas.openxmlformats.org/drawingml/2006/main">
              <a:ext uri="{FF2B5EF4-FFF2-40B4-BE49-F238E27FC236}">
                <a16:creationId xmlns:a16="http://schemas.microsoft.com/office/drawing/2014/main" id="{E85A1F13-D21E-4F10-9864-B8D499E53EDA}"/>
              </a:ext>
            </a:extLst>
          </p:cNvPr>
          <p:cNvSpPr>
            <a:spLocks xmlns:a="http://schemas.openxmlformats.org/drawingml/2006/main" noGrp="1"/>
          </p:cNvSpPr>
          <p:nvPr/>
        </p:nvSpPr>
        <p:spPr>
          <a:xfrm xmlns:a="http://schemas.openxmlformats.org/drawingml/2006/main">
            <a:off x="731520" y="4032504"/>
            <a:ext cx="2362810" cy="8869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D2A5C"/>
                </a:solidFill>
                <a:latin typeface="Calibri"/>
                <a:ea typeface="Calibri"/>
                <a:cs typeface="Calibri"/>
              </a:rPr>
              <a:t>Integration</a:t>
            </a:r>
            <a:endParaRPr sz="1300"/>
          </a:p>
        </p:txBody>
      </p:sp>
      <p:sp>
        <p:nvSpPr>
          <p:cNvPr id="16" name="Text 13">
            <a:extLst xmlns:a="http://schemas.openxmlformats.org/drawingml/2006/main">
              <a:ext uri="{FF2B5EF4-FFF2-40B4-BE49-F238E27FC236}">
                <a16:creationId xmlns:a16="http://schemas.microsoft.com/office/drawing/2014/main" id="{DD73E982-7FBA-4E4B-B2C3-76A7E8F1804C}"/>
              </a:ext>
            </a:extLst>
          </p:cNvPr>
          <p:cNvSpPr>
            <a:spLocks xmlns:a="http://schemas.openxmlformats.org/drawingml/2006/main" noGrp="1"/>
          </p:cNvSpPr>
          <p:nvPr/>
        </p:nvSpPr>
        <p:spPr>
          <a:xfrm xmlns:a="http://schemas.openxmlformats.org/drawingml/2006/main">
            <a:off x="3004718" y="4032504"/>
            <a:ext cx="4308653" cy="8869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a:solidFill>
                  <a:srgbClr val="5F6B7A"/>
                </a:solidFill>
                <a:latin typeface="Calibri"/>
                <a:ea typeface="Calibri"/>
                <a:cs typeface="Calibri"/>
              </a:rPr>
              <a:t>Do the pieces talk? POST /v1/predict contract, 422 corpus, readiness — ~100 ms</a:t>
            </a:r>
            <a:endParaRPr sz="1000"/>
          </a:p>
        </p:txBody>
      </p:sp>
      <p:sp>
        <p:nvSpPr>
          <p:cNvPr id="17" name="Shape 14">
            <a:extLst xmlns:a="http://schemas.openxmlformats.org/drawingml/2006/main">
              <a:ext uri="{FF2B5EF4-FFF2-40B4-BE49-F238E27FC236}">
                <a16:creationId xmlns:a16="http://schemas.microsoft.com/office/drawing/2014/main" id="{EB9A0E6D-1DFE-4CF9-9E97-FED9DDE912CC}"/>
              </a:ext>
            </a:extLst>
          </p:cNvPr>
          <p:cNvSpPr>
            <a:spLocks xmlns:a="http://schemas.openxmlformats.org/drawingml/2006/main" noGrp="1"/>
          </p:cNvSpPr>
          <p:nvPr/>
        </p:nvSpPr>
        <p:spPr>
          <a:xfrm xmlns:a="http://schemas.openxmlformats.org/drawingml/2006/main">
            <a:off x="502920" y="5138928"/>
            <a:ext cx="6949440" cy="1033272"/>
          </a:xfrm>
          <a:prstGeom xmlns:a="http://schemas.openxmlformats.org/drawingml/2006/main" prst="roundRect">
            <a:avLst>
              <a:gd name="adj" fmla="val 5310"/>
            </a:avLst>
          </a:prstGeom>
          <a:solidFill xmlns:a="http://schemas.openxmlformats.org/drawingml/2006/main">
            <a:srgbClr val="EAF4DC"/>
          </a:solidFill>
          <a:ln xmlns:a="http://schemas.openxmlformats.org/drawingml/2006/main" w="15875">
            <a:solidFill>
              <a:srgbClr val="8DC63F"/>
            </a:solidFill>
            <a:prstDash val="solid"/>
          </a:ln>
        </p:spPr>
      </p:sp>
      <p:sp>
        <p:nvSpPr>
          <p:cNvPr id="18" name="Text 15">
            <a:extLst xmlns:a="http://schemas.openxmlformats.org/drawingml/2006/main">
              <a:ext uri="{FF2B5EF4-FFF2-40B4-BE49-F238E27FC236}">
                <a16:creationId xmlns:a16="http://schemas.microsoft.com/office/drawing/2014/main" id="{64CE9F7F-A531-444A-8386-E29CD6E3CC56}"/>
              </a:ext>
            </a:extLst>
          </p:cNvPr>
          <p:cNvSpPr>
            <a:spLocks xmlns:a="http://schemas.openxmlformats.org/drawingml/2006/main" noGrp="1"/>
          </p:cNvSpPr>
          <p:nvPr/>
        </p:nvSpPr>
        <p:spPr>
          <a:xfrm xmlns:a="http://schemas.openxmlformats.org/drawingml/2006/main">
            <a:off x="731520" y="5212080"/>
            <a:ext cx="2362810" cy="8869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D2A5C"/>
                </a:solidFill>
                <a:latin typeface="Calibri"/>
                <a:ea typeface="Calibri"/>
                <a:cs typeface="Calibri"/>
              </a:rPr>
              <a:t>Unit</a:t>
            </a:r>
            <a:endParaRPr sz="1300"/>
          </a:p>
        </p:txBody>
      </p:sp>
      <p:sp>
        <p:nvSpPr>
          <p:cNvPr id="19" name="Text 16">
            <a:extLst xmlns:a="http://schemas.openxmlformats.org/drawingml/2006/main">
              <a:ext uri="{FF2B5EF4-FFF2-40B4-BE49-F238E27FC236}">
                <a16:creationId xmlns:a16="http://schemas.microsoft.com/office/drawing/2014/main" id="{5EFB61AD-2CCC-4451-A070-0120BB5D0E11}"/>
              </a:ext>
            </a:extLst>
          </p:cNvPr>
          <p:cNvSpPr>
            <a:spLocks xmlns:a="http://schemas.openxmlformats.org/drawingml/2006/main" noGrp="1"/>
          </p:cNvSpPr>
          <p:nvPr/>
        </p:nvSpPr>
        <p:spPr>
          <a:xfrm xmlns:a="http://schemas.openxmlformats.org/drawingml/2006/main">
            <a:off x="3004718" y="5212080"/>
            <a:ext cx="4308653" cy="8869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a:solidFill>
                  <a:srgbClr val="5F6B7A"/>
                </a:solidFill>
                <a:latin typeface="Calibri"/>
                <a:ea typeface="Calibri"/>
                <a:cs typeface="Calibri"/>
              </a:rPr>
              <a:t>Is my logic right? decide() bands, to_features(), schema validators — ms</a:t>
            </a:r>
            <a:endParaRPr sz="1000"/>
          </a:p>
        </p:txBody>
      </p:sp>
      <p:sp>
        <p:nvSpPr>
          <p:cNvPr id="20" name="Shape 17">
            <a:extLst xmlns:a="http://schemas.openxmlformats.org/drawingml/2006/main">
              <a:ext uri="{FF2B5EF4-FFF2-40B4-BE49-F238E27FC236}">
                <a16:creationId xmlns:a16="http://schemas.microsoft.com/office/drawing/2014/main" id="{2D7A6F2C-FACB-4B84-952E-845CCD2D5227}"/>
              </a:ext>
            </a:extLst>
          </p:cNvPr>
          <p:cNvSpPr>
            <a:spLocks xmlns:a="http://schemas.openxmlformats.org/drawingml/2006/main" noGrp="1"/>
          </p:cNvSpPr>
          <p:nvPr/>
        </p:nvSpPr>
        <p:spPr>
          <a:xfrm xmlns:a="http://schemas.openxmlformats.org/drawingml/2006/main">
            <a:off x="7772400" y="1600200"/>
            <a:ext cx="3913632" cy="4572000"/>
          </a:xfrm>
          <a:prstGeom xmlns:a="http://schemas.openxmlformats.org/drawingml/2006/main" prst="roundRect">
            <a:avLst>
              <a:gd name="adj" fmla="val 1636"/>
            </a:avLst>
          </a:prstGeom>
          <a:solidFill xmlns:a="http://schemas.openxmlformats.org/drawingml/2006/main">
            <a:srgbClr val="1D2A5C"/>
          </a:solidFill>
        </p:spPr>
      </p:sp>
      <p:sp>
        <p:nvSpPr>
          <p:cNvPr id="21" name="Text 18">
            <a:extLst xmlns:a="http://schemas.openxmlformats.org/drawingml/2006/main">
              <a:ext uri="{FF2B5EF4-FFF2-40B4-BE49-F238E27FC236}">
                <a16:creationId xmlns:a16="http://schemas.microsoft.com/office/drawing/2014/main" id="{56CA9C83-8942-46BA-B4A6-44C08C147DA8}"/>
              </a:ext>
            </a:extLst>
          </p:cNvPr>
          <p:cNvSpPr>
            <a:spLocks xmlns:a="http://schemas.openxmlformats.org/drawingml/2006/main" noGrp="1"/>
          </p:cNvSpPr>
          <p:nvPr/>
        </p:nvSpPr>
        <p:spPr>
          <a:xfrm xmlns:a="http://schemas.openxmlformats.org/drawingml/2006/main">
            <a:off x="7973568" y="1783080"/>
            <a:ext cx="35204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00A79D"/>
                </a:solidFill>
                <a:latin typeface="Calibri"/>
                <a:ea typeface="Calibri"/>
                <a:cs typeface="Calibri"/>
              </a:rPr>
              <a:t>Placement rules</a:t>
            </a:r>
            <a:endParaRPr sz="1300"/>
          </a:p>
        </p:txBody>
      </p:sp>
      <p:sp>
        <p:nvSpPr>
          <p:cNvPr id="22" name="Text 19">
            <a:extLst xmlns:a="http://schemas.openxmlformats.org/drawingml/2006/main">
              <a:ext uri="{FF2B5EF4-FFF2-40B4-BE49-F238E27FC236}">
                <a16:creationId xmlns:a16="http://schemas.microsoft.com/office/drawing/2014/main" id="{22D7100A-7CB1-4805-B716-BAA255116069}"/>
              </a:ext>
            </a:extLst>
          </p:cNvPr>
          <p:cNvSpPr>
            <a:spLocks xmlns:a="http://schemas.openxmlformats.org/drawingml/2006/main" noGrp="1"/>
          </p:cNvSpPr>
          <p:nvPr/>
        </p:nvSpPr>
        <p:spPr>
          <a:xfrm xmlns:a="http://schemas.openxmlformats.org/drawingml/2006/main">
            <a:off x="7973568" y="2194560"/>
            <a:ext cx="3520440" cy="3749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1500"/>
              </a:lnSpc>
              <a:buNone/>
            </a:pPr>
            <a:r>
              <a:rPr sz="1050">
                <a:solidFill>
                  <a:srgbClr val="D9E4F5"/>
                </a:solidFill>
                <a:latin typeface="Calibri"/>
                <a:ea typeface="Calibri"/>
                <a:cs typeface="Calibri"/>
              </a:rPr>
              <a:t>Test a thing at the LOWEST level that can catch its failure. The per-commit suite must finish in minutes — heavyweight retraining evaluations belong to scheduled jobs, not the commit gate. And do not unit-test sklearn's math, pydantic's validation engine, or exact float equality on probabilities — use pytest.approx and golden files with tolerances.</a:t>
            </a:r>
            <a:endParaRPr sz="1050"/>
          </a:p>
        </p:txBody>
      </p:sp>
    </p:spTree>
    <p:extLst>
      <p:ext uri="{BB962C8B-B14F-4D97-AF65-F5344CB8AC3E}">
        <p14:creationId xmlns:p14="http://schemas.microsoft.com/office/powerpoint/2010/main" val="1742605697"/>
      </p:ext>
    </p:extLst>
  </p:cSld>
</p:sld>
</file>

<file path=ppt/slides/slide8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D06C997-90C8-4A3C-9D0B-EC152B55917B}"/>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Unit vs integration vs model-behaviour</a:t>
            </a:r>
            <a:endParaRPr sz="2600"/>
          </a:p>
        </p:txBody>
      </p:sp>
      <p:sp>
        <p:nvSpPr>
          <p:cNvPr id="3" name="Text 1">
            <a:extLst xmlns:a="http://schemas.openxmlformats.org/drawingml/2006/main">
              <a:ext uri="{FF2B5EF4-FFF2-40B4-BE49-F238E27FC236}">
                <a16:creationId xmlns:a16="http://schemas.microsoft.com/office/drawing/2014/main" id="{4FE1AF4E-E717-4F3F-9734-4B286ECA7987}"/>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اختبارات الوحدة والتكامل وسلوك النموذج</a:t>
            </a:r>
            <a:endParaRPr sz="1300"/>
          </a:p>
        </p:txBody>
      </p:sp>
      <p:pic>
        <p:nvPicPr>
          <p:cNvPr id="14" name="Image 0"/>
          <p:cNvPicPr>
            <a:picLocks xmlns:a="http://schemas.openxmlformats.org/drawingml/2006/main" noChangeAspect="1"/>
          </p:cNvPicPr>
          <p:nvPr/>
        </p:nvPicPr>
        <p:blipFill>
          <a:blip xmlns:r="http://schemas.openxmlformats.org/officeDocument/2006/relationships" xmlns:a="http://schemas.openxmlformats.org/drawingml/2006/main" r:embed="R02b33e4ba9c843e8"/>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CC7E77C7-8F2A-4B80-9854-D7C5C3A11F19}"/>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27F5EF55-D173-49E5-A490-1640A093AFAB}"/>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4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0A3A833F-BF0A-4027-9238-C8D0666501BA}"/>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84</a:t>
            </a:r>
            <a:endParaRPr sz="850"/>
          </a:p>
        </p:txBody>
      </p:sp>
      <p:graphicFrame>
        <p:nvGraphicFramePr>
          <p:cNvPr id="18" name="Table 0"/>
          <p:cNvGraphicFramePr/>
          <p:nvPr/>
        </p:nvGraphicFramePr>
        <p:xfrm>
          <a:off xmlns:a="http://schemas.openxmlformats.org/drawingml/2006/main" x="502920" y="1554480"/>
          <a:ext xmlns:a="http://schemas.openxmlformats.org/drawingml/2006/main" cx="11183112" cy="914400"/>
        </p:xfrm>
        <a:graphic xmlns:a="http://schemas.openxmlformats.org/drawingml/2006/main">
          <a:graphicData uri="http://schemas.openxmlformats.org/drawingml/2006/table">
            <a:tbl>
              <a:tblPr/>
              <a:tblGrid>
                <a:gridCol w="1645920"/>
                <a:gridCol w="2834640"/>
                <a:gridCol w="1188720"/>
                <a:gridCol w="5486400"/>
              </a:tblGrid>
              <a:tr h="384048">
                <a:tc>
                  <a:txBody>
                    <a:bodyPr/>
                    <a:lstStyle/>
                    <a:p>
                      <a:pPr marL="0" indent="0">
                        <a:buNone/>
                      </a:pPr>
                      <a:r>
                        <a:rPr sz="1100" b="1">
                          <a:solidFill>
                            <a:srgbClr val="FFFFFF"/>
                          </a:solidFill>
                          <a:latin typeface="Calibri"/>
                          <a:ea typeface="Calibri"/>
                          <a:cs typeface="Calibri"/>
                        </a:rPr>
                        <a:t>Level</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c>
                  <a:txBody>
                    <a:bodyPr/>
                    <a:lstStyle/>
                    <a:p>
                      <a:pPr marL="0" indent="0">
                        <a:buNone/>
                      </a:pPr>
                      <a:r>
                        <a:rPr sz="1100" b="1">
                          <a:solidFill>
                            <a:srgbClr val="FFFFFF"/>
                          </a:solidFill>
                          <a:latin typeface="Calibri"/>
                          <a:ea typeface="Calibri"/>
                          <a:cs typeface="Calibri"/>
                        </a:rPr>
                        <a:t>Question answered</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c>
                  <a:txBody>
                    <a:bodyPr/>
                    <a:lstStyle/>
                    <a:p>
                      <a:pPr marL="0" indent="0">
                        <a:buNone/>
                      </a:pPr>
                      <a:r>
                        <a:rPr sz="1100" b="1">
                          <a:solidFill>
                            <a:srgbClr val="FFFFFF"/>
                          </a:solidFill>
                          <a:latin typeface="Calibri"/>
                          <a:ea typeface="Calibri"/>
                          <a:cs typeface="Calibri"/>
                        </a:rPr>
                        <a:t>Speed</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c>
                  <a:txBody>
                    <a:bodyPr/>
                    <a:lstStyle/>
                    <a:p>
                      <a:pPr marL="0" indent="0">
                        <a:buNone/>
                      </a:pPr>
                      <a:r>
                        <a:rPr sz="1100" b="1">
                          <a:solidFill>
                            <a:srgbClr val="FFFFFF"/>
                          </a:solidFill>
                          <a:latin typeface="Calibri"/>
                          <a:ea typeface="Calibri"/>
                          <a:cs typeface="Calibri"/>
                        </a:rPr>
                        <a:t>Fraud-service examples</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r>
              <a:tr h="384048">
                <a:tc>
                  <a:txBody>
                    <a:bodyPr/>
                    <a:lstStyle/>
                    <a:p>
                      <a:pPr marL="0" indent="0">
                        <a:buNone/>
                      </a:pPr>
                      <a:r>
                        <a:rPr sz="1050" b="1">
                          <a:solidFill>
                            <a:srgbClr val="1D2A5C"/>
                          </a:solidFill>
                          <a:latin typeface="Calibri"/>
                          <a:ea typeface="Calibri"/>
                          <a:cs typeface="Calibri"/>
                        </a:rPr>
                        <a:t>Unit</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Is my logic right?</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ms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decide() policy bands · to_features() output · schema validators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r>
              <a:tr h="384048">
                <a:tc>
                  <a:txBody>
                    <a:bodyPr/>
                    <a:lstStyle/>
                    <a:p>
                      <a:pPr marL="0" indent="0">
                        <a:buNone/>
                      </a:pPr>
                      <a:r>
                        <a:rPr sz="1050" b="1">
                          <a:solidFill>
                            <a:srgbClr val="1D2A5C"/>
                          </a:solidFill>
                          <a:latin typeface="Calibri"/>
                          <a:ea typeface="Calibri"/>
                          <a:cs typeface="Calibri"/>
                        </a:rPr>
                        <a:t>Integration</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Do the pieces talk correctly?</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~100 ms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predict returns contract JSON · 422 corpus · readiness behaviour</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r>
              <a:tr h="384048">
                <a:tc>
                  <a:txBody>
                    <a:bodyPr/>
                    <a:lstStyle/>
                    <a:p>
                      <a:pPr marL="0" indent="0">
                        <a:buNone/>
                      </a:pPr>
                      <a:r>
                        <a:rPr sz="1050" b="1">
                          <a:solidFill>
                            <a:srgbClr val="1D2A5C"/>
                          </a:solidFill>
                          <a:latin typeface="Calibri"/>
                          <a:ea typeface="Calibri"/>
                          <a:cs typeface="Calibri"/>
                        </a:rPr>
                        <a:t>Model-behaviour</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Does the model act as intended?</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amount monotonicity · casing invariance · golden 5k scores · AUC floor</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r>
              <a:tr h="384048">
                <a:tc>
                  <a:txBody>
                    <a:bodyPr/>
                    <a:lstStyle/>
                    <a:p>
                      <a:pPr marL="0" indent="0">
                        <a:buNone/>
                      </a:pPr>
                      <a:r>
                        <a:rPr sz="1050" b="1">
                          <a:solidFill>
                            <a:srgbClr val="1D2A5C"/>
                          </a:solidFill>
                          <a:latin typeface="Calibri"/>
                          <a:ea typeface="Calibri"/>
                          <a:cs typeface="Calibri"/>
                        </a:rPr>
                        <a:t>E2E / smoke</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Does the shipped artefact work?</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s–min</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make smoke against the built container (Modules 3 &amp; 5)</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r>
            </a:tbl>
          </a:graphicData>
        </a:graphic>
      </p:graphicFrame>
      <p:sp>
        <p:nvSpPr>
          <p:cNvPr id="9" name="Text 5">
            <a:extLst xmlns:a="http://schemas.openxmlformats.org/drawingml/2006/main">
              <a:ext uri="{FF2B5EF4-FFF2-40B4-BE49-F238E27FC236}">
                <a16:creationId xmlns:a16="http://schemas.microsoft.com/office/drawing/2014/main" id="{47CD4D4F-9451-4607-A64D-2676060C45DC}"/>
              </a:ext>
            </a:extLst>
          </p:cNvPr>
          <p:cNvSpPr>
            <a:spLocks xmlns:a="http://schemas.openxmlformats.org/drawingml/2006/main" noGrp="1"/>
          </p:cNvSpPr>
          <p:nvPr/>
        </p:nvSpPr>
        <p:spPr>
          <a:xfrm xmlns:a="http://schemas.openxmlformats.org/drawingml/2006/main">
            <a:off x="502920" y="6035040"/>
            <a:ext cx="11155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5F6B7A"/>
                </a:solidFill>
                <a:latin typeface="Calibri"/>
                <a:ea typeface="Calibri"/>
                <a:cs typeface="Calibri"/>
              </a:rPr>
              <a:t>Two placement rules: test at the lowest level that catches the failure; the per-commit suite finishes in minutes.</a:t>
            </a:r>
            <a:endParaRPr sz="950"/>
          </a:p>
        </p:txBody>
      </p:sp>
    </p:spTree>
    <p:extLst>
      <p:ext uri="{BB962C8B-B14F-4D97-AF65-F5344CB8AC3E}">
        <p14:creationId xmlns:p14="http://schemas.microsoft.com/office/powerpoint/2010/main" val="1808175934"/>
      </p:ext>
    </p:extLst>
  </p:cSld>
</p:sld>
</file>

<file path=ppt/slides/slide8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AEB1984-138E-489D-B7BA-5FCF4367949F}"/>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Unit testing the layers — the DI payoff</a:t>
            </a:r>
            <a:endParaRPr sz="2600"/>
          </a:p>
        </p:txBody>
      </p:sp>
      <p:sp>
        <p:nvSpPr>
          <p:cNvPr id="3" name="Text 1">
            <a:extLst xmlns:a="http://schemas.openxmlformats.org/drawingml/2006/main">
              <a:ext uri="{FF2B5EF4-FFF2-40B4-BE49-F238E27FC236}">
                <a16:creationId xmlns:a16="http://schemas.microsoft.com/office/drawing/2014/main" id="{53B238B5-59E8-4001-AB8A-ABE8071851C5}"/>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اختبار الوحدات للطبقات — ثمرة حقن التبعيات</a:t>
            </a:r>
            <a:endParaRPr sz="1300"/>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794ab2909fb94f83"/>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6EC8F3BA-861F-4E62-BFA3-0C0DB94EB6AC}"/>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814DF531-E3B5-47EA-8BBE-42B6036A3292}"/>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4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180914CC-1471-4979-95D4-CFEB0BF6D739}"/>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85</a:t>
            </a:r>
            <a:endParaRPr sz="850"/>
          </a:p>
        </p:txBody>
      </p:sp>
      <p:sp>
        <p:nvSpPr>
          <p:cNvPr id="8" name="Text 5">
            <a:extLst xmlns:a="http://schemas.openxmlformats.org/drawingml/2006/main">
              <a:ext uri="{FF2B5EF4-FFF2-40B4-BE49-F238E27FC236}">
                <a16:creationId xmlns:a16="http://schemas.microsoft.com/office/drawing/2014/main" id="{7C9BEB67-2367-4A48-BD5F-52A89B4C510E}"/>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EC09DDC1-E494-45DE-A578-955932D2D515}"/>
              </a:ext>
            </a:extLst>
          </p:cNvPr>
          <p:cNvSpPr>
            <a:spLocks xmlns:a="http://schemas.openxmlformats.org/drawingml/2006/main" noGrp="1"/>
          </p:cNvSpPr>
          <p:nvPr/>
        </p:nvSpPr>
        <p:spPr>
          <a:xfrm xmlns:a="http://schemas.openxmlformats.org/drawingml/2006/main">
            <a:off x="1005840" y="14996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ConstantModel(p) — a ten-line double</a:t>
            </a:r>
            <a:endParaRPr sz="1350"/>
          </a:p>
        </p:txBody>
      </p:sp>
      <p:sp>
        <p:nvSpPr>
          <p:cNvPr id="10" name="Text 7">
            <a:extLst xmlns:a="http://schemas.openxmlformats.org/drawingml/2006/main">
              <a:ext uri="{FF2B5EF4-FFF2-40B4-BE49-F238E27FC236}">
                <a16:creationId xmlns:a16="http://schemas.microsoft.com/office/drawing/2014/main" id="{45FC599F-F6FA-4B38-BB34-E62BA09D9E31}"/>
              </a:ext>
            </a:extLst>
          </p:cNvPr>
          <p:cNvSpPr>
            <a:spLocks xmlns:a="http://schemas.openxmlformats.org/drawingml/2006/main" noGrp="1"/>
          </p:cNvSpPr>
          <p:nvPr/>
        </p:nvSpPr>
        <p:spPr>
          <a:xfrm xmlns:a="http://schemas.openxmlformats.org/drawingml/2006/main">
            <a:off x="1005840" y="18013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Because FraudScorer depends on a Model protocol, a constant-probability double drives every policy branch without touching sklearn.</a:t>
            </a:r>
            <a:endParaRPr sz="1050"/>
          </a:p>
        </p:txBody>
      </p:sp>
      <p:sp>
        <p:nvSpPr>
          <p:cNvPr id="11" name="Text 8">
            <a:extLst xmlns:a="http://schemas.openxmlformats.org/drawingml/2006/main">
              <a:ext uri="{FF2B5EF4-FFF2-40B4-BE49-F238E27FC236}">
                <a16:creationId xmlns:a16="http://schemas.microsoft.com/office/drawing/2014/main" id="{17DA99F7-6AE4-4DA6-A818-5FC001F51C22}"/>
              </a:ext>
            </a:extLst>
          </p:cNvPr>
          <p:cNvSpPr>
            <a:spLocks xmlns:a="http://schemas.openxmlformats.org/drawingml/2006/main" noGrp="1"/>
          </p:cNvSpPr>
          <p:nvPr/>
        </p:nvSpPr>
        <p:spPr>
          <a:xfrm xmlns:a="http://schemas.openxmlformats.org/drawingml/2006/main">
            <a:off x="502920" y="292608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7FA9D9DD-31F8-4DC7-B9C6-9C80F44089F3}"/>
              </a:ext>
            </a:extLst>
          </p:cNvPr>
          <p:cNvSpPr>
            <a:spLocks xmlns:a="http://schemas.openxmlformats.org/drawingml/2006/main" noGrp="1"/>
          </p:cNvSpPr>
          <p:nvPr/>
        </p:nvSpPr>
        <p:spPr>
          <a:xfrm xmlns:a="http://schemas.openxmlformats.org/drawingml/2006/main">
            <a:off x="1005840" y="28712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Property-style tests on pure domain</a:t>
            </a:r>
            <a:endParaRPr sz="1350"/>
          </a:p>
        </p:txBody>
      </p:sp>
      <p:sp>
        <p:nvSpPr>
          <p:cNvPr id="13" name="Text 10">
            <a:extLst xmlns:a="http://schemas.openxmlformats.org/drawingml/2006/main">
              <a:ext uri="{FF2B5EF4-FFF2-40B4-BE49-F238E27FC236}">
                <a16:creationId xmlns:a16="http://schemas.microsoft.com/office/drawing/2014/main" id="{6401F5D4-72EB-417F-8496-91EF1253B665}"/>
              </a:ext>
            </a:extLst>
          </p:cNvPr>
          <p:cNvSpPr>
            <a:spLocks xmlns:a="http://schemas.openxmlformats.org/drawingml/2006/main" noGrp="1"/>
          </p:cNvSpPr>
          <p:nvPr/>
        </p:nvSpPr>
        <p:spPr>
          <a:xfrm xmlns:a="http://schemas.openxmlformats.org/drawingml/2006/main">
            <a:off x="1005840" y="31729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Every probability in [0,1] maps to exactly one decision; boundaries are inclusive as specified. Minutes to write — and they document the business rules.</a:t>
            </a:r>
            <a:endParaRPr sz="1050"/>
          </a:p>
        </p:txBody>
      </p:sp>
      <p:sp>
        <p:nvSpPr>
          <p:cNvPr id="14" name="Text 11">
            <a:extLst xmlns:a="http://schemas.openxmlformats.org/drawingml/2006/main">
              <a:ext uri="{FF2B5EF4-FFF2-40B4-BE49-F238E27FC236}">
                <a16:creationId xmlns:a16="http://schemas.microsoft.com/office/drawing/2014/main" id="{13E349C9-D083-4F54-A1B1-11D38679CD58}"/>
              </a:ext>
            </a:extLst>
          </p:cNvPr>
          <p:cNvSpPr>
            <a:spLocks xmlns:a="http://schemas.openxmlformats.org/drawingml/2006/main" noGrp="1"/>
          </p:cNvSpPr>
          <p:nvPr/>
        </p:nvSpPr>
        <p:spPr>
          <a:xfrm xmlns:a="http://schemas.openxmlformats.org/drawingml/2006/main">
            <a:off x="502920" y="429768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2A87D79A-599C-4D0C-B7CC-A140A1179B33}"/>
              </a:ext>
            </a:extLst>
          </p:cNvPr>
          <p:cNvSpPr>
            <a:spLocks xmlns:a="http://schemas.openxmlformats.org/drawingml/2006/main" noGrp="1"/>
          </p:cNvSpPr>
          <p:nvPr/>
        </p:nvSpPr>
        <p:spPr>
          <a:xfrm xmlns:a="http://schemas.openxmlformats.org/drawingml/2006/main">
            <a:off x="1005840" y="42428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Table-driven feature tests</a:t>
            </a:r>
            <a:endParaRPr sz="1350"/>
          </a:p>
        </p:txBody>
      </p:sp>
      <p:sp>
        <p:nvSpPr>
          <p:cNvPr id="16" name="Text 13">
            <a:extLst xmlns:a="http://schemas.openxmlformats.org/drawingml/2006/main">
              <a:ext uri="{FF2B5EF4-FFF2-40B4-BE49-F238E27FC236}">
                <a16:creationId xmlns:a16="http://schemas.microsoft.com/office/drawing/2014/main" id="{2658A851-8BFE-4F55-BDF1-2CFAED0AC5ED}"/>
              </a:ext>
            </a:extLst>
          </p:cNvPr>
          <p:cNvSpPr>
            <a:spLocks xmlns:a="http://schemas.openxmlformats.org/drawingml/2006/main" noGrp="1"/>
          </p:cNvSpPr>
          <p:nvPr/>
        </p:nvSpPr>
        <p:spPr>
          <a:xfrm xmlns:a="http://schemas.openxmlformats.org/drawingml/2006/main">
            <a:off x="1005840" y="45445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Input transaction → expected feature dict, including the nasty cases: midnight hours, Arabic merchant strings, amount = 0.01.</a:t>
            </a:r>
            <a:endParaRPr sz="1050"/>
          </a:p>
        </p:txBody>
      </p:sp>
      <p:sp>
        <p:nvSpPr>
          <p:cNvPr id="17" name="Shape 14">
            <a:extLst xmlns:a="http://schemas.openxmlformats.org/drawingml/2006/main">
              <a:ext uri="{FF2B5EF4-FFF2-40B4-BE49-F238E27FC236}">
                <a16:creationId xmlns:a16="http://schemas.microsoft.com/office/drawing/2014/main" id="{4BC31377-A780-4A53-881A-5AD399702C0C}"/>
              </a:ext>
            </a:extLst>
          </p:cNvPr>
          <p:cNvSpPr>
            <a:spLocks xmlns:a="http://schemas.openxmlformats.org/drawingml/2006/main" noGrp="1"/>
          </p:cNvSpPr>
          <p:nvPr/>
        </p:nvSpPr>
        <p:spPr>
          <a:xfrm xmlns:a="http://schemas.openxmlformats.org/drawingml/2006/main">
            <a:off x="6355080" y="1481328"/>
            <a:ext cx="5330952" cy="4663440"/>
          </a:xfrm>
          <a:prstGeom xmlns:a="http://schemas.openxmlformats.org/drawingml/2006/main" prst="roundRect">
            <a:avLst>
              <a:gd name="adj" fmla="val 1373"/>
            </a:avLst>
          </a:prstGeom>
          <a:solidFill xmlns:a="http://schemas.openxmlformats.org/drawingml/2006/main">
            <a:srgbClr val="EEF3FB"/>
          </a:solidFill>
          <a:ln xmlns:a="http://schemas.openxmlformats.org/drawingml/2006/main" w="9525">
            <a:solidFill>
              <a:srgbClr val="D9E4F5"/>
            </a:solidFill>
            <a:prstDash val="solid"/>
          </a:ln>
        </p:spPr>
      </p:sp>
      <p:sp>
        <p:nvSpPr>
          <p:cNvPr id="18" name="Text 15">
            <a:extLst xmlns:a="http://schemas.openxmlformats.org/drawingml/2006/main">
              <a:ext uri="{FF2B5EF4-FFF2-40B4-BE49-F238E27FC236}">
                <a16:creationId xmlns:a16="http://schemas.microsoft.com/office/drawing/2014/main" id="{2830372A-7C6F-459C-AB39-C12C77D040B3}"/>
              </a:ext>
            </a:extLst>
          </p:cNvPr>
          <p:cNvSpPr>
            <a:spLocks xmlns:a="http://schemas.openxmlformats.org/drawingml/2006/main" noGrp="1"/>
          </p:cNvSpPr>
          <p:nvPr/>
        </p:nvSpPr>
        <p:spPr>
          <a:xfrm xmlns:a="http://schemas.openxmlformats.org/drawingml/2006/main">
            <a:off x="6556248" y="1645920"/>
            <a:ext cx="492861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D2A5C"/>
                </a:solidFill>
                <a:latin typeface="Calibri"/>
                <a:ea typeface="Calibri"/>
                <a:cs typeface="Calibri"/>
              </a:rPr>
              <a:t>What not to unit test</a:t>
            </a:r>
            <a:endParaRPr sz="1300"/>
          </a:p>
        </p:txBody>
      </p:sp>
      <p:sp>
        <p:nvSpPr>
          <p:cNvPr id="19" name="Shape 16">
            <a:extLst xmlns:a="http://schemas.openxmlformats.org/drawingml/2006/main">
              <a:ext uri="{FF2B5EF4-FFF2-40B4-BE49-F238E27FC236}">
                <a16:creationId xmlns:a16="http://schemas.microsoft.com/office/drawing/2014/main" id="{4963626B-E5AE-4574-BBE7-9C71DB4F45F1}"/>
              </a:ext>
            </a:extLst>
          </p:cNvPr>
          <p:cNvSpPr>
            <a:spLocks xmlns:a="http://schemas.openxmlformats.org/drawingml/2006/main" noGrp="1"/>
          </p:cNvSpPr>
          <p:nvPr/>
        </p:nvSpPr>
        <p:spPr>
          <a:xfrm xmlns:a="http://schemas.openxmlformats.org/drawingml/2006/main" rot="2700000">
            <a:off x="6556248" y="2130552"/>
            <a:ext cx="128016" cy="128016"/>
          </a:xfrm>
          <a:prstGeom xmlns:a="http://schemas.openxmlformats.org/drawingml/2006/main" prst="rect">
            <a:avLst/>
          </a:prstGeom>
          <a:solidFill xmlns:a="http://schemas.openxmlformats.org/drawingml/2006/main">
            <a:srgbClr val="00A79D"/>
          </a:solidFill>
        </p:spPr>
      </p:sp>
      <p:sp>
        <p:nvSpPr>
          <p:cNvPr id="20" name="Text 17">
            <a:extLst xmlns:a="http://schemas.openxmlformats.org/drawingml/2006/main">
              <a:ext uri="{FF2B5EF4-FFF2-40B4-BE49-F238E27FC236}">
                <a16:creationId xmlns:a16="http://schemas.microsoft.com/office/drawing/2014/main" id="{DC21E70C-9A71-45AB-B3F3-5143C222D6D9}"/>
              </a:ext>
            </a:extLst>
          </p:cNvPr>
          <p:cNvSpPr>
            <a:spLocks xmlns:a="http://schemas.openxmlformats.org/drawingml/2006/main" noGrp="1"/>
          </p:cNvSpPr>
          <p:nvPr/>
        </p:nvSpPr>
        <p:spPr>
          <a:xfrm xmlns:a="http://schemas.openxmlformats.org/drawingml/2006/main">
            <a:off x="6812280" y="2039112"/>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sklearn's math</a:t>
            </a:r>
            <a:endParaRPr sz="1100"/>
          </a:p>
        </p:txBody>
      </p:sp>
      <p:sp>
        <p:nvSpPr>
          <p:cNvPr id="21" name="Text 18">
            <a:extLst xmlns:a="http://schemas.openxmlformats.org/drawingml/2006/main">
              <a:ext uri="{FF2B5EF4-FFF2-40B4-BE49-F238E27FC236}">
                <a16:creationId xmlns:a16="http://schemas.microsoft.com/office/drawing/2014/main" id="{A454C106-5087-4D6F-9F33-EB882E6D6024}"/>
              </a:ext>
            </a:extLst>
          </p:cNvPr>
          <p:cNvSpPr>
            <a:spLocks xmlns:a="http://schemas.openxmlformats.org/drawingml/2006/main" noGrp="1"/>
          </p:cNvSpPr>
          <p:nvPr/>
        </p:nvSpPr>
        <p:spPr>
          <a:xfrm xmlns:a="http://schemas.openxmlformats.org/drawingml/2006/main">
            <a:off x="6812280" y="2304288"/>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the framework is not your code</a:t>
            </a:r>
            <a:endParaRPr sz="950"/>
          </a:p>
        </p:txBody>
      </p:sp>
      <p:sp>
        <p:nvSpPr>
          <p:cNvPr id="22" name="Shape 19">
            <a:extLst xmlns:a="http://schemas.openxmlformats.org/drawingml/2006/main">
              <a:ext uri="{FF2B5EF4-FFF2-40B4-BE49-F238E27FC236}">
                <a16:creationId xmlns:a16="http://schemas.microsoft.com/office/drawing/2014/main" id="{78A87630-4B05-4401-A5A6-65AE423CE83C}"/>
              </a:ext>
            </a:extLst>
          </p:cNvPr>
          <p:cNvSpPr>
            <a:spLocks xmlns:a="http://schemas.openxmlformats.org/drawingml/2006/main" noGrp="1"/>
          </p:cNvSpPr>
          <p:nvPr/>
        </p:nvSpPr>
        <p:spPr>
          <a:xfrm xmlns:a="http://schemas.openxmlformats.org/drawingml/2006/main" rot="2700000">
            <a:off x="6556248" y="3441192"/>
            <a:ext cx="128016" cy="128016"/>
          </a:xfrm>
          <a:prstGeom xmlns:a="http://schemas.openxmlformats.org/drawingml/2006/main" prst="rect">
            <a:avLst/>
          </a:prstGeom>
          <a:solidFill xmlns:a="http://schemas.openxmlformats.org/drawingml/2006/main">
            <a:srgbClr val="29ABE2"/>
          </a:solidFill>
        </p:spPr>
      </p:sp>
      <p:sp>
        <p:nvSpPr>
          <p:cNvPr id="23" name="Text 20">
            <a:extLst xmlns:a="http://schemas.openxmlformats.org/drawingml/2006/main">
              <a:ext uri="{FF2B5EF4-FFF2-40B4-BE49-F238E27FC236}">
                <a16:creationId xmlns:a16="http://schemas.microsoft.com/office/drawing/2014/main" id="{6D0AAA53-E2F1-46D2-80E0-661D3254F955}"/>
              </a:ext>
            </a:extLst>
          </p:cNvPr>
          <p:cNvSpPr>
            <a:spLocks xmlns:a="http://schemas.openxmlformats.org/drawingml/2006/main" noGrp="1"/>
          </p:cNvSpPr>
          <p:nvPr/>
        </p:nvSpPr>
        <p:spPr>
          <a:xfrm xmlns:a="http://schemas.openxmlformats.org/drawingml/2006/main">
            <a:off x="6812280" y="3349752"/>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pydantic's engine</a:t>
            </a:r>
            <a:endParaRPr sz="1100"/>
          </a:p>
        </p:txBody>
      </p:sp>
      <p:sp>
        <p:nvSpPr>
          <p:cNvPr id="24" name="Text 21">
            <a:extLst xmlns:a="http://schemas.openxmlformats.org/drawingml/2006/main">
              <a:ext uri="{FF2B5EF4-FFF2-40B4-BE49-F238E27FC236}">
                <a16:creationId xmlns:a16="http://schemas.microsoft.com/office/drawing/2014/main" id="{17F81D17-EB51-4028-86AD-2E34ADAC79C8}"/>
              </a:ext>
            </a:extLst>
          </p:cNvPr>
          <p:cNvSpPr>
            <a:spLocks xmlns:a="http://schemas.openxmlformats.org/drawingml/2006/main" noGrp="1"/>
          </p:cNvSpPr>
          <p:nvPr/>
        </p:nvSpPr>
        <p:spPr>
          <a:xfrm xmlns:a="http://schemas.openxmlformats.org/drawingml/2006/main">
            <a:off x="6812280" y="3614928"/>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battle-tested upstream — trust it</a:t>
            </a:r>
            <a:endParaRPr sz="950"/>
          </a:p>
        </p:txBody>
      </p:sp>
      <p:sp>
        <p:nvSpPr>
          <p:cNvPr id="25" name="Shape 22">
            <a:extLst xmlns:a="http://schemas.openxmlformats.org/drawingml/2006/main">
              <a:ext uri="{FF2B5EF4-FFF2-40B4-BE49-F238E27FC236}">
                <a16:creationId xmlns:a16="http://schemas.microsoft.com/office/drawing/2014/main" id="{005C3946-0C60-4277-BE95-BA4EDF75A6BA}"/>
              </a:ext>
            </a:extLst>
          </p:cNvPr>
          <p:cNvSpPr>
            <a:spLocks xmlns:a="http://schemas.openxmlformats.org/drawingml/2006/main" noGrp="1"/>
          </p:cNvSpPr>
          <p:nvPr/>
        </p:nvSpPr>
        <p:spPr>
          <a:xfrm xmlns:a="http://schemas.openxmlformats.org/drawingml/2006/main" rot="2700000">
            <a:off x="6556248" y="4751832"/>
            <a:ext cx="128016" cy="128016"/>
          </a:xfrm>
          <a:prstGeom xmlns:a="http://schemas.openxmlformats.org/drawingml/2006/main" prst="rect">
            <a:avLst/>
          </a:prstGeom>
          <a:solidFill xmlns:a="http://schemas.openxmlformats.org/drawingml/2006/main">
            <a:srgbClr val="F58220"/>
          </a:solidFill>
        </p:spPr>
      </p:sp>
      <p:sp>
        <p:nvSpPr>
          <p:cNvPr id="26" name="Text 23">
            <a:extLst xmlns:a="http://schemas.openxmlformats.org/drawingml/2006/main">
              <a:ext uri="{FF2B5EF4-FFF2-40B4-BE49-F238E27FC236}">
                <a16:creationId xmlns:a16="http://schemas.microsoft.com/office/drawing/2014/main" id="{89D80D57-B4F1-4FE7-BDFF-89A005536A34}"/>
              </a:ext>
            </a:extLst>
          </p:cNvPr>
          <p:cNvSpPr>
            <a:spLocks xmlns:a="http://schemas.openxmlformats.org/drawingml/2006/main" noGrp="1"/>
          </p:cNvSpPr>
          <p:nvPr/>
        </p:nvSpPr>
        <p:spPr>
          <a:xfrm xmlns:a="http://schemas.openxmlformats.org/drawingml/2006/main">
            <a:off x="6812280" y="4660392"/>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Exact float equality</a:t>
            </a:r>
            <a:endParaRPr sz="1100"/>
          </a:p>
        </p:txBody>
      </p:sp>
      <p:sp>
        <p:nvSpPr>
          <p:cNvPr id="27" name="Text 24">
            <a:extLst xmlns:a="http://schemas.openxmlformats.org/drawingml/2006/main">
              <a:ext uri="{FF2B5EF4-FFF2-40B4-BE49-F238E27FC236}">
                <a16:creationId xmlns:a16="http://schemas.microsoft.com/office/drawing/2014/main" id="{EF3982D0-F6B0-46BD-8C96-95345F085DEC}"/>
              </a:ext>
            </a:extLst>
          </p:cNvPr>
          <p:cNvSpPr>
            <a:spLocks xmlns:a="http://schemas.openxmlformats.org/drawingml/2006/main" noGrp="1"/>
          </p:cNvSpPr>
          <p:nvPr/>
        </p:nvSpPr>
        <p:spPr>
          <a:xfrm xmlns:a="http://schemas.openxmlformats.org/drawingml/2006/main">
            <a:off x="6812280" y="4925568"/>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use pytest.approx / golden tolerances</a:t>
            </a:r>
            <a:endParaRPr sz="950"/>
          </a:p>
        </p:txBody>
      </p:sp>
    </p:spTree>
    <p:extLst>
      <p:ext uri="{BB962C8B-B14F-4D97-AF65-F5344CB8AC3E}">
        <p14:creationId xmlns:p14="http://schemas.microsoft.com/office/powerpoint/2010/main" val="1700429178"/>
      </p:ext>
    </p:extLst>
  </p:cSld>
</p:sld>
</file>

<file path=ppt/slides/slide8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8F9C0D1-C7F0-4275-B008-0A074ACA1945}"/>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conftest.py — the suite's composition root</a:t>
            </a:r>
            <a:endParaRPr sz="2600"/>
          </a:p>
        </p:txBody>
      </p:sp>
      <p:sp>
        <p:nvSpPr>
          <p:cNvPr id="3" name="Text 1">
            <a:extLst xmlns:a="http://schemas.openxmlformats.org/drawingml/2006/main">
              <a:ext uri="{FF2B5EF4-FFF2-40B4-BE49-F238E27FC236}">
                <a16:creationId xmlns:a16="http://schemas.microsoft.com/office/drawing/2014/main" id="{7DE91AAC-0BAB-40FF-B0CB-4C980A2B9193}"/>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جذر التركيب لمجموعة الاختبارات</a:t>
            </a:r>
            <a:endParaRPr sz="1300"/>
          </a:p>
        </p:txBody>
      </p:sp>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9cad8c582a124be2"/>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810609F5-5880-4DE8-981E-56324F9DAB10}"/>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D62D8CD0-2E2D-4F1E-8A60-FC1B8C6C8900}"/>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4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1BCC0F2B-D35E-44E9-9C1D-7423148E9E85}"/>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86</a:t>
            </a:r>
            <a:endParaRPr sz="850"/>
          </a:p>
        </p:txBody>
      </p:sp>
      <p:sp>
        <p:nvSpPr>
          <p:cNvPr id="8" name="Shape 5">
            <a:extLst xmlns:a="http://schemas.openxmlformats.org/drawingml/2006/main">
              <a:ext uri="{FF2B5EF4-FFF2-40B4-BE49-F238E27FC236}">
                <a16:creationId xmlns:a16="http://schemas.microsoft.com/office/drawing/2014/main" id="{B8DC2DE0-B08B-4A06-9731-83CFF5AAEA80}"/>
              </a:ext>
            </a:extLst>
          </p:cNvPr>
          <p:cNvSpPr>
            <a:spLocks xmlns:a="http://schemas.openxmlformats.org/drawingml/2006/main" noGrp="1"/>
          </p:cNvSpPr>
          <p:nvPr/>
        </p:nvSpPr>
        <p:spPr>
          <a:xfrm xmlns:a="http://schemas.openxmlformats.org/drawingml/2006/main">
            <a:off x="502920" y="1481328"/>
            <a:ext cx="7635240" cy="4617720"/>
          </a:xfrm>
          <a:prstGeom xmlns:a="http://schemas.openxmlformats.org/drawingml/2006/main" prst="roundRect">
            <a:avLst>
              <a:gd name="adj" fmla="val 1584"/>
            </a:avLst>
          </a:prstGeom>
          <a:solidFill xmlns:a="http://schemas.openxmlformats.org/drawingml/2006/main">
            <a:srgbClr val="1A2233"/>
          </a:solidFill>
        </p:spPr>
      </p:sp>
      <p:sp>
        <p:nvSpPr>
          <p:cNvPr id="9" name="Shape 6">
            <a:extLst xmlns:a="http://schemas.openxmlformats.org/drawingml/2006/main">
              <a:ext uri="{FF2B5EF4-FFF2-40B4-BE49-F238E27FC236}">
                <a16:creationId xmlns:a16="http://schemas.microsoft.com/office/drawing/2014/main" id="{78B9C730-DD72-4B5E-908B-931D0FA85D2C}"/>
              </a:ext>
            </a:extLst>
          </p:cNvPr>
          <p:cNvSpPr>
            <a:spLocks xmlns:a="http://schemas.openxmlformats.org/drawingml/2006/main" noGrp="1"/>
          </p:cNvSpPr>
          <p:nvPr/>
        </p:nvSpPr>
        <p:spPr>
          <a:xfrm xmlns:a="http://schemas.openxmlformats.org/drawingml/2006/main">
            <a:off x="731520" y="1664208"/>
            <a:ext cx="109728" cy="109728"/>
          </a:xfrm>
          <a:prstGeom xmlns:a="http://schemas.openxmlformats.org/drawingml/2006/main" prst="ellipse">
            <a:avLst/>
          </a:prstGeom>
          <a:solidFill xmlns:a="http://schemas.openxmlformats.org/drawingml/2006/main">
            <a:srgbClr val="E8503A"/>
          </a:solidFill>
        </p:spPr>
      </p:sp>
      <p:sp>
        <p:nvSpPr>
          <p:cNvPr id="10" name="Shape 7">
            <a:extLst xmlns:a="http://schemas.openxmlformats.org/drawingml/2006/main">
              <a:ext uri="{FF2B5EF4-FFF2-40B4-BE49-F238E27FC236}">
                <a16:creationId xmlns:a16="http://schemas.microsoft.com/office/drawing/2014/main" id="{3A86CF04-6B14-4312-9E95-6AB69D4A65A5}"/>
              </a:ext>
            </a:extLst>
          </p:cNvPr>
          <p:cNvSpPr>
            <a:spLocks xmlns:a="http://schemas.openxmlformats.org/drawingml/2006/main" noGrp="1"/>
          </p:cNvSpPr>
          <p:nvPr/>
        </p:nvSpPr>
        <p:spPr>
          <a:xfrm xmlns:a="http://schemas.openxmlformats.org/drawingml/2006/main">
            <a:off x="932688" y="1664208"/>
            <a:ext cx="109728" cy="109728"/>
          </a:xfrm>
          <a:prstGeom xmlns:a="http://schemas.openxmlformats.org/drawingml/2006/main" prst="ellipse">
            <a:avLst/>
          </a:prstGeom>
          <a:solidFill xmlns:a="http://schemas.openxmlformats.org/drawingml/2006/main">
            <a:srgbClr val="F5B820"/>
          </a:solidFill>
        </p:spPr>
      </p:sp>
      <p:sp>
        <p:nvSpPr>
          <p:cNvPr id="11" name="Shape 8">
            <a:extLst xmlns:a="http://schemas.openxmlformats.org/drawingml/2006/main">
              <a:ext uri="{FF2B5EF4-FFF2-40B4-BE49-F238E27FC236}">
                <a16:creationId xmlns:a16="http://schemas.microsoft.com/office/drawing/2014/main" id="{F443C140-5A91-4E5C-99F9-BF18FB04637A}"/>
              </a:ext>
            </a:extLst>
          </p:cNvPr>
          <p:cNvSpPr>
            <a:spLocks xmlns:a="http://schemas.openxmlformats.org/drawingml/2006/main" noGrp="1"/>
          </p:cNvSpPr>
          <p:nvPr/>
        </p:nvSpPr>
        <p:spPr>
          <a:xfrm xmlns:a="http://schemas.openxmlformats.org/drawingml/2006/main">
            <a:off x="1133856" y="1664208"/>
            <a:ext cx="109728" cy="109728"/>
          </a:xfrm>
          <a:prstGeom xmlns:a="http://schemas.openxmlformats.org/drawingml/2006/main" prst="ellipse">
            <a:avLst/>
          </a:prstGeom>
          <a:solidFill xmlns:a="http://schemas.openxmlformats.org/drawingml/2006/main">
            <a:srgbClr val="8DC63F"/>
          </a:solidFill>
        </p:spPr>
      </p:sp>
      <p:sp>
        <p:nvSpPr>
          <p:cNvPr id="12" name="Text 9">
            <a:extLst xmlns:a="http://schemas.openxmlformats.org/drawingml/2006/main">
              <a:ext uri="{FF2B5EF4-FFF2-40B4-BE49-F238E27FC236}">
                <a16:creationId xmlns:a16="http://schemas.microsoft.com/office/drawing/2014/main" id="{FFFC66E3-0539-48D1-8250-3B523E0F318C}"/>
              </a:ext>
            </a:extLst>
          </p:cNvPr>
          <p:cNvSpPr>
            <a:spLocks xmlns:a="http://schemas.openxmlformats.org/drawingml/2006/main" noGrp="1"/>
          </p:cNvSpPr>
          <p:nvPr/>
        </p:nvSpPr>
        <p:spPr>
          <a:xfrm xmlns:a="http://schemas.openxmlformats.org/drawingml/2006/main">
            <a:off x="4526280" y="1609344"/>
            <a:ext cx="32918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6C8"/>
                </a:solidFill>
                <a:latin typeface="Consolas"/>
                <a:ea typeface="Consolas"/>
                <a:cs typeface="Consolas"/>
              </a:rPr>
              <a:t>tests/conftest.py</a:t>
            </a:r>
            <a:endParaRPr sz="900"/>
          </a:p>
        </p:txBody>
      </p:sp>
      <p:sp>
        <p:nvSpPr>
          <p:cNvPr id="13" name="Text 10">
            <a:extLst xmlns:a="http://schemas.openxmlformats.org/drawingml/2006/main">
              <a:ext uri="{FF2B5EF4-FFF2-40B4-BE49-F238E27FC236}">
                <a16:creationId xmlns:a16="http://schemas.microsoft.com/office/drawing/2014/main" id="{6E0D52B3-15EE-4B1C-8EC1-A842AE0B8237}"/>
              </a:ext>
            </a:extLst>
          </p:cNvPr>
          <p:cNvSpPr>
            <a:spLocks xmlns:a="http://schemas.openxmlformats.org/drawingml/2006/main" noGrp="1"/>
          </p:cNvSpPr>
          <p:nvPr/>
        </p:nvSpPr>
        <p:spPr>
          <a:xfrm xmlns:a="http://schemas.openxmlformats.org/drawingml/2006/main">
            <a:off x="713232" y="1965960"/>
            <a:ext cx="717804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000">
                <a:solidFill>
                  <a:srgbClr val="D9E4F5"/>
                </a:solidFill>
                <a:latin typeface="Consolas"/>
                <a:ea typeface="Consolas"/>
                <a:cs typeface="Consolas"/>
              </a:rPr>
              <a:t>class ConstantModel:</a:t>
            </a:r>
            <a:endParaRPr sz="1000"/>
          </a:p>
          <a:p xmlns:a="http://schemas.openxmlformats.org/drawingml/2006/main">
            <a:pPr marL="0" indent="0">
              <a:lnSpc>
                <a:spcPct val="112000"/>
              </a:lnSpc>
              <a:buNone/>
            </a:pPr>
            <a:r>
              <a:rPr sz="1000">
                <a:solidFill>
                  <a:srgbClr val="D9E4F5"/>
                </a:solidFill>
                <a:latin typeface="Consolas"/>
                <a:ea typeface="Consolas"/>
                <a:cs typeface="Consolas"/>
              </a:rPr>
              <a:t>    def __init__(self, p, version="test-1"):</a:t>
            </a:r>
            <a:endParaRPr sz="1000"/>
          </a:p>
          <a:p xmlns:a="http://schemas.openxmlformats.org/drawingml/2006/main">
            <a:pPr marL="0" indent="0">
              <a:lnSpc>
                <a:spcPct val="112000"/>
              </a:lnSpc>
              <a:buNone/>
            </a:pPr>
            <a:r>
              <a:rPr sz="1000">
                <a:solidFill>
                  <a:srgbClr val="D9E4F5"/>
                </a:solidFill>
                <a:latin typeface="Consolas"/>
                <a:ea typeface="Consolas"/>
                <a:cs typeface="Consolas"/>
              </a:rPr>
              <a:t>        self._p, self.model_version = p, version</a:t>
            </a:r>
            <a:endParaRPr sz="1000"/>
          </a:p>
          <a:p xmlns:a="http://schemas.openxmlformats.org/drawingml/2006/main">
            <a:pPr marL="0" indent="0">
              <a:lnSpc>
                <a:spcPct val="112000"/>
              </a:lnSpc>
              <a:buNone/>
            </a:pPr>
            <a:r>
              <a:rPr sz="1000">
                <a:solidFill>
                  <a:srgbClr val="D9E4F5"/>
                </a:solidFill>
                <a:latin typeface="Consolas"/>
                <a:ea typeface="Consolas"/>
                <a:cs typeface="Consolas"/>
              </a:rPr>
              <a:t>    def predict_proba(self, features):</a:t>
            </a:r>
            <a:endParaRPr sz="1000"/>
          </a:p>
          <a:p xmlns:a="http://schemas.openxmlformats.org/drawingml/2006/main">
            <a:pPr marL="0" indent="0">
              <a:lnSpc>
                <a:spcPct val="112000"/>
              </a:lnSpc>
              <a:buNone/>
            </a:pPr>
            <a:r>
              <a:rPr sz="1000">
                <a:solidFill>
                  <a:srgbClr val="D9E4F5"/>
                </a:solidFill>
                <a:latin typeface="Consolas"/>
                <a:ea typeface="Consolas"/>
                <a:cs typeface="Consolas"/>
              </a:rPr>
              <a:t>        return RawScore(value=self._p)</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@pytest.fixture</a:t>
            </a:r>
            <a:endParaRPr sz="1000"/>
          </a:p>
          <a:p xmlns:a="http://schemas.openxmlformats.org/drawingml/2006/main">
            <a:pPr marL="0" indent="0">
              <a:lnSpc>
                <a:spcPct val="112000"/>
              </a:lnSpc>
              <a:buNone/>
            </a:pPr>
            <a:r>
              <a:rPr sz="1000">
                <a:solidFill>
                  <a:srgbClr val="D9E4F5"/>
                </a:solidFill>
                <a:latin typeface="Consolas"/>
                <a:ea typeface="Consolas"/>
                <a:cs typeface="Consolas"/>
              </a:rPr>
              <a:t>def client_factory():</a:t>
            </a:r>
            <a:endParaRPr sz="1000"/>
          </a:p>
          <a:p xmlns:a="http://schemas.openxmlformats.org/drawingml/2006/main">
            <a:pPr marL="0" indent="0">
              <a:lnSpc>
                <a:spcPct val="112000"/>
              </a:lnSpc>
              <a:buNone/>
            </a:pPr>
            <a:r>
              <a:rPr sz="1000">
                <a:solidFill>
                  <a:srgbClr val="D9E4F5"/>
                </a:solidFill>
                <a:latin typeface="Consolas"/>
                <a:ea typeface="Consolas"/>
                <a:cs typeface="Consolas"/>
              </a:rPr>
              <a:t>    def _make(probability=0.10, threshold=0.85):</a:t>
            </a:r>
            <a:endParaRPr sz="1000"/>
          </a:p>
          <a:p xmlns:a="http://schemas.openxmlformats.org/drawingml/2006/main">
            <a:pPr marL="0" indent="0">
              <a:lnSpc>
                <a:spcPct val="112000"/>
              </a:lnSpc>
              <a:buNone/>
            </a:pPr>
            <a:r>
              <a:rPr sz="1000">
                <a:solidFill>
                  <a:srgbClr val="D9E4F5"/>
                </a:solidFill>
                <a:latin typeface="Consolas"/>
                <a:ea typeface="Consolas"/>
                <a:cs typeface="Consolas"/>
              </a:rPr>
              <a:t>        app = create_app()</a:t>
            </a:r>
            <a:endParaRPr sz="1000"/>
          </a:p>
          <a:p xmlns:a="http://schemas.openxmlformats.org/drawingml/2006/main">
            <a:pPr marL="0" indent="0">
              <a:lnSpc>
                <a:spcPct val="112000"/>
              </a:lnSpc>
              <a:buNone/>
            </a:pPr>
            <a:r>
              <a:rPr sz="1000">
                <a:solidFill>
                  <a:srgbClr val="D9E4F5"/>
                </a:solidFill>
                <a:latin typeface="Consolas"/>
                <a:ea typeface="Consolas"/>
                <a:cs typeface="Consolas"/>
              </a:rPr>
              <a:t>        scorer = FraudScorer(model=ConstantModel(probability),</a:t>
            </a:r>
            <a:endParaRPr sz="1000"/>
          </a:p>
          <a:p xmlns:a="http://schemas.openxmlformats.org/drawingml/2006/main">
            <a:pPr marL="0" indent="0">
              <a:lnSpc>
                <a:spcPct val="112000"/>
              </a:lnSpc>
              <a:buNone/>
            </a:pPr>
            <a:r>
              <a:rPr sz="1000">
                <a:solidFill>
                  <a:srgbClr val="D9E4F5"/>
                </a:solidFill>
                <a:latin typeface="Consolas"/>
                <a:ea typeface="Consolas"/>
                <a:cs typeface="Consolas"/>
              </a:rPr>
              <a:t>                             block_threshold=threshold)</a:t>
            </a:r>
            <a:endParaRPr sz="1000"/>
          </a:p>
          <a:p xmlns:a="http://schemas.openxmlformats.org/drawingml/2006/main">
            <a:pPr marL="0" indent="0">
              <a:lnSpc>
                <a:spcPct val="112000"/>
              </a:lnSpc>
              <a:buNone/>
            </a:pPr>
            <a:r>
              <a:rPr sz="1000">
                <a:solidFill>
                  <a:srgbClr val="D9E4F5"/>
                </a:solidFill>
                <a:latin typeface="Consolas"/>
                <a:ea typeface="Consolas"/>
                <a:cs typeface="Consolas"/>
              </a:rPr>
              <a:t>        app.dependency_overrides[get_scorer] = lambda: scorer</a:t>
            </a:r>
            <a:endParaRPr sz="1000"/>
          </a:p>
          <a:p xmlns:a="http://schemas.openxmlformats.org/drawingml/2006/main">
            <a:pPr marL="0" indent="0">
              <a:lnSpc>
                <a:spcPct val="112000"/>
              </a:lnSpc>
              <a:buNone/>
            </a:pPr>
            <a:r>
              <a:rPr sz="1000">
                <a:solidFill>
                  <a:srgbClr val="D9E4F5"/>
                </a:solidFill>
                <a:latin typeface="Consolas"/>
                <a:ea typeface="Consolas"/>
                <a:cs typeface="Consolas"/>
              </a:rPr>
              <a:t>        return TestClient(app, raise_server_exceptions=False)</a:t>
            </a:r>
            <a:endParaRPr sz="1000"/>
          </a:p>
          <a:p xmlns:a="http://schemas.openxmlformats.org/drawingml/2006/main">
            <a:pPr marL="0" indent="0">
              <a:lnSpc>
                <a:spcPct val="112000"/>
              </a:lnSpc>
              <a:buNone/>
            </a:pPr>
            <a:r>
              <a:rPr sz="1000">
                <a:solidFill>
                  <a:srgbClr val="D9E4F5"/>
                </a:solidFill>
                <a:latin typeface="Consolas"/>
                <a:ea typeface="Consolas"/>
                <a:cs typeface="Consolas"/>
              </a:rPr>
              <a:t>    return _make</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@pytest.fixture(scope="session")</a:t>
            </a:r>
            <a:endParaRPr sz="1000"/>
          </a:p>
          <a:p xmlns:a="http://schemas.openxmlformats.org/drawingml/2006/main">
            <a:pPr marL="0" indent="0">
              <a:lnSpc>
                <a:spcPct val="112000"/>
              </a:lnSpc>
              <a:buNone/>
            </a:pPr>
            <a:r>
              <a:rPr sz="1000">
                <a:solidFill>
                  <a:srgbClr val="D9E4F5"/>
                </a:solidFill>
                <a:latin typeface="Consolas"/>
                <a:ea typeface="Consolas"/>
                <a:cs typeface="Consolas"/>
              </a:rPr>
              <a:t>def real_model():</a:t>
            </a:r>
            <a:endParaRPr sz="1000"/>
          </a:p>
          <a:p xmlns:a="http://schemas.openxmlformats.org/drawingml/2006/main">
            <a:pPr marL="0" indent="0">
              <a:lnSpc>
                <a:spcPct val="112000"/>
              </a:lnSpc>
              <a:buNone/>
            </a:pPr>
            <a:r>
              <a:rPr sz="1000">
                <a:solidFill>
                  <a:srgbClr val="D9E4F5"/>
                </a:solidFill>
                <a:latin typeface="Consolas"/>
                <a:ea typeface="Consolas"/>
                <a:cs typeface="Consolas"/>
              </a:rPr>
              <a:t>    return SklearnModel.load("models/fraud_xgb_v3.joblib")</a:t>
            </a:r>
            <a:endParaRPr sz="1000"/>
          </a:p>
        </p:txBody>
      </p:sp>
      <p:sp>
        <p:nvSpPr>
          <p:cNvPr id="14" name="Shape 11">
            <a:extLst xmlns:a="http://schemas.openxmlformats.org/drawingml/2006/main">
              <a:ext uri="{FF2B5EF4-FFF2-40B4-BE49-F238E27FC236}">
                <a16:creationId xmlns:a16="http://schemas.microsoft.com/office/drawing/2014/main" id="{83CFCF48-0C41-46D3-8603-0AA58B83BB74}"/>
              </a:ext>
            </a:extLst>
          </p:cNvPr>
          <p:cNvSpPr>
            <a:spLocks xmlns:a="http://schemas.openxmlformats.org/drawingml/2006/main" noGrp="1"/>
          </p:cNvSpPr>
          <p:nvPr/>
        </p:nvSpPr>
        <p:spPr>
          <a:xfrm xmlns:a="http://schemas.openxmlformats.org/drawingml/2006/main">
            <a:off x="8321040" y="1481328"/>
            <a:ext cx="3364992" cy="1017270"/>
          </a:xfrm>
          <a:prstGeom xmlns:a="http://schemas.openxmlformats.org/drawingml/2006/main" prst="roundRect">
            <a:avLst>
              <a:gd name="adj" fmla="val 5393"/>
            </a:avLst>
          </a:prstGeom>
          <a:solidFill xmlns:a="http://schemas.openxmlformats.org/drawingml/2006/main">
            <a:srgbClr val="D4F1EE"/>
          </a:solidFill>
        </p:spPr>
      </p:sp>
      <p:sp>
        <p:nvSpPr>
          <p:cNvPr id="15" name="Text 12">
            <a:extLst xmlns:a="http://schemas.openxmlformats.org/drawingml/2006/main">
              <a:ext uri="{FF2B5EF4-FFF2-40B4-BE49-F238E27FC236}">
                <a16:creationId xmlns:a16="http://schemas.microsoft.com/office/drawing/2014/main" id="{F022FDF1-F888-4309-914F-114929F8EB30}"/>
              </a:ext>
            </a:extLst>
          </p:cNvPr>
          <p:cNvSpPr>
            <a:spLocks xmlns:a="http://schemas.openxmlformats.org/drawingml/2006/main" noGrp="1"/>
          </p:cNvSpPr>
          <p:nvPr/>
        </p:nvSpPr>
        <p:spPr>
          <a:xfrm xmlns:a="http://schemas.openxmlformats.org/drawingml/2006/main">
            <a:off x="8485632" y="157276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A double, not a mock library</a:t>
            </a:r>
            <a:endParaRPr sz="1050"/>
          </a:p>
        </p:txBody>
      </p:sp>
      <p:sp>
        <p:nvSpPr>
          <p:cNvPr id="16" name="Text 13">
            <a:extLst xmlns:a="http://schemas.openxmlformats.org/drawingml/2006/main">
              <a:ext uri="{FF2B5EF4-FFF2-40B4-BE49-F238E27FC236}">
                <a16:creationId xmlns:a16="http://schemas.microsoft.com/office/drawing/2014/main" id="{1402B3D5-DBBE-42B4-B4FA-A31CD15E0DD5}"/>
              </a:ext>
            </a:extLst>
          </p:cNvPr>
          <p:cNvSpPr>
            <a:spLocks xmlns:a="http://schemas.openxmlformats.org/drawingml/2006/main" noGrp="1"/>
          </p:cNvSpPr>
          <p:nvPr/>
        </p:nvSpPr>
        <p:spPr>
          <a:xfrm xmlns:a="http://schemas.openxmlformats.org/drawingml/2006/main">
            <a:off x="8485632" y="1847088"/>
            <a:ext cx="3063240" cy="5600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ConstantModel implements the Model protocol — drives every policy branch, zero sklearn.</a:t>
            </a:r>
            <a:endParaRPr sz="930"/>
          </a:p>
        </p:txBody>
      </p:sp>
      <p:sp>
        <p:nvSpPr>
          <p:cNvPr id="17" name="Shape 14">
            <a:extLst xmlns:a="http://schemas.openxmlformats.org/drawingml/2006/main">
              <a:ext uri="{FF2B5EF4-FFF2-40B4-BE49-F238E27FC236}">
                <a16:creationId xmlns:a16="http://schemas.microsoft.com/office/drawing/2014/main" id="{F433AF26-B7B3-46FE-B628-8FB26EC371E8}"/>
              </a:ext>
            </a:extLst>
          </p:cNvPr>
          <p:cNvSpPr>
            <a:spLocks xmlns:a="http://schemas.openxmlformats.org/drawingml/2006/main" noGrp="1"/>
          </p:cNvSpPr>
          <p:nvPr/>
        </p:nvSpPr>
        <p:spPr>
          <a:xfrm xmlns:a="http://schemas.openxmlformats.org/drawingml/2006/main">
            <a:off x="8321040" y="2635758"/>
            <a:ext cx="3364992" cy="1017270"/>
          </a:xfrm>
          <a:prstGeom xmlns:a="http://schemas.openxmlformats.org/drawingml/2006/main" prst="roundRect">
            <a:avLst>
              <a:gd name="adj" fmla="val 5393"/>
            </a:avLst>
          </a:prstGeom>
          <a:solidFill xmlns:a="http://schemas.openxmlformats.org/drawingml/2006/main">
            <a:srgbClr val="D9F0FA"/>
          </a:solidFill>
        </p:spPr>
      </p:sp>
      <p:sp>
        <p:nvSpPr>
          <p:cNvPr id="18" name="Text 15">
            <a:extLst xmlns:a="http://schemas.openxmlformats.org/drawingml/2006/main">
              <a:ext uri="{FF2B5EF4-FFF2-40B4-BE49-F238E27FC236}">
                <a16:creationId xmlns:a16="http://schemas.microsoft.com/office/drawing/2014/main" id="{C4C5E2E1-0E95-4988-BDBC-5BE5F797B72A}"/>
              </a:ext>
            </a:extLst>
          </p:cNvPr>
          <p:cNvSpPr>
            <a:spLocks xmlns:a="http://schemas.openxmlformats.org/drawingml/2006/main" noGrp="1"/>
          </p:cNvSpPr>
          <p:nvPr/>
        </p:nvSpPr>
        <p:spPr>
          <a:xfrm xmlns:a="http://schemas.openxmlformats.org/drawingml/2006/main">
            <a:off x="8485632" y="272719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Same seam as production</a:t>
            </a:r>
            <a:endParaRPr sz="1050"/>
          </a:p>
        </p:txBody>
      </p:sp>
      <p:sp>
        <p:nvSpPr>
          <p:cNvPr id="19" name="Text 16">
            <a:extLst xmlns:a="http://schemas.openxmlformats.org/drawingml/2006/main">
              <a:ext uri="{FF2B5EF4-FFF2-40B4-BE49-F238E27FC236}">
                <a16:creationId xmlns:a16="http://schemas.microsoft.com/office/drawing/2014/main" id="{451BCD0F-7419-4997-BEC1-9B04985F6F28}"/>
              </a:ext>
            </a:extLst>
          </p:cNvPr>
          <p:cNvSpPr>
            <a:spLocks xmlns:a="http://schemas.openxmlformats.org/drawingml/2006/main" noGrp="1"/>
          </p:cNvSpPr>
          <p:nvPr/>
        </p:nvSpPr>
        <p:spPr>
          <a:xfrm xmlns:a="http://schemas.openxmlformats.org/drawingml/2006/main">
            <a:off x="8485632" y="3001518"/>
            <a:ext cx="3063240" cy="5600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dependency_overrides[get_scorer] swaps the scorer exactly where prod wiring injects it.</a:t>
            </a:r>
            <a:endParaRPr sz="930"/>
          </a:p>
        </p:txBody>
      </p:sp>
      <p:sp>
        <p:nvSpPr>
          <p:cNvPr id="20" name="Shape 17">
            <a:extLst xmlns:a="http://schemas.openxmlformats.org/drawingml/2006/main">
              <a:ext uri="{FF2B5EF4-FFF2-40B4-BE49-F238E27FC236}">
                <a16:creationId xmlns:a16="http://schemas.microsoft.com/office/drawing/2014/main" id="{4416F80C-5A27-4464-A3B6-63B632D0AD5B}"/>
              </a:ext>
            </a:extLst>
          </p:cNvPr>
          <p:cNvSpPr>
            <a:spLocks xmlns:a="http://schemas.openxmlformats.org/drawingml/2006/main" noGrp="1"/>
          </p:cNvSpPr>
          <p:nvPr/>
        </p:nvSpPr>
        <p:spPr>
          <a:xfrm xmlns:a="http://schemas.openxmlformats.org/drawingml/2006/main">
            <a:off x="8321040" y="3790188"/>
            <a:ext cx="3364992" cy="1017270"/>
          </a:xfrm>
          <a:prstGeom xmlns:a="http://schemas.openxmlformats.org/drawingml/2006/main" prst="roundRect">
            <a:avLst>
              <a:gd name="adj" fmla="val 5393"/>
            </a:avLst>
          </a:prstGeom>
          <a:solidFill xmlns:a="http://schemas.openxmlformats.org/drawingml/2006/main">
            <a:srgbClr val="FDEBD7"/>
          </a:solidFill>
        </p:spPr>
      </p:sp>
      <p:sp>
        <p:nvSpPr>
          <p:cNvPr id="21" name="Text 18">
            <a:extLst xmlns:a="http://schemas.openxmlformats.org/drawingml/2006/main">
              <a:ext uri="{FF2B5EF4-FFF2-40B4-BE49-F238E27FC236}">
                <a16:creationId xmlns:a16="http://schemas.microsoft.com/office/drawing/2014/main" id="{908126ED-C608-4A53-93B9-1D5220EF1F97}"/>
              </a:ext>
            </a:extLst>
          </p:cNvPr>
          <p:cNvSpPr>
            <a:spLocks xmlns:a="http://schemas.openxmlformats.org/drawingml/2006/main" noGrp="1"/>
          </p:cNvSpPr>
          <p:nvPr/>
        </p:nvSpPr>
        <p:spPr>
          <a:xfrm xmlns:a="http://schemas.openxmlformats.org/drawingml/2006/main">
            <a:off x="8485632" y="388162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Testable 500s</a:t>
            </a:r>
            <a:endParaRPr sz="1050"/>
          </a:p>
        </p:txBody>
      </p:sp>
      <p:sp>
        <p:nvSpPr>
          <p:cNvPr id="22" name="Text 19">
            <a:extLst xmlns:a="http://schemas.openxmlformats.org/drawingml/2006/main">
              <a:ext uri="{FF2B5EF4-FFF2-40B4-BE49-F238E27FC236}">
                <a16:creationId xmlns:a16="http://schemas.microsoft.com/office/drawing/2014/main" id="{FC0C52D4-F236-4DAC-AC33-9C3D2470DF6C}"/>
              </a:ext>
            </a:extLst>
          </p:cNvPr>
          <p:cNvSpPr>
            <a:spLocks xmlns:a="http://schemas.openxmlformats.org/drawingml/2006/main" noGrp="1"/>
          </p:cNvSpPr>
          <p:nvPr/>
        </p:nvSpPr>
        <p:spPr>
          <a:xfrm xmlns:a="http://schemas.openxmlformats.org/drawingml/2006/main">
            <a:off x="8485632" y="4155948"/>
            <a:ext cx="3063240" cy="5600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raise_server_exceptions=False lets tests assert the error envelope instead of crashing.</a:t>
            </a:r>
            <a:endParaRPr sz="930"/>
          </a:p>
        </p:txBody>
      </p:sp>
      <p:sp>
        <p:nvSpPr>
          <p:cNvPr id="23" name="Shape 20">
            <a:extLst xmlns:a="http://schemas.openxmlformats.org/drawingml/2006/main">
              <a:ext uri="{FF2B5EF4-FFF2-40B4-BE49-F238E27FC236}">
                <a16:creationId xmlns:a16="http://schemas.microsoft.com/office/drawing/2014/main" id="{1543DEF8-E32B-4D56-8D57-14BE98655479}"/>
              </a:ext>
            </a:extLst>
          </p:cNvPr>
          <p:cNvSpPr>
            <a:spLocks xmlns:a="http://schemas.openxmlformats.org/drawingml/2006/main" noGrp="1"/>
          </p:cNvSpPr>
          <p:nvPr/>
        </p:nvSpPr>
        <p:spPr>
          <a:xfrm xmlns:a="http://schemas.openxmlformats.org/drawingml/2006/main">
            <a:off x="8321040" y="4944618"/>
            <a:ext cx="3364992" cy="1017270"/>
          </a:xfrm>
          <a:prstGeom xmlns:a="http://schemas.openxmlformats.org/drawingml/2006/main" prst="roundRect">
            <a:avLst>
              <a:gd name="adj" fmla="val 5393"/>
            </a:avLst>
          </a:prstGeom>
          <a:solidFill xmlns:a="http://schemas.openxmlformats.org/drawingml/2006/main">
            <a:srgbClr val="EAF4DC"/>
          </a:solidFill>
        </p:spPr>
      </p:sp>
      <p:sp>
        <p:nvSpPr>
          <p:cNvPr id="24" name="Text 21">
            <a:extLst xmlns:a="http://schemas.openxmlformats.org/drawingml/2006/main">
              <a:ext uri="{FF2B5EF4-FFF2-40B4-BE49-F238E27FC236}">
                <a16:creationId xmlns:a16="http://schemas.microsoft.com/office/drawing/2014/main" id="{7EDE23BB-9A17-4B83-8432-24532196C0FE}"/>
              </a:ext>
            </a:extLst>
          </p:cNvPr>
          <p:cNvSpPr>
            <a:spLocks xmlns:a="http://schemas.openxmlformats.org/drawingml/2006/main" noGrp="1"/>
          </p:cNvSpPr>
          <p:nvPr/>
        </p:nvSpPr>
        <p:spPr>
          <a:xfrm xmlns:a="http://schemas.openxmlformats.org/drawingml/2006/main">
            <a:off x="8485632" y="503605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Session-scoped real model</a:t>
            </a:r>
            <a:endParaRPr sz="1050"/>
          </a:p>
        </p:txBody>
      </p:sp>
      <p:sp>
        <p:nvSpPr>
          <p:cNvPr id="25" name="Text 22">
            <a:extLst xmlns:a="http://schemas.openxmlformats.org/drawingml/2006/main">
              <a:ext uri="{FF2B5EF4-FFF2-40B4-BE49-F238E27FC236}">
                <a16:creationId xmlns:a16="http://schemas.microsoft.com/office/drawing/2014/main" id="{79376337-07A7-44B6-8838-C71D6802DF1C}"/>
              </a:ext>
            </a:extLst>
          </p:cNvPr>
          <p:cNvSpPr>
            <a:spLocks xmlns:a="http://schemas.openxmlformats.org/drawingml/2006/main" noGrp="1"/>
          </p:cNvSpPr>
          <p:nvPr/>
        </p:nvSpPr>
        <p:spPr>
          <a:xfrm xmlns:a="http://schemas.openxmlformats.org/drawingml/2006/main">
            <a:off x="8485632" y="5310378"/>
            <a:ext cx="3063240" cy="5600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Load the artefact ONCE for slow tests — per-test loading turns 4 s suites into 90 s.</a:t>
            </a:r>
            <a:endParaRPr sz="930"/>
          </a:p>
        </p:txBody>
      </p:sp>
    </p:spTree>
    <p:extLst>
      <p:ext uri="{BB962C8B-B14F-4D97-AF65-F5344CB8AC3E}">
        <p14:creationId xmlns:p14="http://schemas.microsoft.com/office/powerpoint/2010/main" val="1152010247"/>
      </p:ext>
    </p:extLst>
  </p:cSld>
</p:sld>
</file>

<file path=ppt/slides/slide8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C90EFC-887F-46EE-B597-D11268BABF97}"/>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Unit tests — decision bands</a:t>
            </a:r>
            <a:endParaRPr sz="2600"/>
          </a:p>
        </p:txBody>
      </p:sp>
      <p:sp>
        <p:nvSpPr>
          <p:cNvPr id="3" name="Text 1">
            <a:extLst xmlns:a="http://schemas.openxmlformats.org/drawingml/2006/main">
              <a:ext uri="{FF2B5EF4-FFF2-40B4-BE49-F238E27FC236}">
                <a16:creationId xmlns:a16="http://schemas.microsoft.com/office/drawing/2014/main" id="{818E48F5-A58C-4ED3-8CD2-1F2D75B66915}"/>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اختبارات الوحدة — نطاقات القرار</a:t>
            </a:r>
            <a:endParaRPr sz="1300"/>
          </a:p>
        </p:txBody>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fdea708a082242f4"/>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60A435AC-DEE5-4185-9FDD-7B2755D0E112}"/>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36974D96-99D2-4B0B-8FA7-35A0CDEA61C2}"/>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4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D23D3F24-6678-432D-9463-2B4C2E56BC5B}"/>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87</a:t>
            </a:r>
            <a:endParaRPr sz="850"/>
          </a:p>
        </p:txBody>
      </p:sp>
      <p:sp>
        <p:nvSpPr>
          <p:cNvPr id="8" name="Shape 5">
            <a:extLst xmlns:a="http://schemas.openxmlformats.org/drawingml/2006/main">
              <a:ext uri="{FF2B5EF4-FFF2-40B4-BE49-F238E27FC236}">
                <a16:creationId xmlns:a16="http://schemas.microsoft.com/office/drawing/2014/main" id="{2909494B-CCE2-47A8-83B8-042A116A264A}"/>
              </a:ext>
            </a:extLst>
          </p:cNvPr>
          <p:cNvSpPr>
            <a:spLocks xmlns:a="http://schemas.openxmlformats.org/drawingml/2006/main" noGrp="1"/>
          </p:cNvSpPr>
          <p:nvPr/>
        </p:nvSpPr>
        <p:spPr>
          <a:xfrm xmlns:a="http://schemas.openxmlformats.org/drawingml/2006/main">
            <a:off x="502920" y="1481328"/>
            <a:ext cx="7635240" cy="4617720"/>
          </a:xfrm>
          <a:prstGeom xmlns:a="http://schemas.openxmlformats.org/drawingml/2006/main" prst="roundRect">
            <a:avLst>
              <a:gd name="adj" fmla="val 1584"/>
            </a:avLst>
          </a:prstGeom>
          <a:solidFill xmlns:a="http://schemas.openxmlformats.org/drawingml/2006/main">
            <a:srgbClr val="1A2233"/>
          </a:solidFill>
        </p:spPr>
      </p:sp>
      <p:sp>
        <p:nvSpPr>
          <p:cNvPr id="9" name="Shape 6">
            <a:extLst xmlns:a="http://schemas.openxmlformats.org/drawingml/2006/main">
              <a:ext uri="{FF2B5EF4-FFF2-40B4-BE49-F238E27FC236}">
                <a16:creationId xmlns:a16="http://schemas.microsoft.com/office/drawing/2014/main" id="{BFEE51B6-3F12-4155-A6D4-BDDCC6545A0B}"/>
              </a:ext>
            </a:extLst>
          </p:cNvPr>
          <p:cNvSpPr>
            <a:spLocks xmlns:a="http://schemas.openxmlformats.org/drawingml/2006/main" noGrp="1"/>
          </p:cNvSpPr>
          <p:nvPr/>
        </p:nvSpPr>
        <p:spPr>
          <a:xfrm xmlns:a="http://schemas.openxmlformats.org/drawingml/2006/main">
            <a:off x="731520" y="1664208"/>
            <a:ext cx="109728" cy="109728"/>
          </a:xfrm>
          <a:prstGeom xmlns:a="http://schemas.openxmlformats.org/drawingml/2006/main" prst="ellipse">
            <a:avLst/>
          </a:prstGeom>
          <a:solidFill xmlns:a="http://schemas.openxmlformats.org/drawingml/2006/main">
            <a:srgbClr val="E8503A"/>
          </a:solidFill>
        </p:spPr>
      </p:sp>
      <p:sp>
        <p:nvSpPr>
          <p:cNvPr id="10" name="Shape 7">
            <a:extLst xmlns:a="http://schemas.openxmlformats.org/drawingml/2006/main">
              <a:ext uri="{FF2B5EF4-FFF2-40B4-BE49-F238E27FC236}">
                <a16:creationId xmlns:a16="http://schemas.microsoft.com/office/drawing/2014/main" id="{A0E5ED57-913E-4D3A-8F2C-9A85B6DBD9C7}"/>
              </a:ext>
            </a:extLst>
          </p:cNvPr>
          <p:cNvSpPr>
            <a:spLocks xmlns:a="http://schemas.openxmlformats.org/drawingml/2006/main" noGrp="1"/>
          </p:cNvSpPr>
          <p:nvPr/>
        </p:nvSpPr>
        <p:spPr>
          <a:xfrm xmlns:a="http://schemas.openxmlformats.org/drawingml/2006/main">
            <a:off x="932688" y="1664208"/>
            <a:ext cx="109728" cy="109728"/>
          </a:xfrm>
          <a:prstGeom xmlns:a="http://schemas.openxmlformats.org/drawingml/2006/main" prst="ellipse">
            <a:avLst/>
          </a:prstGeom>
          <a:solidFill xmlns:a="http://schemas.openxmlformats.org/drawingml/2006/main">
            <a:srgbClr val="F5B820"/>
          </a:solidFill>
        </p:spPr>
      </p:sp>
      <p:sp>
        <p:nvSpPr>
          <p:cNvPr id="11" name="Shape 8">
            <a:extLst xmlns:a="http://schemas.openxmlformats.org/drawingml/2006/main">
              <a:ext uri="{FF2B5EF4-FFF2-40B4-BE49-F238E27FC236}">
                <a16:creationId xmlns:a16="http://schemas.microsoft.com/office/drawing/2014/main" id="{2A180907-3B62-4A82-98A3-82A3D53D305D}"/>
              </a:ext>
            </a:extLst>
          </p:cNvPr>
          <p:cNvSpPr>
            <a:spLocks xmlns:a="http://schemas.openxmlformats.org/drawingml/2006/main" noGrp="1"/>
          </p:cNvSpPr>
          <p:nvPr/>
        </p:nvSpPr>
        <p:spPr>
          <a:xfrm xmlns:a="http://schemas.openxmlformats.org/drawingml/2006/main">
            <a:off x="1133856" y="1664208"/>
            <a:ext cx="109728" cy="109728"/>
          </a:xfrm>
          <a:prstGeom xmlns:a="http://schemas.openxmlformats.org/drawingml/2006/main" prst="ellipse">
            <a:avLst/>
          </a:prstGeom>
          <a:solidFill xmlns:a="http://schemas.openxmlformats.org/drawingml/2006/main">
            <a:srgbClr val="8DC63F"/>
          </a:solidFill>
        </p:spPr>
      </p:sp>
      <p:sp>
        <p:nvSpPr>
          <p:cNvPr id="12" name="Text 9">
            <a:extLst xmlns:a="http://schemas.openxmlformats.org/drawingml/2006/main">
              <a:ext uri="{FF2B5EF4-FFF2-40B4-BE49-F238E27FC236}">
                <a16:creationId xmlns:a16="http://schemas.microsoft.com/office/drawing/2014/main" id="{26AD1440-B59D-4876-8754-70511872F9E3}"/>
              </a:ext>
            </a:extLst>
          </p:cNvPr>
          <p:cNvSpPr>
            <a:spLocks xmlns:a="http://schemas.openxmlformats.org/drawingml/2006/main" noGrp="1"/>
          </p:cNvSpPr>
          <p:nvPr/>
        </p:nvSpPr>
        <p:spPr>
          <a:xfrm xmlns:a="http://schemas.openxmlformats.org/drawingml/2006/main">
            <a:off x="4526280" y="1609344"/>
            <a:ext cx="32918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6C8"/>
                </a:solidFill>
                <a:latin typeface="Consolas"/>
                <a:ea typeface="Consolas"/>
                <a:cs typeface="Consolas"/>
              </a:rPr>
              <a:t>tests/unit/test_policies.py</a:t>
            </a:r>
            <a:endParaRPr sz="900"/>
          </a:p>
        </p:txBody>
      </p:sp>
      <p:sp>
        <p:nvSpPr>
          <p:cNvPr id="13" name="Text 10">
            <a:extLst xmlns:a="http://schemas.openxmlformats.org/drawingml/2006/main">
              <a:ext uri="{FF2B5EF4-FFF2-40B4-BE49-F238E27FC236}">
                <a16:creationId xmlns:a16="http://schemas.microsoft.com/office/drawing/2014/main" id="{DF8AB44F-C8FF-4D93-A62F-BFBE5BDD9E51}"/>
              </a:ext>
            </a:extLst>
          </p:cNvPr>
          <p:cNvSpPr>
            <a:spLocks xmlns:a="http://schemas.openxmlformats.org/drawingml/2006/main" noGrp="1"/>
          </p:cNvSpPr>
          <p:nvPr/>
        </p:nvSpPr>
        <p:spPr>
          <a:xfrm xmlns:a="http://schemas.openxmlformats.org/drawingml/2006/main">
            <a:off x="713232" y="1965960"/>
            <a:ext cx="717804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100">
                <a:solidFill>
                  <a:srgbClr val="D9E4F5"/>
                </a:solidFill>
                <a:latin typeface="Consolas"/>
                <a:ea typeface="Consolas"/>
                <a:cs typeface="Consolas"/>
              </a:rPr>
              <a:t>import pytest</a:t>
            </a:r>
            <a:endParaRPr sz="1100"/>
          </a:p>
          <a:p xmlns:a="http://schemas.openxmlformats.org/drawingml/2006/main">
            <a:pPr marL="0" indent="0">
              <a:lnSpc>
                <a:spcPct val="112000"/>
              </a:lnSpc>
              <a:buNone/>
            </a:pPr>
            <a:r>
              <a:rPr sz="1100">
                <a:solidFill>
                  <a:srgbClr val="D9E4F5"/>
                </a:solidFill>
                <a:latin typeface="Consolas"/>
                <a:ea typeface="Consolas"/>
                <a:cs typeface="Consolas"/>
              </a:rPr>
              <a:t>from fraud_service.domain.entities import Decision, RawScore</a:t>
            </a:r>
            <a:endParaRPr sz="1100"/>
          </a:p>
          <a:p xmlns:a="http://schemas.openxmlformats.org/drawingml/2006/main">
            <a:pPr marL="0" indent="0">
              <a:lnSpc>
                <a:spcPct val="112000"/>
              </a:lnSpc>
              <a:buNone/>
            </a:pPr>
            <a:r>
              <a:rPr sz="1100">
                <a:solidFill>
                  <a:srgbClr val="D9E4F5"/>
                </a:solidFill>
                <a:latin typeface="Consolas"/>
                <a:ea typeface="Consolas"/>
                <a:cs typeface="Consolas"/>
              </a:rPr>
              <a:t>from fraud_service.domain.policies import decide</a:t>
            </a:r>
            <a:endParaRPr sz="1100"/>
          </a:p>
          <a:p xmlns:a="http://schemas.openxmlformats.org/drawingml/2006/main">
            <a:pPr marL="0" indent="0">
              <a:lnSpc>
                <a:spcPct val="112000"/>
              </a:lnSpc>
              <a:buNone/>
            </a:pPr>
            <a:endParaRPr sz="1100"/>
          </a:p>
          <a:p xmlns:a="http://schemas.openxmlformats.org/drawingml/2006/main">
            <a:pPr marL="0" indent="0">
              <a:lnSpc>
                <a:spcPct val="112000"/>
              </a:lnSpc>
              <a:buNone/>
            </a:pPr>
            <a:r>
              <a:rPr sz="1100">
                <a:solidFill>
                  <a:srgbClr val="D9E4F5"/>
                </a:solidFill>
                <a:latin typeface="Consolas"/>
                <a:ea typeface="Consolas"/>
                <a:cs typeface="Consolas"/>
              </a:rPr>
              <a:t>@pytest.mark.unit</a:t>
            </a:r>
            <a:endParaRPr sz="1100"/>
          </a:p>
          <a:p xmlns:a="http://schemas.openxmlformats.org/drawingml/2006/main">
            <a:pPr marL="0" indent="0">
              <a:lnSpc>
                <a:spcPct val="112000"/>
              </a:lnSpc>
              <a:buNone/>
            </a:pPr>
            <a:r>
              <a:rPr sz="1100">
                <a:solidFill>
                  <a:srgbClr val="D9E4F5"/>
                </a:solidFill>
                <a:latin typeface="Consolas"/>
                <a:ea typeface="Consolas"/>
                <a:cs typeface="Consolas"/>
              </a:rPr>
              <a:t>@pytest.mark.parametrize("p, expected", [</a:t>
            </a:r>
            <a:endParaRPr sz="1100"/>
          </a:p>
          <a:p xmlns:a="http://schemas.openxmlformats.org/drawingml/2006/main">
            <a:pPr marL="0" indent="0">
              <a:lnSpc>
                <a:spcPct val="112000"/>
              </a:lnSpc>
              <a:buNone/>
            </a:pPr>
            <a:r>
              <a:rPr sz="1100">
                <a:solidFill>
                  <a:srgbClr val="D9E4F5"/>
                </a:solidFill>
                <a:latin typeface="Consolas"/>
                <a:ea typeface="Consolas"/>
                <a:cs typeface="Consolas"/>
              </a:rPr>
              <a:t>    (0.849999, Decision.REVIEW),  # just under block</a:t>
            </a:r>
            <a:endParaRPr sz="1100"/>
          </a:p>
          <a:p xmlns:a="http://schemas.openxmlformats.org/drawingml/2006/main">
            <a:pPr marL="0" indent="0">
              <a:lnSpc>
                <a:spcPct val="112000"/>
              </a:lnSpc>
              <a:buNone/>
            </a:pPr>
            <a:r>
              <a:rPr sz="1100">
                <a:solidFill>
                  <a:srgbClr val="D9E4F5"/>
                </a:solidFill>
                <a:latin typeface="Consolas"/>
                <a:ea typeface="Consolas"/>
                <a:cs typeface="Consolas"/>
              </a:rPr>
              <a:t>    (0.85,     Decision.BLOCK),   # boundary inclusive</a:t>
            </a:r>
            <a:endParaRPr sz="1100"/>
          </a:p>
          <a:p xmlns:a="http://schemas.openxmlformats.org/drawingml/2006/main">
            <a:pPr marL="0" indent="0">
              <a:lnSpc>
                <a:spcPct val="112000"/>
              </a:lnSpc>
              <a:buNone/>
            </a:pPr>
            <a:r>
              <a:rPr sz="1100">
                <a:solidFill>
                  <a:srgbClr val="D9E4F5"/>
                </a:solidFill>
                <a:latin typeface="Consolas"/>
                <a:ea typeface="Consolas"/>
                <a:cs typeface="Consolas"/>
              </a:rPr>
              <a:t>    (0.699999, Decision.ALLOW),</a:t>
            </a:r>
            <a:endParaRPr sz="1100"/>
          </a:p>
          <a:p xmlns:a="http://schemas.openxmlformats.org/drawingml/2006/main">
            <a:pPr marL="0" indent="0">
              <a:lnSpc>
                <a:spcPct val="112000"/>
              </a:lnSpc>
              <a:buNone/>
            </a:pPr>
            <a:r>
              <a:rPr sz="1100">
                <a:solidFill>
                  <a:srgbClr val="D9E4F5"/>
                </a:solidFill>
                <a:latin typeface="Consolas"/>
                <a:ea typeface="Consolas"/>
                <a:cs typeface="Consolas"/>
              </a:rPr>
              <a:t>    (0.70,     Decision.REVIEW),</a:t>
            </a:r>
            <a:endParaRPr sz="1100"/>
          </a:p>
          <a:p xmlns:a="http://schemas.openxmlformats.org/drawingml/2006/main">
            <a:pPr marL="0" indent="0">
              <a:lnSpc>
                <a:spcPct val="112000"/>
              </a:lnSpc>
              <a:buNone/>
            </a:pPr>
            <a:r>
              <a:rPr sz="1100">
                <a:solidFill>
                  <a:srgbClr val="D9E4F5"/>
                </a:solidFill>
                <a:latin typeface="Consolas"/>
                <a:ea typeface="Consolas"/>
                <a:cs typeface="Consolas"/>
              </a:rPr>
              <a:t>    (0.0,      Decision.ALLOW),</a:t>
            </a:r>
            <a:endParaRPr sz="1100"/>
          </a:p>
          <a:p xmlns:a="http://schemas.openxmlformats.org/drawingml/2006/main">
            <a:pPr marL="0" indent="0">
              <a:lnSpc>
                <a:spcPct val="112000"/>
              </a:lnSpc>
              <a:buNone/>
            </a:pPr>
            <a:r>
              <a:rPr sz="1100">
                <a:solidFill>
                  <a:srgbClr val="D9E4F5"/>
                </a:solidFill>
                <a:latin typeface="Consolas"/>
                <a:ea typeface="Consolas"/>
                <a:cs typeface="Consolas"/>
              </a:rPr>
              <a:t>    (1.0,      Decision.BLOCK),</a:t>
            </a:r>
            <a:endParaRPr sz="1100"/>
          </a:p>
          <a:p xmlns:a="http://schemas.openxmlformats.org/drawingml/2006/main">
            <a:pPr marL="0" indent="0">
              <a:lnSpc>
                <a:spcPct val="112000"/>
              </a:lnSpc>
              <a:buNone/>
            </a:pPr>
            <a:r>
              <a:rPr sz="1100">
                <a:solidFill>
                  <a:srgbClr val="D9E4F5"/>
                </a:solidFill>
                <a:latin typeface="Consolas"/>
                <a:ea typeface="Consolas"/>
                <a:cs typeface="Consolas"/>
              </a:rPr>
              <a:t>])</a:t>
            </a:r>
            <a:endParaRPr sz="1100"/>
          </a:p>
          <a:p xmlns:a="http://schemas.openxmlformats.org/drawingml/2006/main">
            <a:pPr marL="0" indent="0">
              <a:lnSpc>
                <a:spcPct val="112000"/>
              </a:lnSpc>
              <a:buNone/>
            </a:pPr>
            <a:r>
              <a:rPr sz="1100">
                <a:solidFill>
                  <a:srgbClr val="D9E4F5"/>
                </a:solidFill>
                <a:latin typeface="Consolas"/>
                <a:ea typeface="Consolas"/>
                <a:cs typeface="Consolas"/>
              </a:rPr>
              <a:t>def test_decision_bands(p, expected):</a:t>
            </a:r>
            <a:endParaRPr sz="1100"/>
          </a:p>
          <a:p xmlns:a="http://schemas.openxmlformats.org/drawingml/2006/main">
            <a:pPr marL="0" indent="0">
              <a:lnSpc>
                <a:spcPct val="112000"/>
              </a:lnSpc>
              <a:buNone/>
            </a:pPr>
            <a:r>
              <a:rPr sz="1100">
                <a:solidFill>
                  <a:srgbClr val="D9E4F5"/>
                </a:solidFill>
                <a:latin typeface="Consolas"/>
                <a:ea typeface="Consolas"/>
                <a:cs typeface="Consolas"/>
              </a:rPr>
              <a:t>    assert decide(RawScore(value=p),</a:t>
            </a:r>
            <a:endParaRPr sz="1100"/>
          </a:p>
          <a:p xmlns:a="http://schemas.openxmlformats.org/drawingml/2006/main">
            <a:pPr marL="0" indent="0">
              <a:lnSpc>
                <a:spcPct val="112000"/>
              </a:lnSpc>
              <a:buNone/>
            </a:pPr>
            <a:r>
              <a:rPr sz="1100">
                <a:solidFill>
                  <a:srgbClr val="D9E4F5"/>
                </a:solidFill>
                <a:latin typeface="Consolas"/>
                <a:ea typeface="Consolas"/>
                <a:cs typeface="Consolas"/>
              </a:rPr>
              <a:t>                  block_threshold=0.85) is expected</a:t>
            </a:r>
            <a:endParaRPr sz="1100"/>
          </a:p>
        </p:txBody>
      </p:sp>
      <p:sp>
        <p:nvSpPr>
          <p:cNvPr id="14" name="Shape 11">
            <a:extLst xmlns:a="http://schemas.openxmlformats.org/drawingml/2006/main">
              <a:ext uri="{FF2B5EF4-FFF2-40B4-BE49-F238E27FC236}">
                <a16:creationId xmlns:a16="http://schemas.microsoft.com/office/drawing/2014/main" id="{71B2E281-A6FF-436F-9F1B-2EC7DC94D817}"/>
              </a:ext>
            </a:extLst>
          </p:cNvPr>
          <p:cNvSpPr>
            <a:spLocks xmlns:a="http://schemas.openxmlformats.org/drawingml/2006/main" noGrp="1"/>
          </p:cNvSpPr>
          <p:nvPr/>
        </p:nvSpPr>
        <p:spPr>
          <a:xfrm xmlns:a="http://schemas.openxmlformats.org/drawingml/2006/main">
            <a:off x="8321040" y="1481328"/>
            <a:ext cx="3364992" cy="2171700"/>
          </a:xfrm>
          <a:prstGeom xmlns:a="http://schemas.openxmlformats.org/drawingml/2006/main" prst="roundRect">
            <a:avLst>
              <a:gd name="adj" fmla="val 2526"/>
            </a:avLst>
          </a:prstGeom>
          <a:solidFill xmlns:a="http://schemas.openxmlformats.org/drawingml/2006/main">
            <a:srgbClr val="D4F1EE"/>
          </a:solidFill>
        </p:spPr>
      </p:sp>
      <p:sp>
        <p:nvSpPr>
          <p:cNvPr id="15" name="Text 12">
            <a:extLst xmlns:a="http://schemas.openxmlformats.org/drawingml/2006/main">
              <a:ext uri="{FF2B5EF4-FFF2-40B4-BE49-F238E27FC236}">
                <a16:creationId xmlns:a16="http://schemas.microsoft.com/office/drawing/2014/main" id="{B60BEFD6-3344-483C-B895-EC1470D9A087}"/>
              </a:ext>
            </a:extLst>
          </p:cNvPr>
          <p:cNvSpPr>
            <a:spLocks xmlns:a="http://schemas.openxmlformats.org/drawingml/2006/main" noGrp="1"/>
          </p:cNvSpPr>
          <p:nvPr/>
        </p:nvSpPr>
        <p:spPr>
          <a:xfrm xmlns:a="http://schemas.openxmlformats.org/drawingml/2006/main">
            <a:off x="8485632" y="157276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Boundaries are the spec</a:t>
            </a:r>
            <a:endParaRPr sz="1050"/>
          </a:p>
        </p:txBody>
      </p:sp>
      <p:sp>
        <p:nvSpPr>
          <p:cNvPr id="16" name="Text 13">
            <a:extLst xmlns:a="http://schemas.openxmlformats.org/drawingml/2006/main">
              <a:ext uri="{FF2B5EF4-FFF2-40B4-BE49-F238E27FC236}">
                <a16:creationId xmlns:a16="http://schemas.microsoft.com/office/drawing/2014/main" id="{D82FA4C6-90B2-4C10-971F-3D55D9D4A2E9}"/>
              </a:ext>
            </a:extLst>
          </p:cNvPr>
          <p:cNvSpPr>
            <a:spLocks xmlns:a="http://schemas.openxmlformats.org/drawingml/2006/main" noGrp="1"/>
          </p:cNvSpPr>
          <p:nvPr/>
        </p:nvSpPr>
        <p:spPr>
          <a:xfrm xmlns:a="http://schemas.openxmlformats.org/drawingml/2006/main">
            <a:off x="8485632" y="1847088"/>
            <a:ext cx="3063240" cy="17145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0.85 → BLOCK is inclusive — a documented business rule frozen as an executable test.</a:t>
            </a:r>
            <a:endParaRPr sz="930"/>
          </a:p>
        </p:txBody>
      </p:sp>
      <p:sp>
        <p:nvSpPr>
          <p:cNvPr id="17" name="Shape 14">
            <a:extLst xmlns:a="http://schemas.openxmlformats.org/drawingml/2006/main">
              <a:ext uri="{FF2B5EF4-FFF2-40B4-BE49-F238E27FC236}">
                <a16:creationId xmlns:a16="http://schemas.microsoft.com/office/drawing/2014/main" id="{A614BC33-5173-42E0-87C4-4A092FF7CE0B}"/>
              </a:ext>
            </a:extLst>
          </p:cNvPr>
          <p:cNvSpPr>
            <a:spLocks xmlns:a="http://schemas.openxmlformats.org/drawingml/2006/main" noGrp="1"/>
          </p:cNvSpPr>
          <p:nvPr/>
        </p:nvSpPr>
        <p:spPr>
          <a:xfrm xmlns:a="http://schemas.openxmlformats.org/drawingml/2006/main">
            <a:off x="8321040" y="3790188"/>
            <a:ext cx="3364992" cy="2171700"/>
          </a:xfrm>
          <a:prstGeom xmlns:a="http://schemas.openxmlformats.org/drawingml/2006/main" prst="roundRect">
            <a:avLst>
              <a:gd name="adj" fmla="val 2526"/>
            </a:avLst>
          </a:prstGeom>
          <a:solidFill xmlns:a="http://schemas.openxmlformats.org/drawingml/2006/main">
            <a:srgbClr val="D9F0FA"/>
          </a:solidFill>
        </p:spPr>
      </p:sp>
      <p:sp>
        <p:nvSpPr>
          <p:cNvPr id="18" name="Text 15">
            <a:extLst xmlns:a="http://schemas.openxmlformats.org/drawingml/2006/main">
              <a:ext uri="{FF2B5EF4-FFF2-40B4-BE49-F238E27FC236}">
                <a16:creationId xmlns:a16="http://schemas.microsoft.com/office/drawing/2014/main" id="{1011AD74-DFC6-452E-BDE2-7B5AC0C3FE6C}"/>
              </a:ext>
            </a:extLst>
          </p:cNvPr>
          <p:cNvSpPr>
            <a:spLocks xmlns:a="http://schemas.openxmlformats.org/drawingml/2006/main" noGrp="1"/>
          </p:cNvSpPr>
          <p:nvPr/>
        </p:nvSpPr>
        <p:spPr>
          <a:xfrm xmlns:a="http://schemas.openxmlformats.org/drawingml/2006/main">
            <a:off x="8485632" y="388162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Parametrize, don't copy-paste</a:t>
            </a:r>
            <a:endParaRPr sz="1050"/>
          </a:p>
        </p:txBody>
      </p:sp>
      <p:sp>
        <p:nvSpPr>
          <p:cNvPr id="19" name="Text 16">
            <a:extLst xmlns:a="http://schemas.openxmlformats.org/drawingml/2006/main">
              <a:ext uri="{FF2B5EF4-FFF2-40B4-BE49-F238E27FC236}">
                <a16:creationId xmlns:a16="http://schemas.microsoft.com/office/drawing/2014/main" id="{60288F1F-C43A-4F8B-BE05-5330E547ABB1}"/>
              </a:ext>
            </a:extLst>
          </p:cNvPr>
          <p:cNvSpPr>
            <a:spLocks xmlns:a="http://schemas.openxmlformats.org/drawingml/2006/main" noGrp="1"/>
          </p:cNvSpPr>
          <p:nvPr/>
        </p:nvSpPr>
        <p:spPr>
          <a:xfrm xmlns:a="http://schemas.openxmlformats.org/drawingml/2006/main">
            <a:off x="8485632" y="4155948"/>
            <a:ext cx="3063240" cy="17145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Six cases, one test body; a failure names the exact offending case.</a:t>
            </a:r>
            <a:endParaRPr sz="930"/>
          </a:p>
        </p:txBody>
      </p:sp>
    </p:spTree>
    <p:extLst>
      <p:ext uri="{BB962C8B-B14F-4D97-AF65-F5344CB8AC3E}">
        <p14:creationId xmlns:p14="http://schemas.microsoft.com/office/powerpoint/2010/main" val="310125158"/>
      </p:ext>
    </p:extLst>
  </p:cSld>
</p:sld>
</file>

<file path=ppt/slides/slide8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1428A04-192A-4F55-8DCF-58C01A6DDE85}"/>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Integration testing the API</a:t>
            </a:r>
            <a:endParaRPr sz="2600"/>
          </a:p>
        </p:txBody>
      </p:sp>
      <p:sp>
        <p:nvSpPr>
          <p:cNvPr id="3" name="Text 1">
            <a:extLst xmlns:a="http://schemas.openxmlformats.org/drawingml/2006/main">
              <a:ext uri="{FF2B5EF4-FFF2-40B4-BE49-F238E27FC236}">
                <a16:creationId xmlns:a16="http://schemas.microsoft.com/office/drawing/2014/main" id="{79DF099B-67A4-4DF8-B456-CA27FEC41DD0}"/>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اختبار التكامل لواجهة البرمجة</a:t>
            </a:r>
            <a:endParaRPr sz="1300"/>
          </a:p>
        </p:txBody>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664475e226004233"/>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F2A5B09B-6380-446C-A170-D108076C9355}"/>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C6B8FC4C-FC66-40A4-B875-7DB1AC26F870}"/>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4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FF275546-EAD4-4691-A788-3EC2417D2E65}"/>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88</a:t>
            </a:r>
            <a:endParaRPr sz="850"/>
          </a:p>
        </p:txBody>
      </p:sp>
      <p:sp>
        <p:nvSpPr>
          <p:cNvPr id="8" name="Text 5">
            <a:extLst xmlns:a="http://schemas.openxmlformats.org/drawingml/2006/main">
              <a:ext uri="{FF2B5EF4-FFF2-40B4-BE49-F238E27FC236}">
                <a16:creationId xmlns:a16="http://schemas.microsoft.com/office/drawing/2014/main" id="{97BA744A-4531-4F9A-B759-32A6685D19F9}"/>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FE79A9BD-EDC9-4398-B659-7B6B6BF14039}"/>
              </a:ext>
            </a:extLst>
          </p:cNvPr>
          <p:cNvSpPr>
            <a:spLocks xmlns:a="http://schemas.openxmlformats.org/drawingml/2006/main" noGrp="1"/>
          </p:cNvSpPr>
          <p:nvPr/>
        </p:nvSpPr>
        <p:spPr>
          <a:xfrm xmlns:a="http://schemas.openxmlformats.org/drawingml/2006/main">
            <a:off x="1005840" y="14996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Fake scorer, real app</a:t>
            </a:r>
            <a:endParaRPr sz="1350"/>
          </a:p>
        </p:txBody>
      </p:sp>
      <p:sp>
        <p:nvSpPr>
          <p:cNvPr id="10" name="Text 7">
            <a:extLst xmlns:a="http://schemas.openxmlformats.org/drawingml/2006/main">
              <a:ext uri="{FF2B5EF4-FFF2-40B4-BE49-F238E27FC236}">
                <a16:creationId xmlns:a16="http://schemas.microsoft.com/office/drawing/2014/main" id="{F94640E0-23C8-4F32-927E-E6437A390BE5}"/>
              </a:ext>
            </a:extLst>
          </p:cNvPr>
          <p:cNvSpPr>
            <a:spLocks xmlns:a="http://schemas.openxmlformats.org/drawingml/2006/main" noGrp="1"/>
          </p:cNvSpPr>
          <p:nvPr/>
        </p:nvSpPr>
        <p:spPr>
          <a:xfrm xmlns:a="http://schemas.openxmlformats.org/drawingml/2006/main">
            <a:off x="1005840" y="180136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TestClient against create_app() with dependency_overrides injecting the fake — no model file, no network, ~50 ms per test.</a:t>
            </a:r>
            <a:endParaRPr sz="1050"/>
          </a:p>
        </p:txBody>
      </p:sp>
      <p:sp>
        <p:nvSpPr>
          <p:cNvPr id="11" name="Text 8">
            <a:extLst xmlns:a="http://schemas.openxmlformats.org/drawingml/2006/main">
              <a:ext uri="{FF2B5EF4-FFF2-40B4-BE49-F238E27FC236}">
                <a16:creationId xmlns:a16="http://schemas.microsoft.com/office/drawing/2014/main" id="{AB6621C1-CD11-47C8-B1C5-0B530CF33A88}"/>
              </a:ext>
            </a:extLst>
          </p:cNvPr>
          <p:cNvSpPr>
            <a:spLocks xmlns:a="http://schemas.openxmlformats.org/drawingml/2006/main" noGrp="1"/>
          </p:cNvSpPr>
          <p:nvPr/>
        </p:nvSpPr>
        <p:spPr>
          <a:xfrm xmlns:a="http://schemas.openxmlformats.org/drawingml/2006/main">
            <a:off x="502920" y="280035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267C3310-3AD8-4B7B-B63D-31035EAFF06E}"/>
              </a:ext>
            </a:extLst>
          </p:cNvPr>
          <p:cNvSpPr>
            <a:spLocks xmlns:a="http://schemas.openxmlformats.org/drawingml/2006/main" noGrp="1"/>
          </p:cNvSpPr>
          <p:nvPr/>
        </p:nvSpPr>
        <p:spPr>
          <a:xfrm xmlns:a="http://schemas.openxmlformats.org/drawingml/2006/main">
            <a:off x="1005840" y="274548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Contract tests</a:t>
            </a:r>
            <a:endParaRPr sz="1350"/>
          </a:p>
        </p:txBody>
      </p:sp>
      <p:sp>
        <p:nvSpPr>
          <p:cNvPr id="13" name="Text 10">
            <a:extLst xmlns:a="http://schemas.openxmlformats.org/drawingml/2006/main">
              <a:ext uri="{FF2B5EF4-FFF2-40B4-BE49-F238E27FC236}">
                <a16:creationId xmlns:a16="http://schemas.microsoft.com/office/drawing/2014/main" id="{32F57477-B6AA-4A6D-8B0A-CBB05DBDD00D}"/>
              </a:ext>
            </a:extLst>
          </p:cNvPr>
          <p:cNvSpPr>
            <a:spLocks xmlns:a="http://schemas.openxmlformats.org/drawingml/2006/main" noGrp="1"/>
          </p:cNvSpPr>
          <p:nvPr/>
        </p:nvSpPr>
        <p:spPr>
          <a:xfrm xmlns:a="http://schemas.openxmlformats.org/drawingml/2006/main">
            <a:off x="1005840" y="304723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Response shape, X-Trace-Id header, status codes for the malformed corpus — payloads/malformed/ from Module 2 yields 40 assertions in one parametrised test.</a:t>
            </a:r>
            <a:endParaRPr sz="1050"/>
          </a:p>
        </p:txBody>
      </p:sp>
      <p:sp>
        <p:nvSpPr>
          <p:cNvPr id="14" name="Text 11">
            <a:extLst xmlns:a="http://schemas.openxmlformats.org/drawingml/2006/main">
              <a:ext uri="{FF2B5EF4-FFF2-40B4-BE49-F238E27FC236}">
                <a16:creationId xmlns:a16="http://schemas.microsoft.com/office/drawing/2014/main" id="{6B164813-C3A4-42CF-81A1-147CCCDA9712}"/>
              </a:ext>
            </a:extLst>
          </p:cNvPr>
          <p:cNvSpPr>
            <a:spLocks xmlns:a="http://schemas.openxmlformats.org/drawingml/2006/main" noGrp="1"/>
          </p:cNvSpPr>
          <p:nvPr/>
        </p:nvSpPr>
        <p:spPr>
          <a:xfrm xmlns:a="http://schemas.openxmlformats.org/drawingml/2006/main">
            <a:off x="502920" y="404622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12A6ABFD-B6B8-4CC7-8C7E-FB0553EFE2AA}"/>
              </a:ext>
            </a:extLst>
          </p:cNvPr>
          <p:cNvSpPr>
            <a:spLocks xmlns:a="http://schemas.openxmlformats.org/drawingml/2006/main" noGrp="1"/>
          </p:cNvSpPr>
          <p:nvPr/>
        </p:nvSpPr>
        <p:spPr>
          <a:xfrm xmlns:a="http://schemas.openxmlformats.org/drawingml/2006/main">
            <a:off x="1005840" y="399135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Readiness and the error envelope</a:t>
            </a:r>
            <a:endParaRPr sz="1350"/>
          </a:p>
        </p:txBody>
      </p:sp>
      <p:sp>
        <p:nvSpPr>
          <p:cNvPr id="16" name="Text 13">
            <a:extLst xmlns:a="http://schemas.openxmlformats.org/drawingml/2006/main">
              <a:ext uri="{FF2B5EF4-FFF2-40B4-BE49-F238E27FC236}">
                <a16:creationId xmlns:a16="http://schemas.microsoft.com/office/drawing/2014/main" id="{401BBA4A-D496-4EB8-B2FA-66F8282E3490}"/>
              </a:ext>
            </a:extLst>
          </p:cNvPr>
          <p:cNvSpPr>
            <a:spLocks xmlns:a="http://schemas.openxmlformats.org/drawingml/2006/main" noGrp="1"/>
          </p:cNvSpPr>
          <p:nvPr/>
        </p:nvSpPr>
        <p:spPr>
          <a:xfrm xmlns:a="http://schemas.openxmlformats.org/drawingml/2006/main">
            <a:off x="1005840" y="429310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App started without a scorer → /ready 503, predict 503 + Retry-After. Forced exception → 500 body matches ErrorEnvelope, no stack-trace text.</a:t>
            </a:r>
            <a:endParaRPr sz="1050"/>
          </a:p>
        </p:txBody>
      </p:sp>
      <p:sp>
        <p:nvSpPr>
          <p:cNvPr id="17" name="Text 14">
            <a:extLst xmlns:a="http://schemas.openxmlformats.org/drawingml/2006/main">
              <a:ext uri="{FF2B5EF4-FFF2-40B4-BE49-F238E27FC236}">
                <a16:creationId xmlns:a16="http://schemas.microsoft.com/office/drawing/2014/main" id="{C8A47F69-89BC-4991-B423-990DEC0A920D}"/>
              </a:ext>
            </a:extLst>
          </p:cNvPr>
          <p:cNvSpPr>
            <a:spLocks xmlns:a="http://schemas.openxmlformats.org/drawingml/2006/main" noGrp="1"/>
          </p:cNvSpPr>
          <p:nvPr/>
        </p:nvSpPr>
        <p:spPr>
          <a:xfrm xmlns:a="http://schemas.openxmlformats.org/drawingml/2006/main">
            <a:off x="502920" y="5292090"/>
            <a:ext cx="329184" cy="329184"/>
          </a:xfrm>
          <a:prstGeom xmlns:a="http://schemas.openxmlformats.org/drawingml/2006/main" prst="ellipse">
            <a:avLst/>
          </a:prstGeom>
          <a:solidFill xmlns:a="http://schemas.openxmlformats.org/drawingml/2006/main">
            <a:srgbClr val="8DC63F"/>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4</a:t>
            </a:r>
            <a:endParaRPr sz="1300"/>
          </a:p>
        </p:txBody>
      </p:sp>
      <p:sp>
        <p:nvSpPr>
          <p:cNvPr id="18" name="Text 15">
            <a:extLst xmlns:a="http://schemas.openxmlformats.org/drawingml/2006/main">
              <a:ext uri="{FF2B5EF4-FFF2-40B4-BE49-F238E27FC236}">
                <a16:creationId xmlns:a16="http://schemas.microsoft.com/office/drawing/2014/main" id="{37B7EB29-267C-4E6A-B4EC-D5CAA5C5FA45}"/>
              </a:ext>
            </a:extLst>
          </p:cNvPr>
          <p:cNvSpPr>
            <a:spLocks xmlns:a="http://schemas.openxmlformats.org/drawingml/2006/main" noGrp="1"/>
          </p:cNvSpPr>
          <p:nvPr/>
        </p:nvSpPr>
        <p:spPr>
          <a:xfrm xmlns:a="http://schemas.openxmlformats.org/drawingml/2006/main">
            <a:off x="1005840" y="523722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One real-model test</a:t>
            </a:r>
            <a:endParaRPr sz="1350"/>
          </a:p>
        </p:txBody>
      </p:sp>
      <p:sp>
        <p:nvSpPr>
          <p:cNvPr id="19" name="Text 16">
            <a:extLst xmlns:a="http://schemas.openxmlformats.org/drawingml/2006/main">
              <a:ext uri="{FF2B5EF4-FFF2-40B4-BE49-F238E27FC236}">
                <a16:creationId xmlns:a16="http://schemas.microsoft.com/office/drawing/2014/main" id="{BC36FDFE-195E-4B4A-9006-E0123AD3C6F5}"/>
              </a:ext>
            </a:extLst>
          </p:cNvPr>
          <p:cNvSpPr>
            <a:spLocks xmlns:a="http://schemas.openxmlformats.org/drawingml/2006/main" noGrp="1"/>
          </p:cNvSpPr>
          <p:nvPr/>
        </p:nvSpPr>
        <p:spPr>
          <a:xfrm xmlns:a="http://schemas.openxmlformats.org/drawingml/2006/main">
            <a:off x="1005840" y="553897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Marked @pytest.mark.slow: load the actual joblib, score one known row — the training/serving-skew tripwire.</a:t>
            </a:r>
            <a:endParaRPr sz="1050"/>
          </a:p>
        </p:txBody>
      </p:sp>
    </p:spTree>
    <p:extLst>
      <p:ext uri="{BB962C8B-B14F-4D97-AF65-F5344CB8AC3E}">
        <p14:creationId xmlns:p14="http://schemas.microsoft.com/office/powerpoint/2010/main" val="1635529326"/>
      </p:ext>
    </p:extLst>
  </p:cSld>
</p:sld>
</file>

<file path=ppt/slides/slide8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8182477-872F-43BA-AF5F-EEDC5497A710}"/>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Integration tests — the API contract</a:t>
            </a:r>
            <a:endParaRPr sz="2600"/>
          </a:p>
        </p:txBody>
      </p:sp>
      <p:sp>
        <p:nvSpPr>
          <p:cNvPr id="3" name="Text 1">
            <a:extLst xmlns:a="http://schemas.openxmlformats.org/drawingml/2006/main">
              <a:ext uri="{FF2B5EF4-FFF2-40B4-BE49-F238E27FC236}">
                <a16:creationId xmlns:a16="http://schemas.microsoft.com/office/drawing/2014/main" id="{4F2BD537-C796-46CC-9157-F38089B29CA7}"/>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اختبارات التكامل — عقد الواجهة</a:t>
            </a:r>
            <a:endParaRPr sz="1300"/>
          </a:p>
        </p:txBody>
      </p:sp>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6bb4afe9455c4e6f"/>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6640B9AB-033F-4793-BA05-B9961BCD8F02}"/>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993FE18B-3F12-4749-8351-0E2279110E48}"/>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4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277DEA6D-D61D-42E1-8A1F-077D6C2B0E3A}"/>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89</a:t>
            </a:r>
            <a:endParaRPr sz="850"/>
          </a:p>
        </p:txBody>
      </p:sp>
      <p:sp>
        <p:nvSpPr>
          <p:cNvPr id="8" name="Shape 5">
            <a:extLst xmlns:a="http://schemas.openxmlformats.org/drawingml/2006/main">
              <a:ext uri="{FF2B5EF4-FFF2-40B4-BE49-F238E27FC236}">
                <a16:creationId xmlns:a16="http://schemas.microsoft.com/office/drawing/2014/main" id="{5ADF8A8C-C81F-4D4F-86F1-596D65F2C913}"/>
              </a:ext>
            </a:extLst>
          </p:cNvPr>
          <p:cNvSpPr>
            <a:spLocks xmlns:a="http://schemas.openxmlformats.org/drawingml/2006/main" noGrp="1"/>
          </p:cNvSpPr>
          <p:nvPr/>
        </p:nvSpPr>
        <p:spPr>
          <a:xfrm xmlns:a="http://schemas.openxmlformats.org/drawingml/2006/main">
            <a:off x="502920" y="1481328"/>
            <a:ext cx="7635240" cy="4617720"/>
          </a:xfrm>
          <a:prstGeom xmlns:a="http://schemas.openxmlformats.org/drawingml/2006/main" prst="roundRect">
            <a:avLst>
              <a:gd name="adj" fmla="val 1584"/>
            </a:avLst>
          </a:prstGeom>
          <a:solidFill xmlns:a="http://schemas.openxmlformats.org/drawingml/2006/main">
            <a:srgbClr val="1A2233"/>
          </a:solidFill>
        </p:spPr>
      </p:sp>
      <p:sp>
        <p:nvSpPr>
          <p:cNvPr id="9" name="Shape 6">
            <a:extLst xmlns:a="http://schemas.openxmlformats.org/drawingml/2006/main">
              <a:ext uri="{FF2B5EF4-FFF2-40B4-BE49-F238E27FC236}">
                <a16:creationId xmlns:a16="http://schemas.microsoft.com/office/drawing/2014/main" id="{2B83B212-EADE-402F-8011-72828B386F57}"/>
              </a:ext>
            </a:extLst>
          </p:cNvPr>
          <p:cNvSpPr>
            <a:spLocks xmlns:a="http://schemas.openxmlformats.org/drawingml/2006/main" noGrp="1"/>
          </p:cNvSpPr>
          <p:nvPr/>
        </p:nvSpPr>
        <p:spPr>
          <a:xfrm xmlns:a="http://schemas.openxmlformats.org/drawingml/2006/main">
            <a:off x="731520" y="1664208"/>
            <a:ext cx="109728" cy="109728"/>
          </a:xfrm>
          <a:prstGeom xmlns:a="http://schemas.openxmlformats.org/drawingml/2006/main" prst="ellipse">
            <a:avLst/>
          </a:prstGeom>
          <a:solidFill xmlns:a="http://schemas.openxmlformats.org/drawingml/2006/main">
            <a:srgbClr val="E8503A"/>
          </a:solidFill>
        </p:spPr>
      </p:sp>
      <p:sp>
        <p:nvSpPr>
          <p:cNvPr id="10" name="Shape 7">
            <a:extLst xmlns:a="http://schemas.openxmlformats.org/drawingml/2006/main">
              <a:ext uri="{FF2B5EF4-FFF2-40B4-BE49-F238E27FC236}">
                <a16:creationId xmlns:a16="http://schemas.microsoft.com/office/drawing/2014/main" id="{0568408A-8839-41DB-871C-DDCA2D07608A}"/>
              </a:ext>
            </a:extLst>
          </p:cNvPr>
          <p:cNvSpPr>
            <a:spLocks xmlns:a="http://schemas.openxmlformats.org/drawingml/2006/main" noGrp="1"/>
          </p:cNvSpPr>
          <p:nvPr/>
        </p:nvSpPr>
        <p:spPr>
          <a:xfrm xmlns:a="http://schemas.openxmlformats.org/drawingml/2006/main">
            <a:off x="932688" y="1664208"/>
            <a:ext cx="109728" cy="109728"/>
          </a:xfrm>
          <a:prstGeom xmlns:a="http://schemas.openxmlformats.org/drawingml/2006/main" prst="ellipse">
            <a:avLst/>
          </a:prstGeom>
          <a:solidFill xmlns:a="http://schemas.openxmlformats.org/drawingml/2006/main">
            <a:srgbClr val="F5B820"/>
          </a:solidFill>
        </p:spPr>
      </p:sp>
      <p:sp>
        <p:nvSpPr>
          <p:cNvPr id="11" name="Shape 8">
            <a:extLst xmlns:a="http://schemas.openxmlformats.org/drawingml/2006/main">
              <a:ext uri="{FF2B5EF4-FFF2-40B4-BE49-F238E27FC236}">
                <a16:creationId xmlns:a16="http://schemas.microsoft.com/office/drawing/2014/main" id="{69009CE4-B3EC-477E-A9B0-6A99593963A1}"/>
              </a:ext>
            </a:extLst>
          </p:cNvPr>
          <p:cNvSpPr>
            <a:spLocks xmlns:a="http://schemas.openxmlformats.org/drawingml/2006/main" noGrp="1"/>
          </p:cNvSpPr>
          <p:nvPr/>
        </p:nvSpPr>
        <p:spPr>
          <a:xfrm xmlns:a="http://schemas.openxmlformats.org/drawingml/2006/main">
            <a:off x="1133856" y="1664208"/>
            <a:ext cx="109728" cy="109728"/>
          </a:xfrm>
          <a:prstGeom xmlns:a="http://schemas.openxmlformats.org/drawingml/2006/main" prst="ellipse">
            <a:avLst/>
          </a:prstGeom>
          <a:solidFill xmlns:a="http://schemas.openxmlformats.org/drawingml/2006/main">
            <a:srgbClr val="8DC63F"/>
          </a:solidFill>
        </p:spPr>
      </p:sp>
      <p:sp>
        <p:nvSpPr>
          <p:cNvPr id="12" name="Text 9">
            <a:extLst xmlns:a="http://schemas.openxmlformats.org/drawingml/2006/main">
              <a:ext uri="{FF2B5EF4-FFF2-40B4-BE49-F238E27FC236}">
                <a16:creationId xmlns:a16="http://schemas.microsoft.com/office/drawing/2014/main" id="{1D18DEC9-A6B1-406B-B647-19EBEC73BF7D}"/>
              </a:ext>
            </a:extLst>
          </p:cNvPr>
          <p:cNvSpPr>
            <a:spLocks xmlns:a="http://schemas.openxmlformats.org/drawingml/2006/main" noGrp="1"/>
          </p:cNvSpPr>
          <p:nvPr/>
        </p:nvSpPr>
        <p:spPr>
          <a:xfrm xmlns:a="http://schemas.openxmlformats.org/drawingml/2006/main">
            <a:off x="4526280" y="1609344"/>
            <a:ext cx="32918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6C8"/>
                </a:solidFill>
                <a:latin typeface="Consolas"/>
                <a:ea typeface="Consolas"/>
                <a:cs typeface="Consolas"/>
              </a:rPr>
              <a:t>tests/integration/test_predict_api.py</a:t>
            </a:r>
            <a:endParaRPr sz="900"/>
          </a:p>
        </p:txBody>
      </p:sp>
      <p:sp>
        <p:nvSpPr>
          <p:cNvPr id="13" name="Text 10">
            <a:extLst xmlns:a="http://schemas.openxmlformats.org/drawingml/2006/main">
              <a:ext uri="{FF2B5EF4-FFF2-40B4-BE49-F238E27FC236}">
                <a16:creationId xmlns:a16="http://schemas.microsoft.com/office/drawing/2014/main" id="{EEF3A29C-F436-4EEA-8A65-BE151EDBD144}"/>
              </a:ext>
            </a:extLst>
          </p:cNvPr>
          <p:cNvSpPr>
            <a:spLocks xmlns:a="http://schemas.openxmlformats.org/drawingml/2006/main" noGrp="1"/>
          </p:cNvSpPr>
          <p:nvPr/>
        </p:nvSpPr>
        <p:spPr>
          <a:xfrm xmlns:a="http://schemas.openxmlformats.org/drawingml/2006/main">
            <a:off x="713232" y="1965960"/>
            <a:ext cx="717804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000">
                <a:solidFill>
                  <a:srgbClr val="D9E4F5"/>
                </a:solidFill>
                <a:latin typeface="Consolas"/>
                <a:ea typeface="Consolas"/>
                <a:cs typeface="Consolas"/>
              </a:rPr>
              <a:t>MALFORMED = sorted(</a:t>
            </a:r>
            <a:endParaRPr sz="1000"/>
          </a:p>
          <a:p xmlns:a="http://schemas.openxmlformats.org/drawingml/2006/main">
            <a:pPr marL="0" indent="0">
              <a:lnSpc>
                <a:spcPct val="112000"/>
              </a:lnSpc>
              <a:buNone/>
            </a:pPr>
            <a:r>
              <a:rPr sz="1000">
                <a:solidFill>
                  <a:srgbClr val="D9E4F5"/>
                </a:solidFill>
                <a:latin typeface="Consolas"/>
                <a:ea typeface="Consolas"/>
                <a:cs typeface="Consolas"/>
              </a:rPr>
              <a:t>    pathlib.Path("payloads/malformed").glob("*.json"))</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@pytest.mark.integration</a:t>
            </a:r>
            <a:endParaRPr sz="1000"/>
          </a:p>
          <a:p xmlns:a="http://schemas.openxmlformats.org/drawingml/2006/main">
            <a:pPr marL="0" indent="0">
              <a:lnSpc>
                <a:spcPct val="112000"/>
              </a:lnSpc>
              <a:buNone/>
            </a:pPr>
            <a:r>
              <a:rPr sz="1000">
                <a:solidFill>
                  <a:srgbClr val="D9E4F5"/>
                </a:solidFill>
                <a:latin typeface="Consolas"/>
                <a:ea typeface="Consolas"/>
                <a:cs typeface="Consolas"/>
              </a:rPr>
              <a:t>def test_predict_contract(client_factory, sample_txn):</a:t>
            </a:r>
            <a:endParaRPr sz="1000"/>
          </a:p>
          <a:p xmlns:a="http://schemas.openxmlformats.org/drawingml/2006/main">
            <a:pPr marL="0" indent="0">
              <a:lnSpc>
                <a:spcPct val="112000"/>
              </a:lnSpc>
              <a:buNone/>
            </a:pPr>
            <a:r>
              <a:rPr sz="1000">
                <a:solidFill>
                  <a:srgbClr val="D9E4F5"/>
                </a:solidFill>
                <a:latin typeface="Consolas"/>
                <a:ea typeface="Consolas"/>
                <a:cs typeface="Consolas"/>
              </a:rPr>
              <a:t>    client = client_factory(probability=0.93)  # BLOCK</a:t>
            </a:r>
            <a:endParaRPr sz="1000"/>
          </a:p>
          <a:p xmlns:a="http://schemas.openxmlformats.org/drawingml/2006/main">
            <a:pPr marL="0" indent="0">
              <a:lnSpc>
                <a:spcPct val="112000"/>
              </a:lnSpc>
              <a:buNone/>
            </a:pPr>
            <a:r>
              <a:rPr sz="1000">
                <a:solidFill>
                  <a:srgbClr val="D9E4F5"/>
                </a:solidFill>
                <a:latin typeface="Consolas"/>
                <a:ea typeface="Consolas"/>
                <a:cs typeface="Consolas"/>
              </a:rPr>
              <a:t>    r = client.post("/v1/predict",</a:t>
            </a:r>
            <a:endParaRPr sz="1000"/>
          </a:p>
          <a:p xmlns:a="http://schemas.openxmlformats.org/drawingml/2006/main">
            <a:pPr marL="0" indent="0">
              <a:lnSpc>
                <a:spcPct val="112000"/>
              </a:lnSpc>
              <a:buNone/>
            </a:pPr>
            <a:r>
              <a:rPr sz="1000">
                <a:solidFill>
                  <a:srgbClr val="D9E4F5"/>
                </a:solidFill>
                <a:latin typeface="Consolas"/>
                <a:ea typeface="Consolas"/>
                <a:cs typeface="Consolas"/>
              </a:rPr>
              <a:t>        json=json.loads(sample_txn.model_dump_json()))</a:t>
            </a:r>
            <a:endParaRPr sz="1000"/>
          </a:p>
          <a:p xmlns:a="http://schemas.openxmlformats.org/drawingml/2006/main">
            <a:pPr marL="0" indent="0">
              <a:lnSpc>
                <a:spcPct val="112000"/>
              </a:lnSpc>
              <a:buNone/>
            </a:pPr>
            <a:r>
              <a:rPr sz="1000">
                <a:solidFill>
                  <a:srgbClr val="D9E4F5"/>
                </a:solidFill>
                <a:latin typeface="Consolas"/>
                <a:ea typeface="Consolas"/>
                <a:cs typeface="Consolas"/>
              </a:rPr>
              <a:t>    assert r.status_code == 200</a:t>
            </a:r>
            <a:endParaRPr sz="1000"/>
          </a:p>
          <a:p xmlns:a="http://schemas.openxmlformats.org/drawingml/2006/main">
            <a:pPr marL="0" indent="0">
              <a:lnSpc>
                <a:spcPct val="112000"/>
              </a:lnSpc>
              <a:buNone/>
            </a:pPr>
            <a:r>
              <a:rPr sz="1000">
                <a:solidFill>
                  <a:srgbClr val="D9E4F5"/>
                </a:solidFill>
                <a:latin typeface="Consolas"/>
                <a:ea typeface="Consolas"/>
                <a:cs typeface="Consolas"/>
              </a:rPr>
              <a:t>    assert r.json()["decision"] == "block"</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@pytest.mark.integration</a:t>
            </a:r>
            <a:endParaRPr sz="1000"/>
          </a:p>
          <a:p xmlns:a="http://schemas.openxmlformats.org/drawingml/2006/main">
            <a:pPr marL="0" indent="0">
              <a:lnSpc>
                <a:spcPct val="112000"/>
              </a:lnSpc>
              <a:buNone/>
            </a:pPr>
            <a:r>
              <a:rPr sz="1000">
                <a:solidFill>
                  <a:srgbClr val="D9E4F5"/>
                </a:solidFill>
                <a:latin typeface="Consolas"/>
                <a:ea typeface="Consolas"/>
                <a:cs typeface="Consolas"/>
              </a:rPr>
              <a:t>@pytest.mark.parametrize("payload_file", MALFORMED)</a:t>
            </a:r>
            <a:endParaRPr sz="1000"/>
          </a:p>
          <a:p xmlns:a="http://schemas.openxmlformats.org/drawingml/2006/main">
            <a:pPr marL="0" indent="0">
              <a:lnSpc>
                <a:spcPct val="112000"/>
              </a:lnSpc>
              <a:buNone/>
            </a:pPr>
            <a:r>
              <a:rPr sz="1000">
                <a:solidFill>
                  <a:srgbClr val="D9E4F5"/>
                </a:solidFill>
                <a:latin typeface="Consolas"/>
                <a:ea typeface="Consolas"/>
                <a:cs typeface="Consolas"/>
              </a:rPr>
              <a:t>def test_malformed_corpus_rejected(</a:t>
            </a:r>
            <a:endParaRPr sz="1000"/>
          </a:p>
          <a:p xmlns:a="http://schemas.openxmlformats.org/drawingml/2006/main">
            <a:pPr marL="0" indent="0">
              <a:lnSpc>
                <a:spcPct val="112000"/>
              </a:lnSpc>
              <a:buNone/>
            </a:pPr>
            <a:r>
              <a:rPr sz="1000">
                <a:solidFill>
                  <a:srgbClr val="D9E4F5"/>
                </a:solidFill>
                <a:latin typeface="Consolas"/>
                <a:ea typeface="Consolas"/>
                <a:cs typeface="Consolas"/>
              </a:rPr>
              <a:t>        client_factory, payload_file):</a:t>
            </a:r>
            <a:endParaRPr sz="1000"/>
          </a:p>
          <a:p xmlns:a="http://schemas.openxmlformats.org/drawingml/2006/main">
            <a:pPr marL="0" indent="0">
              <a:lnSpc>
                <a:spcPct val="112000"/>
              </a:lnSpc>
              <a:buNone/>
            </a:pPr>
            <a:r>
              <a:rPr sz="1000">
                <a:solidFill>
                  <a:srgbClr val="D9E4F5"/>
                </a:solidFill>
                <a:latin typeface="Consolas"/>
                <a:ea typeface="Consolas"/>
                <a:cs typeface="Consolas"/>
              </a:rPr>
              <a:t>    r = client_factory().post("/v1/predict",</a:t>
            </a:r>
            <a:endParaRPr sz="1000"/>
          </a:p>
          <a:p xmlns:a="http://schemas.openxmlformats.org/drawingml/2006/main">
            <a:pPr marL="0" indent="0">
              <a:lnSpc>
                <a:spcPct val="112000"/>
              </a:lnSpc>
              <a:buNone/>
            </a:pPr>
            <a:r>
              <a:rPr sz="1000">
                <a:solidFill>
                  <a:srgbClr val="D9E4F5"/>
                </a:solidFill>
                <a:latin typeface="Consolas"/>
                <a:ea typeface="Consolas"/>
                <a:cs typeface="Consolas"/>
              </a:rPr>
              <a:t>        content=payload_file.read_bytes(),</a:t>
            </a:r>
            <a:endParaRPr sz="1000"/>
          </a:p>
          <a:p xmlns:a="http://schemas.openxmlformats.org/drawingml/2006/main">
            <a:pPr marL="0" indent="0">
              <a:lnSpc>
                <a:spcPct val="112000"/>
              </a:lnSpc>
              <a:buNone/>
            </a:pPr>
            <a:r>
              <a:rPr sz="1000">
                <a:solidFill>
                  <a:srgbClr val="D9E4F5"/>
                </a:solidFill>
                <a:latin typeface="Consolas"/>
                <a:ea typeface="Consolas"/>
                <a:cs typeface="Consolas"/>
              </a:rPr>
              <a:t>        headers={"content-type": "application/json"})</a:t>
            </a:r>
            <a:endParaRPr sz="1000"/>
          </a:p>
          <a:p xmlns:a="http://schemas.openxmlformats.org/drawingml/2006/main">
            <a:pPr marL="0" indent="0">
              <a:lnSpc>
                <a:spcPct val="112000"/>
              </a:lnSpc>
              <a:buNone/>
            </a:pPr>
            <a:r>
              <a:rPr sz="1000">
                <a:solidFill>
                  <a:srgbClr val="D9E4F5"/>
                </a:solidFill>
                <a:latin typeface="Consolas"/>
                <a:ea typeface="Consolas"/>
                <a:cs typeface="Consolas"/>
              </a:rPr>
              <a:t>    assert 400 &lt;= r.status_code &lt; 500, payload_file.name</a:t>
            </a:r>
            <a:endParaRPr sz="1000"/>
          </a:p>
        </p:txBody>
      </p:sp>
      <p:sp>
        <p:nvSpPr>
          <p:cNvPr id="14" name="Shape 11">
            <a:extLst xmlns:a="http://schemas.openxmlformats.org/drawingml/2006/main">
              <a:ext uri="{FF2B5EF4-FFF2-40B4-BE49-F238E27FC236}">
                <a16:creationId xmlns:a16="http://schemas.microsoft.com/office/drawing/2014/main" id="{65D198BA-FDDA-4868-BFC2-16428DD67979}"/>
              </a:ext>
            </a:extLst>
          </p:cNvPr>
          <p:cNvSpPr>
            <a:spLocks xmlns:a="http://schemas.openxmlformats.org/drawingml/2006/main" noGrp="1"/>
          </p:cNvSpPr>
          <p:nvPr/>
        </p:nvSpPr>
        <p:spPr>
          <a:xfrm xmlns:a="http://schemas.openxmlformats.org/drawingml/2006/main">
            <a:off x="8321040" y="1481328"/>
            <a:ext cx="3364992" cy="1402080"/>
          </a:xfrm>
          <a:prstGeom xmlns:a="http://schemas.openxmlformats.org/drawingml/2006/main" prst="roundRect">
            <a:avLst>
              <a:gd name="adj" fmla="val 3913"/>
            </a:avLst>
          </a:prstGeom>
          <a:solidFill xmlns:a="http://schemas.openxmlformats.org/drawingml/2006/main">
            <a:srgbClr val="D4F1EE"/>
          </a:solidFill>
        </p:spPr>
      </p:sp>
      <p:sp>
        <p:nvSpPr>
          <p:cNvPr id="15" name="Text 12">
            <a:extLst xmlns:a="http://schemas.openxmlformats.org/drawingml/2006/main">
              <a:ext uri="{FF2B5EF4-FFF2-40B4-BE49-F238E27FC236}">
                <a16:creationId xmlns:a16="http://schemas.microsoft.com/office/drawing/2014/main" id="{7581821F-123A-4F19-A365-4FD544799A19}"/>
              </a:ext>
            </a:extLst>
          </p:cNvPr>
          <p:cNvSpPr>
            <a:spLocks xmlns:a="http://schemas.openxmlformats.org/drawingml/2006/main" noGrp="1"/>
          </p:cNvSpPr>
          <p:nvPr/>
        </p:nvSpPr>
        <p:spPr>
          <a:xfrm xmlns:a="http://schemas.openxmlformats.org/drawingml/2006/main">
            <a:off x="8485632" y="157276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40 payloads, one test</a:t>
            </a:r>
            <a:endParaRPr sz="1050"/>
          </a:p>
        </p:txBody>
      </p:sp>
      <p:sp>
        <p:nvSpPr>
          <p:cNvPr id="16" name="Text 13">
            <a:extLst xmlns:a="http://schemas.openxmlformats.org/drawingml/2006/main">
              <a:ext uri="{FF2B5EF4-FFF2-40B4-BE49-F238E27FC236}">
                <a16:creationId xmlns:a16="http://schemas.microsoft.com/office/drawing/2014/main" id="{E5055CE7-311B-4A06-B538-A942FD9CFD5F}"/>
              </a:ext>
            </a:extLst>
          </p:cNvPr>
          <p:cNvSpPr>
            <a:spLocks xmlns:a="http://schemas.openxmlformats.org/drawingml/2006/main" noGrp="1"/>
          </p:cNvSpPr>
          <p:nvPr/>
        </p:nvSpPr>
        <p:spPr>
          <a:xfrm xmlns:a="http://schemas.openxmlformats.org/drawingml/2006/main">
            <a:off x="8485632" y="184708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Every malformed file must die at the validation wall with a 4xx — contract, not courtesy.</a:t>
            </a:r>
            <a:endParaRPr sz="930"/>
          </a:p>
        </p:txBody>
      </p:sp>
      <p:sp>
        <p:nvSpPr>
          <p:cNvPr id="17" name="Shape 14">
            <a:extLst xmlns:a="http://schemas.openxmlformats.org/drawingml/2006/main">
              <a:ext uri="{FF2B5EF4-FFF2-40B4-BE49-F238E27FC236}">
                <a16:creationId xmlns:a16="http://schemas.microsoft.com/office/drawing/2014/main" id="{9E6899C2-50CE-4641-B4C9-6E92567B5352}"/>
              </a:ext>
            </a:extLst>
          </p:cNvPr>
          <p:cNvSpPr>
            <a:spLocks xmlns:a="http://schemas.openxmlformats.org/drawingml/2006/main" noGrp="1"/>
          </p:cNvSpPr>
          <p:nvPr/>
        </p:nvSpPr>
        <p:spPr>
          <a:xfrm xmlns:a="http://schemas.openxmlformats.org/drawingml/2006/main">
            <a:off x="8321040" y="3020568"/>
            <a:ext cx="3364992" cy="1402080"/>
          </a:xfrm>
          <a:prstGeom xmlns:a="http://schemas.openxmlformats.org/drawingml/2006/main" prst="roundRect">
            <a:avLst>
              <a:gd name="adj" fmla="val 3913"/>
            </a:avLst>
          </a:prstGeom>
          <a:solidFill xmlns:a="http://schemas.openxmlformats.org/drawingml/2006/main">
            <a:srgbClr val="D9F0FA"/>
          </a:solidFill>
        </p:spPr>
      </p:sp>
      <p:sp>
        <p:nvSpPr>
          <p:cNvPr id="18" name="Text 15">
            <a:extLst xmlns:a="http://schemas.openxmlformats.org/drawingml/2006/main">
              <a:ext uri="{FF2B5EF4-FFF2-40B4-BE49-F238E27FC236}">
                <a16:creationId xmlns:a16="http://schemas.microsoft.com/office/drawing/2014/main" id="{280E87E7-5D09-4B17-8FDB-C01DCD2C868B}"/>
              </a:ext>
            </a:extLst>
          </p:cNvPr>
          <p:cNvSpPr>
            <a:spLocks xmlns:a="http://schemas.openxmlformats.org/drawingml/2006/main" noGrp="1"/>
          </p:cNvSpPr>
          <p:nvPr/>
        </p:nvSpPr>
        <p:spPr>
          <a:xfrm xmlns:a="http://schemas.openxmlformats.org/drawingml/2006/main">
            <a:off x="8485632" y="311200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Steering the fake</a:t>
            </a:r>
            <a:endParaRPr sz="1050"/>
          </a:p>
        </p:txBody>
      </p:sp>
      <p:sp>
        <p:nvSpPr>
          <p:cNvPr id="19" name="Text 16">
            <a:extLst xmlns:a="http://schemas.openxmlformats.org/drawingml/2006/main">
              <a:ext uri="{FF2B5EF4-FFF2-40B4-BE49-F238E27FC236}">
                <a16:creationId xmlns:a16="http://schemas.microsoft.com/office/drawing/2014/main" id="{B728E59F-5211-47A6-8B5D-9E695BF098E3}"/>
              </a:ext>
            </a:extLst>
          </p:cNvPr>
          <p:cNvSpPr>
            <a:spLocks xmlns:a="http://schemas.openxmlformats.org/drawingml/2006/main" noGrp="1"/>
          </p:cNvSpPr>
          <p:nvPr/>
        </p:nvSpPr>
        <p:spPr>
          <a:xfrm xmlns:a="http://schemas.openxmlformats.org/drawingml/2006/main">
            <a:off x="8485632" y="338632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probability=0.93 forces the BLOCK branch — branch coverage by design, not by luck.</a:t>
            </a:r>
            <a:endParaRPr sz="930"/>
          </a:p>
        </p:txBody>
      </p:sp>
      <p:sp>
        <p:nvSpPr>
          <p:cNvPr id="20" name="Shape 17">
            <a:extLst xmlns:a="http://schemas.openxmlformats.org/drawingml/2006/main">
              <a:ext uri="{FF2B5EF4-FFF2-40B4-BE49-F238E27FC236}">
                <a16:creationId xmlns:a16="http://schemas.microsoft.com/office/drawing/2014/main" id="{1B44C04B-CA54-48D7-93F7-31142146AA28}"/>
              </a:ext>
            </a:extLst>
          </p:cNvPr>
          <p:cNvSpPr>
            <a:spLocks xmlns:a="http://schemas.openxmlformats.org/drawingml/2006/main" noGrp="1"/>
          </p:cNvSpPr>
          <p:nvPr/>
        </p:nvSpPr>
        <p:spPr>
          <a:xfrm xmlns:a="http://schemas.openxmlformats.org/drawingml/2006/main">
            <a:off x="8321040" y="4559808"/>
            <a:ext cx="3364992" cy="1402080"/>
          </a:xfrm>
          <a:prstGeom xmlns:a="http://schemas.openxmlformats.org/drawingml/2006/main" prst="roundRect">
            <a:avLst>
              <a:gd name="adj" fmla="val 3913"/>
            </a:avLst>
          </a:prstGeom>
          <a:solidFill xmlns:a="http://schemas.openxmlformats.org/drawingml/2006/main">
            <a:srgbClr val="FDEBD7"/>
          </a:solidFill>
        </p:spPr>
      </p:sp>
      <p:sp>
        <p:nvSpPr>
          <p:cNvPr id="21" name="Text 18">
            <a:extLst xmlns:a="http://schemas.openxmlformats.org/drawingml/2006/main">
              <a:ext uri="{FF2B5EF4-FFF2-40B4-BE49-F238E27FC236}">
                <a16:creationId xmlns:a16="http://schemas.microsoft.com/office/drawing/2014/main" id="{4DB8F04C-ECBD-4465-97AB-17CF3FF40874}"/>
              </a:ext>
            </a:extLst>
          </p:cNvPr>
          <p:cNvSpPr>
            <a:spLocks xmlns:a="http://schemas.openxmlformats.org/drawingml/2006/main" noGrp="1"/>
          </p:cNvSpPr>
          <p:nvPr/>
        </p:nvSpPr>
        <p:spPr>
          <a:xfrm xmlns:a="http://schemas.openxmlformats.org/drawingml/2006/main">
            <a:off x="8485632" y="465124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Trimmed for the slide</a:t>
            </a:r>
            <a:endParaRPr sz="1050"/>
          </a:p>
        </p:txBody>
      </p:sp>
      <p:sp>
        <p:nvSpPr>
          <p:cNvPr id="22" name="Text 19">
            <a:extLst xmlns:a="http://schemas.openxmlformats.org/drawingml/2006/main">
              <a:ext uri="{FF2B5EF4-FFF2-40B4-BE49-F238E27FC236}">
                <a16:creationId xmlns:a16="http://schemas.microsoft.com/office/drawing/2014/main" id="{F81C79B3-BCC7-4702-AD8C-610D6F6C40CB}"/>
              </a:ext>
            </a:extLst>
          </p:cNvPr>
          <p:cNvSpPr>
            <a:spLocks xmlns:a="http://schemas.openxmlformats.org/drawingml/2006/main" noGrp="1"/>
          </p:cNvSpPr>
          <p:nvPr/>
        </p:nvSpPr>
        <p:spPr>
          <a:xfrm xmlns:a="http://schemas.openxmlformats.org/drawingml/2006/main">
            <a:off x="8485632" y="492556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Full file also asserts the X-Trace-Id header, the 0–1 range, and a no-stack-trace 500 test.</a:t>
            </a:r>
            <a:endParaRPr sz="930"/>
          </a:p>
        </p:txBody>
      </p:sp>
    </p:spTree>
    <p:extLst>
      <p:ext uri="{BB962C8B-B14F-4D97-AF65-F5344CB8AC3E}">
        <p14:creationId xmlns:p14="http://schemas.microsoft.com/office/powerpoint/2010/main" val="1414815566"/>
      </p:ext>
    </p:extLst>
  </p:cSld>
</p:sld>
</file>

<file path=ppt/slides/slide9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BBBD3BE-8E95-4A51-8A9D-6F47A651637A}"/>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Behavioural tests — four kinds of claims</a:t>
            </a:r>
            <a:endParaRPr sz="2600"/>
          </a:p>
        </p:txBody>
      </p:sp>
      <p:sp>
        <p:nvSpPr>
          <p:cNvPr id="3" name="Text 1">
            <a:extLst xmlns:a="http://schemas.openxmlformats.org/drawingml/2006/main">
              <a:ext uri="{FF2B5EF4-FFF2-40B4-BE49-F238E27FC236}">
                <a16:creationId xmlns:a16="http://schemas.microsoft.com/office/drawing/2014/main" id="{CD8E9FC7-F742-4333-BB2A-996A8AC02794}"/>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الاختبارات السلوكية — أربعة أنواع من الادعاءات</a:t>
            </a:r>
            <a:endParaRPr sz="1300"/>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57b6134584944ebd"/>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BAC0D1E5-D76A-49BD-9355-6CB23B409A60}"/>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D3B37884-FD66-4FA0-B887-6D9CCE55FD4B}"/>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4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B76B6454-BEEE-4663-9CCC-06CD54D3E069}"/>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90</a:t>
            </a:r>
            <a:endParaRPr sz="850"/>
          </a:p>
        </p:txBody>
      </p:sp>
      <p:sp>
        <p:nvSpPr>
          <p:cNvPr id="8" name="Shape 5">
            <a:extLst xmlns:a="http://schemas.openxmlformats.org/drawingml/2006/main">
              <a:ext uri="{FF2B5EF4-FFF2-40B4-BE49-F238E27FC236}">
                <a16:creationId xmlns:a16="http://schemas.microsoft.com/office/drawing/2014/main" id="{551073C6-01DD-47FD-B9A4-4117666B9720}"/>
              </a:ext>
            </a:extLst>
          </p:cNvPr>
          <p:cNvSpPr>
            <a:spLocks xmlns:a="http://schemas.openxmlformats.org/drawingml/2006/main" noGrp="1"/>
          </p:cNvSpPr>
          <p:nvPr/>
        </p:nvSpPr>
        <p:spPr>
          <a:xfrm xmlns:a="http://schemas.openxmlformats.org/drawingml/2006/main">
            <a:off x="502920" y="1517904"/>
            <a:ext cx="5454396"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2909AD46-7530-4C47-899E-A33397442339}"/>
              </a:ext>
            </a:extLst>
          </p:cNvPr>
          <p:cNvSpPr>
            <a:spLocks xmlns:a="http://schemas.openxmlformats.org/drawingml/2006/main" noGrp="1"/>
          </p:cNvSpPr>
          <p:nvPr/>
        </p:nvSpPr>
        <p:spPr>
          <a:xfrm xmlns:a="http://schemas.openxmlformats.org/drawingml/2006/main">
            <a:off x="502920" y="1517904"/>
            <a:ext cx="82296" cy="2272284"/>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858756E5-2825-4046-BF35-DAF0DFE4DEC5}"/>
              </a:ext>
            </a:extLst>
          </p:cNvPr>
          <p:cNvSpPr>
            <a:spLocks xmlns:a="http://schemas.openxmlformats.org/drawingml/2006/main" noGrp="1"/>
          </p:cNvSpPr>
          <p:nvPr/>
        </p:nvSpPr>
        <p:spPr>
          <a:xfrm xmlns:a="http://schemas.openxmlformats.org/drawingml/2006/main">
            <a:off x="722376" y="1636776"/>
            <a:ext cx="501548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00A79D"/>
                </a:solidFill>
                <a:latin typeface="Calibri"/>
                <a:ea typeface="Calibri"/>
                <a:cs typeface="Calibri"/>
              </a:rPr>
              <a:t>INVARIANCE</a:t>
            </a:r>
            <a:endParaRPr sz="900"/>
          </a:p>
        </p:txBody>
      </p:sp>
      <p:sp>
        <p:nvSpPr>
          <p:cNvPr id="11" name="Text 8">
            <a:extLst xmlns:a="http://schemas.openxmlformats.org/drawingml/2006/main">
              <a:ext uri="{FF2B5EF4-FFF2-40B4-BE49-F238E27FC236}">
                <a16:creationId xmlns:a16="http://schemas.microsoft.com/office/drawing/2014/main" id="{3A653291-5FAA-4D1E-BB00-EE00E3C5E226}"/>
              </a:ext>
            </a:extLst>
          </p:cNvPr>
          <p:cNvSpPr>
            <a:spLocks xmlns:a="http://schemas.openxmlformats.org/drawingml/2006/main" noGrp="1"/>
          </p:cNvSpPr>
          <p:nvPr/>
        </p:nvSpPr>
        <p:spPr>
          <a:xfrm xmlns:a="http://schemas.openxmlformats.org/drawingml/2006/main">
            <a:off x="722376" y="1883664"/>
            <a:ext cx="501548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Noise must not move the score</a:t>
            </a:r>
            <a:endParaRPr sz="1250"/>
          </a:p>
        </p:txBody>
      </p:sp>
      <p:sp>
        <p:nvSpPr>
          <p:cNvPr id="12" name="Text 9">
            <a:extLst xmlns:a="http://schemas.openxmlformats.org/drawingml/2006/main">
              <a:ext uri="{FF2B5EF4-FFF2-40B4-BE49-F238E27FC236}">
                <a16:creationId xmlns:a16="http://schemas.microsoft.com/office/drawing/2014/main" id="{1371D28A-8758-4C67-B1D0-1A45662F451F}"/>
              </a:ext>
            </a:extLst>
          </p:cNvPr>
          <p:cNvSpPr>
            <a:spLocks xmlns:a="http://schemas.openxmlformats.org/drawingml/2006/main" noGrp="1"/>
          </p:cNvSpPr>
          <p:nvPr/>
        </p:nvSpPr>
        <p:spPr>
          <a:xfrm xmlns:a="http://schemas.openxmlformats.org/drawingml/2006/main">
            <a:off x="722376" y="2404872"/>
            <a:ext cx="5015484"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Merchant casing, whitespace, transaction_id value. Each invariance encodes a fairness or robustness claim — debate the list per domain.</a:t>
            </a:r>
            <a:endParaRPr sz="980"/>
          </a:p>
        </p:txBody>
      </p:sp>
      <p:sp>
        <p:nvSpPr>
          <p:cNvPr id="13" name="Shape 10">
            <a:extLst xmlns:a="http://schemas.openxmlformats.org/drawingml/2006/main">
              <a:ext uri="{FF2B5EF4-FFF2-40B4-BE49-F238E27FC236}">
                <a16:creationId xmlns:a16="http://schemas.microsoft.com/office/drawing/2014/main" id="{26BC3514-EF8B-4ED4-B2FB-A965BE20DB28}"/>
              </a:ext>
            </a:extLst>
          </p:cNvPr>
          <p:cNvSpPr>
            <a:spLocks xmlns:a="http://schemas.openxmlformats.org/drawingml/2006/main" noGrp="1"/>
          </p:cNvSpPr>
          <p:nvPr/>
        </p:nvSpPr>
        <p:spPr>
          <a:xfrm xmlns:a="http://schemas.openxmlformats.org/drawingml/2006/main">
            <a:off x="6231636" y="1517904"/>
            <a:ext cx="5454396"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14" name="Shape 11">
            <a:extLst xmlns:a="http://schemas.openxmlformats.org/drawingml/2006/main">
              <a:ext uri="{FF2B5EF4-FFF2-40B4-BE49-F238E27FC236}">
                <a16:creationId xmlns:a16="http://schemas.microsoft.com/office/drawing/2014/main" id="{876B4315-B434-41EC-BCFC-ABE44EEB43ED}"/>
              </a:ext>
            </a:extLst>
          </p:cNvPr>
          <p:cNvSpPr>
            <a:spLocks xmlns:a="http://schemas.openxmlformats.org/drawingml/2006/main" noGrp="1"/>
          </p:cNvSpPr>
          <p:nvPr/>
        </p:nvSpPr>
        <p:spPr>
          <a:xfrm xmlns:a="http://schemas.openxmlformats.org/drawingml/2006/main">
            <a:off x="6231636" y="1517904"/>
            <a:ext cx="82296" cy="2272284"/>
          </a:xfrm>
          <a:prstGeom xmlns:a="http://schemas.openxmlformats.org/drawingml/2006/main" prst="rect">
            <a:avLst/>
          </a:prstGeom>
          <a:solidFill xmlns:a="http://schemas.openxmlformats.org/drawingml/2006/main">
            <a:srgbClr val="29ABE2"/>
          </a:solidFill>
        </p:spPr>
      </p:sp>
      <p:sp>
        <p:nvSpPr>
          <p:cNvPr id="15" name="Text 12">
            <a:extLst xmlns:a="http://schemas.openxmlformats.org/drawingml/2006/main">
              <a:ext uri="{FF2B5EF4-FFF2-40B4-BE49-F238E27FC236}">
                <a16:creationId xmlns:a16="http://schemas.microsoft.com/office/drawing/2014/main" id="{523B6418-18D2-437A-8E35-CE3D935B5AA4}"/>
              </a:ext>
            </a:extLst>
          </p:cNvPr>
          <p:cNvSpPr>
            <a:spLocks xmlns:a="http://schemas.openxmlformats.org/drawingml/2006/main" noGrp="1"/>
          </p:cNvSpPr>
          <p:nvPr/>
        </p:nvSpPr>
        <p:spPr>
          <a:xfrm xmlns:a="http://schemas.openxmlformats.org/drawingml/2006/main">
            <a:off x="6451092" y="1636776"/>
            <a:ext cx="501548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29ABE2"/>
                </a:solidFill>
                <a:latin typeface="Calibri"/>
                <a:ea typeface="Calibri"/>
                <a:cs typeface="Calibri"/>
              </a:rPr>
              <a:t>DIRECTIONAL</a:t>
            </a:r>
            <a:endParaRPr sz="900"/>
          </a:p>
        </p:txBody>
      </p:sp>
      <p:sp>
        <p:nvSpPr>
          <p:cNvPr id="16" name="Text 13">
            <a:extLst xmlns:a="http://schemas.openxmlformats.org/drawingml/2006/main">
              <a:ext uri="{FF2B5EF4-FFF2-40B4-BE49-F238E27FC236}">
                <a16:creationId xmlns:a16="http://schemas.microsoft.com/office/drawing/2014/main" id="{13CA5B8A-B521-433E-A76C-E85B5A9FE818}"/>
              </a:ext>
            </a:extLst>
          </p:cNvPr>
          <p:cNvSpPr>
            <a:spLocks xmlns:a="http://schemas.openxmlformats.org/drawingml/2006/main" noGrp="1"/>
          </p:cNvSpPr>
          <p:nvPr/>
        </p:nvSpPr>
        <p:spPr>
          <a:xfrm xmlns:a="http://schemas.openxmlformats.org/drawingml/2006/main">
            <a:off x="6451092" y="1883664"/>
            <a:ext cx="501548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Signal must move it the right way</a:t>
            </a:r>
            <a:endParaRPr sz="1250"/>
          </a:p>
        </p:txBody>
      </p:sp>
      <p:sp>
        <p:nvSpPr>
          <p:cNvPr id="17" name="Text 14">
            <a:extLst xmlns:a="http://schemas.openxmlformats.org/drawingml/2006/main">
              <a:ext uri="{FF2B5EF4-FFF2-40B4-BE49-F238E27FC236}">
                <a16:creationId xmlns:a16="http://schemas.microsoft.com/office/drawing/2014/main" id="{B222D05F-5511-42FF-920D-D40870FDECC6}"/>
              </a:ext>
            </a:extLst>
          </p:cNvPr>
          <p:cNvSpPr>
            <a:spLocks xmlns:a="http://schemas.openxmlformats.org/drawingml/2006/main" noGrp="1"/>
          </p:cNvSpPr>
          <p:nvPr/>
        </p:nvSpPr>
        <p:spPr>
          <a:xfrm xmlns:a="http://schemas.openxmlformats.org/drawingml/2006/main">
            <a:off x="6451092" y="2404872"/>
            <a:ext cx="5015484"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All else equal, a 100× amount increase must not lower fraud probability; 3 a.m. vs 3 p.m. moves it as risk officers expect. Tolerance-based.</a:t>
            </a:r>
            <a:endParaRPr sz="980"/>
          </a:p>
        </p:txBody>
      </p:sp>
      <p:sp>
        <p:nvSpPr>
          <p:cNvPr id="18" name="Shape 15">
            <a:extLst xmlns:a="http://schemas.openxmlformats.org/drawingml/2006/main">
              <a:ext uri="{FF2B5EF4-FFF2-40B4-BE49-F238E27FC236}">
                <a16:creationId xmlns:a16="http://schemas.microsoft.com/office/drawing/2014/main" id="{108689E8-AB2D-490F-A1FC-4DA82E54B9EB}"/>
              </a:ext>
            </a:extLst>
          </p:cNvPr>
          <p:cNvSpPr>
            <a:spLocks xmlns:a="http://schemas.openxmlformats.org/drawingml/2006/main" noGrp="1"/>
          </p:cNvSpPr>
          <p:nvPr/>
        </p:nvSpPr>
        <p:spPr>
          <a:xfrm xmlns:a="http://schemas.openxmlformats.org/drawingml/2006/main">
            <a:off x="502920" y="4046220"/>
            <a:ext cx="5454396"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19" name="Shape 16">
            <a:extLst xmlns:a="http://schemas.openxmlformats.org/drawingml/2006/main">
              <a:ext uri="{FF2B5EF4-FFF2-40B4-BE49-F238E27FC236}">
                <a16:creationId xmlns:a16="http://schemas.microsoft.com/office/drawing/2014/main" id="{E9B6498B-63A7-4EC7-A943-641033BDACE9}"/>
              </a:ext>
            </a:extLst>
          </p:cNvPr>
          <p:cNvSpPr>
            <a:spLocks xmlns:a="http://schemas.openxmlformats.org/drawingml/2006/main" noGrp="1"/>
          </p:cNvSpPr>
          <p:nvPr/>
        </p:nvSpPr>
        <p:spPr>
          <a:xfrm xmlns:a="http://schemas.openxmlformats.org/drawingml/2006/main">
            <a:off x="502920" y="4046220"/>
            <a:ext cx="82296" cy="2272284"/>
          </a:xfrm>
          <a:prstGeom xmlns:a="http://schemas.openxmlformats.org/drawingml/2006/main" prst="rect">
            <a:avLst/>
          </a:prstGeom>
          <a:solidFill xmlns:a="http://schemas.openxmlformats.org/drawingml/2006/main">
            <a:srgbClr val="F58220"/>
          </a:solidFill>
        </p:spPr>
      </p:sp>
      <p:sp>
        <p:nvSpPr>
          <p:cNvPr id="20" name="Text 17">
            <a:extLst xmlns:a="http://schemas.openxmlformats.org/drawingml/2006/main">
              <a:ext uri="{FF2B5EF4-FFF2-40B4-BE49-F238E27FC236}">
                <a16:creationId xmlns:a16="http://schemas.microsoft.com/office/drawing/2014/main" id="{4A391B1A-8A81-4B3E-9EF0-DB2E4EEBFEC7}"/>
              </a:ext>
            </a:extLst>
          </p:cNvPr>
          <p:cNvSpPr>
            <a:spLocks xmlns:a="http://schemas.openxmlformats.org/drawingml/2006/main" noGrp="1"/>
          </p:cNvSpPr>
          <p:nvPr/>
        </p:nvSpPr>
        <p:spPr>
          <a:xfrm xmlns:a="http://schemas.openxmlformats.org/drawingml/2006/main">
            <a:off x="722376" y="4165092"/>
            <a:ext cx="501548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F58220"/>
                </a:solidFill>
                <a:latin typeface="Calibri"/>
                <a:ea typeface="Calibri"/>
                <a:cs typeface="Calibri"/>
              </a:rPr>
              <a:t>GOLDEN FILE</a:t>
            </a:r>
            <a:endParaRPr sz="900"/>
          </a:p>
        </p:txBody>
      </p:sp>
      <p:sp>
        <p:nvSpPr>
          <p:cNvPr id="21" name="Text 18">
            <a:extLst xmlns:a="http://schemas.openxmlformats.org/drawingml/2006/main">
              <a:ext uri="{FF2B5EF4-FFF2-40B4-BE49-F238E27FC236}">
                <a16:creationId xmlns:a16="http://schemas.microsoft.com/office/drawing/2014/main" id="{CF7FD5EF-B818-4E47-82C1-F770A495979E}"/>
              </a:ext>
            </a:extLst>
          </p:cNvPr>
          <p:cNvSpPr>
            <a:spLocks xmlns:a="http://schemas.openxmlformats.org/drawingml/2006/main" noGrp="1"/>
          </p:cNvSpPr>
          <p:nvPr/>
        </p:nvSpPr>
        <p:spPr>
          <a:xfrm xmlns:a="http://schemas.openxmlformats.org/drawingml/2006/main">
            <a:off x="722376" y="4411980"/>
            <a:ext cx="501548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5k scores, atol 1e-6</a:t>
            </a:r>
            <a:endParaRPr sz="1250"/>
          </a:p>
        </p:txBody>
      </p:sp>
      <p:sp>
        <p:nvSpPr>
          <p:cNvPr id="22" name="Text 19">
            <a:extLst xmlns:a="http://schemas.openxmlformats.org/drawingml/2006/main">
              <a:ext uri="{FF2B5EF4-FFF2-40B4-BE49-F238E27FC236}">
                <a16:creationId xmlns:a16="http://schemas.microsoft.com/office/drawing/2014/main" id="{E50193BF-215F-4E35-B7C7-2ACC3CC8F9BD}"/>
              </a:ext>
            </a:extLst>
          </p:cNvPr>
          <p:cNvSpPr>
            <a:spLocks xmlns:a="http://schemas.openxmlformats.org/drawingml/2006/main" noGrp="1"/>
          </p:cNvSpPr>
          <p:nvPr/>
        </p:nvSpPr>
        <p:spPr>
          <a:xfrm xmlns:a="http://schemas.openxmlformats.org/drawingml/2006/main">
            <a:off x="722376" y="4933188"/>
            <a:ext cx="5015484"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Score the reference set, compare to golden_scores_v3.csv. Any diff = skew or unintended model change. Versioned with the artefact.</a:t>
            </a:r>
            <a:endParaRPr sz="980"/>
          </a:p>
        </p:txBody>
      </p:sp>
      <p:sp>
        <p:nvSpPr>
          <p:cNvPr id="23" name="Shape 20">
            <a:extLst xmlns:a="http://schemas.openxmlformats.org/drawingml/2006/main">
              <a:ext uri="{FF2B5EF4-FFF2-40B4-BE49-F238E27FC236}">
                <a16:creationId xmlns:a16="http://schemas.microsoft.com/office/drawing/2014/main" id="{33BF4887-2629-4A42-B8A5-1D75BFCC6314}"/>
              </a:ext>
            </a:extLst>
          </p:cNvPr>
          <p:cNvSpPr>
            <a:spLocks xmlns:a="http://schemas.openxmlformats.org/drawingml/2006/main" noGrp="1"/>
          </p:cNvSpPr>
          <p:nvPr/>
        </p:nvSpPr>
        <p:spPr>
          <a:xfrm xmlns:a="http://schemas.openxmlformats.org/drawingml/2006/main">
            <a:off x="6231636" y="4046220"/>
            <a:ext cx="5454396"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24" name="Shape 21">
            <a:extLst xmlns:a="http://schemas.openxmlformats.org/drawingml/2006/main">
              <a:ext uri="{FF2B5EF4-FFF2-40B4-BE49-F238E27FC236}">
                <a16:creationId xmlns:a16="http://schemas.microsoft.com/office/drawing/2014/main" id="{B0B45B45-1DE1-4F57-B225-FEC36D24A1BF}"/>
              </a:ext>
            </a:extLst>
          </p:cNvPr>
          <p:cNvSpPr>
            <a:spLocks xmlns:a="http://schemas.openxmlformats.org/drawingml/2006/main" noGrp="1"/>
          </p:cNvSpPr>
          <p:nvPr/>
        </p:nvSpPr>
        <p:spPr>
          <a:xfrm xmlns:a="http://schemas.openxmlformats.org/drawingml/2006/main">
            <a:off x="6231636" y="4046220"/>
            <a:ext cx="82296" cy="2272284"/>
          </a:xfrm>
          <a:prstGeom xmlns:a="http://schemas.openxmlformats.org/drawingml/2006/main" prst="rect">
            <a:avLst/>
          </a:prstGeom>
          <a:solidFill xmlns:a="http://schemas.openxmlformats.org/drawingml/2006/main">
            <a:srgbClr val="8DC63F"/>
          </a:solidFill>
        </p:spPr>
      </p:sp>
      <p:sp>
        <p:nvSpPr>
          <p:cNvPr id="25" name="Text 22">
            <a:extLst xmlns:a="http://schemas.openxmlformats.org/drawingml/2006/main">
              <a:ext uri="{FF2B5EF4-FFF2-40B4-BE49-F238E27FC236}">
                <a16:creationId xmlns:a16="http://schemas.microsoft.com/office/drawing/2014/main" id="{F2BB4BCB-6EF8-45DA-A730-FE312E1C26CF}"/>
              </a:ext>
            </a:extLst>
          </p:cNvPr>
          <p:cNvSpPr>
            <a:spLocks xmlns:a="http://schemas.openxmlformats.org/drawingml/2006/main" noGrp="1"/>
          </p:cNvSpPr>
          <p:nvPr/>
        </p:nvSpPr>
        <p:spPr>
          <a:xfrm xmlns:a="http://schemas.openxmlformats.org/drawingml/2006/main">
            <a:off x="6451092" y="4165092"/>
            <a:ext cx="501548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8DC63F"/>
                </a:solidFill>
                <a:latin typeface="Calibri"/>
                <a:ea typeface="Calibri"/>
                <a:cs typeface="Calibri"/>
              </a:rPr>
              <a:t>PERF FLOOR</a:t>
            </a:r>
            <a:endParaRPr sz="900"/>
          </a:p>
        </p:txBody>
      </p:sp>
      <p:sp>
        <p:nvSpPr>
          <p:cNvPr id="26" name="Text 23">
            <a:extLst xmlns:a="http://schemas.openxmlformats.org/drawingml/2006/main">
              <a:ext uri="{FF2B5EF4-FFF2-40B4-BE49-F238E27FC236}">
                <a16:creationId xmlns:a16="http://schemas.microsoft.com/office/drawing/2014/main" id="{740038C9-8B0E-494F-948A-77BFFD115323}"/>
              </a:ext>
            </a:extLst>
          </p:cNvPr>
          <p:cNvSpPr>
            <a:spLocks xmlns:a="http://schemas.openxmlformats.org/drawingml/2006/main" noGrp="1"/>
          </p:cNvSpPr>
          <p:nvPr/>
        </p:nvSpPr>
        <p:spPr>
          <a:xfrm xmlns:a="http://schemas.openxmlformats.org/drawingml/2006/main">
            <a:off x="6451092" y="4411980"/>
            <a:ext cx="501548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AUC ≥ 0.92 on frozen holdout</a:t>
            </a:r>
            <a:endParaRPr sz="1250"/>
          </a:p>
        </p:txBody>
      </p:sp>
      <p:sp>
        <p:nvSpPr>
          <p:cNvPr id="27" name="Text 24">
            <a:extLst xmlns:a="http://schemas.openxmlformats.org/drawingml/2006/main">
              <a:ext uri="{FF2B5EF4-FFF2-40B4-BE49-F238E27FC236}">
                <a16:creationId xmlns:a16="http://schemas.microsoft.com/office/drawing/2014/main" id="{471DFB3C-72E0-4575-A42D-AA0E832BF8A7}"/>
              </a:ext>
            </a:extLst>
          </p:cNvPr>
          <p:cNvSpPr>
            <a:spLocks xmlns:a="http://schemas.openxmlformats.org/drawingml/2006/main" noGrp="1"/>
          </p:cNvSpPr>
          <p:nvPr/>
        </p:nvSpPr>
        <p:spPr>
          <a:xfrm xmlns:a="http://schemas.openxmlformats.org/drawingml/2006/main">
            <a:off x="6451092" y="4933188"/>
            <a:ext cx="5015484"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Runs in the slow set / nightly, never per-commit. When v4 arrives, this whole suite is the acceptance gate.</a:t>
            </a:r>
            <a:endParaRPr sz="980"/>
          </a:p>
        </p:txBody>
      </p:sp>
    </p:spTree>
    <p:extLst>
      <p:ext uri="{BB962C8B-B14F-4D97-AF65-F5344CB8AC3E}">
        <p14:creationId xmlns:p14="http://schemas.microsoft.com/office/powerpoint/2010/main" val="1418858946"/>
      </p:ext>
    </p:extLst>
  </p:cSld>
</p:sld>
</file>

<file path=ppt/slides/slide9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80A9D8C-8247-4D87-8F2E-A72D42BC2D0F}"/>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Behavioural tests — invariance &amp; directional</a:t>
            </a:r>
            <a:endParaRPr sz="2600"/>
          </a:p>
        </p:txBody>
      </p:sp>
      <p:sp>
        <p:nvSpPr>
          <p:cNvPr id="3" name="Text 1">
            <a:extLst xmlns:a="http://schemas.openxmlformats.org/drawingml/2006/main">
              <a:ext uri="{FF2B5EF4-FFF2-40B4-BE49-F238E27FC236}">
                <a16:creationId xmlns:a16="http://schemas.microsoft.com/office/drawing/2014/main" id="{B50FE418-87DE-47AA-B6D8-F59A5C2820D1}"/>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اختبارات السلوك — الثبات والاتجاه</a:t>
            </a:r>
            <a:endParaRPr sz="1300"/>
          </a:p>
        </p:txBody>
      </p:sp>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a5b5fa8a99c94cbc"/>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4924116A-B65E-4873-9A61-1E8071B32974}"/>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D2850C4E-8489-49BF-A344-E27B96E6EED0}"/>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4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A0D397E5-05E1-43C1-978B-7CE1E0B30EB1}"/>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91</a:t>
            </a:r>
            <a:endParaRPr sz="850"/>
          </a:p>
        </p:txBody>
      </p:sp>
      <p:sp>
        <p:nvSpPr>
          <p:cNvPr id="8" name="Shape 5">
            <a:extLst xmlns:a="http://schemas.openxmlformats.org/drawingml/2006/main">
              <a:ext uri="{FF2B5EF4-FFF2-40B4-BE49-F238E27FC236}">
                <a16:creationId xmlns:a16="http://schemas.microsoft.com/office/drawing/2014/main" id="{7CF597E1-E1D2-4CE5-8E22-A21A80E01CE3}"/>
              </a:ext>
            </a:extLst>
          </p:cNvPr>
          <p:cNvSpPr>
            <a:spLocks xmlns:a="http://schemas.openxmlformats.org/drawingml/2006/main" noGrp="1"/>
          </p:cNvSpPr>
          <p:nvPr/>
        </p:nvSpPr>
        <p:spPr>
          <a:xfrm xmlns:a="http://schemas.openxmlformats.org/drawingml/2006/main">
            <a:off x="502920" y="1481328"/>
            <a:ext cx="7635240" cy="4617720"/>
          </a:xfrm>
          <a:prstGeom xmlns:a="http://schemas.openxmlformats.org/drawingml/2006/main" prst="roundRect">
            <a:avLst>
              <a:gd name="adj" fmla="val 1584"/>
            </a:avLst>
          </a:prstGeom>
          <a:solidFill xmlns:a="http://schemas.openxmlformats.org/drawingml/2006/main">
            <a:srgbClr val="1A2233"/>
          </a:solidFill>
        </p:spPr>
      </p:sp>
      <p:sp>
        <p:nvSpPr>
          <p:cNvPr id="9" name="Shape 6">
            <a:extLst xmlns:a="http://schemas.openxmlformats.org/drawingml/2006/main">
              <a:ext uri="{FF2B5EF4-FFF2-40B4-BE49-F238E27FC236}">
                <a16:creationId xmlns:a16="http://schemas.microsoft.com/office/drawing/2014/main" id="{3A18D6B2-5849-47D2-B054-7FAC0F305C03}"/>
              </a:ext>
            </a:extLst>
          </p:cNvPr>
          <p:cNvSpPr>
            <a:spLocks xmlns:a="http://schemas.openxmlformats.org/drawingml/2006/main" noGrp="1"/>
          </p:cNvSpPr>
          <p:nvPr/>
        </p:nvSpPr>
        <p:spPr>
          <a:xfrm xmlns:a="http://schemas.openxmlformats.org/drawingml/2006/main">
            <a:off x="731520" y="1664208"/>
            <a:ext cx="109728" cy="109728"/>
          </a:xfrm>
          <a:prstGeom xmlns:a="http://schemas.openxmlformats.org/drawingml/2006/main" prst="ellipse">
            <a:avLst/>
          </a:prstGeom>
          <a:solidFill xmlns:a="http://schemas.openxmlformats.org/drawingml/2006/main">
            <a:srgbClr val="E8503A"/>
          </a:solidFill>
        </p:spPr>
      </p:sp>
      <p:sp>
        <p:nvSpPr>
          <p:cNvPr id="10" name="Shape 7">
            <a:extLst xmlns:a="http://schemas.openxmlformats.org/drawingml/2006/main">
              <a:ext uri="{FF2B5EF4-FFF2-40B4-BE49-F238E27FC236}">
                <a16:creationId xmlns:a16="http://schemas.microsoft.com/office/drawing/2014/main" id="{B68CC37F-E671-4FEC-9062-46885C6A06BE}"/>
              </a:ext>
            </a:extLst>
          </p:cNvPr>
          <p:cNvSpPr>
            <a:spLocks xmlns:a="http://schemas.openxmlformats.org/drawingml/2006/main" noGrp="1"/>
          </p:cNvSpPr>
          <p:nvPr/>
        </p:nvSpPr>
        <p:spPr>
          <a:xfrm xmlns:a="http://schemas.openxmlformats.org/drawingml/2006/main">
            <a:off x="932688" y="1664208"/>
            <a:ext cx="109728" cy="109728"/>
          </a:xfrm>
          <a:prstGeom xmlns:a="http://schemas.openxmlformats.org/drawingml/2006/main" prst="ellipse">
            <a:avLst/>
          </a:prstGeom>
          <a:solidFill xmlns:a="http://schemas.openxmlformats.org/drawingml/2006/main">
            <a:srgbClr val="F5B820"/>
          </a:solidFill>
        </p:spPr>
      </p:sp>
      <p:sp>
        <p:nvSpPr>
          <p:cNvPr id="11" name="Shape 8">
            <a:extLst xmlns:a="http://schemas.openxmlformats.org/drawingml/2006/main">
              <a:ext uri="{FF2B5EF4-FFF2-40B4-BE49-F238E27FC236}">
                <a16:creationId xmlns:a16="http://schemas.microsoft.com/office/drawing/2014/main" id="{05CBB890-0FA8-480B-BE83-2F28D82DE360}"/>
              </a:ext>
            </a:extLst>
          </p:cNvPr>
          <p:cNvSpPr>
            <a:spLocks xmlns:a="http://schemas.openxmlformats.org/drawingml/2006/main" noGrp="1"/>
          </p:cNvSpPr>
          <p:nvPr/>
        </p:nvSpPr>
        <p:spPr>
          <a:xfrm xmlns:a="http://schemas.openxmlformats.org/drawingml/2006/main">
            <a:off x="1133856" y="1664208"/>
            <a:ext cx="109728" cy="109728"/>
          </a:xfrm>
          <a:prstGeom xmlns:a="http://schemas.openxmlformats.org/drawingml/2006/main" prst="ellipse">
            <a:avLst/>
          </a:prstGeom>
          <a:solidFill xmlns:a="http://schemas.openxmlformats.org/drawingml/2006/main">
            <a:srgbClr val="8DC63F"/>
          </a:solidFill>
        </p:spPr>
      </p:sp>
      <p:sp>
        <p:nvSpPr>
          <p:cNvPr id="12" name="Text 9">
            <a:extLst xmlns:a="http://schemas.openxmlformats.org/drawingml/2006/main">
              <a:ext uri="{FF2B5EF4-FFF2-40B4-BE49-F238E27FC236}">
                <a16:creationId xmlns:a16="http://schemas.microsoft.com/office/drawing/2014/main" id="{8AEFB3FD-3539-4524-BD6E-DEC06C5BDE90}"/>
              </a:ext>
            </a:extLst>
          </p:cNvPr>
          <p:cNvSpPr>
            <a:spLocks xmlns:a="http://schemas.openxmlformats.org/drawingml/2006/main" noGrp="1"/>
          </p:cNvSpPr>
          <p:nvPr/>
        </p:nvSpPr>
        <p:spPr>
          <a:xfrm xmlns:a="http://schemas.openxmlformats.org/drawingml/2006/main">
            <a:off x="4526280" y="1609344"/>
            <a:ext cx="32918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6C8"/>
                </a:solidFill>
                <a:latin typeface="Consolas"/>
                <a:ea typeface="Consolas"/>
                <a:cs typeface="Consolas"/>
              </a:rPr>
              <a:t>tests/behavioural/test_model_behaviour.py</a:t>
            </a:r>
            <a:endParaRPr sz="900"/>
          </a:p>
        </p:txBody>
      </p:sp>
      <p:sp>
        <p:nvSpPr>
          <p:cNvPr id="13" name="Text 10">
            <a:extLst xmlns:a="http://schemas.openxmlformats.org/drawingml/2006/main">
              <a:ext uri="{FF2B5EF4-FFF2-40B4-BE49-F238E27FC236}">
                <a16:creationId xmlns:a16="http://schemas.microsoft.com/office/drawing/2014/main" id="{5DB38359-DC90-4135-98C9-61305305C8C5}"/>
              </a:ext>
            </a:extLst>
          </p:cNvPr>
          <p:cNvSpPr>
            <a:spLocks xmlns:a="http://schemas.openxmlformats.org/drawingml/2006/main" noGrp="1"/>
          </p:cNvSpPr>
          <p:nvPr/>
        </p:nvSpPr>
        <p:spPr>
          <a:xfrm xmlns:a="http://schemas.openxmlformats.org/drawingml/2006/main">
            <a:off x="713232" y="1965960"/>
            <a:ext cx="717804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000">
                <a:solidFill>
                  <a:srgbClr val="D9E4F5"/>
                </a:solidFill>
                <a:latin typeface="Consolas"/>
                <a:ea typeface="Consolas"/>
                <a:cs typeface="Consolas"/>
              </a:rPr>
              <a:t>pytestmark = [pytest.mark.behavioural, pytest.mark.slow]</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def _score(model, txn):</a:t>
            </a:r>
            <a:endParaRPr sz="1000"/>
          </a:p>
          <a:p xmlns:a="http://schemas.openxmlformats.org/drawingml/2006/main">
            <a:pPr marL="0" indent="0">
              <a:lnSpc>
                <a:spcPct val="112000"/>
              </a:lnSpc>
              <a:buNone/>
            </a:pPr>
            <a:r>
              <a:rPr sz="1000">
                <a:solidFill>
                  <a:srgbClr val="D9E4F5"/>
                </a:solidFill>
                <a:latin typeface="Consolas"/>
                <a:ea typeface="Consolas"/>
                <a:cs typeface="Consolas"/>
              </a:rPr>
              <a:t>    return model.predict_proba(txn.to_features()).value</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def test_invariance_to_merchant_casing(</a:t>
            </a:r>
            <a:endParaRPr sz="1000"/>
          </a:p>
          <a:p xmlns:a="http://schemas.openxmlformats.org/drawingml/2006/main">
            <a:pPr marL="0" indent="0">
              <a:lnSpc>
                <a:spcPct val="112000"/>
              </a:lnSpc>
              <a:buNone/>
            </a:pPr>
            <a:r>
              <a:rPr sz="1000">
                <a:solidFill>
                  <a:srgbClr val="D9E4F5"/>
                </a:solidFill>
                <a:latin typeface="Consolas"/>
                <a:ea typeface="Consolas"/>
                <a:cs typeface="Consolas"/>
              </a:rPr>
              <a:t>        real_model, sample_txn):</a:t>
            </a:r>
            <a:endParaRPr sz="1000"/>
          </a:p>
          <a:p xmlns:a="http://schemas.openxmlformats.org/drawingml/2006/main">
            <a:pPr marL="0" indent="0">
              <a:lnSpc>
                <a:spcPct val="112000"/>
              </a:lnSpc>
              <a:buNone/>
            </a:pPr>
            <a:r>
              <a:rPr sz="1000">
                <a:solidFill>
                  <a:srgbClr val="D9E4F5"/>
                </a:solidFill>
                <a:latin typeface="Consolas"/>
                <a:ea typeface="Consolas"/>
                <a:cs typeface="Consolas"/>
              </a:rPr>
              <a:t>    a = _score(real_model, sample_txn)</a:t>
            </a:r>
            <a:endParaRPr sz="1000"/>
          </a:p>
          <a:p xmlns:a="http://schemas.openxmlformats.org/drawingml/2006/main">
            <a:pPr marL="0" indent="0">
              <a:lnSpc>
                <a:spcPct val="112000"/>
              </a:lnSpc>
              <a:buNone/>
            </a:pPr>
            <a:r>
              <a:rPr sz="1000">
                <a:solidFill>
                  <a:srgbClr val="D9E4F5"/>
                </a:solidFill>
                <a:latin typeface="Consolas"/>
                <a:ea typeface="Consolas"/>
                <a:cs typeface="Consolas"/>
              </a:rPr>
              <a:t>    b = _score(real_model, sample_txn.model_copy(</a:t>
            </a:r>
            <a:endParaRPr sz="1000"/>
          </a:p>
          <a:p xmlns:a="http://schemas.openxmlformats.org/drawingml/2006/main">
            <a:pPr marL="0" indent="0">
              <a:lnSpc>
                <a:spcPct val="112000"/>
              </a:lnSpc>
              <a:buNone/>
            </a:pPr>
            <a:r>
              <a:rPr sz="1000">
                <a:solidFill>
                  <a:srgbClr val="D9E4F5"/>
                </a:solidFill>
                <a:latin typeface="Consolas"/>
                <a:ea typeface="Consolas"/>
                <a:cs typeface="Consolas"/>
              </a:rPr>
              <a:t>        update={"merchant_category": "ELECTRONICS"}))</a:t>
            </a:r>
            <a:endParaRPr sz="1000"/>
          </a:p>
          <a:p xmlns:a="http://schemas.openxmlformats.org/drawingml/2006/main">
            <a:pPr marL="0" indent="0">
              <a:lnSpc>
                <a:spcPct val="112000"/>
              </a:lnSpc>
              <a:buNone/>
            </a:pPr>
            <a:r>
              <a:rPr sz="1000">
                <a:solidFill>
                  <a:srgbClr val="D9E4F5"/>
                </a:solidFill>
                <a:latin typeface="Consolas"/>
                <a:ea typeface="Consolas"/>
                <a:cs typeface="Consolas"/>
              </a:rPr>
              <a:t>    assert a == pytest.approx(b, abs=1e-9)</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def test_directional_amount(real_model, sample_txn):</a:t>
            </a:r>
            <a:endParaRPr sz="1000"/>
          </a:p>
          <a:p xmlns:a="http://schemas.openxmlformats.org/drawingml/2006/main">
            <a:pPr marL="0" indent="0">
              <a:lnSpc>
                <a:spcPct val="112000"/>
              </a:lnSpc>
              <a:buNone/>
            </a:pPr>
            <a:r>
              <a:rPr sz="1000">
                <a:solidFill>
                  <a:srgbClr val="D9E4F5"/>
                </a:solidFill>
                <a:latin typeface="Consolas"/>
                <a:ea typeface="Consolas"/>
                <a:cs typeface="Consolas"/>
              </a:rPr>
              <a:t>    small = _score(real_model, sample_txn.model_copy(</a:t>
            </a:r>
            <a:endParaRPr sz="1000"/>
          </a:p>
          <a:p xmlns:a="http://schemas.openxmlformats.org/drawingml/2006/main">
            <a:pPr marL="0" indent="0">
              <a:lnSpc>
                <a:spcPct val="112000"/>
              </a:lnSpc>
              <a:buNone/>
            </a:pPr>
            <a:r>
              <a:rPr sz="1000">
                <a:solidFill>
                  <a:srgbClr val="D9E4F5"/>
                </a:solidFill>
                <a:latin typeface="Consolas"/>
                <a:ea typeface="Consolas"/>
                <a:cs typeface="Consolas"/>
              </a:rPr>
              <a:t>        update={"amount_sar": 50.0}))</a:t>
            </a:r>
            <a:endParaRPr sz="1000"/>
          </a:p>
          <a:p xmlns:a="http://schemas.openxmlformats.org/drawingml/2006/main">
            <a:pPr marL="0" indent="0">
              <a:lnSpc>
                <a:spcPct val="112000"/>
              </a:lnSpc>
              <a:buNone/>
            </a:pPr>
            <a:r>
              <a:rPr sz="1000">
                <a:solidFill>
                  <a:srgbClr val="D9E4F5"/>
                </a:solidFill>
                <a:latin typeface="Consolas"/>
                <a:ea typeface="Consolas"/>
                <a:cs typeface="Consolas"/>
              </a:rPr>
              <a:t>    large = _score(real_model, sample_txn.model_copy(</a:t>
            </a:r>
            <a:endParaRPr sz="1000"/>
          </a:p>
          <a:p xmlns:a="http://schemas.openxmlformats.org/drawingml/2006/main">
            <a:pPr marL="0" indent="0">
              <a:lnSpc>
                <a:spcPct val="112000"/>
              </a:lnSpc>
              <a:buNone/>
            </a:pPr>
            <a:r>
              <a:rPr sz="1000">
                <a:solidFill>
                  <a:srgbClr val="D9E4F5"/>
                </a:solidFill>
                <a:latin typeface="Consolas"/>
                <a:ea typeface="Consolas"/>
                <a:cs typeface="Consolas"/>
              </a:rPr>
              <a:t>        update={"amount_sar": 50_000.0}))</a:t>
            </a:r>
            <a:endParaRPr sz="1000"/>
          </a:p>
          <a:p xmlns:a="http://schemas.openxmlformats.org/drawingml/2006/main">
            <a:pPr marL="0" indent="0">
              <a:lnSpc>
                <a:spcPct val="112000"/>
              </a:lnSpc>
              <a:buNone/>
            </a:pPr>
            <a:r>
              <a:rPr sz="1000">
                <a:solidFill>
                  <a:srgbClr val="D9E4F5"/>
                </a:solidFill>
                <a:latin typeface="Consolas"/>
                <a:ea typeface="Consolas"/>
                <a:cs typeface="Consolas"/>
              </a:rPr>
              <a:t>    assert large &gt;= small - 1e-6</a:t>
            </a:r>
            <a:endParaRPr sz="1000"/>
          </a:p>
        </p:txBody>
      </p:sp>
      <p:sp>
        <p:nvSpPr>
          <p:cNvPr id="14" name="Shape 11">
            <a:extLst xmlns:a="http://schemas.openxmlformats.org/drawingml/2006/main">
              <a:ext uri="{FF2B5EF4-FFF2-40B4-BE49-F238E27FC236}">
                <a16:creationId xmlns:a16="http://schemas.microsoft.com/office/drawing/2014/main" id="{5C58E513-2FAB-4ADB-988B-357821444570}"/>
              </a:ext>
            </a:extLst>
          </p:cNvPr>
          <p:cNvSpPr>
            <a:spLocks xmlns:a="http://schemas.openxmlformats.org/drawingml/2006/main" noGrp="1"/>
          </p:cNvSpPr>
          <p:nvPr/>
        </p:nvSpPr>
        <p:spPr>
          <a:xfrm xmlns:a="http://schemas.openxmlformats.org/drawingml/2006/main">
            <a:off x="8321040" y="1481328"/>
            <a:ext cx="3364992" cy="1402080"/>
          </a:xfrm>
          <a:prstGeom xmlns:a="http://schemas.openxmlformats.org/drawingml/2006/main" prst="roundRect">
            <a:avLst>
              <a:gd name="adj" fmla="val 3913"/>
            </a:avLst>
          </a:prstGeom>
          <a:solidFill xmlns:a="http://schemas.openxmlformats.org/drawingml/2006/main">
            <a:srgbClr val="D4F1EE"/>
          </a:solidFill>
        </p:spPr>
      </p:sp>
      <p:sp>
        <p:nvSpPr>
          <p:cNvPr id="15" name="Text 12">
            <a:extLst xmlns:a="http://schemas.openxmlformats.org/drawingml/2006/main">
              <a:ext uri="{FF2B5EF4-FFF2-40B4-BE49-F238E27FC236}">
                <a16:creationId xmlns:a16="http://schemas.microsoft.com/office/drawing/2014/main" id="{B7536934-A92E-4E37-9741-5BCE0CE64F83}"/>
              </a:ext>
            </a:extLst>
          </p:cNvPr>
          <p:cNvSpPr>
            <a:spLocks xmlns:a="http://schemas.openxmlformats.org/drawingml/2006/main" noGrp="1"/>
          </p:cNvSpPr>
          <p:nvPr/>
        </p:nvSpPr>
        <p:spPr>
          <a:xfrm xmlns:a="http://schemas.openxmlformats.org/drawingml/2006/main">
            <a:off x="8485632" y="157276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slow = nightly, not per-commit</a:t>
            </a:r>
            <a:endParaRPr sz="1050"/>
          </a:p>
        </p:txBody>
      </p:sp>
      <p:sp>
        <p:nvSpPr>
          <p:cNvPr id="16" name="Text 13">
            <a:extLst xmlns:a="http://schemas.openxmlformats.org/drawingml/2006/main">
              <a:ext uri="{FF2B5EF4-FFF2-40B4-BE49-F238E27FC236}">
                <a16:creationId xmlns:a16="http://schemas.microsoft.com/office/drawing/2014/main" id="{FC5CF64D-6DA8-445F-8BEB-5FB9B6DCF0AF}"/>
              </a:ext>
            </a:extLst>
          </p:cNvPr>
          <p:cNvSpPr>
            <a:spLocks xmlns:a="http://schemas.openxmlformats.org/drawingml/2006/main" noGrp="1"/>
          </p:cNvSpPr>
          <p:nvPr/>
        </p:nvSpPr>
        <p:spPr>
          <a:xfrm xmlns:a="http://schemas.openxmlformats.org/drawingml/2006/main">
            <a:off x="8485632" y="184708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pytestmark keeps real-model tests out of the commit gate; CI runs -m 'not slow' per commit.</a:t>
            </a:r>
            <a:endParaRPr sz="930"/>
          </a:p>
        </p:txBody>
      </p:sp>
      <p:sp>
        <p:nvSpPr>
          <p:cNvPr id="17" name="Shape 14">
            <a:extLst xmlns:a="http://schemas.openxmlformats.org/drawingml/2006/main">
              <a:ext uri="{FF2B5EF4-FFF2-40B4-BE49-F238E27FC236}">
                <a16:creationId xmlns:a16="http://schemas.microsoft.com/office/drawing/2014/main" id="{27E2DBA5-ED5E-42AF-B810-84A42F48B9FC}"/>
              </a:ext>
            </a:extLst>
          </p:cNvPr>
          <p:cNvSpPr>
            <a:spLocks xmlns:a="http://schemas.openxmlformats.org/drawingml/2006/main" noGrp="1"/>
          </p:cNvSpPr>
          <p:nvPr/>
        </p:nvSpPr>
        <p:spPr>
          <a:xfrm xmlns:a="http://schemas.openxmlformats.org/drawingml/2006/main">
            <a:off x="8321040" y="3020568"/>
            <a:ext cx="3364992" cy="1402080"/>
          </a:xfrm>
          <a:prstGeom xmlns:a="http://schemas.openxmlformats.org/drawingml/2006/main" prst="roundRect">
            <a:avLst>
              <a:gd name="adj" fmla="val 3913"/>
            </a:avLst>
          </a:prstGeom>
          <a:solidFill xmlns:a="http://schemas.openxmlformats.org/drawingml/2006/main">
            <a:srgbClr val="D9F0FA"/>
          </a:solidFill>
        </p:spPr>
      </p:sp>
      <p:sp>
        <p:nvSpPr>
          <p:cNvPr id="18" name="Text 15">
            <a:extLst xmlns:a="http://schemas.openxmlformats.org/drawingml/2006/main">
              <a:ext uri="{FF2B5EF4-FFF2-40B4-BE49-F238E27FC236}">
                <a16:creationId xmlns:a16="http://schemas.microsoft.com/office/drawing/2014/main" id="{8A8A9B71-E884-4032-A7B9-30DF5D909F2C}"/>
              </a:ext>
            </a:extLst>
          </p:cNvPr>
          <p:cNvSpPr>
            <a:spLocks xmlns:a="http://schemas.openxmlformats.org/drawingml/2006/main" noGrp="1"/>
          </p:cNvSpPr>
          <p:nvPr/>
        </p:nvSpPr>
        <p:spPr>
          <a:xfrm xmlns:a="http://schemas.openxmlformats.org/drawingml/2006/main">
            <a:off x="8485632" y="311200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A claim as a test</a:t>
            </a:r>
            <a:endParaRPr sz="1050"/>
          </a:p>
        </p:txBody>
      </p:sp>
      <p:sp>
        <p:nvSpPr>
          <p:cNvPr id="19" name="Text 16">
            <a:extLst xmlns:a="http://schemas.openxmlformats.org/drawingml/2006/main">
              <a:ext uri="{FF2B5EF4-FFF2-40B4-BE49-F238E27FC236}">
                <a16:creationId xmlns:a16="http://schemas.microsoft.com/office/drawing/2014/main" id="{DF65C6B8-2E1F-4B75-B657-3711DED85703}"/>
              </a:ext>
            </a:extLst>
          </p:cNvPr>
          <p:cNvSpPr>
            <a:spLocks xmlns:a="http://schemas.openxmlformats.org/drawingml/2006/main" noGrp="1"/>
          </p:cNvSpPr>
          <p:nvPr/>
        </p:nvSpPr>
        <p:spPr>
          <a:xfrm xmlns:a="http://schemas.openxmlformats.org/drawingml/2006/main">
            <a:off x="8485632" y="338632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Casing is noise, not signal — a fairness/robustness claim made executable.</a:t>
            </a:r>
            <a:endParaRPr sz="930"/>
          </a:p>
        </p:txBody>
      </p:sp>
      <p:sp>
        <p:nvSpPr>
          <p:cNvPr id="20" name="Shape 17">
            <a:extLst xmlns:a="http://schemas.openxmlformats.org/drawingml/2006/main">
              <a:ext uri="{FF2B5EF4-FFF2-40B4-BE49-F238E27FC236}">
                <a16:creationId xmlns:a16="http://schemas.microsoft.com/office/drawing/2014/main" id="{8D93D139-3E51-4353-A2D7-8EF6EC62500C}"/>
              </a:ext>
            </a:extLst>
          </p:cNvPr>
          <p:cNvSpPr>
            <a:spLocks xmlns:a="http://schemas.openxmlformats.org/drawingml/2006/main" noGrp="1"/>
          </p:cNvSpPr>
          <p:nvPr/>
        </p:nvSpPr>
        <p:spPr>
          <a:xfrm xmlns:a="http://schemas.openxmlformats.org/drawingml/2006/main">
            <a:off x="8321040" y="4559808"/>
            <a:ext cx="3364992" cy="1402080"/>
          </a:xfrm>
          <a:prstGeom xmlns:a="http://schemas.openxmlformats.org/drawingml/2006/main" prst="roundRect">
            <a:avLst>
              <a:gd name="adj" fmla="val 3913"/>
            </a:avLst>
          </a:prstGeom>
          <a:solidFill xmlns:a="http://schemas.openxmlformats.org/drawingml/2006/main">
            <a:srgbClr val="FDEBD7"/>
          </a:solidFill>
        </p:spPr>
      </p:sp>
      <p:sp>
        <p:nvSpPr>
          <p:cNvPr id="21" name="Text 18">
            <a:extLst xmlns:a="http://schemas.openxmlformats.org/drawingml/2006/main">
              <a:ext uri="{FF2B5EF4-FFF2-40B4-BE49-F238E27FC236}">
                <a16:creationId xmlns:a16="http://schemas.microsoft.com/office/drawing/2014/main" id="{74F06425-8B69-4F93-B035-A8CB0600167D}"/>
              </a:ext>
            </a:extLst>
          </p:cNvPr>
          <p:cNvSpPr>
            <a:spLocks xmlns:a="http://schemas.openxmlformats.org/drawingml/2006/main" noGrp="1"/>
          </p:cNvSpPr>
          <p:nvPr/>
        </p:nvSpPr>
        <p:spPr>
          <a:xfrm xmlns:a="http://schemas.openxmlformats.org/drawingml/2006/main">
            <a:off x="8485632" y="465124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Tolerance, not equality</a:t>
            </a:r>
            <a:endParaRPr sz="1050"/>
          </a:p>
        </p:txBody>
      </p:sp>
      <p:sp>
        <p:nvSpPr>
          <p:cNvPr id="22" name="Text 19">
            <a:extLst xmlns:a="http://schemas.openxmlformats.org/drawingml/2006/main">
              <a:ext uri="{FF2B5EF4-FFF2-40B4-BE49-F238E27FC236}">
                <a16:creationId xmlns:a16="http://schemas.microsoft.com/office/drawing/2014/main" id="{5C0F46CC-199B-41E7-ACB8-C8D3609D97D7}"/>
              </a:ext>
            </a:extLst>
          </p:cNvPr>
          <p:cNvSpPr>
            <a:spLocks xmlns:a="http://schemas.openxmlformats.org/drawingml/2006/main" noGrp="1"/>
          </p:cNvSpPr>
          <p:nvPr/>
        </p:nvSpPr>
        <p:spPr>
          <a:xfrm xmlns:a="http://schemas.openxmlformats.org/drawingml/2006/main">
            <a:off x="8485632" y="492556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large &gt;= small - 1e-6: directional tests never assert exact floats across BLAS builds.</a:t>
            </a:r>
            <a:endParaRPr sz="930"/>
          </a:p>
        </p:txBody>
      </p:sp>
    </p:spTree>
    <p:extLst>
      <p:ext uri="{BB962C8B-B14F-4D97-AF65-F5344CB8AC3E}">
        <p14:creationId xmlns:p14="http://schemas.microsoft.com/office/powerpoint/2010/main" val="1147208328"/>
      </p:ext>
    </p:extLst>
  </p:cSld>
</p:sld>
</file>

<file path=ppt/slides/slide9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32A0A5F-906C-4664-89B4-8364A9903294}"/>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Suite architecture — fixtures, markers, budget</a:t>
            </a:r>
            <a:endParaRPr sz="2600"/>
          </a:p>
        </p:txBody>
      </p:sp>
      <p:sp>
        <p:nvSpPr>
          <p:cNvPr id="3" name="Text 1">
            <a:extLst xmlns:a="http://schemas.openxmlformats.org/drawingml/2006/main">
              <a:ext uri="{FF2B5EF4-FFF2-40B4-BE49-F238E27FC236}">
                <a16:creationId xmlns:a16="http://schemas.microsoft.com/office/drawing/2014/main" id="{37E6849E-3602-4306-8418-06876EFB30E8}"/>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بنية المجموعة — التثبيتات والعلامات والميزانية</a:t>
            </a:r>
            <a:endParaRPr sz="1300"/>
          </a:p>
        </p:txBody>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383a82d59c354348"/>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3B2DF2F8-09C4-43AE-985F-E8D7A73DDE0A}"/>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976E5CB3-C0F7-450D-B994-9C3F464FE258}"/>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4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8BDA2F58-3EF6-4F3A-B30B-D18E2B5F33C7}"/>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92</a:t>
            </a:r>
            <a:endParaRPr sz="850"/>
          </a:p>
        </p:txBody>
      </p:sp>
      <p:sp>
        <p:nvSpPr>
          <p:cNvPr id="8" name="Text 5">
            <a:extLst xmlns:a="http://schemas.openxmlformats.org/drawingml/2006/main">
              <a:ext uri="{FF2B5EF4-FFF2-40B4-BE49-F238E27FC236}">
                <a16:creationId xmlns:a16="http://schemas.microsoft.com/office/drawing/2014/main" id="{B6189F59-6FCC-4DE2-8D01-02D6D8ABF1B5}"/>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C2019996-F2B8-4393-AA7F-4AFD8223080C}"/>
              </a:ext>
            </a:extLst>
          </p:cNvPr>
          <p:cNvSpPr>
            <a:spLocks xmlns:a="http://schemas.openxmlformats.org/drawingml/2006/main" noGrp="1"/>
          </p:cNvSpPr>
          <p:nvPr/>
        </p:nvSpPr>
        <p:spPr>
          <a:xfrm xmlns:a="http://schemas.openxmlformats.org/drawingml/2006/main">
            <a:off x="1005840" y="14996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conftest.py is the composition root</a:t>
            </a:r>
            <a:endParaRPr sz="1350"/>
          </a:p>
        </p:txBody>
      </p:sp>
      <p:sp>
        <p:nvSpPr>
          <p:cNvPr id="10" name="Text 7">
            <a:extLst xmlns:a="http://schemas.openxmlformats.org/drawingml/2006/main">
              <a:ext uri="{FF2B5EF4-FFF2-40B4-BE49-F238E27FC236}">
                <a16:creationId xmlns:a16="http://schemas.microsoft.com/office/drawing/2014/main" id="{898A0FD0-6788-4CE7-BFD2-E14A4ADDD27E}"/>
              </a:ext>
            </a:extLst>
          </p:cNvPr>
          <p:cNvSpPr>
            <a:spLocks xmlns:a="http://schemas.openxmlformats.org/drawingml/2006/main" noGrp="1"/>
          </p:cNvSpPr>
          <p:nvPr/>
        </p:nvSpPr>
        <p:spPr>
          <a:xfrm xmlns:a="http://schemas.openxmlformats.org/drawingml/2006/main">
            <a:off x="1005840" y="180136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app factory with overrides, client, constant_model, sample_txn, session-scoped real_model — the suite mirrors prod wiring but injects fakes.</a:t>
            </a:r>
            <a:endParaRPr sz="1050"/>
          </a:p>
        </p:txBody>
      </p:sp>
      <p:sp>
        <p:nvSpPr>
          <p:cNvPr id="11" name="Text 8">
            <a:extLst xmlns:a="http://schemas.openxmlformats.org/drawingml/2006/main">
              <a:ext uri="{FF2B5EF4-FFF2-40B4-BE49-F238E27FC236}">
                <a16:creationId xmlns:a16="http://schemas.microsoft.com/office/drawing/2014/main" id="{F4B8CF7A-109C-41C2-9166-6BA1DCC3F880}"/>
              </a:ext>
            </a:extLst>
          </p:cNvPr>
          <p:cNvSpPr>
            <a:spLocks xmlns:a="http://schemas.openxmlformats.org/drawingml/2006/main" noGrp="1"/>
          </p:cNvSpPr>
          <p:nvPr/>
        </p:nvSpPr>
        <p:spPr>
          <a:xfrm xmlns:a="http://schemas.openxmlformats.org/drawingml/2006/main">
            <a:off x="502920" y="280035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6CCC8280-B43E-49C5-B8E3-9346D8F4B11E}"/>
              </a:ext>
            </a:extLst>
          </p:cNvPr>
          <p:cNvSpPr>
            <a:spLocks xmlns:a="http://schemas.openxmlformats.org/drawingml/2006/main" noGrp="1"/>
          </p:cNvSpPr>
          <p:nvPr/>
        </p:nvSpPr>
        <p:spPr>
          <a:xfrm xmlns:a="http://schemas.openxmlformats.org/drawingml/2006/main">
            <a:off x="1005840" y="274548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Markers slice the suite</a:t>
            </a:r>
            <a:endParaRPr sz="1350"/>
          </a:p>
        </p:txBody>
      </p:sp>
      <p:sp>
        <p:nvSpPr>
          <p:cNvPr id="13" name="Text 10">
            <a:extLst xmlns:a="http://schemas.openxmlformats.org/drawingml/2006/main">
              <a:ext uri="{FF2B5EF4-FFF2-40B4-BE49-F238E27FC236}">
                <a16:creationId xmlns:a16="http://schemas.microsoft.com/office/drawing/2014/main" id="{4BE1084E-50CF-404B-B6B4-4DD7E1D18F42}"/>
              </a:ext>
            </a:extLst>
          </p:cNvPr>
          <p:cNvSpPr>
            <a:spLocks xmlns:a="http://schemas.openxmlformats.org/drawingml/2006/main" noGrp="1"/>
          </p:cNvSpPr>
          <p:nvPr/>
        </p:nvSpPr>
        <p:spPr>
          <a:xfrm xmlns:a="http://schemas.openxmlformats.org/drawingml/2006/main">
            <a:off x="1005840" y="304723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unit, integration, behavioural, slow — with --strict-markers. CI runs -m 'not slow' on every commit and everything nightly.</a:t>
            </a:r>
            <a:endParaRPr sz="1050"/>
          </a:p>
        </p:txBody>
      </p:sp>
      <p:sp>
        <p:nvSpPr>
          <p:cNvPr id="14" name="Text 11">
            <a:extLst xmlns:a="http://schemas.openxmlformats.org/drawingml/2006/main">
              <a:ext uri="{FF2B5EF4-FFF2-40B4-BE49-F238E27FC236}">
                <a16:creationId xmlns:a16="http://schemas.microsoft.com/office/drawing/2014/main" id="{641315D6-C092-4783-A887-DDB0D3E69AAF}"/>
              </a:ext>
            </a:extLst>
          </p:cNvPr>
          <p:cNvSpPr>
            <a:spLocks xmlns:a="http://schemas.openxmlformats.org/drawingml/2006/main" noGrp="1"/>
          </p:cNvSpPr>
          <p:nvPr/>
        </p:nvSpPr>
        <p:spPr>
          <a:xfrm xmlns:a="http://schemas.openxmlformats.org/drawingml/2006/main">
            <a:off x="502920" y="404622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3ECEB21F-71AF-49E1-AB1B-E9B0D1815FD6}"/>
              </a:ext>
            </a:extLst>
          </p:cNvPr>
          <p:cNvSpPr>
            <a:spLocks xmlns:a="http://schemas.openxmlformats.org/drawingml/2006/main" noGrp="1"/>
          </p:cNvSpPr>
          <p:nvPr/>
        </p:nvSpPr>
        <p:spPr>
          <a:xfrm xmlns:a="http://schemas.openxmlformats.org/drawingml/2006/main">
            <a:off x="1005840" y="399135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Time budget is a tracked metric</a:t>
            </a:r>
            <a:endParaRPr sz="1350"/>
          </a:p>
        </p:txBody>
      </p:sp>
      <p:sp>
        <p:nvSpPr>
          <p:cNvPr id="16" name="Text 13">
            <a:extLst xmlns:a="http://schemas.openxmlformats.org/drawingml/2006/main">
              <a:ext uri="{FF2B5EF4-FFF2-40B4-BE49-F238E27FC236}">
                <a16:creationId xmlns:a16="http://schemas.microsoft.com/office/drawing/2014/main" id="{BC64B871-507E-4916-8988-ABD022D455D4}"/>
              </a:ext>
            </a:extLst>
          </p:cNvPr>
          <p:cNvSpPr>
            <a:spLocks xmlns:a="http://schemas.openxmlformats.org/drawingml/2006/main" noGrp="1"/>
          </p:cNvSpPr>
          <p:nvPr/>
        </p:nvSpPr>
        <p:spPr>
          <a:xfrm xmlns:a="http://schemas.openxmlformats.org/drawingml/2006/main">
            <a:off x="1005840" y="429310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A suite over 5 minutes per commit rots discipline; course target is seconds. Find hot spots with --durations=10.</a:t>
            </a:r>
            <a:endParaRPr sz="1050"/>
          </a:p>
        </p:txBody>
      </p:sp>
      <p:sp>
        <p:nvSpPr>
          <p:cNvPr id="17" name="Text 14">
            <a:extLst xmlns:a="http://schemas.openxmlformats.org/drawingml/2006/main">
              <a:ext uri="{FF2B5EF4-FFF2-40B4-BE49-F238E27FC236}">
                <a16:creationId xmlns:a16="http://schemas.microsoft.com/office/drawing/2014/main" id="{B5A9B6B4-4210-48B7-9C5E-042203B30C02}"/>
              </a:ext>
            </a:extLst>
          </p:cNvPr>
          <p:cNvSpPr>
            <a:spLocks xmlns:a="http://schemas.openxmlformats.org/drawingml/2006/main" noGrp="1"/>
          </p:cNvSpPr>
          <p:nvPr/>
        </p:nvSpPr>
        <p:spPr>
          <a:xfrm xmlns:a="http://schemas.openxmlformats.org/drawingml/2006/main">
            <a:off x="502920" y="5292090"/>
            <a:ext cx="329184" cy="329184"/>
          </a:xfrm>
          <a:prstGeom xmlns:a="http://schemas.openxmlformats.org/drawingml/2006/main" prst="ellipse">
            <a:avLst/>
          </a:prstGeom>
          <a:solidFill xmlns:a="http://schemas.openxmlformats.org/drawingml/2006/main">
            <a:srgbClr val="8DC63F"/>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4</a:t>
            </a:r>
            <a:endParaRPr sz="1300"/>
          </a:p>
        </p:txBody>
      </p:sp>
      <p:sp>
        <p:nvSpPr>
          <p:cNvPr id="18" name="Text 15">
            <a:extLst xmlns:a="http://schemas.openxmlformats.org/drawingml/2006/main">
              <a:ext uri="{FF2B5EF4-FFF2-40B4-BE49-F238E27FC236}">
                <a16:creationId xmlns:a16="http://schemas.microsoft.com/office/drawing/2014/main" id="{47CDE73B-1D4E-45BC-AD8B-4E7F151CF699}"/>
              </a:ext>
            </a:extLst>
          </p:cNvPr>
          <p:cNvSpPr>
            <a:spLocks xmlns:a="http://schemas.openxmlformats.org/drawingml/2006/main" noGrp="1"/>
          </p:cNvSpPr>
          <p:nvPr/>
        </p:nvSpPr>
        <p:spPr>
          <a:xfrm xmlns:a="http://schemas.openxmlformats.org/drawingml/2006/main">
            <a:off x="1005840" y="523722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Determinism discipline</a:t>
            </a:r>
            <a:endParaRPr sz="1350"/>
          </a:p>
        </p:txBody>
      </p:sp>
      <p:sp>
        <p:nvSpPr>
          <p:cNvPr id="19" name="Text 16">
            <a:extLst xmlns:a="http://schemas.openxmlformats.org/drawingml/2006/main">
              <a:ext uri="{FF2B5EF4-FFF2-40B4-BE49-F238E27FC236}">
                <a16:creationId xmlns:a16="http://schemas.microsoft.com/office/drawing/2014/main" id="{9357F2B7-4754-412A-93AF-0694D5D25417}"/>
              </a:ext>
            </a:extLst>
          </p:cNvPr>
          <p:cNvSpPr>
            <a:spLocks xmlns:a="http://schemas.openxmlformats.org/drawingml/2006/main" noGrp="1"/>
          </p:cNvSpPr>
          <p:nvPr/>
        </p:nvSpPr>
        <p:spPr>
          <a:xfrm xmlns:a="http://schemas.openxmlformats.org/drawingml/2006/main">
            <a:off x="1005840" y="553897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No unseeded randomness, no datetime.now() in tests — flaky failures erode trust faster than missing tests. Synthetic data only; real PII never enters git.</a:t>
            </a:r>
            <a:endParaRPr sz="1050"/>
          </a:p>
        </p:txBody>
      </p:sp>
    </p:spTree>
    <p:extLst>
      <p:ext uri="{BB962C8B-B14F-4D97-AF65-F5344CB8AC3E}">
        <p14:creationId xmlns:p14="http://schemas.microsoft.com/office/powerpoint/2010/main" val="1952135624"/>
      </p:ext>
    </p:extLst>
  </p:cSld>
</p:sld>
</file>

<file path=ppt/slides/slide9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B095DDB-E305-4A3F-8791-FAE5E1516778}"/>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The golden-file lifecycle</a:t>
            </a:r>
            <a:endParaRPr sz="2600"/>
          </a:p>
        </p:txBody>
      </p:sp>
      <p:sp>
        <p:nvSpPr>
          <p:cNvPr id="3" name="Text 1">
            <a:extLst xmlns:a="http://schemas.openxmlformats.org/drawingml/2006/main">
              <a:ext uri="{FF2B5EF4-FFF2-40B4-BE49-F238E27FC236}">
                <a16:creationId xmlns:a16="http://schemas.microsoft.com/office/drawing/2014/main" id="{52FCAEE7-85B8-49B6-8852-84FA39217C1C}"/>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دورة حياة الملف الذهبي</a:t>
            </a:r>
            <a:endParaRPr sz="1300"/>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aed2ac668f4a4d2f"/>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F3AC98AB-BDF1-47CB-AA61-E22CEC25151C}"/>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2DE0E98B-E798-4EC9-82D1-45CEC5F2367D}"/>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4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BEF2CE32-0E4A-41CC-A1B6-0434CC1ABB2A}"/>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93</a:t>
            </a:r>
            <a:endParaRPr sz="850"/>
          </a:p>
        </p:txBody>
      </p:sp>
      <p:sp>
        <p:nvSpPr>
          <p:cNvPr id="8" name="Shape 5">
            <a:extLst xmlns:a="http://schemas.openxmlformats.org/drawingml/2006/main">
              <a:ext uri="{FF2B5EF4-FFF2-40B4-BE49-F238E27FC236}">
                <a16:creationId xmlns:a16="http://schemas.microsoft.com/office/drawing/2014/main" id="{DC886104-E265-4425-A8E0-2F161192ED07}"/>
              </a:ext>
            </a:extLst>
          </p:cNvPr>
          <p:cNvSpPr>
            <a:spLocks xmlns:a="http://schemas.openxmlformats.org/drawingml/2006/main" noGrp="1"/>
          </p:cNvSpPr>
          <p:nvPr/>
        </p:nvSpPr>
        <p:spPr>
          <a:xfrm xmlns:a="http://schemas.openxmlformats.org/drawingml/2006/main">
            <a:off x="502920"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970875B1-E246-4F76-BC18-FB55CD9C0325}"/>
              </a:ext>
            </a:extLst>
          </p:cNvPr>
          <p:cNvSpPr>
            <a:spLocks xmlns:a="http://schemas.openxmlformats.org/drawingml/2006/main" noGrp="1"/>
          </p:cNvSpPr>
          <p:nvPr/>
        </p:nvSpPr>
        <p:spPr>
          <a:xfrm xmlns:a="http://schemas.openxmlformats.org/drawingml/2006/main">
            <a:off x="502920" y="1965960"/>
            <a:ext cx="1929384" cy="82296"/>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814D82FC-5F15-4F4C-92A6-C892A8DA8470}"/>
              </a:ext>
            </a:extLst>
          </p:cNvPr>
          <p:cNvSpPr>
            <a:spLocks xmlns:a="http://schemas.openxmlformats.org/drawingml/2006/main" noGrp="1"/>
          </p:cNvSpPr>
          <p:nvPr/>
        </p:nvSpPr>
        <p:spPr>
          <a:xfrm xmlns:a="http://schemas.openxmlformats.org/drawingml/2006/main">
            <a:off x="640080"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00A79D"/>
                </a:solidFill>
                <a:latin typeface="Calibri"/>
                <a:ea typeface="Calibri"/>
                <a:cs typeface="Calibri"/>
              </a:rPr>
              <a:t>STEP 1</a:t>
            </a:r>
            <a:endParaRPr sz="900"/>
          </a:p>
        </p:txBody>
      </p:sp>
      <p:sp>
        <p:nvSpPr>
          <p:cNvPr id="11" name="Text 8">
            <a:extLst xmlns:a="http://schemas.openxmlformats.org/drawingml/2006/main">
              <a:ext uri="{FF2B5EF4-FFF2-40B4-BE49-F238E27FC236}">
                <a16:creationId xmlns:a16="http://schemas.microsoft.com/office/drawing/2014/main" id="{1C0DE7FA-6F75-4114-82FC-C08329C4D42F}"/>
              </a:ext>
            </a:extLst>
          </p:cNvPr>
          <p:cNvSpPr>
            <a:spLocks xmlns:a="http://schemas.openxmlformats.org/drawingml/2006/main" noGrp="1"/>
          </p:cNvSpPr>
          <p:nvPr/>
        </p:nvSpPr>
        <p:spPr>
          <a:xfrm xmlns:a="http://schemas.openxmlformats.org/drawingml/2006/main">
            <a:off x="640080"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Pair v3 + golden v3</a:t>
            </a:r>
            <a:endParaRPr sz="1250"/>
          </a:p>
        </p:txBody>
      </p:sp>
      <p:sp>
        <p:nvSpPr>
          <p:cNvPr id="12" name="Text 9">
            <a:extLst xmlns:a="http://schemas.openxmlformats.org/drawingml/2006/main">
              <a:ext uri="{FF2B5EF4-FFF2-40B4-BE49-F238E27FC236}">
                <a16:creationId xmlns:a16="http://schemas.microsoft.com/office/drawing/2014/main" id="{C4D13D6C-889E-4BF5-B486-AEDF492B8630}"/>
              </a:ext>
            </a:extLst>
          </p:cNvPr>
          <p:cNvSpPr>
            <a:spLocks xmlns:a="http://schemas.openxmlformats.org/drawingml/2006/main" noGrp="1"/>
          </p:cNvSpPr>
          <p:nvPr/>
        </p:nvSpPr>
        <p:spPr>
          <a:xfrm xmlns:a="http://schemas.openxmlformats.org/drawingml/2006/main">
            <a:off x="640080"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golden_scores_v3.csv is generated from the model artefact and versioned with it</a:t>
            </a:r>
            <a:endParaRPr sz="950"/>
          </a:p>
        </p:txBody>
      </p:sp>
      <p:sp>
        <p:nvSpPr>
          <p:cNvPr id="13" name="Shape 10">
            <a:extLst xmlns:a="http://schemas.openxmlformats.org/drawingml/2006/main">
              <a:ext uri="{FF2B5EF4-FFF2-40B4-BE49-F238E27FC236}">
                <a16:creationId xmlns:a16="http://schemas.microsoft.com/office/drawing/2014/main" id="{094F2431-9C25-486C-A75D-189FD5778E99}"/>
              </a:ext>
            </a:extLst>
          </p:cNvPr>
          <p:cNvSpPr>
            <a:spLocks xmlns:a="http://schemas.openxmlformats.org/drawingml/2006/main" noGrp="1"/>
          </p:cNvSpPr>
          <p:nvPr/>
        </p:nvSpPr>
        <p:spPr>
          <a:xfrm xmlns:a="http://schemas.openxmlformats.org/drawingml/2006/main">
            <a:off x="2487168" y="3026664"/>
            <a:ext cx="274320" cy="256032"/>
          </a:xfrm>
          <a:prstGeom xmlns:a="http://schemas.openxmlformats.org/drawingml/2006/main" prst="chevron">
            <a:avLst/>
          </a:prstGeom>
          <a:solidFill xmlns:a="http://schemas.openxmlformats.org/drawingml/2006/main">
            <a:srgbClr val="00A79D"/>
          </a:solidFill>
        </p:spPr>
      </p:sp>
      <p:sp>
        <p:nvSpPr>
          <p:cNvPr id="14" name="Shape 11">
            <a:extLst xmlns:a="http://schemas.openxmlformats.org/drawingml/2006/main">
              <a:ext uri="{FF2B5EF4-FFF2-40B4-BE49-F238E27FC236}">
                <a16:creationId xmlns:a16="http://schemas.microsoft.com/office/drawing/2014/main" id="{2976B8E3-3035-454C-9B28-82A29C213927}"/>
              </a:ext>
            </a:extLst>
          </p:cNvPr>
          <p:cNvSpPr>
            <a:spLocks xmlns:a="http://schemas.openxmlformats.org/drawingml/2006/main" noGrp="1"/>
          </p:cNvSpPr>
          <p:nvPr/>
        </p:nvSpPr>
        <p:spPr>
          <a:xfrm xmlns:a="http://schemas.openxmlformats.org/drawingml/2006/main">
            <a:off x="2816352"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15" name="Shape 12">
            <a:extLst xmlns:a="http://schemas.openxmlformats.org/drawingml/2006/main">
              <a:ext uri="{FF2B5EF4-FFF2-40B4-BE49-F238E27FC236}">
                <a16:creationId xmlns:a16="http://schemas.microsoft.com/office/drawing/2014/main" id="{44F7D38E-342B-4C80-BB5F-AFEC274434DC}"/>
              </a:ext>
            </a:extLst>
          </p:cNvPr>
          <p:cNvSpPr>
            <a:spLocks xmlns:a="http://schemas.openxmlformats.org/drawingml/2006/main" noGrp="1"/>
          </p:cNvSpPr>
          <p:nvPr/>
        </p:nvSpPr>
        <p:spPr>
          <a:xfrm xmlns:a="http://schemas.openxmlformats.org/drawingml/2006/main">
            <a:off x="2816352" y="1965960"/>
            <a:ext cx="1929384" cy="82296"/>
          </a:xfrm>
          <a:prstGeom xmlns:a="http://schemas.openxmlformats.org/drawingml/2006/main" prst="rect">
            <a:avLst/>
          </a:prstGeom>
          <a:solidFill xmlns:a="http://schemas.openxmlformats.org/drawingml/2006/main">
            <a:srgbClr val="29ABE2"/>
          </a:solidFill>
        </p:spPr>
      </p:sp>
      <p:sp>
        <p:nvSpPr>
          <p:cNvPr id="16" name="Text 13">
            <a:extLst xmlns:a="http://schemas.openxmlformats.org/drawingml/2006/main">
              <a:ext uri="{FF2B5EF4-FFF2-40B4-BE49-F238E27FC236}">
                <a16:creationId xmlns:a16="http://schemas.microsoft.com/office/drawing/2014/main" id="{3A172473-90CA-479C-8EE1-EC908886AB7F}"/>
              </a:ext>
            </a:extLst>
          </p:cNvPr>
          <p:cNvSpPr>
            <a:spLocks xmlns:a="http://schemas.openxmlformats.org/drawingml/2006/main" noGrp="1"/>
          </p:cNvSpPr>
          <p:nvPr/>
        </p:nvSpPr>
        <p:spPr>
          <a:xfrm xmlns:a="http://schemas.openxmlformats.org/drawingml/2006/main">
            <a:off x="2953512"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29ABE2"/>
                </a:solidFill>
                <a:latin typeface="Calibri"/>
                <a:ea typeface="Calibri"/>
                <a:cs typeface="Calibri"/>
              </a:rPr>
              <a:t>STEP 2</a:t>
            </a:r>
            <a:endParaRPr sz="900"/>
          </a:p>
        </p:txBody>
      </p:sp>
      <p:sp>
        <p:nvSpPr>
          <p:cNvPr id="17" name="Text 14">
            <a:extLst xmlns:a="http://schemas.openxmlformats.org/drawingml/2006/main">
              <a:ext uri="{FF2B5EF4-FFF2-40B4-BE49-F238E27FC236}">
                <a16:creationId xmlns:a16="http://schemas.microsoft.com/office/drawing/2014/main" id="{5041C91D-D146-4171-AE56-43959D77CE14}"/>
              </a:ext>
            </a:extLst>
          </p:cNvPr>
          <p:cNvSpPr>
            <a:spLocks xmlns:a="http://schemas.openxmlformats.org/drawingml/2006/main" noGrp="1"/>
          </p:cNvSpPr>
          <p:nvPr/>
        </p:nvSpPr>
        <p:spPr>
          <a:xfrm xmlns:a="http://schemas.openxmlformats.org/drawingml/2006/main">
            <a:off x="2953512"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Change proposed</a:t>
            </a:r>
            <a:endParaRPr sz="1250"/>
          </a:p>
        </p:txBody>
      </p:sp>
      <p:sp>
        <p:nvSpPr>
          <p:cNvPr id="18" name="Text 15">
            <a:extLst xmlns:a="http://schemas.openxmlformats.org/drawingml/2006/main">
              <a:ext uri="{FF2B5EF4-FFF2-40B4-BE49-F238E27FC236}">
                <a16:creationId xmlns:a16="http://schemas.microsoft.com/office/drawing/2014/main" id="{5F254631-F59F-4419-8743-ACE0EEFB3333}"/>
              </a:ext>
            </a:extLst>
          </p:cNvPr>
          <p:cNvSpPr>
            <a:spLocks xmlns:a="http://schemas.openxmlformats.org/drawingml/2006/main" noGrp="1"/>
          </p:cNvSpPr>
          <p:nvPr/>
        </p:nvSpPr>
        <p:spPr>
          <a:xfrm xmlns:a="http://schemas.openxmlformats.org/drawingml/2006/main">
            <a:off x="2953512"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a feature edit or a new model artefact lands in a PR</a:t>
            </a:r>
            <a:endParaRPr sz="950"/>
          </a:p>
        </p:txBody>
      </p:sp>
      <p:sp>
        <p:nvSpPr>
          <p:cNvPr id="19" name="Shape 16">
            <a:extLst xmlns:a="http://schemas.openxmlformats.org/drawingml/2006/main">
              <a:ext uri="{FF2B5EF4-FFF2-40B4-BE49-F238E27FC236}">
                <a16:creationId xmlns:a16="http://schemas.microsoft.com/office/drawing/2014/main" id="{085D8761-A282-4E48-A085-4BB58208C5E6}"/>
              </a:ext>
            </a:extLst>
          </p:cNvPr>
          <p:cNvSpPr>
            <a:spLocks xmlns:a="http://schemas.openxmlformats.org/drawingml/2006/main" noGrp="1"/>
          </p:cNvSpPr>
          <p:nvPr/>
        </p:nvSpPr>
        <p:spPr>
          <a:xfrm xmlns:a="http://schemas.openxmlformats.org/drawingml/2006/main">
            <a:off x="4800600" y="3026664"/>
            <a:ext cx="274320" cy="256032"/>
          </a:xfrm>
          <a:prstGeom xmlns:a="http://schemas.openxmlformats.org/drawingml/2006/main" prst="chevron">
            <a:avLst/>
          </a:prstGeom>
          <a:solidFill xmlns:a="http://schemas.openxmlformats.org/drawingml/2006/main">
            <a:srgbClr val="00A79D"/>
          </a:solidFill>
        </p:spPr>
      </p:sp>
      <p:sp>
        <p:nvSpPr>
          <p:cNvPr id="20" name="Shape 17">
            <a:extLst xmlns:a="http://schemas.openxmlformats.org/drawingml/2006/main">
              <a:ext uri="{FF2B5EF4-FFF2-40B4-BE49-F238E27FC236}">
                <a16:creationId xmlns:a16="http://schemas.microsoft.com/office/drawing/2014/main" id="{8E8F7B05-A63D-401C-B82F-8543B44F6882}"/>
              </a:ext>
            </a:extLst>
          </p:cNvPr>
          <p:cNvSpPr>
            <a:spLocks xmlns:a="http://schemas.openxmlformats.org/drawingml/2006/main" noGrp="1"/>
          </p:cNvSpPr>
          <p:nvPr/>
        </p:nvSpPr>
        <p:spPr>
          <a:xfrm xmlns:a="http://schemas.openxmlformats.org/drawingml/2006/main">
            <a:off x="5129784"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21" name="Shape 18">
            <a:extLst xmlns:a="http://schemas.openxmlformats.org/drawingml/2006/main">
              <a:ext uri="{FF2B5EF4-FFF2-40B4-BE49-F238E27FC236}">
                <a16:creationId xmlns:a16="http://schemas.microsoft.com/office/drawing/2014/main" id="{244FCE28-38F6-48CA-A566-6CC42797DF2A}"/>
              </a:ext>
            </a:extLst>
          </p:cNvPr>
          <p:cNvSpPr>
            <a:spLocks xmlns:a="http://schemas.openxmlformats.org/drawingml/2006/main" noGrp="1"/>
          </p:cNvSpPr>
          <p:nvPr/>
        </p:nvSpPr>
        <p:spPr>
          <a:xfrm xmlns:a="http://schemas.openxmlformats.org/drawingml/2006/main">
            <a:off x="5129784" y="1965960"/>
            <a:ext cx="1929384" cy="82296"/>
          </a:xfrm>
          <a:prstGeom xmlns:a="http://schemas.openxmlformats.org/drawingml/2006/main" prst="rect">
            <a:avLst/>
          </a:prstGeom>
          <a:solidFill xmlns:a="http://schemas.openxmlformats.org/drawingml/2006/main">
            <a:srgbClr val="F58220"/>
          </a:solidFill>
        </p:spPr>
      </p:sp>
      <p:sp>
        <p:nvSpPr>
          <p:cNvPr id="22" name="Text 19">
            <a:extLst xmlns:a="http://schemas.openxmlformats.org/drawingml/2006/main">
              <a:ext uri="{FF2B5EF4-FFF2-40B4-BE49-F238E27FC236}">
                <a16:creationId xmlns:a16="http://schemas.microsoft.com/office/drawing/2014/main" id="{8691BE8C-DB7C-482B-988A-AC527ED1E773}"/>
              </a:ext>
            </a:extLst>
          </p:cNvPr>
          <p:cNvSpPr>
            <a:spLocks xmlns:a="http://schemas.openxmlformats.org/drawingml/2006/main" noGrp="1"/>
          </p:cNvSpPr>
          <p:nvPr/>
        </p:nvSpPr>
        <p:spPr>
          <a:xfrm xmlns:a="http://schemas.openxmlformats.org/drawingml/2006/main">
            <a:off x="5266944"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F58220"/>
                </a:solidFill>
                <a:latin typeface="Calibri"/>
                <a:ea typeface="Calibri"/>
                <a:cs typeface="Calibri"/>
              </a:rPr>
              <a:t>STEP 3</a:t>
            </a:r>
            <a:endParaRPr sz="900"/>
          </a:p>
        </p:txBody>
      </p:sp>
      <p:sp>
        <p:nvSpPr>
          <p:cNvPr id="23" name="Text 20">
            <a:extLst xmlns:a="http://schemas.openxmlformats.org/drawingml/2006/main">
              <a:ext uri="{FF2B5EF4-FFF2-40B4-BE49-F238E27FC236}">
                <a16:creationId xmlns:a16="http://schemas.microsoft.com/office/drawing/2014/main" id="{5624E51C-5A3C-4739-B8EC-F9B4A27D5255}"/>
              </a:ext>
            </a:extLst>
          </p:cNvPr>
          <p:cNvSpPr>
            <a:spLocks xmlns:a="http://schemas.openxmlformats.org/drawingml/2006/main" noGrp="1"/>
          </p:cNvSpPr>
          <p:nvPr/>
        </p:nvSpPr>
        <p:spPr>
          <a:xfrm xmlns:a="http://schemas.openxmlformats.org/drawingml/2006/main">
            <a:off x="5266944"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Red diff</a:t>
            </a:r>
            <a:endParaRPr sz="1250"/>
          </a:p>
        </p:txBody>
      </p:sp>
      <p:sp>
        <p:nvSpPr>
          <p:cNvPr id="24" name="Text 21">
            <a:extLst xmlns:a="http://schemas.openxmlformats.org/drawingml/2006/main">
              <a:ext uri="{FF2B5EF4-FFF2-40B4-BE49-F238E27FC236}">
                <a16:creationId xmlns:a16="http://schemas.microsoft.com/office/drawing/2014/main" id="{B2285819-371A-4E21-AE77-CF7B3A0B6ABE}"/>
              </a:ext>
            </a:extLst>
          </p:cNvPr>
          <p:cNvSpPr>
            <a:spLocks xmlns:a="http://schemas.openxmlformats.org/drawingml/2006/main" noGrp="1"/>
          </p:cNvSpPr>
          <p:nvPr/>
        </p:nvSpPr>
        <p:spPr>
          <a:xfrm xmlns:a="http://schemas.openxmlformats.org/drawingml/2006/main">
            <a:off x="5266944"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the golden test fails, naming the transaction and both scores — skew made visible</a:t>
            </a:r>
            <a:endParaRPr sz="950"/>
          </a:p>
        </p:txBody>
      </p:sp>
      <p:sp>
        <p:nvSpPr>
          <p:cNvPr id="25" name="Shape 22">
            <a:extLst xmlns:a="http://schemas.openxmlformats.org/drawingml/2006/main">
              <a:ext uri="{FF2B5EF4-FFF2-40B4-BE49-F238E27FC236}">
                <a16:creationId xmlns:a16="http://schemas.microsoft.com/office/drawing/2014/main" id="{9F3D54BF-00EB-4F3B-842A-06D01FE3FB46}"/>
              </a:ext>
            </a:extLst>
          </p:cNvPr>
          <p:cNvSpPr>
            <a:spLocks xmlns:a="http://schemas.openxmlformats.org/drawingml/2006/main" noGrp="1"/>
          </p:cNvSpPr>
          <p:nvPr/>
        </p:nvSpPr>
        <p:spPr>
          <a:xfrm xmlns:a="http://schemas.openxmlformats.org/drawingml/2006/main">
            <a:off x="7114032" y="3026664"/>
            <a:ext cx="274320" cy="256032"/>
          </a:xfrm>
          <a:prstGeom xmlns:a="http://schemas.openxmlformats.org/drawingml/2006/main" prst="chevron">
            <a:avLst/>
          </a:prstGeom>
          <a:solidFill xmlns:a="http://schemas.openxmlformats.org/drawingml/2006/main">
            <a:srgbClr val="00A79D"/>
          </a:solidFill>
        </p:spPr>
      </p:sp>
      <p:sp>
        <p:nvSpPr>
          <p:cNvPr id="26" name="Shape 23">
            <a:extLst xmlns:a="http://schemas.openxmlformats.org/drawingml/2006/main">
              <a:ext uri="{FF2B5EF4-FFF2-40B4-BE49-F238E27FC236}">
                <a16:creationId xmlns:a16="http://schemas.microsoft.com/office/drawing/2014/main" id="{1CD9DBB9-6521-491F-8F3A-4CF2A49BC9F4}"/>
              </a:ext>
            </a:extLst>
          </p:cNvPr>
          <p:cNvSpPr>
            <a:spLocks xmlns:a="http://schemas.openxmlformats.org/drawingml/2006/main" noGrp="1"/>
          </p:cNvSpPr>
          <p:nvPr/>
        </p:nvSpPr>
        <p:spPr>
          <a:xfrm xmlns:a="http://schemas.openxmlformats.org/drawingml/2006/main">
            <a:off x="7443216"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27" name="Shape 24">
            <a:extLst xmlns:a="http://schemas.openxmlformats.org/drawingml/2006/main">
              <a:ext uri="{FF2B5EF4-FFF2-40B4-BE49-F238E27FC236}">
                <a16:creationId xmlns:a16="http://schemas.microsoft.com/office/drawing/2014/main" id="{8B41CDC7-28E7-40CD-AC38-BA3207B5A58C}"/>
              </a:ext>
            </a:extLst>
          </p:cNvPr>
          <p:cNvSpPr>
            <a:spLocks xmlns:a="http://schemas.openxmlformats.org/drawingml/2006/main" noGrp="1"/>
          </p:cNvSpPr>
          <p:nvPr/>
        </p:nvSpPr>
        <p:spPr>
          <a:xfrm xmlns:a="http://schemas.openxmlformats.org/drawingml/2006/main">
            <a:off x="7443216" y="1965960"/>
            <a:ext cx="1929384" cy="82296"/>
          </a:xfrm>
          <a:prstGeom xmlns:a="http://schemas.openxmlformats.org/drawingml/2006/main" prst="rect">
            <a:avLst/>
          </a:prstGeom>
          <a:solidFill xmlns:a="http://schemas.openxmlformats.org/drawingml/2006/main">
            <a:srgbClr val="8DC63F"/>
          </a:solidFill>
        </p:spPr>
      </p:sp>
      <p:sp>
        <p:nvSpPr>
          <p:cNvPr id="28" name="Text 25">
            <a:extLst xmlns:a="http://schemas.openxmlformats.org/drawingml/2006/main">
              <a:ext uri="{FF2B5EF4-FFF2-40B4-BE49-F238E27FC236}">
                <a16:creationId xmlns:a16="http://schemas.microsoft.com/office/drawing/2014/main" id="{1B19987C-7954-4D34-911C-C2E7D7557D6C}"/>
              </a:ext>
            </a:extLst>
          </p:cNvPr>
          <p:cNvSpPr>
            <a:spLocks xmlns:a="http://schemas.openxmlformats.org/drawingml/2006/main" noGrp="1"/>
          </p:cNvSpPr>
          <p:nvPr/>
        </p:nvSpPr>
        <p:spPr>
          <a:xfrm xmlns:a="http://schemas.openxmlformats.org/drawingml/2006/main">
            <a:off x="7580376"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8DC63F"/>
                </a:solidFill>
                <a:latin typeface="Calibri"/>
                <a:ea typeface="Calibri"/>
                <a:cs typeface="Calibri"/>
              </a:rPr>
              <a:t>STEP 4</a:t>
            </a:r>
            <a:endParaRPr sz="900"/>
          </a:p>
        </p:txBody>
      </p:sp>
      <p:sp>
        <p:nvSpPr>
          <p:cNvPr id="29" name="Text 26">
            <a:extLst xmlns:a="http://schemas.openxmlformats.org/drawingml/2006/main">
              <a:ext uri="{FF2B5EF4-FFF2-40B4-BE49-F238E27FC236}">
                <a16:creationId xmlns:a16="http://schemas.microsoft.com/office/drawing/2014/main" id="{3BEBEBB9-91C1-4B93-B66B-93E6398D24E6}"/>
              </a:ext>
            </a:extLst>
          </p:cNvPr>
          <p:cNvSpPr>
            <a:spLocks xmlns:a="http://schemas.openxmlformats.org/drawingml/2006/main" noGrp="1"/>
          </p:cNvSpPr>
          <p:nvPr/>
        </p:nvSpPr>
        <p:spPr>
          <a:xfrm xmlns:a="http://schemas.openxmlformats.org/drawingml/2006/main">
            <a:off x="7580376"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Human review</a:t>
            </a:r>
            <a:endParaRPr sz="1250"/>
          </a:p>
        </p:txBody>
      </p:sp>
      <p:sp>
        <p:nvSpPr>
          <p:cNvPr id="30" name="Text 27">
            <a:extLst xmlns:a="http://schemas.openxmlformats.org/drawingml/2006/main">
              <a:ext uri="{FF2B5EF4-FFF2-40B4-BE49-F238E27FC236}">
                <a16:creationId xmlns:a16="http://schemas.microsoft.com/office/drawing/2014/main" id="{E366C2F6-F6A8-45A4-A4BE-DAF4F2677B9B}"/>
              </a:ext>
            </a:extLst>
          </p:cNvPr>
          <p:cNvSpPr>
            <a:spLocks xmlns:a="http://schemas.openxmlformats.org/drawingml/2006/main" noGrp="1"/>
          </p:cNvSpPr>
          <p:nvPr/>
        </p:nvSpPr>
        <p:spPr>
          <a:xfrm xmlns:a="http://schemas.openxmlformats.org/drawingml/2006/main">
            <a:off x="7580376"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decide: a bug to fix, or an intended change to justify in the PR</a:t>
            </a:r>
            <a:endParaRPr sz="950"/>
          </a:p>
        </p:txBody>
      </p:sp>
      <p:sp>
        <p:nvSpPr>
          <p:cNvPr id="31" name="Shape 28">
            <a:extLst xmlns:a="http://schemas.openxmlformats.org/drawingml/2006/main">
              <a:ext uri="{FF2B5EF4-FFF2-40B4-BE49-F238E27FC236}">
                <a16:creationId xmlns:a16="http://schemas.microsoft.com/office/drawing/2014/main" id="{2AF2C96B-DBA0-476F-987A-707664F3EA11}"/>
              </a:ext>
            </a:extLst>
          </p:cNvPr>
          <p:cNvSpPr>
            <a:spLocks xmlns:a="http://schemas.openxmlformats.org/drawingml/2006/main" noGrp="1"/>
          </p:cNvSpPr>
          <p:nvPr/>
        </p:nvSpPr>
        <p:spPr>
          <a:xfrm xmlns:a="http://schemas.openxmlformats.org/drawingml/2006/main">
            <a:off x="9427464" y="3026664"/>
            <a:ext cx="274320" cy="256032"/>
          </a:xfrm>
          <a:prstGeom xmlns:a="http://schemas.openxmlformats.org/drawingml/2006/main" prst="chevron">
            <a:avLst/>
          </a:prstGeom>
          <a:solidFill xmlns:a="http://schemas.openxmlformats.org/drawingml/2006/main">
            <a:srgbClr val="00A79D"/>
          </a:solidFill>
        </p:spPr>
      </p:sp>
      <p:sp>
        <p:nvSpPr>
          <p:cNvPr id="32" name="Shape 29">
            <a:extLst xmlns:a="http://schemas.openxmlformats.org/drawingml/2006/main">
              <a:ext uri="{FF2B5EF4-FFF2-40B4-BE49-F238E27FC236}">
                <a16:creationId xmlns:a16="http://schemas.microsoft.com/office/drawing/2014/main" id="{C6A1E6DA-F053-4C07-B078-547452B62C69}"/>
              </a:ext>
            </a:extLst>
          </p:cNvPr>
          <p:cNvSpPr>
            <a:spLocks xmlns:a="http://schemas.openxmlformats.org/drawingml/2006/main" noGrp="1"/>
          </p:cNvSpPr>
          <p:nvPr/>
        </p:nvSpPr>
        <p:spPr>
          <a:xfrm xmlns:a="http://schemas.openxmlformats.org/drawingml/2006/main">
            <a:off x="9756648"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33" name="Shape 30">
            <a:extLst xmlns:a="http://schemas.openxmlformats.org/drawingml/2006/main">
              <a:ext uri="{FF2B5EF4-FFF2-40B4-BE49-F238E27FC236}">
                <a16:creationId xmlns:a16="http://schemas.microsoft.com/office/drawing/2014/main" id="{B87A8B27-AFD8-4A26-88D4-1A4C437DDFD7}"/>
              </a:ext>
            </a:extLst>
          </p:cNvPr>
          <p:cNvSpPr>
            <a:spLocks xmlns:a="http://schemas.openxmlformats.org/drawingml/2006/main" noGrp="1"/>
          </p:cNvSpPr>
          <p:nvPr/>
        </p:nvSpPr>
        <p:spPr>
          <a:xfrm xmlns:a="http://schemas.openxmlformats.org/drawingml/2006/main">
            <a:off x="9756648" y="1965960"/>
            <a:ext cx="1929384" cy="82296"/>
          </a:xfrm>
          <a:prstGeom xmlns:a="http://schemas.openxmlformats.org/drawingml/2006/main" prst="rect">
            <a:avLst/>
          </a:prstGeom>
          <a:solidFill xmlns:a="http://schemas.openxmlformats.org/drawingml/2006/main">
            <a:srgbClr val="E8503A"/>
          </a:solidFill>
        </p:spPr>
      </p:sp>
      <p:sp>
        <p:nvSpPr>
          <p:cNvPr id="34" name="Text 31">
            <a:extLst xmlns:a="http://schemas.openxmlformats.org/drawingml/2006/main">
              <a:ext uri="{FF2B5EF4-FFF2-40B4-BE49-F238E27FC236}">
                <a16:creationId xmlns:a16="http://schemas.microsoft.com/office/drawing/2014/main" id="{18ACF27E-26AC-4A50-9A80-93F55BD13365}"/>
              </a:ext>
            </a:extLst>
          </p:cNvPr>
          <p:cNvSpPr>
            <a:spLocks xmlns:a="http://schemas.openxmlformats.org/drawingml/2006/main" noGrp="1"/>
          </p:cNvSpPr>
          <p:nvPr/>
        </p:nvSpPr>
        <p:spPr>
          <a:xfrm xmlns:a="http://schemas.openxmlformats.org/drawingml/2006/main">
            <a:off x="9893808"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E8503A"/>
                </a:solidFill>
                <a:latin typeface="Calibri"/>
                <a:ea typeface="Calibri"/>
                <a:cs typeface="Calibri"/>
              </a:rPr>
              <a:t>STEP 5</a:t>
            </a:r>
            <a:endParaRPr sz="900"/>
          </a:p>
        </p:txBody>
      </p:sp>
      <p:sp>
        <p:nvSpPr>
          <p:cNvPr id="35" name="Text 32">
            <a:extLst xmlns:a="http://schemas.openxmlformats.org/drawingml/2006/main">
              <a:ext uri="{FF2B5EF4-FFF2-40B4-BE49-F238E27FC236}">
                <a16:creationId xmlns:a16="http://schemas.microsoft.com/office/drawing/2014/main" id="{52E41795-2044-4589-9AAE-53D9927CC376}"/>
              </a:ext>
            </a:extLst>
          </p:cNvPr>
          <p:cNvSpPr>
            <a:spLocks xmlns:a="http://schemas.openxmlformats.org/drawingml/2006/main" noGrp="1"/>
          </p:cNvSpPr>
          <p:nvPr/>
        </p:nvSpPr>
        <p:spPr>
          <a:xfrm xmlns:a="http://schemas.openxmlformats.org/drawingml/2006/main">
            <a:off x="9893808"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Regenerate + bump</a:t>
            </a:r>
            <a:endParaRPr sz="1250"/>
          </a:p>
        </p:txBody>
      </p:sp>
      <p:sp>
        <p:nvSpPr>
          <p:cNvPr id="36" name="Text 33">
            <a:extLst xmlns:a="http://schemas.openxmlformats.org/drawingml/2006/main">
              <a:ext uri="{FF2B5EF4-FFF2-40B4-BE49-F238E27FC236}">
                <a16:creationId xmlns:a16="http://schemas.microsoft.com/office/drawing/2014/main" id="{D8342F90-1A39-4F20-B389-32BB7492AA02}"/>
              </a:ext>
            </a:extLst>
          </p:cNvPr>
          <p:cNvSpPr>
            <a:spLocks xmlns:a="http://schemas.openxmlformats.org/drawingml/2006/main" noGrp="1"/>
          </p:cNvSpPr>
          <p:nvPr/>
        </p:nvSpPr>
        <p:spPr>
          <a:xfrm xmlns:a="http://schemas.openxmlformats.org/drawingml/2006/main">
            <a:off x="9893808"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make regen-golden as a deliberate, reviewed act — never casually 'to make CI green'</a:t>
            </a:r>
            <a:endParaRPr sz="950"/>
          </a:p>
        </p:txBody>
      </p:sp>
      <p:sp>
        <p:nvSpPr>
          <p:cNvPr id="37" name="Shape 34">
            <a:extLst xmlns:a="http://schemas.openxmlformats.org/drawingml/2006/main">
              <a:ext uri="{FF2B5EF4-FFF2-40B4-BE49-F238E27FC236}">
                <a16:creationId xmlns:a16="http://schemas.microsoft.com/office/drawing/2014/main" id="{CC3E860F-D515-4471-B9D2-47AAF4D4BBBC}"/>
              </a:ext>
            </a:extLst>
          </p:cNvPr>
          <p:cNvSpPr>
            <a:spLocks xmlns:a="http://schemas.openxmlformats.org/drawingml/2006/main" noGrp="1"/>
          </p:cNvSpPr>
          <p:nvPr/>
        </p:nvSpPr>
        <p:spPr>
          <a:xfrm xmlns:a="http://schemas.openxmlformats.org/drawingml/2006/main">
            <a:off x="502920" y="4892040"/>
            <a:ext cx="11183112" cy="1051560"/>
          </a:xfrm>
          <a:prstGeom xmlns:a="http://schemas.openxmlformats.org/drawingml/2006/main" prst="roundRect">
            <a:avLst>
              <a:gd name="adj" fmla="val 6087"/>
            </a:avLst>
          </a:prstGeom>
          <a:solidFill xmlns:a="http://schemas.openxmlformats.org/drawingml/2006/main">
            <a:srgbClr val="D4F1EE"/>
          </a:solidFill>
        </p:spPr>
      </p:sp>
      <p:sp>
        <p:nvSpPr>
          <p:cNvPr id="38" name="Text 35">
            <a:extLst xmlns:a="http://schemas.openxmlformats.org/drawingml/2006/main">
              <a:ext uri="{FF2B5EF4-FFF2-40B4-BE49-F238E27FC236}">
                <a16:creationId xmlns:a16="http://schemas.microsoft.com/office/drawing/2014/main" id="{CF31591E-C6A4-4652-A868-AC1E029E91FC}"/>
              </a:ext>
            </a:extLst>
          </p:cNvPr>
          <p:cNvSpPr>
            <a:spLocks xmlns:a="http://schemas.openxmlformats.org/drawingml/2006/main" noGrp="1"/>
          </p:cNvSpPr>
          <p:nvPr/>
        </p:nvSpPr>
        <p:spPr>
          <a:xfrm xmlns:a="http://schemas.openxmlformats.org/drawingml/2006/main">
            <a:off x="731520" y="4892040"/>
            <a:ext cx="10789920" cy="10515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b="1">
                <a:solidFill>
                  <a:srgbClr val="056A63"/>
                </a:solidFill>
                <a:latin typeface="Calibri"/>
                <a:ea typeface="Calibri"/>
                <a:cs typeface="Calibri"/>
              </a:rPr>
              <a:t>WHY IT MATTERS   </a:t>
            </a:r>
            <a:r>
              <a:rPr sz="1100">
                <a:solidFill>
                  <a:srgbClr val="056A63"/>
                </a:solidFill>
                <a:latin typeface="Calibri"/>
                <a:ea typeface="Calibri"/>
                <a:cs typeface="Calibri"/>
              </a:rPr>
              <a:t>The failure mode to name explicitly: golden files regenerated casually to silence CI. That is the tripwire disabled — regeneration must always be a reviewed, justified act travelling with the model version bump.</a:t>
            </a:r>
            <a:endParaRPr sz="950"/>
          </a:p>
        </p:txBody>
      </p:sp>
    </p:spTree>
    <p:extLst>
      <p:ext uri="{BB962C8B-B14F-4D97-AF65-F5344CB8AC3E}">
        <p14:creationId xmlns:p14="http://schemas.microsoft.com/office/powerpoint/2010/main" val="1126357733"/>
      </p:ext>
    </p:extLst>
  </p:cSld>
</p:sld>
</file>

<file path=ppt/slides/slide9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7397B02-9751-4523-A884-AC16A35CAA59}"/>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Coverage and suite budget in numbers</a:t>
            </a:r>
            <a:endParaRPr sz="2600"/>
          </a:p>
        </p:txBody>
      </p:sp>
      <p:sp>
        <p:nvSpPr>
          <p:cNvPr id="3" name="Text 1">
            <a:extLst xmlns:a="http://schemas.openxmlformats.org/drawingml/2006/main">
              <a:ext uri="{FF2B5EF4-FFF2-40B4-BE49-F238E27FC236}">
                <a16:creationId xmlns:a16="http://schemas.microsoft.com/office/drawing/2014/main" id="{5A68FFBC-C3D5-4B86-AF49-7EEDA0893022}"/>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التغطية وميزانية المجموعة بالأرقام</a:t>
            </a:r>
            <a:endParaRPr sz="1300"/>
          </a:p>
        </p:txBody>
      </p:sp>
      <p:pic>
        <p:nvPicPr>
          <p:cNvPr id="32" name="Image 0"/>
          <p:cNvPicPr>
            <a:picLocks xmlns:a="http://schemas.openxmlformats.org/drawingml/2006/main" noChangeAspect="1"/>
          </p:cNvPicPr>
          <p:nvPr/>
        </p:nvPicPr>
        <p:blipFill>
          <a:blip xmlns:r="http://schemas.openxmlformats.org/officeDocument/2006/relationships" xmlns:a="http://schemas.openxmlformats.org/drawingml/2006/main" r:embed="Rc63b7407798b45ef"/>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E19AD258-D07C-4715-B02B-ECB32D407C7E}"/>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025F230E-5790-4683-9372-E653A47444BD}"/>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4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A21ADBDD-446E-4BE9-95F5-6F25F223F996}"/>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94</a:t>
            </a:r>
            <a:endParaRPr sz="850"/>
          </a:p>
        </p:txBody>
      </p:sp>
      <p:sp>
        <p:nvSpPr>
          <p:cNvPr id="8" name="Shape 5">
            <a:extLst xmlns:a="http://schemas.openxmlformats.org/drawingml/2006/main">
              <a:ext uri="{FF2B5EF4-FFF2-40B4-BE49-F238E27FC236}">
                <a16:creationId xmlns:a16="http://schemas.microsoft.com/office/drawing/2014/main" id="{122B3CCF-7E8C-452C-945E-0FEE9DA214FA}"/>
              </a:ext>
            </a:extLst>
          </p:cNvPr>
          <p:cNvSpPr>
            <a:spLocks xmlns:a="http://schemas.openxmlformats.org/drawingml/2006/main" noGrp="1"/>
          </p:cNvSpPr>
          <p:nvPr/>
        </p:nvSpPr>
        <p:spPr>
          <a:xfrm xmlns:a="http://schemas.openxmlformats.org/drawingml/2006/main">
            <a:off x="502920" y="2011680"/>
            <a:ext cx="2555748" cy="3108960"/>
          </a:xfrm>
          <a:prstGeom xmlns:a="http://schemas.openxmlformats.org/drawingml/2006/main" prst="roundRect">
            <a:avLst>
              <a:gd name="adj" fmla="val 2862"/>
            </a:avLst>
          </a:prstGeom>
          <a:solidFill xmlns:a="http://schemas.openxmlformats.org/drawingml/2006/main">
            <a:srgbClr val="EEF3FB"/>
          </a:solidFill>
        </p:spPr>
      </p:sp>
      <p:sp>
        <p:nvSpPr>
          <p:cNvPr id="9" name="Shape 6">
            <a:extLst xmlns:a="http://schemas.openxmlformats.org/drawingml/2006/main">
              <a:ext uri="{FF2B5EF4-FFF2-40B4-BE49-F238E27FC236}">
                <a16:creationId xmlns:a16="http://schemas.microsoft.com/office/drawing/2014/main" id="{EDFB1CF8-16E2-4D37-A89E-926A4484B55E}"/>
              </a:ext>
            </a:extLst>
          </p:cNvPr>
          <p:cNvSpPr>
            <a:spLocks xmlns:a="http://schemas.openxmlformats.org/drawingml/2006/main" noGrp="1"/>
          </p:cNvSpPr>
          <p:nvPr/>
        </p:nvSpPr>
        <p:spPr>
          <a:xfrm xmlns:a="http://schemas.openxmlformats.org/drawingml/2006/main">
            <a:off x="731520" y="2331720"/>
            <a:ext cx="502920" cy="54864"/>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15081992-0CD8-452A-840A-C343E4D22060}"/>
              </a:ext>
            </a:extLst>
          </p:cNvPr>
          <p:cNvSpPr>
            <a:spLocks xmlns:a="http://schemas.openxmlformats.org/drawingml/2006/main" noGrp="1"/>
          </p:cNvSpPr>
          <p:nvPr/>
        </p:nvSpPr>
        <p:spPr>
          <a:xfrm xmlns:a="http://schemas.openxmlformats.org/drawingml/2006/main">
            <a:off x="685800" y="2514600"/>
            <a:ext cx="2189988"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800" b="1">
                <a:solidFill>
                  <a:srgbClr val="00A79D"/>
                </a:solidFill>
                <a:latin typeface="Calibri"/>
                <a:ea typeface="Calibri"/>
                <a:cs typeface="Calibri"/>
              </a:rPr>
              <a:t>80%</a:t>
            </a:r>
            <a:endParaRPr sz="3800"/>
          </a:p>
        </p:txBody>
      </p:sp>
      <p:sp>
        <p:nvSpPr>
          <p:cNvPr id="11" name="Text 8">
            <a:extLst xmlns:a="http://schemas.openxmlformats.org/drawingml/2006/main">
              <a:ext uri="{FF2B5EF4-FFF2-40B4-BE49-F238E27FC236}">
                <a16:creationId xmlns:a16="http://schemas.microsoft.com/office/drawing/2014/main" id="{0DD46B2B-F70A-4DBE-8160-E57C98F178FC}"/>
              </a:ext>
            </a:extLst>
          </p:cNvPr>
          <p:cNvSpPr>
            <a:spLocks xmlns:a="http://schemas.openxmlformats.org/drawingml/2006/main" noGrp="1"/>
          </p:cNvSpPr>
          <p:nvPr/>
        </p:nvSpPr>
        <p:spPr>
          <a:xfrm xmlns:a="http://schemas.openxmlformats.org/drawingml/2006/main">
            <a:off x="731520" y="3429000"/>
            <a:ext cx="209854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branch coverage floor</a:t>
            </a:r>
            <a:endParaRPr sz="1250"/>
          </a:p>
        </p:txBody>
      </p:sp>
      <p:sp>
        <p:nvSpPr>
          <p:cNvPr id="12" name="Text 9">
            <a:extLst xmlns:a="http://schemas.openxmlformats.org/drawingml/2006/main">
              <a:ext uri="{FF2B5EF4-FFF2-40B4-BE49-F238E27FC236}">
                <a16:creationId xmlns:a16="http://schemas.microsoft.com/office/drawing/2014/main" id="{ECB0DC21-D796-425F-9DFF-FE18209C714C}"/>
              </a:ext>
            </a:extLst>
          </p:cNvPr>
          <p:cNvSpPr>
            <a:spLocks xmlns:a="http://schemas.openxmlformats.org/drawingml/2006/main" noGrp="1"/>
          </p:cNvSpPr>
          <p:nvPr/>
        </p:nvSpPr>
        <p:spPr>
          <a:xfrm xmlns:a="http://schemas.openxmlformats.org/drawingml/2006/main">
            <a:off x="731520" y="3977640"/>
            <a:ext cx="2098548" cy="960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on domain/service/api — exclude thin adapter I/O rather than game the number</a:t>
            </a:r>
            <a:endParaRPr sz="980"/>
          </a:p>
        </p:txBody>
      </p:sp>
      <p:sp>
        <p:nvSpPr>
          <p:cNvPr id="13" name="Shape 10">
            <a:extLst xmlns:a="http://schemas.openxmlformats.org/drawingml/2006/main">
              <a:ext uri="{FF2B5EF4-FFF2-40B4-BE49-F238E27FC236}">
                <a16:creationId xmlns:a16="http://schemas.microsoft.com/office/drawing/2014/main" id="{A6CE48F2-96D0-4936-9666-6D64F9DC034B}"/>
              </a:ext>
            </a:extLst>
          </p:cNvPr>
          <p:cNvSpPr>
            <a:spLocks xmlns:a="http://schemas.openxmlformats.org/drawingml/2006/main" noGrp="1"/>
          </p:cNvSpPr>
          <p:nvPr/>
        </p:nvSpPr>
        <p:spPr>
          <a:xfrm xmlns:a="http://schemas.openxmlformats.org/drawingml/2006/main">
            <a:off x="3378708" y="2011680"/>
            <a:ext cx="2555748" cy="3108960"/>
          </a:xfrm>
          <a:prstGeom xmlns:a="http://schemas.openxmlformats.org/drawingml/2006/main" prst="roundRect">
            <a:avLst>
              <a:gd name="adj" fmla="val 2862"/>
            </a:avLst>
          </a:prstGeom>
          <a:solidFill xmlns:a="http://schemas.openxmlformats.org/drawingml/2006/main">
            <a:srgbClr val="EEF3FB"/>
          </a:solidFill>
        </p:spPr>
      </p:sp>
      <p:sp>
        <p:nvSpPr>
          <p:cNvPr id="14" name="Shape 11">
            <a:extLst xmlns:a="http://schemas.openxmlformats.org/drawingml/2006/main">
              <a:ext uri="{FF2B5EF4-FFF2-40B4-BE49-F238E27FC236}">
                <a16:creationId xmlns:a16="http://schemas.microsoft.com/office/drawing/2014/main" id="{9812371F-FF47-4F18-8982-43450652B8F6}"/>
              </a:ext>
            </a:extLst>
          </p:cNvPr>
          <p:cNvSpPr>
            <a:spLocks xmlns:a="http://schemas.openxmlformats.org/drawingml/2006/main" noGrp="1"/>
          </p:cNvSpPr>
          <p:nvPr/>
        </p:nvSpPr>
        <p:spPr>
          <a:xfrm xmlns:a="http://schemas.openxmlformats.org/drawingml/2006/main">
            <a:off x="3607308" y="2331720"/>
            <a:ext cx="502920" cy="54864"/>
          </a:xfrm>
          <a:prstGeom xmlns:a="http://schemas.openxmlformats.org/drawingml/2006/main" prst="rect">
            <a:avLst/>
          </a:prstGeom>
          <a:solidFill xmlns:a="http://schemas.openxmlformats.org/drawingml/2006/main">
            <a:srgbClr val="29ABE2"/>
          </a:solidFill>
        </p:spPr>
      </p:sp>
      <p:sp>
        <p:nvSpPr>
          <p:cNvPr id="15" name="Text 12">
            <a:extLst xmlns:a="http://schemas.openxmlformats.org/drawingml/2006/main">
              <a:ext uri="{FF2B5EF4-FFF2-40B4-BE49-F238E27FC236}">
                <a16:creationId xmlns:a16="http://schemas.microsoft.com/office/drawing/2014/main" id="{1EF014EF-AB6E-4901-AD3E-2E1DB851E438}"/>
              </a:ext>
            </a:extLst>
          </p:cNvPr>
          <p:cNvSpPr>
            <a:spLocks xmlns:a="http://schemas.openxmlformats.org/drawingml/2006/main" noGrp="1"/>
          </p:cNvSpPr>
          <p:nvPr/>
        </p:nvSpPr>
        <p:spPr>
          <a:xfrm xmlns:a="http://schemas.openxmlformats.org/drawingml/2006/main">
            <a:off x="3561588" y="2514600"/>
            <a:ext cx="2189988"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800" b="1">
                <a:solidFill>
                  <a:srgbClr val="29ABE2"/>
                </a:solidFill>
                <a:latin typeface="Calibri"/>
                <a:ea typeface="Calibri"/>
                <a:cs typeface="Calibri"/>
              </a:rPr>
              <a:t>47</a:t>
            </a:r>
            <a:endParaRPr sz="3800"/>
          </a:p>
        </p:txBody>
      </p:sp>
      <p:sp>
        <p:nvSpPr>
          <p:cNvPr id="16" name="Text 13">
            <a:extLst xmlns:a="http://schemas.openxmlformats.org/drawingml/2006/main">
              <a:ext uri="{FF2B5EF4-FFF2-40B4-BE49-F238E27FC236}">
                <a16:creationId xmlns:a16="http://schemas.microsoft.com/office/drawing/2014/main" id="{F10A47AB-E73F-476F-9F92-18C07AE0C6EB}"/>
              </a:ext>
            </a:extLst>
          </p:cNvPr>
          <p:cNvSpPr>
            <a:spLocks xmlns:a="http://schemas.openxmlformats.org/drawingml/2006/main" noGrp="1"/>
          </p:cNvSpPr>
          <p:nvPr/>
        </p:nvSpPr>
        <p:spPr>
          <a:xfrm xmlns:a="http://schemas.openxmlformats.org/drawingml/2006/main">
            <a:off x="3607308" y="3429000"/>
            <a:ext cx="209854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tests, not slow</a:t>
            </a:r>
            <a:endParaRPr sz="1250"/>
          </a:p>
        </p:txBody>
      </p:sp>
      <p:sp>
        <p:nvSpPr>
          <p:cNvPr id="17" name="Text 14">
            <a:extLst xmlns:a="http://schemas.openxmlformats.org/drawingml/2006/main">
              <a:ext uri="{FF2B5EF4-FFF2-40B4-BE49-F238E27FC236}">
                <a16:creationId xmlns:a16="http://schemas.microsoft.com/office/drawing/2014/main" id="{C17101C3-549D-42E9-9864-92F51C33D4A8}"/>
              </a:ext>
            </a:extLst>
          </p:cNvPr>
          <p:cNvSpPr>
            <a:spLocks xmlns:a="http://schemas.openxmlformats.org/drawingml/2006/main" noGrp="1"/>
          </p:cNvSpPr>
          <p:nvPr/>
        </p:nvSpPr>
        <p:spPr>
          <a:xfrm xmlns:a="http://schemas.openxmlformats.org/drawingml/2006/main">
            <a:off x="3607308" y="3977640"/>
            <a:ext cx="2098548" cy="960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pass in 3.8 s with 84% coverage — the per-commit gate</a:t>
            </a:r>
            <a:endParaRPr sz="980"/>
          </a:p>
        </p:txBody>
      </p:sp>
      <p:sp>
        <p:nvSpPr>
          <p:cNvPr id="18" name="Shape 15">
            <a:extLst xmlns:a="http://schemas.openxmlformats.org/drawingml/2006/main">
              <a:ext uri="{FF2B5EF4-FFF2-40B4-BE49-F238E27FC236}">
                <a16:creationId xmlns:a16="http://schemas.microsoft.com/office/drawing/2014/main" id="{DDC11CAD-08B8-468E-854A-9561D230E170}"/>
              </a:ext>
            </a:extLst>
          </p:cNvPr>
          <p:cNvSpPr>
            <a:spLocks xmlns:a="http://schemas.openxmlformats.org/drawingml/2006/main" noGrp="1"/>
          </p:cNvSpPr>
          <p:nvPr/>
        </p:nvSpPr>
        <p:spPr>
          <a:xfrm xmlns:a="http://schemas.openxmlformats.org/drawingml/2006/main">
            <a:off x="6254496" y="2011680"/>
            <a:ext cx="2555748" cy="3108960"/>
          </a:xfrm>
          <a:prstGeom xmlns:a="http://schemas.openxmlformats.org/drawingml/2006/main" prst="roundRect">
            <a:avLst>
              <a:gd name="adj" fmla="val 2862"/>
            </a:avLst>
          </a:prstGeom>
          <a:solidFill xmlns:a="http://schemas.openxmlformats.org/drawingml/2006/main">
            <a:srgbClr val="EEF3FB"/>
          </a:solidFill>
        </p:spPr>
      </p:sp>
      <p:sp>
        <p:nvSpPr>
          <p:cNvPr id="19" name="Shape 16">
            <a:extLst xmlns:a="http://schemas.openxmlformats.org/drawingml/2006/main">
              <a:ext uri="{FF2B5EF4-FFF2-40B4-BE49-F238E27FC236}">
                <a16:creationId xmlns:a16="http://schemas.microsoft.com/office/drawing/2014/main" id="{DC534EFE-A37E-494D-A840-E6ED02881348}"/>
              </a:ext>
            </a:extLst>
          </p:cNvPr>
          <p:cNvSpPr>
            <a:spLocks xmlns:a="http://schemas.openxmlformats.org/drawingml/2006/main" noGrp="1"/>
          </p:cNvSpPr>
          <p:nvPr/>
        </p:nvSpPr>
        <p:spPr>
          <a:xfrm xmlns:a="http://schemas.openxmlformats.org/drawingml/2006/main">
            <a:off x="6483096" y="2331720"/>
            <a:ext cx="502920" cy="54864"/>
          </a:xfrm>
          <a:prstGeom xmlns:a="http://schemas.openxmlformats.org/drawingml/2006/main" prst="rect">
            <a:avLst/>
          </a:prstGeom>
          <a:solidFill xmlns:a="http://schemas.openxmlformats.org/drawingml/2006/main">
            <a:srgbClr val="F58220"/>
          </a:solidFill>
        </p:spPr>
      </p:sp>
      <p:sp>
        <p:nvSpPr>
          <p:cNvPr id="20" name="Text 17">
            <a:extLst xmlns:a="http://schemas.openxmlformats.org/drawingml/2006/main">
              <a:ext uri="{FF2B5EF4-FFF2-40B4-BE49-F238E27FC236}">
                <a16:creationId xmlns:a16="http://schemas.microsoft.com/office/drawing/2014/main" id="{8010DCD4-62B8-4355-853D-F04576157B50}"/>
              </a:ext>
            </a:extLst>
          </p:cNvPr>
          <p:cNvSpPr>
            <a:spLocks xmlns:a="http://schemas.openxmlformats.org/drawingml/2006/main" noGrp="1"/>
          </p:cNvSpPr>
          <p:nvPr/>
        </p:nvSpPr>
        <p:spPr>
          <a:xfrm xmlns:a="http://schemas.openxmlformats.org/drawingml/2006/main">
            <a:off x="6437376" y="2514600"/>
            <a:ext cx="2189988"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800" b="1">
                <a:solidFill>
                  <a:srgbClr val="F58220"/>
                </a:solidFill>
                <a:latin typeface="Calibri"/>
                <a:ea typeface="Calibri"/>
                <a:cs typeface="Calibri"/>
              </a:rPr>
              <a:t>40/40</a:t>
            </a:r>
            <a:endParaRPr sz="3800"/>
          </a:p>
        </p:txBody>
      </p:sp>
      <p:sp>
        <p:nvSpPr>
          <p:cNvPr id="21" name="Text 18">
            <a:extLst xmlns:a="http://schemas.openxmlformats.org/drawingml/2006/main">
              <a:ext uri="{FF2B5EF4-FFF2-40B4-BE49-F238E27FC236}">
                <a16:creationId xmlns:a16="http://schemas.microsoft.com/office/drawing/2014/main" id="{DD8646BB-6572-4731-8D77-E63B77E3CF51}"/>
              </a:ext>
            </a:extLst>
          </p:cNvPr>
          <p:cNvSpPr>
            <a:spLocks xmlns:a="http://schemas.openxmlformats.org/drawingml/2006/main" noGrp="1"/>
          </p:cNvSpPr>
          <p:nvPr/>
        </p:nvSpPr>
        <p:spPr>
          <a:xfrm xmlns:a="http://schemas.openxmlformats.org/drawingml/2006/main">
            <a:off x="6483096" y="3429000"/>
            <a:ext cx="209854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malformed rejected</a:t>
            </a:r>
            <a:endParaRPr sz="1250"/>
          </a:p>
        </p:txBody>
      </p:sp>
      <p:sp>
        <p:nvSpPr>
          <p:cNvPr id="22" name="Text 19">
            <a:extLst xmlns:a="http://schemas.openxmlformats.org/drawingml/2006/main">
              <a:ext uri="{FF2B5EF4-FFF2-40B4-BE49-F238E27FC236}">
                <a16:creationId xmlns:a16="http://schemas.microsoft.com/office/drawing/2014/main" id="{947AC871-6952-442F-80A0-BD0A89961F27}"/>
              </a:ext>
            </a:extLst>
          </p:cNvPr>
          <p:cNvSpPr>
            <a:spLocks xmlns:a="http://schemas.openxmlformats.org/drawingml/2006/main" noGrp="1"/>
          </p:cNvSpPr>
          <p:nvPr/>
        </p:nvSpPr>
        <p:spPr>
          <a:xfrm xmlns:a="http://schemas.openxmlformats.org/drawingml/2006/main">
            <a:off x="6483096" y="3977640"/>
            <a:ext cx="2098548" cy="960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the corpus is contract: every bad payload dies at the validation wall</a:t>
            </a:r>
            <a:endParaRPr sz="980"/>
          </a:p>
        </p:txBody>
      </p:sp>
      <p:sp>
        <p:nvSpPr>
          <p:cNvPr id="23" name="Shape 20">
            <a:extLst xmlns:a="http://schemas.openxmlformats.org/drawingml/2006/main">
              <a:ext uri="{FF2B5EF4-FFF2-40B4-BE49-F238E27FC236}">
                <a16:creationId xmlns:a16="http://schemas.microsoft.com/office/drawing/2014/main" id="{1DBF70AE-8957-48EE-86E7-46FCAAD96C4B}"/>
              </a:ext>
            </a:extLst>
          </p:cNvPr>
          <p:cNvSpPr>
            <a:spLocks xmlns:a="http://schemas.openxmlformats.org/drawingml/2006/main" noGrp="1"/>
          </p:cNvSpPr>
          <p:nvPr/>
        </p:nvSpPr>
        <p:spPr>
          <a:xfrm xmlns:a="http://schemas.openxmlformats.org/drawingml/2006/main">
            <a:off x="9130284" y="2011680"/>
            <a:ext cx="2555748" cy="3108960"/>
          </a:xfrm>
          <a:prstGeom xmlns:a="http://schemas.openxmlformats.org/drawingml/2006/main" prst="roundRect">
            <a:avLst>
              <a:gd name="adj" fmla="val 2862"/>
            </a:avLst>
          </a:prstGeom>
          <a:solidFill xmlns:a="http://schemas.openxmlformats.org/drawingml/2006/main">
            <a:srgbClr val="EEF3FB"/>
          </a:solidFill>
        </p:spPr>
      </p:sp>
      <p:sp>
        <p:nvSpPr>
          <p:cNvPr id="24" name="Shape 21">
            <a:extLst xmlns:a="http://schemas.openxmlformats.org/drawingml/2006/main">
              <a:ext uri="{FF2B5EF4-FFF2-40B4-BE49-F238E27FC236}">
                <a16:creationId xmlns:a16="http://schemas.microsoft.com/office/drawing/2014/main" id="{7D8AB119-E692-438C-8E69-374BE42BF6E7}"/>
              </a:ext>
            </a:extLst>
          </p:cNvPr>
          <p:cNvSpPr>
            <a:spLocks xmlns:a="http://schemas.openxmlformats.org/drawingml/2006/main" noGrp="1"/>
          </p:cNvSpPr>
          <p:nvPr/>
        </p:nvSpPr>
        <p:spPr>
          <a:xfrm xmlns:a="http://schemas.openxmlformats.org/drawingml/2006/main">
            <a:off x="9358884" y="2331720"/>
            <a:ext cx="502920" cy="54864"/>
          </a:xfrm>
          <a:prstGeom xmlns:a="http://schemas.openxmlformats.org/drawingml/2006/main" prst="rect">
            <a:avLst/>
          </a:prstGeom>
          <a:solidFill xmlns:a="http://schemas.openxmlformats.org/drawingml/2006/main">
            <a:srgbClr val="8DC63F"/>
          </a:solidFill>
        </p:spPr>
      </p:sp>
      <p:sp>
        <p:nvSpPr>
          <p:cNvPr id="25" name="Text 22">
            <a:extLst xmlns:a="http://schemas.openxmlformats.org/drawingml/2006/main">
              <a:ext uri="{FF2B5EF4-FFF2-40B4-BE49-F238E27FC236}">
                <a16:creationId xmlns:a16="http://schemas.microsoft.com/office/drawing/2014/main" id="{62022CA0-BC43-423F-BA3E-744FB22F7FC7}"/>
              </a:ext>
            </a:extLst>
          </p:cNvPr>
          <p:cNvSpPr>
            <a:spLocks xmlns:a="http://schemas.openxmlformats.org/drawingml/2006/main" noGrp="1"/>
          </p:cNvSpPr>
          <p:nvPr/>
        </p:nvSpPr>
        <p:spPr>
          <a:xfrm xmlns:a="http://schemas.openxmlformats.org/drawingml/2006/main">
            <a:off x="9313164" y="2514600"/>
            <a:ext cx="2189988"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800" b="1">
                <a:solidFill>
                  <a:srgbClr val="8DC63F"/>
                </a:solidFill>
                <a:latin typeface="Calibri"/>
                <a:ea typeface="Calibri"/>
                <a:cs typeface="Calibri"/>
              </a:rPr>
              <a:t>21.5 s</a:t>
            </a:r>
            <a:endParaRPr sz="3800"/>
          </a:p>
        </p:txBody>
      </p:sp>
      <p:sp>
        <p:nvSpPr>
          <p:cNvPr id="26" name="Text 23">
            <a:extLst xmlns:a="http://schemas.openxmlformats.org/drawingml/2006/main">
              <a:ext uri="{FF2B5EF4-FFF2-40B4-BE49-F238E27FC236}">
                <a16:creationId xmlns:a16="http://schemas.microsoft.com/office/drawing/2014/main" id="{FAB5D1A5-45CE-41AD-97F6-EADDF375E192}"/>
              </a:ext>
            </a:extLst>
          </p:cNvPr>
          <p:cNvSpPr>
            <a:spLocks xmlns:a="http://schemas.openxmlformats.org/drawingml/2006/main" noGrp="1"/>
          </p:cNvSpPr>
          <p:nvPr/>
        </p:nvSpPr>
        <p:spPr>
          <a:xfrm xmlns:a="http://schemas.openxmlformats.org/drawingml/2006/main">
            <a:off x="9358884" y="3429000"/>
            <a:ext cx="209854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slow suite</a:t>
            </a:r>
            <a:endParaRPr sz="1250"/>
          </a:p>
        </p:txBody>
      </p:sp>
      <p:sp>
        <p:nvSpPr>
          <p:cNvPr id="27" name="Text 24">
            <a:extLst xmlns:a="http://schemas.openxmlformats.org/drawingml/2006/main">
              <a:ext uri="{FF2B5EF4-FFF2-40B4-BE49-F238E27FC236}">
                <a16:creationId xmlns:a16="http://schemas.microsoft.com/office/drawing/2014/main" id="{C1D67953-85DC-4E6F-A6E0-23530C384B20}"/>
              </a:ext>
            </a:extLst>
          </p:cNvPr>
          <p:cNvSpPr>
            <a:spLocks xmlns:a="http://schemas.openxmlformats.org/drawingml/2006/main" noGrp="1"/>
          </p:cNvSpPr>
          <p:nvPr/>
        </p:nvSpPr>
        <p:spPr>
          <a:xfrm xmlns:a="http://schemas.openxmlformats.org/drawingml/2006/main">
            <a:off x="9358884" y="3977640"/>
            <a:ext cx="2098548" cy="960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4 behavioural tests incl. the 5,000-row golden file — nightly</a:t>
            </a:r>
            <a:endParaRPr sz="980"/>
          </a:p>
        </p:txBody>
      </p:sp>
      <p:sp>
        <p:nvSpPr>
          <p:cNvPr id="28" name="Text 25">
            <a:extLst xmlns:a="http://schemas.openxmlformats.org/drawingml/2006/main">
              <a:ext uri="{FF2B5EF4-FFF2-40B4-BE49-F238E27FC236}">
                <a16:creationId xmlns:a16="http://schemas.microsoft.com/office/drawing/2014/main" id="{B5D9031B-4802-4DC6-AA7B-5CFC1AC2861F}"/>
              </a:ext>
            </a:extLst>
          </p:cNvPr>
          <p:cNvSpPr>
            <a:spLocks xmlns:a="http://schemas.openxmlformats.org/drawingml/2006/main" noGrp="1"/>
          </p:cNvSpPr>
          <p:nvPr/>
        </p:nvSpPr>
        <p:spPr>
          <a:xfrm xmlns:a="http://schemas.openxmlformats.org/drawingml/2006/main">
            <a:off x="502920" y="5486400"/>
            <a:ext cx="11155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i="1">
                <a:solidFill>
                  <a:srgbClr val="8A96A6"/>
                </a:solidFill>
                <a:latin typeface="Calibri"/>
                <a:ea typeface="Calibri"/>
                <a:cs typeface="Calibri"/>
              </a:rPr>
              <a:t>Lab 4 expected outputs · pytest-cov with --cov-branch, fail_under = 80</a:t>
            </a:r>
            <a:endParaRPr sz="900"/>
          </a:p>
        </p:txBody>
      </p:sp>
    </p:spTree>
    <p:extLst>
      <p:ext uri="{BB962C8B-B14F-4D97-AF65-F5344CB8AC3E}">
        <p14:creationId xmlns:p14="http://schemas.microsoft.com/office/powerpoint/2010/main" val="351516742"/>
      </p:ext>
    </p:extLst>
  </p:cSld>
</p:sld>
</file>

<file path=ppt/slides/slide9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F3AD9A1-FD77-4421-91CD-224FEDDAA3DC}"/>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Lab 4 — Build the test suite</a:t>
            </a:r>
            <a:endParaRPr sz="2600"/>
          </a:p>
        </p:txBody>
      </p:sp>
      <p:sp>
        <p:nvSpPr>
          <p:cNvPr id="3" name="Text 1">
            <a:extLst xmlns:a="http://schemas.openxmlformats.org/drawingml/2006/main">
              <a:ext uri="{FF2B5EF4-FFF2-40B4-BE49-F238E27FC236}">
                <a16:creationId xmlns:a16="http://schemas.microsoft.com/office/drawing/2014/main" id="{1ABBD90E-2C5D-493C-88EE-9ADEC5E1AD46}"/>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المختبر ٤ — بناء مجموعة الاختبارات</a:t>
            </a:r>
            <a:endParaRPr sz="1300"/>
          </a:p>
        </p:txBody>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081e6e6d6d674178"/>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F4BA6666-3E81-4012-BE47-9547BAB1D8E2}"/>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F210C7C2-5301-4623-9E56-3578DA4FFFE7}"/>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4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5583B3EE-486E-4974-8567-A51108A2442C}"/>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95</a:t>
            </a:r>
            <a:endParaRPr sz="850"/>
          </a:p>
        </p:txBody>
      </p:sp>
      <p:sp>
        <p:nvSpPr>
          <p:cNvPr id="8" name="Text 5">
            <a:extLst xmlns:a="http://schemas.openxmlformats.org/drawingml/2006/main">
              <a:ext uri="{FF2B5EF4-FFF2-40B4-BE49-F238E27FC236}">
                <a16:creationId xmlns:a16="http://schemas.microsoft.com/office/drawing/2014/main" id="{98B9E863-3C6A-4836-B633-A06787F90D9F}"/>
              </a:ext>
            </a:extLst>
          </p:cNvPr>
          <p:cNvSpPr>
            <a:spLocks xmlns:a="http://schemas.openxmlformats.org/drawingml/2006/main" noGrp="1"/>
          </p:cNvSpPr>
          <p:nvPr/>
        </p:nvSpPr>
        <p:spPr>
          <a:xfrm xmlns:a="http://schemas.openxmlformats.org/drawingml/2006/main">
            <a:off x="502920" y="1481328"/>
            <a:ext cx="1188720" cy="310896"/>
          </a:xfrm>
          <a:prstGeom xmlns:a="http://schemas.openxmlformats.org/drawingml/2006/main" prst="roundRect">
            <a:avLst>
              <a:gd name="adj" fmla="val 17647"/>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LAB 4</a:t>
            </a:r>
            <a:endParaRPr sz="1100"/>
          </a:p>
        </p:txBody>
      </p:sp>
      <p:sp>
        <p:nvSpPr>
          <p:cNvPr id="9" name="Text 6">
            <a:extLst xmlns:a="http://schemas.openxmlformats.org/drawingml/2006/main">
              <a:ext uri="{FF2B5EF4-FFF2-40B4-BE49-F238E27FC236}">
                <a16:creationId xmlns:a16="http://schemas.microsoft.com/office/drawing/2014/main" id="{BE0C58E4-8B58-4CA2-9903-57509AC7D67F}"/>
              </a:ext>
            </a:extLst>
          </p:cNvPr>
          <p:cNvSpPr>
            <a:spLocks xmlns:a="http://schemas.openxmlformats.org/drawingml/2006/main" noGrp="1"/>
          </p:cNvSpPr>
          <p:nvPr/>
        </p:nvSpPr>
        <p:spPr>
          <a:xfrm xmlns:a="http://schemas.openxmlformats.org/drawingml/2006/main">
            <a:off x="1874520" y="1481328"/>
            <a:ext cx="594360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5F6B7A"/>
                </a:solidFill>
                <a:latin typeface="Calibri"/>
                <a:ea typeface="Calibri"/>
                <a:cs typeface="Calibri"/>
              </a:rPr>
              <a:t>⏱ 50 min</a:t>
            </a:r>
            <a:r>
              <a:rPr sz="1050">
                <a:solidFill>
                  <a:srgbClr val="5F6B7A"/>
                </a:solidFill>
                <a:latin typeface="Calibri"/>
                <a:ea typeface="Calibri"/>
                <a:cs typeface="Calibri"/>
              </a:rPr>
              <a:t>     Pairs</a:t>
            </a:r>
            <a:r>
              <a:rPr sz="1050">
                <a:solidFill>
                  <a:srgbClr val="5F6B7A"/>
                </a:solidFill>
                <a:latin typeface="Calibri"/>
                <a:ea typeface="Calibri"/>
                <a:cs typeface="Calibri"/>
              </a:rPr>
              <a:t>     Difficulty: </a:t>
            </a:r>
            <a:r>
              <a:rPr sz="1050">
                <a:solidFill>
                  <a:srgbClr val="F58220"/>
                </a:solidFill>
                <a:latin typeface="Calibri"/>
                <a:ea typeface="Calibri"/>
                <a:cs typeface="Calibri"/>
              </a:rPr>
              <a:t>●●○</a:t>
            </a:r>
            <a:endParaRPr sz="1050"/>
          </a:p>
        </p:txBody>
      </p:sp>
      <p:sp>
        <p:nvSpPr>
          <p:cNvPr id="10" name="Text 7">
            <a:extLst xmlns:a="http://schemas.openxmlformats.org/drawingml/2006/main">
              <a:ext uri="{FF2B5EF4-FFF2-40B4-BE49-F238E27FC236}">
                <a16:creationId xmlns:a16="http://schemas.microsoft.com/office/drawing/2014/main" id="{EF048483-E80D-4712-B5FB-45529CEB0080}"/>
              </a:ext>
            </a:extLst>
          </p:cNvPr>
          <p:cNvSpPr>
            <a:spLocks xmlns:a="http://schemas.openxmlformats.org/drawingml/2006/main" noGrp="1"/>
          </p:cNvSpPr>
          <p:nvPr/>
        </p:nvSpPr>
        <p:spPr>
          <a:xfrm xmlns:a="http://schemas.openxmlformats.org/drawingml/2006/main">
            <a:off x="502920" y="2029968"/>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1</a:t>
            </a:r>
            <a:endParaRPr sz="1050"/>
          </a:p>
        </p:txBody>
      </p:sp>
      <p:sp>
        <p:nvSpPr>
          <p:cNvPr id="11" name="Text 8">
            <a:extLst xmlns:a="http://schemas.openxmlformats.org/drawingml/2006/main">
              <a:ext uri="{FF2B5EF4-FFF2-40B4-BE49-F238E27FC236}">
                <a16:creationId xmlns:a16="http://schemas.microsoft.com/office/drawing/2014/main" id="{A458DA49-B94E-4CFC-BBA5-66CE964CF25E}"/>
              </a:ext>
            </a:extLst>
          </p:cNvPr>
          <p:cNvSpPr>
            <a:spLocks xmlns:a="http://schemas.openxmlformats.org/drawingml/2006/main" noGrp="1"/>
          </p:cNvSpPr>
          <p:nvPr/>
        </p:nvSpPr>
        <p:spPr>
          <a:xfrm xmlns:a="http://schemas.openxmlformats.org/drawingml/2006/main">
            <a:off x="914400" y="2011680"/>
            <a:ext cx="6035040" cy="701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conftest fixtures (10 min)  </a:t>
            </a:r>
            <a:r>
              <a:rPr sz="1000">
                <a:solidFill>
                  <a:srgbClr val="5F6B7A"/>
                </a:solidFill>
                <a:latin typeface="Calibri"/>
                <a:ea typeface="Calibri"/>
                <a:cs typeface="Calibri"/>
              </a:rPr>
              <a:t>Implement ConstantModel and client_factory from the failing skeletons</a:t>
            </a:r>
            <a:endParaRPr sz="1050"/>
          </a:p>
        </p:txBody>
      </p:sp>
      <p:sp>
        <p:nvSpPr>
          <p:cNvPr id="12" name="Text 9">
            <a:extLst xmlns:a="http://schemas.openxmlformats.org/drawingml/2006/main">
              <a:ext uri="{FF2B5EF4-FFF2-40B4-BE49-F238E27FC236}">
                <a16:creationId xmlns:a16="http://schemas.microsoft.com/office/drawing/2014/main" id="{93D49B9B-7D50-4E06-B458-C4EB6DC8D3CE}"/>
              </a:ext>
            </a:extLst>
          </p:cNvPr>
          <p:cNvSpPr>
            <a:spLocks xmlns:a="http://schemas.openxmlformats.org/drawingml/2006/main" noGrp="1"/>
          </p:cNvSpPr>
          <p:nvPr/>
        </p:nvSpPr>
        <p:spPr>
          <a:xfrm xmlns:a="http://schemas.openxmlformats.org/drawingml/2006/main">
            <a:off x="502920" y="2731008"/>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2</a:t>
            </a:r>
            <a:endParaRPr sz="1050"/>
          </a:p>
        </p:txBody>
      </p:sp>
      <p:sp>
        <p:nvSpPr>
          <p:cNvPr id="13" name="Text 10">
            <a:extLst xmlns:a="http://schemas.openxmlformats.org/drawingml/2006/main">
              <a:ext uri="{FF2B5EF4-FFF2-40B4-BE49-F238E27FC236}">
                <a16:creationId xmlns:a16="http://schemas.microsoft.com/office/drawing/2014/main" id="{B6A52D7B-3FCC-46A2-AEF7-4302A1495BE0}"/>
              </a:ext>
            </a:extLst>
          </p:cNvPr>
          <p:cNvSpPr>
            <a:spLocks xmlns:a="http://schemas.openxmlformats.org/drawingml/2006/main" noGrp="1"/>
          </p:cNvSpPr>
          <p:nvPr/>
        </p:nvSpPr>
        <p:spPr>
          <a:xfrm xmlns:a="http://schemas.openxmlformats.org/drawingml/2006/main">
            <a:off x="914400" y="2712720"/>
            <a:ext cx="6035040" cy="701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Policy-band unit tests (10 min)  </a:t>
            </a:r>
            <a:r>
              <a:rPr sz="1000">
                <a:solidFill>
                  <a:srgbClr val="5F6B7A"/>
                </a:solidFill>
                <a:latin typeface="Calibri"/>
                <a:ea typeface="Calibri"/>
                <a:cs typeface="Calibri"/>
              </a:rPr>
              <a:t>Complete the parametrised tests; pytest -m unit must finish &lt; 1 s</a:t>
            </a:r>
            <a:endParaRPr sz="1050"/>
          </a:p>
        </p:txBody>
      </p:sp>
      <p:sp>
        <p:nvSpPr>
          <p:cNvPr id="14" name="Text 11">
            <a:extLst xmlns:a="http://schemas.openxmlformats.org/drawingml/2006/main">
              <a:ext uri="{FF2B5EF4-FFF2-40B4-BE49-F238E27FC236}">
                <a16:creationId xmlns:a16="http://schemas.microsoft.com/office/drawing/2014/main" id="{096D12C1-3A43-4FD5-AF6B-CAD69AFAD4FF}"/>
              </a:ext>
            </a:extLst>
          </p:cNvPr>
          <p:cNvSpPr>
            <a:spLocks xmlns:a="http://schemas.openxmlformats.org/drawingml/2006/main" noGrp="1"/>
          </p:cNvSpPr>
          <p:nvPr/>
        </p:nvSpPr>
        <p:spPr>
          <a:xfrm xmlns:a="http://schemas.openxmlformats.org/drawingml/2006/main">
            <a:off x="502920" y="3432048"/>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3</a:t>
            </a:r>
            <a:endParaRPr sz="1050"/>
          </a:p>
        </p:txBody>
      </p:sp>
      <p:sp>
        <p:nvSpPr>
          <p:cNvPr id="15" name="Text 12">
            <a:extLst xmlns:a="http://schemas.openxmlformats.org/drawingml/2006/main">
              <a:ext uri="{FF2B5EF4-FFF2-40B4-BE49-F238E27FC236}">
                <a16:creationId xmlns:a16="http://schemas.microsoft.com/office/drawing/2014/main" id="{C8739FCA-B7E7-4DFC-B27B-E6CDB562F9ED}"/>
              </a:ext>
            </a:extLst>
          </p:cNvPr>
          <p:cNvSpPr>
            <a:spLocks xmlns:a="http://schemas.openxmlformats.org/drawingml/2006/main" noGrp="1"/>
          </p:cNvSpPr>
          <p:nvPr/>
        </p:nvSpPr>
        <p:spPr>
          <a:xfrm xmlns:a="http://schemas.openxmlformats.org/drawingml/2006/main">
            <a:off x="914400" y="3413760"/>
            <a:ext cx="6035040" cy="701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Integration pair (10 min)  </a:t>
            </a:r>
            <a:r>
              <a:rPr sz="1000">
                <a:solidFill>
                  <a:srgbClr val="5F6B7A"/>
                </a:solidFill>
                <a:latin typeface="Calibri"/>
                <a:ea typeface="Calibri"/>
                <a:cs typeface="Calibri"/>
              </a:rPr>
              <a:t>Malformed-corpus test + the no-stack-trace-in-500 monkeypatch test</a:t>
            </a:r>
            <a:endParaRPr sz="1050"/>
          </a:p>
        </p:txBody>
      </p:sp>
      <p:sp>
        <p:nvSpPr>
          <p:cNvPr id="16" name="Text 13">
            <a:extLst xmlns:a="http://schemas.openxmlformats.org/drawingml/2006/main">
              <a:ext uri="{FF2B5EF4-FFF2-40B4-BE49-F238E27FC236}">
                <a16:creationId xmlns:a16="http://schemas.microsoft.com/office/drawing/2014/main" id="{E4375BAC-2168-47DC-B4F4-74CCF560F93E}"/>
              </a:ext>
            </a:extLst>
          </p:cNvPr>
          <p:cNvSpPr>
            <a:spLocks xmlns:a="http://schemas.openxmlformats.org/drawingml/2006/main" noGrp="1"/>
          </p:cNvSpPr>
          <p:nvPr/>
        </p:nvSpPr>
        <p:spPr>
          <a:xfrm xmlns:a="http://schemas.openxmlformats.org/drawingml/2006/main">
            <a:off x="502920" y="4133088"/>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4</a:t>
            </a:r>
            <a:endParaRPr sz="1050"/>
          </a:p>
        </p:txBody>
      </p:sp>
      <p:sp>
        <p:nvSpPr>
          <p:cNvPr id="17" name="Text 14">
            <a:extLst xmlns:a="http://schemas.openxmlformats.org/drawingml/2006/main">
              <a:ext uri="{FF2B5EF4-FFF2-40B4-BE49-F238E27FC236}">
                <a16:creationId xmlns:a16="http://schemas.microsoft.com/office/drawing/2014/main" id="{CB5A54C7-6A86-4211-837C-E19D8671B08C}"/>
              </a:ext>
            </a:extLst>
          </p:cNvPr>
          <p:cNvSpPr>
            <a:spLocks xmlns:a="http://schemas.openxmlformats.org/drawingml/2006/main" noGrp="1"/>
          </p:cNvSpPr>
          <p:nvPr/>
        </p:nvSpPr>
        <p:spPr>
          <a:xfrm xmlns:a="http://schemas.openxmlformats.org/drawingml/2006/main">
            <a:off x="914400" y="4114800"/>
            <a:ext cx="6035040" cy="701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Behavioural trio (10 min)  </a:t>
            </a:r>
            <a:r>
              <a:rPr sz="1000">
                <a:solidFill>
                  <a:srgbClr val="5F6B7A"/>
                </a:solidFill>
                <a:latin typeface="Calibri"/>
                <a:ea typeface="Calibri"/>
                <a:cs typeface="Calibri"/>
              </a:rPr>
              <a:t>Casing invariance, amount directional, golden file; pytest -m behavioural</a:t>
            </a:r>
            <a:endParaRPr sz="1050"/>
          </a:p>
        </p:txBody>
      </p:sp>
      <p:sp>
        <p:nvSpPr>
          <p:cNvPr id="18" name="Text 15">
            <a:extLst xmlns:a="http://schemas.openxmlformats.org/drawingml/2006/main">
              <a:ext uri="{FF2B5EF4-FFF2-40B4-BE49-F238E27FC236}">
                <a16:creationId xmlns:a16="http://schemas.microsoft.com/office/drawing/2014/main" id="{E409DDF3-D66E-4F9B-9583-7A12B002D3FC}"/>
              </a:ext>
            </a:extLst>
          </p:cNvPr>
          <p:cNvSpPr>
            <a:spLocks xmlns:a="http://schemas.openxmlformats.org/drawingml/2006/main" noGrp="1"/>
          </p:cNvSpPr>
          <p:nvPr/>
        </p:nvSpPr>
        <p:spPr>
          <a:xfrm xmlns:a="http://schemas.openxmlformats.org/drawingml/2006/main">
            <a:off x="502920" y="4834128"/>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5</a:t>
            </a:r>
            <a:endParaRPr sz="1050"/>
          </a:p>
        </p:txBody>
      </p:sp>
      <p:sp>
        <p:nvSpPr>
          <p:cNvPr id="19" name="Text 16">
            <a:extLst xmlns:a="http://schemas.openxmlformats.org/drawingml/2006/main">
              <a:ext uri="{FF2B5EF4-FFF2-40B4-BE49-F238E27FC236}">
                <a16:creationId xmlns:a16="http://schemas.microsoft.com/office/drawing/2014/main" id="{CE32107E-C9FC-42F3-8CA9-BF5A948C06B3}"/>
              </a:ext>
            </a:extLst>
          </p:cNvPr>
          <p:cNvSpPr>
            <a:spLocks xmlns:a="http://schemas.openxmlformats.org/drawingml/2006/main" noGrp="1"/>
          </p:cNvSpPr>
          <p:nvPr/>
        </p:nvSpPr>
        <p:spPr>
          <a:xfrm xmlns:a="http://schemas.openxmlformats.org/drawingml/2006/main">
            <a:off x="914400" y="4815840"/>
            <a:ext cx="6035040" cy="701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Close ONE coverage gap (5 min)  </a:t>
            </a:r>
            <a:r>
              <a:rPr sz="1000">
                <a:solidFill>
                  <a:srgbClr val="5F6B7A"/>
                </a:solidFill>
                <a:latin typeface="Calibri"/>
                <a:ea typeface="Calibri"/>
                <a:cs typeface="Calibri"/>
              </a:rPr>
              <a:t>Read term-missing; add the most meaningful missing test, not the easiest</a:t>
            </a:r>
            <a:endParaRPr sz="1050"/>
          </a:p>
        </p:txBody>
      </p:sp>
      <p:sp>
        <p:nvSpPr>
          <p:cNvPr id="20" name="Text 17">
            <a:extLst xmlns:a="http://schemas.openxmlformats.org/drawingml/2006/main">
              <a:ext uri="{FF2B5EF4-FFF2-40B4-BE49-F238E27FC236}">
                <a16:creationId xmlns:a16="http://schemas.microsoft.com/office/drawing/2014/main" id="{CA773A9D-12D0-4C6D-9A0B-B0AB25795526}"/>
              </a:ext>
            </a:extLst>
          </p:cNvPr>
          <p:cNvSpPr>
            <a:spLocks xmlns:a="http://schemas.openxmlformats.org/drawingml/2006/main" noGrp="1"/>
          </p:cNvSpPr>
          <p:nvPr/>
        </p:nvSpPr>
        <p:spPr>
          <a:xfrm xmlns:a="http://schemas.openxmlformats.org/drawingml/2006/main">
            <a:off x="502920" y="5535168"/>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6</a:t>
            </a:r>
            <a:endParaRPr sz="1050"/>
          </a:p>
        </p:txBody>
      </p:sp>
      <p:sp>
        <p:nvSpPr>
          <p:cNvPr id="21" name="Text 18">
            <a:extLst xmlns:a="http://schemas.openxmlformats.org/drawingml/2006/main">
              <a:ext uri="{FF2B5EF4-FFF2-40B4-BE49-F238E27FC236}">
                <a16:creationId xmlns:a16="http://schemas.microsoft.com/office/drawing/2014/main" id="{80AE7093-BF70-42D0-8EF8-220F5491E434}"/>
              </a:ext>
            </a:extLst>
          </p:cNvPr>
          <p:cNvSpPr>
            <a:spLocks xmlns:a="http://schemas.openxmlformats.org/drawingml/2006/main" noGrp="1"/>
          </p:cNvSpPr>
          <p:nvPr/>
        </p:nvSpPr>
        <p:spPr>
          <a:xfrm xmlns:a="http://schemas.openxmlformats.org/drawingml/2006/main">
            <a:off x="914400" y="5516880"/>
            <a:ext cx="6035040" cy="701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Commit and record (5 min)  </a:t>
            </a:r>
            <a:r>
              <a:rPr sz="1000">
                <a:solidFill>
                  <a:srgbClr val="5F6B7A"/>
                </a:solidFill>
                <a:latin typeface="Calibri"/>
                <a:ea typeface="Calibri"/>
                <a:cs typeface="Calibri"/>
              </a:rPr>
              <a:t>'test: three-level suite with behavioural tripwires'; timing into BENCHMARKS.md</a:t>
            </a:r>
            <a:endParaRPr sz="1050"/>
          </a:p>
        </p:txBody>
      </p:sp>
      <p:sp>
        <p:nvSpPr>
          <p:cNvPr id="22" name="Shape 19">
            <a:extLst xmlns:a="http://schemas.openxmlformats.org/drawingml/2006/main">
              <a:ext uri="{FF2B5EF4-FFF2-40B4-BE49-F238E27FC236}">
                <a16:creationId xmlns:a16="http://schemas.microsoft.com/office/drawing/2014/main" id="{8A65E8FD-6316-4893-A50E-F3EDCF052336}"/>
              </a:ext>
            </a:extLst>
          </p:cNvPr>
          <p:cNvSpPr>
            <a:spLocks xmlns:a="http://schemas.openxmlformats.org/drawingml/2006/main" noGrp="1"/>
          </p:cNvSpPr>
          <p:nvPr/>
        </p:nvSpPr>
        <p:spPr>
          <a:xfrm xmlns:a="http://schemas.openxmlformats.org/drawingml/2006/main">
            <a:off x="7269480" y="2011680"/>
            <a:ext cx="4416552" cy="1417320"/>
          </a:xfrm>
          <a:prstGeom xmlns:a="http://schemas.openxmlformats.org/drawingml/2006/main" prst="roundRect">
            <a:avLst>
              <a:gd name="adj" fmla="val 4516"/>
            </a:avLst>
          </a:prstGeom>
          <a:solidFill xmlns:a="http://schemas.openxmlformats.org/drawingml/2006/main">
            <a:srgbClr val="D4F1EE"/>
          </a:solidFill>
        </p:spPr>
      </p:sp>
      <p:sp>
        <p:nvSpPr>
          <p:cNvPr id="23" name="Text 20">
            <a:extLst xmlns:a="http://schemas.openxmlformats.org/drawingml/2006/main">
              <a:ext uri="{FF2B5EF4-FFF2-40B4-BE49-F238E27FC236}">
                <a16:creationId xmlns:a16="http://schemas.microsoft.com/office/drawing/2014/main" id="{E6890E06-D649-458F-B1BD-ECF8F6E444AF}"/>
              </a:ext>
            </a:extLst>
          </p:cNvPr>
          <p:cNvSpPr>
            <a:spLocks xmlns:a="http://schemas.openxmlformats.org/drawingml/2006/main" noGrp="1"/>
          </p:cNvSpPr>
          <p:nvPr/>
        </p:nvSpPr>
        <p:spPr>
          <a:xfrm xmlns:a="http://schemas.openxmlformats.org/drawingml/2006/main">
            <a:off x="7452360" y="2139696"/>
            <a:ext cx="405079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056A63"/>
                </a:solidFill>
                <a:latin typeface="Calibri"/>
                <a:ea typeface="Calibri"/>
                <a:cs typeface="Calibri"/>
              </a:rPr>
              <a:t>DELIVERABLE</a:t>
            </a:r>
            <a:endParaRPr sz="900"/>
          </a:p>
        </p:txBody>
      </p:sp>
      <p:sp>
        <p:nvSpPr>
          <p:cNvPr id="24" name="Text 21">
            <a:extLst xmlns:a="http://schemas.openxmlformats.org/drawingml/2006/main">
              <a:ext uri="{FF2B5EF4-FFF2-40B4-BE49-F238E27FC236}">
                <a16:creationId xmlns:a16="http://schemas.microsoft.com/office/drawing/2014/main" id="{3C8448A3-88AC-4FC7-92B1-D8304E3AD3AE}"/>
              </a:ext>
            </a:extLst>
          </p:cNvPr>
          <p:cNvSpPr>
            <a:spLocks xmlns:a="http://schemas.openxmlformats.org/drawingml/2006/main" noGrp="1"/>
          </p:cNvSpPr>
          <p:nvPr/>
        </p:nvSpPr>
        <p:spPr>
          <a:xfrm xmlns:a="http://schemas.openxmlformats.org/drawingml/2006/main">
            <a:off x="7452360" y="2395728"/>
            <a:ext cx="4050792" cy="960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30">
                <a:solidFill>
                  <a:srgbClr val="056A63"/>
                </a:solidFill>
                <a:latin typeface="Calibri"/>
                <a:ea typeface="Calibri"/>
                <a:cs typeface="Calibri"/>
              </a:rPr>
              <a:t>A three-level pytest suite: ≥ 80% branch coverage on domain/service/api, malformed corpus green, behavioural suite green against the real artefact.</a:t>
            </a:r>
            <a:endParaRPr sz="1030"/>
          </a:p>
        </p:txBody>
      </p:sp>
      <p:sp>
        <p:nvSpPr>
          <p:cNvPr id="25" name="Shape 22">
            <a:extLst xmlns:a="http://schemas.openxmlformats.org/drawingml/2006/main">
              <a:ext uri="{FF2B5EF4-FFF2-40B4-BE49-F238E27FC236}">
                <a16:creationId xmlns:a16="http://schemas.microsoft.com/office/drawing/2014/main" id="{67AC2804-340C-422D-AAD1-C4CE9387E5D7}"/>
              </a:ext>
            </a:extLst>
          </p:cNvPr>
          <p:cNvSpPr>
            <a:spLocks xmlns:a="http://schemas.openxmlformats.org/drawingml/2006/main" noGrp="1"/>
          </p:cNvSpPr>
          <p:nvPr/>
        </p:nvSpPr>
        <p:spPr>
          <a:xfrm xmlns:a="http://schemas.openxmlformats.org/drawingml/2006/main">
            <a:off x="7269480" y="3611880"/>
            <a:ext cx="4416552" cy="1371600"/>
          </a:xfrm>
          <a:prstGeom xmlns:a="http://schemas.openxmlformats.org/drawingml/2006/main" prst="roundRect">
            <a:avLst>
              <a:gd name="adj" fmla="val 4667"/>
            </a:avLst>
          </a:prstGeom>
          <a:solidFill xmlns:a="http://schemas.openxmlformats.org/drawingml/2006/main">
            <a:srgbClr val="EEF3FB"/>
          </a:solidFill>
          <a:ln xmlns:a="http://schemas.openxmlformats.org/drawingml/2006/main" w="9525">
            <a:solidFill>
              <a:srgbClr val="D9E4F5"/>
            </a:solidFill>
            <a:prstDash val="solid"/>
          </a:ln>
        </p:spPr>
      </p:sp>
      <p:sp>
        <p:nvSpPr>
          <p:cNvPr id="26" name="Text 23">
            <a:extLst xmlns:a="http://schemas.openxmlformats.org/drawingml/2006/main">
              <a:ext uri="{FF2B5EF4-FFF2-40B4-BE49-F238E27FC236}">
                <a16:creationId xmlns:a16="http://schemas.microsoft.com/office/drawing/2014/main" id="{2FE27856-2834-427F-BED0-BADC3BC08F6E}"/>
              </a:ext>
            </a:extLst>
          </p:cNvPr>
          <p:cNvSpPr>
            <a:spLocks xmlns:a="http://schemas.openxmlformats.org/drawingml/2006/main" noGrp="1"/>
          </p:cNvSpPr>
          <p:nvPr/>
        </p:nvSpPr>
        <p:spPr>
          <a:xfrm xmlns:a="http://schemas.openxmlformats.org/drawingml/2006/main">
            <a:off x="7452360" y="3730752"/>
            <a:ext cx="405079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100">
                <a:solidFill>
                  <a:srgbClr val="1D2A5C"/>
                </a:solidFill>
                <a:latin typeface="Calibri"/>
                <a:ea typeface="Calibri"/>
                <a:cs typeface="Calibri"/>
              </a:rPr>
              <a:t>CHECKPOINT — how you know it worked</a:t>
            </a:r>
            <a:endParaRPr sz="900"/>
          </a:p>
        </p:txBody>
      </p:sp>
      <p:sp>
        <p:nvSpPr>
          <p:cNvPr id="27" name="Text 24">
            <a:extLst xmlns:a="http://schemas.openxmlformats.org/drawingml/2006/main">
              <a:ext uri="{FF2B5EF4-FFF2-40B4-BE49-F238E27FC236}">
                <a16:creationId xmlns:a16="http://schemas.microsoft.com/office/drawing/2014/main" id="{D5AF06FC-DEC1-49FE-A93D-8F645B925B06}"/>
              </a:ext>
            </a:extLst>
          </p:cNvPr>
          <p:cNvSpPr>
            <a:spLocks xmlns:a="http://schemas.openxmlformats.org/drawingml/2006/main" noGrp="1"/>
          </p:cNvSpPr>
          <p:nvPr/>
        </p:nvSpPr>
        <p:spPr>
          <a:xfrm xmlns:a="http://schemas.openxmlformats.org/drawingml/2006/main">
            <a:off x="7452360" y="3986784"/>
            <a:ext cx="4050792"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5F6B7A"/>
                </a:solidFill>
                <a:latin typeface="Calibri"/>
                <a:ea typeface="Calibri"/>
                <a:cs typeface="Calibri"/>
              </a:rPr>
              <a:t>pytest -m 'not slow' → 47 passed in ~3.8 s, coverage 84%. pytest -m slow → 4 passed, 5,000 golden rows OK.</a:t>
            </a:r>
            <a:endParaRPr sz="1000"/>
          </a:p>
        </p:txBody>
      </p:sp>
      <p:sp>
        <p:nvSpPr>
          <p:cNvPr id="28" name="Shape 25">
            <a:extLst xmlns:a="http://schemas.openxmlformats.org/drawingml/2006/main">
              <a:ext uri="{FF2B5EF4-FFF2-40B4-BE49-F238E27FC236}">
                <a16:creationId xmlns:a16="http://schemas.microsoft.com/office/drawing/2014/main" id="{E7FEDB41-C4B4-46D9-B3B4-D3D1BDEE91B7}"/>
              </a:ext>
            </a:extLst>
          </p:cNvPr>
          <p:cNvSpPr>
            <a:spLocks xmlns:a="http://schemas.openxmlformats.org/drawingml/2006/main" noGrp="1"/>
          </p:cNvSpPr>
          <p:nvPr/>
        </p:nvSpPr>
        <p:spPr>
          <a:xfrm xmlns:a="http://schemas.openxmlformats.org/drawingml/2006/main">
            <a:off x="7269480" y="5166360"/>
            <a:ext cx="4416552" cy="1051560"/>
          </a:xfrm>
          <a:prstGeom xmlns:a="http://schemas.openxmlformats.org/drawingml/2006/main" prst="roundRect">
            <a:avLst>
              <a:gd name="adj" fmla="val 6087"/>
            </a:avLst>
          </a:prstGeom>
          <a:solidFill xmlns:a="http://schemas.openxmlformats.org/drawingml/2006/main">
            <a:srgbClr val="FDEBD7"/>
          </a:solidFill>
        </p:spPr>
      </p:sp>
      <p:sp>
        <p:nvSpPr>
          <p:cNvPr id="29" name="Text 26">
            <a:extLst xmlns:a="http://schemas.openxmlformats.org/drawingml/2006/main">
              <a:ext uri="{FF2B5EF4-FFF2-40B4-BE49-F238E27FC236}">
                <a16:creationId xmlns:a16="http://schemas.microsoft.com/office/drawing/2014/main" id="{388508E7-8701-44FF-B7D9-3F50AA600B3A}"/>
              </a:ext>
            </a:extLst>
          </p:cNvPr>
          <p:cNvSpPr>
            <a:spLocks xmlns:a="http://schemas.openxmlformats.org/drawingml/2006/main" noGrp="1"/>
          </p:cNvSpPr>
          <p:nvPr/>
        </p:nvSpPr>
        <p:spPr>
          <a:xfrm xmlns:a="http://schemas.openxmlformats.org/drawingml/2006/main">
            <a:off x="7452360" y="5230368"/>
            <a:ext cx="4050792"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850" b="1">
                <a:solidFill>
                  <a:srgbClr val="A6531C"/>
                </a:solidFill>
                <a:latin typeface="Calibri"/>
                <a:ea typeface="Calibri"/>
                <a:cs typeface="Calibri"/>
              </a:rPr>
              <a:t>INSTRUCTOR TIP  </a:t>
            </a:r>
            <a:r>
              <a:rPr sz="950">
                <a:solidFill>
                  <a:srgbClr val="A6531C"/>
                </a:solidFill>
                <a:latin typeface="Calibri"/>
                <a:ea typeface="Calibri"/>
                <a:cs typeface="Calibri"/>
              </a:rPr>
              <a:t>Suite taking 90 s? The real model is loading per-test — session-scope the fixture and verify with --durations=10.</a:t>
            </a:r>
            <a:endParaRPr sz="850"/>
          </a:p>
        </p:txBody>
      </p:sp>
    </p:spTree>
    <p:extLst>
      <p:ext uri="{BB962C8B-B14F-4D97-AF65-F5344CB8AC3E}">
        <p14:creationId xmlns:p14="http://schemas.microsoft.com/office/powerpoint/2010/main" val="1399657480"/>
      </p:ext>
    </p:extLst>
  </p:cSld>
</p:sld>
</file>

<file path=ppt/slides/slide9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DE5F17D-659E-48CC-9D2F-EC1A655C4B18}"/>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Test-writing kata — turn an incident into the smallest useful claim</a:t>
            </a:r>
            <a:endParaRPr sz="2600"/>
          </a:p>
        </p:txBody>
      </p:sp>
      <p:sp>
        <p:nvSpPr>
          <p:cNvPr id="3" name="Text 1">
            <a:extLst xmlns:a="http://schemas.openxmlformats.org/drawingml/2006/main">
              <a:ext uri="{FF2B5EF4-FFF2-40B4-BE49-F238E27FC236}">
                <a16:creationId xmlns:a16="http://schemas.microsoft.com/office/drawing/2014/main" id="{16A3C7C4-974F-4731-AE67-C6A488FEC868}"/>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كاتا كتابة الاختبارات — حوّل الحادث إلى أصغر ادعاء مفيد</a:t>
            </a:r>
            <a:endParaRPr sz="1300"/>
          </a:p>
        </p:txBody>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3f7190b1cf4a4c78"/>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D60A61EA-B363-4398-BC98-A84121CFAE1F}"/>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BB66A3E8-A99A-4AF4-B699-7DE7040FFBAF}"/>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LAB 4</a:t>
            </a:r>
            <a:r>
              <a:rPr sz="850" b="1" spc="100">
                <a:solidFill>
                  <a:srgbClr val="00A79D"/>
                </a:solidFill>
                <a:latin typeface="Calibri"/>
                <a:ea typeface="Calibri"/>
                <a:cs typeface="Calibri"/>
              </a:rPr>
              <a:t>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7667CF09-35EA-459F-AE5E-228548E764FA}"/>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96</a:t>
            </a:r>
            <a:endParaRPr sz="850"/>
          </a:p>
        </p:txBody>
      </p:sp>
      <p:sp>
        <p:nvSpPr>
          <p:cNvPr id="8" name="Text 5">
            <a:extLst xmlns:a="http://schemas.openxmlformats.org/drawingml/2006/main">
              <a:ext uri="{FF2B5EF4-FFF2-40B4-BE49-F238E27FC236}">
                <a16:creationId xmlns:a16="http://schemas.microsoft.com/office/drawing/2014/main" id="{AD1E06BF-FB27-40AC-9620-6A2C25D75C02}"/>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A85E1220-86F3-4C31-AB2B-F1DE3B7144CB}"/>
              </a:ext>
            </a:extLst>
          </p:cNvPr>
          <p:cNvSpPr>
            <a:spLocks xmlns:a="http://schemas.openxmlformats.org/drawingml/2006/main" noGrp="1"/>
          </p:cNvSpPr>
          <p:nvPr/>
        </p:nvSpPr>
        <p:spPr>
          <a:xfrm xmlns:a="http://schemas.openxmlformats.org/drawingml/2006/main">
            <a:off x="1005840" y="14996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Choose the lowest effective level</a:t>
            </a:r>
            <a:endParaRPr sz="1350"/>
          </a:p>
        </p:txBody>
      </p:sp>
      <p:sp>
        <p:nvSpPr>
          <p:cNvPr id="10" name="Text 7">
            <a:extLst xmlns:a="http://schemas.openxmlformats.org/drawingml/2006/main">
              <a:ext uri="{FF2B5EF4-FFF2-40B4-BE49-F238E27FC236}">
                <a16:creationId xmlns:a16="http://schemas.microsoft.com/office/drawing/2014/main" id="{A82ACBC5-1BFF-4AA9-B0B0-C3F7204F9481}"/>
              </a:ext>
            </a:extLst>
          </p:cNvPr>
          <p:cNvSpPr>
            <a:spLocks xmlns:a="http://schemas.openxmlformats.org/drawingml/2006/main" noGrp="1"/>
          </p:cNvSpPr>
          <p:nvPr/>
        </p:nvSpPr>
        <p:spPr>
          <a:xfrm xmlns:a="http://schemas.openxmlformats.org/drawingml/2006/main">
            <a:off x="1005840" y="180136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Unit for logic, integration for contracts, behavioural for model claims.</a:t>
            </a:r>
            <a:endParaRPr sz="1050"/>
          </a:p>
        </p:txBody>
      </p:sp>
      <p:sp>
        <p:nvSpPr>
          <p:cNvPr id="11" name="Text 8">
            <a:extLst xmlns:a="http://schemas.openxmlformats.org/drawingml/2006/main">
              <a:ext uri="{FF2B5EF4-FFF2-40B4-BE49-F238E27FC236}">
                <a16:creationId xmlns:a16="http://schemas.microsoft.com/office/drawing/2014/main" id="{6E412656-5263-45AE-82D5-31AA6B396614}"/>
              </a:ext>
            </a:extLst>
          </p:cNvPr>
          <p:cNvSpPr>
            <a:spLocks xmlns:a="http://schemas.openxmlformats.org/drawingml/2006/main" noGrp="1"/>
          </p:cNvSpPr>
          <p:nvPr/>
        </p:nvSpPr>
        <p:spPr>
          <a:xfrm xmlns:a="http://schemas.openxmlformats.org/drawingml/2006/main">
            <a:off x="502920" y="280035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0736F55E-3534-4AC1-B57C-0E7933249618}"/>
              </a:ext>
            </a:extLst>
          </p:cNvPr>
          <p:cNvSpPr>
            <a:spLocks xmlns:a="http://schemas.openxmlformats.org/drawingml/2006/main" noGrp="1"/>
          </p:cNvSpPr>
          <p:nvPr/>
        </p:nvSpPr>
        <p:spPr>
          <a:xfrm xmlns:a="http://schemas.openxmlformats.org/drawingml/2006/main">
            <a:off x="1005840" y="274548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Name the claim and its source</a:t>
            </a:r>
            <a:endParaRPr sz="1350"/>
          </a:p>
        </p:txBody>
      </p:sp>
      <p:sp>
        <p:nvSpPr>
          <p:cNvPr id="13" name="Text 10">
            <a:extLst xmlns:a="http://schemas.openxmlformats.org/drawingml/2006/main">
              <a:ext uri="{FF2B5EF4-FFF2-40B4-BE49-F238E27FC236}">
                <a16:creationId xmlns:a16="http://schemas.microsoft.com/office/drawing/2014/main" id="{F1DBD095-EE3F-4C72-9CC1-5BAF1DF19F2D}"/>
              </a:ext>
            </a:extLst>
          </p:cNvPr>
          <p:cNvSpPr>
            <a:spLocks xmlns:a="http://schemas.openxmlformats.org/drawingml/2006/main" noGrp="1"/>
          </p:cNvSpPr>
          <p:nvPr/>
        </p:nvSpPr>
        <p:spPr>
          <a:xfrm xmlns:a="http://schemas.openxmlformats.org/drawingml/2006/main">
            <a:off x="1005840" y="304723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Policy, contract, model card, or reviewed golden set must justify the assertion.</a:t>
            </a:r>
            <a:endParaRPr sz="1050"/>
          </a:p>
        </p:txBody>
      </p:sp>
      <p:sp>
        <p:nvSpPr>
          <p:cNvPr id="14" name="Text 11">
            <a:extLst xmlns:a="http://schemas.openxmlformats.org/drawingml/2006/main">
              <a:ext uri="{FF2B5EF4-FFF2-40B4-BE49-F238E27FC236}">
                <a16:creationId xmlns:a16="http://schemas.microsoft.com/office/drawing/2014/main" id="{5E6EAE5C-12C5-47A9-9452-01DF822D6446}"/>
              </a:ext>
            </a:extLst>
          </p:cNvPr>
          <p:cNvSpPr>
            <a:spLocks xmlns:a="http://schemas.openxmlformats.org/drawingml/2006/main" noGrp="1"/>
          </p:cNvSpPr>
          <p:nvPr/>
        </p:nvSpPr>
        <p:spPr>
          <a:xfrm xmlns:a="http://schemas.openxmlformats.org/drawingml/2006/main">
            <a:off x="502920" y="404622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1328E8FC-72BC-4EB6-B1D4-913BBA056ED3}"/>
              </a:ext>
            </a:extLst>
          </p:cNvPr>
          <p:cNvSpPr>
            <a:spLocks xmlns:a="http://schemas.openxmlformats.org/drawingml/2006/main" noGrp="1"/>
          </p:cNvSpPr>
          <p:nvPr/>
        </p:nvSpPr>
        <p:spPr>
          <a:xfrm xmlns:a="http://schemas.openxmlformats.org/drawingml/2006/main">
            <a:off x="1005840" y="399135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Watch it fail for the right reason</a:t>
            </a:r>
            <a:endParaRPr sz="1350"/>
          </a:p>
        </p:txBody>
      </p:sp>
      <p:sp>
        <p:nvSpPr>
          <p:cNvPr id="16" name="Text 13">
            <a:extLst xmlns:a="http://schemas.openxmlformats.org/drawingml/2006/main">
              <a:ext uri="{FF2B5EF4-FFF2-40B4-BE49-F238E27FC236}">
                <a16:creationId xmlns:a16="http://schemas.microsoft.com/office/drawing/2014/main" id="{3F5D62A0-6DDC-4E90-A328-72310E4B2B4B}"/>
              </a:ext>
            </a:extLst>
          </p:cNvPr>
          <p:cNvSpPr>
            <a:spLocks xmlns:a="http://schemas.openxmlformats.org/drawingml/2006/main" noGrp="1"/>
          </p:cNvSpPr>
          <p:nvPr/>
        </p:nvSpPr>
        <p:spPr>
          <a:xfrm xmlns:a="http://schemas.openxmlformats.org/drawingml/2006/main">
            <a:off x="1005840" y="429310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A red test must expose the intended defect before the implementation changes.</a:t>
            </a:r>
            <a:endParaRPr sz="1050"/>
          </a:p>
        </p:txBody>
      </p:sp>
      <p:sp>
        <p:nvSpPr>
          <p:cNvPr id="17" name="Text 14">
            <a:extLst xmlns:a="http://schemas.openxmlformats.org/drawingml/2006/main">
              <a:ext uri="{FF2B5EF4-FFF2-40B4-BE49-F238E27FC236}">
                <a16:creationId xmlns:a16="http://schemas.microsoft.com/office/drawing/2014/main" id="{FB07FD8A-01E0-41A0-9EC7-11398930CF87}"/>
              </a:ext>
            </a:extLst>
          </p:cNvPr>
          <p:cNvSpPr>
            <a:spLocks xmlns:a="http://schemas.openxmlformats.org/drawingml/2006/main" noGrp="1"/>
          </p:cNvSpPr>
          <p:nvPr/>
        </p:nvSpPr>
        <p:spPr>
          <a:xfrm xmlns:a="http://schemas.openxmlformats.org/drawingml/2006/main">
            <a:off x="502920" y="5292090"/>
            <a:ext cx="329184" cy="329184"/>
          </a:xfrm>
          <a:prstGeom xmlns:a="http://schemas.openxmlformats.org/drawingml/2006/main" prst="ellipse">
            <a:avLst/>
          </a:prstGeom>
          <a:solidFill xmlns:a="http://schemas.openxmlformats.org/drawingml/2006/main">
            <a:srgbClr val="8DC63F"/>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4</a:t>
            </a:r>
            <a:endParaRPr sz="1300"/>
          </a:p>
        </p:txBody>
      </p:sp>
      <p:sp>
        <p:nvSpPr>
          <p:cNvPr id="18" name="Text 15">
            <a:extLst xmlns:a="http://schemas.openxmlformats.org/drawingml/2006/main">
              <a:ext uri="{FF2B5EF4-FFF2-40B4-BE49-F238E27FC236}">
                <a16:creationId xmlns:a16="http://schemas.microsoft.com/office/drawing/2014/main" id="{AEAF08CC-5E57-4839-B0C5-2220C8377B19}"/>
              </a:ext>
            </a:extLst>
          </p:cNvPr>
          <p:cNvSpPr>
            <a:spLocks xmlns:a="http://schemas.openxmlformats.org/drawingml/2006/main" noGrp="1"/>
          </p:cNvSpPr>
          <p:nvPr/>
        </p:nvSpPr>
        <p:spPr>
          <a:xfrm xmlns:a="http://schemas.openxmlformats.org/drawingml/2006/main">
            <a:off x="1005840" y="523722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Review for value, not coverage</a:t>
            </a:r>
            <a:endParaRPr sz="1350"/>
          </a:p>
        </p:txBody>
      </p:sp>
      <p:sp>
        <p:nvSpPr>
          <p:cNvPr id="19" name="Text 16">
            <a:extLst xmlns:a="http://schemas.openxmlformats.org/drawingml/2006/main">
              <a:ext uri="{FF2B5EF4-FFF2-40B4-BE49-F238E27FC236}">
                <a16:creationId xmlns:a16="http://schemas.microsoft.com/office/drawing/2014/main" id="{7F216B22-A29B-4D51-8C78-03BE97EBA8C0}"/>
              </a:ext>
            </a:extLst>
          </p:cNvPr>
          <p:cNvSpPr>
            <a:spLocks xmlns:a="http://schemas.openxmlformats.org/drawingml/2006/main" noGrp="1"/>
          </p:cNvSpPr>
          <p:nvPr/>
        </p:nvSpPr>
        <p:spPr>
          <a:xfrm xmlns:a="http://schemas.openxmlformats.org/drawingml/2006/main">
            <a:off x="1005840" y="553897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Replace tautological or brittle tests with one that protects a real decision.</a:t>
            </a:r>
            <a:endParaRPr sz="1050"/>
          </a:p>
        </p:txBody>
      </p:sp>
    </p:spTree>
    <p:extLst>
      <p:ext uri="{BB962C8B-B14F-4D97-AF65-F5344CB8AC3E}">
        <p14:creationId xmlns:p14="http://schemas.microsoft.com/office/powerpoint/2010/main" val="975794841"/>
      </p:ext>
    </p:extLst>
  </p:cSld>
</p:sld>
</file>

<file path=ppt/slides/slide9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9702210-DA97-4544-8A51-2D13D8BB868A}"/>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Module 4 — mini exercises</a:t>
            </a:r>
            <a:endParaRPr sz="2600"/>
          </a:p>
        </p:txBody>
      </p:sp>
      <p:sp>
        <p:nvSpPr>
          <p:cNvPr id="3" name="Text 1">
            <a:extLst xmlns:a="http://schemas.openxmlformats.org/drawingml/2006/main">
              <a:ext uri="{FF2B5EF4-FFF2-40B4-BE49-F238E27FC236}">
                <a16:creationId xmlns:a16="http://schemas.microsoft.com/office/drawing/2014/main" id="{DC8D41E1-A4F5-497D-BFEB-190CD4D52E78}"/>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الوحدة الرابعة — تمارين قصيرة</a:t>
            </a:r>
            <a:endParaRPr sz="1300"/>
          </a:p>
        </p:txBody>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c9005d3049204421"/>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C964DA1C-19FD-4374-B5E1-68528F60EE44}"/>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FF0D3727-9F6D-47B0-9AB1-196B880C8F93}"/>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4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5D02589D-C677-4722-82C3-C303FBAA53A1}"/>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97</a:t>
            </a:r>
            <a:endParaRPr sz="850"/>
          </a:p>
        </p:txBody>
      </p:sp>
      <p:sp>
        <p:nvSpPr>
          <p:cNvPr id="8" name="Text 5">
            <a:extLst xmlns:a="http://schemas.openxmlformats.org/drawingml/2006/main">
              <a:ext uri="{FF2B5EF4-FFF2-40B4-BE49-F238E27FC236}">
                <a16:creationId xmlns:a16="http://schemas.microsoft.com/office/drawing/2014/main" id="{D5157C42-3E59-4156-8A72-8A922138A54B}"/>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E826333F-0F76-4D1D-8C4B-CF73B35B580E}"/>
              </a:ext>
            </a:extLst>
          </p:cNvPr>
          <p:cNvSpPr>
            <a:spLocks xmlns:a="http://schemas.openxmlformats.org/drawingml/2006/main" noGrp="1"/>
          </p:cNvSpPr>
          <p:nvPr/>
        </p:nvSpPr>
        <p:spPr>
          <a:xfrm xmlns:a="http://schemas.openxmlformats.org/drawingml/2006/main">
            <a:off x="1005840" y="14996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Debug — the flaky clock</a:t>
            </a:r>
            <a:endParaRPr sz="1350"/>
          </a:p>
        </p:txBody>
      </p:sp>
      <p:sp>
        <p:nvSpPr>
          <p:cNvPr id="10" name="Text 7">
            <a:extLst xmlns:a="http://schemas.openxmlformats.org/drawingml/2006/main">
              <a:ext uri="{FF2B5EF4-FFF2-40B4-BE49-F238E27FC236}">
                <a16:creationId xmlns:a16="http://schemas.microsoft.com/office/drawing/2014/main" id="{CAA8EC0C-1F80-4059-A01F-166EF5CD7835}"/>
              </a:ext>
            </a:extLst>
          </p:cNvPr>
          <p:cNvSpPr>
            <a:spLocks xmlns:a="http://schemas.openxmlformats.org/drawingml/2006/main" noGrp="1"/>
          </p:cNvSpPr>
          <p:nvPr/>
        </p:nvSpPr>
        <p:spPr>
          <a:xfrm xmlns:a="http://schemas.openxmlformats.org/drawingml/2006/main">
            <a:off x="1005840" y="180136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Branch sim-flaky: a test uses datetime.now(), so is_night depends on when you run it. Fix with a frozen timestamp, then generalise: no unseeded randomness or clock in tests.</a:t>
            </a:r>
            <a:endParaRPr sz="1050"/>
          </a:p>
        </p:txBody>
      </p:sp>
      <p:sp>
        <p:nvSpPr>
          <p:cNvPr id="11" name="Text 8">
            <a:extLst xmlns:a="http://schemas.openxmlformats.org/drawingml/2006/main">
              <a:ext uri="{FF2B5EF4-FFF2-40B4-BE49-F238E27FC236}">
                <a16:creationId xmlns:a16="http://schemas.microsoft.com/office/drawing/2014/main" id="{A217A71F-B6AF-4D3A-B166-B96C24C234F0}"/>
              </a:ext>
            </a:extLst>
          </p:cNvPr>
          <p:cNvSpPr>
            <a:spLocks xmlns:a="http://schemas.openxmlformats.org/drawingml/2006/main" noGrp="1"/>
          </p:cNvSpPr>
          <p:nvPr/>
        </p:nvSpPr>
        <p:spPr>
          <a:xfrm xmlns:a="http://schemas.openxmlformats.org/drawingml/2006/main">
            <a:off x="502920" y="280035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3432F1E3-DF80-4071-B54E-82587F1F6168}"/>
              </a:ext>
            </a:extLst>
          </p:cNvPr>
          <p:cNvSpPr>
            <a:spLocks xmlns:a="http://schemas.openxmlformats.org/drawingml/2006/main" noGrp="1"/>
          </p:cNvSpPr>
          <p:nvPr/>
        </p:nvSpPr>
        <p:spPr>
          <a:xfrm xmlns:a="http://schemas.openxmlformats.org/drawingml/2006/main">
            <a:off x="1005840" y="274548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Code review — three findings</a:t>
            </a:r>
            <a:endParaRPr sz="1350"/>
          </a:p>
        </p:txBody>
      </p:sp>
      <p:sp>
        <p:nvSpPr>
          <p:cNvPr id="13" name="Text 10">
            <a:extLst xmlns:a="http://schemas.openxmlformats.org/drawingml/2006/main">
              <a:ext uri="{FF2B5EF4-FFF2-40B4-BE49-F238E27FC236}">
                <a16:creationId xmlns:a16="http://schemas.microsoft.com/office/drawing/2014/main" id="{42563314-E34B-43AB-AA16-FA5FEE2E5593}"/>
              </a:ext>
            </a:extLst>
          </p:cNvPr>
          <p:cNvSpPr>
            <a:spLocks xmlns:a="http://schemas.openxmlformats.org/drawingml/2006/main" noGrp="1"/>
          </p:cNvSpPr>
          <p:nvPr/>
        </p:nvSpPr>
        <p:spPr>
          <a:xfrm xmlns:a="http://schemas.openxmlformats.org/drawingml/2006/main">
            <a:off x="1005840" y="304723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A PR with a tautological test (assert decide(...) == decide(...)), an exact-float assert, and a test importing a private function. Findings plus suggested rewrites.</a:t>
            </a:r>
            <a:endParaRPr sz="1050"/>
          </a:p>
        </p:txBody>
      </p:sp>
      <p:sp>
        <p:nvSpPr>
          <p:cNvPr id="14" name="Text 11">
            <a:extLst xmlns:a="http://schemas.openxmlformats.org/drawingml/2006/main">
              <a:ext uri="{FF2B5EF4-FFF2-40B4-BE49-F238E27FC236}">
                <a16:creationId xmlns:a16="http://schemas.microsoft.com/office/drawing/2014/main" id="{23D6EB8D-FE8D-406A-ADD7-8582EDE54746}"/>
              </a:ext>
            </a:extLst>
          </p:cNvPr>
          <p:cNvSpPr>
            <a:spLocks xmlns:a="http://schemas.openxmlformats.org/drawingml/2006/main" noGrp="1"/>
          </p:cNvSpPr>
          <p:nvPr/>
        </p:nvSpPr>
        <p:spPr>
          <a:xfrm xmlns:a="http://schemas.openxmlformats.org/drawingml/2006/main">
            <a:off x="502920" y="404622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88BD0E6C-BE75-4772-8DB0-E775B707564C}"/>
              </a:ext>
            </a:extLst>
          </p:cNvPr>
          <p:cNvSpPr>
            <a:spLocks xmlns:a="http://schemas.openxmlformats.org/drawingml/2006/main" noGrp="1"/>
          </p:cNvSpPr>
          <p:nvPr/>
        </p:nvSpPr>
        <p:spPr>
          <a:xfrm xmlns:a="http://schemas.openxmlformats.org/drawingml/2006/main">
            <a:off x="1005840" y="399135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Discussion — ship or block?</a:t>
            </a:r>
            <a:endParaRPr sz="1350"/>
          </a:p>
        </p:txBody>
      </p:sp>
      <p:sp>
        <p:nvSpPr>
          <p:cNvPr id="16" name="Text 13">
            <a:extLst xmlns:a="http://schemas.openxmlformats.org/drawingml/2006/main">
              <a:ext uri="{FF2B5EF4-FFF2-40B4-BE49-F238E27FC236}">
                <a16:creationId xmlns:a16="http://schemas.microsoft.com/office/drawing/2014/main" id="{500A2604-D99F-48AD-BBE8-03940639FBF1}"/>
              </a:ext>
            </a:extLst>
          </p:cNvPr>
          <p:cNvSpPr>
            <a:spLocks xmlns:a="http://schemas.openxmlformats.org/drawingml/2006/main" noGrp="1"/>
          </p:cNvSpPr>
          <p:nvPr/>
        </p:nvSpPr>
        <p:spPr>
          <a:xfrm xmlns:a="http://schemas.openxmlformats.org/drawingml/2006/main">
            <a:off x="1005840" y="429310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v4 improves AUC but fails the amount-directional test on 2% of cases. Ship, block, or renegotiate the test? Who decides — engineering or risk?</a:t>
            </a:r>
            <a:endParaRPr sz="1050"/>
          </a:p>
        </p:txBody>
      </p:sp>
      <p:sp>
        <p:nvSpPr>
          <p:cNvPr id="17" name="Text 14">
            <a:extLst xmlns:a="http://schemas.openxmlformats.org/drawingml/2006/main">
              <a:ext uri="{FF2B5EF4-FFF2-40B4-BE49-F238E27FC236}">
                <a16:creationId xmlns:a16="http://schemas.microsoft.com/office/drawing/2014/main" id="{14804D5D-7855-492D-A0DD-837DD07C9A3C}"/>
              </a:ext>
            </a:extLst>
          </p:cNvPr>
          <p:cNvSpPr>
            <a:spLocks xmlns:a="http://schemas.openxmlformats.org/drawingml/2006/main" noGrp="1"/>
          </p:cNvSpPr>
          <p:nvPr/>
        </p:nvSpPr>
        <p:spPr>
          <a:xfrm xmlns:a="http://schemas.openxmlformats.org/drawingml/2006/main">
            <a:off x="502920" y="5292090"/>
            <a:ext cx="329184" cy="329184"/>
          </a:xfrm>
          <a:prstGeom xmlns:a="http://schemas.openxmlformats.org/drawingml/2006/main" prst="ellipse">
            <a:avLst/>
          </a:prstGeom>
          <a:solidFill xmlns:a="http://schemas.openxmlformats.org/drawingml/2006/main">
            <a:srgbClr val="8DC63F"/>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4</a:t>
            </a:r>
            <a:endParaRPr sz="1300"/>
          </a:p>
        </p:txBody>
      </p:sp>
      <p:sp>
        <p:nvSpPr>
          <p:cNvPr id="18" name="Text 15">
            <a:extLst xmlns:a="http://schemas.openxmlformats.org/drawingml/2006/main">
              <a:ext uri="{FF2B5EF4-FFF2-40B4-BE49-F238E27FC236}">
                <a16:creationId xmlns:a16="http://schemas.microsoft.com/office/drawing/2014/main" id="{301CDF3F-8166-4288-9190-198BF7CAFD17}"/>
              </a:ext>
            </a:extLst>
          </p:cNvPr>
          <p:cNvSpPr>
            <a:spLocks xmlns:a="http://schemas.openxmlformats.org/drawingml/2006/main" noGrp="1"/>
          </p:cNvSpPr>
          <p:nvPr/>
        </p:nvSpPr>
        <p:spPr>
          <a:xfrm xmlns:a="http://schemas.openxmlformats.org/drawingml/2006/main">
            <a:off x="1005840" y="523722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Test-writing kata (pairs, 10 min)</a:t>
            </a:r>
            <a:endParaRPr sz="1350"/>
          </a:p>
        </p:txBody>
      </p:sp>
      <p:sp>
        <p:nvSpPr>
          <p:cNvPr id="19" name="Text 16">
            <a:extLst xmlns:a="http://schemas.openxmlformats.org/drawingml/2006/main">
              <a:ext uri="{FF2B5EF4-FFF2-40B4-BE49-F238E27FC236}">
                <a16:creationId xmlns:a16="http://schemas.microsoft.com/office/drawing/2014/main" id="{6186AF44-46C7-4596-9EE0-7E6E16349E7B}"/>
              </a:ext>
            </a:extLst>
          </p:cNvPr>
          <p:cNvSpPr>
            <a:spLocks xmlns:a="http://schemas.openxmlformats.org/drawingml/2006/main" noGrp="1"/>
          </p:cNvSpPr>
          <p:nvPr/>
        </p:nvSpPr>
        <p:spPr>
          <a:xfrm xmlns:a="http://schemas.openxmlformats.org/drawingml/2006/main">
            <a:off x="1005840" y="553897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Three bug reports; write the test that would have caught each — before seeing any fix.</a:t>
            </a:r>
            <a:endParaRPr sz="1050"/>
          </a:p>
        </p:txBody>
      </p:sp>
    </p:spTree>
    <p:extLst>
      <p:ext uri="{BB962C8B-B14F-4D97-AF65-F5344CB8AC3E}">
        <p14:creationId xmlns:p14="http://schemas.microsoft.com/office/powerpoint/2010/main" val="858125801"/>
      </p:ext>
    </p:extLst>
  </p:cSld>
</p:sld>
</file>

<file path=ppt/slides/slide9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B6B5E4A-550F-4684-9253-7C14EB4368AE}"/>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Case study — LLM router regression</a:t>
            </a:r>
            <a:endParaRPr sz="2600"/>
          </a:p>
        </p:txBody>
      </p:sp>
      <p:sp>
        <p:nvSpPr>
          <p:cNvPr id="3" name="Text 1">
            <a:extLst xmlns:a="http://schemas.openxmlformats.org/drawingml/2006/main">
              <a:ext uri="{FF2B5EF4-FFF2-40B4-BE49-F238E27FC236}">
                <a16:creationId xmlns:a16="http://schemas.microsoft.com/office/drawing/2014/main" id="{2033283E-E4F0-43CE-9C02-0FE5B87D84D9}"/>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دراسة حالة — انحدار موجِّه دعم العملاء</a:t>
            </a:r>
            <a:endParaRPr sz="1300"/>
          </a:p>
        </p:txBody>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8e3c7c0d4acc4e72"/>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18F62D67-5FC6-4A9C-ACEF-28453C3CF864}"/>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909B4070-34BD-4E05-87C9-82A9D81C1DBC}"/>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4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F31F9605-E459-4C3B-B6F9-199C900A4963}"/>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98</a:t>
            </a:r>
            <a:endParaRPr sz="850"/>
          </a:p>
        </p:txBody>
      </p:sp>
      <p:sp>
        <p:nvSpPr>
          <p:cNvPr id="8" name="Text 5">
            <a:extLst xmlns:a="http://schemas.openxmlformats.org/drawingml/2006/main">
              <a:ext uri="{FF2B5EF4-FFF2-40B4-BE49-F238E27FC236}">
                <a16:creationId xmlns:a16="http://schemas.microsoft.com/office/drawing/2014/main" id="{5933B040-BE0B-44B7-B86D-8A4B1E764DEA}"/>
              </a:ext>
            </a:extLst>
          </p:cNvPr>
          <p:cNvSpPr>
            <a:spLocks xmlns:a="http://schemas.openxmlformats.org/drawingml/2006/main" noGrp="1"/>
          </p:cNvSpPr>
          <p:nvPr/>
        </p:nvSpPr>
        <p:spPr>
          <a:xfrm xmlns:a="http://schemas.openxmlformats.org/drawingml/2006/main">
            <a:off x="502920" y="1444752"/>
            <a:ext cx="1554480" cy="310896"/>
          </a:xfrm>
          <a:prstGeom xmlns:a="http://schemas.openxmlformats.org/drawingml/2006/main" prst="roundRect">
            <a:avLst>
              <a:gd name="adj" fmla="val 1764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CASE STUDY</a:t>
            </a:r>
            <a:endParaRPr sz="950"/>
          </a:p>
        </p:txBody>
      </p:sp>
      <p:sp>
        <p:nvSpPr>
          <p:cNvPr id="9" name="Text 6">
            <a:extLst xmlns:a="http://schemas.openxmlformats.org/drawingml/2006/main">
              <a:ext uri="{FF2B5EF4-FFF2-40B4-BE49-F238E27FC236}">
                <a16:creationId xmlns:a16="http://schemas.microsoft.com/office/drawing/2014/main" id="{CDE63EC6-D0D6-4094-BB12-51AFA83D2329}"/>
              </a:ext>
            </a:extLst>
          </p:cNvPr>
          <p:cNvSpPr>
            <a:spLocks xmlns:a="http://schemas.openxmlformats.org/drawingml/2006/main" noGrp="1"/>
          </p:cNvSpPr>
          <p:nvPr/>
        </p:nvSpPr>
        <p:spPr>
          <a:xfrm xmlns:a="http://schemas.openxmlformats.org/drawingml/2006/main">
            <a:off x="2240280" y="1444752"/>
            <a:ext cx="2377440" cy="310896"/>
          </a:xfrm>
          <a:prstGeom xmlns:a="http://schemas.openxmlformats.org/drawingml/2006/main" prst="roundRect">
            <a:avLst>
              <a:gd name="adj" fmla="val 17647"/>
            </a:avLst>
          </a:prstGeom>
          <a:solidFill xmlns:a="http://schemas.openxmlformats.org/drawingml/2006/main">
            <a:srgbClr val="EEF3FB"/>
          </a:solidFill>
          <a:ln xmlns:a="http://schemas.openxmlformats.org/drawingml/2006/main" w="12700">
            <a:solidFill>
              <a:srgbClr val="D9E4F5"/>
            </a:solidFill>
          </a:ln>
        </p:spPr>
        <p:txBody>
          <a:bodyPr xmlns:a="http://schemas.openxmlformats.org/drawingml/2006/main" wrap="square" anchor="ctr"/>
          <a:lstStyle xmlns:a="http://schemas.openxmlformats.org/drawingml/2006/main"/>
          <a:p xmlns:a="http://schemas.openxmlformats.org/drawingml/2006/main">
            <a:pPr marL="0" indent="0" algn="ctr">
              <a:buNone/>
            </a:pPr>
            <a:r>
              <a:rPr sz="950" b="1">
                <a:solidFill>
                  <a:srgbClr val="1D2A5C"/>
                </a:solidFill>
                <a:latin typeface="Calibri"/>
                <a:ea typeface="Calibri"/>
                <a:cs typeface="Calibri"/>
              </a:rPr>
              <a:t>Telecom · Saudi Arabia</a:t>
            </a:r>
            <a:endParaRPr sz="950"/>
          </a:p>
        </p:txBody>
      </p:sp>
      <p:sp>
        <p:nvSpPr>
          <p:cNvPr id="10" name="Text 7">
            <a:extLst xmlns:a="http://schemas.openxmlformats.org/drawingml/2006/main">
              <a:ext uri="{FF2B5EF4-FFF2-40B4-BE49-F238E27FC236}">
                <a16:creationId xmlns:a16="http://schemas.microsoft.com/office/drawing/2014/main" id="{C451411C-966B-4F3F-8F6C-C4AEED5EA272}"/>
              </a:ext>
            </a:extLst>
          </p:cNvPr>
          <p:cNvSpPr>
            <a:spLocks xmlns:a="http://schemas.openxmlformats.org/drawingml/2006/main" noGrp="1"/>
          </p:cNvSpPr>
          <p:nvPr/>
        </p:nvSpPr>
        <p:spPr>
          <a:xfrm xmlns:a="http://schemas.openxmlformats.org/drawingml/2006/main">
            <a:off x="502920" y="1938528"/>
            <a:ext cx="658368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A support assistant routes utterances to 14 intent handlers via an LLM + rules hybrid — 60k conversations/day under regulator SLAs. A prompt 'improvement' silently re-routed 8% of billing disputes to the FAQ handler.</a:t>
            </a:r>
            <a:endParaRPr sz="1100"/>
          </a:p>
        </p:txBody>
      </p:sp>
      <p:sp>
        <p:nvSpPr>
          <p:cNvPr id="11" name="Shape 8">
            <a:extLst xmlns:a="http://schemas.openxmlformats.org/drawingml/2006/main">
              <a:ext uri="{FF2B5EF4-FFF2-40B4-BE49-F238E27FC236}">
                <a16:creationId xmlns:a16="http://schemas.microsoft.com/office/drawing/2014/main" id="{08E3C360-FDBA-4533-AEEC-412B0B8B0E9A}"/>
              </a:ext>
            </a:extLst>
          </p:cNvPr>
          <p:cNvSpPr>
            <a:spLocks xmlns:a="http://schemas.openxmlformats.org/drawingml/2006/main" noGrp="1"/>
          </p:cNvSpPr>
          <p:nvPr/>
        </p:nvSpPr>
        <p:spPr>
          <a:xfrm xmlns:a="http://schemas.openxmlformats.org/drawingml/2006/main">
            <a:off x="566928" y="3026664"/>
            <a:ext cx="182880" cy="182880"/>
          </a:xfrm>
          <a:prstGeom xmlns:a="http://schemas.openxmlformats.org/drawingml/2006/main" prst="ellipse">
            <a:avLst/>
          </a:prstGeom>
          <a:solidFill xmlns:a="http://schemas.openxmlformats.org/drawingml/2006/main">
            <a:srgbClr val="00A79D"/>
          </a:solidFill>
        </p:spPr>
      </p:sp>
      <p:sp>
        <p:nvSpPr>
          <p:cNvPr id="12" name="Shape 9">
            <a:extLst xmlns:a="http://schemas.openxmlformats.org/drawingml/2006/main">
              <a:ext uri="{FF2B5EF4-FFF2-40B4-BE49-F238E27FC236}">
                <a16:creationId xmlns:a16="http://schemas.microsoft.com/office/drawing/2014/main" id="{DC62BBEC-D25D-4A22-AFB2-2EAA1062254F}"/>
              </a:ext>
            </a:extLst>
          </p:cNvPr>
          <p:cNvSpPr>
            <a:spLocks xmlns:a="http://schemas.openxmlformats.org/drawingml/2006/main" noGrp="1"/>
          </p:cNvSpPr>
          <p:nvPr/>
        </p:nvSpPr>
        <p:spPr>
          <a:xfrm xmlns:a="http://schemas.openxmlformats.org/drawingml/2006/main">
            <a:off x="658368" y="3227832"/>
            <a:ext cx="0" cy="438912"/>
          </a:xfrm>
          <a:prstGeom xmlns:a="http://schemas.openxmlformats.org/drawingml/2006/main" prst="line">
            <a:avLst/>
          </a:prstGeom>
          <a:noFill xmlns:a="http://schemas.openxmlformats.org/drawingml/2006/main"/>
          <a:ln xmlns:a="http://schemas.openxmlformats.org/drawingml/2006/main" w="19050">
            <a:solidFill>
              <a:srgbClr val="D9E4F5"/>
            </a:solidFill>
            <a:prstDash val="solid"/>
          </a:ln>
        </p:spPr>
      </p:sp>
      <p:sp>
        <p:nvSpPr>
          <p:cNvPr id="13" name="Text 10">
            <a:extLst xmlns:a="http://schemas.openxmlformats.org/drawingml/2006/main">
              <a:ext uri="{FF2B5EF4-FFF2-40B4-BE49-F238E27FC236}">
                <a16:creationId xmlns:a16="http://schemas.microsoft.com/office/drawing/2014/main" id="{3FD506D9-DF4A-4D13-AC11-BE4DE5B3622F}"/>
              </a:ext>
            </a:extLst>
          </p:cNvPr>
          <p:cNvSpPr>
            <a:spLocks xmlns:a="http://schemas.openxmlformats.org/drawingml/2006/main" noGrp="1"/>
          </p:cNvSpPr>
          <p:nvPr/>
        </p:nvSpPr>
        <p:spPr>
          <a:xfrm xmlns:a="http://schemas.openxmlformats.org/drawingml/2006/main">
            <a:off x="960120" y="2953512"/>
            <a:ext cx="6126480" cy="6583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1D2A5C"/>
                </a:solidFill>
                <a:latin typeface="Calibri"/>
                <a:ea typeface="Calibri"/>
                <a:cs typeface="Calibri"/>
              </a:rPr>
              <a:t>Prompt change ships  </a:t>
            </a:r>
            <a:r>
              <a:rPr sz="1000">
                <a:solidFill>
                  <a:srgbClr val="5F6B7A"/>
                </a:solidFill>
                <a:latin typeface="Calibri"/>
                <a:ea typeface="Calibri"/>
                <a:cs typeface="Calibri"/>
              </a:rPr>
              <a:t>no regression net — 8% of billing-dispute messages re-route to the FAQ handler</a:t>
            </a:r>
            <a:endParaRPr sz="1050"/>
          </a:p>
        </p:txBody>
      </p:sp>
      <p:sp>
        <p:nvSpPr>
          <p:cNvPr id="14" name="Shape 11">
            <a:extLst xmlns:a="http://schemas.openxmlformats.org/drawingml/2006/main">
              <a:ext uri="{FF2B5EF4-FFF2-40B4-BE49-F238E27FC236}">
                <a16:creationId xmlns:a16="http://schemas.microsoft.com/office/drawing/2014/main" id="{D4AF25F1-7820-4BE2-BD7F-F2F1448ADA7E}"/>
              </a:ext>
            </a:extLst>
          </p:cNvPr>
          <p:cNvSpPr>
            <a:spLocks xmlns:a="http://schemas.openxmlformats.org/drawingml/2006/main" noGrp="1"/>
          </p:cNvSpPr>
          <p:nvPr/>
        </p:nvSpPr>
        <p:spPr>
          <a:xfrm xmlns:a="http://schemas.openxmlformats.org/drawingml/2006/main">
            <a:off x="566928" y="3685032"/>
            <a:ext cx="182880" cy="182880"/>
          </a:xfrm>
          <a:prstGeom xmlns:a="http://schemas.openxmlformats.org/drawingml/2006/main" prst="ellipse">
            <a:avLst/>
          </a:prstGeom>
          <a:solidFill xmlns:a="http://schemas.openxmlformats.org/drawingml/2006/main">
            <a:srgbClr val="29ABE2"/>
          </a:solidFill>
        </p:spPr>
      </p:sp>
      <p:sp>
        <p:nvSpPr>
          <p:cNvPr id="15" name="Shape 12">
            <a:extLst xmlns:a="http://schemas.openxmlformats.org/drawingml/2006/main">
              <a:ext uri="{FF2B5EF4-FFF2-40B4-BE49-F238E27FC236}">
                <a16:creationId xmlns:a16="http://schemas.microsoft.com/office/drawing/2014/main" id="{743ED6D2-39E1-48EA-B330-0B7535927584}"/>
              </a:ext>
            </a:extLst>
          </p:cNvPr>
          <p:cNvSpPr>
            <a:spLocks xmlns:a="http://schemas.openxmlformats.org/drawingml/2006/main" noGrp="1"/>
          </p:cNvSpPr>
          <p:nvPr/>
        </p:nvSpPr>
        <p:spPr>
          <a:xfrm xmlns:a="http://schemas.openxmlformats.org/drawingml/2006/main">
            <a:off x="658368" y="3886200"/>
            <a:ext cx="0" cy="438912"/>
          </a:xfrm>
          <a:prstGeom xmlns:a="http://schemas.openxmlformats.org/drawingml/2006/main" prst="line">
            <a:avLst/>
          </a:prstGeom>
          <a:noFill xmlns:a="http://schemas.openxmlformats.org/drawingml/2006/main"/>
          <a:ln xmlns:a="http://schemas.openxmlformats.org/drawingml/2006/main" w="19050">
            <a:solidFill>
              <a:srgbClr val="D9E4F5"/>
            </a:solidFill>
            <a:prstDash val="solid"/>
          </a:ln>
        </p:spPr>
      </p:sp>
      <p:sp>
        <p:nvSpPr>
          <p:cNvPr id="16" name="Text 13">
            <a:extLst xmlns:a="http://schemas.openxmlformats.org/drawingml/2006/main">
              <a:ext uri="{FF2B5EF4-FFF2-40B4-BE49-F238E27FC236}">
                <a16:creationId xmlns:a16="http://schemas.microsoft.com/office/drawing/2014/main" id="{D014F066-7B42-4750-94A5-B1778EF7FEC3}"/>
              </a:ext>
            </a:extLst>
          </p:cNvPr>
          <p:cNvSpPr>
            <a:spLocks xmlns:a="http://schemas.openxmlformats.org/drawingml/2006/main" noGrp="1"/>
          </p:cNvSpPr>
          <p:nvPr/>
        </p:nvSpPr>
        <p:spPr>
          <a:xfrm xmlns:a="http://schemas.openxmlformats.org/drawingml/2006/main">
            <a:off x="960120" y="3611880"/>
            <a:ext cx="6126480" cy="6583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1D2A5C"/>
                </a:solidFill>
                <a:latin typeface="Calibri"/>
                <a:ea typeface="Calibri"/>
                <a:cs typeface="Calibri"/>
              </a:rPr>
              <a:t>Two weeks of silent damage  </a:t>
            </a:r>
            <a:r>
              <a:rPr sz="1000">
                <a:solidFill>
                  <a:srgbClr val="5F6B7A"/>
                </a:solidFill>
                <a:latin typeface="Calibri"/>
                <a:ea typeface="Calibri"/>
                <a:cs typeface="Calibri"/>
              </a:rPr>
              <a:t>CSAT drops before anyone connects the drop to the prompt edit</a:t>
            </a:r>
            <a:endParaRPr sz="1050"/>
          </a:p>
        </p:txBody>
      </p:sp>
      <p:sp>
        <p:nvSpPr>
          <p:cNvPr id="17" name="Shape 14">
            <a:extLst xmlns:a="http://schemas.openxmlformats.org/drawingml/2006/main">
              <a:ext uri="{FF2B5EF4-FFF2-40B4-BE49-F238E27FC236}">
                <a16:creationId xmlns:a16="http://schemas.microsoft.com/office/drawing/2014/main" id="{ADF9F2BE-9D61-47C4-A7DB-631ED8087C45}"/>
              </a:ext>
            </a:extLst>
          </p:cNvPr>
          <p:cNvSpPr>
            <a:spLocks xmlns:a="http://schemas.openxmlformats.org/drawingml/2006/main" noGrp="1"/>
          </p:cNvSpPr>
          <p:nvPr/>
        </p:nvSpPr>
        <p:spPr>
          <a:xfrm xmlns:a="http://schemas.openxmlformats.org/drawingml/2006/main">
            <a:off x="566928" y="4343400"/>
            <a:ext cx="182880" cy="182880"/>
          </a:xfrm>
          <a:prstGeom xmlns:a="http://schemas.openxmlformats.org/drawingml/2006/main" prst="ellipse">
            <a:avLst/>
          </a:prstGeom>
          <a:solidFill xmlns:a="http://schemas.openxmlformats.org/drawingml/2006/main">
            <a:srgbClr val="F58220"/>
          </a:solidFill>
        </p:spPr>
      </p:sp>
      <p:sp>
        <p:nvSpPr>
          <p:cNvPr id="18" name="Shape 15">
            <a:extLst xmlns:a="http://schemas.openxmlformats.org/drawingml/2006/main">
              <a:ext uri="{FF2B5EF4-FFF2-40B4-BE49-F238E27FC236}">
                <a16:creationId xmlns:a16="http://schemas.microsoft.com/office/drawing/2014/main" id="{37DAC7B8-CED4-4D6E-9860-D14607F37E43}"/>
              </a:ext>
            </a:extLst>
          </p:cNvPr>
          <p:cNvSpPr>
            <a:spLocks xmlns:a="http://schemas.openxmlformats.org/drawingml/2006/main" noGrp="1"/>
          </p:cNvSpPr>
          <p:nvPr/>
        </p:nvSpPr>
        <p:spPr>
          <a:xfrm xmlns:a="http://schemas.openxmlformats.org/drawingml/2006/main">
            <a:off x="658368" y="4544568"/>
            <a:ext cx="0" cy="438912"/>
          </a:xfrm>
          <a:prstGeom xmlns:a="http://schemas.openxmlformats.org/drawingml/2006/main" prst="line">
            <a:avLst/>
          </a:prstGeom>
          <a:noFill xmlns:a="http://schemas.openxmlformats.org/drawingml/2006/main"/>
          <a:ln xmlns:a="http://schemas.openxmlformats.org/drawingml/2006/main" w="19050">
            <a:solidFill>
              <a:srgbClr val="D9E4F5"/>
            </a:solidFill>
            <a:prstDash val="solid"/>
          </a:ln>
        </p:spPr>
      </p:sp>
      <p:sp>
        <p:nvSpPr>
          <p:cNvPr id="19" name="Text 16">
            <a:extLst xmlns:a="http://schemas.openxmlformats.org/drawingml/2006/main">
              <a:ext uri="{FF2B5EF4-FFF2-40B4-BE49-F238E27FC236}">
                <a16:creationId xmlns:a16="http://schemas.microsoft.com/office/drawing/2014/main" id="{C8288DC2-D0FE-4BC1-9864-4D3A35E5ED13}"/>
              </a:ext>
            </a:extLst>
          </p:cNvPr>
          <p:cNvSpPr>
            <a:spLocks xmlns:a="http://schemas.openxmlformats.org/drawingml/2006/main" noGrp="1"/>
          </p:cNvSpPr>
          <p:nvPr/>
        </p:nvSpPr>
        <p:spPr>
          <a:xfrm xmlns:a="http://schemas.openxmlformats.org/drawingml/2006/main">
            <a:off x="960120" y="4270248"/>
            <a:ext cx="6126480" cy="6583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1D2A5C"/>
                </a:solidFill>
                <a:latin typeface="Calibri"/>
                <a:ea typeface="Calibri"/>
                <a:cs typeface="Calibri"/>
              </a:rPr>
              <a:t>Golden routing file built  </a:t>
            </a:r>
            <a:r>
              <a:rPr sz="1000">
                <a:solidFill>
                  <a:srgbClr val="5F6B7A"/>
                </a:solidFill>
                <a:latin typeface="Calibri"/>
                <a:ea typeface="Calibri"/>
                <a:cs typeface="Calibri"/>
              </a:rPr>
              <a:t>300 synthetic canonical utterances (AR/EN) × expected handler — no customer PII in the repo</a:t>
            </a:r>
            <a:endParaRPr sz="1050"/>
          </a:p>
        </p:txBody>
      </p:sp>
      <p:sp>
        <p:nvSpPr>
          <p:cNvPr id="20" name="Shape 17">
            <a:extLst xmlns:a="http://schemas.openxmlformats.org/drawingml/2006/main">
              <a:ext uri="{FF2B5EF4-FFF2-40B4-BE49-F238E27FC236}">
                <a16:creationId xmlns:a16="http://schemas.microsoft.com/office/drawing/2014/main" id="{E5BE5AB9-3315-424A-9F75-0685E179999F}"/>
              </a:ext>
            </a:extLst>
          </p:cNvPr>
          <p:cNvSpPr>
            <a:spLocks xmlns:a="http://schemas.openxmlformats.org/drawingml/2006/main" noGrp="1"/>
          </p:cNvSpPr>
          <p:nvPr/>
        </p:nvSpPr>
        <p:spPr>
          <a:xfrm xmlns:a="http://schemas.openxmlformats.org/drawingml/2006/main">
            <a:off x="566928" y="5001768"/>
            <a:ext cx="182880" cy="182880"/>
          </a:xfrm>
          <a:prstGeom xmlns:a="http://schemas.openxmlformats.org/drawingml/2006/main" prst="ellipse">
            <a:avLst/>
          </a:prstGeom>
          <a:solidFill xmlns:a="http://schemas.openxmlformats.org/drawingml/2006/main">
            <a:srgbClr val="8DC63F"/>
          </a:solidFill>
        </p:spPr>
      </p:sp>
      <p:sp>
        <p:nvSpPr>
          <p:cNvPr id="21" name="Shape 18">
            <a:extLst xmlns:a="http://schemas.openxmlformats.org/drawingml/2006/main">
              <a:ext uri="{FF2B5EF4-FFF2-40B4-BE49-F238E27FC236}">
                <a16:creationId xmlns:a16="http://schemas.microsoft.com/office/drawing/2014/main" id="{4E0BF4B8-C23F-4BE0-81EC-7DE88AB29C82}"/>
              </a:ext>
            </a:extLst>
          </p:cNvPr>
          <p:cNvSpPr>
            <a:spLocks xmlns:a="http://schemas.openxmlformats.org/drawingml/2006/main" noGrp="1"/>
          </p:cNvSpPr>
          <p:nvPr/>
        </p:nvSpPr>
        <p:spPr>
          <a:xfrm xmlns:a="http://schemas.openxmlformats.org/drawingml/2006/main">
            <a:off x="658368" y="5202936"/>
            <a:ext cx="0" cy="438912"/>
          </a:xfrm>
          <a:prstGeom xmlns:a="http://schemas.openxmlformats.org/drawingml/2006/main" prst="line">
            <a:avLst/>
          </a:prstGeom>
          <a:noFill xmlns:a="http://schemas.openxmlformats.org/drawingml/2006/main"/>
          <a:ln xmlns:a="http://schemas.openxmlformats.org/drawingml/2006/main" w="19050">
            <a:solidFill>
              <a:srgbClr val="D9E4F5"/>
            </a:solidFill>
            <a:prstDash val="solid"/>
          </a:ln>
        </p:spPr>
      </p:sp>
      <p:sp>
        <p:nvSpPr>
          <p:cNvPr id="22" name="Text 19">
            <a:extLst xmlns:a="http://schemas.openxmlformats.org/drawingml/2006/main">
              <a:ext uri="{FF2B5EF4-FFF2-40B4-BE49-F238E27FC236}">
                <a16:creationId xmlns:a16="http://schemas.microsoft.com/office/drawing/2014/main" id="{632C1D82-7A5F-4EE9-8BE0-57C6893D7627}"/>
              </a:ext>
            </a:extLst>
          </p:cNvPr>
          <p:cNvSpPr>
            <a:spLocks xmlns:a="http://schemas.openxmlformats.org/drawingml/2006/main" noGrp="1"/>
          </p:cNvSpPr>
          <p:nvPr/>
        </p:nvSpPr>
        <p:spPr>
          <a:xfrm xmlns:a="http://schemas.openxmlformats.org/drawingml/2006/main">
            <a:off x="960120" y="4928616"/>
            <a:ext cx="6126480" cy="6583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1D2A5C"/>
                </a:solidFill>
                <a:latin typeface="Calibri"/>
                <a:ea typeface="Calibri"/>
                <a:cs typeface="Calibri"/>
              </a:rPr>
              <a:t>Deterministic gate  </a:t>
            </a:r>
            <a:r>
              <a:rPr sz="1000">
                <a:solidFill>
                  <a:srgbClr val="5F6B7A"/>
                </a:solidFill>
                <a:latin typeface="Calibri"/>
                <a:ea typeface="Calibri"/>
                <a:cs typeface="Calibri"/>
              </a:rPr>
              <a:t>temperature 0 + pinned model version; ≥ 98% match required, diffs reported by intent</a:t>
            </a:r>
            <a:endParaRPr sz="1050"/>
          </a:p>
        </p:txBody>
      </p:sp>
      <p:sp>
        <p:nvSpPr>
          <p:cNvPr id="23" name="Shape 20">
            <a:extLst xmlns:a="http://schemas.openxmlformats.org/drawingml/2006/main">
              <a:ext uri="{FF2B5EF4-FFF2-40B4-BE49-F238E27FC236}">
                <a16:creationId xmlns:a16="http://schemas.microsoft.com/office/drawing/2014/main" id="{0213FF0F-5667-4653-AA28-3C7A98A98FA0}"/>
              </a:ext>
            </a:extLst>
          </p:cNvPr>
          <p:cNvSpPr>
            <a:spLocks xmlns:a="http://schemas.openxmlformats.org/drawingml/2006/main" noGrp="1"/>
          </p:cNvSpPr>
          <p:nvPr/>
        </p:nvSpPr>
        <p:spPr>
          <a:xfrm xmlns:a="http://schemas.openxmlformats.org/drawingml/2006/main">
            <a:off x="566928" y="5660136"/>
            <a:ext cx="182880" cy="182880"/>
          </a:xfrm>
          <a:prstGeom xmlns:a="http://schemas.openxmlformats.org/drawingml/2006/main" prst="ellipse">
            <a:avLst/>
          </a:prstGeom>
          <a:solidFill xmlns:a="http://schemas.openxmlformats.org/drawingml/2006/main">
            <a:srgbClr val="E8503A"/>
          </a:solidFill>
        </p:spPr>
      </p:sp>
      <p:sp>
        <p:nvSpPr>
          <p:cNvPr id="24" name="Text 21">
            <a:extLst xmlns:a="http://schemas.openxmlformats.org/drawingml/2006/main">
              <a:ext uri="{FF2B5EF4-FFF2-40B4-BE49-F238E27FC236}">
                <a16:creationId xmlns:a16="http://schemas.microsoft.com/office/drawing/2014/main" id="{13681436-707F-4850-AD12-37AB254DDFD1}"/>
              </a:ext>
            </a:extLst>
          </p:cNvPr>
          <p:cNvSpPr>
            <a:spLocks xmlns:a="http://schemas.openxmlformats.org/drawingml/2006/main" noGrp="1"/>
          </p:cNvSpPr>
          <p:nvPr/>
        </p:nvSpPr>
        <p:spPr>
          <a:xfrm xmlns:a="http://schemas.openxmlformats.org/drawingml/2006/main">
            <a:off x="960120" y="5586984"/>
            <a:ext cx="6126480" cy="6583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1D2A5C"/>
                </a:solidFill>
                <a:latin typeface="Calibri"/>
                <a:ea typeface="Calibri"/>
                <a:cs typeface="Calibri"/>
              </a:rPr>
              <a:t>Recorded vs live modes  </a:t>
            </a:r>
            <a:r>
              <a:rPr sz="1000">
                <a:solidFill>
                  <a:srgbClr val="5F6B7A"/>
                </a:solidFill>
                <a:latin typeface="Calibri"/>
                <a:ea typeface="Calibri"/>
                <a:cs typeface="Calibri"/>
              </a:rPr>
              <a:t>VCR-style recorded responses keep CI under 5 min; live mode runs nightly</a:t>
            </a:r>
            <a:endParaRPr sz="1050"/>
          </a:p>
        </p:txBody>
      </p:sp>
      <p:sp>
        <p:nvSpPr>
          <p:cNvPr id="25" name="Shape 22">
            <a:extLst xmlns:a="http://schemas.openxmlformats.org/drawingml/2006/main">
              <a:ext uri="{FF2B5EF4-FFF2-40B4-BE49-F238E27FC236}">
                <a16:creationId xmlns:a16="http://schemas.microsoft.com/office/drawing/2014/main" id="{F39515AC-9A54-4D0D-BE19-575A3F7B9F23}"/>
              </a:ext>
            </a:extLst>
          </p:cNvPr>
          <p:cNvSpPr>
            <a:spLocks xmlns:a="http://schemas.openxmlformats.org/drawingml/2006/main" noGrp="1"/>
          </p:cNvSpPr>
          <p:nvPr/>
        </p:nvSpPr>
        <p:spPr>
          <a:xfrm xmlns:a="http://schemas.openxmlformats.org/drawingml/2006/main">
            <a:off x="7406640" y="1938528"/>
            <a:ext cx="4279392" cy="4160520"/>
          </a:xfrm>
          <a:prstGeom xmlns:a="http://schemas.openxmlformats.org/drawingml/2006/main" prst="roundRect">
            <a:avLst>
              <a:gd name="adj" fmla="val 1538"/>
            </a:avLst>
          </a:prstGeom>
          <a:solidFill xmlns:a="http://schemas.openxmlformats.org/drawingml/2006/main">
            <a:srgbClr val="EAF4DC"/>
          </a:solidFill>
        </p:spPr>
      </p:sp>
      <p:sp>
        <p:nvSpPr>
          <p:cNvPr id="26" name="Text 23">
            <a:extLst xmlns:a="http://schemas.openxmlformats.org/drawingml/2006/main">
              <a:ext uri="{FF2B5EF4-FFF2-40B4-BE49-F238E27FC236}">
                <a16:creationId xmlns:a16="http://schemas.microsoft.com/office/drawing/2014/main" id="{E951C2C7-9AEF-4764-8441-49D37AF1D95C}"/>
              </a:ext>
            </a:extLst>
          </p:cNvPr>
          <p:cNvSpPr>
            <a:spLocks xmlns:a="http://schemas.openxmlformats.org/drawingml/2006/main" noGrp="1"/>
          </p:cNvSpPr>
          <p:nvPr/>
        </p:nvSpPr>
        <p:spPr>
          <a:xfrm xmlns:a="http://schemas.openxmlformats.org/drawingml/2006/main">
            <a:off x="7607808" y="2103120"/>
            <a:ext cx="3877056"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b="1" spc="150">
                <a:solidFill>
                  <a:srgbClr val="4A7A15"/>
                </a:solidFill>
                <a:latin typeface="Calibri"/>
                <a:ea typeface="Calibri"/>
                <a:cs typeface="Calibri"/>
              </a:rPr>
              <a:t>LESSONS FOR YOUR SERVICE</a:t>
            </a:r>
            <a:endParaRPr sz="950"/>
          </a:p>
        </p:txBody>
      </p:sp>
      <p:sp>
        <p:nvSpPr>
          <p:cNvPr id="27" name="Text 24">
            <a:extLst xmlns:a="http://schemas.openxmlformats.org/drawingml/2006/main">
              <a:ext uri="{FF2B5EF4-FFF2-40B4-BE49-F238E27FC236}">
                <a16:creationId xmlns:a16="http://schemas.microsoft.com/office/drawing/2014/main" id="{9F2B2B0E-6BDC-4E60-A9E9-1AF5587ED123}"/>
              </a:ext>
            </a:extLst>
          </p:cNvPr>
          <p:cNvSpPr>
            <a:spLocks xmlns:a="http://schemas.openxmlformats.org/drawingml/2006/main" noGrp="1"/>
          </p:cNvSpPr>
          <p:nvPr/>
        </p:nvSpPr>
        <p:spPr>
          <a:xfrm xmlns:a="http://schemas.openxmlformats.org/drawingml/2006/main">
            <a:off x="7607808" y="2487168"/>
            <a:ext cx="256032"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5A8F1F"/>
                </a:solidFill>
                <a:latin typeface="Calibri"/>
                <a:ea typeface="Calibri"/>
                <a:cs typeface="Calibri"/>
              </a:rPr>
              <a:t>✓</a:t>
            </a:r>
            <a:endParaRPr sz="1100"/>
          </a:p>
        </p:txBody>
      </p:sp>
      <p:sp>
        <p:nvSpPr>
          <p:cNvPr id="28" name="Text 25">
            <a:extLst xmlns:a="http://schemas.openxmlformats.org/drawingml/2006/main">
              <a:ext uri="{FF2B5EF4-FFF2-40B4-BE49-F238E27FC236}">
                <a16:creationId xmlns:a16="http://schemas.microsoft.com/office/drawing/2014/main" id="{32D279EC-09AC-4DD3-9CF7-D86E14718190}"/>
              </a:ext>
            </a:extLst>
          </p:cNvPr>
          <p:cNvSpPr>
            <a:spLocks xmlns:a="http://schemas.openxmlformats.org/drawingml/2006/main" noGrp="1"/>
          </p:cNvSpPr>
          <p:nvPr/>
        </p:nvSpPr>
        <p:spPr>
          <a:xfrm xmlns:a="http://schemas.openxmlformats.org/drawingml/2006/main">
            <a:off x="7909560" y="2468880"/>
            <a:ext cx="3547872"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3F5A18"/>
                </a:solidFill>
                <a:latin typeface="Calibri"/>
                <a:ea typeface="Calibri"/>
                <a:cs typeface="Calibri"/>
              </a:rPr>
              <a:t>LLM outputs resist classic asserts — golden files with a tolerance policy fit where equality cannot</a:t>
            </a:r>
            <a:endParaRPr sz="1000"/>
          </a:p>
        </p:txBody>
      </p:sp>
      <p:sp>
        <p:nvSpPr>
          <p:cNvPr id="29" name="Text 26">
            <a:extLst xmlns:a="http://schemas.openxmlformats.org/drawingml/2006/main">
              <a:ext uri="{FF2B5EF4-FFF2-40B4-BE49-F238E27FC236}">
                <a16:creationId xmlns:a16="http://schemas.microsoft.com/office/drawing/2014/main" id="{1B903922-DB4C-4E73-9DE4-1D8D76619173}"/>
              </a:ext>
            </a:extLst>
          </p:cNvPr>
          <p:cNvSpPr>
            <a:spLocks xmlns:a="http://schemas.openxmlformats.org/drawingml/2006/main" noGrp="1"/>
          </p:cNvSpPr>
          <p:nvPr/>
        </p:nvSpPr>
        <p:spPr>
          <a:xfrm xmlns:a="http://schemas.openxmlformats.org/drawingml/2006/main">
            <a:off x="7607808" y="3355848"/>
            <a:ext cx="256032"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5A8F1F"/>
                </a:solidFill>
                <a:latin typeface="Calibri"/>
                <a:ea typeface="Calibri"/>
                <a:cs typeface="Calibri"/>
              </a:rPr>
              <a:t>✓</a:t>
            </a:r>
            <a:endParaRPr sz="1100"/>
          </a:p>
        </p:txBody>
      </p:sp>
      <p:sp>
        <p:nvSpPr>
          <p:cNvPr id="30" name="Text 27">
            <a:extLst xmlns:a="http://schemas.openxmlformats.org/drawingml/2006/main">
              <a:ext uri="{FF2B5EF4-FFF2-40B4-BE49-F238E27FC236}">
                <a16:creationId xmlns:a16="http://schemas.microsoft.com/office/drawing/2014/main" id="{F0C1AE55-28BE-4F03-A1F8-D00D817544B7}"/>
              </a:ext>
            </a:extLst>
          </p:cNvPr>
          <p:cNvSpPr>
            <a:spLocks xmlns:a="http://schemas.openxmlformats.org/drawingml/2006/main" noGrp="1"/>
          </p:cNvSpPr>
          <p:nvPr/>
        </p:nvSpPr>
        <p:spPr>
          <a:xfrm xmlns:a="http://schemas.openxmlformats.org/drawingml/2006/main">
            <a:off x="7909560" y="3337560"/>
            <a:ext cx="3547872"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3F5A18"/>
                </a:solidFill>
                <a:latin typeface="Calibri"/>
                <a:ea typeface="Calibri"/>
                <a:cs typeface="Calibri"/>
              </a:rPr>
              <a:t>Every prompt change requires golden-diff review in the PR — the diff IS the review artefact</a:t>
            </a:r>
            <a:endParaRPr sz="1000"/>
          </a:p>
        </p:txBody>
      </p:sp>
      <p:sp>
        <p:nvSpPr>
          <p:cNvPr id="31" name="Text 28">
            <a:extLst xmlns:a="http://schemas.openxmlformats.org/drawingml/2006/main">
              <a:ext uri="{FF2B5EF4-FFF2-40B4-BE49-F238E27FC236}">
                <a16:creationId xmlns:a16="http://schemas.microsoft.com/office/drawing/2014/main" id="{07835FCA-E493-487F-BED5-9236D0E75BC4}"/>
              </a:ext>
            </a:extLst>
          </p:cNvPr>
          <p:cNvSpPr>
            <a:spLocks xmlns:a="http://schemas.openxmlformats.org/drawingml/2006/main" noGrp="1"/>
          </p:cNvSpPr>
          <p:nvPr/>
        </p:nvSpPr>
        <p:spPr>
          <a:xfrm xmlns:a="http://schemas.openxmlformats.org/drawingml/2006/main">
            <a:off x="7607808" y="4224528"/>
            <a:ext cx="256032"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5A8F1F"/>
                </a:solidFill>
                <a:latin typeface="Calibri"/>
                <a:ea typeface="Calibri"/>
                <a:cs typeface="Calibri"/>
              </a:rPr>
              <a:t>✓</a:t>
            </a:r>
            <a:endParaRPr sz="1100"/>
          </a:p>
        </p:txBody>
      </p:sp>
      <p:sp>
        <p:nvSpPr>
          <p:cNvPr id="32" name="Text 29">
            <a:extLst xmlns:a="http://schemas.openxmlformats.org/drawingml/2006/main">
              <a:ext uri="{FF2B5EF4-FFF2-40B4-BE49-F238E27FC236}">
                <a16:creationId xmlns:a16="http://schemas.microsoft.com/office/drawing/2014/main" id="{4BDA033E-5F86-4570-B1AF-AF019FD0BE86}"/>
              </a:ext>
            </a:extLst>
          </p:cNvPr>
          <p:cNvSpPr>
            <a:spLocks xmlns:a="http://schemas.openxmlformats.org/drawingml/2006/main" noGrp="1"/>
          </p:cNvSpPr>
          <p:nvPr/>
        </p:nvSpPr>
        <p:spPr>
          <a:xfrm xmlns:a="http://schemas.openxmlformats.org/drawingml/2006/main">
            <a:off x="7909560" y="4206240"/>
            <a:ext cx="3547872"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3F5A18"/>
                </a:solidFill>
                <a:latin typeface="Calibri"/>
                <a:ea typeface="Calibri"/>
                <a:cs typeface="Calibri"/>
              </a:rPr>
              <a:t>PII shapes the design: synthetic canonical utterances only, Arabic and English both in scope</a:t>
            </a:r>
            <a:endParaRPr sz="1000"/>
          </a:p>
        </p:txBody>
      </p:sp>
      <p:sp>
        <p:nvSpPr>
          <p:cNvPr id="33" name="Text 30">
            <a:extLst xmlns:a="http://schemas.openxmlformats.org/drawingml/2006/main">
              <a:ext uri="{FF2B5EF4-FFF2-40B4-BE49-F238E27FC236}">
                <a16:creationId xmlns:a16="http://schemas.microsoft.com/office/drawing/2014/main" id="{9D8C2E81-B7B4-4B6C-8706-D4E0001E1B9A}"/>
              </a:ext>
            </a:extLst>
          </p:cNvPr>
          <p:cNvSpPr>
            <a:spLocks xmlns:a="http://schemas.openxmlformats.org/drawingml/2006/main" noGrp="1"/>
          </p:cNvSpPr>
          <p:nvPr/>
        </p:nvSpPr>
        <p:spPr>
          <a:xfrm xmlns:a="http://schemas.openxmlformats.org/drawingml/2006/main">
            <a:off x="7607808" y="5093208"/>
            <a:ext cx="256032"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5A8F1F"/>
                </a:solidFill>
                <a:latin typeface="Calibri"/>
                <a:ea typeface="Calibri"/>
                <a:cs typeface="Calibri"/>
              </a:rPr>
              <a:t>✓</a:t>
            </a:r>
            <a:endParaRPr sz="1100"/>
          </a:p>
        </p:txBody>
      </p:sp>
      <p:sp>
        <p:nvSpPr>
          <p:cNvPr id="34" name="Text 31">
            <a:extLst xmlns:a="http://schemas.openxmlformats.org/drawingml/2006/main">
              <a:ext uri="{FF2B5EF4-FFF2-40B4-BE49-F238E27FC236}">
                <a16:creationId xmlns:a16="http://schemas.microsoft.com/office/drawing/2014/main" id="{3B274987-C0E0-4E8B-AED9-F3935FCF64C3}"/>
              </a:ext>
            </a:extLst>
          </p:cNvPr>
          <p:cNvSpPr>
            <a:spLocks xmlns:a="http://schemas.openxmlformats.org/drawingml/2006/main" noGrp="1"/>
          </p:cNvSpPr>
          <p:nvPr/>
        </p:nvSpPr>
        <p:spPr>
          <a:xfrm xmlns:a="http://schemas.openxmlformats.org/drawingml/2006/main">
            <a:off x="7909560" y="5074920"/>
            <a:ext cx="3547872"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3F5A18"/>
                </a:solidFill>
                <a:latin typeface="Calibri"/>
                <a:ea typeface="Calibri"/>
                <a:cs typeface="Calibri"/>
              </a:rPr>
              <a:t>The same pattern gates the fraud service's v4 upgrade — behavioural suite as acceptance gate</a:t>
            </a:r>
            <a:endParaRPr sz="1000"/>
          </a:p>
        </p:txBody>
      </p:sp>
    </p:spTree>
    <p:extLst>
      <p:ext uri="{BB962C8B-B14F-4D97-AF65-F5344CB8AC3E}">
        <p14:creationId xmlns:p14="http://schemas.microsoft.com/office/powerpoint/2010/main" val="1406360166"/>
      </p:ext>
    </p:extLst>
  </p:cSld>
</p:sld>
</file>

<file path=ppt/slides/slide9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3ACB70F-57E5-4763-B9D0-B7A224218F18}"/>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Module 4 — checkpoint quiz</a:t>
            </a:r>
            <a:endParaRPr sz="2600"/>
          </a:p>
        </p:txBody>
      </p:sp>
      <p:sp>
        <p:nvSpPr>
          <p:cNvPr id="3" name="Text 1">
            <a:extLst xmlns:a="http://schemas.openxmlformats.org/drawingml/2006/main">
              <a:ext uri="{FF2B5EF4-FFF2-40B4-BE49-F238E27FC236}">
                <a16:creationId xmlns:a16="http://schemas.microsoft.com/office/drawing/2014/main" id="{BC80371B-E106-49F6-8DC2-FDA304412562}"/>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اختبار قصير — الوحدة الرابعة</a:t>
            </a:r>
            <a:endParaRPr sz="1300"/>
          </a:p>
        </p:txBody>
      </p:sp>
      <p:pic>
        <p:nvPicPr>
          <p:cNvPr id="40" name="Image 0"/>
          <p:cNvPicPr>
            <a:picLocks xmlns:a="http://schemas.openxmlformats.org/drawingml/2006/main" noChangeAspect="1"/>
          </p:cNvPicPr>
          <p:nvPr/>
        </p:nvPicPr>
        <p:blipFill>
          <a:blip xmlns:r="http://schemas.openxmlformats.org/officeDocument/2006/relationships" xmlns:a="http://schemas.openxmlformats.org/drawingml/2006/main" r:embed="Rb20d79879f70496d"/>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5901C077-2C81-460D-AC7E-ADA42F38150B}"/>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EEAE1F40-A92C-45A9-8DEB-3BF899BC5299}"/>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4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63EF0624-9E22-4281-BD4B-951554DF38E2}"/>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99</a:t>
            </a:r>
            <a:endParaRPr sz="850"/>
          </a:p>
        </p:txBody>
      </p:sp>
      <p:sp>
        <p:nvSpPr>
          <p:cNvPr id="8" name="Text 5">
            <a:extLst xmlns:a="http://schemas.openxmlformats.org/drawingml/2006/main">
              <a:ext uri="{FF2B5EF4-FFF2-40B4-BE49-F238E27FC236}">
                <a16:creationId xmlns:a16="http://schemas.microsoft.com/office/drawing/2014/main" id="{953324FF-3309-4DB7-9206-6249E556FDD5}"/>
              </a:ext>
            </a:extLst>
          </p:cNvPr>
          <p:cNvSpPr>
            <a:spLocks xmlns:a="http://schemas.openxmlformats.org/drawingml/2006/main" noGrp="1"/>
          </p:cNvSpPr>
          <p:nvPr/>
        </p:nvSpPr>
        <p:spPr>
          <a:xfrm xmlns:a="http://schemas.openxmlformats.org/drawingml/2006/main">
            <a:off x="502920" y="1444752"/>
            <a:ext cx="1920240" cy="310896"/>
          </a:xfrm>
          <a:prstGeom xmlns:a="http://schemas.openxmlformats.org/drawingml/2006/main" prst="roundRect">
            <a:avLst>
              <a:gd name="adj" fmla="val 17647"/>
            </a:avLst>
          </a:prstGeom>
          <a:solidFill xmlns:a="http://schemas.openxmlformats.org/drawingml/2006/main">
            <a:srgbClr val="7B61A6"/>
          </a:solidFill>
        </p:spPr>
        <p:txBody>
          <a:bodyPr xmlns:a="http://schemas.openxmlformats.org/drawingml/2006/main" wrap="square"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KNOWLEDGE CHECK</a:t>
            </a:r>
            <a:endParaRPr sz="950"/>
          </a:p>
        </p:txBody>
      </p:sp>
      <p:sp>
        <p:nvSpPr>
          <p:cNvPr id="9" name="Text 6">
            <a:extLst xmlns:a="http://schemas.openxmlformats.org/drawingml/2006/main">
              <a:ext uri="{FF2B5EF4-FFF2-40B4-BE49-F238E27FC236}">
                <a16:creationId xmlns:a16="http://schemas.microsoft.com/office/drawing/2014/main" id="{216103B5-AB51-453F-BB4A-C9D92F831842}"/>
              </a:ext>
            </a:extLst>
          </p:cNvPr>
          <p:cNvSpPr>
            <a:spLocks xmlns:a="http://schemas.openxmlformats.org/drawingml/2006/main" noGrp="1"/>
          </p:cNvSpPr>
          <p:nvPr/>
        </p:nvSpPr>
        <p:spPr>
          <a:xfrm xmlns:a="http://schemas.openxmlformats.org/drawingml/2006/main">
            <a:off x="502920" y="1920240"/>
            <a:ext cx="544068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b="1">
                <a:solidFill>
                  <a:srgbClr val="1D2A5C"/>
                </a:solidFill>
                <a:latin typeface="Calibri"/>
                <a:ea typeface="Calibri"/>
                <a:cs typeface="Calibri"/>
              </a:rPr>
              <a:t>Q1. Where does the 40-file malformed-payload corpus test belong in the pyramid?</a:t>
            </a:r>
            <a:endParaRPr sz="1200"/>
          </a:p>
        </p:txBody>
      </p:sp>
      <p:sp>
        <p:nvSpPr>
          <p:cNvPr id="10" name="Shape 7">
            <a:extLst xmlns:a="http://schemas.openxmlformats.org/drawingml/2006/main">
              <a:ext uri="{FF2B5EF4-FFF2-40B4-BE49-F238E27FC236}">
                <a16:creationId xmlns:a16="http://schemas.microsoft.com/office/drawing/2014/main" id="{C2EF5550-6717-4F96-A034-836561F0025D}"/>
              </a:ext>
            </a:extLst>
          </p:cNvPr>
          <p:cNvSpPr>
            <a:spLocks xmlns:a="http://schemas.openxmlformats.org/drawingml/2006/main" noGrp="1"/>
          </p:cNvSpPr>
          <p:nvPr/>
        </p:nvSpPr>
        <p:spPr>
          <a:xfrm xmlns:a="http://schemas.openxmlformats.org/drawingml/2006/main">
            <a:off x="502920" y="2788920"/>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11" name="Text 8">
            <a:extLst xmlns:a="http://schemas.openxmlformats.org/drawingml/2006/main">
              <a:ext uri="{FF2B5EF4-FFF2-40B4-BE49-F238E27FC236}">
                <a16:creationId xmlns:a16="http://schemas.microsoft.com/office/drawing/2014/main" id="{F97B15E5-7806-4B51-8350-A62A804FF36F}"/>
              </a:ext>
            </a:extLst>
          </p:cNvPr>
          <p:cNvSpPr>
            <a:spLocks xmlns:a="http://schemas.openxmlformats.org/drawingml/2006/main" noGrp="1"/>
          </p:cNvSpPr>
          <p:nvPr/>
        </p:nvSpPr>
        <p:spPr>
          <a:xfrm xmlns:a="http://schemas.openxmlformats.org/drawingml/2006/main">
            <a:off x="612648" y="2907792"/>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A</a:t>
            </a:r>
            <a:endParaRPr sz="1100"/>
          </a:p>
        </p:txBody>
      </p:sp>
      <p:sp>
        <p:nvSpPr>
          <p:cNvPr id="12" name="Text 9">
            <a:extLst xmlns:a="http://schemas.openxmlformats.org/drawingml/2006/main">
              <a:ext uri="{FF2B5EF4-FFF2-40B4-BE49-F238E27FC236}">
                <a16:creationId xmlns:a16="http://schemas.microsoft.com/office/drawing/2014/main" id="{AE9ECDF2-226A-47AE-A05B-656332F5CE7D}"/>
              </a:ext>
            </a:extLst>
          </p:cNvPr>
          <p:cNvSpPr>
            <a:spLocks xmlns:a="http://schemas.openxmlformats.org/drawingml/2006/main" noGrp="1"/>
          </p:cNvSpPr>
          <p:nvPr/>
        </p:nvSpPr>
        <p:spPr>
          <a:xfrm xmlns:a="http://schemas.openxmlformats.org/drawingml/2006/main">
            <a:off x="1033272" y="2788920"/>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Unit — it tests validation logic</a:t>
            </a:r>
            <a:endParaRPr sz="1050"/>
          </a:p>
        </p:txBody>
      </p:sp>
      <p:sp>
        <p:nvSpPr>
          <p:cNvPr id="13" name="Shape 10">
            <a:extLst xmlns:a="http://schemas.openxmlformats.org/drawingml/2006/main">
              <a:ext uri="{FF2B5EF4-FFF2-40B4-BE49-F238E27FC236}">
                <a16:creationId xmlns:a16="http://schemas.microsoft.com/office/drawing/2014/main" id="{C9896634-75BC-4040-BD23-3D0B4062CD4E}"/>
              </a:ext>
            </a:extLst>
          </p:cNvPr>
          <p:cNvSpPr>
            <a:spLocks xmlns:a="http://schemas.openxmlformats.org/drawingml/2006/main" noGrp="1"/>
          </p:cNvSpPr>
          <p:nvPr/>
        </p:nvSpPr>
        <p:spPr>
          <a:xfrm xmlns:a="http://schemas.openxmlformats.org/drawingml/2006/main">
            <a:off x="502920" y="3447288"/>
            <a:ext cx="5440680" cy="548640"/>
          </a:xfrm>
          <a:prstGeom xmlns:a="http://schemas.openxmlformats.org/drawingml/2006/main" prst="roundRect">
            <a:avLst>
              <a:gd name="adj" fmla="val 10000"/>
            </a:avLst>
          </a:prstGeom>
          <a:solidFill xmlns:a="http://schemas.openxmlformats.org/drawingml/2006/main">
            <a:srgbClr val="D4F1EE"/>
          </a:solidFill>
          <a:ln xmlns:a="http://schemas.openxmlformats.org/drawingml/2006/main" w="19050">
            <a:solidFill>
              <a:srgbClr val="00A79D"/>
            </a:solidFill>
            <a:prstDash val="solid"/>
          </a:ln>
        </p:spPr>
      </p:sp>
      <p:sp>
        <p:nvSpPr>
          <p:cNvPr id="14" name="Text 11">
            <a:extLst xmlns:a="http://schemas.openxmlformats.org/drawingml/2006/main">
              <a:ext uri="{FF2B5EF4-FFF2-40B4-BE49-F238E27FC236}">
                <a16:creationId xmlns:a16="http://schemas.microsoft.com/office/drawing/2014/main" id="{459CEF34-0F45-4974-85BB-7587648B9145}"/>
              </a:ext>
            </a:extLst>
          </p:cNvPr>
          <p:cNvSpPr>
            <a:spLocks xmlns:a="http://schemas.openxmlformats.org/drawingml/2006/main" noGrp="1"/>
          </p:cNvSpPr>
          <p:nvPr/>
        </p:nvSpPr>
        <p:spPr>
          <a:xfrm xmlns:a="http://schemas.openxmlformats.org/drawingml/2006/main">
            <a:off x="612648" y="3566160"/>
            <a:ext cx="310896" cy="310896"/>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B</a:t>
            </a:r>
            <a:endParaRPr sz="1100"/>
          </a:p>
        </p:txBody>
      </p:sp>
      <p:sp>
        <p:nvSpPr>
          <p:cNvPr id="15" name="Text 12">
            <a:extLst xmlns:a="http://schemas.openxmlformats.org/drawingml/2006/main">
              <a:ext uri="{FF2B5EF4-FFF2-40B4-BE49-F238E27FC236}">
                <a16:creationId xmlns:a16="http://schemas.microsoft.com/office/drawing/2014/main" id="{4E3BA8C2-BC9D-4983-826D-138CF02C5726}"/>
              </a:ext>
            </a:extLst>
          </p:cNvPr>
          <p:cNvSpPr>
            <a:spLocks xmlns:a="http://schemas.openxmlformats.org/drawingml/2006/main" noGrp="1"/>
          </p:cNvSpPr>
          <p:nvPr/>
        </p:nvSpPr>
        <p:spPr>
          <a:xfrm xmlns:a="http://schemas.openxmlformats.org/drawingml/2006/main">
            <a:off x="1033272" y="3447288"/>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056A63"/>
                </a:solidFill>
                <a:latin typeface="Calibri"/>
                <a:ea typeface="Calibri"/>
                <a:cs typeface="Calibri"/>
              </a:rPr>
              <a:t>Integration — it exercises the API surface   ✓</a:t>
            </a:r>
            <a:endParaRPr sz="1050"/>
          </a:p>
        </p:txBody>
      </p:sp>
      <p:sp>
        <p:nvSpPr>
          <p:cNvPr id="16" name="Shape 13">
            <a:extLst xmlns:a="http://schemas.openxmlformats.org/drawingml/2006/main">
              <a:ext uri="{FF2B5EF4-FFF2-40B4-BE49-F238E27FC236}">
                <a16:creationId xmlns:a16="http://schemas.microsoft.com/office/drawing/2014/main" id="{952B65D3-8247-4B1E-AC92-F69ABFB200A6}"/>
              </a:ext>
            </a:extLst>
          </p:cNvPr>
          <p:cNvSpPr>
            <a:spLocks xmlns:a="http://schemas.openxmlformats.org/drawingml/2006/main" noGrp="1"/>
          </p:cNvSpPr>
          <p:nvPr/>
        </p:nvSpPr>
        <p:spPr>
          <a:xfrm xmlns:a="http://schemas.openxmlformats.org/drawingml/2006/main">
            <a:off x="502920" y="4105656"/>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17" name="Text 14">
            <a:extLst xmlns:a="http://schemas.openxmlformats.org/drawingml/2006/main">
              <a:ext uri="{FF2B5EF4-FFF2-40B4-BE49-F238E27FC236}">
                <a16:creationId xmlns:a16="http://schemas.microsoft.com/office/drawing/2014/main" id="{89669DE4-C109-4F2D-BE9B-7AC3C763473B}"/>
              </a:ext>
            </a:extLst>
          </p:cNvPr>
          <p:cNvSpPr>
            <a:spLocks xmlns:a="http://schemas.openxmlformats.org/drawingml/2006/main" noGrp="1"/>
          </p:cNvSpPr>
          <p:nvPr/>
        </p:nvSpPr>
        <p:spPr>
          <a:xfrm xmlns:a="http://schemas.openxmlformats.org/drawingml/2006/main">
            <a:off x="612648" y="4224528"/>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C</a:t>
            </a:r>
            <a:endParaRPr sz="1100"/>
          </a:p>
        </p:txBody>
      </p:sp>
      <p:sp>
        <p:nvSpPr>
          <p:cNvPr id="18" name="Text 15">
            <a:extLst xmlns:a="http://schemas.openxmlformats.org/drawingml/2006/main">
              <a:ext uri="{FF2B5EF4-FFF2-40B4-BE49-F238E27FC236}">
                <a16:creationId xmlns:a16="http://schemas.microsoft.com/office/drawing/2014/main" id="{23BBBD92-1D91-4677-AC00-2252EF9B7810}"/>
              </a:ext>
            </a:extLst>
          </p:cNvPr>
          <p:cNvSpPr>
            <a:spLocks xmlns:a="http://schemas.openxmlformats.org/drawingml/2006/main" noGrp="1"/>
          </p:cNvSpPr>
          <p:nvPr/>
        </p:nvSpPr>
        <p:spPr>
          <a:xfrm xmlns:a="http://schemas.openxmlformats.org/drawingml/2006/main">
            <a:off x="1033272" y="4105656"/>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Model-behaviour — it checks model robustness</a:t>
            </a:r>
            <a:endParaRPr sz="1050"/>
          </a:p>
        </p:txBody>
      </p:sp>
      <p:sp>
        <p:nvSpPr>
          <p:cNvPr id="19" name="Shape 16">
            <a:extLst xmlns:a="http://schemas.openxmlformats.org/drawingml/2006/main">
              <a:ext uri="{FF2B5EF4-FFF2-40B4-BE49-F238E27FC236}">
                <a16:creationId xmlns:a16="http://schemas.microsoft.com/office/drawing/2014/main" id="{0452C1BE-FA4E-4902-8DC5-804145AA3FDE}"/>
              </a:ext>
            </a:extLst>
          </p:cNvPr>
          <p:cNvSpPr>
            <a:spLocks xmlns:a="http://schemas.openxmlformats.org/drawingml/2006/main" noGrp="1"/>
          </p:cNvSpPr>
          <p:nvPr/>
        </p:nvSpPr>
        <p:spPr>
          <a:xfrm xmlns:a="http://schemas.openxmlformats.org/drawingml/2006/main">
            <a:off x="502920" y="4764024"/>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20" name="Text 17">
            <a:extLst xmlns:a="http://schemas.openxmlformats.org/drawingml/2006/main">
              <a:ext uri="{FF2B5EF4-FFF2-40B4-BE49-F238E27FC236}">
                <a16:creationId xmlns:a16="http://schemas.microsoft.com/office/drawing/2014/main" id="{5E08F1E8-7EE3-4BF4-B61D-AD74CD02AA3C}"/>
              </a:ext>
            </a:extLst>
          </p:cNvPr>
          <p:cNvSpPr>
            <a:spLocks xmlns:a="http://schemas.openxmlformats.org/drawingml/2006/main" noGrp="1"/>
          </p:cNvSpPr>
          <p:nvPr/>
        </p:nvSpPr>
        <p:spPr>
          <a:xfrm xmlns:a="http://schemas.openxmlformats.org/drawingml/2006/main">
            <a:off x="612648" y="4882896"/>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D</a:t>
            </a:r>
            <a:endParaRPr sz="1100"/>
          </a:p>
        </p:txBody>
      </p:sp>
      <p:sp>
        <p:nvSpPr>
          <p:cNvPr id="21" name="Text 18">
            <a:extLst xmlns:a="http://schemas.openxmlformats.org/drawingml/2006/main">
              <a:ext uri="{FF2B5EF4-FFF2-40B4-BE49-F238E27FC236}">
                <a16:creationId xmlns:a16="http://schemas.microsoft.com/office/drawing/2014/main" id="{9C6B7862-A3A2-4806-89DB-AD9117955175}"/>
              </a:ext>
            </a:extLst>
          </p:cNvPr>
          <p:cNvSpPr>
            <a:spLocks xmlns:a="http://schemas.openxmlformats.org/drawingml/2006/main" noGrp="1"/>
          </p:cNvSpPr>
          <p:nvPr/>
        </p:nvSpPr>
        <p:spPr>
          <a:xfrm xmlns:a="http://schemas.openxmlformats.org/drawingml/2006/main">
            <a:off x="1033272" y="4764024"/>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E2E — it needs the built container</a:t>
            </a:r>
            <a:endParaRPr sz="1050"/>
          </a:p>
        </p:txBody>
      </p:sp>
      <p:sp>
        <p:nvSpPr>
          <p:cNvPr id="22" name="Text 19">
            <a:extLst xmlns:a="http://schemas.openxmlformats.org/drawingml/2006/main">
              <a:ext uri="{FF2B5EF4-FFF2-40B4-BE49-F238E27FC236}">
                <a16:creationId xmlns:a16="http://schemas.microsoft.com/office/drawing/2014/main" id="{EECF127F-7DB5-42A8-B1D9-118CAB3FEDE2}"/>
              </a:ext>
            </a:extLst>
          </p:cNvPr>
          <p:cNvSpPr>
            <a:spLocks xmlns:a="http://schemas.openxmlformats.org/drawingml/2006/main" noGrp="1"/>
          </p:cNvSpPr>
          <p:nvPr/>
        </p:nvSpPr>
        <p:spPr>
          <a:xfrm xmlns:a="http://schemas.openxmlformats.org/drawingml/2006/main">
            <a:off x="502920" y="5513832"/>
            <a:ext cx="544068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b="1" i="1">
                <a:solidFill>
                  <a:srgbClr val="5F6B7A"/>
                </a:solidFill>
                <a:latin typeface="Calibri"/>
                <a:ea typeface="Calibri"/>
                <a:cs typeface="Calibri"/>
              </a:rPr>
              <a:t>Why: </a:t>
            </a:r>
            <a:r>
              <a:rPr sz="950" i="1">
                <a:solidFill>
                  <a:srgbClr val="5F6B7A"/>
                </a:solidFill>
                <a:latin typeface="Calibri"/>
                <a:ea typeface="Calibri"/>
                <a:cs typeface="Calibri"/>
              </a:rPr>
              <a:t>The corpus hits POST /v1/predict through TestClient — pieces talking correctly. Lowest level that catches the failure; no container required.</a:t>
            </a:r>
            <a:endParaRPr sz="950"/>
          </a:p>
        </p:txBody>
      </p:sp>
      <p:sp>
        <p:nvSpPr>
          <p:cNvPr id="23" name="Text 20">
            <a:extLst xmlns:a="http://schemas.openxmlformats.org/drawingml/2006/main">
              <a:ext uri="{FF2B5EF4-FFF2-40B4-BE49-F238E27FC236}">
                <a16:creationId xmlns:a16="http://schemas.microsoft.com/office/drawing/2014/main" id="{C999A895-9A68-4CA8-9859-A31C527C14A4}"/>
              </a:ext>
            </a:extLst>
          </p:cNvPr>
          <p:cNvSpPr>
            <a:spLocks xmlns:a="http://schemas.openxmlformats.org/drawingml/2006/main" noGrp="1"/>
          </p:cNvSpPr>
          <p:nvPr/>
        </p:nvSpPr>
        <p:spPr>
          <a:xfrm xmlns:a="http://schemas.openxmlformats.org/drawingml/2006/main">
            <a:off x="6245352" y="1920240"/>
            <a:ext cx="544068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b="1">
                <a:solidFill>
                  <a:srgbClr val="1D2A5C"/>
                </a:solidFill>
                <a:latin typeface="Calibri"/>
                <a:ea typeface="Calibri"/>
                <a:cs typeface="Calibri"/>
              </a:rPr>
              <a:t>Q2. Why is 'channel' NOT a valid invariance test for the fraud model?</a:t>
            </a:r>
            <a:endParaRPr sz="1200"/>
          </a:p>
        </p:txBody>
      </p:sp>
      <p:sp>
        <p:nvSpPr>
          <p:cNvPr id="24" name="Shape 21">
            <a:extLst xmlns:a="http://schemas.openxmlformats.org/drawingml/2006/main">
              <a:ext uri="{FF2B5EF4-FFF2-40B4-BE49-F238E27FC236}">
                <a16:creationId xmlns:a16="http://schemas.microsoft.com/office/drawing/2014/main" id="{154A485F-DA98-450B-9064-F78C14FAF459}"/>
              </a:ext>
            </a:extLst>
          </p:cNvPr>
          <p:cNvSpPr>
            <a:spLocks xmlns:a="http://schemas.openxmlformats.org/drawingml/2006/main" noGrp="1"/>
          </p:cNvSpPr>
          <p:nvPr/>
        </p:nvSpPr>
        <p:spPr>
          <a:xfrm xmlns:a="http://schemas.openxmlformats.org/drawingml/2006/main">
            <a:off x="6245352" y="2788920"/>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25" name="Text 22">
            <a:extLst xmlns:a="http://schemas.openxmlformats.org/drawingml/2006/main">
              <a:ext uri="{FF2B5EF4-FFF2-40B4-BE49-F238E27FC236}">
                <a16:creationId xmlns:a16="http://schemas.microsoft.com/office/drawing/2014/main" id="{E60428C3-6855-4698-9355-0E973CB65B56}"/>
              </a:ext>
            </a:extLst>
          </p:cNvPr>
          <p:cNvSpPr>
            <a:spLocks xmlns:a="http://schemas.openxmlformats.org/drawingml/2006/main" noGrp="1"/>
          </p:cNvSpPr>
          <p:nvPr/>
        </p:nvSpPr>
        <p:spPr>
          <a:xfrm xmlns:a="http://schemas.openxmlformats.org/drawingml/2006/main">
            <a:off x="6355080" y="2907792"/>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A</a:t>
            </a:r>
            <a:endParaRPr sz="1100"/>
          </a:p>
        </p:txBody>
      </p:sp>
      <p:sp>
        <p:nvSpPr>
          <p:cNvPr id="26" name="Text 23">
            <a:extLst xmlns:a="http://schemas.openxmlformats.org/drawingml/2006/main">
              <a:ext uri="{FF2B5EF4-FFF2-40B4-BE49-F238E27FC236}">
                <a16:creationId xmlns:a16="http://schemas.microsoft.com/office/drawing/2014/main" id="{EAF71471-729B-41E8-AB37-1B50316A1E7D}"/>
              </a:ext>
            </a:extLst>
          </p:cNvPr>
          <p:cNvSpPr>
            <a:spLocks xmlns:a="http://schemas.openxmlformats.org/drawingml/2006/main" noGrp="1"/>
          </p:cNvSpPr>
          <p:nvPr/>
        </p:nvSpPr>
        <p:spPr>
          <a:xfrm xmlns:a="http://schemas.openxmlformats.org/drawingml/2006/main">
            <a:off x="6775704" y="2788920"/>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Channel values are strings, not numbers</a:t>
            </a:r>
            <a:endParaRPr sz="1050"/>
          </a:p>
        </p:txBody>
      </p:sp>
      <p:sp>
        <p:nvSpPr>
          <p:cNvPr id="27" name="Shape 24">
            <a:extLst xmlns:a="http://schemas.openxmlformats.org/drawingml/2006/main">
              <a:ext uri="{FF2B5EF4-FFF2-40B4-BE49-F238E27FC236}">
                <a16:creationId xmlns:a16="http://schemas.microsoft.com/office/drawing/2014/main" id="{1EBE9366-BFC3-47BD-B6F2-71D35968048D}"/>
              </a:ext>
            </a:extLst>
          </p:cNvPr>
          <p:cNvSpPr>
            <a:spLocks xmlns:a="http://schemas.openxmlformats.org/drawingml/2006/main" noGrp="1"/>
          </p:cNvSpPr>
          <p:nvPr/>
        </p:nvSpPr>
        <p:spPr>
          <a:xfrm xmlns:a="http://schemas.openxmlformats.org/drawingml/2006/main">
            <a:off x="6245352" y="3447288"/>
            <a:ext cx="5440680" cy="548640"/>
          </a:xfrm>
          <a:prstGeom xmlns:a="http://schemas.openxmlformats.org/drawingml/2006/main" prst="roundRect">
            <a:avLst>
              <a:gd name="adj" fmla="val 10000"/>
            </a:avLst>
          </a:prstGeom>
          <a:solidFill xmlns:a="http://schemas.openxmlformats.org/drawingml/2006/main">
            <a:srgbClr val="D4F1EE"/>
          </a:solidFill>
          <a:ln xmlns:a="http://schemas.openxmlformats.org/drawingml/2006/main" w="19050">
            <a:solidFill>
              <a:srgbClr val="00A79D"/>
            </a:solidFill>
            <a:prstDash val="solid"/>
          </a:ln>
        </p:spPr>
      </p:sp>
      <p:sp>
        <p:nvSpPr>
          <p:cNvPr id="28" name="Text 25">
            <a:extLst xmlns:a="http://schemas.openxmlformats.org/drawingml/2006/main">
              <a:ext uri="{FF2B5EF4-FFF2-40B4-BE49-F238E27FC236}">
                <a16:creationId xmlns:a16="http://schemas.microsoft.com/office/drawing/2014/main" id="{8623061F-356A-4073-A9E9-FDD5555470DE}"/>
              </a:ext>
            </a:extLst>
          </p:cNvPr>
          <p:cNvSpPr>
            <a:spLocks xmlns:a="http://schemas.openxmlformats.org/drawingml/2006/main" noGrp="1"/>
          </p:cNvSpPr>
          <p:nvPr/>
        </p:nvSpPr>
        <p:spPr>
          <a:xfrm xmlns:a="http://schemas.openxmlformats.org/drawingml/2006/main">
            <a:off x="6355080" y="3566160"/>
            <a:ext cx="310896" cy="310896"/>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B</a:t>
            </a:r>
            <a:endParaRPr sz="1100"/>
          </a:p>
        </p:txBody>
      </p:sp>
      <p:sp>
        <p:nvSpPr>
          <p:cNvPr id="29" name="Text 26">
            <a:extLst xmlns:a="http://schemas.openxmlformats.org/drawingml/2006/main">
              <a:ext uri="{FF2B5EF4-FFF2-40B4-BE49-F238E27FC236}">
                <a16:creationId xmlns:a16="http://schemas.microsoft.com/office/drawing/2014/main" id="{6722875A-C736-40DE-8F26-AEF7BD975F95}"/>
              </a:ext>
            </a:extLst>
          </p:cNvPr>
          <p:cNvSpPr>
            <a:spLocks xmlns:a="http://schemas.openxmlformats.org/drawingml/2006/main" noGrp="1"/>
          </p:cNvSpPr>
          <p:nvPr/>
        </p:nvSpPr>
        <p:spPr>
          <a:xfrm xmlns:a="http://schemas.openxmlformats.org/drawingml/2006/main">
            <a:off x="6775704" y="3447288"/>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056A63"/>
                </a:solidFill>
                <a:latin typeface="Calibri"/>
                <a:ea typeface="Calibri"/>
                <a:cs typeface="Calibri"/>
              </a:rPr>
              <a:t>Channel is signal, not noise — the model should react to it   ✓</a:t>
            </a:r>
            <a:endParaRPr sz="1050"/>
          </a:p>
        </p:txBody>
      </p:sp>
      <p:sp>
        <p:nvSpPr>
          <p:cNvPr id="30" name="Shape 27">
            <a:extLst xmlns:a="http://schemas.openxmlformats.org/drawingml/2006/main">
              <a:ext uri="{FF2B5EF4-FFF2-40B4-BE49-F238E27FC236}">
                <a16:creationId xmlns:a16="http://schemas.microsoft.com/office/drawing/2014/main" id="{491029D7-2877-4711-8C4A-0554A6ED6A64}"/>
              </a:ext>
            </a:extLst>
          </p:cNvPr>
          <p:cNvSpPr>
            <a:spLocks xmlns:a="http://schemas.openxmlformats.org/drawingml/2006/main" noGrp="1"/>
          </p:cNvSpPr>
          <p:nvPr/>
        </p:nvSpPr>
        <p:spPr>
          <a:xfrm xmlns:a="http://schemas.openxmlformats.org/drawingml/2006/main">
            <a:off x="6245352" y="4105656"/>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31" name="Text 28">
            <a:extLst xmlns:a="http://schemas.openxmlformats.org/drawingml/2006/main">
              <a:ext uri="{FF2B5EF4-FFF2-40B4-BE49-F238E27FC236}">
                <a16:creationId xmlns:a16="http://schemas.microsoft.com/office/drawing/2014/main" id="{AC7A57FC-4A96-4360-89E5-5FBAAA87E018}"/>
              </a:ext>
            </a:extLst>
          </p:cNvPr>
          <p:cNvSpPr>
            <a:spLocks xmlns:a="http://schemas.openxmlformats.org/drawingml/2006/main" noGrp="1"/>
          </p:cNvSpPr>
          <p:nvPr/>
        </p:nvSpPr>
        <p:spPr>
          <a:xfrm xmlns:a="http://schemas.openxmlformats.org/drawingml/2006/main">
            <a:off x="6355080" y="4224528"/>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C</a:t>
            </a:r>
            <a:endParaRPr sz="1100"/>
          </a:p>
        </p:txBody>
      </p:sp>
      <p:sp>
        <p:nvSpPr>
          <p:cNvPr id="32" name="Text 29">
            <a:extLst xmlns:a="http://schemas.openxmlformats.org/drawingml/2006/main">
              <a:ext uri="{FF2B5EF4-FFF2-40B4-BE49-F238E27FC236}">
                <a16:creationId xmlns:a16="http://schemas.microsoft.com/office/drawing/2014/main" id="{BA3385C7-FF43-4232-A78D-0F4ED99416EA}"/>
              </a:ext>
            </a:extLst>
          </p:cNvPr>
          <p:cNvSpPr>
            <a:spLocks xmlns:a="http://schemas.openxmlformats.org/drawingml/2006/main" noGrp="1"/>
          </p:cNvSpPr>
          <p:nvPr/>
        </p:nvSpPr>
        <p:spPr>
          <a:xfrm xmlns:a="http://schemas.openxmlformats.org/drawingml/2006/main">
            <a:off x="6775704" y="4105656"/>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Invariance tests only apply to text casing</a:t>
            </a:r>
            <a:endParaRPr sz="1050"/>
          </a:p>
        </p:txBody>
      </p:sp>
      <p:sp>
        <p:nvSpPr>
          <p:cNvPr id="33" name="Shape 30">
            <a:extLst xmlns:a="http://schemas.openxmlformats.org/drawingml/2006/main">
              <a:ext uri="{FF2B5EF4-FFF2-40B4-BE49-F238E27FC236}">
                <a16:creationId xmlns:a16="http://schemas.microsoft.com/office/drawing/2014/main" id="{BE515AF6-0240-45E9-AA43-E62DD3B1D1D0}"/>
              </a:ext>
            </a:extLst>
          </p:cNvPr>
          <p:cNvSpPr>
            <a:spLocks xmlns:a="http://schemas.openxmlformats.org/drawingml/2006/main" noGrp="1"/>
          </p:cNvSpPr>
          <p:nvPr/>
        </p:nvSpPr>
        <p:spPr>
          <a:xfrm xmlns:a="http://schemas.openxmlformats.org/drawingml/2006/main">
            <a:off x="6245352" y="4764024"/>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34" name="Text 31">
            <a:extLst xmlns:a="http://schemas.openxmlformats.org/drawingml/2006/main">
              <a:ext uri="{FF2B5EF4-FFF2-40B4-BE49-F238E27FC236}">
                <a16:creationId xmlns:a16="http://schemas.microsoft.com/office/drawing/2014/main" id="{83EE9D9F-981C-48DE-BD8C-88AA14388B76}"/>
              </a:ext>
            </a:extLst>
          </p:cNvPr>
          <p:cNvSpPr>
            <a:spLocks xmlns:a="http://schemas.openxmlformats.org/drawingml/2006/main" noGrp="1"/>
          </p:cNvSpPr>
          <p:nvPr/>
        </p:nvSpPr>
        <p:spPr>
          <a:xfrm xmlns:a="http://schemas.openxmlformats.org/drawingml/2006/main">
            <a:off x="6355080" y="4882896"/>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D</a:t>
            </a:r>
            <a:endParaRPr sz="1100"/>
          </a:p>
        </p:txBody>
      </p:sp>
      <p:sp>
        <p:nvSpPr>
          <p:cNvPr id="35" name="Text 32">
            <a:extLst xmlns:a="http://schemas.openxmlformats.org/drawingml/2006/main">
              <a:ext uri="{FF2B5EF4-FFF2-40B4-BE49-F238E27FC236}">
                <a16:creationId xmlns:a16="http://schemas.microsoft.com/office/drawing/2014/main" id="{D2C59608-229C-4AE0-96BF-736576722DFB}"/>
              </a:ext>
            </a:extLst>
          </p:cNvPr>
          <p:cNvSpPr>
            <a:spLocks xmlns:a="http://schemas.openxmlformats.org/drawingml/2006/main" noGrp="1"/>
          </p:cNvSpPr>
          <p:nvPr/>
        </p:nvSpPr>
        <p:spPr>
          <a:xfrm xmlns:a="http://schemas.openxmlformats.org/drawingml/2006/main">
            <a:off x="6775704" y="4764024"/>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The golden file already covers channel</a:t>
            </a:r>
            <a:endParaRPr sz="1050"/>
          </a:p>
        </p:txBody>
      </p:sp>
      <p:sp>
        <p:nvSpPr>
          <p:cNvPr id="36" name="Text 33">
            <a:extLst xmlns:a="http://schemas.openxmlformats.org/drawingml/2006/main">
              <a:ext uri="{FF2B5EF4-FFF2-40B4-BE49-F238E27FC236}">
                <a16:creationId xmlns:a16="http://schemas.microsoft.com/office/drawing/2014/main" id="{BAD59FC4-39F7-4FAA-B073-77B3FA494361}"/>
              </a:ext>
            </a:extLst>
          </p:cNvPr>
          <p:cNvSpPr>
            <a:spLocks xmlns:a="http://schemas.openxmlformats.org/drawingml/2006/main" noGrp="1"/>
          </p:cNvSpPr>
          <p:nvPr/>
        </p:nvSpPr>
        <p:spPr>
          <a:xfrm xmlns:a="http://schemas.openxmlformats.org/drawingml/2006/main">
            <a:off x="6245352" y="5513832"/>
            <a:ext cx="544068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b="1" i="1">
                <a:solidFill>
                  <a:srgbClr val="5F6B7A"/>
                </a:solidFill>
                <a:latin typeface="Calibri"/>
                <a:ea typeface="Calibri"/>
                <a:cs typeface="Calibri"/>
              </a:rPr>
              <a:t>Why: </a:t>
            </a:r>
            <a:r>
              <a:rPr sz="950" i="1">
                <a:solidFill>
                  <a:srgbClr val="5F6B7A"/>
                </a:solidFill>
                <a:latin typeface="Calibri"/>
                <a:ea typeface="Calibri"/>
                <a:cs typeface="Calibri"/>
              </a:rPr>
              <a:t>Invariance is for semantically neutral transformations only. Channel carries fraud signal — asserting invariance would forbid the model from using it.</a:t>
            </a:r>
            <a:endParaRPr sz="950"/>
          </a:p>
        </p:txBody>
      </p:sp>
    </p:spTree>
    <p:extLst>
      <p:ext uri="{BB962C8B-B14F-4D97-AF65-F5344CB8AC3E}">
        <p14:creationId xmlns:p14="http://schemas.microsoft.com/office/powerpoint/2010/main" val="1622113535"/>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4AF40D6-8651-4846-99DB-F4256DF14FC4}"/>
              </a:ext>
            </a:extLst>
          </p:cNvPr>
          <p:cNvSpPr>
            <a:spLocks xmlns:a="http://schemas.openxmlformats.org/drawingml/2006/main" noGrp="1"/>
          </p:cNvSpPr>
          <p:nvPr/>
        </p:nvSpPr>
        <p:spPr>
          <a:xfrm xmlns:a="http://schemas.openxmlformats.org/drawingml/2006/main" rot="5400000" flipH="1">
            <a:off x="9692640" y="1124712"/>
            <a:ext cx="329184" cy="288036"/>
          </a:xfrm>
          <a:prstGeom xmlns:a="http://schemas.openxmlformats.org/drawingml/2006/main" prst="triangle">
            <a:avLst/>
          </a:prstGeom>
          <a:solidFill xmlns:a="http://schemas.openxmlformats.org/drawingml/2006/main">
            <a:srgbClr val="00A79D"/>
          </a:solidFill>
        </p:spPr>
      </p:sp>
      <p:sp>
        <p:nvSpPr>
          <p:cNvPr id="3" name="Shape 1">
            <a:extLst xmlns:a="http://schemas.openxmlformats.org/drawingml/2006/main">
              <a:ext uri="{FF2B5EF4-FFF2-40B4-BE49-F238E27FC236}">
                <a16:creationId xmlns:a16="http://schemas.microsoft.com/office/drawing/2014/main" id="{9A7FD447-F283-42CF-B855-8164126B8754}"/>
              </a:ext>
            </a:extLst>
          </p:cNvPr>
          <p:cNvSpPr>
            <a:spLocks xmlns:a="http://schemas.openxmlformats.org/drawingml/2006/main" noGrp="1"/>
          </p:cNvSpPr>
          <p:nvPr/>
        </p:nvSpPr>
        <p:spPr>
          <a:xfrm xmlns:a="http://schemas.openxmlformats.org/drawingml/2006/main" rot="5400000">
            <a:off x="10041575" y="836676"/>
            <a:ext cx="329184" cy="288036"/>
          </a:xfrm>
          <a:prstGeom xmlns:a="http://schemas.openxmlformats.org/drawingml/2006/main" prst="triangle">
            <a:avLst/>
          </a:prstGeom>
          <a:solidFill xmlns:a="http://schemas.openxmlformats.org/drawingml/2006/main">
            <a:srgbClr val="29ABE2"/>
          </a:solidFill>
        </p:spPr>
      </p:sp>
      <p:sp>
        <p:nvSpPr>
          <p:cNvPr id="4" name="Shape 2">
            <a:extLst xmlns:a="http://schemas.openxmlformats.org/drawingml/2006/main">
              <a:ext uri="{FF2B5EF4-FFF2-40B4-BE49-F238E27FC236}">
                <a16:creationId xmlns:a16="http://schemas.microsoft.com/office/drawing/2014/main" id="{AB46BE3F-F68C-49EA-A96F-471B1983DBB1}"/>
              </a:ext>
            </a:extLst>
          </p:cNvPr>
          <p:cNvSpPr>
            <a:spLocks xmlns:a="http://schemas.openxmlformats.org/drawingml/2006/main" noGrp="1"/>
          </p:cNvSpPr>
          <p:nvPr/>
        </p:nvSpPr>
        <p:spPr>
          <a:xfrm xmlns:a="http://schemas.openxmlformats.org/drawingml/2006/main" rot="5400000">
            <a:off x="10041575" y="1412748"/>
            <a:ext cx="329184" cy="288036"/>
          </a:xfrm>
          <a:prstGeom xmlns:a="http://schemas.openxmlformats.org/drawingml/2006/main" prst="triangle">
            <a:avLst/>
          </a:prstGeom>
          <a:solidFill xmlns:a="http://schemas.openxmlformats.org/drawingml/2006/main">
            <a:srgbClr val="F58220"/>
          </a:solidFill>
        </p:spPr>
      </p:sp>
      <p:sp>
        <p:nvSpPr>
          <p:cNvPr id="5" name="Shape 3">
            <a:extLst xmlns:a="http://schemas.openxmlformats.org/drawingml/2006/main">
              <a:ext uri="{FF2B5EF4-FFF2-40B4-BE49-F238E27FC236}">
                <a16:creationId xmlns:a16="http://schemas.microsoft.com/office/drawing/2014/main" id="{E96C224C-986D-4E30-BC60-9A7EE1B453A1}"/>
              </a:ext>
            </a:extLst>
          </p:cNvPr>
          <p:cNvSpPr>
            <a:spLocks xmlns:a="http://schemas.openxmlformats.org/drawingml/2006/main" noGrp="1"/>
          </p:cNvSpPr>
          <p:nvPr/>
        </p:nvSpPr>
        <p:spPr>
          <a:xfrm xmlns:a="http://schemas.openxmlformats.org/drawingml/2006/main" rot="5400000" flipH="1">
            <a:off x="10390510" y="548640"/>
            <a:ext cx="329184" cy="288036"/>
          </a:xfrm>
          <a:prstGeom xmlns:a="http://schemas.openxmlformats.org/drawingml/2006/main" prst="triangle">
            <a:avLst/>
          </a:prstGeom>
          <a:solidFill xmlns:a="http://schemas.openxmlformats.org/drawingml/2006/main">
            <a:srgbClr val="8DC63F"/>
          </a:solidFill>
        </p:spPr>
      </p:sp>
      <p:sp>
        <p:nvSpPr>
          <p:cNvPr id="6" name="Shape 4">
            <a:extLst xmlns:a="http://schemas.openxmlformats.org/drawingml/2006/main">
              <a:ext uri="{FF2B5EF4-FFF2-40B4-BE49-F238E27FC236}">
                <a16:creationId xmlns:a16="http://schemas.microsoft.com/office/drawing/2014/main" id="{39559F13-E1B0-47EC-8A20-805BC749F5D5}"/>
              </a:ext>
            </a:extLst>
          </p:cNvPr>
          <p:cNvSpPr>
            <a:spLocks xmlns:a="http://schemas.openxmlformats.org/drawingml/2006/main" noGrp="1"/>
          </p:cNvSpPr>
          <p:nvPr/>
        </p:nvSpPr>
        <p:spPr>
          <a:xfrm xmlns:a="http://schemas.openxmlformats.org/drawingml/2006/main" rot="5400000">
            <a:off x="10390510" y="1124712"/>
            <a:ext cx="329184" cy="288036"/>
          </a:xfrm>
          <a:prstGeom xmlns:a="http://schemas.openxmlformats.org/drawingml/2006/main" prst="triangle">
            <a:avLst/>
          </a:prstGeom>
          <a:solidFill xmlns:a="http://schemas.openxmlformats.org/drawingml/2006/main">
            <a:srgbClr val="B9C8E8"/>
          </a:solidFill>
        </p:spPr>
      </p:sp>
      <p:sp>
        <p:nvSpPr>
          <p:cNvPr id="7" name="Shape 5">
            <a:extLst xmlns:a="http://schemas.openxmlformats.org/drawingml/2006/main">
              <a:ext uri="{FF2B5EF4-FFF2-40B4-BE49-F238E27FC236}">
                <a16:creationId xmlns:a16="http://schemas.microsoft.com/office/drawing/2014/main" id="{E0EEB546-ACDA-43C8-9AFE-AF090D63DF93}"/>
              </a:ext>
            </a:extLst>
          </p:cNvPr>
          <p:cNvSpPr>
            <a:spLocks xmlns:a="http://schemas.openxmlformats.org/drawingml/2006/main" noGrp="1"/>
          </p:cNvSpPr>
          <p:nvPr/>
        </p:nvSpPr>
        <p:spPr>
          <a:xfrm xmlns:a="http://schemas.openxmlformats.org/drawingml/2006/main" rot="5400000">
            <a:off x="10739445" y="836676"/>
            <a:ext cx="329184" cy="288036"/>
          </a:xfrm>
          <a:prstGeom xmlns:a="http://schemas.openxmlformats.org/drawingml/2006/main" prst="triangle">
            <a:avLst/>
          </a:prstGeom>
          <a:solidFill xmlns:a="http://schemas.openxmlformats.org/drawingml/2006/main">
            <a:srgbClr val="00A79D"/>
          </a:solidFill>
        </p:spPr>
      </p:sp>
      <p:sp>
        <p:nvSpPr>
          <p:cNvPr id="8" name="Shape 6">
            <a:extLst xmlns:a="http://schemas.openxmlformats.org/drawingml/2006/main">
              <a:ext uri="{FF2B5EF4-FFF2-40B4-BE49-F238E27FC236}">
                <a16:creationId xmlns:a16="http://schemas.microsoft.com/office/drawing/2014/main" id="{36141D8C-B511-4C8E-AB30-F3B1B2EAF38D}"/>
              </a:ext>
            </a:extLst>
          </p:cNvPr>
          <p:cNvSpPr>
            <a:spLocks xmlns:a="http://schemas.openxmlformats.org/drawingml/2006/main" noGrp="1"/>
          </p:cNvSpPr>
          <p:nvPr/>
        </p:nvSpPr>
        <p:spPr>
          <a:xfrm xmlns:a="http://schemas.openxmlformats.org/drawingml/2006/main" rot="5400000" flipH="1">
            <a:off x="10739445" y="1412748"/>
            <a:ext cx="329184" cy="288036"/>
          </a:xfrm>
          <a:prstGeom xmlns:a="http://schemas.openxmlformats.org/drawingml/2006/main" prst="triangle">
            <a:avLst/>
          </a:prstGeom>
          <a:solidFill xmlns:a="http://schemas.openxmlformats.org/drawingml/2006/main">
            <a:srgbClr val="29ABE2"/>
          </a:solidFill>
        </p:spPr>
      </p:sp>
      <p:sp>
        <p:nvSpPr>
          <p:cNvPr id="9" name="Shape 7">
            <a:extLst xmlns:a="http://schemas.openxmlformats.org/drawingml/2006/main">
              <a:ext uri="{FF2B5EF4-FFF2-40B4-BE49-F238E27FC236}">
                <a16:creationId xmlns:a16="http://schemas.microsoft.com/office/drawing/2014/main" id="{215085DD-BEE4-4103-87D5-F934DA89290D}"/>
              </a:ext>
            </a:extLst>
          </p:cNvPr>
          <p:cNvSpPr>
            <a:spLocks xmlns:a="http://schemas.openxmlformats.org/drawingml/2006/main" noGrp="1"/>
          </p:cNvSpPr>
          <p:nvPr/>
        </p:nvSpPr>
        <p:spPr>
          <a:xfrm xmlns:a="http://schemas.openxmlformats.org/drawingml/2006/main" rot="5400000">
            <a:off x="11088380" y="1124712"/>
            <a:ext cx="329184" cy="288036"/>
          </a:xfrm>
          <a:prstGeom xmlns:a="http://schemas.openxmlformats.org/drawingml/2006/main" prst="triangle">
            <a:avLst/>
          </a:prstGeom>
          <a:solidFill xmlns:a="http://schemas.openxmlformats.org/drawingml/2006/main">
            <a:srgbClr val="F58220"/>
          </a:solidFill>
        </p:spPr>
      </p:sp>
      <p:sp>
        <p:nvSpPr>
          <p:cNvPr id="10" name="Shape 8">
            <a:extLst xmlns:a="http://schemas.openxmlformats.org/drawingml/2006/main">
              <a:ext uri="{FF2B5EF4-FFF2-40B4-BE49-F238E27FC236}">
                <a16:creationId xmlns:a16="http://schemas.microsoft.com/office/drawing/2014/main" id="{C15AF454-C1B9-499E-8515-99EC4056B151}"/>
              </a:ext>
            </a:extLst>
          </p:cNvPr>
          <p:cNvSpPr>
            <a:spLocks xmlns:a="http://schemas.openxmlformats.org/drawingml/2006/main" noGrp="1"/>
          </p:cNvSpPr>
          <p:nvPr/>
        </p:nvSpPr>
        <p:spPr>
          <a:xfrm xmlns:a="http://schemas.openxmlformats.org/drawingml/2006/main" rot="5400000" flipH="1">
            <a:off x="640080" y="5875020"/>
            <a:ext cx="274320" cy="240030"/>
          </a:xfrm>
          <a:prstGeom xmlns:a="http://schemas.openxmlformats.org/drawingml/2006/main" prst="triangle">
            <a:avLst/>
          </a:prstGeom>
          <a:solidFill xmlns:a="http://schemas.openxmlformats.org/drawingml/2006/main">
            <a:srgbClr val="B9C8E8"/>
          </a:solidFill>
        </p:spPr>
      </p:sp>
      <p:sp>
        <p:nvSpPr>
          <p:cNvPr id="11" name="Shape 9">
            <a:extLst xmlns:a="http://schemas.openxmlformats.org/drawingml/2006/main">
              <a:ext uri="{FF2B5EF4-FFF2-40B4-BE49-F238E27FC236}">
                <a16:creationId xmlns:a16="http://schemas.microsoft.com/office/drawing/2014/main" id="{9FE24564-2CF6-4159-8431-B88D7C496F65}"/>
              </a:ext>
            </a:extLst>
          </p:cNvPr>
          <p:cNvSpPr>
            <a:spLocks xmlns:a="http://schemas.openxmlformats.org/drawingml/2006/main" noGrp="1"/>
          </p:cNvSpPr>
          <p:nvPr/>
        </p:nvSpPr>
        <p:spPr>
          <a:xfrm xmlns:a="http://schemas.openxmlformats.org/drawingml/2006/main" rot="5400000">
            <a:off x="930859" y="5634990"/>
            <a:ext cx="274320" cy="240030"/>
          </a:xfrm>
          <a:prstGeom xmlns:a="http://schemas.openxmlformats.org/drawingml/2006/main" prst="triangle">
            <a:avLst/>
          </a:prstGeom>
          <a:solidFill xmlns:a="http://schemas.openxmlformats.org/drawingml/2006/main">
            <a:srgbClr val="DCE6F8"/>
          </a:solidFill>
        </p:spPr>
      </p:sp>
      <p:sp>
        <p:nvSpPr>
          <p:cNvPr id="12" name="Shape 10">
            <a:extLst xmlns:a="http://schemas.openxmlformats.org/drawingml/2006/main">
              <a:ext uri="{FF2B5EF4-FFF2-40B4-BE49-F238E27FC236}">
                <a16:creationId xmlns:a16="http://schemas.microsoft.com/office/drawing/2014/main" id="{F282512C-B573-4A6D-A908-63C20067C596}"/>
              </a:ext>
            </a:extLst>
          </p:cNvPr>
          <p:cNvSpPr>
            <a:spLocks xmlns:a="http://schemas.openxmlformats.org/drawingml/2006/main" noGrp="1"/>
          </p:cNvSpPr>
          <p:nvPr/>
        </p:nvSpPr>
        <p:spPr>
          <a:xfrm xmlns:a="http://schemas.openxmlformats.org/drawingml/2006/main" rot="5400000">
            <a:off x="930859" y="6115050"/>
            <a:ext cx="274320" cy="240030"/>
          </a:xfrm>
          <a:prstGeom xmlns:a="http://schemas.openxmlformats.org/drawingml/2006/main" prst="triangle">
            <a:avLst/>
          </a:prstGeom>
          <a:solidFill xmlns:a="http://schemas.openxmlformats.org/drawingml/2006/main">
            <a:srgbClr val="00A79D"/>
          </a:solidFill>
        </p:spPr>
      </p:sp>
      <p:sp>
        <p:nvSpPr>
          <p:cNvPr id="13" name="Shape 11">
            <a:extLst xmlns:a="http://schemas.openxmlformats.org/drawingml/2006/main">
              <a:ext uri="{FF2B5EF4-FFF2-40B4-BE49-F238E27FC236}">
                <a16:creationId xmlns:a16="http://schemas.microsoft.com/office/drawing/2014/main" id="{7DB74464-B745-48C5-80CE-248E3C01ACF0}"/>
              </a:ext>
            </a:extLst>
          </p:cNvPr>
          <p:cNvSpPr>
            <a:spLocks xmlns:a="http://schemas.openxmlformats.org/drawingml/2006/main" noGrp="1"/>
          </p:cNvSpPr>
          <p:nvPr/>
        </p:nvSpPr>
        <p:spPr>
          <a:xfrm xmlns:a="http://schemas.openxmlformats.org/drawingml/2006/main" rot="5400000" flipH="1">
            <a:off x="1221638" y="5394960"/>
            <a:ext cx="274320" cy="240030"/>
          </a:xfrm>
          <a:prstGeom xmlns:a="http://schemas.openxmlformats.org/drawingml/2006/main" prst="triangle">
            <a:avLst/>
          </a:prstGeom>
          <a:solidFill xmlns:a="http://schemas.openxmlformats.org/drawingml/2006/main">
            <a:srgbClr val="29ABE2"/>
          </a:solidFill>
        </p:spPr>
      </p:sp>
      <p:sp>
        <p:nvSpPr>
          <p:cNvPr id="14" name="Shape 12">
            <a:extLst xmlns:a="http://schemas.openxmlformats.org/drawingml/2006/main">
              <a:ext uri="{FF2B5EF4-FFF2-40B4-BE49-F238E27FC236}">
                <a16:creationId xmlns:a16="http://schemas.microsoft.com/office/drawing/2014/main" id="{8A460333-38F5-4DB4-9EBA-B752B421C1A9}"/>
              </a:ext>
            </a:extLst>
          </p:cNvPr>
          <p:cNvSpPr>
            <a:spLocks xmlns:a="http://schemas.openxmlformats.org/drawingml/2006/main" noGrp="1"/>
          </p:cNvSpPr>
          <p:nvPr/>
        </p:nvSpPr>
        <p:spPr>
          <a:xfrm xmlns:a="http://schemas.openxmlformats.org/drawingml/2006/main" rot="5400000">
            <a:off x="1221638" y="5875020"/>
            <a:ext cx="274320" cy="240030"/>
          </a:xfrm>
          <a:prstGeom xmlns:a="http://schemas.openxmlformats.org/drawingml/2006/main" prst="triangle">
            <a:avLst/>
          </a:prstGeom>
          <a:solidFill xmlns:a="http://schemas.openxmlformats.org/drawingml/2006/main">
            <a:srgbClr val="B9C8E8"/>
          </a:solidFill>
        </p:spPr>
      </p:sp>
      <p:sp>
        <p:nvSpPr>
          <p:cNvPr id="15" name="Shape 13">
            <a:extLst xmlns:a="http://schemas.openxmlformats.org/drawingml/2006/main">
              <a:ext uri="{FF2B5EF4-FFF2-40B4-BE49-F238E27FC236}">
                <a16:creationId xmlns:a16="http://schemas.microsoft.com/office/drawing/2014/main" id="{9BEB7285-E269-4278-AB1A-9E84826AD67C}"/>
              </a:ext>
            </a:extLst>
          </p:cNvPr>
          <p:cNvSpPr>
            <a:spLocks xmlns:a="http://schemas.openxmlformats.org/drawingml/2006/main" noGrp="1"/>
          </p:cNvSpPr>
          <p:nvPr/>
        </p:nvSpPr>
        <p:spPr>
          <a:xfrm xmlns:a="http://schemas.openxmlformats.org/drawingml/2006/main" rot="5400000">
            <a:off x="1512418" y="5634990"/>
            <a:ext cx="274320" cy="240030"/>
          </a:xfrm>
          <a:prstGeom xmlns:a="http://schemas.openxmlformats.org/drawingml/2006/main" prst="triangle">
            <a:avLst/>
          </a:prstGeom>
          <a:solidFill xmlns:a="http://schemas.openxmlformats.org/drawingml/2006/main">
            <a:srgbClr val="DCE6F8"/>
          </a:solidFill>
        </p:spPr>
      </p:sp>
      <p:sp>
        <p:nvSpPr>
          <p:cNvPr id="16" name="Shape 14">
            <a:extLst xmlns:a="http://schemas.openxmlformats.org/drawingml/2006/main">
              <a:ext uri="{FF2B5EF4-FFF2-40B4-BE49-F238E27FC236}">
                <a16:creationId xmlns:a16="http://schemas.microsoft.com/office/drawing/2014/main" id="{BCFD0F19-0E39-486A-BDB3-7B0BAF41312B}"/>
              </a:ext>
            </a:extLst>
          </p:cNvPr>
          <p:cNvSpPr>
            <a:spLocks xmlns:a="http://schemas.openxmlformats.org/drawingml/2006/main" noGrp="1"/>
          </p:cNvSpPr>
          <p:nvPr/>
        </p:nvSpPr>
        <p:spPr>
          <a:xfrm xmlns:a="http://schemas.openxmlformats.org/drawingml/2006/main" rot="5400000" flipH="1">
            <a:off x="1512418" y="6115050"/>
            <a:ext cx="274320" cy="240030"/>
          </a:xfrm>
          <a:prstGeom xmlns:a="http://schemas.openxmlformats.org/drawingml/2006/main" prst="triangle">
            <a:avLst/>
          </a:prstGeom>
          <a:solidFill xmlns:a="http://schemas.openxmlformats.org/drawingml/2006/main">
            <a:srgbClr val="00A79D"/>
          </a:solidFill>
        </p:spPr>
      </p:sp>
      <p:sp>
        <p:nvSpPr>
          <p:cNvPr id="17" name="Shape 15">
            <a:extLst xmlns:a="http://schemas.openxmlformats.org/drawingml/2006/main">
              <a:ext uri="{FF2B5EF4-FFF2-40B4-BE49-F238E27FC236}">
                <a16:creationId xmlns:a16="http://schemas.microsoft.com/office/drawing/2014/main" id="{17ADEF0C-E3F8-4277-9E8D-32D3050E2178}"/>
              </a:ext>
            </a:extLst>
          </p:cNvPr>
          <p:cNvSpPr>
            <a:spLocks xmlns:a="http://schemas.openxmlformats.org/drawingml/2006/main" noGrp="1"/>
          </p:cNvSpPr>
          <p:nvPr/>
        </p:nvSpPr>
        <p:spPr>
          <a:xfrm xmlns:a="http://schemas.openxmlformats.org/drawingml/2006/main" rot="5400000">
            <a:off x="1803197" y="5875020"/>
            <a:ext cx="274320" cy="240030"/>
          </a:xfrm>
          <a:prstGeom xmlns:a="http://schemas.openxmlformats.org/drawingml/2006/main" prst="triangle">
            <a:avLst/>
          </a:prstGeom>
          <a:solidFill xmlns:a="http://schemas.openxmlformats.org/drawingml/2006/main">
            <a:srgbClr val="29ABE2"/>
          </a:solidFill>
        </p:spPr>
      </p:sp>
      <p:sp>
        <p:nvSpPr>
          <p:cNvPr id="18" name="Text 16">
            <a:extLst xmlns:a="http://schemas.openxmlformats.org/drawingml/2006/main">
              <a:ext uri="{FF2B5EF4-FFF2-40B4-BE49-F238E27FC236}">
                <a16:creationId xmlns:a16="http://schemas.microsoft.com/office/drawing/2014/main" id="{FE97CC68-9313-4FAC-8327-F272067DE13F}"/>
              </a:ext>
            </a:extLst>
          </p:cNvPr>
          <p:cNvSpPr>
            <a:spLocks xmlns:a="http://schemas.openxmlformats.org/drawingml/2006/main" noGrp="1"/>
          </p:cNvSpPr>
          <p:nvPr/>
        </p:nvSpPr>
        <p:spPr>
          <a:xfrm xmlns:a="http://schemas.openxmlformats.org/drawingml/2006/main">
            <a:off x="1097280" y="192024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spc="300">
                <a:solidFill>
                  <a:srgbClr val="00A79D"/>
                </a:solidFill>
                <a:latin typeface="Calibri"/>
                <a:ea typeface="Calibri"/>
                <a:cs typeface="Calibri"/>
              </a:rPr>
              <a:t>MODULE 4 · TAKEAWAY</a:t>
            </a:r>
            <a:endParaRPr sz="1300"/>
          </a:p>
        </p:txBody>
      </p:sp>
      <p:sp>
        <p:nvSpPr>
          <p:cNvPr id="19" name="Text 17">
            <a:extLst xmlns:a="http://schemas.openxmlformats.org/drawingml/2006/main">
              <a:ext uri="{FF2B5EF4-FFF2-40B4-BE49-F238E27FC236}">
                <a16:creationId xmlns:a16="http://schemas.microsoft.com/office/drawing/2014/main" id="{BA930A71-2A1A-46C3-81BB-D6E197A40BD4}"/>
              </a:ext>
            </a:extLst>
          </p:cNvPr>
          <p:cNvSpPr>
            <a:spLocks xmlns:a="http://schemas.openxmlformats.org/drawingml/2006/main" noGrp="1"/>
          </p:cNvSpPr>
          <p:nvPr/>
        </p:nvSpPr>
        <p:spPr>
          <a:xfrm xmlns:a="http://schemas.openxmlformats.org/drawingml/2006/main">
            <a:off x="1097280" y="2377440"/>
            <a:ext cx="9994392" cy="1737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3000" b="1">
                <a:solidFill>
                  <a:srgbClr val="1D2A5C"/>
                </a:solidFill>
                <a:latin typeface="Calibri"/>
                <a:ea typeface="Calibri"/>
                <a:cs typeface="Calibri"/>
              </a:rPr>
              <a:t>A model can be wrong while running perfectly — only behavioural tests catch broken behaviour.</a:t>
            </a:r>
            <a:endParaRPr sz="3000"/>
          </a:p>
        </p:txBody>
      </p:sp>
      <p:sp>
        <p:nvSpPr>
          <p:cNvPr id="20" name="Text 18">
            <a:extLst xmlns:a="http://schemas.openxmlformats.org/drawingml/2006/main">
              <a:ext uri="{FF2B5EF4-FFF2-40B4-BE49-F238E27FC236}">
                <a16:creationId xmlns:a16="http://schemas.microsoft.com/office/drawing/2014/main" id="{70BC6A6E-D49B-44D0-904C-842EB235FBDC}"/>
              </a:ext>
            </a:extLst>
          </p:cNvPr>
          <p:cNvSpPr>
            <a:spLocks xmlns:a="http://schemas.openxmlformats.org/drawingml/2006/main" noGrp="1"/>
          </p:cNvSpPr>
          <p:nvPr/>
        </p:nvSpPr>
        <p:spPr>
          <a:xfrm xmlns:a="http://schemas.openxmlformats.org/drawingml/2006/main">
            <a:off x="2011680" y="4251960"/>
            <a:ext cx="8165592"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350">
                <a:solidFill>
                  <a:srgbClr val="5F6B7A"/>
                </a:solidFill>
                <a:latin typeface="Calibri"/>
                <a:ea typeface="Calibri"/>
                <a:cs typeface="Calibri"/>
              </a:rPr>
              <a:t>Unit for logic, integration for the contract, invariance/directional/golden for the model — 47 tests, 3.8 seconds, every commit.</a:t>
            </a:r>
            <a:endParaRPr sz="1350"/>
          </a:p>
        </p:txBody>
      </p:sp>
      <p:pic>
        <p:nvPicPr>
          <p:cNvPr id="44" name="Image 0"/>
          <p:cNvPicPr>
            <a:picLocks xmlns:a="http://schemas.openxmlformats.org/drawingml/2006/main" noChangeAspect="1"/>
          </p:cNvPicPr>
          <p:nvPr/>
        </p:nvPicPr>
        <p:blipFill>
          <a:blip xmlns:r="http://schemas.openxmlformats.org/officeDocument/2006/relationships" xmlns:a="http://schemas.openxmlformats.org/drawingml/2006/main" r:embed="R0f49202f0f0e4035"/>
          <a:stretch xmlns:a="http://schemas.openxmlformats.org/drawingml/2006/main">
            <a:fillRect l="0" t="0" r="0" b="0"/>
          </a:stretch>
        </p:blipFill>
        <p:spPr>
          <a:xfrm xmlns:a="http://schemas.openxmlformats.org/drawingml/2006/main">
            <a:off x="5559552" y="6172200"/>
            <a:ext cx="1078992" cy="265176"/>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0E72F828-69FA-4F74-AB7F-B64134EF1DC8}"/>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 MODULE 4   </a:t>
            </a:r>
            <a:r>
              <a:rPr sz="850" spc="100">
                <a:solidFill>
                  <a:srgbClr val="8A96A6"/>
                </a:solidFill>
                <a:latin typeface="Calibri"/>
                <a:ea typeface="Calibri"/>
                <a:cs typeface="Calibri"/>
              </a:rPr>
              <a:t>SDA-AIE-113 · Software Engineering Practices for AI Systems</a:t>
            </a:r>
            <a:endParaRPr sz="850"/>
          </a:p>
        </p:txBody>
      </p:sp>
      <p:sp>
        <p:nvSpPr>
          <p:cNvPr id="23" name="Text 20">
            <a:extLst xmlns:a="http://schemas.openxmlformats.org/drawingml/2006/main">
              <a:ext uri="{FF2B5EF4-FFF2-40B4-BE49-F238E27FC236}">
                <a16:creationId xmlns:a16="http://schemas.microsoft.com/office/drawing/2014/main" id="{05F3BBC3-03DF-4359-897E-200DB78E9DDF}"/>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100</a:t>
            </a:r>
            <a:endParaRPr sz="850"/>
          </a:p>
        </p:txBody>
      </p:sp>
    </p:spTree>
    <p:extLst>
      <p:ext uri="{BB962C8B-B14F-4D97-AF65-F5344CB8AC3E}">
        <p14:creationId xmlns:p14="http://schemas.microsoft.com/office/powerpoint/2010/main" val="315254851"/>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E123497-59F2-448B-BB7C-2A49A2755D95}"/>
              </a:ext>
            </a:extLst>
          </p:cNvPr>
          <p:cNvSpPr>
            <a:spLocks xmlns:a="http://schemas.openxmlformats.org/drawingml/2006/main" noGrp="1"/>
          </p:cNvSpPr>
          <p:nvPr/>
        </p:nvSpPr>
        <p:spPr>
          <a:xfrm xmlns:a="http://schemas.openxmlformats.org/drawingml/2006/main" rot="5400000" flipH="1">
            <a:off x="9692640" y="1124712"/>
            <a:ext cx="329184" cy="288036"/>
          </a:xfrm>
          <a:prstGeom xmlns:a="http://schemas.openxmlformats.org/drawingml/2006/main" prst="triangle">
            <a:avLst/>
          </a:prstGeom>
          <a:solidFill xmlns:a="http://schemas.openxmlformats.org/drawingml/2006/main">
            <a:srgbClr val="00A79D"/>
          </a:solidFill>
        </p:spPr>
      </p:sp>
      <p:sp>
        <p:nvSpPr>
          <p:cNvPr id="3" name="Shape 1">
            <a:extLst xmlns:a="http://schemas.openxmlformats.org/drawingml/2006/main">
              <a:ext uri="{FF2B5EF4-FFF2-40B4-BE49-F238E27FC236}">
                <a16:creationId xmlns:a16="http://schemas.microsoft.com/office/drawing/2014/main" id="{A8F729CB-11B2-4CC0-B23B-2268E3C4F1F6}"/>
              </a:ext>
            </a:extLst>
          </p:cNvPr>
          <p:cNvSpPr>
            <a:spLocks xmlns:a="http://schemas.openxmlformats.org/drawingml/2006/main" noGrp="1"/>
          </p:cNvSpPr>
          <p:nvPr/>
        </p:nvSpPr>
        <p:spPr>
          <a:xfrm xmlns:a="http://schemas.openxmlformats.org/drawingml/2006/main" rot="5400000">
            <a:off x="10041575" y="836676"/>
            <a:ext cx="329184" cy="288036"/>
          </a:xfrm>
          <a:prstGeom xmlns:a="http://schemas.openxmlformats.org/drawingml/2006/main" prst="triangle">
            <a:avLst/>
          </a:prstGeom>
          <a:solidFill xmlns:a="http://schemas.openxmlformats.org/drawingml/2006/main">
            <a:srgbClr val="29ABE2"/>
          </a:solidFill>
        </p:spPr>
      </p:sp>
      <p:sp>
        <p:nvSpPr>
          <p:cNvPr id="4" name="Shape 2">
            <a:extLst xmlns:a="http://schemas.openxmlformats.org/drawingml/2006/main">
              <a:ext uri="{FF2B5EF4-FFF2-40B4-BE49-F238E27FC236}">
                <a16:creationId xmlns:a16="http://schemas.microsoft.com/office/drawing/2014/main" id="{DE389D01-3B87-4809-8068-AF85C3C6E797}"/>
              </a:ext>
            </a:extLst>
          </p:cNvPr>
          <p:cNvSpPr>
            <a:spLocks xmlns:a="http://schemas.openxmlformats.org/drawingml/2006/main" noGrp="1"/>
          </p:cNvSpPr>
          <p:nvPr/>
        </p:nvSpPr>
        <p:spPr>
          <a:xfrm xmlns:a="http://schemas.openxmlformats.org/drawingml/2006/main" rot="5400000">
            <a:off x="10041575" y="1412748"/>
            <a:ext cx="329184" cy="288036"/>
          </a:xfrm>
          <a:prstGeom xmlns:a="http://schemas.openxmlformats.org/drawingml/2006/main" prst="triangle">
            <a:avLst/>
          </a:prstGeom>
          <a:solidFill xmlns:a="http://schemas.openxmlformats.org/drawingml/2006/main">
            <a:srgbClr val="F58220"/>
          </a:solidFill>
        </p:spPr>
      </p:sp>
      <p:sp>
        <p:nvSpPr>
          <p:cNvPr id="5" name="Shape 3">
            <a:extLst xmlns:a="http://schemas.openxmlformats.org/drawingml/2006/main">
              <a:ext uri="{FF2B5EF4-FFF2-40B4-BE49-F238E27FC236}">
                <a16:creationId xmlns:a16="http://schemas.microsoft.com/office/drawing/2014/main" id="{39257455-17F9-4135-9EBC-0966A953A18E}"/>
              </a:ext>
            </a:extLst>
          </p:cNvPr>
          <p:cNvSpPr>
            <a:spLocks xmlns:a="http://schemas.openxmlformats.org/drawingml/2006/main" noGrp="1"/>
          </p:cNvSpPr>
          <p:nvPr/>
        </p:nvSpPr>
        <p:spPr>
          <a:xfrm xmlns:a="http://schemas.openxmlformats.org/drawingml/2006/main" rot="5400000" flipH="1">
            <a:off x="10390510" y="548640"/>
            <a:ext cx="329184" cy="288036"/>
          </a:xfrm>
          <a:prstGeom xmlns:a="http://schemas.openxmlformats.org/drawingml/2006/main" prst="triangle">
            <a:avLst/>
          </a:prstGeom>
          <a:solidFill xmlns:a="http://schemas.openxmlformats.org/drawingml/2006/main">
            <a:srgbClr val="8DC63F"/>
          </a:solidFill>
        </p:spPr>
      </p:sp>
      <p:sp>
        <p:nvSpPr>
          <p:cNvPr id="6" name="Shape 4">
            <a:extLst xmlns:a="http://schemas.openxmlformats.org/drawingml/2006/main">
              <a:ext uri="{FF2B5EF4-FFF2-40B4-BE49-F238E27FC236}">
                <a16:creationId xmlns:a16="http://schemas.microsoft.com/office/drawing/2014/main" id="{296CC7DB-ADA7-46EA-89F5-9DDEA022EE7A}"/>
              </a:ext>
            </a:extLst>
          </p:cNvPr>
          <p:cNvSpPr>
            <a:spLocks xmlns:a="http://schemas.openxmlformats.org/drawingml/2006/main" noGrp="1"/>
          </p:cNvSpPr>
          <p:nvPr/>
        </p:nvSpPr>
        <p:spPr>
          <a:xfrm xmlns:a="http://schemas.openxmlformats.org/drawingml/2006/main" rot="5400000">
            <a:off x="10390510" y="1124712"/>
            <a:ext cx="329184" cy="288036"/>
          </a:xfrm>
          <a:prstGeom xmlns:a="http://schemas.openxmlformats.org/drawingml/2006/main" prst="triangle">
            <a:avLst/>
          </a:prstGeom>
          <a:solidFill xmlns:a="http://schemas.openxmlformats.org/drawingml/2006/main">
            <a:srgbClr val="B9C8E8"/>
          </a:solidFill>
        </p:spPr>
      </p:sp>
      <p:sp>
        <p:nvSpPr>
          <p:cNvPr id="7" name="Shape 5">
            <a:extLst xmlns:a="http://schemas.openxmlformats.org/drawingml/2006/main">
              <a:ext uri="{FF2B5EF4-FFF2-40B4-BE49-F238E27FC236}">
                <a16:creationId xmlns:a16="http://schemas.microsoft.com/office/drawing/2014/main" id="{320E375E-7192-423F-91CE-D2E31BEB2CC2}"/>
              </a:ext>
            </a:extLst>
          </p:cNvPr>
          <p:cNvSpPr>
            <a:spLocks xmlns:a="http://schemas.openxmlformats.org/drawingml/2006/main" noGrp="1"/>
          </p:cNvSpPr>
          <p:nvPr/>
        </p:nvSpPr>
        <p:spPr>
          <a:xfrm xmlns:a="http://schemas.openxmlformats.org/drawingml/2006/main" rot="5400000">
            <a:off x="10739445" y="836676"/>
            <a:ext cx="329184" cy="288036"/>
          </a:xfrm>
          <a:prstGeom xmlns:a="http://schemas.openxmlformats.org/drawingml/2006/main" prst="triangle">
            <a:avLst/>
          </a:prstGeom>
          <a:solidFill xmlns:a="http://schemas.openxmlformats.org/drawingml/2006/main">
            <a:srgbClr val="00A79D"/>
          </a:solidFill>
        </p:spPr>
      </p:sp>
      <p:sp>
        <p:nvSpPr>
          <p:cNvPr id="8" name="Shape 6">
            <a:extLst xmlns:a="http://schemas.openxmlformats.org/drawingml/2006/main">
              <a:ext uri="{FF2B5EF4-FFF2-40B4-BE49-F238E27FC236}">
                <a16:creationId xmlns:a16="http://schemas.microsoft.com/office/drawing/2014/main" id="{599BE57A-06DD-47F6-A0E7-2CC9DB0ACC1B}"/>
              </a:ext>
            </a:extLst>
          </p:cNvPr>
          <p:cNvSpPr>
            <a:spLocks xmlns:a="http://schemas.openxmlformats.org/drawingml/2006/main" noGrp="1"/>
          </p:cNvSpPr>
          <p:nvPr/>
        </p:nvSpPr>
        <p:spPr>
          <a:xfrm xmlns:a="http://schemas.openxmlformats.org/drawingml/2006/main" rot="5400000" flipH="1">
            <a:off x="10739445" y="1412748"/>
            <a:ext cx="329184" cy="288036"/>
          </a:xfrm>
          <a:prstGeom xmlns:a="http://schemas.openxmlformats.org/drawingml/2006/main" prst="triangle">
            <a:avLst/>
          </a:prstGeom>
          <a:solidFill xmlns:a="http://schemas.openxmlformats.org/drawingml/2006/main">
            <a:srgbClr val="29ABE2"/>
          </a:solidFill>
        </p:spPr>
      </p:sp>
      <p:sp>
        <p:nvSpPr>
          <p:cNvPr id="9" name="Shape 7">
            <a:extLst xmlns:a="http://schemas.openxmlformats.org/drawingml/2006/main">
              <a:ext uri="{FF2B5EF4-FFF2-40B4-BE49-F238E27FC236}">
                <a16:creationId xmlns:a16="http://schemas.microsoft.com/office/drawing/2014/main" id="{9743885F-5F71-496D-BC16-A143C0CB2B0F}"/>
              </a:ext>
            </a:extLst>
          </p:cNvPr>
          <p:cNvSpPr>
            <a:spLocks xmlns:a="http://schemas.openxmlformats.org/drawingml/2006/main" noGrp="1"/>
          </p:cNvSpPr>
          <p:nvPr/>
        </p:nvSpPr>
        <p:spPr>
          <a:xfrm xmlns:a="http://schemas.openxmlformats.org/drawingml/2006/main" rot="5400000">
            <a:off x="11088380" y="1124712"/>
            <a:ext cx="329184" cy="288036"/>
          </a:xfrm>
          <a:prstGeom xmlns:a="http://schemas.openxmlformats.org/drawingml/2006/main" prst="triangle">
            <a:avLst/>
          </a:prstGeom>
          <a:solidFill xmlns:a="http://schemas.openxmlformats.org/drawingml/2006/main">
            <a:srgbClr val="F58220"/>
          </a:solidFill>
        </p:spPr>
      </p:sp>
      <p:sp>
        <p:nvSpPr>
          <p:cNvPr id="10" name="Shape 8">
            <a:extLst xmlns:a="http://schemas.openxmlformats.org/drawingml/2006/main">
              <a:ext uri="{FF2B5EF4-FFF2-40B4-BE49-F238E27FC236}">
                <a16:creationId xmlns:a16="http://schemas.microsoft.com/office/drawing/2014/main" id="{B7F1B7FA-F48A-47FC-ABB7-CA6D66B38E89}"/>
              </a:ext>
            </a:extLst>
          </p:cNvPr>
          <p:cNvSpPr>
            <a:spLocks xmlns:a="http://schemas.openxmlformats.org/drawingml/2006/main" noGrp="1"/>
          </p:cNvSpPr>
          <p:nvPr/>
        </p:nvSpPr>
        <p:spPr>
          <a:xfrm xmlns:a="http://schemas.openxmlformats.org/drawingml/2006/main" rot="5400000" flipH="1">
            <a:off x="640080" y="5875020"/>
            <a:ext cx="274320" cy="240030"/>
          </a:xfrm>
          <a:prstGeom xmlns:a="http://schemas.openxmlformats.org/drawingml/2006/main" prst="triangle">
            <a:avLst/>
          </a:prstGeom>
          <a:solidFill xmlns:a="http://schemas.openxmlformats.org/drawingml/2006/main">
            <a:srgbClr val="B9C8E8"/>
          </a:solidFill>
        </p:spPr>
      </p:sp>
      <p:sp>
        <p:nvSpPr>
          <p:cNvPr id="11" name="Shape 9">
            <a:extLst xmlns:a="http://schemas.openxmlformats.org/drawingml/2006/main">
              <a:ext uri="{FF2B5EF4-FFF2-40B4-BE49-F238E27FC236}">
                <a16:creationId xmlns:a16="http://schemas.microsoft.com/office/drawing/2014/main" id="{2AF622A4-8311-4057-9810-E87CD9F6D53F}"/>
              </a:ext>
            </a:extLst>
          </p:cNvPr>
          <p:cNvSpPr>
            <a:spLocks xmlns:a="http://schemas.openxmlformats.org/drawingml/2006/main" noGrp="1"/>
          </p:cNvSpPr>
          <p:nvPr/>
        </p:nvSpPr>
        <p:spPr>
          <a:xfrm xmlns:a="http://schemas.openxmlformats.org/drawingml/2006/main" rot="5400000">
            <a:off x="930859" y="5634990"/>
            <a:ext cx="274320" cy="240030"/>
          </a:xfrm>
          <a:prstGeom xmlns:a="http://schemas.openxmlformats.org/drawingml/2006/main" prst="triangle">
            <a:avLst/>
          </a:prstGeom>
          <a:solidFill xmlns:a="http://schemas.openxmlformats.org/drawingml/2006/main">
            <a:srgbClr val="DCE6F8"/>
          </a:solidFill>
        </p:spPr>
      </p:sp>
      <p:sp>
        <p:nvSpPr>
          <p:cNvPr id="12" name="Shape 10">
            <a:extLst xmlns:a="http://schemas.openxmlformats.org/drawingml/2006/main">
              <a:ext uri="{FF2B5EF4-FFF2-40B4-BE49-F238E27FC236}">
                <a16:creationId xmlns:a16="http://schemas.microsoft.com/office/drawing/2014/main" id="{B96B4F74-840E-4C3A-91F2-7E65DD0E53ED}"/>
              </a:ext>
            </a:extLst>
          </p:cNvPr>
          <p:cNvSpPr>
            <a:spLocks xmlns:a="http://schemas.openxmlformats.org/drawingml/2006/main" noGrp="1"/>
          </p:cNvSpPr>
          <p:nvPr/>
        </p:nvSpPr>
        <p:spPr>
          <a:xfrm xmlns:a="http://schemas.openxmlformats.org/drawingml/2006/main" rot="5400000">
            <a:off x="930859" y="6115050"/>
            <a:ext cx="274320" cy="240030"/>
          </a:xfrm>
          <a:prstGeom xmlns:a="http://schemas.openxmlformats.org/drawingml/2006/main" prst="triangle">
            <a:avLst/>
          </a:prstGeom>
          <a:solidFill xmlns:a="http://schemas.openxmlformats.org/drawingml/2006/main">
            <a:srgbClr val="00A79D"/>
          </a:solidFill>
        </p:spPr>
      </p:sp>
      <p:sp>
        <p:nvSpPr>
          <p:cNvPr id="13" name="Shape 11">
            <a:extLst xmlns:a="http://schemas.openxmlformats.org/drawingml/2006/main">
              <a:ext uri="{FF2B5EF4-FFF2-40B4-BE49-F238E27FC236}">
                <a16:creationId xmlns:a16="http://schemas.microsoft.com/office/drawing/2014/main" id="{8E013587-CF23-48A1-81A0-D7A871615ADA}"/>
              </a:ext>
            </a:extLst>
          </p:cNvPr>
          <p:cNvSpPr>
            <a:spLocks xmlns:a="http://schemas.openxmlformats.org/drawingml/2006/main" noGrp="1"/>
          </p:cNvSpPr>
          <p:nvPr/>
        </p:nvSpPr>
        <p:spPr>
          <a:xfrm xmlns:a="http://schemas.openxmlformats.org/drawingml/2006/main" rot="5400000" flipH="1">
            <a:off x="1221638" y="5394960"/>
            <a:ext cx="274320" cy="240030"/>
          </a:xfrm>
          <a:prstGeom xmlns:a="http://schemas.openxmlformats.org/drawingml/2006/main" prst="triangle">
            <a:avLst/>
          </a:prstGeom>
          <a:solidFill xmlns:a="http://schemas.openxmlformats.org/drawingml/2006/main">
            <a:srgbClr val="29ABE2"/>
          </a:solidFill>
        </p:spPr>
      </p:sp>
      <p:sp>
        <p:nvSpPr>
          <p:cNvPr id="14" name="Shape 12">
            <a:extLst xmlns:a="http://schemas.openxmlformats.org/drawingml/2006/main">
              <a:ext uri="{FF2B5EF4-FFF2-40B4-BE49-F238E27FC236}">
                <a16:creationId xmlns:a16="http://schemas.microsoft.com/office/drawing/2014/main" id="{48036467-30B5-4F6B-82B8-EA43D327DD26}"/>
              </a:ext>
            </a:extLst>
          </p:cNvPr>
          <p:cNvSpPr>
            <a:spLocks xmlns:a="http://schemas.openxmlformats.org/drawingml/2006/main" noGrp="1"/>
          </p:cNvSpPr>
          <p:nvPr/>
        </p:nvSpPr>
        <p:spPr>
          <a:xfrm xmlns:a="http://schemas.openxmlformats.org/drawingml/2006/main" rot="5400000">
            <a:off x="1221638" y="5875020"/>
            <a:ext cx="274320" cy="240030"/>
          </a:xfrm>
          <a:prstGeom xmlns:a="http://schemas.openxmlformats.org/drawingml/2006/main" prst="triangle">
            <a:avLst/>
          </a:prstGeom>
          <a:solidFill xmlns:a="http://schemas.openxmlformats.org/drawingml/2006/main">
            <a:srgbClr val="B9C8E8"/>
          </a:solidFill>
        </p:spPr>
      </p:sp>
      <p:sp>
        <p:nvSpPr>
          <p:cNvPr id="15" name="Shape 13">
            <a:extLst xmlns:a="http://schemas.openxmlformats.org/drawingml/2006/main">
              <a:ext uri="{FF2B5EF4-FFF2-40B4-BE49-F238E27FC236}">
                <a16:creationId xmlns:a16="http://schemas.microsoft.com/office/drawing/2014/main" id="{B76347AB-4289-4FB8-B58F-5F5F47EBCD81}"/>
              </a:ext>
            </a:extLst>
          </p:cNvPr>
          <p:cNvSpPr>
            <a:spLocks xmlns:a="http://schemas.openxmlformats.org/drawingml/2006/main" noGrp="1"/>
          </p:cNvSpPr>
          <p:nvPr/>
        </p:nvSpPr>
        <p:spPr>
          <a:xfrm xmlns:a="http://schemas.openxmlformats.org/drawingml/2006/main" rot="5400000">
            <a:off x="1512418" y="5634990"/>
            <a:ext cx="274320" cy="240030"/>
          </a:xfrm>
          <a:prstGeom xmlns:a="http://schemas.openxmlformats.org/drawingml/2006/main" prst="triangle">
            <a:avLst/>
          </a:prstGeom>
          <a:solidFill xmlns:a="http://schemas.openxmlformats.org/drawingml/2006/main">
            <a:srgbClr val="DCE6F8"/>
          </a:solidFill>
        </p:spPr>
      </p:sp>
      <p:sp>
        <p:nvSpPr>
          <p:cNvPr id="16" name="Shape 14">
            <a:extLst xmlns:a="http://schemas.openxmlformats.org/drawingml/2006/main">
              <a:ext uri="{FF2B5EF4-FFF2-40B4-BE49-F238E27FC236}">
                <a16:creationId xmlns:a16="http://schemas.microsoft.com/office/drawing/2014/main" id="{BAF1A20D-726D-41DD-9C9A-FE20CA3E49A8}"/>
              </a:ext>
            </a:extLst>
          </p:cNvPr>
          <p:cNvSpPr>
            <a:spLocks xmlns:a="http://schemas.openxmlformats.org/drawingml/2006/main" noGrp="1"/>
          </p:cNvSpPr>
          <p:nvPr/>
        </p:nvSpPr>
        <p:spPr>
          <a:xfrm xmlns:a="http://schemas.openxmlformats.org/drawingml/2006/main" rot="5400000" flipH="1">
            <a:off x="1512418" y="6115050"/>
            <a:ext cx="274320" cy="240030"/>
          </a:xfrm>
          <a:prstGeom xmlns:a="http://schemas.openxmlformats.org/drawingml/2006/main" prst="triangle">
            <a:avLst/>
          </a:prstGeom>
          <a:solidFill xmlns:a="http://schemas.openxmlformats.org/drawingml/2006/main">
            <a:srgbClr val="00A79D"/>
          </a:solidFill>
        </p:spPr>
      </p:sp>
      <p:sp>
        <p:nvSpPr>
          <p:cNvPr id="17" name="Shape 15">
            <a:extLst xmlns:a="http://schemas.openxmlformats.org/drawingml/2006/main">
              <a:ext uri="{FF2B5EF4-FFF2-40B4-BE49-F238E27FC236}">
                <a16:creationId xmlns:a16="http://schemas.microsoft.com/office/drawing/2014/main" id="{76416EF1-5607-41E6-B8E9-47C35C0E0D64}"/>
              </a:ext>
            </a:extLst>
          </p:cNvPr>
          <p:cNvSpPr>
            <a:spLocks xmlns:a="http://schemas.openxmlformats.org/drawingml/2006/main" noGrp="1"/>
          </p:cNvSpPr>
          <p:nvPr/>
        </p:nvSpPr>
        <p:spPr>
          <a:xfrm xmlns:a="http://schemas.openxmlformats.org/drawingml/2006/main" rot="5400000">
            <a:off x="1803197" y="5875020"/>
            <a:ext cx="274320" cy="240030"/>
          </a:xfrm>
          <a:prstGeom xmlns:a="http://schemas.openxmlformats.org/drawingml/2006/main" prst="triangle">
            <a:avLst/>
          </a:prstGeom>
          <a:solidFill xmlns:a="http://schemas.openxmlformats.org/drawingml/2006/main">
            <a:srgbClr val="29ABE2"/>
          </a:solidFill>
        </p:spPr>
      </p:sp>
      <p:sp>
        <p:nvSpPr>
          <p:cNvPr id="18" name="Text 16">
            <a:extLst xmlns:a="http://schemas.openxmlformats.org/drawingml/2006/main">
              <a:ext uri="{FF2B5EF4-FFF2-40B4-BE49-F238E27FC236}">
                <a16:creationId xmlns:a16="http://schemas.microsoft.com/office/drawing/2014/main" id="{F5919FD9-3C56-481A-BBCC-18686EFA80B6}"/>
              </a:ext>
            </a:extLst>
          </p:cNvPr>
          <p:cNvSpPr>
            <a:spLocks xmlns:a="http://schemas.openxmlformats.org/drawingml/2006/main" noGrp="1"/>
          </p:cNvSpPr>
          <p:nvPr/>
        </p:nvSpPr>
        <p:spPr>
          <a:xfrm xmlns:a="http://schemas.openxmlformats.org/drawingml/2006/main">
            <a:off x="1097280" y="192024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spc="300">
                <a:solidFill>
                  <a:srgbClr val="00A79D"/>
                </a:solidFill>
                <a:latin typeface="Calibri"/>
                <a:ea typeface="Calibri"/>
                <a:cs typeface="Calibri"/>
              </a:rPr>
              <a:t>DAY 2 · CLOSE</a:t>
            </a:r>
            <a:endParaRPr sz="1300"/>
          </a:p>
        </p:txBody>
      </p:sp>
      <p:sp>
        <p:nvSpPr>
          <p:cNvPr id="19" name="Text 17">
            <a:extLst xmlns:a="http://schemas.openxmlformats.org/drawingml/2006/main">
              <a:ext uri="{FF2B5EF4-FFF2-40B4-BE49-F238E27FC236}">
                <a16:creationId xmlns:a16="http://schemas.microsoft.com/office/drawing/2014/main" id="{DA8F42E5-AE3B-4A44-93E3-171655F39018}"/>
              </a:ext>
            </a:extLst>
          </p:cNvPr>
          <p:cNvSpPr>
            <a:spLocks xmlns:a="http://schemas.openxmlformats.org/drawingml/2006/main" noGrp="1"/>
          </p:cNvSpPr>
          <p:nvPr/>
        </p:nvSpPr>
        <p:spPr>
          <a:xfrm xmlns:a="http://schemas.openxmlformats.org/drawingml/2006/main">
            <a:off x="1097280" y="2377440"/>
            <a:ext cx="9994392" cy="1737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3000" b="1">
                <a:solidFill>
                  <a:srgbClr val="1D2A5C"/>
                </a:solidFill>
                <a:latin typeface="Calibri"/>
                <a:ea typeface="Calibri"/>
                <a:cs typeface="Calibri"/>
              </a:rPr>
              <a:t>The fraud service ships as a 412 MB proven artefact — containerised, healthchecked, tested at three levels.</a:t>
            </a:r>
            <a:endParaRPr sz="3000"/>
          </a:p>
        </p:txBody>
      </p:sp>
      <p:sp>
        <p:nvSpPr>
          <p:cNvPr id="20" name="Text 18">
            <a:extLst xmlns:a="http://schemas.openxmlformats.org/drawingml/2006/main">
              <a:ext uri="{FF2B5EF4-FFF2-40B4-BE49-F238E27FC236}">
                <a16:creationId xmlns:a16="http://schemas.microsoft.com/office/drawing/2014/main" id="{DB13CBFF-B880-4C81-83A6-1C4724D9E32F}"/>
              </a:ext>
            </a:extLst>
          </p:cNvPr>
          <p:cNvSpPr>
            <a:spLocks xmlns:a="http://schemas.openxmlformats.org/drawingml/2006/main" noGrp="1"/>
          </p:cNvSpPr>
          <p:nvPr/>
        </p:nvSpPr>
        <p:spPr>
          <a:xfrm xmlns:a="http://schemas.openxmlformats.org/drawingml/2006/main">
            <a:off x="2011680" y="4251960"/>
            <a:ext cx="8165592"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350">
                <a:solidFill>
                  <a:srgbClr val="5F6B7A"/>
                </a:solidFill>
                <a:latin typeface="Calibri"/>
                <a:ea typeface="Calibri"/>
                <a:cs typeface="Calibri"/>
              </a:rPr>
              <a:t>Tomorrow the pipeline takes over: CI/CD wires the image build and the test suite into an automated gate — every commit, every time.</a:t>
            </a:r>
            <a:endParaRPr sz="1350"/>
          </a:p>
        </p:txBody>
      </p:sp>
      <p:pic>
        <p:nvPicPr>
          <p:cNvPr id="44" name="Image 0"/>
          <p:cNvPicPr>
            <a:picLocks xmlns:a="http://schemas.openxmlformats.org/drawingml/2006/main" noChangeAspect="1"/>
          </p:cNvPicPr>
          <p:nvPr/>
        </p:nvPicPr>
        <p:blipFill>
          <a:blip xmlns:r="http://schemas.openxmlformats.org/officeDocument/2006/relationships" xmlns:a="http://schemas.openxmlformats.org/drawingml/2006/main" r:embed="R9a32a24645f145f4"/>
          <a:stretch xmlns:a="http://schemas.openxmlformats.org/drawingml/2006/main">
            <a:fillRect l="0" t="0" r="0" b="0"/>
          </a:stretch>
        </p:blipFill>
        <p:spPr>
          <a:xfrm xmlns:a="http://schemas.openxmlformats.org/drawingml/2006/main">
            <a:off x="5559552" y="6172200"/>
            <a:ext cx="1078992" cy="265176"/>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69F99D15-D1FF-4C98-B036-7885B4F136C2}"/>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2   </a:t>
            </a:r>
            <a:r>
              <a:rPr sz="850" spc="100">
                <a:solidFill>
                  <a:srgbClr val="8A96A6"/>
                </a:solidFill>
                <a:latin typeface="Calibri"/>
                <a:ea typeface="Calibri"/>
                <a:cs typeface="Calibri"/>
              </a:rPr>
              <a:t>SDA-AIE-113 · Software Engineering Practices for AI Systems</a:t>
            </a:r>
            <a:endParaRPr sz="850"/>
          </a:p>
        </p:txBody>
      </p:sp>
      <p:sp>
        <p:nvSpPr>
          <p:cNvPr id="23" name="Text 20">
            <a:extLst xmlns:a="http://schemas.openxmlformats.org/drawingml/2006/main">
              <a:ext uri="{FF2B5EF4-FFF2-40B4-BE49-F238E27FC236}">
                <a16:creationId xmlns:a16="http://schemas.microsoft.com/office/drawing/2014/main" id="{E3069764-5042-41A0-AF6D-D95432B59583}"/>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101</a:t>
            </a:r>
            <a:endParaRPr sz="850"/>
          </a:p>
        </p:txBody>
      </p:sp>
    </p:spTree>
    <p:extLst>
      <p:ext uri="{BB962C8B-B14F-4D97-AF65-F5344CB8AC3E}">
        <p14:creationId xmlns:p14="http://schemas.microsoft.com/office/powerpoint/2010/main" val="1109256288"/>
      </p:ext>
    </p:extLst>
  </p:cSld>
</p:sld>
</file>

<file path=ppt/slides/slide102.xml><?xml version="1.0" encoding="utf-8"?>
<p:sld xmlns:p="http://schemas.openxmlformats.org/presentationml/2006/main">
  <p:cSld>
    <p:bg>
      <p:bgPr>
        <a:solidFill xmlns:a="http://schemas.openxmlformats.org/drawingml/2006/main">
          <a:srgbClr val="1D2A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88DE75D-EA61-49BD-9A1D-396E22E05A6E}"/>
              </a:ext>
            </a:extLst>
          </p:cNvPr>
          <p:cNvSpPr>
            <a:spLocks xmlns:a="http://schemas.openxmlformats.org/drawingml/2006/main" noGrp="1"/>
          </p:cNvSpPr>
          <p:nvPr/>
        </p:nvSpPr>
        <p:spPr>
          <a:xfrm xmlns:a="http://schemas.openxmlformats.org/drawingml/2006/main" rot="5400000" flipH="1">
            <a:off x="9235440" y="1298448"/>
            <a:ext cx="402336" cy="352044"/>
          </a:xfrm>
          <a:prstGeom xmlns:a="http://schemas.openxmlformats.org/drawingml/2006/main" prst="triangle">
            <a:avLst/>
          </a:prstGeom>
          <a:solidFill xmlns:a="http://schemas.openxmlformats.org/drawingml/2006/main">
            <a:srgbClr val="00A79D"/>
          </a:solidFill>
        </p:spPr>
      </p:sp>
      <p:sp>
        <p:nvSpPr>
          <p:cNvPr id="3" name="Shape 1">
            <a:extLst xmlns:a="http://schemas.openxmlformats.org/drawingml/2006/main">
              <a:ext uri="{FF2B5EF4-FFF2-40B4-BE49-F238E27FC236}">
                <a16:creationId xmlns:a16="http://schemas.microsoft.com/office/drawing/2014/main" id="{31413BF2-0FED-4A31-9C29-00409E300BAF}"/>
              </a:ext>
            </a:extLst>
          </p:cNvPr>
          <p:cNvSpPr>
            <a:spLocks xmlns:a="http://schemas.openxmlformats.org/drawingml/2006/main" noGrp="1"/>
          </p:cNvSpPr>
          <p:nvPr/>
        </p:nvSpPr>
        <p:spPr>
          <a:xfrm xmlns:a="http://schemas.openxmlformats.org/drawingml/2006/main" rot="5400000">
            <a:off x="9661916" y="946404"/>
            <a:ext cx="402336" cy="352044"/>
          </a:xfrm>
          <a:prstGeom xmlns:a="http://schemas.openxmlformats.org/drawingml/2006/main" prst="triangle">
            <a:avLst/>
          </a:prstGeom>
          <a:solidFill xmlns:a="http://schemas.openxmlformats.org/drawingml/2006/main">
            <a:srgbClr val="29ABE2"/>
          </a:solidFill>
        </p:spPr>
      </p:sp>
      <p:sp>
        <p:nvSpPr>
          <p:cNvPr id="4" name="Shape 2">
            <a:extLst xmlns:a="http://schemas.openxmlformats.org/drawingml/2006/main">
              <a:ext uri="{FF2B5EF4-FFF2-40B4-BE49-F238E27FC236}">
                <a16:creationId xmlns:a16="http://schemas.microsoft.com/office/drawing/2014/main" id="{8C7B30D7-4F55-426A-94CD-BEB12A089BC7}"/>
              </a:ext>
            </a:extLst>
          </p:cNvPr>
          <p:cNvSpPr>
            <a:spLocks xmlns:a="http://schemas.openxmlformats.org/drawingml/2006/main" noGrp="1"/>
          </p:cNvSpPr>
          <p:nvPr/>
        </p:nvSpPr>
        <p:spPr>
          <a:xfrm xmlns:a="http://schemas.openxmlformats.org/drawingml/2006/main" rot="5400000">
            <a:off x="9661916" y="1650492"/>
            <a:ext cx="402336" cy="352044"/>
          </a:xfrm>
          <a:prstGeom xmlns:a="http://schemas.openxmlformats.org/drawingml/2006/main" prst="triangle">
            <a:avLst/>
          </a:prstGeom>
          <a:solidFill xmlns:a="http://schemas.openxmlformats.org/drawingml/2006/main">
            <a:srgbClr val="F58220"/>
          </a:solidFill>
        </p:spPr>
      </p:sp>
      <p:sp>
        <p:nvSpPr>
          <p:cNvPr id="5" name="Shape 3">
            <a:extLst xmlns:a="http://schemas.openxmlformats.org/drawingml/2006/main">
              <a:ext uri="{FF2B5EF4-FFF2-40B4-BE49-F238E27FC236}">
                <a16:creationId xmlns:a16="http://schemas.microsoft.com/office/drawing/2014/main" id="{507E52FB-D2F0-46D0-95F0-D74CE26DFC65}"/>
              </a:ext>
            </a:extLst>
          </p:cNvPr>
          <p:cNvSpPr>
            <a:spLocks xmlns:a="http://schemas.openxmlformats.org/drawingml/2006/main" noGrp="1"/>
          </p:cNvSpPr>
          <p:nvPr/>
        </p:nvSpPr>
        <p:spPr>
          <a:xfrm xmlns:a="http://schemas.openxmlformats.org/drawingml/2006/main" rot="5400000" flipH="1">
            <a:off x="10088392" y="594360"/>
            <a:ext cx="402336" cy="352044"/>
          </a:xfrm>
          <a:prstGeom xmlns:a="http://schemas.openxmlformats.org/drawingml/2006/main" prst="triangle">
            <a:avLst/>
          </a:prstGeom>
          <a:solidFill xmlns:a="http://schemas.openxmlformats.org/drawingml/2006/main">
            <a:srgbClr val="8DC63F"/>
          </a:solidFill>
        </p:spPr>
      </p:sp>
      <p:sp>
        <p:nvSpPr>
          <p:cNvPr id="6" name="Shape 4">
            <a:extLst xmlns:a="http://schemas.openxmlformats.org/drawingml/2006/main">
              <a:ext uri="{FF2B5EF4-FFF2-40B4-BE49-F238E27FC236}">
                <a16:creationId xmlns:a16="http://schemas.microsoft.com/office/drawing/2014/main" id="{FFEF3116-69B7-46C3-ABDD-9147A1D69140}"/>
              </a:ext>
            </a:extLst>
          </p:cNvPr>
          <p:cNvSpPr>
            <a:spLocks xmlns:a="http://schemas.openxmlformats.org/drawingml/2006/main" noGrp="1"/>
          </p:cNvSpPr>
          <p:nvPr/>
        </p:nvSpPr>
        <p:spPr>
          <a:xfrm xmlns:a="http://schemas.openxmlformats.org/drawingml/2006/main" rot="5400000">
            <a:off x="10088392" y="1298448"/>
            <a:ext cx="402336" cy="352044"/>
          </a:xfrm>
          <a:prstGeom xmlns:a="http://schemas.openxmlformats.org/drawingml/2006/main" prst="triangle">
            <a:avLst/>
          </a:prstGeom>
          <a:solidFill xmlns:a="http://schemas.openxmlformats.org/drawingml/2006/main">
            <a:srgbClr val="00A79D"/>
          </a:solidFill>
        </p:spPr>
      </p:sp>
      <p:sp>
        <p:nvSpPr>
          <p:cNvPr id="7" name="Shape 5">
            <a:extLst xmlns:a="http://schemas.openxmlformats.org/drawingml/2006/main">
              <a:ext uri="{FF2B5EF4-FFF2-40B4-BE49-F238E27FC236}">
                <a16:creationId xmlns:a16="http://schemas.microsoft.com/office/drawing/2014/main" id="{CDA6ADAC-C4CA-4740-B503-2368B6B5B810}"/>
              </a:ext>
            </a:extLst>
          </p:cNvPr>
          <p:cNvSpPr>
            <a:spLocks xmlns:a="http://schemas.openxmlformats.org/drawingml/2006/main" noGrp="1"/>
          </p:cNvSpPr>
          <p:nvPr/>
        </p:nvSpPr>
        <p:spPr>
          <a:xfrm xmlns:a="http://schemas.openxmlformats.org/drawingml/2006/main" rot="5400000">
            <a:off x="10514868" y="946404"/>
            <a:ext cx="402336" cy="352044"/>
          </a:xfrm>
          <a:prstGeom xmlns:a="http://schemas.openxmlformats.org/drawingml/2006/main" prst="triangle">
            <a:avLst/>
          </a:prstGeom>
          <a:solidFill xmlns:a="http://schemas.openxmlformats.org/drawingml/2006/main">
            <a:srgbClr val="29ABE2"/>
          </a:solidFill>
        </p:spPr>
      </p:sp>
      <p:sp>
        <p:nvSpPr>
          <p:cNvPr id="8" name="Shape 6">
            <a:extLst xmlns:a="http://schemas.openxmlformats.org/drawingml/2006/main">
              <a:ext uri="{FF2B5EF4-FFF2-40B4-BE49-F238E27FC236}">
                <a16:creationId xmlns:a16="http://schemas.microsoft.com/office/drawing/2014/main" id="{6E44ACB2-AAC7-4345-8D6F-FA7BF9228891}"/>
              </a:ext>
            </a:extLst>
          </p:cNvPr>
          <p:cNvSpPr>
            <a:spLocks xmlns:a="http://schemas.openxmlformats.org/drawingml/2006/main" noGrp="1"/>
          </p:cNvSpPr>
          <p:nvPr/>
        </p:nvSpPr>
        <p:spPr>
          <a:xfrm xmlns:a="http://schemas.openxmlformats.org/drawingml/2006/main" rot="5400000" flipH="1">
            <a:off x="10514868" y="1650492"/>
            <a:ext cx="402336" cy="352044"/>
          </a:xfrm>
          <a:prstGeom xmlns:a="http://schemas.openxmlformats.org/drawingml/2006/main" prst="triangle">
            <a:avLst/>
          </a:prstGeom>
          <a:solidFill xmlns:a="http://schemas.openxmlformats.org/drawingml/2006/main">
            <a:srgbClr val="F58220"/>
          </a:solidFill>
        </p:spPr>
      </p:sp>
      <p:sp>
        <p:nvSpPr>
          <p:cNvPr id="9" name="Shape 7">
            <a:extLst xmlns:a="http://schemas.openxmlformats.org/drawingml/2006/main">
              <a:ext uri="{FF2B5EF4-FFF2-40B4-BE49-F238E27FC236}">
                <a16:creationId xmlns:a16="http://schemas.microsoft.com/office/drawing/2014/main" id="{C38A57C6-6FE5-45D0-B8D2-6CDD057757E2}"/>
              </a:ext>
            </a:extLst>
          </p:cNvPr>
          <p:cNvSpPr>
            <a:spLocks xmlns:a="http://schemas.openxmlformats.org/drawingml/2006/main" noGrp="1"/>
          </p:cNvSpPr>
          <p:nvPr/>
        </p:nvSpPr>
        <p:spPr>
          <a:xfrm xmlns:a="http://schemas.openxmlformats.org/drawingml/2006/main" rot="5400000">
            <a:off x="10941345" y="1298448"/>
            <a:ext cx="402336" cy="352044"/>
          </a:xfrm>
          <a:prstGeom xmlns:a="http://schemas.openxmlformats.org/drawingml/2006/main" prst="triangle">
            <a:avLst/>
          </a:prstGeom>
          <a:solidFill xmlns:a="http://schemas.openxmlformats.org/drawingml/2006/main">
            <a:srgbClr val="8DC63F"/>
          </a:solidFill>
        </p:spPr>
      </p:sp>
      <p:sp>
        <p:nvSpPr>
          <p:cNvPr id="10" name="Text 8">
            <a:extLst xmlns:a="http://schemas.openxmlformats.org/drawingml/2006/main">
              <a:ext uri="{FF2B5EF4-FFF2-40B4-BE49-F238E27FC236}">
                <a16:creationId xmlns:a16="http://schemas.microsoft.com/office/drawing/2014/main" id="{FF4B8C87-C0F7-415F-9007-0D553473C6B1}"/>
              </a:ext>
            </a:extLst>
          </p:cNvPr>
          <p:cNvSpPr>
            <a:spLocks xmlns:a="http://schemas.openxmlformats.org/drawingml/2006/main" noGrp="1"/>
          </p:cNvSpPr>
          <p:nvPr/>
        </p:nvSpPr>
        <p:spPr>
          <a:xfrm xmlns:a="http://schemas.openxmlformats.org/drawingml/2006/main">
            <a:off x="777240" y="1417320"/>
            <a:ext cx="731520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spc="400">
                <a:solidFill>
                  <a:srgbClr val="00A79D"/>
                </a:solidFill>
                <a:latin typeface="Calibri"/>
                <a:ea typeface="Calibri"/>
                <a:cs typeface="Calibri"/>
              </a:rPr>
              <a:t>DAY 3 — AUTOMATE EVERYTHING</a:t>
            </a:r>
            <a:endParaRPr sz="1500"/>
          </a:p>
        </p:txBody>
      </p:sp>
      <p:sp>
        <p:nvSpPr>
          <p:cNvPr id="11" name="Text 9">
            <a:extLst xmlns:a="http://schemas.openxmlformats.org/drawingml/2006/main">
              <a:ext uri="{FF2B5EF4-FFF2-40B4-BE49-F238E27FC236}">
                <a16:creationId xmlns:a16="http://schemas.microsoft.com/office/drawing/2014/main" id="{6436BFA0-0E84-41FF-ADF7-0F1A4F515D4F}"/>
              </a:ext>
            </a:extLst>
          </p:cNvPr>
          <p:cNvSpPr>
            <a:spLocks xmlns:a="http://schemas.openxmlformats.org/drawingml/2006/main" noGrp="1"/>
          </p:cNvSpPr>
          <p:nvPr/>
        </p:nvSpPr>
        <p:spPr>
          <a:xfrm xmlns:a="http://schemas.openxmlformats.org/drawingml/2006/main">
            <a:off x="749808" y="1874520"/>
            <a:ext cx="106070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600" b="1">
                <a:solidFill>
                  <a:srgbClr val="FFFFFF"/>
                </a:solidFill>
                <a:latin typeface="Calibri"/>
                <a:ea typeface="Calibri"/>
                <a:cs typeface="Calibri"/>
              </a:rPr>
              <a:t>Automate Everything</a:t>
            </a:r>
            <a:endParaRPr sz="3600"/>
          </a:p>
        </p:txBody>
      </p:sp>
      <p:sp>
        <p:nvSpPr>
          <p:cNvPr id="12" name="Text 10">
            <a:extLst xmlns:a="http://schemas.openxmlformats.org/drawingml/2006/main">
              <a:ext uri="{FF2B5EF4-FFF2-40B4-BE49-F238E27FC236}">
                <a16:creationId xmlns:a16="http://schemas.microsoft.com/office/drawing/2014/main" id="{9568F973-698F-401E-98DA-ADAE6155B437}"/>
              </a:ext>
            </a:extLst>
          </p:cNvPr>
          <p:cNvSpPr>
            <a:spLocks xmlns:a="http://schemas.openxmlformats.org/drawingml/2006/main" noGrp="1"/>
          </p:cNvSpPr>
          <p:nvPr/>
        </p:nvSpPr>
        <p:spPr>
          <a:xfrm xmlns:a="http://schemas.openxmlformats.org/drawingml/2006/main">
            <a:off x="777240" y="2761488"/>
            <a:ext cx="100584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a:solidFill>
                  <a:srgbClr val="B9C8E8"/>
                </a:solidFill>
                <a:latin typeface="Calibri"/>
                <a:ea typeface="Calibri"/>
                <a:cs typeface="Calibri"/>
              </a:rPr>
              <a:t>أتمتة كل شيء</a:t>
            </a:r>
            <a:endParaRPr sz="1700"/>
          </a:p>
        </p:txBody>
      </p:sp>
      <p:sp>
        <p:nvSpPr>
          <p:cNvPr id="13" name="Shape 11">
            <a:extLst xmlns:a="http://schemas.openxmlformats.org/drawingml/2006/main">
              <a:ext uri="{FF2B5EF4-FFF2-40B4-BE49-F238E27FC236}">
                <a16:creationId xmlns:a16="http://schemas.microsoft.com/office/drawing/2014/main" id="{74C1BEE3-C1E7-4454-8341-FDF592D00884}"/>
              </a:ext>
            </a:extLst>
          </p:cNvPr>
          <p:cNvSpPr>
            <a:spLocks xmlns:a="http://schemas.openxmlformats.org/drawingml/2006/main" noGrp="1"/>
          </p:cNvSpPr>
          <p:nvPr/>
        </p:nvSpPr>
        <p:spPr>
          <a:xfrm xmlns:a="http://schemas.openxmlformats.org/drawingml/2006/main">
            <a:off x="777240"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14" name="Text 12">
            <a:extLst xmlns:a="http://schemas.openxmlformats.org/drawingml/2006/main">
              <a:ext uri="{FF2B5EF4-FFF2-40B4-BE49-F238E27FC236}">
                <a16:creationId xmlns:a16="http://schemas.microsoft.com/office/drawing/2014/main" id="{60639578-8D41-4BAC-9CEB-669DDDBB04FB}"/>
              </a:ext>
            </a:extLst>
          </p:cNvPr>
          <p:cNvSpPr>
            <a:spLocks xmlns:a="http://schemas.openxmlformats.org/drawingml/2006/main" noGrp="1"/>
          </p:cNvSpPr>
          <p:nvPr/>
        </p:nvSpPr>
        <p:spPr>
          <a:xfrm xmlns:a="http://schemas.openxmlformats.org/drawingml/2006/main">
            <a:off x="923544"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A79D"/>
                </a:solidFill>
                <a:latin typeface="Calibri"/>
                <a:ea typeface="Calibri"/>
                <a:cs typeface="Calibri"/>
              </a:rPr>
              <a:t>01</a:t>
            </a:r>
            <a:endParaRPr sz="1400"/>
          </a:p>
        </p:txBody>
      </p:sp>
      <p:sp>
        <p:nvSpPr>
          <p:cNvPr id="15" name="Text 13">
            <a:extLst xmlns:a="http://schemas.openxmlformats.org/drawingml/2006/main">
              <a:ext uri="{FF2B5EF4-FFF2-40B4-BE49-F238E27FC236}">
                <a16:creationId xmlns:a16="http://schemas.microsoft.com/office/drawing/2014/main" id="{FA2DB167-AC1C-4059-A9CC-032ABFA2224D}"/>
              </a:ext>
            </a:extLst>
          </p:cNvPr>
          <p:cNvSpPr>
            <a:spLocks xmlns:a="http://schemas.openxmlformats.org/drawingml/2006/main" noGrp="1"/>
          </p:cNvSpPr>
          <p:nvPr/>
        </p:nvSpPr>
        <p:spPr>
          <a:xfrm xmlns:a="http://schemas.openxmlformats.org/drawingml/2006/main">
            <a:off x="923544"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CI/CD pipelines</a:t>
            </a:r>
            <a:endParaRPr sz="1200"/>
          </a:p>
        </p:txBody>
      </p:sp>
      <p:sp>
        <p:nvSpPr>
          <p:cNvPr id="16" name="Text 14">
            <a:extLst xmlns:a="http://schemas.openxmlformats.org/drawingml/2006/main">
              <a:ext uri="{FF2B5EF4-FFF2-40B4-BE49-F238E27FC236}">
                <a16:creationId xmlns:a16="http://schemas.microsoft.com/office/drawing/2014/main" id="{B2D16248-47AE-4516-8498-7ED561CF451D}"/>
              </a:ext>
            </a:extLst>
          </p:cNvPr>
          <p:cNvSpPr>
            <a:spLocks xmlns:a="http://schemas.openxmlformats.org/drawingml/2006/main" noGrp="1"/>
          </p:cNvSpPr>
          <p:nvPr/>
        </p:nvSpPr>
        <p:spPr>
          <a:xfrm xmlns:a="http://schemas.openxmlformats.org/drawingml/2006/main">
            <a:off x="923544"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GitHub Actions: lint, type, test, build, smoke, publish</a:t>
            </a:r>
            <a:endParaRPr sz="950"/>
          </a:p>
        </p:txBody>
      </p:sp>
      <p:sp>
        <p:nvSpPr>
          <p:cNvPr id="17" name="Shape 15">
            <a:extLst xmlns:a="http://schemas.openxmlformats.org/drawingml/2006/main">
              <a:ext uri="{FF2B5EF4-FFF2-40B4-BE49-F238E27FC236}">
                <a16:creationId xmlns:a16="http://schemas.microsoft.com/office/drawing/2014/main" id="{F94B885D-E346-42A7-9788-E050E8593550}"/>
              </a:ext>
            </a:extLst>
          </p:cNvPr>
          <p:cNvSpPr>
            <a:spLocks xmlns:a="http://schemas.openxmlformats.org/drawingml/2006/main" noGrp="1"/>
          </p:cNvSpPr>
          <p:nvPr/>
        </p:nvSpPr>
        <p:spPr>
          <a:xfrm xmlns:a="http://schemas.openxmlformats.org/drawingml/2006/main">
            <a:off x="3493008"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18" name="Text 16">
            <a:extLst xmlns:a="http://schemas.openxmlformats.org/drawingml/2006/main">
              <a:ext uri="{FF2B5EF4-FFF2-40B4-BE49-F238E27FC236}">
                <a16:creationId xmlns:a16="http://schemas.microsoft.com/office/drawing/2014/main" id="{9E1BE327-A9F0-43D1-9DCF-07D822181D7C}"/>
              </a:ext>
            </a:extLst>
          </p:cNvPr>
          <p:cNvSpPr>
            <a:spLocks xmlns:a="http://schemas.openxmlformats.org/drawingml/2006/main" noGrp="1"/>
          </p:cNvSpPr>
          <p:nvPr/>
        </p:nvSpPr>
        <p:spPr>
          <a:xfrm xmlns:a="http://schemas.openxmlformats.org/drawingml/2006/main">
            <a:off x="3639312"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29ABE2"/>
                </a:solidFill>
                <a:latin typeface="Calibri"/>
                <a:ea typeface="Calibri"/>
                <a:cs typeface="Calibri"/>
              </a:rPr>
              <a:t>02</a:t>
            </a:r>
            <a:endParaRPr sz="1400"/>
          </a:p>
        </p:txBody>
      </p:sp>
      <p:sp>
        <p:nvSpPr>
          <p:cNvPr id="19" name="Text 17">
            <a:extLst xmlns:a="http://schemas.openxmlformats.org/drawingml/2006/main">
              <a:ext uri="{FF2B5EF4-FFF2-40B4-BE49-F238E27FC236}">
                <a16:creationId xmlns:a16="http://schemas.microsoft.com/office/drawing/2014/main" id="{6FFD3597-7B96-492F-8C23-53EEA08B31C6}"/>
              </a:ext>
            </a:extLst>
          </p:cNvPr>
          <p:cNvSpPr>
            <a:spLocks xmlns:a="http://schemas.openxmlformats.org/drawingml/2006/main" noGrp="1"/>
          </p:cNvSpPr>
          <p:nvPr/>
        </p:nvSpPr>
        <p:spPr>
          <a:xfrm xmlns:a="http://schemas.openxmlformats.org/drawingml/2006/main">
            <a:off x="3639312"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Quality gates</a:t>
            </a:r>
            <a:endParaRPr sz="1200"/>
          </a:p>
        </p:txBody>
      </p:sp>
      <p:sp>
        <p:nvSpPr>
          <p:cNvPr id="20" name="Text 18">
            <a:extLst xmlns:a="http://schemas.openxmlformats.org/drawingml/2006/main">
              <a:ext uri="{FF2B5EF4-FFF2-40B4-BE49-F238E27FC236}">
                <a16:creationId xmlns:a16="http://schemas.microsoft.com/office/drawing/2014/main" id="{261E5498-BF00-4E7C-9D27-6354E1FE6DC9}"/>
              </a:ext>
            </a:extLst>
          </p:cNvPr>
          <p:cNvSpPr>
            <a:spLocks xmlns:a="http://schemas.openxmlformats.org/drawingml/2006/main" noGrp="1"/>
          </p:cNvSpPr>
          <p:nvPr/>
        </p:nvSpPr>
        <p:spPr>
          <a:xfrm xmlns:a="http://schemas.openxmlformats.org/drawingml/2006/main">
            <a:off x="3639312"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Branch protection makes the repo enforce done</a:t>
            </a:r>
            <a:endParaRPr sz="950"/>
          </a:p>
        </p:txBody>
      </p:sp>
      <p:sp>
        <p:nvSpPr>
          <p:cNvPr id="21" name="Shape 19">
            <a:extLst xmlns:a="http://schemas.openxmlformats.org/drawingml/2006/main">
              <a:ext uri="{FF2B5EF4-FFF2-40B4-BE49-F238E27FC236}">
                <a16:creationId xmlns:a16="http://schemas.microsoft.com/office/drawing/2014/main" id="{6C8C6ED6-D500-4973-9FB0-67B518AAE482}"/>
              </a:ext>
            </a:extLst>
          </p:cNvPr>
          <p:cNvSpPr>
            <a:spLocks xmlns:a="http://schemas.openxmlformats.org/drawingml/2006/main" noGrp="1"/>
          </p:cNvSpPr>
          <p:nvPr/>
        </p:nvSpPr>
        <p:spPr>
          <a:xfrm xmlns:a="http://schemas.openxmlformats.org/drawingml/2006/main">
            <a:off x="6208776"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22" name="Text 20">
            <a:extLst xmlns:a="http://schemas.openxmlformats.org/drawingml/2006/main">
              <a:ext uri="{FF2B5EF4-FFF2-40B4-BE49-F238E27FC236}">
                <a16:creationId xmlns:a16="http://schemas.microsoft.com/office/drawing/2014/main" id="{18475B70-8D06-43F4-B05A-47E34CDC39AF}"/>
              </a:ext>
            </a:extLst>
          </p:cNvPr>
          <p:cNvSpPr>
            <a:spLocks xmlns:a="http://schemas.openxmlformats.org/drawingml/2006/main" noGrp="1"/>
          </p:cNvSpPr>
          <p:nvPr/>
        </p:nvSpPr>
        <p:spPr>
          <a:xfrm xmlns:a="http://schemas.openxmlformats.org/drawingml/2006/main">
            <a:off x="6355080"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F58220"/>
                </a:solidFill>
                <a:latin typeface="Calibri"/>
                <a:ea typeface="Calibri"/>
                <a:cs typeface="Calibri"/>
              </a:rPr>
              <a:t>03</a:t>
            </a:r>
            <a:endParaRPr sz="1400"/>
          </a:p>
        </p:txBody>
      </p:sp>
      <p:sp>
        <p:nvSpPr>
          <p:cNvPr id="23" name="Text 21">
            <a:extLst xmlns:a="http://schemas.openxmlformats.org/drawingml/2006/main">
              <a:ext uri="{FF2B5EF4-FFF2-40B4-BE49-F238E27FC236}">
                <a16:creationId xmlns:a16="http://schemas.microsoft.com/office/drawing/2014/main" id="{325B9231-9919-420E-9E99-B29EEA4650C5}"/>
              </a:ext>
            </a:extLst>
          </p:cNvPr>
          <p:cNvSpPr>
            <a:spLocks xmlns:a="http://schemas.openxmlformats.org/drawingml/2006/main" noGrp="1"/>
          </p:cNvSpPr>
          <p:nvPr/>
        </p:nvSpPr>
        <p:spPr>
          <a:xfrm xmlns:a="http://schemas.openxmlformats.org/drawingml/2006/main">
            <a:off x="6355080"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Config &amp; secrets</a:t>
            </a:r>
            <a:endParaRPr sz="1200"/>
          </a:p>
        </p:txBody>
      </p:sp>
      <p:sp>
        <p:nvSpPr>
          <p:cNvPr id="24" name="Text 22">
            <a:extLst xmlns:a="http://schemas.openxmlformats.org/drawingml/2006/main">
              <a:ext uri="{FF2B5EF4-FFF2-40B4-BE49-F238E27FC236}">
                <a16:creationId xmlns:a16="http://schemas.microsoft.com/office/drawing/2014/main" id="{5F7E8011-3AA1-46A5-A934-15FFEF430AE6}"/>
              </a:ext>
            </a:extLst>
          </p:cNvPr>
          <p:cNvSpPr>
            <a:spLocks xmlns:a="http://schemas.openxmlformats.org/drawingml/2006/main" noGrp="1"/>
          </p:cNvSpPr>
          <p:nvPr/>
        </p:nvSpPr>
        <p:spPr>
          <a:xfrm xmlns:a="http://schemas.openxmlformats.org/drawingml/2006/main">
            <a:off x="6355080"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Typed settings, .env discipline, secrets never in git</a:t>
            </a:r>
            <a:endParaRPr sz="950"/>
          </a:p>
        </p:txBody>
      </p:sp>
      <p:sp>
        <p:nvSpPr>
          <p:cNvPr id="25" name="Shape 23">
            <a:extLst xmlns:a="http://schemas.openxmlformats.org/drawingml/2006/main">
              <a:ext uri="{FF2B5EF4-FFF2-40B4-BE49-F238E27FC236}">
                <a16:creationId xmlns:a16="http://schemas.microsoft.com/office/drawing/2014/main" id="{A8A84479-B1E2-46E1-BB23-318C7C07D39A}"/>
              </a:ext>
            </a:extLst>
          </p:cNvPr>
          <p:cNvSpPr>
            <a:spLocks xmlns:a="http://schemas.openxmlformats.org/drawingml/2006/main" noGrp="1"/>
          </p:cNvSpPr>
          <p:nvPr/>
        </p:nvSpPr>
        <p:spPr>
          <a:xfrm xmlns:a="http://schemas.openxmlformats.org/drawingml/2006/main">
            <a:off x="8924544"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26" name="Text 24">
            <a:extLst xmlns:a="http://schemas.openxmlformats.org/drawingml/2006/main">
              <a:ext uri="{FF2B5EF4-FFF2-40B4-BE49-F238E27FC236}">
                <a16:creationId xmlns:a16="http://schemas.microsoft.com/office/drawing/2014/main" id="{ADF27900-C395-49FC-8D81-0915027A821F}"/>
              </a:ext>
            </a:extLst>
          </p:cNvPr>
          <p:cNvSpPr>
            <a:spLocks xmlns:a="http://schemas.openxmlformats.org/drawingml/2006/main" noGrp="1"/>
          </p:cNvSpPr>
          <p:nvPr/>
        </p:nvSpPr>
        <p:spPr>
          <a:xfrm xmlns:a="http://schemas.openxmlformats.org/drawingml/2006/main">
            <a:off x="9070848"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8DC63F"/>
                </a:solidFill>
                <a:latin typeface="Calibri"/>
                <a:ea typeface="Calibri"/>
                <a:cs typeface="Calibri"/>
              </a:rPr>
              <a:t>04</a:t>
            </a:r>
            <a:endParaRPr sz="1400"/>
          </a:p>
        </p:txBody>
      </p:sp>
      <p:sp>
        <p:nvSpPr>
          <p:cNvPr id="27" name="Text 25">
            <a:extLst xmlns:a="http://schemas.openxmlformats.org/drawingml/2006/main">
              <a:ext uri="{FF2B5EF4-FFF2-40B4-BE49-F238E27FC236}">
                <a16:creationId xmlns:a16="http://schemas.microsoft.com/office/drawing/2014/main" id="{83E1E514-A026-43F2-8822-C85C50A3C070}"/>
              </a:ext>
            </a:extLst>
          </p:cNvPr>
          <p:cNvSpPr>
            <a:spLocks xmlns:a="http://schemas.openxmlformats.org/drawingml/2006/main" noGrp="1"/>
          </p:cNvSpPr>
          <p:nvPr/>
        </p:nvSpPr>
        <p:spPr>
          <a:xfrm xmlns:a="http://schemas.openxmlformats.org/drawingml/2006/main">
            <a:off x="9070848"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Structured logging</a:t>
            </a:r>
            <a:endParaRPr sz="1200"/>
          </a:p>
        </p:txBody>
      </p:sp>
      <p:sp>
        <p:nvSpPr>
          <p:cNvPr id="28" name="Text 26">
            <a:extLst xmlns:a="http://schemas.openxmlformats.org/drawingml/2006/main">
              <a:ext uri="{FF2B5EF4-FFF2-40B4-BE49-F238E27FC236}">
                <a16:creationId xmlns:a16="http://schemas.microsoft.com/office/drawing/2014/main" id="{9F983311-D59C-4026-9F79-099562F5349C}"/>
              </a:ext>
            </a:extLst>
          </p:cNvPr>
          <p:cNvSpPr>
            <a:spLocks xmlns:a="http://schemas.openxmlformats.org/drawingml/2006/main" noGrp="1"/>
          </p:cNvSpPr>
          <p:nvPr/>
        </p:nvSpPr>
        <p:spPr>
          <a:xfrm xmlns:a="http://schemas.openxmlformats.org/drawingml/2006/main">
            <a:off x="9070848"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JSON events with trace_id + model_version</a:t>
            </a:r>
            <a:endParaRPr sz="950"/>
          </a:p>
        </p:txBody>
      </p:sp>
      <p:sp>
        <p:nvSpPr>
          <p:cNvPr id="29" name="Text 27">
            <a:extLst xmlns:a="http://schemas.openxmlformats.org/drawingml/2006/main">
              <a:ext uri="{FF2B5EF4-FFF2-40B4-BE49-F238E27FC236}">
                <a16:creationId xmlns:a16="http://schemas.microsoft.com/office/drawing/2014/main" id="{CE91C3D5-C0DD-47B6-95CA-34B4A6288A36}"/>
              </a:ext>
            </a:extLst>
          </p:cNvPr>
          <p:cNvSpPr>
            <a:spLocks xmlns:a="http://schemas.openxmlformats.org/drawingml/2006/main" noGrp="1"/>
          </p:cNvSpPr>
          <p:nvPr/>
        </p:nvSpPr>
        <p:spPr>
          <a:xfrm xmlns:a="http://schemas.openxmlformats.org/drawingml/2006/main">
            <a:off x="777240" y="5806440"/>
            <a:ext cx="100584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8A96C8"/>
                </a:solidFill>
                <a:latin typeface="Calibri"/>
                <a:ea typeface="Calibri"/>
                <a:cs typeface="Calibri"/>
              </a:rPr>
              <a:t>5 hours · 30% theory / 70% lab</a:t>
            </a:r>
            <a:endParaRPr sz="1100"/>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b18c6eca5fb84bda"/>
          <a:stretch xmlns:a="http://schemas.openxmlformats.org/drawingml/2006/main">
            <a:fillRect l="0" t="0" r="0" b="0"/>
          </a:stretch>
        </p:blipFill>
        <p:spPr>
          <a:xfrm xmlns:a="http://schemas.openxmlformats.org/drawingml/2006/main">
            <a:off x="777240" y="6309360"/>
            <a:ext cx="1078992" cy="265176"/>
          </a:xfrm>
          <a:prstGeom xmlns:a="http://schemas.openxmlformats.org/drawingml/2006/main" prst="rect">
            <a:avLst/>
          </a:prstGeom>
        </p:spPr>
      </p:pic>
    </p:spTree>
    <p:extLst>
      <p:ext uri="{BB962C8B-B14F-4D97-AF65-F5344CB8AC3E}">
        <p14:creationId xmlns:p14="http://schemas.microsoft.com/office/powerpoint/2010/main" val="681226736"/>
      </p:ext>
    </p:extLst>
  </p:cSld>
</p:sld>
</file>

<file path=ppt/slides/slide10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B53D7B1-1F17-40A0-8263-7BD7CA89EFBE}"/>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Day 3 — hour by hour</a:t>
            </a:r>
            <a:endParaRPr sz="2600"/>
          </a:p>
        </p:txBody>
      </p:sp>
      <p:sp>
        <p:nvSpPr>
          <p:cNvPr id="3" name="Text 1">
            <a:extLst xmlns:a="http://schemas.openxmlformats.org/drawingml/2006/main">
              <a:ext uri="{FF2B5EF4-FFF2-40B4-BE49-F238E27FC236}">
                <a16:creationId xmlns:a16="http://schemas.microsoft.com/office/drawing/2014/main" id="{05A44D12-ED07-4D67-A5E7-6FB94742183E}"/>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اليوم الثالث — ساعة بساعة</a:t>
            </a:r>
            <a:endParaRPr sz="1300"/>
          </a:p>
        </p:txBody>
      </p:sp>
      <p:pic>
        <p:nvPicPr>
          <p:cNvPr id="51" name="Image 0"/>
          <p:cNvPicPr>
            <a:picLocks xmlns:a="http://schemas.openxmlformats.org/drawingml/2006/main" noChangeAspect="1"/>
          </p:cNvPicPr>
          <p:nvPr/>
        </p:nvPicPr>
        <p:blipFill>
          <a:blip xmlns:r="http://schemas.openxmlformats.org/officeDocument/2006/relationships" xmlns:a="http://schemas.openxmlformats.org/drawingml/2006/main" r:embed="R68583ee0efb64285"/>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157127FC-BC81-4093-9427-24F91C8B279D}"/>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0D0CEA74-5147-4F5F-97B0-45B53EACEFBE}"/>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7B7D571B-2AA2-4673-B4BA-251CBE88ED67}"/>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103</a:t>
            </a:r>
            <a:endParaRPr sz="850"/>
          </a:p>
        </p:txBody>
      </p:sp>
      <p:sp>
        <p:nvSpPr>
          <p:cNvPr id="8" name="Shape 5">
            <a:extLst xmlns:a="http://schemas.openxmlformats.org/drawingml/2006/main">
              <a:ext uri="{FF2B5EF4-FFF2-40B4-BE49-F238E27FC236}">
                <a16:creationId xmlns:a16="http://schemas.microsoft.com/office/drawing/2014/main" id="{1C271D38-23A7-4DED-9E99-E090E47E13DA}"/>
              </a:ext>
            </a:extLst>
          </p:cNvPr>
          <p:cNvSpPr>
            <a:spLocks xmlns:a="http://schemas.openxmlformats.org/drawingml/2006/main" noGrp="1"/>
          </p:cNvSpPr>
          <p:nvPr/>
        </p:nvSpPr>
        <p:spPr>
          <a:xfrm xmlns:a="http://schemas.openxmlformats.org/drawingml/2006/main">
            <a:off x="502920" y="1481328"/>
            <a:ext cx="11183112" cy="82296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D9E4F5"/>
            </a:solidFill>
            <a:prstDash val="solid"/>
          </a:ln>
        </p:spPr>
      </p:sp>
      <p:sp>
        <p:nvSpPr>
          <p:cNvPr id="9" name="Text 6">
            <a:extLst xmlns:a="http://schemas.openxmlformats.org/drawingml/2006/main">
              <a:ext uri="{FF2B5EF4-FFF2-40B4-BE49-F238E27FC236}">
                <a16:creationId xmlns:a16="http://schemas.microsoft.com/office/drawing/2014/main" id="{B42DD27B-F303-4268-AE66-467E6B8FDC72}"/>
              </a:ext>
            </a:extLst>
          </p:cNvPr>
          <p:cNvSpPr>
            <a:spLocks xmlns:a="http://schemas.openxmlformats.org/drawingml/2006/main" noGrp="1"/>
          </p:cNvSpPr>
          <p:nvPr/>
        </p:nvSpPr>
        <p:spPr>
          <a:xfrm xmlns:a="http://schemas.openxmlformats.org/drawingml/2006/main">
            <a:off x="685800" y="1655064"/>
            <a:ext cx="475488" cy="475488"/>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H1</a:t>
            </a:r>
            <a:endParaRPr sz="1300"/>
          </a:p>
        </p:txBody>
      </p:sp>
      <p:sp>
        <p:nvSpPr>
          <p:cNvPr id="10" name="Text 7">
            <a:extLst xmlns:a="http://schemas.openxmlformats.org/drawingml/2006/main">
              <a:ext uri="{FF2B5EF4-FFF2-40B4-BE49-F238E27FC236}">
                <a16:creationId xmlns:a16="http://schemas.microsoft.com/office/drawing/2014/main" id="{E97E6773-EC09-467B-B25B-487306808F47}"/>
              </a:ext>
            </a:extLst>
          </p:cNvPr>
          <p:cNvSpPr>
            <a:spLocks xmlns:a="http://schemas.openxmlformats.org/drawingml/2006/main" noGrp="1"/>
          </p:cNvSpPr>
          <p:nvPr/>
        </p:nvSpPr>
        <p:spPr>
          <a:xfrm xmlns:a="http://schemas.openxmlformats.org/drawingml/2006/main">
            <a:off x="1353312" y="1572768"/>
            <a:ext cx="603504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CI/CD for AI codebases (M5)</a:t>
            </a:r>
            <a:endParaRPr sz="1350"/>
          </a:p>
        </p:txBody>
      </p:sp>
      <p:sp>
        <p:nvSpPr>
          <p:cNvPr id="11" name="Text 8">
            <a:extLst xmlns:a="http://schemas.openxmlformats.org/drawingml/2006/main">
              <a:ext uri="{FF2B5EF4-FFF2-40B4-BE49-F238E27FC236}">
                <a16:creationId xmlns:a16="http://schemas.microsoft.com/office/drawing/2014/main" id="{AFB6302C-3C5C-4DCD-BA8B-B59E5F0C71EA}"/>
              </a:ext>
            </a:extLst>
          </p:cNvPr>
          <p:cNvSpPr>
            <a:spLocks xmlns:a="http://schemas.openxmlformats.org/drawingml/2006/main" noGrp="1"/>
          </p:cNvSpPr>
          <p:nvPr/>
        </p:nvSpPr>
        <p:spPr>
          <a:xfrm xmlns:a="http://schemas.openxmlformats.org/drawingml/2006/main">
            <a:off x="1353312" y="1883664"/>
            <a:ext cx="6035040" cy="3840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5F6B7A"/>
                </a:solidFill>
                <a:latin typeface="Calibri"/>
                <a:ea typeface="Calibri"/>
                <a:cs typeface="Calibri"/>
              </a:rPr>
              <a:t>Pipeline anatomy; Actions syntax; quality gates; building &amp; pushing images from CI</a:t>
            </a:r>
            <a:endParaRPr sz="1000"/>
          </a:p>
        </p:txBody>
      </p:sp>
      <p:sp>
        <p:nvSpPr>
          <p:cNvPr id="12" name="Text 9">
            <a:extLst xmlns:a="http://schemas.openxmlformats.org/drawingml/2006/main">
              <a:ext uri="{FF2B5EF4-FFF2-40B4-BE49-F238E27FC236}">
                <a16:creationId xmlns:a16="http://schemas.microsoft.com/office/drawing/2014/main" id="{7CA12A72-6049-47BD-B308-38EF735F1E92}"/>
              </a:ext>
            </a:extLst>
          </p:cNvPr>
          <p:cNvSpPr>
            <a:spLocks xmlns:a="http://schemas.openxmlformats.org/drawingml/2006/main" noGrp="1"/>
          </p:cNvSpPr>
          <p:nvPr/>
        </p:nvSpPr>
        <p:spPr>
          <a:xfrm xmlns:a="http://schemas.openxmlformats.org/drawingml/2006/main">
            <a:off x="7589520" y="1737360"/>
            <a:ext cx="1783080" cy="310896"/>
          </a:xfrm>
          <a:prstGeom xmlns:a="http://schemas.openxmlformats.org/drawingml/2006/main" prst="roundRect">
            <a:avLst>
              <a:gd name="adj" fmla="val 17647"/>
            </a:avLst>
          </a:prstGeom>
          <a:solidFill xmlns:a="http://schemas.openxmlformats.org/drawingml/2006/main">
            <a:srgbClr val="D4F1EE"/>
          </a:solidFill>
        </p:spPr>
        <p:txBody>
          <a:bodyPr xmlns:a="http://schemas.openxmlformats.org/drawingml/2006/main" wrap="square" anchor="ctr"/>
          <a:lstStyle xmlns:a="http://schemas.openxmlformats.org/drawingml/2006/main"/>
          <a:p xmlns:a="http://schemas.openxmlformats.org/drawingml/2006/main">
            <a:pPr marL="0" indent="0" algn="ctr">
              <a:buNone/>
            </a:pPr>
            <a:r>
              <a:rPr sz="950" b="1">
                <a:solidFill>
                  <a:srgbClr val="056A63"/>
                </a:solidFill>
                <a:latin typeface="Calibri"/>
                <a:ea typeface="Calibri"/>
                <a:cs typeface="Calibri"/>
              </a:rPr>
              <a:t>Lecture + dissection</a:t>
            </a:r>
            <a:endParaRPr sz="950"/>
          </a:p>
        </p:txBody>
      </p:sp>
      <p:sp>
        <p:nvSpPr>
          <p:cNvPr id="13" name="Shape 10">
            <a:extLst xmlns:a="http://schemas.openxmlformats.org/drawingml/2006/main">
              <a:ext uri="{FF2B5EF4-FFF2-40B4-BE49-F238E27FC236}">
                <a16:creationId xmlns:a16="http://schemas.microsoft.com/office/drawing/2014/main" id="{969C9B43-3C3D-4755-9353-307E7D479038}"/>
              </a:ext>
            </a:extLst>
          </p:cNvPr>
          <p:cNvSpPr>
            <a:spLocks xmlns:a="http://schemas.openxmlformats.org/drawingml/2006/main" noGrp="1"/>
          </p:cNvSpPr>
          <p:nvPr/>
        </p:nvSpPr>
        <p:spPr>
          <a:xfrm xmlns:a="http://schemas.openxmlformats.org/drawingml/2006/main">
            <a:off x="9555480" y="1810512"/>
            <a:ext cx="1042416" cy="164592"/>
          </a:xfrm>
          <a:prstGeom xmlns:a="http://schemas.openxmlformats.org/drawingml/2006/main" prst="rect">
            <a:avLst/>
          </a:prstGeom>
          <a:solidFill xmlns:a="http://schemas.openxmlformats.org/drawingml/2006/main">
            <a:srgbClr val="1D2A5C"/>
          </a:solidFill>
        </p:spPr>
      </p:sp>
      <p:sp>
        <p:nvSpPr>
          <p:cNvPr id="14" name="Shape 11">
            <a:extLst xmlns:a="http://schemas.openxmlformats.org/drawingml/2006/main">
              <a:ext uri="{FF2B5EF4-FFF2-40B4-BE49-F238E27FC236}">
                <a16:creationId xmlns:a16="http://schemas.microsoft.com/office/drawing/2014/main" id="{F78D13F8-2AAE-4883-BF73-7BEE1A0F4B4E}"/>
              </a:ext>
            </a:extLst>
          </p:cNvPr>
          <p:cNvSpPr>
            <a:spLocks xmlns:a="http://schemas.openxmlformats.org/drawingml/2006/main" noGrp="1"/>
          </p:cNvSpPr>
          <p:nvPr/>
        </p:nvSpPr>
        <p:spPr>
          <a:xfrm xmlns:a="http://schemas.openxmlformats.org/drawingml/2006/main">
            <a:off x="10597896" y="1810512"/>
            <a:ext cx="694944" cy="164592"/>
          </a:xfrm>
          <a:prstGeom xmlns:a="http://schemas.openxmlformats.org/drawingml/2006/main" prst="rect">
            <a:avLst/>
          </a:prstGeom>
          <a:solidFill xmlns:a="http://schemas.openxmlformats.org/drawingml/2006/main">
            <a:srgbClr val="00A79D"/>
          </a:solidFill>
        </p:spPr>
      </p:sp>
      <p:sp>
        <p:nvSpPr>
          <p:cNvPr id="15" name="Text 12">
            <a:extLst xmlns:a="http://schemas.openxmlformats.org/drawingml/2006/main">
              <a:ext uri="{FF2B5EF4-FFF2-40B4-BE49-F238E27FC236}">
                <a16:creationId xmlns:a16="http://schemas.microsoft.com/office/drawing/2014/main" id="{092C9A78-0668-4F78-85C6-3691D3CCB528}"/>
              </a:ext>
            </a:extLst>
          </p:cNvPr>
          <p:cNvSpPr>
            <a:spLocks xmlns:a="http://schemas.openxmlformats.org/drawingml/2006/main" noGrp="1"/>
          </p:cNvSpPr>
          <p:nvPr/>
        </p:nvSpPr>
        <p:spPr>
          <a:xfrm xmlns:a="http://schemas.openxmlformats.org/drawingml/2006/main">
            <a:off x="9509760" y="1993392"/>
            <a:ext cx="182880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50">
                <a:solidFill>
                  <a:srgbClr val="8A96A6"/>
                </a:solidFill>
                <a:latin typeface="Calibri"/>
                <a:ea typeface="Calibri"/>
                <a:cs typeface="Calibri"/>
              </a:rPr>
              <a:t>60% theory · 40% lab</a:t>
            </a:r>
            <a:endParaRPr sz="750"/>
          </a:p>
        </p:txBody>
      </p:sp>
      <p:sp>
        <p:nvSpPr>
          <p:cNvPr id="16" name="Shape 13">
            <a:extLst xmlns:a="http://schemas.openxmlformats.org/drawingml/2006/main">
              <a:ext uri="{FF2B5EF4-FFF2-40B4-BE49-F238E27FC236}">
                <a16:creationId xmlns:a16="http://schemas.microsoft.com/office/drawing/2014/main" id="{35471F4B-14A5-4BB2-A5A6-B54911BD9742}"/>
              </a:ext>
            </a:extLst>
          </p:cNvPr>
          <p:cNvSpPr>
            <a:spLocks xmlns:a="http://schemas.openxmlformats.org/drawingml/2006/main" noGrp="1"/>
          </p:cNvSpPr>
          <p:nvPr/>
        </p:nvSpPr>
        <p:spPr>
          <a:xfrm xmlns:a="http://schemas.openxmlformats.org/drawingml/2006/main">
            <a:off x="502920" y="2414016"/>
            <a:ext cx="11183112" cy="822960"/>
          </a:xfrm>
          <a:prstGeom xmlns:a="http://schemas.openxmlformats.org/drawingml/2006/main" prst="roundRect">
            <a:avLst>
              <a:gd name="adj" fmla="val 5556"/>
            </a:avLst>
          </a:prstGeom>
          <a:solidFill xmlns:a="http://schemas.openxmlformats.org/drawingml/2006/main">
            <a:srgbClr val="EEF3FB"/>
          </a:solidFill>
          <a:ln xmlns:a="http://schemas.openxmlformats.org/drawingml/2006/main" w="9525">
            <a:solidFill>
              <a:srgbClr val="D9E4F5"/>
            </a:solidFill>
            <a:prstDash val="solid"/>
          </a:ln>
        </p:spPr>
      </p:sp>
      <p:sp>
        <p:nvSpPr>
          <p:cNvPr id="17" name="Text 14">
            <a:extLst xmlns:a="http://schemas.openxmlformats.org/drawingml/2006/main">
              <a:ext uri="{FF2B5EF4-FFF2-40B4-BE49-F238E27FC236}">
                <a16:creationId xmlns:a16="http://schemas.microsoft.com/office/drawing/2014/main" id="{D8E24E9F-6446-4939-A30F-11E7CCDA0B39}"/>
              </a:ext>
            </a:extLst>
          </p:cNvPr>
          <p:cNvSpPr>
            <a:spLocks xmlns:a="http://schemas.openxmlformats.org/drawingml/2006/main" noGrp="1"/>
          </p:cNvSpPr>
          <p:nvPr/>
        </p:nvSpPr>
        <p:spPr>
          <a:xfrm xmlns:a="http://schemas.openxmlformats.org/drawingml/2006/main">
            <a:off x="685800" y="2587752"/>
            <a:ext cx="475488" cy="475488"/>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H2</a:t>
            </a:r>
            <a:endParaRPr sz="1300"/>
          </a:p>
        </p:txBody>
      </p:sp>
      <p:sp>
        <p:nvSpPr>
          <p:cNvPr id="18" name="Text 15">
            <a:extLst xmlns:a="http://schemas.openxmlformats.org/drawingml/2006/main">
              <a:ext uri="{FF2B5EF4-FFF2-40B4-BE49-F238E27FC236}">
                <a16:creationId xmlns:a16="http://schemas.microsoft.com/office/drawing/2014/main" id="{C120FD9E-A339-444F-9F8A-7C14FD1D1612}"/>
              </a:ext>
            </a:extLst>
          </p:cNvPr>
          <p:cNvSpPr>
            <a:spLocks xmlns:a="http://schemas.openxmlformats.org/drawingml/2006/main" noGrp="1"/>
          </p:cNvSpPr>
          <p:nvPr/>
        </p:nvSpPr>
        <p:spPr>
          <a:xfrm xmlns:a="http://schemas.openxmlformats.org/drawingml/2006/main">
            <a:off x="1353312" y="2505456"/>
            <a:ext cx="603504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Lab 5 — Build the pipeline</a:t>
            </a:r>
            <a:endParaRPr sz="1350"/>
          </a:p>
        </p:txBody>
      </p:sp>
      <p:sp>
        <p:nvSpPr>
          <p:cNvPr id="19" name="Text 16">
            <a:extLst xmlns:a="http://schemas.openxmlformats.org/drawingml/2006/main">
              <a:ext uri="{FF2B5EF4-FFF2-40B4-BE49-F238E27FC236}">
                <a16:creationId xmlns:a16="http://schemas.microsoft.com/office/drawing/2014/main" id="{2B3AF400-9120-472C-8965-52E3937077A5}"/>
              </a:ext>
            </a:extLst>
          </p:cNvPr>
          <p:cNvSpPr>
            <a:spLocks xmlns:a="http://schemas.openxmlformats.org/drawingml/2006/main" noGrp="1"/>
          </p:cNvSpPr>
          <p:nvPr/>
        </p:nvSpPr>
        <p:spPr>
          <a:xfrm xmlns:a="http://schemas.openxmlformats.org/drawingml/2006/main">
            <a:off x="1353312" y="2816352"/>
            <a:ext cx="6035040" cy="3840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5F6B7A"/>
                </a:solidFill>
                <a:latin typeface="Calibri"/>
                <a:ea typeface="Calibri"/>
                <a:cs typeface="Calibri"/>
              </a:rPr>
              <a:t>lint → type → test → build image → smoke test; branch protection turned on</a:t>
            </a:r>
            <a:endParaRPr sz="1000"/>
          </a:p>
        </p:txBody>
      </p:sp>
      <p:sp>
        <p:nvSpPr>
          <p:cNvPr id="20" name="Text 17">
            <a:extLst xmlns:a="http://schemas.openxmlformats.org/drawingml/2006/main">
              <a:ext uri="{FF2B5EF4-FFF2-40B4-BE49-F238E27FC236}">
                <a16:creationId xmlns:a16="http://schemas.microsoft.com/office/drawing/2014/main" id="{899AC565-559E-4513-B119-670E169EE02E}"/>
              </a:ext>
            </a:extLst>
          </p:cNvPr>
          <p:cNvSpPr>
            <a:spLocks xmlns:a="http://schemas.openxmlformats.org/drawingml/2006/main" noGrp="1"/>
          </p:cNvSpPr>
          <p:nvPr/>
        </p:nvSpPr>
        <p:spPr>
          <a:xfrm xmlns:a="http://schemas.openxmlformats.org/drawingml/2006/main">
            <a:off x="7589520" y="2670048"/>
            <a:ext cx="1783080" cy="310896"/>
          </a:xfrm>
          <a:prstGeom xmlns:a="http://schemas.openxmlformats.org/drawingml/2006/main" prst="roundRect">
            <a:avLst>
              <a:gd name="adj" fmla="val 17647"/>
            </a:avLst>
          </a:prstGeom>
          <a:solidFill xmlns:a="http://schemas.openxmlformats.org/drawingml/2006/main">
            <a:srgbClr val="D4F1EE"/>
          </a:solidFill>
        </p:spPr>
        <p:txBody>
          <a:bodyPr xmlns:a="http://schemas.openxmlformats.org/drawingml/2006/main" wrap="square" anchor="ctr"/>
          <a:lstStyle xmlns:a="http://schemas.openxmlformats.org/drawingml/2006/main"/>
          <a:p xmlns:a="http://schemas.openxmlformats.org/drawingml/2006/main">
            <a:pPr marL="0" indent="0" algn="ctr">
              <a:buNone/>
            </a:pPr>
            <a:r>
              <a:rPr sz="950" b="1">
                <a:solidFill>
                  <a:srgbClr val="056A63"/>
                </a:solidFill>
                <a:latin typeface="Calibri"/>
                <a:ea typeface="Calibri"/>
                <a:cs typeface="Calibri"/>
              </a:rPr>
              <a:t>Guided lab</a:t>
            </a:r>
            <a:endParaRPr sz="950"/>
          </a:p>
        </p:txBody>
      </p:sp>
      <p:sp>
        <p:nvSpPr>
          <p:cNvPr id="21" name="Shape 18">
            <a:extLst xmlns:a="http://schemas.openxmlformats.org/drawingml/2006/main">
              <a:ext uri="{FF2B5EF4-FFF2-40B4-BE49-F238E27FC236}">
                <a16:creationId xmlns:a16="http://schemas.microsoft.com/office/drawing/2014/main" id="{35EFA9CC-E716-4C30-A5FB-5A3FA9FC8EF9}"/>
              </a:ext>
            </a:extLst>
          </p:cNvPr>
          <p:cNvSpPr>
            <a:spLocks xmlns:a="http://schemas.openxmlformats.org/drawingml/2006/main" noGrp="1"/>
          </p:cNvSpPr>
          <p:nvPr/>
        </p:nvSpPr>
        <p:spPr>
          <a:xfrm xmlns:a="http://schemas.openxmlformats.org/drawingml/2006/main">
            <a:off x="9555480" y="2743200"/>
            <a:ext cx="173736" cy="164592"/>
          </a:xfrm>
          <a:prstGeom xmlns:a="http://schemas.openxmlformats.org/drawingml/2006/main" prst="rect">
            <a:avLst/>
          </a:prstGeom>
          <a:solidFill xmlns:a="http://schemas.openxmlformats.org/drawingml/2006/main">
            <a:srgbClr val="1D2A5C"/>
          </a:solidFill>
        </p:spPr>
      </p:sp>
      <p:sp>
        <p:nvSpPr>
          <p:cNvPr id="22" name="Shape 19">
            <a:extLst xmlns:a="http://schemas.openxmlformats.org/drawingml/2006/main">
              <a:ext uri="{FF2B5EF4-FFF2-40B4-BE49-F238E27FC236}">
                <a16:creationId xmlns:a16="http://schemas.microsoft.com/office/drawing/2014/main" id="{9525BF20-43D1-4E79-9B3F-705F70D5BE34}"/>
              </a:ext>
            </a:extLst>
          </p:cNvPr>
          <p:cNvSpPr>
            <a:spLocks xmlns:a="http://schemas.openxmlformats.org/drawingml/2006/main" noGrp="1"/>
          </p:cNvSpPr>
          <p:nvPr/>
        </p:nvSpPr>
        <p:spPr>
          <a:xfrm xmlns:a="http://schemas.openxmlformats.org/drawingml/2006/main">
            <a:off x="9729216" y="2743200"/>
            <a:ext cx="1563624" cy="164592"/>
          </a:xfrm>
          <a:prstGeom xmlns:a="http://schemas.openxmlformats.org/drawingml/2006/main" prst="rect">
            <a:avLst/>
          </a:prstGeom>
          <a:solidFill xmlns:a="http://schemas.openxmlformats.org/drawingml/2006/main">
            <a:srgbClr val="00A79D"/>
          </a:solidFill>
        </p:spPr>
      </p:sp>
      <p:sp>
        <p:nvSpPr>
          <p:cNvPr id="23" name="Text 20">
            <a:extLst xmlns:a="http://schemas.openxmlformats.org/drawingml/2006/main">
              <a:ext uri="{FF2B5EF4-FFF2-40B4-BE49-F238E27FC236}">
                <a16:creationId xmlns:a16="http://schemas.microsoft.com/office/drawing/2014/main" id="{DD7ABF05-6E4A-4C51-9ED9-4A199C3F364A}"/>
              </a:ext>
            </a:extLst>
          </p:cNvPr>
          <p:cNvSpPr>
            <a:spLocks xmlns:a="http://schemas.openxmlformats.org/drawingml/2006/main" noGrp="1"/>
          </p:cNvSpPr>
          <p:nvPr/>
        </p:nvSpPr>
        <p:spPr>
          <a:xfrm xmlns:a="http://schemas.openxmlformats.org/drawingml/2006/main">
            <a:off x="9509760" y="2926080"/>
            <a:ext cx="182880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50">
                <a:solidFill>
                  <a:srgbClr val="8A96A6"/>
                </a:solidFill>
                <a:latin typeface="Calibri"/>
                <a:ea typeface="Calibri"/>
                <a:cs typeface="Calibri"/>
              </a:rPr>
              <a:t>10% theory · 90% lab</a:t>
            </a:r>
            <a:endParaRPr sz="750"/>
          </a:p>
        </p:txBody>
      </p:sp>
      <p:sp>
        <p:nvSpPr>
          <p:cNvPr id="24" name="Shape 21">
            <a:extLst xmlns:a="http://schemas.openxmlformats.org/drawingml/2006/main">
              <a:ext uri="{FF2B5EF4-FFF2-40B4-BE49-F238E27FC236}">
                <a16:creationId xmlns:a16="http://schemas.microsoft.com/office/drawing/2014/main" id="{531BBD86-1620-4B28-8D54-3386F812D05F}"/>
              </a:ext>
            </a:extLst>
          </p:cNvPr>
          <p:cNvSpPr>
            <a:spLocks xmlns:a="http://schemas.openxmlformats.org/drawingml/2006/main" noGrp="1"/>
          </p:cNvSpPr>
          <p:nvPr/>
        </p:nvSpPr>
        <p:spPr>
          <a:xfrm xmlns:a="http://schemas.openxmlformats.org/drawingml/2006/main">
            <a:off x="502920" y="3346704"/>
            <a:ext cx="11183112" cy="82296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D9E4F5"/>
            </a:solidFill>
            <a:prstDash val="solid"/>
          </a:ln>
        </p:spPr>
      </p:sp>
      <p:sp>
        <p:nvSpPr>
          <p:cNvPr id="25" name="Text 22">
            <a:extLst xmlns:a="http://schemas.openxmlformats.org/drawingml/2006/main">
              <a:ext uri="{FF2B5EF4-FFF2-40B4-BE49-F238E27FC236}">
                <a16:creationId xmlns:a16="http://schemas.microsoft.com/office/drawing/2014/main" id="{C36AD014-8F10-49A1-A351-BF6C76129E36}"/>
              </a:ext>
            </a:extLst>
          </p:cNvPr>
          <p:cNvSpPr>
            <a:spLocks xmlns:a="http://schemas.openxmlformats.org/drawingml/2006/main" noGrp="1"/>
          </p:cNvSpPr>
          <p:nvPr/>
        </p:nvSpPr>
        <p:spPr>
          <a:xfrm xmlns:a="http://schemas.openxmlformats.org/drawingml/2006/main">
            <a:off x="685800" y="3520440"/>
            <a:ext cx="475488" cy="475488"/>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H3</a:t>
            </a:r>
            <a:endParaRPr sz="1300"/>
          </a:p>
        </p:txBody>
      </p:sp>
      <p:sp>
        <p:nvSpPr>
          <p:cNvPr id="26" name="Text 23">
            <a:extLst xmlns:a="http://schemas.openxmlformats.org/drawingml/2006/main">
              <a:ext uri="{FF2B5EF4-FFF2-40B4-BE49-F238E27FC236}">
                <a16:creationId xmlns:a16="http://schemas.microsoft.com/office/drawing/2014/main" id="{2970B516-6E4B-49F8-874D-C5CA8AF97225}"/>
              </a:ext>
            </a:extLst>
          </p:cNvPr>
          <p:cNvSpPr>
            <a:spLocks xmlns:a="http://schemas.openxmlformats.org/drawingml/2006/main" noGrp="1"/>
          </p:cNvSpPr>
          <p:nvPr/>
        </p:nvSpPr>
        <p:spPr>
          <a:xfrm xmlns:a="http://schemas.openxmlformats.org/drawingml/2006/main">
            <a:off x="1353312" y="3438144"/>
            <a:ext cx="603504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Config, secrets &amp; logging (M6) + Lab 6</a:t>
            </a:r>
            <a:endParaRPr sz="1350"/>
          </a:p>
        </p:txBody>
      </p:sp>
      <p:sp>
        <p:nvSpPr>
          <p:cNvPr id="27" name="Text 24">
            <a:extLst xmlns:a="http://schemas.openxmlformats.org/drawingml/2006/main">
              <a:ext uri="{FF2B5EF4-FFF2-40B4-BE49-F238E27FC236}">
                <a16:creationId xmlns:a16="http://schemas.microsoft.com/office/drawing/2014/main" id="{9ECFFE37-DBF1-4532-84F0-150DF97D48C9}"/>
              </a:ext>
            </a:extLst>
          </p:cNvPr>
          <p:cNvSpPr>
            <a:spLocks xmlns:a="http://schemas.openxmlformats.org/drawingml/2006/main" noGrp="1"/>
          </p:cNvSpPr>
          <p:nvPr/>
        </p:nvSpPr>
        <p:spPr>
          <a:xfrm xmlns:a="http://schemas.openxmlformats.org/drawingml/2006/main">
            <a:off x="1353312" y="3749040"/>
            <a:ext cx="6035040" cy="3840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5F6B7A"/>
                </a:solidFill>
                <a:latin typeface="Calibri"/>
                <a:ea typeface="Calibri"/>
                <a:cs typeface="Calibri"/>
              </a:rPr>
              <a:t>pydantic-settings, .env discipline, secret hygiene, structured JSON logging</a:t>
            </a:r>
            <a:endParaRPr sz="1000"/>
          </a:p>
        </p:txBody>
      </p:sp>
      <p:sp>
        <p:nvSpPr>
          <p:cNvPr id="28" name="Text 25">
            <a:extLst xmlns:a="http://schemas.openxmlformats.org/drawingml/2006/main">
              <a:ext uri="{FF2B5EF4-FFF2-40B4-BE49-F238E27FC236}">
                <a16:creationId xmlns:a16="http://schemas.microsoft.com/office/drawing/2014/main" id="{E94BA595-1874-47FA-BD12-8EB3CF75FF0B}"/>
              </a:ext>
            </a:extLst>
          </p:cNvPr>
          <p:cNvSpPr>
            <a:spLocks xmlns:a="http://schemas.openxmlformats.org/drawingml/2006/main" noGrp="1"/>
          </p:cNvSpPr>
          <p:nvPr/>
        </p:nvSpPr>
        <p:spPr>
          <a:xfrm xmlns:a="http://schemas.openxmlformats.org/drawingml/2006/main">
            <a:off x="7589520" y="3602736"/>
            <a:ext cx="1783080" cy="310896"/>
          </a:xfrm>
          <a:prstGeom xmlns:a="http://schemas.openxmlformats.org/drawingml/2006/main" prst="roundRect">
            <a:avLst>
              <a:gd name="adj" fmla="val 17647"/>
            </a:avLst>
          </a:prstGeom>
          <a:solidFill xmlns:a="http://schemas.openxmlformats.org/drawingml/2006/main">
            <a:srgbClr val="D4F1EE"/>
          </a:solidFill>
        </p:spPr>
        <p:txBody>
          <a:bodyPr xmlns:a="http://schemas.openxmlformats.org/drawingml/2006/main" wrap="square" anchor="ctr"/>
          <a:lstStyle xmlns:a="http://schemas.openxmlformats.org/drawingml/2006/main"/>
          <a:p xmlns:a="http://schemas.openxmlformats.org/drawingml/2006/main">
            <a:pPr marL="0" indent="0" algn="ctr">
              <a:buNone/>
            </a:pPr>
            <a:r>
              <a:rPr sz="950" b="1">
                <a:solidFill>
                  <a:srgbClr val="056A63"/>
                </a:solidFill>
                <a:latin typeface="Calibri"/>
                <a:ea typeface="Calibri"/>
                <a:cs typeface="Calibri"/>
              </a:rPr>
              <a:t>Micro-lecture + lab</a:t>
            </a:r>
            <a:endParaRPr sz="950"/>
          </a:p>
        </p:txBody>
      </p:sp>
      <p:sp>
        <p:nvSpPr>
          <p:cNvPr id="29" name="Shape 26">
            <a:extLst xmlns:a="http://schemas.openxmlformats.org/drawingml/2006/main">
              <a:ext uri="{FF2B5EF4-FFF2-40B4-BE49-F238E27FC236}">
                <a16:creationId xmlns:a16="http://schemas.microsoft.com/office/drawing/2014/main" id="{3EBB88C2-778B-471A-9994-4FB332DA9F9C}"/>
              </a:ext>
            </a:extLst>
          </p:cNvPr>
          <p:cNvSpPr>
            <a:spLocks xmlns:a="http://schemas.openxmlformats.org/drawingml/2006/main" noGrp="1"/>
          </p:cNvSpPr>
          <p:nvPr/>
        </p:nvSpPr>
        <p:spPr>
          <a:xfrm xmlns:a="http://schemas.openxmlformats.org/drawingml/2006/main">
            <a:off x="9555480" y="3675888"/>
            <a:ext cx="521208" cy="164592"/>
          </a:xfrm>
          <a:prstGeom xmlns:a="http://schemas.openxmlformats.org/drawingml/2006/main" prst="rect">
            <a:avLst/>
          </a:prstGeom>
          <a:solidFill xmlns:a="http://schemas.openxmlformats.org/drawingml/2006/main">
            <a:srgbClr val="1D2A5C"/>
          </a:solidFill>
        </p:spPr>
      </p:sp>
      <p:sp>
        <p:nvSpPr>
          <p:cNvPr id="30" name="Shape 27">
            <a:extLst xmlns:a="http://schemas.openxmlformats.org/drawingml/2006/main">
              <a:ext uri="{FF2B5EF4-FFF2-40B4-BE49-F238E27FC236}">
                <a16:creationId xmlns:a16="http://schemas.microsoft.com/office/drawing/2014/main" id="{4E5F7370-F373-40ED-9205-9A7876A17727}"/>
              </a:ext>
            </a:extLst>
          </p:cNvPr>
          <p:cNvSpPr>
            <a:spLocks xmlns:a="http://schemas.openxmlformats.org/drawingml/2006/main" noGrp="1"/>
          </p:cNvSpPr>
          <p:nvPr/>
        </p:nvSpPr>
        <p:spPr>
          <a:xfrm xmlns:a="http://schemas.openxmlformats.org/drawingml/2006/main">
            <a:off x="10076688" y="3675888"/>
            <a:ext cx="1216152" cy="164592"/>
          </a:xfrm>
          <a:prstGeom xmlns:a="http://schemas.openxmlformats.org/drawingml/2006/main" prst="rect">
            <a:avLst/>
          </a:prstGeom>
          <a:solidFill xmlns:a="http://schemas.openxmlformats.org/drawingml/2006/main">
            <a:srgbClr val="00A79D"/>
          </a:solidFill>
        </p:spPr>
      </p:sp>
      <p:sp>
        <p:nvSpPr>
          <p:cNvPr id="31" name="Text 28">
            <a:extLst xmlns:a="http://schemas.openxmlformats.org/drawingml/2006/main">
              <a:ext uri="{FF2B5EF4-FFF2-40B4-BE49-F238E27FC236}">
                <a16:creationId xmlns:a16="http://schemas.microsoft.com/office/drawing/2014/main" id="{41876095-9449-42EE-A267-1CFAB9AD37E5}"/>
              </a:ext>
            </a:extLst>
          </p:cNvPr>
          <p:cNvSpPr>
            <a:spLocks xmlns:a="http://schemas.openxmlformats.org/drawingml/2006/main" noGrp="1"/>
          </p:cNvSpPr>
          <p:nvPr/>
        </p:nvSpPr>
        <p:spPr>
          <a:xfrm xmlns:a="http://schemas.openxmlformats.org/drawingml/2006/main">
            <a:off x="9509760" y="3858768"/>
            <a:ext cx="182880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50">
                <a:solidFill>
                  <a:srgbClr val="8A96A6"/>
                </a:solidFill>
                <a:latin typeface="Calibri"/>
                <a:ea typeface="Calibri"/>
                <a:cs typeface="Calibri"/>
              </a:rPr>
              <a:t>30% theory · 70% lab</a:t>
            </a:r>
            <a:endParaRPr sz="750"/>
          </a:p>
        </p:txBody>
      </p:sp>
      <p:sp>
        <p:nvSpPr>
          <p:cNvPr id="32" name="Shape 29">
            <a:extLst xmlns:a="http://schemas.openxmlformats.org/drawingml/2006/main">
              <a:ext uri="{FF2B5EF4-FFF2-40B4-BE49-F238E27FC236}">
                <a16:creationId xmlns:a16="http://schemas.microsoft.com/office/drawing/2014/main" id="{A67143DC-B858-447C-AB00-A183EFDEF3A2}"/>
              </a:ext>
            </a:extLst>
          </p:cNvPr>
          <p:cNvSpPr>
            <a:spLocks xmlns:a="http://schemas.openxmlformats.org/drawingml/2006/main" noGrp="1"/>
          </p:cNvSpPr>
          <p:nvPr/>
        </p:nvSpPr>
        <p:spPr>
          <a:xfrm xmlns:a="http://schemas.openxmlformats.org/drawingml/2006/main">
            <a:off x="502920" y="4279392"/>
            <a:ext cx="11183112" cy="822960"/>
          </a:xfrm>
          <a:prstGeom xmlns:a="http://schemas.openxmlformats.org/drawingml/2006/main" prst="roundRect">
            <a:avLst>
              <a:gd name="adj" fmla="val 5556"/>
            </a:avLst>
          </a:prstGeom>
          <a:solidFill xmlns:a="http://schemas.openxmlformats.org/drawingml/2006/main">
            <a:srgbClr val="EEF3FB"/>
          </a:solidFill>
          <a:ln xmlns:a="http://schemas.openxmlformats.org/drawingml/2006/main" w="9525">
            <a:solidFill>
              <a:srgbClr val="D9E4F5"/>
            </a:solidFill>
            <a:prstDash val="solid"/>
          </a:ln>
        </p:spPr>
      </p:sp>
      <p:sp>
        <p:nvSpPr>
          <p:cNvPr id="33" name="Text 30">
            <a:extLst xmlns:a="http://schemas.openxmlformats.org/drawingml/2006/main">
              <a:ext uri="{FF2B5EF4-FFF2-40B4-BE49-F238E27FC236}">
                <a16:creationId xmlns:a16="http://schemas.microsoft.com/office/drawing/2014/main" id="{F00A44DA-E7BE-4292-97CA-12EAC57ABE0F}"/>
              </a:ext>
            </a:extLst>
          </p:cNvPr>
          <p:cNvSpPr>
            <a:spLocks xmlns:a="http://schemas.openxmlformats.org/drawingml/2006/main" noGrp="1"/>
          </p:cNvSpPr>
          <p:nvPr/>
        </p:nvSpPr>
        <p:spPr>
          <a:xfrm xmlns:a="http://schemas.openxmlformats.org/drawingml/2006/main">
            <a:off x="685800" y="4453128"/>
            <a:ext cx="475488" cy="475488"/>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H4</a:t>
            </a:r>
            <a:endParaRPr sz="1300"/>
          </a:p>
        </p:txBody>
      </p:sp>
      <p:sp>
        <p:nvSpPr>
          <p:cNvPr id="34" name="Text 31">
            <a:extLst xmlns:a="http://schemas.openxmlformats.org/drawingml/2006/main">
              <a:ext uri="{FF2B5EF4-FFF2-40B4-BE49-F238E27FC236}">
                <a16:creationId xmlns:a16="http://schemas.microsoft.com/office/drawing/2014/main" id="{4A9A65DA-1D51-49D4-A8EC-E7C2528306B8}"/>
              </a:ext>
            </a:extLst>
          </p:cNvPr>
          <p:cNvSpPr>
            <a:spLocks xmlns:a="http://schemas.openxmlformats.org/drawingml/2006/main" noGrp="1"/>
          </p:cNvSpPr>
          <p:nvPr/>
        </p:nvSpPr>
        <p:spPr>
          <a:xfrm xmlns:a="http://schemas.openxmlformats.org/drawingml/2006/main">
            <a:off x="1353312" y="4370832"/>
            <a:ext cx="603504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Capstone assembly</a:t>
            </a:r>
            <a:endParaRPr sz="1350"/>
          </a:p>
        </p:txBody>
      </p:sp>
      <p:sp>
        <p:nvSpPr>
          <p:cNvPr id="35" name="Text 32">
            <a:extLst xmlns:a="http://schemas.openxmlformats.org/drawingml/2006/main">
              <a:ext uri="{FF2B5EF4-FFF2-40B4-BE49-F238E27FC236}">
                <a16:creationId xmlns:a16="http://schemas.microsoft.com/office/drawing/2014/main" id="{9EE24F13-1973-44C1-8F59-ADE63ADAD990}"/>
              </a:ext>
            </a:extLst>
          </p:cNvPr>
          <p:cNvSpPr>
            <a:spLocks xmlns:a="http://schemas.openxmlformats.org/drawingml/2006/main" noGrp="1"/>
          </p:cNvSpPr>
          <p:nvPr/>
        </p:nvSpPr>
        <p:spPr>
          <a:xfrm xmlns:a="http://schemas.openxmlformats.org/drawingml/2006/main">
            <a:off x="1353312" y="4681728"/>
            <a:ext cx="6035040" cy="3840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5F6B7A"/>
                </a:solidFill>
                <a:latin typeface="Calibri"/>
                <a:ea typeface="Calibri"/>
                <a:cs typeface="Calibri"/>
              </a:rPr>
              <a:t>Integrate all components; complete capstone checklist; peer code review round</a:t>
            </a:r>
            <a:endParaRPr sz="1000"/>
          </a:p>
        </p:txBody>
      </p:sp>
      <p:sp>
        <p:nvSpPr>
          <p:cNvPr id="36" name="Text 33">
            <a:extLst xmlns:a="http://schemas.openxmlformats.org/drawingml/2006/main">
              <a:ext uri="{FF2B5EF4-FFF2-40B4-BE49-F238E27FC236}">
                <a16:creationId xmlns:a16="http://schemas.microsoft.com/office/drawing/2014/main" id="{BDB09E8E-4C7B-4601-A2E5-A12BB98F9FD8}"/>
              </a:ext>
            </a:extLst>
          </p:cNvPr>
          <p:cNvSpPr>
            <a:spLocks xmlns:a="http://schemas.openxmlformats.org/drawingml/2006/main" noGrp="1"/>
          </p:cNvSpPr>
          <p:nvPr/>
        </p:nvSpPr>
        <p:spPr>
          <a:xfrm xmlns:a="http://schemas.openxmlformats.org/drawingml/2006/main">
            <a:off x="7589520" y="4535424"/>
            <a:ext cx="1783080" cy="310896"/>
          </a:xfrm>
          <a:prstGeom xmlns:a="http://schemas.openxmlformats.org/drawingml/2006/main" prst="roundRect">
            <a:avLst>
              <a:gd name="adj" fmla="val 17647"/>
            </a:avLst>
          </a:prstGeom>
          <a:solidFill xmlns:a="http://schemas.openxmlformats.org/drawingml/2006/main">
            <a:srgbClr val="D4F1EE"/>
          </a:solidFill>
        </p:spPr>
        <p:txBody>
          <a:bodyPr xmlns:a="http://schemas.openxmlformats.org/drawingml/2006/main" wrap="square" anchor="ctr"/>
          <a:lstStyle xmlns:a="http://schemas.openxmlformats.org/drawingml/2006/main"/>
          <a:p xmlns:a="http://schemas.openxmlformats.org/drawingml/2006/main">
            <a:pPr marL="0" indent="0" algn="ctr">
              <a:buNone/>
            </a:pPr>
            <a:r>
              <a:rPr sz="950" b="1">
                <a:solidFill>
                  <a:srgbClr val="056A63"/>
                </a:solidFill>
                <a:latin typeface="Calibri"/>
                <a:ea typeface="Calibri"/>
                <a:cs typeface="Calibri"/>
              </a:rPr>
              <a:t>Project work</a:t>
            </a:r>
            <a:endParaRPr sz="950"/>
          </a:p>
        </p:txBody>
      </p:sp>
      <p:sp>
        <p:nvSpPr>
          <p:cNvPr id="37" name="Shape 34">
            <a:extLst xmlns:a="http://schemas.openxmlformats.org/drawingml/2006/main">
              <a:ext uri="{FF2B5EF4-FFF2-40B4-BE49-F238E27FC236}">
                <a16:creationId xmlns:a16="http://schemas.microsoft.com/office/drawing/2014/main" id="{41C515A6-F159-4E51-B710-EF73F0F08D79}"/>
              </a:ext>
            </a:extLst>
          </p:cNvPr>
          <p:cNvSpPr>
            <a:spLocks xmlns:a="http://schemas.openxmlformats.org/drawingml/2006/main" noGrp="1"/>
          </p:cNvSpPr>
          <p:nvPr/>
        </p:nvSpPr>
        <p:spPr>
          <a:xfrm xmlns:a="http://schemas.openxmlformats.org/drawingml/2006/main">
            <a:off x="9555480" y="4608576"/>
            <a:ext cx="0" cy="164592"/>
          </a:xfrm>
          <a:prstGeom xmlns:a="http://schemas.openxmlformats.org/drawingml/2006/main" prst="rect">
            <a:avLst/>
          </a:prstGeom>
          <a:solidFill xmlns:a="http://schemas.openxmlformats.org/drawingml/2006/main">
            <a:srgbClr val="1D2A5C"/>
          </a:solidFill>
        </p:spPr>
      </p:sp>
      <p:sp>
        <p:nvSpPr>
          <p:cNvPr id="38" name="Shape 35">
            <a:extLst xmlns:a="http://schemas.openxmlformats.org/drawingml/2006/main">
              <a:ext uri="{FF2B5EF4-FFF2-40B4-BE49-F238E27FC236}">
                <a16:creationId xmlns:a16="http://schemas.microsoft.com/office/drawing/2014/main" id="{DA350132-BC83-491E-B7FB-6B64C824E837}"/>
              </a:ext>
            </a:extLst>
          </p:cNvPr>
          <p:cNvSpPr>
            <a:spLocks xmlns:a="http://schemas.openxmlformats.org/drawingml/2006/main" noGrp="1"/>
          </p:cNvSpPr>
          <p:nvPr/>
        </p:nvSpPr>
        <p:spPr>
          <a:xfrm xmlns:a="http://schemas.openxmlformats.org/drawingml/2006/main">
            <a:off x="9555480" y="4608576"/>
            <a:ext cx="1737360" cy="164592"/>
          </a:xfrm>
          <a:prstGeom xmlns:a="http://schemas.openxmlformats.org/drawingml/2006/main" prst="rect">
            <a:avLst/>
          </a:prstGeom>
          <a:solidFill xmlns:a="http://schemas.openxmlformats.org/drawingml/2006/main">
            <a:srgbClr val="00A79D"/>
          </a:solidFill>
        </p:spPr>
      </p:sp>
      <p:sp>
        <p:nvSpPr>
          <p:cNvPr id="39" name="Text 36">
            <a:extLst xmlns:a="http://schemas.openxmlformats.org/drawingml/2006/main">
              <a:ext uri="{FF2B5EF4-FFF2-40B4-BE49-F238E27FC236}">
                <a16:creationId xmlns:a16="http://schemas.microsoft.com/office/drawing/2014/main" id="{5760765F-A7DF-47DD-A99B-6F6AD157B330}"/>
              </a:ext>
            </a:extLst>
          </p:cNvPr>
          <p:cNvSpPr>
            <a:spLocks xmlns:a="http://schemas.openxmlformats.org/drawingml/2006/main" noGrp="1"/>
          </p:cNvSpPr>
          <p:nvPr/>
        </p:nvSpPr>
        <p:spPr>
          <a:xfrm xmlns:a="http://schemas.openxmlformats.org/drawingml/2006/main">
            <a:off x="9509760" y="4791456"/>
            <a:ext cx="182880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50">
                <a:solidFill>
                  <a:srgbClr val="8A96A6"/>
                </a:solidFill>
                <a:latin typeface="Calibri"/>
                <a:ea typeface="Calibri"/>
                <a:cs typeface="Calibri"/>
              </a:rPr>
              <a:t>0% theory · 100% lab</a:t>
            </a:r>
            <a:endParaRPr sz="750"/>
          </a:p>
        </p:txBody>
      </p:sp>
      <p:sp>
        <p:nvSpPr>
          <p:cNvPr id="40" name="Shape 37">
            <a:extLst xmlns:a="http://schemas.openxmlformats.org/drawingml/2006/main">
              <a:ext uri="{FF2B5EF4-FFF2-40B4-BE49-F238E27FC236}">
                <a16:creationId xmlns:a16="http://schemas.microsoft.com/office/drawing/2014/main" id="{2B00BE9B-6678-4063-8E6C-C7938CECC916}"/>
              </a:ext>
            </a:extLst>
          </p:cNvPr>
          <p:cNvSpPr>
            <a:spLocks xmlns:a="http://schemas.openxmlformats.org/drawingml/2006/main" noGrp="1"/>
          </p:cNvSpPr>
          <p:nvPr/>
        </p:nvSpPr>
        <p:spPr>
          <a:xfrm xmlns:a="http://schemas.openxmlformats.org/drawingml/2006/main">
            <a:off x="502920" y="5212080"/>
            <a:ext cx="11183112" cy="82296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D9E4F5"/>
            </a:solidFill>
            <a:prstDash val="solid"/>
          </a:ln>
        </p:spPr>
      </p:sp>
      <p:sp>
        <p:nvSpPr>
          <p:cNvPr id="41" name="Text 38">
            <a:extLst xmlns:a="http://schemas.openxmlformats.org/drawingml/2006/main">
              <a:ext uri="{FF2B5EF4-FFF2-40B4-BE49-F238E27FC236}">
                <a16:creationId xmlns:a16="http://schemas.microsoft.com/office/drawing/2014/main" id="{35EFF24A-79AD-408E-8069-339357BFB47E}"/>
              </a:ext>
            </a:extLst>
          </p:cNvPr>
          <p:cNvSpPr>
            <a:spLocks xmlns:a="http://schemas.openxmlformats.org/drawingml/2006/main" noGrp="1"/>
          </p:cNvSpPr>
          <p:nvPr/>
        </p:nvSpPr>
        <p:spPr>
          <a:xfrm xmlns:a="http://schemas.openxmlformats.org/drawingml/2006/main">
            <a:off x="685800" y="5385816"/>
            <a:ext cx="475488" cy="475488"/>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H5</a:t>
            </a:r>
            <a:endParaRPr sz="1300"/>
          </a:p>
        </p:txBody>
      </p:sp>
      <p:sp>
        <p:nvSpPr>
          <p:cNvPr id="42" name="Text 39">
            <a:extLst xmlns:a="http://schemas.openxmlformats.org/drawingml/2006/main">
              <a:ext uri="{FF2B5EF4-FFF2-40B4-BE49-F238E27FC236}">
                <a16:creationId xmlns:a16="http://schemas.microsoft.com/office/drawing/2014/main" id="{4612DCE8-BFEA-4E05-870E-5E5BAFDDD623}"/>
              </a:ext>
            </a:extLst>
          </p:cNvPr>
          <p:cNvSpPr>
            <a:spLocks xmlns:a="http://schemas.openxmlformats.org/drawingml/2006/main" noGrp="1"/>
          </p:cNvSpPr>
          <p:nvPr/>
        </p:nvSpPr>
        <p:spPr>
          <a:xfrm xmlns:a="http://schemas.openxmlformats.org/drawingml/2006/main">
            <a:off x="1353312" y="5303520"/>
            <a:ext cx="603504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Capstone demos + assessment</a:t>
            </a:r>
            <a:endParaRPr sz="1350"/>
          </a:p>
        </p:txBody>
      </p:sp>
      <p:sp>
        <p:nvSpPr>
          <p:cNvPr id="43" name="Text 40">
            <a:extLst xmlns:a="http://schemas.openxmlformats.org/drawingml/2006/main">
              <a:ext uri="{FF2B5EF4-FFF2-40B4-BE49-F238E27FC236}">
                <a16:creationId xmlns:a16="http://schemas.microsoft.com/office/drawing/2014/main" id="{40B7057D-1613-418F-887C-1EE7BDE52A2C}"/>
              </a:ext>
            </a:extLst>
          </p:cNvPr>
          <p:cNvSpPr>
            <a:spLocks xmlns:a="http://schemas.openxmlformats.org/drawingml/2006/main" noGrp="1"/>
          </p:cNvSpPr>
          <p:nvPr/>
        </p:nvSpPr>
        <p:spPr>
          <a:xfrm xmlns:a="http://schemas.openxmlformats.org/drawingml/2006/main">
            <a:off x="1353312" y="5614416"/>
            <a:ext cx="6035040" cy="3840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5F6B7A"/>
                </a:solidFill>
                <a:latin typeface="Calibri"/>
                <a:ea typeface="Calibri"/>
                <a:cs typeface="Calibri"/>
              </a:rPr>
              <a:t>5-minute demos; rubric-based peer + instructor scoring; path to SDA-AIE-211/216</a:t>
            </a:r>
            <a:endParaRPr sz="1000"/>
          </a:p>
        </p:txBody>
      </p:sp>
      <p:sp>
        <p:nvSpPr>
          <p:cNvPr id="44" name="Text 41">
            <a:extLst xmlns:a="http://schemas.openxmlformats.org/drawingml/2006/main">
              <a:ext uri="{FF2B5EF4-FFF2-40B4-BE49-F238E27FC236}">
                <a16:creationId xmlns:a16="http://schemas.microsoft.com/office/drawing/2014/main" id="{EE99C2C5-C0FA-4B36-938C-F4FE762B8696}"/>
              </a:ext>
            </a:extLst>
          </p:cNvPr>
          <p:cNvSpPr>
            <a:spLocks xmlns:a="http://schemas.openxmlformats.org/drawingml/2006/main" noGrp="1"/>
          </p:cNvSpPr>
          <p:nvPr/>
        </p:nvSpPr>
        <p:spPr>
          <a:xfrm xmlns:a="http://schemas.openxmlformats.org/drawingml/2006/main">
            <a:off x="7589520" y="5468112"/>
            <a:ext cx="1783080" cy="310896"/>
          </a:xfrm>
          <a:prstGeom xmlns:a="http://schemas.openxmlformats.org/drawingml/2006/main" prst="roundRect">
            <a:avLst>
              <a:gd name="adj" fmla="val 17647"/>
            </a:avLst>
          </a:prstGeom>
          <a:solidFill xmlns:a="http://schemas.openxmlformats.org/drawingml/2006/main">
            <a:srgbClr val="D4F1EE"/>
          </a:solidFill>
        </p:spPr>
        <p:txBody>
          <a:bodyPr xmlns:a="http://schemas.openxmlformats.org/drawingml/2006/main" wrap="square" anchor="ctr"/>
          <a:lstStyle xmlns:a="http://schemas.openxmlformats.org/drawingml/2006/main"/>
          <a:p xmlns:a="http://schemas.openxmlformats.org/drawingml/2006/main">
            <a:pPr marL="0" indent="0" algn="ctr">
              <a:buNone/>
            </a:pPr>
            <a:r>
              <a:rPr sz="950" b="1">
                <a:solidFill>
                  <a:srgbClr val="056A63"/>
                </a:solidFill>
                <a:latin typeface="Calibri"/>
                <a:ea typeface="Calibri"/>
                <a:cs typeface="Calibri"/>
              </a:rPr>
              <a:t>Presentations</a:t>
            </a:r>
            <a:endParaRPr sz="950"/>
          </a:p>
        </p:txBody>
      </p:sp>
      <p:sp>
        <p:nvSpPr>
          <p:cNvPr id="45" name="Shape 42">
            <a:extLst xmlns:a="http://schemas.openxmlformats.org/drawingml/2006/main">
              <a:ext uri="{FF2B5EF4-FFF2-40B4-BE49-F238E27FC236}">
                <a16:creationId xmlns:a16="http://schemas.microsoft.com/office/drawing/2014/main" id="{FD437504-1EA0-43A9-87B8-B5F2845A0086}"/>
              </a:ext>
            </a:extLst>
          </p:cNvPr>
          <p:cNvSpPr>
            <a:spLocks xmlns:a="http://schemas.openxmlformats.org/drawingml/2006/main" noGrp="1"/>
          </p:cNvSpPr>
          <p:nvPr/>
        </p:nvSpPr>
        <p:spPr>
          <a:xfrm xmlns:a="http://schemas.openxmlformats.org/drawingml/2006/main">
            <a:off x="9555480" y="5541264"/>
            <a:ext cx="347472" cy="164592"/>
          </a:xfrm>
          <a:prstGeom xmlns:a="http://schemas.openxmlformats.org/drawingml/2006/main" prst="rect">
            <a:avLst/>
          </a:prstGeom>
          <a:solidFill xmlns:a="http://schemas.openxmlformats.org/drawingml/2006/main">
            <a:srgbClr val="1D2A5C"/>
          </a:solidFill>
        </p:spPr>
      </p:sp>
      <p:sp>
        <p:nvSpPr>
          <p:cNvPr id="46" name="Shape 43">
            <a:extLst xmlns:a="http://schemas.openxmlformats.org/drawingml/2006/main">
              <a:ext uri="{FF2B5EF4-FFF2-40B4-BE49-F238E27FC236}">
                <a16:creationId xmlns:a16="http://schemas.microsoft.com/office/drawing/2014/main" id="{4354628F-84E8-417E-8084-0FE4C267FD86}"/>
              </a:ext>
            </a:extLst>
          </p:cNvPr>
          <p:cNvSpPr>
            <a:spLocks xmlns:a="http://schemas.openxmlformats.org/drawingml/2006/main" noGrp="1"/>
          </p:cNvSpPr>
          <p:nvPr/>
        </p:nvSpPr>
        <p:spPr>
          <a:xfrm xmlns:a="http://schemas.openxmlformats.org/drawingml/2006/main">
            <a:off x="9902952" y="5541264"/>
            <a:ext cx="1389888" cy="164592"/>
          </a:xfrm>
          <a:prstGeom xmlns:a="http://schemas.openxmlformats.org/drawingml/2006/main" prst="rect">
            <a:avLst/>
          </a:prstGeom>
          <a:solidFill xmlns:a="http://schemas.openxmlformats.org/drawingml/2006/main">
            <a:srgbClr val="00A79D"/>
          </a:solidFill>
        </p:spPr>
      </p:sp>
      <p:sp>
        <p:nvSpPr>
          <p:cNvPr id="47" name="Text 44">
            <a:extLst xmlns:a="http://schemas.openxmlformats.org/drawingml/2006/main">
              <a:ext uri="{FF2B5EF4-FFF2-40B4-BE49-F238E27FC236}">
                <a16:creationId xmlns:a16="http://schemas.microsoft.com/office/drawing/2014/main" id="{494076B3-3ACD-480C-A72D-0343336C676E}"/>
              </a:ext>
            </a:extLst>
          </p:cNvPr>
          <p:cNvSpPr>
            <a:spLocks xmlns:a="http://schemas.openxmlformats.org/drawingml/2006/main" noGrp="1"/>
          </p:cNvSpPr>
          <p:nvPr/>
        </p:nvSpPr>
        <p:spPr>
          <a:xfrm xmlns:a="http://schemas.openxmlformats.org/drawingml/2006/main">
            <a:off x="9509760" y="5724144"/>
            <a:ext cx="182880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750">
                <a:solidFill>
                  <a:srgbClr val="8A96A6"/>
                </a:solidFill>
                <a:latin typeface="Calibri"/>
                <a:ea typeface="Calibri"/>
                <a:cs typeface="Calibri"/>
              </a:rPr>
              <a:t>20% theory · 80% lab</a:t>
            </a:r>
            <a:endParaRPr sz="750"/>
          </a:p>
        </p:txBody>
      </p:sp>
    </p:spTree>
    <p:extLst>
      <p:ext uri="{BB962C8B-B14F-4D97-AF65-F5344CB8AC3E}">
        <p14:creationId xmlns:p14="http://schemas.microsoft.com/office/powerpoint/2010/main" val="2025001251"/>
      </p:ext>
    </p:extLst>
  </p:cSld>
</p:sld>
</file>

<file path=ppt/slides/slide104.xml><?xml version="1.0" encoding="utf-8"?>
<p:sld xmlns:p="http://schemas.openxmlformats.org/presentationml/2006/main">
  <p:cSld>
    <p:bg>
      <p:bgPr>
        <a:solidFill xmlns:a="http://schemas.openxmlformats.org/drawingml/2006/main">
          <a:srgbClr val="1D2A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421E98C-8D3D-4234-9546-58ACE3723420}"/>
              </a:ext>
            </a:extLst>
          </p:cNvPr>
          <p:cNvSpPr>
            <a:spLocks xmlns:a="http://schemas.openxmlformats.org/drawingml/2006/main" noGrp="1"/>
          </p:cNvSpPr>
          <p:nvPr/>
        </p:nvSpPr>
        <p:spPr>
          <a:xfrm xmlns:a="http://schemas.openxmlformats.org/drawingml/2006/main" rot="5400000" flipH="1">
            <a:off x="9235440" y="1298448"/>
            <a:ext cx="402336" cy="352044"/>
          </a:xfrm>
          <a:prstGeom xmlns:a="http://schemas.openxmlformats.org/drawingml/2006/main" prst="triangle">
            <a:avLst/>
          </a:prstGeom>
          <a:solidFill xmlns:a="http://schemas.openxmlformats.org/drawingml/2006/main">
            <a:srgbClr val="00A79D"/>
          </a:solidFill>
        </p:spPr>
      </p:sp>
      <p:sp>
        <p:nvSpPr>
          <p:cNvPr id="3" name="Shape 1">
            <a:extLst xmlns:a="http://schemas.openxmlformats.org/drawingml/2006/main">
              <a:ext uri="{FF2B5EF4-FFF2-40B4-BE49-F238E27FC236}">
                <a16:creationId xmlns:a16="http://schemas.microsoft.com/office/drawing/2014/main" id="{1C625C43-195F-4BD1-AC11-532120E92950}"/>
              </a:ext>
            </a:extLst>
          </p:cNvPr>
          <p:cNvSpPr>
            <a:spLocks xmlns:a="http://schemas.openxmlformats.org/drawingml/2006/main" noGrp="1"/>
          </p:cNvSpPr>
          <p:nvPr/>
        </p:nvSpPr>
        <p:spPr>
          <a:xfrm xmlns:a="http://schemas.openxmlformats.org/drawingml/2006/main" rot="5400000">
            <a:off x="9661916" y="946404"/>
            <a:ext cx="402336" cy="352044"/>
          </a:xfrm>
          <a:prstGeom xmlns:a="http://schemas.openxmlformats.org/drawingml/2006/main" prst="triangle">
            <a:avLst/>
          </a:prstGeom>
          <a:solidFill xmlns:a="http://schemas.openxmlformats.org/drawingml/2006/main">
            <a:srgbClr val="29ABE2"/>
          </a:solidFill>
        </p:spPr>
      </p:sp>
      <p:sp>
        <p:nvSpPr>
          <p:cNvPr id="4" name="Shape 2">
            <a:extLst xmlns:a="http://schemas.openxmlformats.org/drawingml/2006/main">
              <a:ext uri="{FF2B5EF4-FFF2-40B4-BE49-F238E27FC236}">
                <a16:creationId xmlns:a16="http://schemas.microsoft.com/office/drawing/2014/main" id="{6AFA54CC-ADB0-4AA7-8FA1-D97BCF671411}"/>
              </a:ext>
            </a:extLst>
          </p:cNvPr>
          <p:cNvSpPr>
            <a:spLocks xmlns:a="http://schemas.openxmlformats.org/drawingml/2006/main" noGrp="1"/>
          </p:cNvSpPr>
          <p:nvPr/>
        </p:nvSpPr>
        <p:spPr>
          <a:xfrm xmlns:a="http://schemas.openxmlformats.org/drawingml/2006/main" rot="5400000">
            <a:off x="9661916" y="1650492"/>
            <a:ext cx="402336" cy="352044"/>
          </a:xfrm>
          <a:prstGeom xmlns:a="http://schemas.openxmlformats.org/drawingml/2006/main" prst="triangle">
            <a:avLst/>
          </a:prstGeom>
          <a:solidFill xmlns:a="http://schemas.openxmlformats.org/drawingml/2006/main">
            <a:srgbClr val="F58220"/>
          </a:solidFill>
        </p:spPr>
      </p:sp>
      <p:sp>
        <p:nvSpPr>
          <p:cNvPr id="5" name="Shape 3">
            <a:extLst xmlns:a="http://schemas.openxmlformats.org/drawingml/2006/main">
              <a:ext uri="{FF2B5EF4-FFF2-40B4-BE49-F238E27FC236}">
                <a16:creationId xmlns:a16="http://schemas.microsoft.com/office/drawing/2014/main" id="{0E49F951-CB4A-4C81-84F5-8CAE91586AB0}"/>
              </a:ext>
            </a:extLst>
          </p:cNvPr>
          <p:cNvSpPr>
            <a:spLocks xmlns:a="http://schemas.openxmlformats.org/drawingml/2006/main" noGrp="1"/>
          </p:cNvSpPr>
          <p:nvPr/>
        </p:nvSpPr>
        <p:spPr>
          <a:xfrm xmlns:a="http://schemas.openxmlformats.org/drawingml/2006/main" rot="5400000" flipH="1">
            <a:off x="10088392" y="594360"/>
            <a:ext cx="402336" cy="352044"/>
          </a:xfrm>
          <a:prstGeom xmlns:a="http://schemas.openxmlformats.org/drawingml/2006/main" prst="triangle">
            <a:avLst/>
          </a:prstGeom>
          <a:solidFill xmlns:a="http://schemas.openxmlformats.org/drawingml/2006/main">
            <a:srgbClr val="8DC63F"/>
          </a:solidFill>
        </p:spPr>
      </p:sp>
      <p:sp>
        <p:nvSpPr>
          <p:cNvPr id="6" name="Shape 4">
            <a:extLst xmlns:a="http://schemas.openxmlformats.org/drawingml/2006/main">
              <a:ext uri="{FF2B5EF4-FFF2-40B4-BE49-F238E27FC236}">
                <a16:creationId xmlns:a16="http://schemas.microsoft.com/office/drawing/2014/main" id="{E82BB638-3263-44B2-85DE-37C5E0F75152}"/>
              </a:ext>
            </a:extLst>
          </p:cNvPr>
          <p:cNvSpPr>
            <a:spLocks xmlns:a="http://schemas.openxmlformats.org/drawingml/2006/main" noGrp="1"/>
          </p:cNvSpPr>
          <p:nvPr/>
        </p:nvSpPr>
        <p:spPr>
          <a:xfrm xmlns:a="http://schemas.openxmlformats.org/drawingml/2006/main" rot="5400000">
            <a:off x="10088392" y="1298448"/>
            <a:ext cx="402336" cy="352044"/>
          </a:xfrm>
          <a:prstGeom xmlns:a="http://schemas.openxmlformats.org/drawingml/2006/main" prst="triangle">
            <a:avLst/>
          </a:prstGeom>
          <a:solidFill xmlns:a="http://schemas.openxmlformats.org/drawingml/2006/main">
            <a:srgbClr val="00A79D"/>
          </a:solidFill>
        </p:spPr>
      </p:sp>
      <p:sp>
        <p:nvSpPr>
          <p:cNvPr id="7" name="Shape 5">
            <a:extLst xmlns:a="http://schemas.openxmlformats.org/drawingml/2006/main">
              <a:ext uri="{FF2B5EF4-FFF2-40B4-BE49-F238E27FC236}">
                <a16:creationId xmlns:a16="http://schemas.microsoft.com/office/drawing/2014/main" id="{E0FE6378-EC5C-4E64-9D45-8BF45AC99112}"/>
              </a:ext>
            </a:extLst>
          </p:cNvPr>
          <p:cNvSpPr>
            <a:spLocks xmlns:a="http://schemas.openxmlformats.org/drawingml/2006/main" noGrp="1"/>
          </p:cNvSpPr>
          <p:nvPr/>
        </p:nvSpPr>
        <p:spPr>
          <a:xfrm xmlns:a="http://schemas.openxmlformats.org/drawingml/2006/main" rot="5400000">
            <a:off x="10514868" y="946404"/>
            <a:ext cx="402336" cy="352044"/>
          </a:xfrm>
          <a:prstGeom xmlns:a="http://schemas.openxmlformats.org/drawingml/2006/main" prst="triangle">
            <a:avLst/>
          </a:prstGeom>
          <a:solidFill xmlns:a="http://schemas.openxmlformats.org/drawingml/2006/main">
            <a:srgbClr val="29ABE2"/>
          </a:solidFill>
        </p:spPr>
      </p:sp>
      <p:sp>
        <p:nvSpPr>
          <p:cNvPr id="8" name="Shape 6">
            <a:extLst xmlns:a="http://schemas.openxmlformats.org/drawingml/2006/main">
              <a:ext uri="{FF2B5EF4-FFF2-40B4-BE49-F238E27FC236}">
                <a16:creationId xmlns:a16="http://schemas.microsoft.com/office/drawing/2014/main" id="{3D575DD7-B98A-450A-80D5-E904A7141966}"/>
              </a:ext>
            </a:extLst>
          </p:cNvPr>
          <p:cNvSpPr>
            <a:spLocks xmlns:a="http://schemas.openxmlformats.org/drawingml/2006/main" noGrp="1"/>
          </p:cNvSpPr>
          <p:nvPr/>
        </p:nvSpPr>
        <p:spPr>
          <a:xfrm xmlns:a="http://schemas.openxmlformats.org/drawingml/2006/main" rot="5400000" flipH="1">
            <a:off x="10514868" y="1650492"/>
            <a:ext cx="402336" cy="352044"/>
          </a:xfrm>
          <a:prstGeom xmlns:a="http://schemas.openxmlformats.org/drawingml/2006/main" prst="triangle">
            <a:avLst/>
          </a:prstGeom>
          <a:solidFill xmlns:a="http://schemas.openxmlformats.org/drawingml/2006/main">
            <a:srgbClr val="F58220"/>
          </a:solidFill>
        </p:spPr>
      </p:sp>
      <p:sp>
        <p:nvSpPr>
          <p:cNvPr id="9" name="Shape 7">
            <a:extLst xmlns:a="http://schemas.openxmlformats.org/drawingml/2006/main">
              <a:ext uri="{FF2B5EF4-FFF2-40B4-BE49-F238E27FC236}">
                <a16:creationId xmlns:a16="http://schemas.microsoft.com/office/drawing/2014/main" id="{97055F74-D667-4B98-B7B2-107B5A172578}"/>
              </a:ext>
            </a:extLst>
          </p:cNvPr>
          <p:cNvSpPr>
            <a:spLocks xmlns:a="http://schemas.openxmlformats.org/drawingml/2006/main" noGrp="1"/>
          </p:cNvSpPr>
          <p:nvPr/>
        </p:nvSpPr>
        <p:spPr>
          <a:xfrm xmlns:a="http://schemas.openxmlformats.org/drawingml/2006/main" rot="5400000">
            <a:off x="10941345" y="1298448"/>
            <a:ext cx="402336" cy="352044"/>
          </a:xfrm>
          <a:prstGeom xmlns:a="http://schemas.openxmlformats.org/drawingml/2006/main" prst="triangle">
            <a:avLst/>
          </a:prstGeom>
          <a:solidFill xmlns:a="http://schemas.openxmlformats.org/drawingml/2006/main">
            <a:srgbClr val="8DC63F"/>
          </a:solidFill>
        </p:spPr>
      </p:sp>
      <p:sp>
        <p:nvSpPr>
          <p:cNvPr id="10" name="Text 8">
            <a:extLst xmlns:a="http://schemas.openxmlformats.org/drawingml/2006/main">
              <a:ext uri="{FF2B5EF4-FFF2-40B4-BE49-F238E27FC236}">
                <a16:creationId xmlns:a16="http://schemas.microsoft.com/office/drawing/2014/main" id="{0E913057-16CA-4314-B87F-496D6254FCE5}"/>
              </a:ext>
            </a:extLst>
          </p:cNvPr>
          <p:cNvSpPr>
            <a:spLocks xmlns:a="http://schemas.openxmlformats.org/drawingml/2006/main" noGrp="1"/>
          </p:cNvSpPr>
          <p:nvPr/>
        </p:nvSpPr>
        <p:spPr>
          <a:xfrm xmlns:a="http://schemas.openxmlformats.org/drawingml/2006/main">
            <a:off x="777240" y="1417320"/>
            <a:ext cx="731520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spc="400">
                <a:solidFill>
                  <a:srgbClr val="00A79D"/>
                </a:solidFill>
                <a:latin typeface="Calibri"/>
                <a:ea typeface="Calibri"/>
                <a:cs typeface="Calibri"/>
              </a:rPr>
              <a:t>DAY 3 · MODULE 5</a:t>
            </a:r>
            <a:endParaRPr sz="1500"/>
          </a:p>
        </p:txBody>
      </p:sp>
      <p:sp>
        <p:nvSpPr>
          <p:cNvPr id="11" name="Text 9">
            <a:extLst xmlns:a="http://schemas.openxmlformats.org/drawingml/2006/main">
              <a:ext uri="{FF2B5EF4-FFF2-40B4-BE49-F238E27FC236}">
                <a16:creationId xmlns:a16="http://schemas.microsoft.com/office/drawing/2014/main" id="{F24CF5C6-CA7F-48EF-A056-384E6AFB8863}"/>
              </a:ext>
            </a:extLst>
          </p:cNvPr>
          <p:cNvSpPr>
            <a:spLocks xmlns:a="http://schemas.openxmlformats.org/drawingml/2006/main" noGrp="1"/>
          </p:cNvSpPr>
          <p:nvPr/>
        </p:nvSpPr>
        <p:spPr>
          <a:xfrm xmlns:a="http://schemas.openxmlformats.org/drawingml/2006/main">
            <a:off x="749808" y="1874520"/>
            <a:ext cx="106070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600" b="1">
                <a:solidFill>
                  <a:srgbClr val="FFFFFF"/>
                </a:solidFill>
                <a:latin typeface="Calibri"/>
                <a:ea typeface="Calibri"/>
                <a:cs typeface="Calibri"/>
              </a:rPr>
              <a:t>CI/CD Automation with GitHub Actions</a:t>
            </a:r>
            <a:endParaRPr sz="3600"/>
          </a:p>
        </p:txBody>
      </p:sp>
      <p:sp>
        <p:nvSpPr>
          <p:cNvPr id="12" name="Text 10">
            <a:extLst xmlns:a="http://schemas.openxmlformats.org/drawingml/2006/main">
              <a:ext uri="{FF2B5EF4-FFF2-40B4-BE49-F238E27FC236}">
                <a16:creationId xmlns:a16="http://schemas.microsoft.com/office/drawing/2014/main" id="{CA6C5820-C7D0-4C70-B852-9D6DC9561FC5}"/>
              </a:ext>
            </a:extLst>
          </p:cNvPr>
          <p:cNvSpPr>
            <a:spLocks xmlns:a="http://schemas.openxmlformats.org/drawingml/2006/main" noGrp="1"/>
          </p:cNvSpPr>
          <p:nvPr/>
        </p:nvSpPr>
        <p:spPr>
          <a:xfrm xmlns:a="http://schemas.openxmlformats.org/drawingml/2006/main">
            <a:off x="777240" y="2761488"/>
            <a:ext cx="100584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a:solidFill>
                  <a:srgbClr val="B9C8E8"/>
                </a:solidFill>
                <a:latin typeface="Calibri"/>
                <a:ea typeface="Calibri"/>
                <a:cs typeface="Calibri"/>
              </a:rPr>
              <a:t>أتمتة CI/CD باستخدام GitHub Actions</a:t>
            </a:r>
            <a:endParaRPr sz="1700"/>
          </a:p>
        </p:txBody>
      </p:sp>
      <p:sp>
        <p:nvSpPr>
          <p:cNvPr id="13" name="Shape 11">
            <a:extLst xmlns:a="http://schemas.openxmlformats.org/drawingml/2006/main">
              <a:ext uri="{FF2B5EF4-FFF2-40B4-BE49-F238E27FC236}">
                <a16:creationId xmlns:a16="http://schemas.microsoft.com/office/drawing/2014/main" id="{26FD5DDC-ACA1-4AAB-83DF-7789B608072C}"/>
              </a:ext>
            </a:extLst>
          </p:cNvPr>
          <p:cNvSpPr>
            <a:spLocks xmlns:a="http://schemas.openxmlformats.org/drawingml/2006/main" noGrp="1"/>
          </p:cNvSpPr>
          <p:nvPr/>
        </p:nvSpPr>
        <p:spPr>
          <a:xfrm xmlns:a="http://schemas.openxmlformats.org/drawingml/2006/main">
            <a:off x="777240"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14" name="Text 12">
            <a:extLst xmlns:a="http://schemas.openxmlformats.org/drawingml/2006/main">
              <a:ext uri="{FF2B5EF4-FFF2-40B4-BE49-F238E27FC236}">
                <a16:creationId xmlns:a16="http://schemas.microsoft.com/office/drawing/2014/main" id="{A91FC7DD-56C5-4A39-A5DA-1ABB8BCAB66E}"/>
              </a:ext>
            </a:extLst>
          </p:cNvPr>
          <p:cNvSpPr>
            <a:spLocks xmlns:a="http://schemas.openxmlformats.org/drawingml/2006/main" noGrp="1"/>
          </p:cNvSpPr>
          <p:nvPr/>
        </p:nvSpPr>
        <p:spPr>
          <a:xfrm xmlns:a="http://schemas.openxmlformats.org/drawingml/2006/main">
            <a:off x="923544"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A79D"/>
                </a:solidFill>
                <a:latin typeface="Calibri"/>
                <a:ea typeface="Calibri"/>
                <a:cs typeface="Calibri"/>
              </a:rPr>
              <a:t>01</a:t>
            </a:r>
            <a:endParaRPr sz="1400"/>
          </a:p>
        </p:txBody>
      </p:sp>
      <p:sp>
        <p:nvSpPr>
          <p:cNvPr id="15" name="Text 13">
            <a:extLst xmlns:a="http://schemas.openxmlformats.org/drawingml/2006/main">
              <a:ext uri="{FF2B5EF4-FFF2-40B4-BE49-F238E27FC236}">
                <a16:creationId xmlns:a16="http://schemas.microsoft.com/office/drawing/2014/main" id="{3372210D-452C-41A4-8284-4F0B352CC576}"/>
              </a:ext>
            </a:extLst>
          </p:cNvPr>
          <p:cNvSpPr>
            <a:spLocks xmlns:a="http://schemas.openxmlformats.org/drawingml/2006/main" noGrp="1"/>
          </p:cNvSpPr>
          <p:nvPr/>
        </p:nvSpPr>
        <p:spPr>
          <a:xfrm xmlns:a="http://schemas.openxmlformats.org/drawingml/2006/main">
            <a:off x="923544"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Pipeline anatomy</a:t>
            </a:r>
            <a:endParaRPr sz="1200"/>
          </a:p>
        </p:txBody>
      </p:sp>
      <p:sp>
        <p:nvSpPr>
          <p:cNvPr id="16" name="Text 14">
            <a:extLst xmlns:a="http://schemas.openxmlformats.org/drawingml/2006/main">
              <a:ext uri="{FF2B5EF4-FFF2-40B4-BE49-F238E27FC236}">
                <a16:creationId xmlns:a16="http://schemas.microsoft.com/office/drawing/2014/main" id="{5BC3D5AB-A218-4B28-B482-F3A162F766C7}"/>
              </a:ext>
            </a:extLst>
          </p:cNvPr>
          <p:cNvSpPr>
            <a:spLocks xmlns:a="http://schemas.openxmlformats.org/drawingml/2006/main" noGrp="1"/>
          </p:cNvSpPr>
          <p:nvPr/>
        </p:nvSpPr>
        <p:spPr>
          <a:xfrm xmlns:a="http://schemas.openxmlformats.org/drawingml/2006/main">
            <a:off x="923544"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CI vs CD; the immutable image digest as the unit of truth</a:t>
            </a:r>
            <a:endParaRPr sz="950"/>
          </a:p>
        </p:txBody>
      </p:sp>
      <p:sp>
        <p:nvSpPr>
          <p:cNvPr id="17" name="Shape 15">
            <a:extLst xmlns:a="http://schemas.openxmlformats.org/drawingml/2006/main">
              <a:ext uri="{FF2B5EF4-FFF2-40B4-BE49-F238E27FC236}">
                <a16:creationId xmlns:a16="http://schemas.microsoft.com/office/drawing/2014/main" id="{3D5BEF8F-28DB-4FFA-B3E4-8D2B62B4A693}"/>
              </a:ext>
            </a:extLst>
          </p:cNvPr>
          <p:cNvSpPr>
            <a:spLocks xmlns:a="http://schemas.openxmlformats.org/drawingml/2006/main" noGrp="1"/>
          </p:cNvSpPr>
          <p:nvPr/>
        </p:nvSpPr>
        <p:spPr>
          <a:xfrm xmlns:a="http://schemas.openxmlformats.org/drawingml/2006/main">
            <a:off x="3493008"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18" name="Text 16">
            <a:extLst xmlns:a="http://schemas.openxmlformats.org/drawingml/2006/main">
              <a:ext uri="{FF2B5EF4-FFF2-40B4-BE49-F238E27FC236}">
                <a16:creationId xmlns:a16="http://schemas.microsoft.com/office/drawing/2014/main" id="{6F54EC8A-E989-487B-A2AD-D252AFBD178C}"/>
              </a:ext>
            </a:extLst>
          </p:cNvPr>
          <p:cNvSpPr>
            <a:spLocks xmlns:a="http://schemas.openxmlformats.org/drawingml/2006/main" noGrp="1"/>
          </p:cNvSpPr>
          <p:nvPr/>
        </p:nvSpPr>
        <p:spPr>
          <a:xfrm xmlns:a="http://schemas.openxmlformats.org/drawingml/2006/main">
            <a:off x="3639312"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29ABE2"/>
                </a:solidFill>
                <a:latin typeface="Calibri"/>
                <a:ea typeface="Calibri"/>
                <a:cs typeface="Calibri"/>
              </a:rPr>
              <a:t>02</a:t>
            </a:r>
            <a:endParaRPr sz="1400"/>
          </a:p>
        </p:txBody>
      </p:sp>
      <p:sp>
        <p:nvSpPr>
          <p:cNvPr id="19" name="Text 17">
            <a:extLst xmlns:a="http://schemas.openxmlformats.org/drawingml/2006/main">
              <a:ext uri="{FF2B5EF4-FFF2-40B4-BE49-F238E27FC236}">
                <a16:creationId xmlns:a16="http://schemas.microsoft.com/office/drawing/2014/main" id="{A60D5726-EF38-4C71-963D-F1C0169E40F2}"/>
              </a:ext>
            </a:extLst>
          </p:cNvPr>
          <p:cNvSpPr>
            <a:spLocks xmlns:a="http://schemas.openxmlformats.org/drawingml/2006/main" noGrp="1"/>
          </p:cNvSpPr>
          <p:nvPr/>
        </p:nvSpPr>
        <p:spPr>
          <a:xfrm xmlns:a="http://schemas.openxmlformats.org/drawingml/2006/main">
            <a:off x="3639312"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Workflow syntax</a:t>
            </a:r>
            <a:endParaRPr sz="1200"/>
          </a:p>
        </p:txBody>
      </p:sp>
      <p:sp>
        <p:nvSpPr>
          <p:cNvPr id="20" name="Text 18">
            <a:extLst xmlns:a="http://schemas.openxmlformats.org/drawingml/2006/main">
              <a:ext uri="{FF2B5EF4-FFF2-40B4-BE49-F238E27FC236}">
                <a16:creationId xmlns:a16="http://schemas.microsoft.com/office/drawing/2014/main" id="{392969FA-30CA-48E6-A7C4-CE97A6106EEA}"/>
              </a:ext>
            </a:extLst>
          </p:cNvPr>
          <p:cNvSpPr>
            <a:spLocks xmlns:a="http://schemas.openxmlformats.org/drawingml/2006/main" noGrp="1"/>
          </p:cNvSpPr>
          <p:nvPr/>
        </p:nvSpPr>
        <p:spPr>
          <a:xfrm xmlns:a="http://schemas.openxmlformats.org/drawingml/2006/main">
            <a:off x="3639312"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Jobs, steps, triggers, contexts, and caching</a:t>
            </a:r>
            <a:endParaRPr sz="950"/>
          </a:p>
        </p:txBody>
      </p:sp>
      <p:sp>
        <p:nvSpPr>
          <p:cNvPr id="21" name="Shape 19">
            <a:extLst xmlns:a="http://schemas.openxmlformats.org/drawingml/2006/main">
              <a:ext uri="{FF2B5EF4-FFF2-40B4-BE49-F238E27FC236}">
                <a16:creationId xmlns:a16="http://schemas.microsoft.com/office/drawing/2014/main" id="{C304440B-31AC-45D7-8F9D-904E5F07AED7}"/>
              </a:ext>
            </a:extLst>
          </p:cNvPr>
          <p:cNvSpPr>
            <a:spLocks xmlns:a="http://schemas.openxmlformats.org/drawingml/2006/main" noGrp="1"/>
          </p:cNvSpPr>
          <p:nvPr/>
        </p:nvSpPr>
        <p:spPr>
          <a:xfrm xmlns:a="http://schemas.openxmlformats.org/drawingml/2006/main">
            <a:off x="6208776"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22" name="Text 20">
            <a:extLst xmlns:a="http://schemas.openxmlformats.org/drawingml/2006/main">
              <a:ext uri="{FF2B5EF4-FFF2-40B4-BE49-F238E27FC236}">
                <a16:creationId xmlns:a16="http://schemas.microsoft.com/office/drawing/2014/main" id="{C25BCDE1-ED38-4440-B9EE-4C4D2921C240}"/>
              </a:ext>
            </a:extLst>
          </p:cNvPr>
          <p:cNvSpPr>
            <a:spLocks xmlns:a="http://schemas.openxmlformats.org/drawingml/2006/main" noGrp="1"/>
          </p:cNvSpPr>
          <p:nvPr/>
        </p:nvSpPr>
        <p:spPr>
          <a:xfrm xmlns:a="http://schemas.openxmlformats.org/drawingml/2006/main">
            <a:off x="6355080"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F58220"/>
                </a:solidFill>
                <a:latin typeface="Calibri"/>
                <a:ea typeface="Calibri"/>
                <a:cs typeface="Calibri"/>
              </a:rPr>
              <a:t>03</a:t>
            </a:r>
            <a:endParaRPr sz="1400"/>
          </a:p>
        </p:txBody>
      </p:sp>
      <p:sp>
        <p:nvSpPr>
          <p:cNvPr id="23" name="Text 21">
            <a:extLst xmlns:a="http://schemas.openxmlformats.org/drawingml/2006/main">
              <a:ext uri="{FF2B5EF4-FFF2-40B4-BE49-F238E27FC236}">
                <a16:creationId xmlns:a16="http://schemas.microsoft.com/office/drawing/2014/main" id="{497F5015-3E94-4285-A8A6-1F34171D4864}"/>
              </a:ext>
            </a:extLst>
          </p:cNvPr>
          <p:cNvSpPr>
            <a:spLocks xmlns:a="http://schemas.openxmlformats.org/drawingml/2006/main" noGrp="1"/>
          </p:cNvSpPr>
          <p:nvPr/>
        </p:nvSpPr>
        <p:spPr>
          <a:xfrm xmlns:a="http://schemas.openxmlformats.org/drawingml/2006/main">
            <a:off x="6355080"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Quality gates</a:t>
            </a:r>
            <a:endParaRPr sz="1200"/>
          </a:p>
        </p:txBody>
      </p:sp>
      <p:sp>
        <p:nvSpPr>
          <p:cNvPr id="24" name="Text 22">
            <a:extLst xmlns:a="http://schemas.openxmlformats.org/drawingml/2006/main">
              <a:ext uri="{FF2B5EF4-FFF2-40B4-BE49-F238E27FC236}">
                <a16:creationId xmlns:a16="http://schemas.microsoft.com/office/drawing/2014/main" id="{D9E4622E-6CEE-422C-8EF3-4BBDBE70449D}"/>
              </a:ext>
            </a:extLst>
          </p:cNvPr>
          <p:cNvSpPr>
            <a:spLocks xmlns:a="http://schemas.openxmlformats.org/drawingml/2006/main" noGrp="1"/>
          </p:cNvSpPr>
          <p:nvPr/>
        </p:nvSpPr>
        <p:spPr>
          <a:xfrm xmlns:a="http://schemas.openxmlformats.org/drawingml/2006/main">
            <a:off x="6355080"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Branch protection + required checks enforce done</a:t>
            </a:r>
            <a:endParaRPr sz="950"/>
          </a:p>
        </p:txBody>
      </p:sp>
      <p:sp>
        <p:nvSpPr>
          <p:cNvPr id="25" name="Shape 23">
            <a:extLst xmlns:a="http://schemas.openxmlformats.org/drawingml/2006/main">
              <a:ext uri="{FF2B5EF4-FFF2-40B4-BE49-F238E27FC236}">
                <a16:creationId xmlns:a16="http://schemas.microsoft.com/office/drawing/2014/main" id="{9CD372AE-BC7A-4977-BB37-51439CD17966}"/>
              </a:ext>
            </a:extLst>
          </p:cNvPr>
          <p:cNvSpPr>
            <a:spLocks xmlns:a="http://schemas.openxmlformats.org/drawingml/2006/main" noGrp="1"/>
          </p:cNvSpPr>
          <p:nvPr/>
        </p:nvSpPr>
        <p:spPr>
          <a:xfrm xmlns:a="http://schemas.openxmlformats.org/drawingml/2006/main">
            <a:off x="8924544"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26" name="Text 24">
            <a:extLst xmlns:a="http://schemas.openxmlformats.org/drawingml/2006/main">
              <a:ext uri="{FF2B5EF4-FFF2-40B4-BE49-F238E27FC236}">
                <a16:creationId xmlns:a16="http://schemas.microsoft.com/office/drawing/2014/main" id="{B852B82E-CB09-45DE-A1FF-8347CB0F6DD8}"/>
              </a:ext>
            </a:extLst>
          </p:cNvPr>
          <p:cNvSpPr>
            <a:spLocks xmlns:a="http://schemas.openxmlformats.org/drawingml/2006/main" noGrp="1"/>
          </p:cNvSpPr>
          <p:nvPr/>
        </p:nvSpPr>
        <p:spPr>
          <a:xfrm xmlns:a="http://schemas.openxmlformats.org/drawingml/2006/main">
            <a:off x="9070848"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8DC63F"/>
                </a:solidFill>
                <a:latin typeface="Calibri"/>
                <a:ea typeface="Calibri"/>
                <a:cs typeface="Calibri"/>
              </a:rPr>
              <a:t>04</a:t>
            </a:r>
            <a:endParaRPr sz="1400"/>
          </a:p>
        </p:txBody>
      </p:sp>
      <p:sp>
        <p:nvSpPr>
          <p:cNvPr id="27" name="Text 25">
            <a:extLst xmlns:a="http://schemas.openxmlformats.org/drawingml/2006/main">
              <a:ext uri="{FF2B5EF4-FFF2-40B4-BE49-F238E27FC236}">
                <a16:creationId xmlns:a16="http://schemas.microsoft.com/office/drawing/2014/main" id="{CDFA08DE-5C11-45BB-8498-9BC68FDBA013}"/>
              </a:ext>
            </a:extLst>
          </p:cNvPr>
          <p:cNvSpPr>
            <a:spLocks xmlns:a="http://schemas.openxmlformats.org/drawingml/2006/main" noGrp="1"/>
          </p:cNvSpPr>
          <p:nvPr/>
        </p:nvSpPr>
        <p:spPr>
          <a:xfrm xmlns:a="http://schemas.openxmlformats.org/drawingml/2006/main">
            <a:off x="9070848"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Ship from CI</a:t>
            </a:r>
            <a:endParaRPr sz="1200"/>
          </a:p>
        </p:txBody>
      </p:sp>
      <p:sp>
        <p:nvSpPr>
          <p:cNvPr id="28" name="Text 26">
            <a:extLst xmlns:a="http://schemas.openxmlformats.org/drawingml/2006/main">
              <a:ext uri="{FF2B5EF4-FFF2-40B4-BE49-F238E27FC236}">
                <a16:creationId xmlns:a16="http://schemas.microsoft.com/office/drawing/2014/main" id="{A3B9C01E-EFB1-4DF1-856C-FD0D54A434A8}"/>
              </a:ext>
            </a:extLst>
          </p:cNvPr>
          <p:cNvSpPr>
            <a:spLocks xmlns:a="http://schemas.openxmlformats.org/drawingml/2006/main" noGrp="1"/>
          </p:cNvSpPr>
          <p:nvPr/>
        </p:nvSpPr>
        <p:spPr>
          <a:xfrm xmlns:a="http://schemas.openxmlformats.org/drawingml/2006/main">
            <a:off x="9070848"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Build, smoke-test, SHA-tag and push images to GHCR</a:t>
            </a:r>
            <a:endParaRPr sz="950"/>
          </a:p>
        </p:txBody>
      </p:sp>
      <p:sp>
        <p:nvSpPr>
          <p:cNvPr id="29" name="Text 27">
            <a:extLst xmlns:a="http://schemas.openxmlformats.org/drawingml/2006/main">
              <a:ext uri="{FF2B5EF4-FFF2-40B4-BE49-F238E27FC236}">
                <a16:creationId xmlns:a16="http://schemas.microsoft.com/office/drawing/2014/main" id="{06BDD0D3-DF64-4034-A96E-A4AEDBA5E953}"/>
              </a:ext>
            </a:extLst>
          </p:cNvPr>
          <p:cNvSpPr>
            <a:spLocks xmlns:a="http://schemas.openxmlformats.org/drawingml/2006/main" noGrp="1"/>
          </p:cNvSpPr>
          <p:nvPr/>
        </p:nvSpPr>
        <p:spPr>
          <a:xfrm xmlns:a="http://schemas.openxmlformats.org/drawingml/2006/main">
            <a:off x="777240" y="5806440"/>
            <a:ext cx="100584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8A96C8"/>
                </a:solidFill>
                <a:latin typeface="Calibri"/>
                <a:ea typeface="Calibri"/>
                <a:cs typeface="Calibri"/>
              </a:rPr>
              <a:t>~60 min lecture + Lab 5 · LO4 · LO2 · LO6</a:t>
            </a:r>
            <a:endParaRPr sz="1100"/>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671f10e4f38e44d3"/>
          <a:stretch xmlns:a="http://schemas.openxmlformats.org/drawingml/2006/main">
            <a:fillRect l="0" t="0" r="0" b="0"/>
          </a:stretch>
        </p:blipFill>
        <p:spPr>
          <a:xfrm xmlns:a="http://schemas.openxmlformats.org/drawingml/2006/main">
            <a:off x="777240" y="6309360"/>
            <a:ext cx="1078992" cy="265176"/>
          </a:xfrm>
          <a:prstGeom xmlns:a="http://schemas.openxmlformats.org/drawingml/2006/main" prst="rect">
            <a:avLst/>
          </a:prstGeom>
        </p:spPr>
      </p:pic>
    </p:spTree>
    <p:extLst>
      <p:ext uri="{BB962C8B-B14F-4D97-AF65-F5344CB8AC3E}">
        <p14:creationId xmlns:p14="http://schemas.microsoft.com/office/powerpoint/2010/main" val="1154332969"/>
      </p:ext>
    </p:extLst>
  </p:cSld>
</p:sld>
</file>

<file path=ppt/slides/slide10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C544349-C1C2-4F72-97EC-E1ADD5CD946E}"/>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Module 5 — learning objectives</a:t>
            </a:r>
            <a:endParaRPr sz="2600"/>
          </a:p>
        </p:txBody>
      </p:sp>
      <p:sp>
        <p:nvSpPr>
          <p:cNvPr id="3" name="Text 1">
            <a:extLst xmlns:a="http://schemas.openxmlformats.org/drawingml/2006/main">
              <a:ext uri="{FF2B5EF4-FFF2-40B4-BE49-F238E27FC236}">
                <a16:creationId xmlns:a16="http://schemas.microsoft.com/office/drawing/2014/main" id="{B84497D6-D3B4-4D0B-AA62-73795DCF6FC5}"/>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الوحدة 5 — أهداف التعلم</a:t>
            </a:r>
            <a:endParaRPr sz="1300"/>
          </a:p>
        </p:txBody>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6f09c13733074408"/>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C38F2B89-F4CD-42C4-80B1-C0CDF3192C6B}"/>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4AB306C0-3F24-49C6-8E44-CB3D7189F91E}"/>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5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83BD1F6E-35FC-4790-94FA-394B8DACC598}"/>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105</a:t>
            </a:r>
            <a:endParaRPr sz="850"/>
          </a:p>
        </p:txBody>
      </p:sp>
      <p:sp>
        <p:nvSpPr>
          <p:cNvPr id="8" name="Shape 5">
            <a:extLst xmlns:a="http://schemas.openxmlformats.org/drawingml/2006/main">
              <a:ext uri="{FF2B5EF4-FFF2-40B4-BE49-F238E27FC236}">
                <a16:creationId xmlns:a16="http://schemas.microsoft.com/office/drawing/2014/main" id="{E69FD4ED-FCB0-461B-BEBB-6A790D8251A6}"/>
              </a:ext>
            </a:extLst>
          </p:cNvPr>
          <p:cNvSpPr>
            <a:spLocks xmlns:a="http://schemas.openxmlformats.org/drawingml/2006/main" noGrp="1"/>
          </p:cNvSpPr>
          <p:nvPr/>
        </p:nvSpPr>
        <p:spPr>
          <a:xfrm xmlns:a="http://schemas.openxmlformats.org/drawingml/2006/main">
            <a:off x="502920" y="1481328"/>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E1687EE8-F2F5-4434-BD11-5C37EA4F09C8}"/>
              </a:ext>
            </a:extLst>
          </p:cNvPr>
          <p:cNvSpPr>
            <a:spLocks xmlns:a="http://schemas.openxmlformats.org/drawingml/2006/main" noGrp="1"/>
          </p:cNvSpPr>
          <p:nvPr/>
        </p:nvSpPr>
        <p:spPr>
          <a:xfrm xmlns:a="http://schemas.openxmlformats.org/drawingml/2006/main">
            <a:off x="502920" y="1481328"/>
            <a:ext cx="64008" cy="1417320"/>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6351F034-98CB-4A4F-B115-96887BB94135}"/>
              </a:ext>
            </a:extLst>
          </p:cNvPr>
          <p:cNvSpPr>
            <a:spLocks xmlns:a="http://schemas.openxmlformats.org/drawingml/2006/main" noGrp="1"/>
          </p:cNvSpPr>
          <p:nvPr/>
        </p:nvSpPr>
        <p:spPr>
          <a:xfrm xmlns:a="http://schemas.openxmlformats.org/drawingml/2006/main">
            <a:off x="685800" y="1609344"/>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5.1</a:t>
            </a:r>
            <a:endParaRPr sz="1200"/>
          </a:p>
        </p:txBody>
      </p:sp>
      <p:sp>
        <p:nvSpPr>
          <p:cNvPr id="11" name="Text 8">
            <a:extLst xmlns:a="http://schemas.openxmlformats.org/drawingml/2006/main">
              <a:ext uri="{FF2B5EF4-FFF2-40B4-BE49-F238E27FC236}">
                <a16:creationId xmlns:a16="http://schemas.microsoft.com/office/drawing/2014/main" id="{22AD908A-A941-4A91-A29C-64C793B8EE47}"/>
              </a:ext>
            </a:extLst>
          </p:cNvPr>
          <p:cNvSpPr>
            <a:spLocks xmlns:a="http://schemas.openxmlformats.org/drawingml/2006/main" noGrp="1"/>
          </p:cNvSpPr>
          <p:nvPr/>
        </p:nvSpPr>
        <p:spPr>
          <a:xfrm xmlns:a="http://schemas.openxmlformats.org/drawingml/2006/main">
            <a:off x="4997196" y="1609344"/>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LO4</a:t>
            </a:r>
            <a:endParaRPr sz="850"/>
          </a:p>
        </p:txBody>
      </p:sp>
      <p:sp>
        <p:nvSpPr>
          <p:cNvPr id="12" name="Text 9">
            <a:extLst xmlns:a="http://schemas.openxmlformats.org/drawingml/2006/main">
              <a:ext uri="{FF2B5EF4-FFF2-40B4-BE49-F238E27FC236}">
                <a16:creationId xmlns:a16="http://schemas.microsoft.com/office/drawing/2014/main" id="{FB59AFBC-FC5E-4C04-BDB8-DB946AD67A58}"/>
              </a:ext>
            </a:extLst>
          </p:cNvPr>
          <p:cNvSpPr>
            <a:spLocks xmlns:a="http://schemas.openxmlformats.org/drawingml/2006/main" noGrp="1"/>
          </p:cNvSpPr>
          <p:nvPr/>
        </p:nvSpPr>
        <p:spPr>
          <a:xfrm xmlns:a="http://schemas.openxmlformats.org/drawingml/2006/main">
            <a:off x="685800" y="1901952"/>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Explain CI vs CD and the anatomy of a GitHub Actions workflow</a:t>
            </a:r>
            <a:endParaRPr sz="1100"/>
          </a:p>
        </p:txBody>
      </p:sp>
      <p:sp>
        <p:nvSpPr>
          <p:cNvPr id="13" name="Shape 10">
            <a:extLst xmlns:a="http://schemas.openxmlformats.org/drawingml/2006/main">
              <a:ext uri="{FF2B5EF4-FFF2-40B4-BE49-F238E27FC236}">
                <a16:creationId xmlns:a16="http://schemas.microsoft.com/office/drawing/2014/main" id="{86E2CEB1-A29F-4AC5-8CC3-7C32C884E0FB}"/>
              </a:ext>
            </a:extLst>
          </p:cNvPr>
          <p:cNvSpPr>
            <a:spLocks xmlns:a="http://schemas.openxmlformats.org/drawingml/2006/main" noGrp="1"/>
          </p:cNvSpPr>
          <p:nvPr/>
        </p:nvSpPr>
        <p:spPr>
          <a:xfrm xmlns:a="http://schemas.openxmlformats.org/drawingml/2006/main">
            <a:off x="6231636" y="1481328"/>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14" name="Shape 11">
            <a:extLst xmlns:a="http://schemas.openxmlformats.org/drawingml/2006/main">
              <a:ext uri="{FF2B5EF4-FFF2-40B4-BE49-F238E27FC236}">
                <a16:creationId xmlns:a16="http://schemas.microsoft.com/office/drawing/2014/main" id="{6892214A-BB8E-4DFE-ADE1-EFBB4AF34E8A}"/>
              </a:ext>
            </a:extLst>
          </p:cNvPr>
          <p:cNvSpPr>
            <a:spLocks xmlns:a="http://schemas.openxmlformats.org/drawingml/2006/main" noGrp="1"/>
          </p:cNvSpPr>
          <p:nvPr/>
        </p:nvSpPr>
        <p:spPr>
          <a:xfrm xmlns:a="http://schemas.openxmlformats.org/drawingml/2006/main">
            <a:off x="6231636" y="1481328"/>
            <a:ext cx="64008" cy="1417320"/>
          </a:xfrm>
          <a:prstGeom xmlns:a="http://schemas.openxmlformats.org/drawingml/2006/main" prst="rect">
            <a:avLst/>
          </a:prstGeom>
          <a:solidFill xmlns:a="http://schemas.openxmlformats.org/drawingml/2006/main">
            <a:srgbClr val="29ABE2"/>
          </a:solidFill>
        </p:spPr>
      </p:sp>
      <p:sp>
        <p:nvSpPr>
          <p:cNvPr id="15" name="Text 12">
            <a:extLst xmlns:a="http://schemas.openxmlformats.org/drawingml/2006/main">
              <a:ext uri="{FF2B5EF4-FFF2-40B4-BE49-F238E27FC236}">
                <a16:creationId xmlns:a16="http://schemas.microsoft.com/office/drawing/2014/main" id="{D87B6AE1-A582-4826-A72A-82091CD2D43A}"/>
              </a:ext>
            </a:extLst>
          </p:cNvPr>
          <p:cNvSpPr>
            <a:spLocks xmlns:a="http://schemas.openxmlformats.org/drawingml/2006/main" noGrp="1"/>
          </p:cNvSpPr>
          <p:nvPr/>
        </p:nvSpPr>
        <p:spPr>
          <a:xfrm xmlns:a="http://schemas.openxmlformats.org/drawingml/2006/main">
            <a:off x="6414516" y="1609344"/>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5.2</a:t>
            </a:r>
            <a:endParaRPr sz="1200"/>
          </a:p>
        </p:txBody>
      </p:sp>
      <p:sp>
        <p:nvSpPr>
          <p:cNvPr id="16" name="Text 13">
            <a:extLst xmlns:a="http://schemas.openxmlformats.org/drawingml/2006/main">
              <a:ext uri="{FF2B5EF4-FFF2-40B4-BE49-F238E27FC236}">
                <a16:creationId xmlns:a16="http://schemas.microsoft.com/office/drawing/2014/main" id="{93C984BE-B672-4166-8D77-82B8C165D5D8}"/>
              </a:ext>
            </a:extLst>
          </p:cNvPr>
          <p:cNvSpPr>
            <a:spLocks xmlns:a="http://schemas.openxmlformats.org/drawingml/2006/main" noGrp="1"/>
          </p:cNvSpPr>
          <p:nvPr/>
        </p:nvSpPr>
        <p:spPr>
          <a:xfrm xmlns:a="http://schemas.openxmlformats.org/drawingml/2006/main">
            <a:off x="10725912" y="1609344"/>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LO4·6</a:t>
            </a:r>
            <a:endParaRPr sz="850"/>
          </a:p>
        </p:txBody>
      </p:sp>
      <p:sp>
        <p:nvSpPr>
          <p:cNvPr id="17" name="Text 14">
            <a:extLst xmlns:a="http://schemas.openxmlformats.org/drawingml/2006/main">
              <a:ext uri="{FF2B5EF4-FFF2-40B4-BE49-F238E27FC236}">
                <a16:creationId xmlns:a16="http://schemas.microsoft.com/office/drawing/2014/main" id="{199B3BB8-2FFD-48B7-8C3F-EF8AA096603A}"/>
              </a:ext>
            </a:extLst>
          </p:cNvPr>
          <p:cNvSpPr>
            <a:spLocks xmlns:a="http://schemas.openxmlformats.org/drawingml/2006/main" noGrp="1"/>
          </p:cNvSpPr>
          <p:nvPr/>
        </p:nvSpPr>
        <p:spPr>
          <a:xfrm xmlns:a="http://schemas.openxmlformats.org/drawingml/2006/main">
            <a:off x="6414516" y="1901952"/>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Implement a lint → type → test pipeline with dependency caching</a:t>
            </a:r>
            <a:endParaRPr sz="1100"/>
          </a:p>
        </p:txBody>
      </p:sp>
      <p:sp>
        <p:nvSpPr>
          <p:cNvPr id="18" name="Shape 15">
            <a:extLst xmlns:a="http://schemas.openxmlformats.org/drawingml/2006/main">
              <a:ext uri="{FF2B5EF4-FFF2-40B4-BE49-F238E27FC236}">
                <a16:creationId xmlns:a16="http://schemas.microsoft.com/office/drawing/2014/main" id="{A94E8985-A158-4EF9-A2D4-C5BC38FBAA98}"/>
              </a:ext>
            </a:extLst>
          </p:cNvPr>
          <p:cNvSpPr>
            <a:spLocks xmlns:a="http://schemas.openxmlformats.org/drawingml/2006/main" noGrp="1"/>
          </p:cNvSpPr>
          <p:nvPr/>
        </p:nvSpPr>
        <p:spPr>
          <a:xfrm xmlns:a="http://schemas.openxmlformats.org/drawingml/2006/main">
            <a:off x="502920" y="3099816"/>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19" name="Shape 16">
            <a:extLst xmlns:a="http://schemas.openxmlformats.org/drawingml/2006/main">
              <a:ext uri="{FF2B5EF4-FFF2-40B4-BE49-F238E27FC236}">
                <a16:creationId xmlns:a16="http://schemas.microsoft.com/office/drawing/2014/main" id="{30D13822-C283-4B3E-94AC-F023DAE298A4}"/>
              </a:ext>
            </a:extLst>
          </p:cNvPr>
          <p:cNvSpPr>
            <a:spLocks xmlns:a="http://schemas.openxmlformats.org/drawingml/2006/main" noGrp="1"/>
          </p:cNvSpPr>
          <p:nvPr/>
        </p:nvSpPr>
        <p:spPr>
          <a:xfrm xmlns:a="http://schemas.openxmlformats.org/drawingml/2006/main">
            <a:off x="502920" y="3099816"/>
            <a:ext cx="64008" cy="1417320"/>
          </a:xfrm>
          <a:prstGeom xmlns:a="http://schemas.openxmlformats.org/drawingml/2006/main" prst="rect">
            <a:avLst/>
          </a:prstGeom>
          <a:solidFill xmlns:a="http://schemas.openxmlformats.org/drawingml/2006/main">
            <a:srgbClr val="F58220"/>
          </a:solidFill>
        </p:spPr>
      </p:sp>
      <p:sp>
        <p:nvSpPr>
          <p:cNvPr id="20" name="Text 17">
            <a:extLst xmlns:a="http://schemas.openxmlformats.org/drawingml/2006/main">
              <a:ext uri="{FF2B5EF4-FFF2-40B4-BE49-F238E27FC236}">
                <a16:creationId xmlns:a16="http://schemas.microsoft.com/office/drawing/2014/main" id="{9C92434A-F4B0-42FE-B30C-303A1348B5D3}"/>
              </a:ext>
            </a:extLst>
          </p:cNvPr>
          <p:cNvSpPr>
            <a:spLocks xmlns:a="http://schemas.openxmlformats.org/drawingml/2006/main" noGrp="1"/>
          </p:cNvSpPr>
          <p:nvPr/>
        </p:nvSpPr>
        <p:spPr>
          <a:xfrm xmlns:a="http://schemas.openxmlformats.org/drawingml/2006/main">
            <a:off x="685800" y="3227832"/>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5.3</a:t>
            </a:r>
            <a:endParaRPr sz="1200"/>
          </a:p>
        </p:txBody>
      </p:sp>
      <p:sp>
        <p:nvSpPr>
          <p:cNvPr id="21" name="Text 18">
            <a:extLst xmlns:a="http://schemas.openxmlformats.org/drawingml/2006/main">
              <a:ext uri="{FF2B5EF4-FFF2-40B4-BE49-F238E27FC236}">
                <a16:creationId xmlns:a16="http://schemas.microsoft.com/office/drawing/2014/main" id="{4AF8B5C4-DBB2-41C9-B521-3E6123692254}"/>
              </a:ext>
            </a:extLst>
          </p:cNvPr>
          <p:cNvSpPr>
            <a:spLocks xmlns:a="http://schemas.openxmlformats.org/drawingml/2006/main" noGrp="1"/>
          </p:cNvSpPr>
          <p:nvPr/>
        </p:nvSpPr>
        <p:spPr>
          <a:xfrm xmlns:a="http://schemas.openxmlformats.org/drawingml/2006/main">
            <a:off x="4997196" y="3227832"/>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LO4·2</a:t>
            </a:r>
            <a:endParaRPr sz="850"/>
          </a:p>
        </p:txBody>
      </p:sp>
      <p:sp>
        <p:nvSpPr>
          <p:cNvPr id="22" name="Text 19">
            <a:extLst xmlns:a="http://schemas.openxmlformats.org/drawingml/2006/main">
              <a:ext uri="{FF2B5EF4-FFF2-40B4-BE49-F238E27FC236}">
                <a16:creationId xmlns:a16="http://schemas.microsoft.com/office/drawing/2014/main" id="{6C7DF6B2-D9C4-4163-9DB9-224CE2205EA4}"/>
              </a:ext>
            </a:extLst>
          </p:cNvPr>
          <p:cNvSpPr>
            <a:spLocks xmlns:a="http://schemas.openxmlformats.org/drawingml/2006/main" noGrp="1"/>
          </p:cNvSpPr>
          <p:nvPr/>
        </p:nvSpPr>
        <p:spPr>
          <a:xfrm xmlns:a="http://schemas.openxmlformats.org/drawingml/2006/main">
            <a:off x="685800" y="3520440"/>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Build, smoke-test, and push a Docker image from CI with SHA tagging</a:t>
            </a:r>
            <a:endParaRPr sz="1100"/>
          </a:p>
        </p:txBody>
      </p:sp>
      <p:sp>
        <p:nvSpPr>
          <p:cNvPr id="23" name="Shape 20">
            <a:extLst xmlns:a="http://schemas.openxmlformats.org/drawingml/2006/main">
              <a:ext uri="{FF2B5EF4-FFF2-40B4-BE49-F238E27FC236}">
                <a16:creationId xmlns:a16="http://schemas.microsoft.com/office/drawing/2014/main" id="{31D6D895-F13A-4F69-BAAC-59BF850DA92D}"/>
              </a:ext>
            </a:extLst>
          </p:cNvPr>
          <p:cNvSpPr>
            <a:spLocks xmlns:a="http://schemas.openxmlformats.org/drawingml/2006/main" noGrp="1"/>
          </p:cNvSpPr>
          <p:nvPr/>
        </p:nvSpPr>
        <p:spPr>
          <a:xfrm xmlns:a="http://schemas.openxmlformats.org/drawingml/2006/main">
            <a:off x="6231636" y="3099816"/>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24" name="Shape 21">
            <a:extLst xmlns:a="http://schemas.openxmlformats.org/drawingml/2006/main">
              <a:ext uri="{FF2B5EF4-FFF2-40B4-BE49-F238E27FC236}">
                <a16:creationId xmlns:a16="http://schemas.microsoft.com/office/drawing/2014/main" id="{2E0159F5-D5F4-4F57-BE35-5AEA8E2034D7}"/>
              </a:ext>
            </a:extLst>
          </p:cNvPr>
          <p:cNvSpPr>
            <a:spLocks xmlns:a="http://schemas.openxmlformats.org/drawingml/2006/main" noGrp="1"/>
          </p:cNvSpPr>
          <p:nvPr/>
        </p:nvSpPr>
        <p:spPr>
          <a:xfrm xmlns:a="http://schemas.openxmlformats.org/drawingml/2006/main">
            <a:off x="6231636" y="3099816"/>
            <a:ext cx="64008" cy="1417320"/>
          </a:xfrm>
          <a:prstGeom xmlns:a="http://schemas.openxmlformats.org/drawingml/2006/main" prst="rect">
            <a:avLst/>
          </a:prstGeom>
          <a:solidFill xmlns:a="http://schemas.openxmlformats.org/drawingml/2006/main">
            <a:srgbClr val="8DC63F"/>
          </a:solidFill>
        </p:spPr>
      </p:sp>
      <p:sp>
        <p:nvSpPr>
          <p:cNvPr id="25" name="Text 22">
            <a:extLst xmlns:a="http://schemas.openxmlformats.org/drawingml/2006/main">
              <a:ext uri="{FF2B5EF4-FFF2-40B4-BE49-F238E27FC236}">
                <a16:creationId xmlns:a16="http://schemas.microsoft.com/office/drawing/2014/main" id="{51283DD7-454B-4F75-9596-BF1885959267}"/>
              </a:ext>
            </a:extLst>
          </p:cNvPr>
          <p:cNvSpPr>
            <a:spLocks xmlns:a="http://schemas.openxmlformats.org/drawingml/2006/main" noGrp="1"/>
          </p:cNvSpPr>
          <p:nvPr/>
        </p:nvSpPr>
        <p:spPr>
          <a:xfrm xmlns:a="http://schemas.openxmlformats.org/drawingml/2006/main">
            <a:off x="6414516" y="3227832"/>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5.4</a:t>
            </a:r>
            <a:endParaRPr sz="1200"/>
          </a:p>
        </p:txBody>
      </p:sp>
      <p:sp>
        <p:nvSpPr>
          <p:cNvPr id="26" name="Text 23">
            <a:extLst xmlns:a="http://schemas.openxmlformats.org/drawingml/2006/main">
              <a:ext uri="{FF2B5EF4-FFF2-40B4-BE49-F238E27FC236}">
                <a16:creationId xmlns:a16="http://schemas.microsoft.com/office/drawing/2014/main" id="{AB0C80AF-7FCB-46A6-8779-0687B1E51C86}"/>
              </a:ext>
            </a:extLst>
          </p:cNvPr>
          <p:cNvSpPr>
            <a:spLocks xmlns:a="http://schemas.openxmlformats.org/drawingml/2006/main" noGrp="1"/>
          </p:cNvSpPr>
          <p:nvPr/>
        </p:nvSpPr>
        <p:spPr>
          <a:xfrm xmlns:a="http://schemas.openxmlformats.org/drawingml/2006/main">
            <a:off x="10725912" y="3227832"/>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LO4·6</a:t>
            </a:r>
            <a:endParaRPr sz="850"/>
          </a:p>
        </p:txBody>
      </p:sp>
      <p:sp>
        <p:nvSpPr>
          <p:cNvPr id="27" name="Text 24">
            <a:extLst xmlns:a="http://schemas.openxmlformats.org/drawingml/2006/main">
              <a:ext uri="{FF2B5EF4-FFF2-40B4-BE49-F238E27FC236}">
                <a16:creationId xmlns:a16="http://schemas.microsoft.com/office/drawing/2014/main" id="{015BC4B5-DABB-4AA3-B76A-7C298C8830B9}"/>
              </a:ext>
            </a:extLst>
          </p:cNvPr>
          <p:cNvSpPr>
            <a:spLocks xmlns:a="http://schemas.openxmlformats.org/drawingml/2006/main" noGrp="1"/>
          </p:cNvSpPr>
          <p:nvPr/>
        </p:nvSpPr>
        <p:spPr>
          <a:xfrm xmlns:a="http://schemas.openxmlformats.org/drawingml/2006/main">
            <a:off x="6414516" y="3520440"/>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Enforce gates with branch protection and required checks</a:t>
            </a:r>
            <a:endParaRPr sz="1100"/>
          </a:p>
        </p:txBody>
      </p:sp>
      <p:sp>
        <p:nvSpPr>
          <p:cNvPr id="28" name="Shape 25">
            <a:extLst xmlns:a="http://schemas.openxmlformats.org/drawingml/2006/main">
              <a:ext uri="{FF2B5EF4-FFF2-40B4-BE49-F238E27FC236}">
                <a16:creationId xmlns:a16="http://schemas.microsoft.com/office/drawing/2014/main" id="{651A79F0-8ECD-48F5-A79F-415200F73314}"/>
              </a:ext>
            </a:extLst>
          </p:cNvPr>
          <p:cNvSpPr>
            <a:spLocks xmlns:a="http://schemas.openxmlformats.org/drawingml/2006/main" noGrp="1"/>
          </p:cNvSpPr>
          <p:nvPr/>
        </p:nvSpPr>
        <p:spPr>
          <a:xfrm xmlns:a="http://schemas.openxmlformats.org/drawingml/2006/main">
            <a:off x="502920" y="4718304"/>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29" name="Shape 26">
            <a:extLst xmlns:a="http://schemas.openxmlformats.org/drawingml/2006/main">
              <a:ext uri="{FF2B5EF4-FFF2-40B4-BE49-F238E27FC236}">
                <a16:creationId xmlns:a16="http://schemas.microsoft.com/office/drawing/2014/main" id="{CB33A073-E397-4B6A-99A8-3093E1035906}"/>
              </a:ext>
            </a:extLst>
          </p:cNvPr>
          <p:cNvSpPr>
            <a:spLocks xmlns:a="http://schemas.openxmlformats.org/drawingml/2006/main" noGrp="1"/>
          </p:cNvSpPr>
          <p:nvPr/>
        </p:nvSpPr>
        <p:spPr>
          <a:xfrm xmlns:a="http://schemas.openxmlformats.org/drawingml/2006/main">
            <a:off x="502920" y="4718304"/>
            <a:ext cx="64008" cy="1417320"/>
          </a:xfrm>
          <a:prstGeom xmlns:a="http://schemas.openxmlformats.org/drawingml/2006/main" prst="rect">
            <a:avLst/>
          </a:prstGeom>
          <a:solidFill xmlns:a="http://schemas.openxmlformats.org/drawingml/2006/main">
            <a:srgbClr val="E8503A"/>
          </a:solidFill>
        </p:spPr>
      </p:sp>
      <p:sp>
        <p:nvSpPr>
          <p:cNvPr id="30" name="Text 27">
            <a:extLst xmlns:a="http://schemas.openxmlformats.org/drawingml/2006/main">
              <a:ext uri="{FF2B5EF4-FFF2-40B4-BE49-F238E27FC236}">
                <a16:creationId xmlns:a16="http://schemas.microsoft.com/office/drawing/2014/main" id="{FB5CC2CB-DF64-458F-B37C-D72ADBB948F7}"/>
              </a:ext>
            </a:extLst>
          </p:cNvPr>
          <p:cNvSpPr>
            <a:spLocks xmlns:a="http://schemas.openxmlformats.org/drawingml/2006/main" noGrp="1"/>
          </p:cNvSpPr>
          <p:nvPr/>
        </p:nvSpPr>
        <p:spPr>
          <a:xfrm xmlns:a="http://schemas.openxmlformats.org/drawingml/2006/main">
            <a:off x="685800" y="4846320"/>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5.5</a:t>
            </a:r>
            <a:endParaRPr sz="1200"/>
          </a:p>
        </p:txBody>
      </p:sp>
      <p:sp>
        <p:nvSpPr>
          <p:cNvPr id="31" name="Text 28">
            <a:extLst xmlns:a="http://schemas.openxmlformats.org/drawingml/2006/main">
              <a:ext uri="{FF2B5EF4-FFF2-40B4-BE49-F238E27FC236}">
                <a16:creationId xmlns:a16="http://schemas.microsoft.com/office/drawing/2014/main" id="{D35DA309-C28C-4E3C-8B87-AD401AC4EC34}"/>
              </a:ext>
            </a:extLst>
          </p:cNvPr>
          <p:cNvSpPr>
            <a:spLocks xmlns:a="http://schemas.openxmlformats.org/drawingml/2006/main" noGrp="1"/>
          </p:cNvSpPr>
          <p:nvPr/>
        </p:nvSpPr>
        <p:spPr>
          <a:xfrm xmlns:a="http://schemas.openxmlformats.org/drawingml/2006/main">
            <a:off x="4997196" y="4846320"/>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LO4</a:t>
            </a:r>
            <a:endParaRPr sz="850"/>
          </a:p>
        </p:txBody>
      </p:sp>
      <p:sp>
        <p:nvSpPr>
          <p:cNvPr id="32" name="Text 29">
            <a:extLst xmlns:a="http://schemas.openxmlformats.org/drawingml/2006/main">
              <a:ext uri="{FF2B5EF4-FFF2-40B4-BE49-F238E27FC236}">
                <a16:creationId xmlns:a16="http://schemas.microsoft.com/office/drawing/2014/main" id="{BC4C697C-7556-4D20-84DA-8A015528DB12}"/>
              </a:ext>
            </a:extLst>
          </p:cNvPr>
          <p:cNvSpPr>
            <a:spLocks xmlns:a="http://schemas.openxmlformats.org/drawingml/2006/main" noGrp="1"/>
          </p:cNvSpPr>
          <p:nvPr/>
        </p:nvSpPr>
        <p:spPr>
          <a:xfrm xmlns:a="http://schemas.openxmlformats.org/drawingml/2006/main">
            <a:off x="685800" y="5138928"/>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Diagnose failed pipeline runs from logs and artefacts</a:t>
            </a:r>
            <a:endParaRPr sz="1100"/>
          </a:p>
        </p:txBody>
      </p:sp>
      <p:sp>
        <p:nvSpPr>
          <p:cNvPr id="33" name="Text 30">
            <a:extLst xmlns:a="http://schemas.openxmlformats.org/drawingml/2006/main">
              <a:ext uri="{FF2B5EF4-FFF2-40B4-BE49-F238E27FC236}">
                <a16:creationId xmlns:a16="http://schemas.microsoft.com/office/drawing/2014/main" id="{62A1BE31-E64A-46AF-B59A-C04B8CC635FD}"/>
              </a:ext>
            </a:extLst>
          </p:cNvPr>
          <p:cNvSpPr>
            <a:spLocks xmlns:a="http://schemas.openxmlformats.org/drawingml/2006/main" noGrp="1"/>
          </p:cNvSpPr>
          <p:nvPr/>
        </p:nvSpPr>
        <p:spPr>
          <a:xfrm xmlns:a="http://schemas.openxmlformats.org/drawingml/2006/main">
            <a:off x="502920" y="6080760"/>
            <a:ext cx="11155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5F6B7A"/>
                </a:solidFill>
                <a:latin typeface="Calibri"/>
                <a:ea typeface="Calibri"/>
                <a:cs typeface="Calibri"/>
              </a:rPr>
              <a:t>Every merged PR carries its test log, image digest, and scan report — governance evidence, automatically.</a:t>
            </a:r>
            <a:endParaRPr sz="1000"/>
          </a:p>
        </p:txBody>
      </p:sp>
    </p:spTree>
    <p:extLst>
      <p:ext uri="{BB962C8B-B14F-4D97-AF65-F5344CB8AC3E}">
        <p14:creationId xmlns:p14="http://schemas.microsoft.com/office/powerpoint/2010/main" val="1127900670"/>
      </p:ext>
    </p:extLst>
  </p:cSld>
</p:sld>
</file>

<file path=ppt/slides/slide10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B9EFDCC-4B16-443A-BF2F-E5C0840FE8C4}"/>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Pipeline anatomy — the gate on every change</a:t>
            </a:r>
            <a:endParaRPr sz="2600"/>
          </a:p>
        </p:txBody>
      </p:sp>
      <p:sp>
        <p:nvSpPr>
          <p:cNvPr id="3" name="Text 1">
            <a:extLst xmlns:a="http://schemas.openxmlformats.org/drawingml/2006/main">
              <a:ext uri="{FF2B5EF4-FFF2-40B4-BE49-F238E27FC236}">
                <a16:creationId xmlns:a16="http://schemas.microsoft.com/office/drawing/2014/main" id="{3D6F5D79-C80C-4A3D-9030-40C8CD134F83}"/>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تشريح خط الأنابيب — البوابة على كل تغيير</a:t>
            </a:r>
            <a:endParaRPr sz="1300"/>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3c007a29c4594ffa"/>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148D2C36-1474-4B50-910D-FFD95D2E9BA7}"/>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6AC891AC-FAA2-4709-A1F6-E5AD0908B3DD}"/>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5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5E41F715-E36D-47DF-A054-2CB3F833992E}"/>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106</a:t>
            </a:r>
            <a:endParaRPr sz="850"/>
          </a:p>
        </p:txBody>
      </p:sp>
      <p:sp>
        <p:nvSpPr>
          <p:cNvPr id="8" name="Shape 5">
            <a:extLst xmlns:a="http://schemas.openxmlformats.org/drawingml/2006/main">
              <a:ext uri="{FF2B5EF4-FFF2-40B4-BE49-F238E27FC236}">
                <a16:creationId xmlns:a16="http://schemas.microsoft.com/office/drawing/2014/main" id="{65F25B3F-9C63-4EE5-9DE5-C41C9B4250ED}"/>
              </a:ext>
            </a:extLst>
          </p:cNvPr>
          <p:cNvSpPr>
            <a:spLocks xmlns:a="http://schemas.openxmlformats.org/drawingml/2006/main" noGrp="1"/>
          </p:cNvSpPr>
          <p:nvPr/>
        </p:nvSpPr>
        <p:spPr>
          <a:xfrm xmlns:a="http://schemas.openxmlformats.org/drawingml/2006/main">
            <a:off x="502920"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AA91AA0D-8758-4997-9AB6-4361B3A23521}"/>
              </a:ext>
            </a:extLst>
          </p:cNvPr>
          <p:cNvSpPr>
            <a:spLocks xmlns:a="http://schemas.openxmlformats.org/drawingml/2006/main" noGrp="1"/>
          </p:cNvSpPr>
          <p:nvPr/>
        </p:nvSpPr>
        <p:spPr>
          <a:xfrm xmlns:a="http://schemas.openxmlformats.org/drawingml/2006/main">
            <a:off x="502920" y="1965960"/>
            <a:ext cx="1929384" cy="82296"/>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213B9BF4-7675-44BA-9A00-C5B7B850FB7C}"/>
              </a:ext>
            </a:extLst>
          </p:cNvPr>
          <p:cNvSpPr>
            <a:spLocks xmlns:a="http://schemas.openxmlformats.org/drawingml/2006/main" noGrp="1"/>
          </p:cNvSpPr>
          <p:nvPr/>
        </p:nvSpPr>
        <p:spPr>
          <a:xfrm xmlns:a="http://schemas.openxmlformats.org/drawingml/2006/main">
            <a:off x="640080"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00A79D"/>
                </a:solidFill>
                <a:latin typeface="Calibri"/>
                <a:ea typeface="Calibri"/>
                <a:cs typeface="Calibri"/>
              </a:rPr>
              <a:t>STEP 1</a:t>
            </a:r>
            <a:endParaRPr sz="900"/>
          </a:p>
        </p:txBody>
      </p:sp>
      <p:sp>
        <p:nvSpPr>
          <p:cNvPr id="11" name="Text 8">
            <a:extLst xmlns:a="http://schemas.openxmlformats.org/drawingml/2006/main">
              <a:ext uri="{FF2B5EF4-FFF2-40B4-BE49-F238E27FC236}">
                <a16:creationId xmlns:a16="http://schemas.microsoft.com/office/drawing/2014/main" id="{B380CCB7-74B0-4AD2-A756-361E99822A06}"/>
              </a:ext>
            </a:extLst>
          </p:cNvPr>
          <p:cNvSpPr>
            <a:spLocks xmlns:a="http://schemas.openxmlformats.org/drawingml/2006/main" noGrp="1"/>
          </p:cNvSpPr>
          <p:nvPr/>
        </p:nvSpPr>
        <p:spPr>
          <a:xfrm xmlns:a="http://schemas.openxmlformats.org/drawingml/2006/main">
            <a:off x="640080"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PR event</a:t>
            </a:r>
            <a:endParaRPr sz="1250"/>
          </a:p>
        </p:txBody>
      </p:sp>
      <p:sp>
        <p:nvSpPr>
          <p:cNvPr id="12" name="Text 9">
            <a:extLst xmlns:a="http://schemas.openxmlformats.org/drawingml/2006/main">
              <a:ext uri="{FF2B5EF4-FFF2-40B4-BE49-F238E27FC236}">
                <a16:creationId xmlns:a16="http://schemas.microsoft.com/office/drawing/2014/main" id="{4D1CE92A-4E54-413F-8000-BFC2A8C0AF8F}"/>
              </a:ext>
            </a:extLst>
          </p:cNvPr>
          <p:cNvSpPr>
            <a:spLocks xmlns:a="http://schemas.openxmlformats.org/drawingml/2006/main" noGrp="1"/>
          </p:cNvSpPr>
          <p:nvPr/>
        </p:nvSpPr>
        <p:spPr>
          <a:xfrm xmlns:a="http://schemas.openxmlformats.org/drawingml/2006/main">
            <a:off x="640080"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Every push / pull_request triggers the workflow — the gate runs before merge</a:t>
            </a:r>
            <a:endParaRPr sz="950"/>
          </a:p>
        </p:txBody>
      </p:sp>
      <p:sp>
        <p:nvSpPr>
          <p:cNvPr id="13" name="Shape 10">
            <a:extLst xmlns:a="http://schemas.openxmlformats.org/drawingml/2006/main">
              <a:ext uri="{FF2B5EF4-FFF2-40B4-BE49-F238E27FC236}">
                <a16:creationId xmlns:a16="http://schemas.microsoft.com/office/drawing/2014/main" id="{31011190-8DB9-4B73-B1AF-7AA5750655D3}"/>
              </a:ext>
            </a:extLst>
          </p:cNvPr>
          <p:cNvSpPr>
            <a:spLocks xmlns:a="http://schemas.openxmlformats.org/drawingml/2006/main" noGrp="1"/>
          </p:cNvSpPr>
          <p:nvPr/>
        </p:nvSpPr>
        <p:spPr>
          <a:xfrm xmlns:a="http://schemas.openxmlformats.org/drawingml/2006/main">
            <a:off x="2487168" y="3026664"/>
            <a:ext cx="274320" cy="256032"/>
          </a:xfrm>
          <a:prstGeom xmlns:a="http://schemas.openxmlformats.org/drawingml/2006/main" prst="chevron">
            <a:avLst/>
          </a:prstGeom>
          <a:solidFill xmlns:a="http://schemas.openxmlformats.org/drawingml/2006/main">
            <a:srgbClr val="00A79D"/>
          </a:solidFill>
        </p:spPr>
      </p:sp>
      <p:sp>
        <p:nvSpPr>
          <p:cNvPr id="14" name="Shape 11">
            <a:extLst xmlns:a="http://schemas.openxmlformats.org/drawingml/2006/main">
              <a:ext uri="{FF2B5EF4-FFF2-40B4-BE49-F238E27FC236}">
                <a16:creationId xmlns:a16="http://schemas.microsoft.com/office/drawing/2014/main" id="{69B094D3-051E-480E-8F76-6E8AE8D85C11}"/>
              </a:ext>
            </a:extLst>
          </p:cNvPr>
          <p:cNvSpPr>
            <a:spLocks xmlns:a="http://schemas.openxmlformats.org/drawingml/2006/main" noGrp="1"/>
          </p:cNvSpPr>
          <p:nvPr/>
        </p:nvSpPr>
        <p:spPr>
          <a:xfrm xmlns:a="http://schemas.openxmlformats.org/drawingml/2006/main">
            <a:off x="2816352"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15" name="Shape 12">
            <a:extLst xmlns:a="http://schemas.openxmlformats.org/drawingml/2006/main">
              <a:ext uri="{FF2B5EF4-FFF2-40B4-BE49-F238E27FC236}">
                <a16:creationId xmlns:a16="http://schemas.microsoft.com/office/drawing/2014/main" id="{12339226-672C-4A47-80D5-B8E642420F21}"/>
              </a:ext>
            </a:extLst>
          </p:cNvPr>
          <p:cNvSpPr>
            <a:spLocks xmlns:a="http://schemas.openxmlformats.org/drawingml/2006/main" noGrp="1"/>
          </p:cNvSpPr>
          <p:nvPr/>
        </p:nvSpPr>
        <p:spPr>
          <a:xfrm xmlns:a="http://schemas.openxmlformats.org/drawingml/2006/main">
            <a:off x="2816352" y="1965960"/>
            <a:ext cx="1929384" cy="82296"/>
          </a:xfrm>
          <a:prstGeom xmlns:a="http://schemas.openxmlformats.org/drawingml/2006/main" prst="rect">
            <a:avLst/>
          </a:prstGeom>
          <a:solidFill xmlns:a="http://schemas.openxmlformats.org/drawingml/2006/main">
            <a:srgbClr val="29ABE2"/>
          </a:solidFill>
        </p:spPr>
      </p:sp>
      <p:sp>
        <p:nvSpPr>
          <p:cNvPr id="16" name="Text 13">
            <a:extLst xmlns:a="http://schemas.openxmlformats.org/drawingml/2006/main">
              <a:ext uri="{FF2B5EF4-FFF2-40B4-BE49-F238E27FC236}">
                <a16:creationId xmlns:a16="http://schemas.microsoft.com/office/drawing/2014/main" id="{E4A02C0D-D86A-4591-8C3D-8BBCCE7044C5}"/>
              </a:ext>
            </a:extLst>
          </p:cNvPr>
          <p:cNvSpPr>
            <a:spLocks xmlns:a="http://schemas.openxmlformats.org/drawingml/2006/main" noGrp="1"/>
          </p:cNvSpPr>
          <p:nvPr/>
        </p:nvSpPr>
        <p:spPr>
          <a:xfrm xmlns:a="http://schemas.openxmlformats.org/drawingml/2006/main">
            <a:off x="2953512"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29ABE2"/>
                </a:solidFill>
                <a:latin typeface="Calibri"/>
                <a:ea typeface="Calibri"/>
                <a:cs typeface="Calibri"/>
              </a:rPr>
              <a:t>STEP 2</a:t>
            </a:r>
            <a:endParaRPr sz="900"/>
          </a:p>
        </p:txBody>
      </p:sp>
      <p:sp>
        <p:nvSpPr>
          <p:cNvPr id="17" name="Text 14">
            <a:extLst xmlns:a="http://schemas.openxmlformats.org/drawingml/2006/main">
              <a:ext uri="{FF2B5EF4-FFF2-40B4-BE49-F238E27FC236}">
                <a16:creationId xmlns:a16="http://schemas.microsoft.com/office/drawing/2014/main" id="{E8910AA8-F49A-4EC5-B1CE-AFAF8F77D88A}"/>
              </a:ext>
            </a:extLst>
          </p:cNvPr>
          <p:cNvSpPr>
            <a:spLocks xmlns:a="http://schemas.openxmlformats.org/drawingml/2006/main" noGrp="1"/>
          </p:cNvSpPr>
          <p:nvPr/>
        </p:nvSpPr>
        <p:spPr>
          <a:xfrm xmlns:a="http://schemas.openxmlformats.org/drawingml/2006/main">
            <a:off x="2953512"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Parallel lint + test</a:t>
            </a:r>
            <a:endParaRPr sz="1250"/>
          </a:p>
        </p:txBody>
      </p:sp>
      <p:sp>
        <p:nvSpPr>
          <p:cNvPr id="18" name="Text 15">
            <a:extLst xmlns:a="http://schemas.openxmlformats.org/drawingml/2006/main">
              <a:ext uri="{FF2B5EF4-FFF2-40B4-BE49-F238E27FC236}">
                <a16:creationId xmlns:a16="http://schemas.microsoft.com/office/drawing/2014/main" id="{F3F5FDDF-FC5E-451D-90A6-6CA2B02BF227}"/>
              </a:ext>
            </a:extLst>
          </p:cNvPr>
          <p:cNvSpPr>
            <a:spLocks xmlns:a="http://schemas.openxmlformats.org/drawingml/2006/main" noGrp="1"/>
          </p:cNvSpPr>
          <p:nvPr/>
        </p:nvSpPr>
        <p:spPr>
          <a:xfrm xmlns:a="http://schemas.openxmlformats.org/drawingml/2006/main">
            <a:off x="2953512"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Cheap gates first: ruff + mypy alongside pytest with a coverage floor</a:t>
            </a:r>
            <a:endParaRPr sz="950"/>
          </a:p>
        </p:txBody>
      </p:sp>
      <p:sp>
        <p:nvSpPr>
          <p:cNvPr id="19" name="Shape 16">
            <a:extLst xmlns:a="http://schemas.openxmlformats.org/drawingml/2006/main">
              <a:ext uri="{FF2B5EF4-FFF2-40B4-BE49-F238E27FC236}">
                <a16:creationId xmlns:a16="http://schemas.microsoft.com/office/drawing/2014/main" id="{AA9FFFFC-523E-425D-80AF-0A651B2415CE}"/>
              </a:ext>
            </a:extLst>
          </p:cNvPr>
          <p:cNvSpPr>
            <a:spLocks xmlns:a="http://schemas.openxmlformats.org/drawingml/2006/main" noGrp="1"/>
          </p:cNvSpPr>
          <p:nvPr/>
        </p:nvSpPr>
        <p:spPr>
          <a:xfrm xmlns:a="http://schemas.openxmlformats.org/drawingml/2006/main">
            <a:off x="4800600" y="3026664"/>
            <a:ext cx="274320" cy="256032"/>
          </a:xfrm>
          <a:prstGeom xmlns:a="http://schemas.openxmlformats.org/drawingml/2006/main" prst="chevron">
            <a:avLst/>
          </a:prstGeom>
          <a:solidFill xmlns:a="http://schemas.openxmlformats.org/drawingml/2006/main">
            <a:srgbClr val="00A79D"/>
          </a:solidFill>
        </p:spPr>
      </p:sp>
      <p:sp>
        <p:nvSpPr>
          <p:cNvPr id="20" name="Shape 17">
            <a:extLst xmlns:a="http://schemas.openxmlformats.org/drawingml/2006/main">
              <a:ext uri="{FF2B5EF4-FFF2-40B4-BE49-F238E27FC236}">
                <a16:creationId xmlns:a16="http://schemas.microsoft.com/office/drawing/2014/main" id="{A576C0B7-53DB-45BF-9F8C-449FE2F3A4CC}"/>
              </a:ext>
            </a:extLst>
          </p:cNvPr>
          <p:cNvSpPr>
            <a:spLocks xmlns:a="http://schemas.openxmlformats.org/drawingml/2006/main" noGrp="1"/>
          </p:cNvSpPr>
          <p:nvPr/>
        </p:nvSpPr>
        <p:spPr>
          <a:xfrm xmlns:a="http://schemas.openxmlformats.org/drawingml/2006/main">
            <a:off x="5129784"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21" name="Shape 18">
            <a:extLst xmlns:a="http://schemas.openxmlformats.org/drawingml/2006/main">
              <a:ext uri="{FF2B5EF4-FFF2-40B4-BE49-F238E27FC236}">
                <a16:creationId xmlns:a16="http://schemas.microsoft.com/office/drawing/2014/main" id="{E0178069-5FE3-41B1-B274-024D1CA9F3CB}"/>
              </a:ext>
            </a:extLst>
          </p:cNvPr>
          <p:cNvSpPr>
            <a:spLocks xmlns:a="http://schemas.openxmlformats.org/drawingml/2006/main" noGrp="1"/>
          </p:cNvSpPr>
          <p:nvPr/>
        </p:nvSpPr>
        <p:spPr>
          <a:xfrm xmlns:a="http://schemas.openxmlformats.org/drawingml/2006/main">
            <a:off x="5129784" y="1965960"/>
            <a:ext cx="1929384" cy="82296"/>
          </a:xfrm>
          <a:prstGeom xmlns:a="http://schemas.openxmlformats.org/drawingml/2006/main" prst="rect">
            <a:avLst/>
          </a:prstGeom>
          <a:solidFill xmlns:a="http://schemas.openxmlformats.org/drawingml/2006/main">
            <a:srgbClr val="F58220"/>
          </a:solidFill>
        </p:spPr>
      </p:sp>
      <p:sp>
        <p:nvSpPr>
          <p:cNvPr id="22" name="Text 19">
            <a:extLst xmlns:a="http://schemas.openxmlformats.org/drawingml/2006/main">
              <a:ext uri="{FF2B5EF4-FFF2-40B4-BE49-F238E27FC236}">
                <a16:creationId xmlns:a16="http://schemas.microsoft.com/office/drawing/2014/main" id="{6032098D-EA4D-4E2E-AB6E-9BEE6A72CE61}"/>
              </a:ext>
            </a:extLst>
          </p:cNvPr>
          <p:cNvSpPr>
            <a:spLocks xmlns:a="http://schemas.openxmlformats.org/drawingml/2006/main" noGrp="1"/>
          </p:cNvSpPr>
          <p:nvPr/>
        </p:nvSpPr>
        <p:spPr>
          <a:xfrm xmlns:a="http://schemas.openxmlformats.org/drawingml/2006/main">
            <a:off x="5266944"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F58220"/>
                </a:solidFill>
                <a:latin typeface="Calibri"/>
                <a:ea typeface="Calibri"/>
                <a:cs typeface="Calibri"/>
              </a:rPr>
              <a:t>STEP 3</a:t>
            </a:r>
            <a:endParaRPr sz="900"/>
          </a:p>
        </p:txBody>
      </p:sp>
      <p:sp>
        <p:nvSpPr>
          <p:cNvPr id="23" name="Text 20">
            <a:extLst xmlns:a="http://schemas.openxmlformats.org/drawingml/2006/main">
              <a:ext uri="{FF2B5EF4-FFF2-40B4-BE49-F238E27FC236}">
                <a16:creationId xmlns:a16="http://schemas.microsoft.com/office/drawing/2014/main" id="{ECAC9B2A-3623-4CAC-BA63-32BED63C5B65}"/>
              </a:ext>
            </a:extLst>
          </p:cNvPr>
          <p:cNvSpPr>
            <a:spLocks xmlns:a="http://schemas.openxmlformats.org/drawingml/2006/main" noGrp="1"/>
          </p:cNvSpPr>
          <p:nvPr/>
        </p:nvSpPr>
        <p:spPr>
          <a:xfrm xmlns:a="http://schemas.openxmlformats.org/drawingml/2006/main">
            <a:off x="5266944"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Image smoke</a:t>
            </a:r>
            <a:endParaRPr sz="1250"/>
          </a:p>
        </p:txBody>
      </p:sp>
      <p:sp>
        <p:nvSpPr>
          <p:cNvPr id="24" name="Text 21">
            <a:extLst xmlns:a="http://schemas.openxmlformats.org/drawingml/2006/main">
              <a:ext uri="{FF2B5EF4-FFF2-40B4-BE49-F238E27FC236}">
                <a16:creationId xmlns:a16="http://schemas.microsoft.com/office/drawing/2014/main" id="{DC74A02D-4545-44F2-B544-7AD5C9590A78}"/>
              </a:ext>
            </a:extLst>
          </p:cNvPr>
          <p:cNvSpPr>
            <a:spLocks xmlns:a="http://schemas.openxmlformats.org/drawingml/2006/main" noGrp="1"/>
          </p:cNvSpPr>
          <p:nvPr/>
        </p:nvSpPr>
        <p:spPr>
          <a:xfrm xmlns:a="http://schemas.openxmlformats.org/drawingml/2006/main">
            <a:off x="5266944"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Build once, run the container, hit /ready, POST one predict, assert contract</a:t>
            </a:r>
            <a:endParaRPr sz="950"/>
          </a:p>
        </p:txBody>
      </p:sp>
      <p:sp>
        <p:nvSpPr>
          <p:cNvPr id="25" name="Shape 22">
            <a:extLst xmlns:a="http://schemas.openxmlformats.org/drawingml/2006/main">
              <a:ext uri="{FF2B5EF4-FFF2-40B4-BE49-F238E27FC236}">
                <a16:creationId xmlns:a16="http://schemas.microsoft.com/office/drawing/2014/main" id="{3589E959-56B9-4B2F-B673-BDE6DEB27BB8}"/>
              </a:ext>
            </a:extLst>
          </p:cNvPr>
          <p:cNvSpPr>
            <a:spLocks xmlns:a="http://schemas.openxmlformats.org/drawingml/2006/main" noGrp="1"/>
          </p:cNvSpPr>
          <p:nvPr/>
        </p:nvSpPr>
        <p:spPr>
          <a:xfrm xmlns:a="http://schemas.openxmlformats.org/drawingml/2006/main">
            <a:off x="7114032" y="3026664"/>
            <a:ext cx="274320" cy="256032"/>
          </a:xfrm>
          <a:prstGeom xmlns:a="http://schemas.openxmlformats.org/drawingml/2006/main" prst="chevron">
            <a:avLst/>
          </a:prstGeom>
          <a:solidFill xmlns:a="http://schemas.openxmlformats.org/drawingml/2006/main">
            <a:srgbClr val="00A79D"/>
          </a:solidFill>
        </p:spPr>
      </p:sp>
      <p:sp>
        <p:nvSpPr>
          <p:cNvPr id="26" name="Shape 23">
            <a:extLst xmlns:a="http://schemas.openxmlformats.org/drawingml/2006/main">
              <a:ext uri="{FF2B5EF4-FFF2-40B4-BE49-F238E27FC236}">
                <a16:creationId xmlns:a16="http://schemas.microsoft.com/office/drawing/2014/main" id="{B4196306-F042-4FA9-9E6F-6A6B39BCA115}"/>
              </a:ext>
            </a:extLst>
          </p:cNvPr>
          <p:cNvSpPr>
            <a:spLocks xmlns:a="http://schemas.openxmlformats.org/drawingml/2006/main" noGrp="1"/>
          </p:cNvSpPr>
          <p:nvPr/>
        </p:nvSpPr>
        <p:spPr>
          <a:xfrm xmlns:a="http://schemas.openxmlformats.org/drawingml/2006/main">
            <a:off x="7443216"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27" name="Shape 24">
            <a:extLst xmlns:a="http://schemas.openxmlformats.org/drawingml/2006/main">
              <a:ext uri="{FF2B5EF4-FFF2-40B4-BE49-F238E27FC236}">
                <a16:creationId xmlns:a16="http://schemas.microsoft.com/office/drawing/2014/main" id="{9A3208D1-9689-47B7-8CF6-D3339D4C95AE}"/>
              </a:ext>
            </a:extLst>
          </p:cNvPr>
          <p:cNvSpPr>
            <a:spLocks xmlns:a="http://schemas.openxmlformats.org/drawingml/2006/main" noGrp="1"/>
          </p:cNvSpPr>
          <p:nvPr/>
        </p:nvSpPr>
        <p:spPr>
          <a:xfrm xmlns:a="http://schemas.openxmlformats.org/drawingml/2006/main">
            <a:off x="7443216" y="1965960"/>
            <a:ext cx="1929384" cy="82296"/>
          </a:xfrm>
          <a:prstGeom xmlns:a="http://schemas.openxmlformats.org/drawingml/2006/main" prst="rect">
            <a:avLst/>
          </a:prstGeom>
          <a:solidFill xmlns:a="http://schemas.openxmlformats.org/drawingml/2006/main">
            <a:srgbClr val="8DC63F"/>
          </a:solidFill>
        </p:spPr>
      </p:sp>
      <p:sp>
        <p:nvSpPr>
          <p:cNvPr id="28" name="Text 25">
            <a:extLst xmlns:a="http://schemas.openxmlformats.org/drawingml/2006/main">
              <a:ext uri="{FF2B5EF4-FFF2-40B4-BE49-F238E27FC236}">
                <a16:creationId xmlns:a16="http://schemas.microsoft.com/office/drawing/2014/main" id="{6FE607B0-E022-44C8-ADBB-09351E3BC04F}"/>
              </a:ext>
            </a:extLst>
          </p:cNvPr>
          <p:cNvSpPr>
            <a:spLocks xmlns:a="http://schemas.openxmlformats.org/drawingml/2006/main" noGrp="1"/>
          </p:cNvSpPr>
          <p:nvPr/>
        </p:nvSpPr>
        <p:spPr>
          <a:xfrm xmlns:a="http://schemas.openxmlformats.org/drawingml/2006/main">
            <a:off x="7580376"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8DC63F"/>
                </a:solidFill>
                <a:latin typeface="Calibri"/>
                <a:ea typeface="Calibri"/>
                <a:cs typeface="Calibri"/>
              </a:rPr>
              <a:t>STEP 4</a:t>
            </a:r>
            <a:endParaRPr sz="900"/>
          </a:p>
        </p:txBody>
      </p:sp>
      <p:sp>
        <p:nvSpPr>
          <p:cNvPr id="29" name="Text 26">
            <a:extLst xmlns:a="http://schemas.openxmlformats.org/drawingml/2006/main">
              <a:ext uri="{FF2B5EF4-FFF2-40B4-BE49-F238E27FC236}">
                <a16:creationId xmlns:a16="http://schemas.microsoft.com/office/drawing/2014/main" id="{05E3D13E-6C5A-45F3-B7CB-08E00FF56B73}"/>
              </a:ext>
            </a:extLst>
          </p:cNvPr>
          <p:cNvSpPr>
            <a:spLocks xmlns:a="http://schemas.openxmlformats.org/drawingml/2006/main" noGrp="1"/>
          </p:cNvSpPr>
          <p:nvPr/>
        </p:nvSpPr>
        <p:spPr>
          <a:xfrm xmlns:a="http://schemas.openxmlformats.org/drawingml/2006/main">
            <a:off x="7580376"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Publish (main only)</a:t>
            </a:r>
            <a:endParaRPr sz="1250"/>
          </a:p>
        </p:txBody>
      </p:sp>
      <p:sp>
        <p:nvSpPr>
          <p:cNvPr id="30" name="Text 27">
            <a:extLst xmlns:a="http://schemas.openxmlformats.org/drawingml/2006/main">
              <a:ext uri="{FF2B5EF4-FFF2-40B4-BE49-F238E27FC236}">
                <a16:creationId xmlns:a16="http://schemas.microsoft.com/office/drawing/2014/main" id="{93E8B190-EB01-44BE-908D-452E57C08484}"/>
              </a:ext>
            </a:extLst>
          </p:cNvPr>
          <p:cNvSpPr>
            <a:spLocks xmlns:a="http://schemas.openxmlformats.org/drawingml/2006/main" noGrp="1"/>
          </p:cNvSpPr>
          <p:nvPr/>
        </p:nvSpPr>
        <p:spPr>
          <a:xfrm xmlns:a="http://schemas.openxmlformats.org/drawingml/2006/main">
            <a:off x="7580376"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SHA-tag and push the validated image to GHCR — never from a PR</a:t>
            </a:r>
            <a:endParaRPr sz="950"/>
          </a:p>
        </p:txBody>
      </p:sp>
      <p:sp>
        <p:nvSpPr>
          <p:cNvPr id="31" name="Shape 28">
            <a:extLst xmlns:a="http://schemas.openxmlformats.org/drawingml/2006/main">
              <a:ext uri="{FF2B5EF4-FFF2-40B4-BE49-F238E27FC236}">
                <a16:creationId xmlns:a16="http://schemas.microsoft.com/office/drawing/2014/main" id="{A95D1FFD-F8ED-4FD2-90EC-9CB4F14AE20D}"/>
              </a:ext>
            </a:extLst>
          </p:cNvPr>
          <p:cNvSpPr>
            <a:spLocks xmlns:a="http://schemas.openxmlformats.org/drawingml/2006/main" noGrp="1"/>
          </p:cNvSpPr>
          <p:nvPr/>
        </p:nvSpPr>
        <p:spPr>
          <a:xfrm xmlns:a="http://schemas.openxmlformats.org/drawingml/2006/main">
            <a:off x="9427464" y="3026664"/>
            <a:ext cx="274320" cy="256032"/>
          </a:xfrm>
          <a:prstGeom xmlns:a="http://schemas.openxmlformats.org/drawingml/2006/main" prst="chevron">
            <a:avLst/>
          </a:prstGeom>
          <a:solidFill xmlns:a="http://schemas.openxmlformats.org/drawingml/2006/main">
            <a:srgbClr val="00A79D"/>
          </a:solidFill>
        </p:spPr>
      </p:sp>
      <p:sp>
        <p:nvSpPr>
          <p:cNvPr id="32" name="Shape 29">
            <a:extLst xmlns:a="http://schemas.openxmlformats.org/drawingml/2006/main">
              <a:ext uri="{FF2B5EF4-FFF2-40B4-BE49-F238E27FC236}">
                <a16:creationId xmlns:a16="http://schemas.microsoft.com/office/drawing/2014/main" id="{F40F59C3-E528-44E2-8F7E-3C002CCA3966}"/>
              </a:ext>
            </a:extLst>
          </p:cNvPr>
          <p:cNvSpPr>
            <a:spLocks xmlns:a="http://schemas.openxmlformats.org/drawingml/2006/main" noGrp="1"/>
          </p:cNvSpPr>
          <p:nvPr/>
        </p:nvSpPr>
        <p:spPr>
          <a:xfrm xmlns:a="http://schemas.openxmlformats.org/drawingml/2006/main">
            <a:off x="9756648"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33" name="Shape 30">
            <a:extLst xmlns:a="http://schemas.openxmlformats.org/drawingml/2006/main">
              <a:ext uri="{FF2B5EF4-FFF2-40B4-BE49-F238E27FC236}">
                <a16:creationId xmlns:a16="http://schemas.microsoft.com/office/drawing/2014/main" id="{E3CF1149-D773-43A6-B6F7-083D1F65AC32}"/>
              </a:ext>
            </a:extLst>
          </p:cNvPr>
          <p:cNvSpPr>
            <a:spLocks xmlns:a="http://schemas.openxmlformats.org/drawingml/2006/main" noGrp="1"/>
          </p:cNvSpPr>
          <p:nvPr/>
        </p:nvSpPr>
        <p:spPr>
          <a:xfrm xmlns:a="http://schemas.openxmlformats.org/drawingml/2006/main">
            <a:off x="9756648" y="1965960"/>
            <a:ext cx="1929384" cy="82296"/>
          </a:xfrm>
          <a:prstGeom xmlns:a="http://schemas.openxmlformats.org/drawingml/2006/main" prst="rect">
            <a:avLst/>
          </a:prstGeom>
          <a:solidFill xmlns:a="http://schemas.openxmlformats.org/drawingml/2006/main">
            <a:srgbClr val="E8503A"/>
          </a:solidFill>
        </p:spPr>
      </p:sp>
      <p:sp>
        <p:nvSpPr>
          <p:cNvPr id="34" name="Text 31">
            <a:extLst xmlns:a="http://schemas.openxmlformats.org/drawingml/2006/main">
              <a:ext uri="{FF2B5EF4-FFF2-40B4-BE49-F238E27FC236}">
                <a16:creationId xmlns:a16="http://schemas.microsoft.com/office/drawing/2014/main" id="{34E1BBDF-968E-4A3C-B393-D126356F44E3}"/>
              </a:ext>
            </a:extLst>
          </p:cNvPr>
          <p:cNvSpPr>
            <a:spLocks xmlns:a="http://schemas.openxmlformats.org/drawingml/2006/main" noGrp="1"/>
          </p:cNvSpPr>
          <p:nvPr/>
        </p:nvSpPr>
        <p:spPr>
          <a:xfrm xmlns:a="http://schemas.openxmlformats.org/drawingml/2006/main">
            <a:off x="9893808"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E8503A"/>
                </a:solidFill>
                <a:latin typeface="Calibri"/>
                <a:ea typeface="Calibri"/>
                <a:cs typeface="Calibri"/>
              </a:rPr>
              <a:t>STEP 5</a:t>
            </a:r>
            <a:endParaRPr sz="900"/>
          </a:p>
        </p:txBody>
      </p:sp>
      <p:sp>
        <p:nvSpPr>
          <p:cNvPr id="35" name="Text 32">
            <a:extLst xmlns:a="http://schemas.openxmlformats.org/drawingml/2006/main">
              <a:ext uri="{FF2B5EF4-FFF2-40B4-BE49-F238E27FC236}">
                <a16:creationId xmlns:a16="http://schemas.microsoft.com/office/drawing/2014/main" id="{B200D83F-1F1F-4198-82EE-2B09CFB74072}"/>
              </a:ext>
            </a:extLst>
          </p:cNvPr>
          <p:cNvSpPr>
            <a:spLocks xmlns:a="http://schemas.openxmlformats.org/drawingml/2006/main" noGrp="1"/>
          </p:cNvSpPr>
          <p:nvPr/>
        </p:nvSpPr>
        <p:spPr>
          <a:xfrm xmlns:a="http://schemas.openxmlformats.org/drawingml/2006/main">
            <a:off x="9893808"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Registry digest</a:t>
            </a:r>
            <a:endParaRPr sz="1250"/>
          </a:p>
        </p:txBody>
      </p:sp>
      <p:sp>
        <p:nvSpPr>
          <p:cNvPr id="36" name="Text 33">
            <a:extLst xmlns:a="http://schemas.openxmlformats.org/drawingml/2006/main">
              <a:ext uri="{FF2B5EF4-FFF2-40B4-BE49-F238E27FC236}">
                <a16:creationId xmlns:a16="http://schemas.microsoft.com/office/drawing/2014/main" id="{5762796D-8353-47FF-9556-3C681F992233}"/>
              </a:ext>
            </a:extLst>
          </p:cNvPr>
          <p:cNvSpPr>
            <a:spLocks xmlns:a="http://schemas.openxmlformats.org/drawingml/2006/main" noGrp="1"/>
          </p:cNvSpPr>
          <p:nvPr/>
        </p:nvSpPr>
        <p:spPr>
          <a:xfrm xmlns:a="http://schemas.openxmlformats.org/drawingml/2006/main">
            <a:off x="9893808"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Immutable digest, consumed by deployment (SDA-AIE-211)</a:t>
            </a:r>
            <a:endParaRPr sz="950"/>
          </a:p>
        </p:txBody>
      </p:sp>
      <p:sp>
        <p:nvSpPr>
          <p:cNvPr id="37" name="Shape 34">
            <a:extLst xmlns:a="http://schemas.openxmlformats.org/drawingml/2006/main">
              <a:ext uri="{FF2B5EF4-FFF2-40B4-BE49-F238E27FC236}">
                <a16:creationId xmlns:a16="http://schemas.microsoft.com/office/drawing/2014/main" id="{56A88BDE-C59E-4A62-88B3-6E42E8975B24}"/>
              </a:ext>
            </a:extLst>
          </p:cNvPr>
          <p:cNvSpPr>
            <a:spLocks xmlns:a="http://schemas.openxmlformats.org/drawingml/2006/main" noGrp="1"/>
          </p:cNvSpPr>
          <p:nvPr/>
        </p:nvSpPr>
        <p:spPr>
          <a:xfrm xmlns:a="http://schemas.openxmlformats.org/drawingml/2006/main">
            <a:off x="502920" y="4892040"/>
            <a:ext cx="11183112" cy="1051560"/>
          </a:xfrm>
          <a:prstGeom xmlns:a="http://schemas.openxmlformats.org/drawingml/2006/main" prst="roundRect">
            <a:avLst>
              <a:gd name="adj" fmla="val 6087"/>
            </a:avLst>
          </a:prstGeom>
          <a:solidFill xmlns:a="http://schemas.openxmlformats.org/drawingml/2006/main">
            <a:srgbClr val="D4F1EE"/>
          </a:solidFill>
        </p:spPr>
      </p:sp>
      <p:sp>
        <p:nvSpPr>
          <p:cNvPr id="38" name="Text 35">
            <a:extLst xmlns:a="http://schemas.openxmlformats.org/drawingml/2006/main">
              <a:ext uri="{FF2B5EF4-FFF2-40B4-BE49-F238E27FC236}">
                <a16:creationId xmlns:a16="http://schemas.microsoft.com/office/drawing/2014/main" id="{F396A708-6DB3-4C3E-A82C-3B0BA0EF287D}"/>
              </a:ext>
            </a:extLst>
          </p:cNvPr>
          <p:cNvSpPr>
            <a:spLocks xmlns:a="http://schemas.openxmlformats.org/drawingml/2006/main" noGrp="1"/>
          </p:cNvSpPr>
          <p:nvPr/>
        </p:nvSpPr>
        <p:spPr>
          <a:xfrm xmlns:a="http://schemas.openxmlformats.org/drawingml/2006/main">
            <a:off x="731520" y="4892040"/>
            <a:ext cx="10789920" cy="10515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b="1">
                <a:solidFill>
                  <a:srgbClr val="056A63"/>
                </a:solidFill>
                <a:latin typeface="Calibri"/>
                <a:ea typeface="Calibri"/>
                <a:cs typeface="Calibri"/>
              </a:rPr>
              <a:t>WHY IT MATTERS   </a:t>
            </a:r>
            <a:r>
              <a:rPr sz="1100">
                <a:solidFill>
                  <a:srgbClr val="056A63"/>
                </a:solidFill>
                <a:latin typeface="Calibri"/>
                <a:ea typeface="Calibri"/>
                <a:cs typeface="Calibri"/>
              </a:rPr>
              <a:t>The unit of truth between CI and CD is the immutable image digest: CI's last act is producing it; CD's first act is consuming it. Nothing built on a laptop ever ships.</a:t>
            </a:r>
            <a:endParaRPr sz="950"/>
          </a:p>
        </p:txBody>
      </p:sp>
    </p:spTree>
    <p:extLst>
      <p:ext uri="{BB962C8B-B14F-4D97-AF65-F5344CB8AC3E}">
        <p14:creationId xmlns:p14="http://schemas.microsoft.com/office/powerpoint/2010/main" val="1602158256"/>
      </p:ext>
    </p:extLst>
  </p:cSld>
</p:sld>
</file>

<file path=ppt/slides/slide10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E456CD7-C1B6-4E39-9F3F-E6C7E346DAA0}"/>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CI vs CD — and why the digest is the truth</a:t>
            </a:r>
            <a:endParaRPr sz="2600"/>
          </a:p>
        </p:txBody>
      </p:sp>
      <p:sp>
        <p:nvSpPr>
          <p:cNvPr id="3" name="Text 1">
            <a:extLst xmlns:a="http://schemas.openxmlformats.org/drawingml/2006/main">
              <a:ext uri="{FF2B5EF4-FFF2-40B4-BE49-F238E27FC236}">
                <a16:creationId xmlns:a16="http://schemas.microsoft.com/office/drawing/2014/main" id="{61B11013-D3B1-4947-A34F-BE2BF3066821}"/>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CI مقابل CD — ولماذا البصمة هي الحقيقة</a:t>
            </a:r>
            <a:endParaRPr sz="1300"/>
          </a:p>
        </p:txBody>
      </p:sp>
      <p:pic>
        <p:nvPicPr>
          <p:cNvPr id="34" name="Image 0"/>
          <p:cNvPicPr>
            <a:picLocks xmlns:a="http://schemas.openxmlformats.org/drawingml/2006/main" noChangeAspect="1"/>
          </p:cNvPicPr>
          <p:nvPr/>
        </p:nvPicPr>
        <p:blipFill>
          <a:blip xmlns:r="http://schemas.openxmlformats.org/officeDocument/2006/relationships" xmlns:a="http://schemas.openxmlformats.org/drawingml/2006/main" r:embed="R34fec31208f04cf2"/>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1AC73BB3-F933-4A36-BFD6-67D9248C9F5D}"/>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23C63A63-AAC3-47EB-983D-D250FE0208F0}"/>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5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E6995E46-E5F9-4A44-86E8-EA6F7FB22894}"/>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107</a:t>
            </a:r>
            <a:endParaRPr sz="850"/>
          </a:p>
        </p:txBody>
      </p:sp>
      <p:sp>
        <p:nvSpPr>
          <p:cNvPr id="8" name="Text 5">
            <a:extLst xmlns:a="http://schemas.openxmlformats.org/drawingml/2006/main">
              <a:ext uri="{FF2B5EF4-FFF2-40B4-BE49-F238E27FC236}">
                <a16:creationId xmlns:a16="http://schemas.microsoft.com/office/drawing/2014/main" id="{A23F8008-7FF5-436D-BE88-7040991144AB}"/>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A5C9A076-4515-47C0-AED6-579FDD268EA0}"/>
              </a:ext>
            </a:extLst>
          </p:cNvPr>
          <p:cNvSpPr>
            <a:spLocks xmlns:a="http://schemas.openxmlformats.org/drawingml/2006/main" noGrp="1"/>
          </p:cNvSpPr>
          <p:nvPr/>
        </p:nvSpPr>
        <p:spPr>
          <a:xfrm xmlns:a="http://schemas.openxmlformats.org/drawingml/2006/main">
            <a:off x="1005840" y="14996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CI — safe to integrate?</a:t>
            </a:r>
            <a:endParaRPr sz="1350"/>
          </a:p>
        </p:txBody>
      </p:sp>
      <p:sp>
        <p:nvSpPr>
          <p:cNvPr id="10" name="Text 7">
            <a:extLst xmlns:a="http://schemas.openxmlformats.org/drawingml/2006/main">
              <a:ext uri="{FF2B5EF4-FFF2-40B4-BE49-F238E27FC236}">
                <a16:creationId xmlns:a16="http://schemas.microsoft.com/office/drawing/2014/main" id="{A59D94BC-4CBA-499F-BF90-531834EA17B4}"/>
              </a:ext>
            </a:extLst>
          </p:cNvPr>
          <p:cNvSpPr>
            <a:spLocks xmlns:a="http://schemas.openxmlformats.org/drawingml/2006/main" noGrp="1"/>
          </p:cNvSpPr>
          <p:nvPr/>
        </p:nvSpPr>
        <p:spPr>
          <a:xfrm xmlns:a="http://schemas.openxmlformats.org/drawingml/2006/main">
            <a:off x="1005840" y="18013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Runs on every push / PR. Answers whether this change is safe to merge: lint, type, test, smoke. Fail fast, fail cheap — order gates by cost.</a:t>
            </a:r>
            <a:endParaRPr sz="1050"/>
          </a:p>
        </p:txBody>
      </p:sp>
      <p:sp>
        <p:nvSpPr>
          <p:cNvPr id="11" name="Text 8">
            <a:extLst xmlns:a="http://schemas.openxmlformats.org/drawingml/2006/main">
              <a:ext uri="{FF2B5EF4-FFF2-40B4-BE49-F238E27FC236}">
                <a16:creationId xmlns:a16="http://schemas.microsoft.com/office/drawing/2014/main" id="{3092223A-1636-40F4-B7E8-C8CB361F1ADD}"/>
              </a:ext>
            </a:extLst>
          </p:cNvPr>
          <p:cNvSpPr>
            <a:spLocks xmlns:a="http://schemas.openxmlformats.org/drawingml/2006/main" noGrp="1"/>
          </p:cNvSpPr>
          <p:nvPr/>
        </p:nvSpPr>
        <p:spPr>
          <a:xfrm xmlns:a="http://schemas.openxmlformats.org/drawingml/2006/main">
            <a:off x="502920" y="292608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EBB61AB5-8138-4027-81A7-B0A5BD3A34C8}"/>
              </a:ext>
            </a:extLst>
          </p:cNvPr>
          <p:cNvSpPr>
            <a:spLocks xmlns:a="http://schemas.openxmlformats.org/drawingml/2006/main" noGrp="1"/>
          </p:cNvSpPr>
          <p:nvPr/>
        </p:nvSpPr>
        <p:spPr>
          <a:xfrm xmlns:a="http://schemas.openxmlformats.org/drawingml/2006/main">
            <a:off x="1005840" y="28712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CD — safe to release?</a:t>
            </a:r>
            <a:endParaRPr sz="1350"/>
          </a:p>
        </p:txBody>
      </p:sp>
      <p:sp>
        <p:nvSpPr>
          <p:cNvPr id="13" name="Text 10">
            <a:extLst xmlns:a="http://schemas.openxmlformats.org/drawingml/2006/main">
              <a:ext uri="{FF2B5EF4-FFF2-40B4-BE49-F238E27FC236}">
                <a16:creationId xmlns:a16="http://schemas.microsoft.com/office/drawing/2014/main" id="{A61C258A-619E-445A-AB98-4A4CB3D2D87D}"/>
              </a:ext>
            </a:extLst>
          </p:cNvPr>
          <p:cNvSpPr>
            <a:spLocks xmlns:a="http://schemas.openxmlformats.org/drawingml/2006/main" noGrp="1"/>
          </p:cNvSpPr>
          <p:nvPr/>
        </p:nvSpPr>
        <p:spPr>
          <a:xfrm xmlns:a="http://schemas.openxmlformats.org/drawingml/2006/main">
            <a:off x="1005840" y="31729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Delivers the validated artefact to a registry (continuous delivery — this course) or all the way to prod (continuous deployment — SDA-AIE-211's business).</a:t>
            </a:r>
            <a:endParaRPr sz="1050"/>
          </a:p>
        </p:txBody>
      </p:sp>
      <p:sp>
        <p:nvSpPr>
          <p:cNvPr id="14" name="Text 11">
            <a:extLst xmlns:a="http://schemas.openxmlformats.org/drawingml/2006/main">
              <a:ext uri="{FF2B5EF4-FFF2-40B4-BE49-F238E27FC236}">
                <a16:creationId xmlns:a16="http://schemas.microsoft.com/office/drawing/2014/main" id="{37497CD2-BDEF-4B6F-86AF-16C29CCCCDF8}"/>
              </a:ext>
            </a:extLst>
          </p:cNvPr>
          <p:cNvSpPr>
            <a:spLocks xmlns:a="http://schemas.openxmlformats.org/drawingml/2006/main" noGrp="1"/>
          </p:cNvSpPr>
          <p:nvPr/>
        </p:nvSpPr>
        <p:spPr>
          <a:xfrm xmlns:a="http://schemas.openxmlformats.org/drawingml/2006/main">
            <a:off x="502920" y="429768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255039BF-862C-4164-BBE4-96448392B508}"/>
              </a:ext>
            </a:extLst>
          </p:cNvPr>
          <p:cNvSpPr>
            <a:spLocks xmlns:a="http://schemas.openxmlformats.org/drawingml/2006/main" noGrp="1"/>
          </p:cNvSpPr>
          <p:nvPr/>
        </p:nvSpPr>
        <p:spPr>
          <a:xfrm xmlns:a="http://schemas.openxmlformats.org/drawingml/2006/main">
            <a:off x="1005840" y="42428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The digest is the truth</a:t>
            </a:r>
            <a:endParaRPr sz="1350"/>
          </a:p>
        </p:txBody>
      </p:sp>
      <p:sp>
        <p:nvSpPr>
          <p:cNvPr id="16" name="Text 13">
            <a:extLst xmlns:a="http://schemas.openxmlformats.org/drawingml/2006/main">
              <a:ext uri="{FF2B5EF4-FFF2-40B4-BE49-F238E27FC236}">
                <a16:creationId xmlns:a16="http://schemas.microsoft.com/office/drawing/2014/main" id="{7F5C5B73-4A4A-40E5-A2B4-6A6EDAA17C52}"/>
              </a:ext>
            </a:extLst>
          </p:cNvPr>
          <p:cNvSpPr>
            <a:spLocks xmlns:a="http://schemas.openxmlformats.org/drawingml/2006/main" noGrp="1"/>
          </p:cNvSpPr>
          <p:nvPr/>
        </p:nvSpPr>
        <p:spPr>
          <a:xfrm xmlns:a="http://schemas.openxmlformats.org/drawingml/2006/main">
            <a:off x="1005840" y="45445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CI produces the immutable image digest; CD consumes it. 'We tested that image' only holds if the exact digest ships — nothing rebuilt on a laptop.</a:t>
            </a:r>
            <a:endParaRPr sz="1050"/>
          </a:p>
        </p:txBody>
      </p:sp>
      <p:sp>
        <p:nvSpPr>
          <p:cNvPr id="17" name="Shape 14">
            <a:extLst xmlns:a="http://schemas.openxmlformats.org/drawingml/2006/main">
              <a:ext uri="{FF2B5EF4-FFF2-40B4-BE49-F238E27FC236}">
                <a16:creationId xmlns:a16="http://schemas.microsoft.com/office/drawing/2014/main" id="{F24BC515-CB27-47F6-90A4-8C9AE374A2B8}"/>
              </a:ext>
            </a:extLst>
          </p:cNvPr>
          <p:cNvSpPr>
            <a:spLocks xmlns:a="http://schemas.openxmlformats.org/drawingml/2006/main" noGrp="1"/>
          </p:cNvSpPr>
          <p:nvPr/>
        </p:nvSpPr>
        <p:spPr>
          <a:xfrm xmlns:a="http://schemas.openxmlformats.org/drawingml/2006/main">
            <a:off x="6355080" y="1481328"/>
            <a:ext cx="5330952" cy="4663440"/>
          </a:xfrm>
          <a:prstGeom xmlns:a="http://schemas.openxmlformats.org/drawingml/2006/main" prst="roundRect">
            <a:avLst>
              <a:gd name="adj" fmla="val 1373"/>
            </a:avLst>
          </a:prstGeom>
          <a:solidFill xmlns:a="http://schemas.openxmlformats.org/drawingml/2006/main">
            <a:srgbClr val="EEF3FB"/>
          </a:solidFill>
          <a:ln xmlns:a="http://schemas.openxmlformats.org/drawingml/2006/main" w="9525">
            <a:solidFill>
              <a:srgbClr val="D9E4F5"/>
            </a:solidFill>
            <a:prstDash val="solid"/>
          </a:ln>
        </p:spPr>
      </p:sp>
      <p:sp>
        <p:nvSpPr>
          <p:cNvPr id="18" name="Text 15">
            <a:extLst xmlns:a="http://schemas.openxmlformats.org/drawingml/2006/main">
              <a:ext uri="{FF2B5EF4-FFF2-40B4-BE49-F238E27FC236}">
                <a16:creationId xmlns:a16="http://schemas.microsoft.com/office/drawing/2014/main" id="{68EE01C3-D19C-4C30-983E-BF26968DD863}"/>
              </a:ext>
            </a:extLst>
          </p:cNvPr>
          <p:cNvSpPr>
            <a:spLocks xmlns:a="http://schemas.openxmlformats.org/drawingml/2006/main" noGrp="1"/>
          </p:cNvSpPr>
          <p:nvPr/>
        </p:nvSpPr>
        <p:spPr>
          <a:xfrm xmlns:a="http://schemas.openxmlformats.org/drawingml/2006/main">
            <a:off x="6556248" y="1645920"/>
            <a:ext cx="492861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D2A5C"/>
                </a:solidFill>
                <a:latin typeface="Calibri"/>
                <a:ea typeface="Calibri"/>
                <a:cs typeface="Calibri"/>
              </a:rPr>
              <a:t>Design principles</a:t>
            </a:r>
            <a:endParaRPr sz="1300"/>
          </a:p>
        </p:txBody>
      </p:sp>
      <p:sp>
        <p:nvSpPr>
          <p:cNvPr id="19" name="Shape 16">
            <a:extLst xmlns:a="http://schemas.openxmlformats.org/drawingml/2006/main">
              <a:ext uri="{FF2B5EF4-FFF2-40B4-BE49-F238E27FC236}">
                <a16:creationId xmlns:a16="http://schemas.microsoft.com/office/drawing/2014/main" id="{F2DCD6FC-2EBA-4A82-A54E-2927E970EC11}"/>
              </a:ext>
            </a:extLst>
          </p:cNvPr>
          <p:cNvSpPr>
            <a:spLocks xmlns:a="http://schemas.openxmlformats.org/drawingml/2006/main" noGrp="1"/>
          </p:cNvSpPr>
          <p:nvPr/>
        </p:nvSpPr>
        <p:spPr>
          <a:xfrm xmlns:a="http://schemas.openxmlformats.org/drawingml/2006/main" rot="2700000">
            <a:off x="6556248" y="2130552"/>
            <a:ext cx="128016" cy="128016"/>
          </a:xfrm>
          <a:prstGeom xmlns:a="http://schemas.openxmlformats.org/drawingml/2006/main" prst="rect">
            <a:avLst/>
          </a:prstGeom>
          <a:solidFill xmlns:a="http://schemas.openxmlformats.org/drawingml/2006/main">
            <a:srgbClr val="00A79D"/>
          </a:solidFill>
        </p:spPr>
      </p:sp>
      <p:sp>
        <p:nvSpPr>
          <p:cNvPr id="20" name="Text 17">
            <a:extLst xmlns:a="http://schemas.openxmlformats.org/drawingml/2006/main">
              <a:ext uri="{FF2B5EF4-FFF2-40B4-BE49-F238E27FC236}">
                <a16:creationId xmlns:a16="http://schemas.microsoft.com/office/drawing/2014/main" id="{5E74F14A-D5CD-43E4-9E09-D18C566A7697}"/>
              </a:ext>
            </a:extLst>
          </p:cNvPr>
          <p:cNvSpPr>
            <a:spLocks xmlns:a="http://schemas.openxmlformats.org/drawingml/2006/main" noGrp="1"/>
          </p:cNvSpPr>
          <p:nvPr/>
        </p:nvSpPr>
        <p:spPr>
          <a:xfrm xmlns:a="http://schemas.openxmlformats.org/drawingml/2006/main">
            <a:off x="6812280" y="2039112"/>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Fail fast, fail cheap</a:t>
            </a:r>
            <a:endParaRPr sz="1100"/>
          </a:p>
        </p:txBody>
      </p:sp>
      <p:sp>
        <p:nvSpPr>
          <p:cNvPr id="21" name="Text 18">
            <a:extLst xmlns:a="http://schemas.openxmlformats.org/drawingml/2006/main">
              <a:ext uri="{FF2B5EF4-FFF2-40B4-BE49-F238E27FC236}">
                <a16:creationId xmlns:a16="http://schemas.microsoft.com/office/drawing/2014/main" id="{091592CC-7575-4A90-A0C9-3521FBB0F314}"/>
              </a:ext>
            </a:extLst>
          </p:cNvPr>
          <p:cNvSpPr>
            <a:spLocks xmlns:a="http://schemas.openxmlformats.org/drawingml/2006/main" noGrp="1"/>
          </p:cNvSpPr>
          <p:nvPr/>
        </p:nvSpPr>
        <p:spPr>
          <a:xfrm xmlns:a="http://schemas.openxmlformats.org/drawingml/2006/main">
            <a:off x="6812280" y="2304288"/>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ruff (s) before pytest (min) before build</a:t>
            </a:r>
            <a:endParaRPr sz="950"/>
          </a:p>
        </p:txBody>
      </p:sp>
      <p:sp>
        <p:nvSpPr>
          <p:cNvPr id="22" name="Shape 19">
            <a:extLst xmlns:a="http://schemas.openxmlformats.org/drawingml/2006/main">
              <a:ext uri="{FF2B5EF4-FFF2-40B4-BE49-F238E27FC236}">
                <a16:creationId xmlns:a16="http://schemas.microsoft.com/office/drawing/2014/main" id="{86BA3D6E-13EF-4FDE-9E91-3E789ECFAA7A}"/>
              </a:ext>
            </a:extLst>
          </p:cNvPr>
          <p:cNvSpPr>
            <a:spLocks xmlns:a="http://schemas.openxmlformats.org/drawingml/2006/main" noGrp="1"/>
          </p:cNvSpPr>
          <p:nvPr/>
        </p:nvSpPr>
        <p:spPr>
          <a:xfrm xmlns:a="http://schemas.openxmlformats.org/drawingml/2006/main" rot="2700000">
            <a:off x="6556248" y="3113532"/>
            <a:ext cx="128016" cy="128016"/>
          </a:xfrm>
          <a:prstGeom xmlns:a="http://schemas.openxmlformats.org/drawingml/2006/main" prst="rect">
            <a:avLst/>
          </a:prstGeom>
          <a:solidFill xmlns:a="http://schemas.openxmlformats.org/drawingml/2006/main">
            <a:srgbClr val="29ABE2"/>
          </a:solidFill>
        </p:spPr>
      </p:sp>
      <p:sp>
        <p:nvSpPr>
          <p:cNvPr id="23" name="Text 20">
            <a:extLst xmlns:a="http://schemas.openxmlformats.org/drawingml/2006/main">
              <a:ext uri="{FF2B5EF4-FFF2-40B4-BE49-F238E27FC236}">
                <a16:creationId xmlns:a16="http://schemas.microsoft.com/office/drawing/2014/main" id="{10F97AB8-FA8E-4685-A4A5-E85C07E7AAC7}"/>
              </a:ext>
            </a:extLst>
          </p:cNvPr>
          <p:cNvSpPr>
            <a:spLocks xmlns:a="http://schemas.openxmlformats.org/drawingml/2006/main" noGrp="1"/>
          </p:cNvSpPr>
          <p:nvPr/>
        </p:nvSpPr>
        <p:spPr>
          <a:xfrm xmlns:a="http://schemas.openxmlformats.org/drawingml/2006/main">
            <a:off x="6812280" y="3022092"/>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Commit gate &lt; 10 min</a:t>
            </a:r>
            <a:endParaRPr sz="1100"/>
          </a:p>
        </p:txBody>
      </p:sp>
      <p:sp>
        <p:nvSpPr>
          <p:cNvPr id="24" name="Text 21">
            <a:extLst xmlns:a="http://schemas.openxmlformats.org/drawingml/2006/main">
              <a:ext uri="{FF2B5EF4-FFF2-40B4-BE49-F238E27FC236}">
                <a16:creationId xmlns:a16="http://schemas.microsoft.com/office/drawing/2014/main" id="{CCB944E1-EBCA-4169-80C0-B189CD4DFF4E}"/>
              </a:ext>
            </a:extLst>
          </p:cNvPr>
          <p:cNvSpPr>
            <a:spLocks xmlns:a="http://schemas.openxmlformats.org/drawingml/2006/main" noGrp="1"/>
          </p:cNvSpPr>
          <p:nvPr/>
        </p:nvSpPr>
        <p:spPr>
          <a:xfrm xmlns:a="http://schemas.openxmlformats.org/drawingml/2006/main">
            <a:off x="6812280" y="3287268"/>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Move slow suites to a nightly schedule</a:t>
            </a:r>
            <a:endParaRPr sz="950"/>
          </a:p>
        </p:txBody>
      </p:sp>
      <p:sp>
        <p:nvSpPr>
          <p:cNvPr id="25" name="Shape 22">
            <a:extLst xmlns:a="http://schemas.openxmlformats.org/drawingml/2006/main">
              <a:ext uri="{FF2B5EF4-FFF2-40B4-BE49-F238E27FC236}">
                <a16:creationId xmlns:a16="http://schemas.microsoft.com/office/drawing/2014/main" id="{8A8D036C-B617-4A31-806C-D36CD2F48DCC}"/>
              </a:ext>
            </a:extLst>
          </p:cNvPr>
          <p:cNvSpPr>
            <a:spLocks xmlns:a="http://schemas.openxmlformats.org/drawingml/2006/main" noGrp="1"/>
          </p:cNvSpPr>
          <p:nvPr/>
        </p:nvSpPr>
        <p:spPr>
          <a:xfrm xmlns:a="http://schemas.openxmlformats.org/drawingml/2006/main" rot="2700000">
            <a:off x="6556248" y="4096512"/>
            <a:ext cx="128016" cy="128016"/>
          </a:xfrm>
          <a:prstGeom xmlns:a="http://schemas.openxmlformats.org/drawingml/2006/main" prst="rect">
            <a:avLst/>
          </a:prstGeom>
          <a:solidFill xmlns:a="http://schemas.openxmlformats.org/drawingml/2006/main">
            <a:srgbClr val="F58220"/>
          </a:solidFill>
        </p:spPr>
      </p:sp>
      <p:sp>
        <p:nvSpPr>
          <p:cNvPr id="26" name="Text 23">
            <a:extLst xmlns:a="http://schemas.openxmlformats.org/drawingml/2006/main">
              <a:ext uri="{FF2B5EF4-FFF2-40B4-BE49-F238E27FC236}">
                <a16:creationId xmlns:a16="http://schemas.microsoft.com/office/drawing/2014/main" id="{92553B9F-9344-406B-A218-46BC498850AF}"/>
              </a:ext>
            </a:extLst>
          </p:cNvPr>
          <p:cNvSpPr>
            <a:spLocks xmlns:a="http://schemas.openxmlformats.org/drawingml/2006/main" noGrp="1"/>
          </p:cNvSpPr>
          <p:nvPr/>
        </p:nvSpPr>
        <p:spPr>
          <a:xfrm xmlns:a="http://schemas.openxmlformats.org/drawingml/2006/main">
            <a:off x="6812280" y="4005072"/>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Pin everything</a:t>
            </a:r>
            <a:endParaRPr sz="1100"/>
          </a:p>
        </p:txBody>
      </p:sp>
      <p:sp>
        <p:nvSpPr>
          <p:cNvPr id="27" name="Text 24">
            <a:extLst xmlns:a="http://schemas.openxmlformats.org/drawingml/2006/main">
              <a:ext uri="{FF2B5EF4-FFF2-40B4-BE49-F238E27FC236}">
                <a16:creationId xmlns:a16="http://schemas.microsoft.com/office/drawing/2014/main" id="{70C46B52-259E-4BF4-9B86-BFD1A79183A7}"/>
              </a:ext>
            </a:extLst>
          </p:cNvPr>
          <p:cNvSpPr>
            <a:spLocks xmlns:a="http://schemas.openxmlformats.org/drawingml/2006/main" noGrp="1"/>
          </p:cNvSpPr>
          <p:nvPr/>
        </p:nvSpPr>
        <p:spPr>
          <a:xfrm xmlns:a="http://schemas.openxmlformats.org/drawingml/2006/main">
            <a:off x="6812280" y="4270248"/>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Actions, Python, lock files — supply chain</a:t>
            </a:r>
            <a:endParaRPr sz="950"/>
          </a:p>
        </p:txBody>
      </p:sp>
      <p:sp>
        <p:nvSpPr>
          <p:cNvPr id="28" name="Shape 25">
            <a:extLst xmlns:a="http://schemas.openxmlformats.org/drawingml/2006/main">
              <a:ext uri="{FF2B5EF4-FFF2-40B4-BE49-F238E27FC236}">
                <a16:creationId xmlns:a16="http://schemas.microsoft.com/office/drawing/2014/main" id="{9DB43569-2A2D-4F37-9840-AB3E171BA119}"/>
              </a:ext>
            </a:extLst>
          </p:cNvPr>
          <p:cNvSpPr>
            <a:spLocks xmlns:a="http://schemas.openxmlformats.org/drawingml/2006/main" noGrp="1"/>
          </p:cNvSpPr>
          <p:nvPr/>
        </p:nvSpPr>
        <p:spPr>
          <a:xfrm xmlns:a="http://schemas.openxmlformats.org/drawingml/2006/main" rot="2700000">
            <a:off x="6556248" y="5079492"/>
            <a:ext cx="128016" cy="128016"/>
          </a:xfrm>
          <a:prstGeom xmlns:a="http://schemas.openxmlformats.org/drawingml/2006/main" prst="rect">
            <a:avLst/>
          </a:prstGeom>
          <a:solidFill xmlns:a="http://schemas.openxmlformats.org/drawingml/2006/main">
            <a:srgbClr val="8DC63F"/>
          </a:solidFill>
        </p:spPr>
      </p:sp>
      <p:sp>
        <p:nvSpPr>
          <p:cNvPr id="29" name="Text 26">
            <a:extLst xmlns:a="http://schemas.openxmlformats.org/drawingml/2006/main">
              <a:ext uri="{FF2B5EF4-FFF2-40B4-BE49-F238E27FC236}">
                <a16:creationId xmlns:a16="http://schemas.microsoft.com/office/drawing/2014/main" id="{98276E2B-EE7F-4862-90D7-CF600AFFD26C}"/>
              </a:ext>
            </a:extLst>
          </p:cNvPr>
          <p:cNvSpPr>
            <a:spLocks xmlns:a="http://schemas.openxmlformats.org/drawingml/2006/main" noGrp="1"/>
          </p:cNvSpPr>
          <p:nvPr/>
        </p:nvSpPr>
        <p:spPr>
          <a:xfrm xmlns:a="http://schemas.openxmlformats.org/drawingml/2006/main">
            <a:off x="6812280" y="4988052"/>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Artefacts = evidence</a:t>
            </a:r>
            <a:endParaRPr sz="1100"/>
          </a:p>
        </p:txBody>
      </p:sp>
      <p:sp>
        <p:nvSpPr>
          <p:cNvPr id="30" name="Text 27">
            <a:extLst xmlns:a="http://schemas.openxmlformats.org/drawingml/2006/main">
              <a:ext uri="{FF2B5EF4-FFF2-40B4-BE49-F238E27FC236}">
                <a16:creationId xmlns:a16="http://schemas.microsoft.com/office/drawing/2014/main" id="{9F6188B1-A160-44AD-9878-462914AB4178}"/>
              </a:ext>
            </a:extLst>
          </p:cNvPr>
          <p:cNvSpPr>
            <a:spLocks xmlns:a="http://schemas.openxmlformats.org/drawingml/2006/main" noGrp="1"/>
          </p:cNvSpPr>
          <p:nvPr/>
        </p:nvSpPr>
        <p:spPr>
          <a:xfrm xmlns:a="http://schemas.openxmlformats.org/drawingml/2006/main">
            <a:off x="6812280" y="5253228"/>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Coverage, scans, golden diffs on the PR</a:t>
            </a:r>
            <a:endParaRPr sz="950"/>
          </a:p>
        </p:txBody>
      </p:sp>
    </p:spTree>
    <p:extLst>
      <p:ext uri="{BB962C8B-B14F-4D97-AF65-F5344CB8AC3E}">
        <p14:creationId xmlns:p14="http://schemas.microsoft.com/office/powerpoint/2010/main" val="597157503"/>
      </p:ext>
    </p:extLst>
  </p:cSld>
</p:sld>
</file>

<file path=ppt/slides/slide10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7FA3C41-7499-4C29-AE63-4B1C3BD7EBF6}"/>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GitHub Actions vocabulary</a:t>
            </a:r>
            <a:endParaRPr sz="2600"/>
          </a:p>
        </p:txBody>
      </p:sp>
      <p:sp>
        <p:nvSpPr>
          <p:cNvPr id="3" name="Text 1">
            <a:extLst xmlns:a="http://schemas.openxmlformats.org/drawingml/2006/main">
              <a:ext uri="{FF2B5EF4-FFF2-40B4-BE49-F238E27FC236}">
                <a16:creationId xmlns:a16="http://schemas.microsoft.com/office/drawing/2014/main" id="{618D0954-288B-4E13-9C63-69CF73DBBDDA}"/>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مفردات GitHub Actions</a:t>
            </a:r>
            <a:endParaRPr sz="1300"/>
          </a:p>
        </p:txBody>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b91c774ccf9e4dfe"/>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4D9324A9-A552-4D43-A80E-20E4E09A8B24}"/>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4167478C-B1E5-471B-8C47-516032EA7886}"/>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5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B58BFEA0-3ADF-491F-942C-CC47DB270631}"/>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108</a:t>
            </a:r>
            <a:endParaRPr sz="850"/>
          </a:p>
        </p:txBody>
      </p:sp>
      <p:sp>
        <p:nvSpPr>
          <p:cNvPr id="8" name="Shape 5">
            <a:extLst xmlns:a="http://schemas.openxmlformats.org/drawingml/2006/main">
              <a:ext uri="{FF2B5EF4-FFF2-40B4-BE49-F238E27FC236}">
                <a16:creationId xmlns:a16="http://schemas.microsoft.com/office/drawing/2014/main" id="{C2D83FE2-994A-42EB-8B9B-2F4EE13AAE01}"/>
              </a:ext>
            </a:extLst>
          </p:cNvPr>
          <p:cNvSpPr>
            <a:spLocks xmlns:a="http://schemas.openxmlformats.org/drawingml/2006/main" noGrp="1"/>
          </p:cNvSpPr>
          <p:nvPr/>
        </p:nvSpPr>
        <p:spPr>
          <a:xfrm xmlns:a="http://schemas.openxmlformats.org/drawingml/2006/main">
            <a:off x="3886200" y="2217420"/>
            <a:ext cx="1435608" cy="0"/>
          </a:xfrm>
          <a:prstGeom xmlns:a="http://schemas.openxmlformats.org/drawingml/2006/main" prst="line">
            <a:avLst/>
          </a:prstGeom>
          <a:noFill xmlns:a="http://schemas.openxmlformats.org/drawingml/2006/main"/>
          <a:ln xmlns:a="http://schemas.openxmlformats.org/drawingml/2006/main" w="19050">
            <a:solidFill>
              <a:srgbClr val="D9E4F5"/>
            </a:solidFill>
            <a:prstDash val="dash"/>
          </a:ln>
        </p:spPr>
      </p:sp>
      <p:sp>
        <p:nvSpPr>
          <p:cNvPr id="9" name="Shape 6">
            <a:extLst xmlns:a="http://schemas.openxmlformats.org/drawingml/2006/main">
              <a:ext uri="{FF2B5EF4-FFF2-40B4-BE49-F238E27FC236}">
                <a16:creationId xmlns:a16="http://schemas.microsoft.com/office/drawing/2014/main" id="{23AC0AC0-3AF7-46C3-BC98-6D4B6A4C940B}"/>
              </a:ext>
            </a:extLst>
          </p:cNvPr>
          <p:cNvSpPr>
            <a:spLocks xmlns:a="http://schemas.openxmlformats.org/drawingml/2006/main" noGrp="1"/>
          </p:cNvSpPr>
          <p:nvPr/>
        </p:nvSpPr>
        <p:spPr>
          <a:xfrm xmlns:a="http://schemas.openxmlformats.org/drawingml/2006/main">
            <a:off x="594360" y="1600200"/>
            <a:ext cx="3291840" cy="1234440"/>
          </a:xfrm>
          <a:prstGeom xmlns:a="http://schemas.openxmlformats.org/drawingml/2006/main" prst="roundRect">
            <a:avLst>
              <a:gd name="adj" fmla="val 5185"/>
            </a:avLst>
          </a:prstGeom>
          <a:solidFill xmlns:a="http://schemas.openxmlformats.org/drawingml/2006/main">
            <a:srgbClr val="D4F1EE"/>
          </a:solidFill>
        </p:spPr>
      </p:sp>
      <p:sp>
        <p:nvSpPr>
          <p:cNvPr id="10" name="Text 7">
            <a:extLst xmlns:a="http://schemas.openxmlformats.org/drawingml/2006/main">
              <a:ext uri="{FF2B5EF4-FFF2-40B4-BE49-F238E27FC236}">
                <a16:creationId xmlns:a16="http://schemas.microsoft.com/office/drawing/2014/main" id="{7FB89F60-4F9B-4882-B9E2-948F04A361D1}"/>
              </a:ext>
            </a:extLst>
          </p:cNvPr>
          <p:cNvSpPr>
            <a:spLocks xmlns:a="http://schemas.openxmlformats.org/drawingml/2006/main" noGrp="1"/>
          </p:cNvSpPr>
          <p:nvPr/>
        </p:nvSpPr>
        <p:spPr>
          <a:xfrm xmlns:a="http://schemas.openxmlformats.org/drawingml/2006/main">
            <a:off x="740664" y="1691640"/>
            <a:ext cx="2999232"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Workflow</a:t>
            </a:r>
            <a:endParaRPr sz="1200"/>
          </a:p>
        </p:txBody>
      </p:sp>
      <p:sp>
        <p:nvSpPr>
          <p:cNvPr id="11" name="Text 8">
            <a:extLst xmlns:a="http://schemas.openxmlformats.org/drawingml/2006/main">
              <a:ext uri="{FF2B5EF4-FFF2-40B4-BE49-F238E27FC236}">
                <a16:creationId xmlns:a16="http://schemas.microsoft.com/office/drawing/2014/main" id="{C1FA91C1-EF2D-418A-9794-C82876F97F65}"/>
              </a:ext>
            </a:extLst>
          </p:cNvPr>
          <p:cNvSpPr>
            <a:spLocks xmlns:a="http://schemas.openxmlformats.org/drawingml/2006/main" noGrp="1"/>
          </p:cNvSpPr>
          <p:nvPr/>
        </p:nvSpPr>
        <p:spPr>
          <a:xfrm xmlns:a="http://schemas.openxmlformats.org/drawingml/2006/main">
            <a:off x="740664" y="2002536"/>
            <a:ext cx="2999232"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YAML in .github/workflows/, triggered by events</a:t>
            </a:r>
            <a:endParaRPr sz="950"/>
          </a:p>
        </p:txBody>
      </p:sp>
      <p:sp>
        <p:nvSpPr>
          <p:cNvPr id="12" name="Shape 9">
            <a:extLst xmlns:a="http://schemas.openxmlformats.org/drawingml/2006/main">
              <a:ext uri="{FF2B5EF4-FFF2-40B4-BE49-F238E27FC236}">
                <a16:creationId xmlns:a16="http://schemas.microsoft.com/office/drawing/2014/main" id="{0D20CB34-0A35-413B-9D04-0F3FA5972A98}"/>
              </a:ext>
            </a:extLst>
          </p:cNvPr>
          <p:cNvSpPr>
            <a:spLocks xmlns:a="http://schemas.openxmlformats.org/drawingml/2006/main" noGrp="1"/>
          </p:cNvSpPr>
          <p:nvPr/>
        </p:nvSpPr>
        <p:spPr>
          <a:xfrm xmlns:a="http://schemas.openxmlformats.org/drawingml/2006/main">
            <a:off x="3886200" y="4320540"/>
            <a:ext cx="1435608" cy="0"/>
          </a:xfrm>
          <a:prstGeom xmlns:a="http://schemas.openxmlformats.org/drawingml/2006/main" prst="line">
            <a:avLst/>
          </a:prstGeom>
          <a:noFill xmlns:a="http://schemas.openxmlformats.org/drawingml/2006/main"/>
          <a:ln xmlns:a="http://schemas.openxmlformats.org/drawingml/2006/main" w="19050">
            <a:solidFill>
              <a:srgbClr val="D9E4F5"/>
            </a:solidFill>
            <a:prstDash val="dash"/>
          </a:ln>
        </p:spPr>
      </p:sp>
      <p:sp>
        <p:nvSpPr>
          <p:cNvPr id="13" name="Shape 10">
            <a:extLst xmlns:a="http://schemas.openxmlformats.org/drawingml/2006/main">
              <a:ext uri="{FF2B5EF4-FFF2-40B4-BE49-F238E27FC236}">
                <a16:creationId xmlns:a16="http://schemas.microsoft.com/office/drawing/2014/main" id="{BCA69F62-6555-4CEB-A073-200C85569FF4}"/>
              </a:ext>
            </a:extLst>
          </p:cNvPr>
          <p:cNvSpPr>
            <a:spLocks xmlns:a="http://schemas.openxmlformats.org/drawingml/2006/main" noGrp="1"/>
          </p:cNvSpPr>
          <p:nvPr/>
        </p:nvSpPr>
        <p:spPr>
          <a:xfrm xmlns:a="http://schemas.openxmlformats.org/drawingml/2006/main">
            <a:off x="594360" y="3703320"/>
            <a:ext cx="3291840" cy="1234440"/>
          </a:xfrm>
          <a:prstGeom xmlns:a="http://schemas.openxmlformats.org/drawingml/2006/main" prst="roundRect">
            <a:avLst>
              <a:gd name="adj" fmla="val 5185"/>
            </a:avLst>
          </a:prstGeom>
          <a:solidFill xmlns:a="http://schemas.openxmlformats.org/drawingml/2006/main">
            <a:srgbClr val="D9F0FA"/>
          </a:solidFill>
        </p:spPr>
      </p:sp>
      <p:sp>
        <p:nvSpPr>
          <p:cNvPr id="14" name="Text 11">
            <a:extLst xmlns:a="http://schemas.openxmlformats.org/drawingml/2006/main">
              <a:ext uri="{FF2B5EF4-FFF2-40B4-BE49-F238E27FC236}">
                <a16:creationId xmlns:a16="http://schemas.microsoft.com/office/drawing/2014/main" id="{C5948C20-3549-48F6-BF42-B2FBB0F84619}"/>
              </a:ext>
            </a:extLst>
          </p:cNvPr>
          <p:cNvSpPr>
            <a:spLocks xmlns:a="http://schemas.openxmlformats.org/drawingml/2006/main" noGrp="1"/>
          </p:cNvSpPr>
          <p:nvPr/>
        </p:nvSpPr>
        <p:spPr>
          <a:xfrm xmlns:a="http://schemas.openxmlformats.org/drawingml/2006/main">
            <a:off x="740664" y="3794760"/>
            <a:ext cx="2999232"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Events</a:t>
            </a:r>
            <a:endParaRPr sz="1200"/>
          </a:p>
        </p:txBody>
      </p:sp>
      <p:sp>
        <p:nvSpPr>
          <p:cNvPr id="15" name="Text 12">
            <a:extLst xmlns:a="http://schemas.openxmlformats.org/drawingml/2006/main">
              <a:ext uri="{FF2B5EF4-FFF2-40B4-BE49-F238E27FC236}">
                <a16:creationId xmlns:a16="http://schemas.microsoft.com/office/drawing/2014/main" id="{9DC13508-C74F-4D8D-A3E1-514FF40CA0F5}"/>
              </a:ext>
            </a:extLst>
          </p:cNvPr>
          <p:cNvSpPr>
            <a:spLocks xmlns:a="http://schemas.openxmlformats.org/drawingml/2006/main" noGrp="1"/>
          </p:cNvSpPr>
          <p:nvPr/>
        </p:nvSpPr>
        <p:spPr>
          <a:xfrm xmlns:a="http://schemas.openxmlformats.org/drawingml/2006/main">
            <a:off x="740664" y="4105656"/>
            <a:ext cx="2999232"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push, pull_request, schedule, workflow_dispatch</a:t>
            </a:r>
            <a:endParaRPr sz="950"/>
          </a:p>
        </p:txBody>
      </p:sp>
      <p:sp>
        <p:nvSpPr>
          <p:cNvPr id="16" name="Shape 13">
            <a:extLst xmlns:a="http://schemas.openxmlformats.org/drawingml/2006/main">
              <a:ext uri="{FF2B5EF4-FFF2-40B4-BE49-F238E27FC236}">
                <a16:creationId xmlns:a16="http://schemas.microsoft.com/office/drawing/2014/main" id="{F938F436-B5EC-4368-8486-F556419166B9}"/>
              </a:ext>
            </a:extLst>
          </p:cNvPr>
          <p:cNvSpPr>
            <a:spLocks xmlns:a="http://schemas.openxmlformats.org/drawingml/2006/main" noGrp="1"/>
          </p:cNvSpPr>
          <p:nvPr/>
        </p:nvSpPr>
        <p:spPr>
          <a:xfrm xmlns:a="http://schemas.openxmlformats.org/drawingml/2006/main">
            <a:off x="3886200" y="5737860"/>
            <a:ext cx="1435608" cy="0"/>
          </a:xfrm>
          <a:prstGeom xmlns:a="http://schemas.openxmlformats.org/drawingml/2006/main" prst="line">
            <a:avLst/>
          </a:prstGeom>
          <a:noFill xmlns:a="http://schemas.openxmlformats.org/drawingml/2006/main"/>
          <a:ln xmlns:a="http://schemas.openxmlformats.org/drawingml/2006/main" w="19050">
            <a:solidFill>
              <a:srgbClr val="D9E4F5"/>
            </a:solidFill>
            <a:prstDash val="dash"/>
          </a:ln>
        </p:spPr>
      </p:sp>
      <p:sp>
        <p:nvSpPr>
          <p:cNvPr id="17" name="Shape 14">
            <a:extLst xmlns:a="http://schemas.openxmlformats.org/drawingml/2006/main">
              <a:ext uri="{FF2B5EF4-FFF2-40B4-BE49-F238E27FC236}">
                <a16:creationId xmlns:a16="http://schemas.microsoft.com/office/drawing/2014/main" id="{4E265E2E-BD4C-4D50-B7A6-FD666BF36A06}"/>
              </a:ext>
            </a:extLst>
          </p:cNvPr>
          <p:cNvSpPr>
            <a:spLocks xmlns:a="http://schemas.openxmlformats.org/drawingml/2006/main" noGrp="1"/>
          </p:cNvSpPr>
          <p:nvPr/>
        </p:nvSpPr>
        <p:spPr>
          <a:xfrm xmlns:a="http://schemas.openxmlformats.org/drawingml/2006/main">
            <a:off x="594360" y="5120640"/>
            <a:ext cx="3291840" cy="1234440"/>
          </a:xfrm>
          <a:prstGeom xmlns:a="http://schemas.openxmlformats.org/drawingml/2006/main" prst="roundRect">
            <a:avLst>
              <a:gd name="adj" fmla="val 5185"/>
            </a:avLst>
          </a:prstGeom>
          <a:solidFill xmlns:a="http://schemas.openxmlformats.org/drawingml/2006/main">
            <a:srgbClr val="FDEBD7"/>
          </a:solidFill>
        </p:spPr>
      </p:sp>
      <p:sp>
        <p:nvSpPr>
          <p:cNvPr id="18" name="Text 15">
            <a:extLst xmlns:a="http://schemas.openxmlformats.org/drawingml/2006/main">
              <a:ext uri="{FF2B5EF4-FFF2-40B4-BE49-F238E27FC236}">
                <a16:creationId xmlns:a16="http://schemas.microsoft.com/office/drawing/2014/main" id="{9715704B-CBE1-471B-A5E2-B3242EF916C9}"/>
              </a:ext>
            </a:extLst>
          </p:cNvPr>
          <p:cNvSpPr>
            <a:spLocks xmlns:a="http://schemas.openxmlformats.org/drawingml/2006/main" noGrp="1"/>
          </p:cNvSpPr>
          <p:nvPr/>
        </p:nvSpPr>
        <p:spPr>
          <a:xfrm xmlns:a="http://schemas.openxmlformats.org/drawingml/2006/main">
            <a:off x="740664" y="5212080"/>
            <a:ext cx="2999232"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Jobs</a:t>
            </a:r>
            <a:endParaRPr sz="1200"/>
          </a:p>
        </p:txBody>
      </p:sp>
      <p:sp>
        <p:nvSpPr>
          <p:cNvPr id="19" name="Text 16">
            <a:extLst xmlns:a="http://schemas.openxmlformats.org/drawingml/2006/main">
              <a:ext uri="{FF2B5EF4-FFF2-40B4-BE49-F238E27FC236}">
                <a16:creationId xmlns:a16="http://schemas.microsoft.com/office/drawing/2014/main" id="{CD70378B-DECE-417A-B493-87605B703F2B}"/>
              </a:ext>
            </a:extLst>
          </p:cNvPr>
          <p:cNvSpPr>
            <a:spLocks xmlns:a="http://schemas.openxmlformats.org/drawingml/2006/main" noGrp="1"/>
          </p:cNvSpPr>
          <p:nvPr/>
        </p:nvSpPr>
        <p:spPr>
          <a:xfrm xmlns:a="http://schemas.openxmlformats.org/drawingml/2006/main">
            <a:off x="740664" y="5522976"/>
            <a:ext cx="2999232"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Isolated VMs; parallel unless needs: orders them</a:t>
            </a:r>
            <a:endParaRPr sz="950"/>
          </a:p>
        </p:txBody>
      </p:sp>
      <p:sp>
        <p:nvSpPr>
          <p:cNvPr id="20" name="Shape 17">
            <a:extLst xmlns:a="http://schemas.openxmlformats.org/drawingml/2006/main">
              <a:ext uri="{FF2B5EF4-FFF2-40B4-BE49-F238E27FC236}">
                <a16:creationId xmlns:a16="http://schemas.microsoft.com/office/drawing/2014/main" id="{C71779A3-9945-4318-A8D7-0704107983CF}"/>
              </a:ext>
            </a:extLst>
          </p:cNvPr>
          <p:cNvSpPr>
            <a:spLocks xmlns:a="http://schemas.openxmlformats.org/drawingml/2006/main" noGrp="1"/>
          </p:cNvSpPr>
          <p:nvPr/>
        </p:nvSpPr>
        <p:spPr>
          <a:xfrm xmlns:a="http://schemas.openxmlformats.org/drawingml/2006/main">
            <a:off x="6858000" y="2217420"/>
            <a:ext cx="1463040" cy="0"/>
          </a:xfrm>
          <a:prstGeom xmlns:a="http://schemas.openxmlformats.org/drawingml/2006/main" prst="line">
            <a:avLst/>
          </a:prstGeom>
          <a:noFill xmlns:a="http://schemas.openxmlformats.org/drawingml/2006/main"/>
          <a:ln xmlns:a="http://schemas.openxmlformats.org/drawingml/2006/main" w="19050">
            <a:solidFill>
              <a:srgbClr val="D9E4F5"/>
            </a:solidFill>
            <a:prstDash val="dash"/>
          </a:ln>
        </p:spPr>
      </p:sp>
      <p:sp>
        <p:nvSpPr>
          <p:cNvPr id="21" name="Shape 18">
            <a:extLst xmlns:a="http://schemas.openxmlformats.org/drawingml/2006/main">
              <a:ext uri="{FF2B5EF4-FFF2-40B4-BE49-F238E27FC236}">
                <a16:creationId xmlns:a16="http://schemas.microsoft.com/office/drawing/2014/main" id="{40B38B27-2385-4AE7-850F-1EF1D3DF4AFE}"/>
              </a:ext>
            </a:extLst>
          </p:cNvPr>
          <p:cNvSpPr>
            <a:spLocks xmlns:a="http://schemas.openxmlformats.org/drawingml/2006/main" noGrp="1"/>
          </p:cNvSpPr>
          <p:nvPr/>
        </p:nvSpPr>
        <p:spPr>
          <a:xfrm xmlns:a="http://schemas.openxmlformats.org/drawingml/2006/main">
            <a:off x="8321040" y="1600200"/>
            <a:ext cx="3291840" cy="1234440"/>
          </a:xfrm>
          <a:prstGeom xmlns:a="http://schemas.openxmlformats.org/drawingml/2006/main" prst="roundRect">
            <a:avLst>
              <a:gd name="adj" fmla="val 5185"/>
            </a:avLst>
          </a:prstGeom>
          <a:solidFill xmlns:a="http://schemas.openxmlformats.org/drawingml/2006/main">
            <a:srgbClr val="EAF4DC"/>
          </a:solidFill>
        </p:spPr>
      </p:sp>
      <p:sp>
        <p:nvSpPr>
          <p:cNvPr id="22" name="Text 19">
            <a:extLst xmlns:a="http://schemas.openxmlformats.org/drawingml/2006/main">
              <a:ext uri="{FF2B5EF4-FFF2-40B4-BE49-F238E27FC236}">
                <a16:creationId xmlns:a16="http://schemas.microsoft.com/office/drawing/2014/main" id="{1FA54AEC-2DAE-4B4D-BB56-76FA5DAAB917}"/>
              </a:ext>
            </a:extLst>
          </p:cNvPr>
          <p:cNvSpPr>
            <a:spLocks xmlns:a="http://schemas.openxmlformats.org/drawingml/2006/main" noGrp="1"/>
          </p:cNvSpPr>
          <p:nvPr/>
        </p:nvSpPr>
        <p:spPr>
          <a:xfrm xmlns:a="http://schemas.openxmlformats.org/drawingml/2006/main">
            <a:off x="8467344" y="1691640"/>
            <a:ext cx="2999232"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Steps</a:t>
            </a:r>
            <a:endParaRPr sz="1200"/>
          </a:p>
        </p:txBody>
      </p:sp>
      <p:sp>
        <p:nvSpPr>
          <p:cNvPr id="23" name="Text 20">
            <a:extLst xmlns:a="http://schemas.openxmlformats.org/drawingml/2006/main">
              <a:ext uri="{FF2B5EF4-FFF2-40B4-BE49-F238E27FC236}">
                <a16:creationId xmlns:a16="http://schemas.microsoft.com/office/drawing/2014/main" id="{74708F4C-4307-4A00-A0D9-F179B7AF7363}"/>
              </a:ext>
            </a:extLst>
          </p:cNvPr>
          <p:cNvSpPr>
            <a:spLocks xmlns:a="http://schemas.openxmlformats.org/drawingml/2006/main" noGrp="1"/>
          </p:cNvSpPr>
          <p:nvPr/>
        </p:nvSpPr>
        <p:spPr>
          <a:xfrm xmlns:a="http://schemas.openxmlformats.org/drawingml/2006/main">
            <a:off x="8467344" y="2002536"/>
            <a:ext cx="2999232"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Shell commands or reusable actions inside a job</a:t>
            </a:r>
            <a:endParaRPr sz="950"/>
          </a:p>
        </p:txBody>
      </p:sp>
      <p:sp>
        <p:nvSpPr>
          <p:cNvPr id="24" name="Shape 21">
            <a:extLst xmlns:a="http://schemas.openxmlformats.org/drawingml/2006/main">
              <a:ext uri="{FF2B5EF4-FFF2-40B4-BE49-F238E27FC236}">
                <a16:creationId xmlns:a16="http://schemas.microsoft.com/office/drawing/2014/main" id="{6DDBBD98-14DC-4A3F-BC1E-89902202E743}"/>
              </a:ext>
            </a:extLst>
          </p:cNvPr>
          <p:cNvSpPr>
            <a:spLocks xmlns:a="http://schemas.openxmlformats.org/drawingml/2006/main" noGrp="1"/>
          </p:cNvSpPr>
          <p:nvPr/>
        </p:nvSpPr>
        <p:spPr>
          <a:xfrm xmlns:a="http://schemas.openxmlformats.org/drawingml/2006/main">
            <a:off x="6858000" y="4320540"/>
            <a:ext cx="1463040" cy="0"/>
          </a:xfrm>
          <a:prstGeom xmlns:a="http://schemas.openxmlformats.org/drawingml/2006/main" prst="line">
            <a:avLst/>
          </a:prstGeom>
          <a:noFill xmlns:a="http://schemas.openxmlformats.org/drawingml/2006/main"/>
          <a:ln xmlns:a="http://schemas.openxmlformats.org/drawingml/2006/main" w="19050">
            <a:solidFill>
              <a:srgbClr val="D9E4F5"/>
            </a:solidFill>
            <a:prstDash val="dash"/>
          </a:ln>
        </p:spPr>
      </p:sp>
      <p:sp>
        <p:nvSpPr>
          <p:cNvPr id="25" name="Shape 22">
            <a:extLst xmlns:a="http://schemas.openxmlformats.org/drawingml/2006/main">
              <a:ext uri="{FF2B5EF4-FFF2-40B4-BE49-F238E27FC236}">
                <a16:creationId xmlns:a16="http://schemas.microsoft.com/office/drawing/2014/main" id="{FD3B41A2-B088-4BC3-8524-50B030FE70D1}"/>
              </a:ext>
            </a:extLst>
          </p:cNvPr>
          <p:cNvSpPr>
            <a:spLocks xmlns:a="http://schemas.openxmlformats.org/drawingml/2006/main" noGrp="1"/>
          </p:cNvSpPr>
          <p:nvPr/>
        </p:nvSpPr>
        <p:spPr>
          <a:xfrm xmlns:a="http://schemas.openxmlformats.org/drawingml/2006/main">
            <a:off x="8321040" y="3703320"/>
            <a:ext cx="3291840" cy="1234440"/>
          </a:xfrm>
          <a:prstGeom xmlns:a="http://schemas.openxmlformats.org/drawingml/2006/main" prst="roundRect">
            <a:avLst>
              <a:gd name="adj" fmla="val 5185"/>
            </a:avLst>
          </a:prstGeom>
          <a:solidFill xmlns:a="http://schemas.openxmlformats.org/drawingml/2006/main">
            <a:srgbClr val="FADDD8"/>
          </a:solidFill>
        </p:spPr>
      </p:sp>
      <p:sp>
        <p:nvSpPr>
          <p:cNvPr id="26" name="Text 23">
            <a:extLst xmlns:a="http://schemas.openxmlformats.org/drawingml/2006/main">
              <a:ext uri="{FF2B5EF4-FFF2-40B4-BE49-F238E27FC236}">
                <a16:creationId xmlns:a16="http://schemas.microsoft.com/office/drawing/2014/main" id="{433A0C8D-41B4-4FB7-AD43-042C600E7C3A}"/>
              </a:ext>
            </a:extLst>
          </p:cNvPr>
          <p:cNvSpPr>
            <a:spLocks xmlns:a="http://schemas.openxmlformats.org/drawingml/2006/main" noGrp="1"/>
          </p:cNvSpPr>
          <p:nvPr/>
        </p:nvSpPr>
        <p:spPr>
          <a:xfrm xmlns:a="http://schemas.openxmlformats.org/drawingml/2006/main">
            <a:off x="8467344" y="3794760"/>
            <a:ext cx="2999232"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Contexts</a:t>
            </a:r>
            <a:endParaRPr sz="1200"/>
          </a:p>
        </p:txBody>
      </p:sp>
      <p:sp>
        <p:nvSpPr>
          <p:cNvPr id="27" name="Text 24">
            <a:extLst xmlns:a="http://schemas.openxmlformats.org/drawingml/2006/main">
              <a:ext uri="{FF2B5EF4-FFF2-40B4-BE49-F238E27FC236}">
                <a16:creationId xmlns:a16="http://schemas.microsoft.com/office/drawing/2014/main" id="{C7825AF9-F624-462C-ACD7-F3123795A865}"/>
              </a:ext>
            </a:extLst>
          </p:cNvPr>
          <p:cNvSpPr>
            <a:spLocks xmlns:a="http://schemas.openxmlformats.org/drawingml/2006/main" noGrp="1"/>
          </p:cNvSpPr>
          <p:nvPr/>
        </p:nvSpPr>
        <p:spPr>
          <a:xfrm xmlns:a="http://schemas.openxmlformats.org/drawingml/2006/main">
            <a:off x="8467344" y="4105656"/>
            <a:ext cx="2999232"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github.sha, secrets.*, matrix.* parameterise it all</a:t>
            </a:r>
            <a:endParaRPr sz="950"/>
          </a:p>
        </p:txBody>
      </p:sp>
      <p:sp>
        <p:nvSpPr>
          <p:cNvPr id="28" name="Shape 25">
            <a:extLst xmlns:a="http://schemas.openxmlformats.org/drawingml/2006/main">
              <a:ext uri="{FF2B5EF4-FFF2-40B4-BE49-F238E27FC236}">
                <a16:creationId xmlns:a16="http://schemas.microsoft.com/office/drawing/2014/main" id="{D464B7A6-71C0-4E19-8757-B687BD7E3217}"/>
              </a:ext>
            </a:extLst>
          </p:cNvPr>
          <p:cNvSpPr>
            <a:spLocks xmlns:a="http://schemas.openxmlformats.org/drawingml/2006/main" noGrp="1"/>
          </p:cNvSpPr>
          <p:nvPr/>
        </p:nvSpPr>
        <p:spPr>
          <a:xfrm xmlns:a="http://schemas.openxmlformats.org/drawingml/2006/main">
            <a:off x="6858000" y="5737860"/>
            <a:ext cx="1463040" cy="0"/>
          </a:xfrm>
          <a:prstGeom xmlns:a="http://schemas.openxmlformats.org/drawingml/2006/main" prst="line">
            <a:avLst/>
          </a:prstGeom>
          <a:noFill xmlns:a="http://schemas.openxmlformats.org/drawingml/2006/main"/>
          <a:ln xmlns:a="http://schemas.openxmlformats.org/drawingml/2006/main" w="19050">
            <a:solidFill>
              <a:srgbClr val="D9E4F5"/>
            </a:solidFill>
            <a:prstDash val="dash"/>
          </a:ln>
        </p:spPr>
      </p:sp>
      <p:sp>
        <p:nvSpPr>
          <p:cNvPr id="29" name="Shape 26">
            <a:extLst xmlns:a="http://schemas.openxmlformats.org/drawingml/2006/main">
              <a:ext uri="{FF2B5EF4-FFF2-40B4-BE49-F238E27FC236}">
                <a16:creationId xmlns:a16="http://schemas.microsoft.com/office/drawing/2014/main" id="{A9C477B2-0DF0-4D5C-B67B-5E964E8613EE}"/>
              </a:ext>
            </a:extLst>
          </p:cNvPr>
          <p:cNvSpPr>
            <a:spLocks xmlns:a="http://schemas.openxmlformats.org/drawingml/2006/main" noGrp="1"/>
          </p:cNvSpPr>
          <p:nvPr/>
        </p:nvSpPr>
        <p:spPr>
          <a:xfrm xmlns:a="http://schemas.openxmlformats.org/drawingml/2006/main">
            <a:off x="8321040" y="5120640"/>
            <a:ext cx="3291840" cy="1234440"/>
          </a:xfrm>
          <a:prstGeom xmlns:a="http://schemas.openxmlformats.org/drawingml/2006/main" prst="roundRect">
            <a:avLst>
              <a:gd name="adj" fmla="val 5185"/>
            </a:avLst>
          </a:prstGeom>
          <a:solidFill xmlns:a="http://schemas.openxmlformats.org/drawingml/2006/main">
            <a:srgbClr val="E9E2F2"/>
          </a:solidFill>
        </p:spPr>
      </p:sp>
      <p:sp>
        <p:nvSpPr>
          <p:cNvPr id="30" name="Text 27">
            <a:extLst xmlns:a="http://schemas.openxmlformats.org/drawingml/2006/main">
              <a:ext uri="{FF2B5EF4-FFF2-40B4-BE49-F238E27FC236}">
                <a16:creationId xmlns:a16="http://schemas.microsoft.com/office/drawing/2014/main" id="{F0AA749A-09DD-47B6-8C09-9B54DC2C9DCB}"/>
              </a:ext>
            </a:extLst>
          </p:cNvPr>
          <p:cNvSpPr>
            <a:spLocks xmlns:a="http://schemas.openxmlformats.org/drawingml/2006/main" noGrp="1"/>
          </p:cNvSpPr>
          <p:nvPr/>
        </p:nvSpPr>
        <p:spPr>
          <a:xfrm xmlns:a="http://schemas.openxmlformats.org/drawingml/2006/main">
            <a:off x="8467344" y="5212080"/>
            <a:ext cx="2999232"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needs:</a:t>
            </a:r>
            <a:endParaRPr sz="1200"/>
          </a:p>
        </p:txBody>
      </p:sp>
      <p:sp>
        <p:nvSpPr>
          <p:cNvPr id="31" name="Text 28">
            <a:extLst xmlns:a="http://schemas.openxmlformats.org/drawingml/2006/main">
              <a:ext uri="{FF2B5EF4-FFF2-40B4-BE49-F238E27FC236}">
                <a16:creationId xmlns:a16="http://schemas.microsoft.com/office/drawing/2014/main" id="{BD643079-7DD1-426E-BA07-D1A1D4BEB6AE}"/>
              </a:ext>
            </a:extLst>
          </p:cNvPr>
          <p:cNvSpPr>
            <a:spLocks xmlns:a="http://schemas.openxmlformats.org/drawingml/2006/main" noGrp="1"/>
          </p:cNvSpPr>
          <p:nvPr/>
        </p:nvSpPr>
        <p:spPr>
          <a:xfrm xmlns:a="http://schemas.openxmlformats.org/drawingml/2006/main">
            <a:off x="8467344" y="5522976"/>
            <a:ext cx="2999232"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Sequences jobs — image gated by needs: [lint, test]</a:t>
            </a:r>
            <a:endParaRPr sz="950"/>
          </a:p>
        </p:txBody>
      </p:sp>
      <p:sp>
        <p:nvSpPr>
          <p:cNvPr id="32" name="Shape 29">
            <a:extLst xmlns:a="http://schemas.openxmlformats.org/drawingml/2006/main">
              <a:ext uri="{FF2B5EF4-FFF2-40B4-BE49-F238E27FC236}">
                <a16:creationId xmlns:a16="http://schemas.microsoft.com/office/drawing/2014/main" id="{15EA6D62-BA55-47FD-87AD-D911E2685D2B}"/>
              </a:ext>
            </a:extLst>
          </p:cNvPr>
          <p:cNvSpPr>
            <a:spLocks xmlns:a="http://schemas.openxmlformats.org/drawingml/2006/main" noGrp="1"/>
          </p:cNvSpPr>
          <p:nvPr/>
        </p:nvSpPr>
        <p:spPr>
          <a:xfrm xmlns:a="http://schemas.openxmlformats.org/drawingml/2006/main">
            <a:off x="5129784" y="2953512"/>
            <a:ext cx="1920240" cy="1920240"/>
          </a:xfrm>
          <a:prstGeom xmlns:a="http://schemas.openxmlformats.org/drawingml/2006/main" prst="ellipse">
            <a:avLst/>
          </a:prstGeom>
          <a:solidFill xmlns:a="http://schemas.openxmlformats.org/drawingml/2006/main">
            <a:srgbClr val="1D2A5C"/>
          </a:solidFill>
          <a:ln xmlns:a="http://schemas.openxmlformats.org/drawingml/2006/main" w="31750">
            <a:solidFill>
              <a:srgbClr val="00A79D"/>
            </a:solidFill>
            <a:prstDash val="solid"/>
          </a:ln>
        </p:spPr>
      </p:sp>
      <p:sp>
        <p:nvSpPr>
          <p:cNvPr id="33" name="Text 30">
            <a:extLst xmlns:a="http://schemas.openxmlformats.org/drawingml/2006/main">
              <a:ext uri="{FF2B5EF4-FFF2-40B4-BE49-F238E27FC236}">
                <a16:creationId xmlns:a16="http://schemas.microsoft.com/office/drawing/2014/main" id="{322D5FB7-66D2-4D3B-A975-5109AAD54DFB}"/>
              </a:ext>
            </a:extLst>
          </p:cNvPr>
          <p:cNvSpPr>
            <a:spLocks xmlns:a="http://schemas.openxmlformats.org/drawingml/2006/main" noGrp="1"/>
          </p:cNvSpPr>
          <p:nvPr/>
        </p:nvSpPr>
        <p:spPr>
          <a:xfrm xmlns:a="http://schemas.openxmlformats.org/drawingml/2006/main">
            <a:off x="5221224" y="3044952"/>
            <a:ext cx="1737360" cy="1737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GitHub Actions</a:t>
            </a:r>
            <a:endParaRPr sz="1400"/>
          </a:p>
        </p:txBody>
      </p:sp>
    </p:spTree>
    <p:extLst>
      <p:ext uri="{BB962C8B-B14F-4D97-AF65-F5344CB8AC3E}">
        <p14:creationId xmlns:p14="http://schemas.microsoft.com/office/powerpoint/2010/main" val="1583326276"/>
      </p:ext>
    </p:extLst>
  </p:cSld>
</p:sld>
</file>

<file path=ppt/slides/slide10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95B4B7A-A790-44D9-8976-AB807147F04B}"/>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ci.yml — triggers, permissions, concurrency</a:t>
            </a:r>
            <a:endParaRPr sz="2600"/>
          </a:p>
        </p:txBody>
      </p:sp>
      <p:sp>
        <p:nvSpPr>
          <p:cNvPr id="3" name="Text 1">
            <a:extLst xmlns:a="http://schemas.openxmlformats.org/drawingml/2006/main">
              <a:ext uri="{FF2B5EF4-FFF2-40B4-BE49-F238E27FC236}">
                <a16:creationId xmlns:a16="http://schemas.microsoft.com/office/drawing/2014/main" id="{E004F0DE-8E37-402B-A0D8-6C082DB8238C}"/>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ci.yml — المشغلات والصلاحيات والتزامن</a:t>
            </a:r>
            <a:endParaRPr sz="1300"/>
          </a:p>
        </p:txBody>
      </p:sp>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37ad15bee4414019"/>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F77A8F0F-7F7C-4075-90B6-062F9FFD0730}"/>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DE50704A-2EAC-4E4D-83FB-618E834C70A5}"/>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5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7D93D9A3-807A-420C-9DAC-A7FBBC07212C}"/>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109</a:t>
            </a:r>
            <a:endParaRPr sz="850"/>
          </a:p>
        </p:txBody>
      </p:sp>
      <p:sp>
        <p:nvSpPr>
          <p:cNvPr id="8" name="Shape 5">
            <a:extLst xmlns:a="http://schemas.openxmlformats.org/drawingml/2006/main">
              <a:ext uri="{FF2B5EF4-FFF2-40B4-BE49-F238E27FC236}">
                <a16:creationId xmlns:a16="http://schemas.microsoft.com/office/drawing/2014/main" id="{030F1B88-DDAF-4C3D-B015-681B46FF3C4E}"/>
              </a:ext>
            </a:extLst>
          </p:cNvPr>
          <p:cNvSpPr>
            <a:spLocks xmlns:a="http://schemas.openxmlformats.org/drawingml/2006/main" noGrp="1"/>
          </p:cNvSpPr>
          <p:nvPr/>
        </p:nvSpPr>
        <p:spPr>
          <a:xfrm xmlns:a="http://schemas.openxmlformats.org/drawingml/2006/main">
            <a:off x="502920" y="1481328"/>
            <a:ext cx="7635240" cy="4617720"/>
          </a:xfrm>
          <a:prstGeom xmlns:a="http://schemas.openxmlformats.org/drawingml/2006/main" prst="roundRect">
            <a:avLst>
              <a:gd name="adj" fmla="val 1584"/>
            </a:avLst>
          </a:prstGeom>
          <a:solidFill xmlns:a="http://schemas.openxmlformats.org/drawingml/2006/main">
            <a:srgbClr val="1A2233"/>
          </a:solidFill>
        </p:spPr>
      </p:sp>
      <p:sp>
        <p:nvSpPr>
          <p:cNvPr id="9" name="Shape 6">
            <a:extLst xmlns:a="http://schemas.openxmlformats.org/drawingml/2006/main">
              <a:ext uri="{FF2B5EF4-FFF2-40B4-BE49-F238E27FC236}">
                <a16:creationId xmlns:a16="http://schemas.microsoft.com/office/drawing/2014/main" id="{3C39C832-76EE-4A07-994D-3A69FF3988AA}"/>
              </a:ext>
            </a:extLst>
          </p:cNvPr>
          <p:cNvSpPr>
            <a:spLocks xmlns:a="http://schemas.openxmlformats.org/drawingml/2006/main" noGrp="1"/>
          </p:cNvSpPr>
          <p:nvPr/>
        </p:nvSpPr>
        <p:spPr>
          <a:xfrm xmlns:a="http://schemas.openxmlformats.org/drawingml/2006/main">
            <a:off x="731520" y="1664208"/>
            <a:ext cx="109728" cy="109728"/>
          </a:xfrm>
          <a:prstGeom xmlns:a="http://schemas.openxmlformats.org/drawingml/2006/main" prst="ellipse">
            <a:avLst/>
          </a:prstGeom>
          <a:solidFill xmlns:a="http://schemas.openxmlformats.org/drawingml/2006/main">
            <a:srgbClr val="E8503A"/>
          </a:solidFill>
        </p:spPr>
      </p:sp>
      <p:sp>
        <p:nvSpPr>
          <p:cNvPr id="10" name="Shape 7">
            <a:extLst xmlns:a="http://schemas.openxmlformats.org/drawingml/2006/main">
              <a:ext uri="{FF2B5EF4-FFF2-40B4-BE49-F238E27FC236}">
                <a16:creationId xmlns:a16="http://schemas.microsoft.com/office/drawing/2014/main" id="{8B39A488-E35B-4997-8638-14830836F39B}"/>
              </a:ext>
            </a:extLst>
          </p:cNvPr>
          <p:cNvSpPr>
            <a:spLocks xmlns:a="http://schemas.openxmlformats.org/drawingml/2006/main" noGrp="1"/>
          </p:cNvSpPr>
          <p:nvPr/>
        </p:nvSpPr>
        <p:spPr>
          <a:xfrm xmlns:a="http://schemas.openxmlformats.org/drawingml/2006/main">
            <a:off x="932688" y="1664208"/>
            <a:ext cx="109728" cy="109728"/>
          </a:xfrm>
          <a:prstGeom xmlns:a="http://schemas.openxmlformats.org/drawingml/2006/main" prst="ellipse">
            <a:avLst/>
          </a:prstGeom>
          <a:solidFill xmlns:a="http://schemas.openxmlformats.org/drawingml/2006/main">
            <a:srgbClr val="F5B820"/>
          </a:solidFill>
        </p:spPr>
      </p:sp>
      <p:sp>
        <p:nvSpPr>
          <p:cNvPr id="11" name="Shape 8">
            <a:extLst xmlns:a="http://schemas.openxmlformats.org/drawingml/2006/main">
              <a:ext uri="{FF2B5EF4-FFF2-40B4-BE49-F238E27FC236}">
                <a16:creationId xmlns:a16="http://schemas.microsoft.com/office/drawing/2014/main" id="{24FC697D-1D9E-41B4-B5B9-85A408849078}"/>
              </a:ext>
            </a:extLst>
          </p:cNvPr>
          <p:cNvSpPr>
            <a:spLocks xmlns:a="http://schemas.openxmlformats.org/drawingml/2006/main" noGrp="1"/>
          </p:cNvSpPr>
          <p:nvPr/>
        </p:nvSpPr>
        <p:spPr>
          <a:xfrm xmlns:a="http://schemas.openxmlformats.org/drawingml/2006/main">
            <a:off x="1133856" y="1664208"/>
            <a:ext cx="109728" cy="109728"/>
          </a:xfrm>
          <a:prstGeom xmlns:a="http://schemas.openxmlformats.org/drawingml/2006/main" prst="ellipse">
            <a:avLst/>
          </a:prstGeom>
          <a:solidFill xmlns:a="http://schemas.openxmlformats.org/drawingml/2006/main">
            <a:srgbClr val="8DC63F"/>
          </a:solidFill>
        </p:spPr>
      </p:sp>
      <p:sp>
        <p:nvSpPr>
          <p:cNvPr id="12" name="Text 9">
            <a:extLst xmlns:a="http://schemas.openxmlformats.org/drawingml/2006/main">
              <a:ext uri="{FF2B5EF4-FFF2-40B4-BE49-F238E27FC236}">
                <a16:creationId xmlns:a16="http://schemas.microsoft.com/office/drawing/2014/main" id="{B8DF1C5D-39B5-4771-B992-91AB3548F3A7}"/>
              </a:ext>
            </a:extLst>
          </p:cNvPr>
          <p:cNvSpPr>
            <a:spLocks xmlns:a="http://schemas.openxmlformats.org/drawingml/2006/main" noGrp="1"/>
          </p:cNvSpPr>
          <p:nvPr/>
        </p:nvSpPr>
        <p:spPr>
          <a:xfrm xmlns:a="http://schemas.openxmlformats.org/drawingml/2006/main">
            <a:off x="4526280" y="1609344"/>
            <a:ext cx="32918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6C8"/>
                </a:solidFill>
                <a:latin typeface="Consolas"/>
                <a:ea typeface="Consolas"/>
                <a:cs typeface="Consolas"/>
              </a:rPr>
              <a:t>.github/workflows/ci.yml</a:t>
            </a:r>
            <a:endParaRPr sz="900"/>
          </a:p>
        </p:txBody>
      </p:sp>
      <p:sp>
        <p:nvSpPr>
          <p:cNvPr id="13" name="Text 10">
            <a:extLst xmlns:a="http://schemas.openxmlformats.org/drawingml/2006/main">
              <a:ext uri="{FF2B5EF4-FFF2-40B4-BE49-F238E27FC236}">
                <a16:creationId xmlns:a16="http://schemas.microsoft.com/office/drawing/2014/main" id="{9D81D6A8-7780-4616-A458-7D2E96BCCB5F}"/>
              </a:ext>
            </a:extLst>
          </p:cNvPr>
          <p:cNvSpPr>
            <a:spLocks xmlns:a="http://schemas.openxmlformats.org/drawingml/2006/main" noGrp="1"/>
          </p:cNvSpPr>
          <p:nvPr/>
        </p:nvSpPr>
        <p:spPr>
          <a:xfrm xmlns:a="http://schemas.openxmlformats.org/drawingml/2006/main">
            <a:off x="713232" y="1965960"/>
            <a:ext cx="717804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100">
                <a:solidFill>
                  <a:srgbClr val="D9E4F5"/>
                </a:solidFill>
                <a:latin typeface="Consolas"/>
                <a:ea typeface="Consolas"/>
                <a:cs typeface="Consolas"/>
              </a:rPr>
              <a:t>name: ci</a:t>
            </a:r>
            <a:endParaRPr sz="1100"/>
          </a:p>
          <a:p xmlns:a="http://schemas.openxmlformats.org/drawingml/2006/main">
            <a:pPr marL="0" indent="0">
              <a:lnSpc>
                <a:spcPct val="112000"/>
              </a:lnSpc>
              <a:buNone/>
            </a:pPr>
            <a:r>
              <a:rPr sz="1100">
                <a:solidFill>
                  <a:srgbClr val="D9E4F5"/>
                </a:solidFill>
                <a:latin typeface="Consolas"/>
                <a:ea typeface="Consolas"/>
                <a:cs typeface="Consolas"/>
              </a:rPr>
              <a:t>on:</a:t>
            </a:r>
            <a:endParaRPr sz="1100"/>
          </a:p>
          <a:p xmlns:a="http://schemas.openxmlformats.org/drawingml/2006/main">
            <a:pPr marL="0" indent="0">
              <a:lnSpc>
                <a:spcPct val="112000"/>
              </a:lnSpc>
              <a:buNone/>
            </a:pPr>
            <a:r>
              <a:rPr sz="1100">
                <a:solidFill>
                  <a:srgbClr val="D9E4F5"/>
                </a:solidFill>
                <a:latin typeface="Consolas"/>
                <a:ea typeface="Consolas"/>
                <a:cs typeface="Consolas"/>
              </a:rPr>
              <a:t>  pull_request:                # gates for every PR</a:t>
            </a:r>
            <a:endParaRPr sz="1100"/>
          </a:p>
          <a:p xmlns:a="http://schemas.openxmlformats.org/drawingml/2006/main">
            <a:pPr marL="0" indent="0">
              <a:lnSpc>
                <a:spcPct val="112000"/>
              </a:lnSpc>
              <a:buNone/>
            </a:pPr>
            <a:r>
              <a:rPr sz="1100">
                <a:solidFill>
                  <a:srgbClr val="D9E4F5"/>
                </a:solidFill>
                <a:latin typeface="Consolas"/>
                <a:ea typeface="Consolas"/>
                <a:cs typeface="Consolas"/>
              </a:rPr>
              <a:t>  push:</a:t>
            </a:r>
            <a:endParaRPr sz="1100"/>
          </a:p>
          <a:p xmlns:a="http://schemas.openxmlformats.org/drawingml/2006/main">
            <a:pPr marL="0" indent="0">
              <a:lnSpc>
                <a:spcPct val="112000"/>
              </a:lnSpc>
              <a:buNone/>
            </a:pPr>
            <a:r>
              <a:rPr sz="1100">
                <a:solidFill>
                  <a:srgbClr val="D9E4F5"/>
                </a:solidFill>
                <a:latin typeface="Consolas"/>
                <a:ea typeface="Consolas"/>
                <a:cs typeface="Consolas"/>
              </a:rPr>
              <a:t>    branches: [main]           # main also builds + pushes</a:t>
            </a:r>
            <a:endParaRPr sz="1100"/>
          </a:p>
          <a:p xmlns:a="http://schemas.openxmlformats.org/drawingml/2006/main">
            <a:pPr marL="0" indent="0">
              <a:lnSpc>
                <a:spcPct val="112000"/>
              </a:lnSpc>
              <a:buNone/>
            </a:pPr>
            <a:r>
              <a:rPr sz="1100">
                <a:solidFill>
                  <a:srgbClr val="D9E4F5"/>
                </a:solidFill>
                <a:latin typeface="Consolas"/>
                <a:ea typeface="Consolas"/>
                <a:cs typeface="Consolas"/>
              </a:rPr>
              <a:t>  workflow_dispatch:           # manual demo / hotfix runs</a:t>
            </a:r>
            <a:endParaRPr sz="1100"/>
          </a:p>
          <a:p xmlns:a="http://schemas.openxmlformats.org/drawingml/2006/main">
            <a:pPr marL="0" indent="0">
              <a:lnSpc>
                <a:spcPct val="112000"/>
              </a:lnSpc>
              <a:buNone/>
            </a:pPr>
            <a:r>
              <a:rPr sz="1100">
                <a:solidFill>
                  <a:srgbClr val="D9E4F5"/>
                </a:solidFill>
                <a:latin typeface="Consolas"/>
                <a:ea typeface="Consolas"/>
                <a:cs typeface="Consolas"/>
              </a:rPr>
              <a:t>permissions:</a:t>
            </a:r>
            <a:endParaRPr sz="1100"/>
          </a:p>
          <a:p xmlns:a="http://schemas.openxmlformats.org/drawingml/2006/main">
            <a:pPr marL="0" indent="0">
              <a:lnSpc>
                <a:spcPct val="112000"/>
              </a:lnSpc>
              <a:buNone/>
            </a:pPr>
            <a:r>
              <a:rPr sz="1100">
                <a:solidFill>
                  <a:srgbClr val="D9E4F5"/>
                </a:solidFill>
                <a:latin typeface="Consolas"/>
                <a:ea typeface="Consolas"/>
                <a:cs typeface="Consolas"/>
              </a:rPr>
              <a:t>  contents: read               # least privilege default</a:t>
            </a:r>
            <a:endParaRPr sz="1100"/>
          </a:p>
          <a:p xmlns:a="http://schemas.openxmlformats.org/drawingml/2006/main">
            <a:pPr marL="0" indent="0">
              <a:lnSpc>
                <a:spcPct val="112000"/>
              </a:lnSpc>
              <a:buNone/>
            </a:pPr>
            <a:r>
              <a:rPr sz="1100">
                <a:solidFill>
                  <a:srgbClr val="D9E4F5"/>
                </a:solidFill>
                <a:latin typeface="Consolas"/>
                <a:ea typeface="Consolas"/>
                <a:cs typeface="Consolas"/>
              </a:rPr>
              <a:t>concurrency:</a:t>
            </a:r>
            <a:endParaRPr sz="1100"/>
          </a:p>
          <a:p xmlns:a="http://schemas.openxmlformats.org/drawingml/2006/main">
            <a:pPr marL="0" indent="0">
              <a:lnSpc>
                <a:spcPct val="112000"/>
              </a:lnSpc>
              <a:buNone/>
            </a:pPr>
            <a:r>
              <a:rPr sz="1100">
                <a:solidFill>
                  <a:srgbClr val="D9E4F5"/>
                </a:solidFill>
                <a:latin typeface="Consolas"/>
                <a:ea typeface="Consolas"/>
                <a:cs typeface="Consolas"/>
              </a:rPr>
              <a:t>  group: ci-${{ github.ref }}  # cancel superseded runs</a:t>
            </a:r>
            <a:endParaRPr sz="1100"/>
          </a:p>
          <a:p xmlns:a="http://schemas.openxmlformats.org/drawingml/2006/main">
            <a:pPr marL="0" indent="0">
              <a:lnSpc>
                <a:spcPct val="112000"/>
              </a:lnSpc>
              <a:buNone/>
            </a:pPr>
            <a:r>
              <a:rPr sz="1100">
                <a:solidFill>
                  <a:srgbClr val="D9E4F5"/>
                </a:solidFill>
                <a:latin typeface="Consolas"/>
                <a:ea typeface="Consolas"/>
                <a:cs typeface="Consolas"/>
              </a:rPr>
              <a:t>  cancel-in-progress: true</a:t>
            </a:r>
            <a:endParaRPr sz="1100"/>
          </a:p>
          <a:p xmlns:a="http://schemas.openxmlformats.org/drawingml/2006/main">
            <a:pPr marL="0" indent="0">
              <a:lnSpc>
                <a:spcPct val="112000"/>
              </a:lnSpc>
              <a:buNone/>
            </a:pPr>
            <a:r>
              <a:rPr sz="1100">
                <a:solidFill>
                  <a:srgbClr val="D9E4F5"/>
                </a:solidFill>
                <a:latin typeface="Consolas"/>
                <a:ea typeface="Consolas"/>
                <a:cs typeface="Consolas"/>
              </a:rPr>
              <a:t>env:</a:t>
            </a:r>
            <a:endParaRPr sz="1100"/>
          </a:p>
          <a:p xmlns:a="http://schemas.openxmlformats.org/drawingml/2006/main">
            <a:pPr marL="0" indent="0">
              <a:lnSpc>
                <a:spcPct val="112000"/>
              </a:lnSpc>
              <a:buNone/>
            </a:pPr>
            <a:r>
              <a:rPr sz="1100">
                <a:solidFill>
                  <a:srgbClr val="D9E4F5"/>
                </a:solidFill>
                <a:latin typeface="Consolas"/>
                <a:ea typeface="Consolas"/>
                <a:cs typeface="Consolas"/>
              </a:rPr>
              <a:t>  PYTHON_VERSION: "3.12"</a:t>
            </a:r>
            <a:endParaRPr sz="1100"/>
          </a:p>
          <a:p xmlns:a="http://schemas.openxmlformats.org/drawingml/2006/main">
            <a:pPr marL="0" indent="0">
              <a:lnSpc>
                <a:spcPct val="112000"/>
              </a:lnSpc>
              <a:buNone/>
            </a:pPr>
            <a:r>
              <a:rPr sz="1100">
                <a:solidFill>
                  <a:srgbClr val="D9E4F5"/>
                </a:solidFill>
                <a:latin typeface="Consolas"/>
                <a:ea typeface="Consolas"/>
                <a:cs typeface="Consolas"/>
              </a:rPr>
              <a:t>  IMAGE: ghcr.io/${{ github.repository }}</a:t>
            </a:r>
            <a:endParaRPr sz="1100"/>
          </a:p>
        </p:txBody>
      </p:sp>
      <p:sp>
        <p:nvSpPr>
          <p:cNvPr id="14" name="Shape 11">
            <a:extLst xmlns:a="http://schemas.openxmlformats.org/drawingml/2006/main">
              <a:ext uri="{FF2B5EF4-FFF2-40B4-BE49-F238E27FC236}">
                <a16:creationId xmlns:a16="http://schemas.microsoft.com/office/drawing/2014/main" id="{E6CA6C90-9934-4BFA-ACCA-5044B4E71D0B}"/>
              </a:ext>
            </a:extLst>
          </p:cNvPr>
          <p:cNvSpPr>
            <a:spLocks xmlns:a="http://schemas.openxmlformats.org/drawingml/2006/main" noGrp="1"/>
          </p:cNvSpPr>
          <p:nvPr/>
        </p:nvSpPr>
        <p:spPr>
          <a:xfrm xmlns:a="http://schemas.openxmlformats.org/drawingml/2006/main">
            <a:off x="8321040" y="1481328"/>
            <a:ext cx="3364992" cy="1402080"/>
          </a:xfrm>
          <a:prstGeom xmlns:a="http://schemas.openxmlformats.org/drawingml/2006/main" prst="roundRect">
            <a:avLst>
              <a:gd name="adj" fmla="val 3913"/>
            </a:avLst>
          </a:prstGeom>
          <a:solidFill xmlns:a="http://schemas.openxmlformats.org/drawingml/2006/main">
            <a:srgbClr val="D4F1EE"/>
          </a:solidFill>
        </p:spPr>
      </p:sp>
      <p:sp>
        <p:nvSpPr>
          <p:cNvPr id="15" name="Text 12">
            <a:extLst xmlns:a="http://schemas.openxmlformats.org/drawingml/2006/main">
              <a:ext uri="{FF2B5EF4-FFF2-40B4-BE49-F238E27FC236}">
                <a16:creationId xmlns:a16="http://schemas.microsoft.com/office/drawing/2014/main" id="{C3343E6B-3E1F-42BE-BC9D-F7F9B2757330}"/>
              </a:ext>
            </a:extLst>
          </p:cNvPr>
          <p:cNvSpPr>
            <a:spLocks xmlns:a="http://schemas.openxmlformats.org/drawingml/2006/main" noGrp="1"/>
          </p:cNvSpPr>
          <p:nvPr/>
        </p:nvSpPr>
        <p:spPr>
          <a:xfrm xmlns:a="http://schemas.openxmlformats.org/drawingml/2006/main">
            <a:off x="8485632" y="157276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Three triggers</a:t>
            </a:r>
            <a:endParaRPr sz="1050"/>
          </a:p>
        </p:txBody>
      </p:sp>
      <p:sp>
        <p:nvSpPr>
          <p:cNvPr id="16" name="Text 13">
            <a:extLst xmlns:a="http://schemas.openxmlformats.org/drawingml/2006/main">
              <a:ext uri="{FF2B5EF4-FFF2-40B4-BE49-F238E27FC236}">
                <a16:creationId xmlns:a16="http://schemas.microsoft.com/office/drawing/2014/main" id="{824BE8C7-3655-439D-8755-0EF4142F8762}"/>
              </a:ext>
            </a:extLst>
          </p:cNvPr>
          <p:cNvSpPr>
            <a:spLocks xmlns:a="http://schemas.openxmlformats.org/drawingml/2006/main" noGrp="1"/>
          </p:cNvSpPr>
          <p:nvPr/>
        </p:nvSpPr>
        <p:spPr>
          <a:xfrm xmlns:a="http://schemas.openxmlformats.org/drawingml/2006/main">
            <a:off x="8485632" y="184708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PR gates every change; push to main also ships; workflow_dispatch enables manual demo and hotfix rebuilds.</a:t>
            </a:r>
            <a:endParaRPr sz="930"/>
          </a:p>
        </p:txBody>
      </p:sp>
      <p:sp>
        <p:nvSpPr>
          <p:cNvPr id="17" name="Shape 14">
            <a:extLst xmlns:a="http://schemas.openxmlformats.org/drawingml/2006/main">
              <a:ext uri="{FF2B5EF4-FFF2-40B4-BE49-F238E27FC236}">
                <a16:creationId xmlns:a16="http://schemas.microsoft.com/office/drawing/2014/main" id="{1889E679-FF6C-4366-8A14-8C52DF5452E0}"/>
              </a:ext>
            </a:extLst>
          </p:cNvPr>
          <p:cNvSpPr>
            <a:spLocks xmlns:a="http://schemas.openxmlformats.org/drawingml/2006/main" noGrp="1"/>
          </p:cNvSpPr>
          <p:nvPr/>
        </p:nvSpPr>
        <p:spPr>
          <a:xfrm xmlns:a="http://schemas.openxmlformats.org/drawingml/2006/main">
            <a:off x="8321040" y="3020568"/>
            <a:ext cx="3364992" cy="1402080"/>
          </a:xfrm>
          <a:prstGeom xmlns:a="http://schemas.openxmlformats.org/drawingml/2006/main" prst="roundRect">
            <a:avLst>
              <a:gd name="adj" fmla="val 3913"/>
            </a:avLst>
          </a:prstGeom>
          <a:solidFill xmlns:a="http://schemas.openxmlformats.org/drawingml/2006/main">
            <a:srgbClr val="D9F0FA"/>
          </a:solidFill>
        </p:spPr>
      </p:sp>
      <p:sp>
        <p:nvSpPr>
          <p:cNvPr id="18" name="Text 15">
            <a:extLst xmlns:a="http://schemas.openxmlformats.org/drawingml/2006/main">
              <a:ext uri="{FF2B5EF4-FFF2-40B4-BE49-F238E27FC236}">
                <a16:creationId xmlns:a16="http://schemas.microsoft.com/office/drawing/2014/main" id="{F049D6E6-CF98-4D6C-ACB9-3C963EC1FD74}"/>
              </a:ext>
            </a:extLst>
          </p:cNvPr>
          <p:cNvSpPr>
            <a:spLocks xmlns:a="http://schemas.openxmlformats.org/drawingml/2006/main" noGrp="1"/>
          </p:cNvSpPr>
          <p:nvPr/>
        </p:nvSpPr>
        <p:spPr>
          <a:xfrm xmlns:a="http://schemas.openxmlformats.org/drawingml/2006/main">
            <a:off x="8485632" y="311200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Least privilege</a:t>
            </a:r>
            <a:endParaRPr sz="1050"/>
          </a:p>
        </p:txBody>
      </p:sp>
      <p:sp>
        <p:nvSpPr>
          <p:cNvPr id="19" name="Text 16">
            <a:extLst xmlns:a="http://schemas.openxmlformats.org/drawingml/2006/main">
              <a:ext uri="{FF2B5EF4-FFF2-40B4-BE49-F238E27FC236}">
                <a16:creationId xmlns:a16="http://schemas.microsoft.com/office/drawing/2014/main" id="{FEB60E18-FB8A-42FE-BEA3-8032DC6837AC}"/>
              </a:ext>
            </a:extLst>
          </p:cNvPr>
          <p:cNvSpPr>
            <a:spLocks xmlns:a="http://schemas.openxmlformats.org/drawingml/2006/main" noGrp="1"/>
          </p:cNvSpPr>
          <p:nvPr/>
        </p:nvSpPr>
        <p:spPr>
          <a:xfrm xmlns:a="http://schemas.openxmlformats.org/drawingml/2006/main">
            <a:off x="8485632" y="338632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contents: read by default. Widen permissions per job, never blanket at the workflow level.</a:t>
            </a:r>
            <a:endParaRPr sz="930"/>
          </a:p>
        </p:txBody>
      </p:sp>
      <p:sp>
        <p:nvSpPr>
          <p:cNvPr id="20" name="Shape 17">
            <a:extLst xmlns:a="http://schemas.openxmlformats.org/drawingml/2006/main">
              <a:ext uri="{FF2B5EF4-FFF2-40B4-BE49-F238E27FC236}">
                <a16:creationId xmlns:a16="http://schemas.microsoft.com/office/drawing/2014/main" id="{7E80E916-67FB-4DEE-8C92-CC5719866D3D}"/>
              </a:ext>
            </a:extLst>
          </p:cNvPr>
          <p:cNvSpPr>
            <a:spLocks xmlns:a="http://schemas.openxmlformats.org/drawingml/2006/main" noGrp="1"/>
          </p:cNvSpPr>
          <p:nvPr/>
        </p:nvSpPr>
        <p:spPr>
          <a:xfrm xmlns:a="http://schemas.openxmlformats.org/drawingml/2006/main">
            <a:off x="8321040" y="4559808"/>
            <a:ext cx="3364992" cy="1402080"/>
          </a:xfrm>
          <a:prstGeom xmlns:a="http://schemas.openxmlformats.org/drawingml/2006/main" prst="roundRect">
            <a:avLst>
              <a:gd name="adj" fmla="val 3913"/>
            </a:avLst>
          </a:prstGeom>
          <a:solidFill xmlns:a="http://schemas.openxmlformats.org/drawingml/2006/main">
            <a:srgbClr val="FDEBD7"/>
          </a:solidFill>
        </p:spPr>
      </p:sp>
      <p:sp>
        <p:nvSpPr>
          <p:cNvPr id="21" name="Text 18">
            <a:extLst xmlns:a="http://schemas.openxmlformats.org/drawingml/2006/main">
              <a:ext uri="{FF2B5EF4-FFF2-40B4-BE49-F238E27FC236}">
                <a16:creationId xmlns:a16="http://schemas.microsoft.com/office/drawing/2014/main" id="{46F7A453-CB49-4191-9229-018451FA4635}"/>
              </a:ext>
            </a:extLst>
          </p:cNvPr>
          <p:cNvSpPr>
            <a:spLocks xmlns:a="http://schemas.openxmlformats.org/drawingml/2006/main" noGrp="1"/>
          </p:cNvSpPr>
          <p:nvPr/>
        </p:nvSpPr>
        <p:spPr>
          <a:xfrm xmlns:a="http://schemas.openxmlformats.org/drawingml/2006/main">
            <a:off x="8485632" y="465124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concurrency</a:t>
            </a:r>
            <a:endParaRPr sz="1050"/>
          </a:p>
        </p:txBody>
      </p:sp>
      <p:sp>
        <p:nvSpPr>
          <p:cNvPr id="22" name="Text 19">
            <a:extLst xmlns:a="http://schemas.openxmlformats.org/drawingml/2006/main">
              <a:ext uri="{FF2B5EF4-FFF2-40B4-BE49-F238E27FC236}">
                <a16:creationId xmlns:a16="http://schemas.microsoft.com/office/drawing/2014/main" id="{CE2CD165-5A80-4900-ACE9-DED2317E0831}"/>
              </a:ext>
            </a:extLst>
          </p:cNvPr>
          <p:cNvSpPr>
            <a:spLocks xmlns:a="http://schemas.openxmlformats.org/drawingml/2006/main" noGrp="1"/>
          </p:cNvSpPr>
          <p:nvPr/>
        </p:nvSpPr>
        <p:spPr>
          <a:xfrm xmlns:a="http://schemas.openxmlformats.org/drawingml/2006/main">
            <a:off x="8485632" y="492556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cancel-in-progress kills superseded runs on the same branch — saves runner minutes and queue time.</a:t>
            </a:r>
            <a:endParaRPr sz="930"/>
          </a:p>
        </p:txBody>
      </p:sp>
    </p:spTree>
    <p:extLst>
      <p:ext uri="{BB962C8B-B14F-4D97-AF65-F5344CB8AC3E}">
        <p14:creationId xmlns:p14="http://schemas.microsoft.com/office/powerpoint/2010/main" val="140626923"/>
      </p:ext>
    </p:extLst>
  </p:cSld>
</p:sld>
</file>

<file path=ppt/slides/slide1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434E001-E35E-44F6-82E8-4BADEB237218}"/>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The lint job — cheapest gate first</a:t>
            </a:r>
            <a:endParaRPr sz="2600"/>
          </a:p>
        </p:txBody>
      </p:sp>
      <p:sp>
        <p:nvSpPr>
          <p:cNvPr id="3" name="Text 1">
            <a:extLst xmlns:a="http://schemas.openxmlformats.org/drawingml/2006/main">
              <a:ext uri="{FF2B5EF4-FFF2-40B4-BE49-F238E27FC236}">
                <a16:creationId xmlns:a16="http://schemas.microsoft.com/office/drawing/2014/main" id="{FC716019-CE91-401A-9CEA-A4D330B7F584}"/>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مهمة الفحص — أرخص بوابة أولاً</a:t>
            </a:r>
            <a:endParaRPr sz="1300"/>
          </a:p>
        </p:txBody>
      </p:sp>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8ea0a41413f54919"/>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6EE25744-9ED2-4BD7-8627-29DF5B84D2D2}"/>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E9967C02-8516-426B-90B0-545E8AE0C486}"/>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5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20D73164-0758-457C-B2D0-9A78044D99DC}"/>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110</a:t>
            </a:r>
            <a:endParaRPr sz="850"/>
          </a:p>
        </p:txBody>
      </p:sp>
      <p:sp>
        <p:nvSpPr>
          <p:cNvPr id="8" name="Shape 5">
            <a:extLst xmlns:a="http://schemas.openxmlformats.org/drawingml/2006/main">
              <a:ext uri="{FF2B5EF4-FFF2-40B4-BE49-F238E27FC236}">
                <a16:creationId xmlns:a16="http://schemas.microsoft.com/office/drawing/2014/main" id="{971D1AA4-1F6F-49DC-A231-4795B8FB4905}"/>
              </a:ext>
            </a:extLst>
          </p:cNvPr>
          <p:cNvSpPr>
            <a:spLocks xmlns:a="http://schemas.openxmlformats.org/drawingml/2006/main" noGrp="1"/>
          </p:cNvSpPr>
          <p:nvPr/>
        </p:nvSpPr>
        <p:spPr>
          <a:xfrm xmlns:a="http://schemas.openxmlformats.org/drawingml/2006/main">
            <a:off x="502920" y="1481328"/>
            <a:ext cx="7635240" cy="4617720"/>
          </a:xfrm>
          <a:prstGeom xmlns:a="http://schemas.openxmlformats.org/drawingml/2006/main" prst="roundRect">
            <a:avLst>
              <a:gd name="adj" fmla="val 1584"/>
            </a:avLst>
          </a:prstGeom>
          <a:solidFill xmlns:a="http://schemas.openxmlformats.org/drawingml/2006/main">
            <a:srgbClr val="1A2233"/>
          </a:solidFill>
        </p:spPr>
      </p:sp>
      <p:sp>
        <p:nvSpPr>
          <p:cNvPr id="9" name="Shape 6">
            <a:extLst xmlns:a="http://schemas.openxmlformats.org/drawingml/2006/main">
              <a:ext uri="{FF2B5EF4-FFF2-40B4-BE49-F238E27FC236}">
                <a16:creationId xmlns:a16="http://schemas.microsoft.com/office/drawing/2014/main" id="{B5F109A7-C8B2-4591-9B15-FE6286B1686A}"/>
              </a:ext>
            </a:extLst>
          </p:cNvPr>
          <p:cNvSpPr>
            <a:spLocks xmlns:a="http://schemas.openxmlformats.org/drawingml/2006/main" noGrp="1"/>
          </p:cNvSpPr>
          <p:nvPr/>
        </p:nvSpPr>
        <p:spPr>
          <a:xfrm xmlns:a="http://schemas.openxmlformats.org/drawingml/2006/main">
            <a:off x="731520" y="1664208"/>
            <a:ext cx="109728" cy="109728"/>
          </a:xfrm>
          <a:prstGeom xmlns:a="http://schemas.openxmlformats.org/drawingml/2006/main" prst="ellipse">
            <a:avLst/>
          </a:prstGeom>
          <a:solidFill xmlns:a="http://schemas.openxmlformats.org/drawingml/2006/main">
            <a:srgbClr val="E8503A"/>
          </a:solidFill>
        </p:spPr>
      </p:sp>
      <p:sp>
        <p:nvSpPr>
          <p:cNvPr id="10" name="Shape 7">
            <a:extLst xmlns:a="http://schemas.openxmlformats.org/drawingml/2006/main">
              <a:ext uri="{FF2B5EF4-FFF2-40B4-BE49-F238E27FC236}">
                <a16:creationId xmlns:a16="http://schemas.microsoft.com/office/drawing/2014/main" id="{BE1D690A-673F-467A-B176-603FB9FE9B6B}"/>
              </a:ext>
            </a:extLst>
          </p:cNvPr>
          <p:cNvSpPr>
            <a:spLocks xmlns:a="http://schemas.openxmlformats.org/drawingml/2006/main" noGrp="1"/>
          </p:cNvSpPr>
          <p:nvPr/>
        </p:nvSpPr>
        <p:spPr>
          <a:xfrm xmlns:a="http://schemas.openxmlformats.org/drawingml/2006/main">
            <a:off x="932688" y="1664208"/>
            <a:ext cx="109728" cy="109728"/>
          </a:xfrm>
          <a:prstGeom xmlns:a="http://schemas.openxmlformats.org/drawingml/2006/main" prst="ellipse">
            <a:avLst/>
          </a:prstGeom>
          <a:solidFill xmlns:a="http://schemas.openxmlformats.org/drawingml/2006/main">
            <a:srgbClr val="F5B820"/>
          </a:solidFill>
        </p:spPr>
      </p:sp>
      <p:sp>
        <p:nvSpPr>
          <p:cNvPr id="11" name="Shape 8">
            <a:extLst xmlns:a="http://schemas.openxmlformats.org/drawingml/2006/main">
              <a:ext uri="{FF2B5EF4-FFF2-40B4-BE49-F238E27FC236}">
                <a16:creationId xmlns:a16="http://schemas.microsoft.com/office/drawing/2014/main" id="{729018AD-6246-4C28-8593-F283F3874AC3}"/>
              </a:ext>
            </a:extLst>
          </p:cNvPr>
          <p:cNvSpPr>
            <a:spLocks xmlns:a="http://schemas.openxmlformats.org/drawingml/2006/main" noGrp="1"/>
          </p:cNvSpPr>
          <p:nvPr/>
        </p:nvSpPr>
        <p:spPr>
          <a:xfrm xmlns:a="http://schemas.openxmlformats.org/drawingml/2006/main">
            <a:off x="1133856" y="1664208"/>
            <a:ext cx="109728" cy="109728"/>
          </a:xfrm>
          <a:prstGeom xmlns:a="http://schemas.openxmlformats.org/drawingml/2006/main" prst="ellipse">
            <a:avLst/>
          </a:prstGeom>
          <a:solidFill xmlns:a="http://schemas.openxmlformats.org/drawingml/2006/main">
            <a:srgbClr val="8DC63F"/>
          </a:solidFill>
        </p:spPr>
      </p:sp>
      <p:sp>
        <p:nvSpPr>
          <p:cNvPr id="12" name="Text 9">
            <a:extLst xmlns:a="http://schemas.openxmlformats.org/drawingml/2006/main">
              <a:ext uri="{FF2B5EF4-FFF2-40B4-BE49-F238E27FC236}">
                <a16:creationId xmlns:a16="http://schemas.microsoft.com/office/drawing/2014/main" id="{F501299D-BF3F-45FB-91D5-DDD1F1F8AA3A}"/>
              </a:ext>
            </a:extLst>
          </p:cNvPr>
          <p:cNvSpPr>
            <a:spLocks xmlns:a="http://schemas.openxmlformats.org/drawingml/2006/main" noGrp="1"/>
          </p:cNvSpPr>
          <p:nvPr/>
        </p:nvSpPr>
        <p:spPr>
          <a:xfrm xmlns:a="http://schemas.openxmlformats.org/drawingml/2006/main">
            <a:off x="4526280" y="1609344"/>
            <a:ext cx="32918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6C8"/>
                </a:solidFill>
                <a:latin typeface="Consolas"/>
                <a:ea typeface="Consolas"/>
                <a:cs typeface="Consolas"/>
              </a:rPr>
              <a:t>.github/workflows/ci.yml</a:t>
            </a:r>
            <a:endParaRPr sz="900"/>
          </a:p>
        </p:txBody>
      </p:sp>
      <p:sp>
        <p:nvSpPr>
          <p:cNvPr id="13" name="Text 10">
            <a:extLst xmlns:a="http://schemas.openxmlformats.org/drawingml/2006/main">
              <a:ext uri="{FF2B5EF4-FFF2-40B4-BE49-F238E27FC236}">
                <a16:creationId xmlns:a16="http://schemas.microsoft.com/office/drawing/2014/main" id="{8DDEAB65-B6F2-40A8-881E-1EACDDF93866}"/>
              </a:ext>
            </a:extLst>
          </p:cNvPr>
          <p:cNvSpPr>
            <a:spLocks xmlns:a="http://schemas.openxmlformats.org/drawingml/2006/main" noGrp="1"/>
          </p:cNvSpPr>
          <p:nvPr/>
        </p:nvSpPr>
        <p:spPr>
          <a:xfrm xmlns:a="http://schemas.openxmlformats.org/drawingml/2006/main">
            <a:off x="713232" y="1965960"/>
            <a:ext cx="717804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100">
                <a:solidFill>
                  <a:srgbClr val="D9E4F5"/>
                </a:solidFill>
                <a:latin typeface="Consolas"/>
                <a:ea typeface="Consolas"/>
                <a:cs typeface="Consolas"/>
              </a:rPr>
              <a:t>jobs:</a:t>
            </a:r>
            <a:endParaRPr sz="1100"/>
          </a:p>
          <a:p xmlns:a="http://schemas.openxmlformats.org/drawingml/2006/main">
            <a:pPr marL="0" indent="0">
              <a:lnSpc>
                <a:spcPct val="112000"/>
              </a:lnSpc>
              <a:buNone/>
            </a:pPr>
            <a:r>
              <a:rPr sz="1100">
                <a:solidFill>
                  <a:srgbClr val="D9E4F5"/>
                </a:solidFill>
                <a:latin typeface="Consolas"/>
                <a:ea typeface="Consolas"/>
                <a:cs typeface="Consolas"/>
              </a:rPr>
              <a:t>  lint:                        # cheapest gate first</a:t>
            </a:r>
            <a:endParaRPr sz="1100"/>
          </a:p>
          <a:p xmlns:a="http://schemas.openxmlformats.org/drawingml/2006/main">
            <a:pPr marL="0" indent="0">
              <a:lnSpc>
                <a:spcPct val="112000"/>
              </a:lnSpc>
              <a:buNone/>
            </a:pPr>
            <a:r>
              <a:rPr sz="1100">
                <a:solidFill>
                  <a:srgbClr val="D9E4F5"/>
                </a:solidFill>
                <a:latin typeface="Consolas"/>
                <a:ea typeface="Consolas"/>
                <a:cs typeface="Consolas"/>
              </a:rPr>
              <a:t>    runs-on: ubuntu-latest</a:t>
            </a:r>
            <a:endParaRPr sz="1100"/>
          </a:p>
          <a:p xmlns:a="http://schemas.openxmlformats.org/drawingml/2006/main">
            <a:pPr marL="0" indent="0">
              <a:lnSpc>
                <a:spcPct val="112000"/>
              </a:lnSpc>
              <a:buNone/>
            </a:pPr>
            <a:r>
              <a:rPr sz="1100">
                <a:solidFill>
                  <a:srgbClr val="D9E4F5"/>
                </a:solidFill>
                <a:latin typeface="Consolas"/>
                <a:ea typeface="Consolas"/>
                <a:cs typeface="Consolas"/>
              </a:rPr>
              <a:t>    steps:</a:t>
            </a:r>
            <a:endParaRPr sz="1100"/>
          </a:p>
          <a:p xmlns:a="http://schemas.openxmlformats.org/drawingml/2006/main">
            <a:pPr marL="0" indent="0">
              <a:lnSpc>
                <a:spcPct val="112000"/>
              </a:lnSpc>
              <a:buNone/>
            </a:pPr>
            <a:r>
              <a:rPr sz="1100">
                <a:solidFill>
                  <a:srgbClr val="D9E4F5"/>
                </a:solidFill>
                <a:latin typeface="Consolas"/>
                <a:ea typeface="Consolas"/>
                <a:cs typeface="Consolas"/>
              </a:rPr>
              <a:t>      - uses: actions/checkout@v4</a:t>
            </a:r>
            <a:endParaRPr sz="1100"/>
          </a:p>
          <a:p xmlns:a="http://schemas.openxmlformats.org/drawingml/2006/main">
            <a:pPr marL="0" indent="0">
              <a:lnSpc>
                <a:spcPct val="112000"/>
              </a:lnSpc>
              <a:buNone/>
            </a:pPr>
            <a:r>
              <a:rPr sz="1100">
                <a:solidFill>
                  <a:srgbClr val="D9E4F5"/>
                </a:solidFill>
                <a:latin typeface="Consolas"/>
                <a:ea typeface="Consolas"/>
                <a:cs typeface="Consolas"/>
              </a:rPr>
              <a:t>      - uses: actions/setup-python@v5</a:t>
            </a:r>
            <a:endParaRPr sz="1100"/>
          </a:p>
          <a:p xmlns:a="http://schemas.openxmlformats.org/drawingml/2006/main">
            <a:pPr marL="0" indent="0">
              <a:lnSpc>
                <a:spcPct val="112000"/>
              </a:lnSpc>
              <a:buNone/>
            </a:pPr>
            <a:r>
              <a:rPr sz="1100">
                <a:solidFill>
                  <a:srgbClr val="D9E4F5"/>
                </a:solidFill>
                <a:latin typeface="Consolas"/>
                <a:ea typeface="Consolas"/>
                <a:cs typeface="Consolas"/>
              </a:rPr>
              <a:t>        with:</a:t>
            </a:r>
            <a:endParaRPr sz="1100"/>
          </a:p>
          <a:p xmlns:a="http://schemas.openxmlformats.org/drawingml/2006/main">
            <a:pPr marL="0" indent="0">
              <a:lnSpc>
                <a:spcPct val="112000"/>
              </a:lnSpc>
              <a:buNone/>
            </a:pPr>
            <a:r>
              <a:rPr sz="1100">
                <a:solidFill>
                  <a:srgbClr val="D9E4F5"/>
                </a:solidFill>
                <a:latin typeface="Consolas"/>
                <a:ea typeface="Consolas"/>
                <a:cs typeface="Consolas"/>
              </a:rPr>
              <a:t>          python-version: ${{ env.PYTHON_VERSION }}</a:t>
            </a:r>
            <a:endParaRPr sz="1100"/>
          </a:p>
          <a:p xmlns:a="http://schemas.openxmlformats.org/drawingml/2006/main">
            <a:pPr marL="0" indent="0">
              <a:lnSpc>
                <a:spcPct val="112000"/>
              </a:lnSpc>
              <a:buNone/>
            </a:pPr>
            <a:r>
              <a:rPr sz="1100">
                <a:solidFill>
                  <a:srgbClr val="D9E4F5"/>
                </a:solidFill>
                <a:latin typeface="Consolas"/>
                <a:ea typeface="Consolas"/>
                <a:cs typeface="Consolas"/>
              </a:rPr>
              <a:t>          cache: pip</a:t>
            </a:r>
            <a:endParaRPr sz="1100"/>
          </a:p>
          <a:p xmlns:a="http://schemas.openxmlformats.org/drawingml/2006/main">
            <a:pPr marL="0" indent="0">
              <a:lnSpc>
                <a:spcPct val="112000"/>
              </a:lnSpc>
              <a:buNone/>
            </a:pPr>
            <a:r>
              <a:rPr sz="1100">
                <a:solidFill>
                  <a:srgbClr val="D9E4F5"/>
                </a:solidFill>
                <a:latin typeface="Consolas"/>
                <a:ea typeface="Consolas"/>
                <a:cs typeface="Consolas"/>
              </a:rPr>
              <a:t>          cache-dependency-path: requirements.lock</a:t>
            </a:r>
            <a:endParaRPr sz="1100"/>
          </a:p>
          <a:p xmlns:a="http://schemas.openxmlformats.org/drawingml/2006/main">
            <a:pPr marL="0" indent="0">
              <a:lnSpc>
                <a:spcPct val="112000"/>
              </a:lnSpc>
              <a:buNone/>
            </a:pPr>
            <a:r>
              <a:rPr sz="1100">
                <a:solidFill>
                  <a:srgbClr val="D9E4F5"/>
                </a:solidFill>
                <a:latin typeface="Consolas"/>
                <a:ea typeface="Consolas"/>
                <a:cs typeface="Consolas"/>
              </a:rPr>
              <a:t>      - run: pip install ruff mypy</a:t>
            </a:r>
            <a:endParaRPr sz="1100"/>
          </a:p>
          <a:p xmlns:a="http://schemas.openxmlformats.org/drawingml/2006/main">
            <a:pPr marL="0" indent="0">
              <a:lnSpc>
                <a:spcPct val="112000"/>
              </a:lnSpc>
              <a:buNone/>
            </a:pPr>
            <a:r>
              <a:rPr sz="1100">
                <a:solidFill>
                  <a:srgbClr val="D9E4F5"/>
                </a:solidFill>
                <a:latin typeface="Consolas"/>
                <a:ea typeface="Consolas"/>
                <a:cs typeface="Consolas"/>
              </a:rPr>
              <a:t>      - name: Ruff (style + import layer rules)</a:t>
            </a:r>
            <a:endParaRPr sz="1100"/>
          </a:p>
          <a:p xmlns:a="http://schemas.openxmlformats.org/drawingml/2006/main">
            <a:pPr marL="0" indent="0">
              <a:lnSpc>
                <a:spcPct val="112000"/>
              </a:lnSpc>
              <a:buNone/>
            </a:pPr>
            <a:r>
              <a:rPr sz="1100">
                <a:solidFill>
                  <a:srgbClr val="D9E4F5"/>
                </a:solidFill>
                <a:latin typeface="Consolas"/>
                <a:ea typeface="Consolas"/>
                <a:cs typeface="Consolas"/>
              </a:rPr>
              <a:t>        run: ruff check src tests</a:t>
            </a:r>
            <a:endParaRPr sz="1100"/>
          </a:p>
          <a:p xmlns:a="http://schemas.openxmlformats.org/drawingml/2006/main">
            <a:pPr marL="0" indent="0">
              <a:lnSpc>
                <a:spcPct val="112000"/>
              </a:lnSpc>
              <a:buNone/>
            </a:pPr>
            <a:r>
              <a:rPr sz="1100">
                <a:solidFill>
                  <a:srgbClr val="D9E4F5"/>
                </a:solidFill>
                <a:latin typeface="Consolas"/>
                <a:ea typeface="Consolas"/>
                <a:cs typeface="Consolas"/>
              </a:rPr>
              <a:t>      - name: Mypy (type-check the seams)</a:t>
            </a:r>
            <a:endParaRPr sz="1100"/>
          </a:p>
          <a:p xmlns:a="http://schemas.openxmlformats.org/drawingml/2006/main">
            <a:pPr marL="0" indent="0">
              <a:lnSpc>
                <a:spcPct val="112000"/>
              </a:lnSpc>
              <a:buNone/>
            </a:pPr>
            <a:r>
              <a:rPr sz="1100">
                <a:solidFill>
                  <a:srgbClr val="D9E4F5"/>
                </a:solidFill>
                <a:latin typeface="Consolas"/>
                <a:ea typeface="Consolas"/>
                <a:cs typeface="Consolas"/>
              </a:rPr>
              <a:t>        run: mypy src/fraud_service --strict</a:t>
            </a:r>
            <a:endParaRPr sz="1100"/>
          </a:p>
        </p:txBody>
      </p:sp>
      <p:sp>
        <p:nvSpPr>
          <p:cNvPr id="14" name="Shape 11">
            <a:extLst xmlns:a="http://schemas.openxmlformats.org/drawingml/2006/main">
              <a:ext uri="{FF2B5EF4-FFF2-40B4-BE49-F238E27FC236}">
                <a16:creationId xmlns:a16="http://schemas.microsoft.com/office/drawing/2014/main" id="{7A0E5F02-87E9-4C25-A410-E5419B276490}"/>
              </a:ext>
            </a:extLst>
          </p:cNvPr>
          <p:cNvSpPr>
            <a:spLocks xmlns:a="http://schemas.openxmlformats.org/drawingml/2006/main" noGrp="1"/>
          </p:cNvSpPr>
          <p:nvPr/>
        </p:nvSpPr>
        <p:spPr>
          <a:xfrm xmlns:a="http://schemas.openxmlformats.org/drawingml/2006/main">
            <a:off x="8321040" y="1481328"/>
            <a:ext cx="3364992" cy="1402080"/>
          </a:xfrm>
          <a:prstGeom xmlns:a="http://schemas.openxmlformats.org/drawingml/2006/main" prst="roundRect">
            <a:avLst>
              <a:gd name="adj" fmla="val 3913"/>
            </a:avLst>
          </a:prstGeom>
          <a:solidFill xmlns:a="http://schemas.openxmlformats.org/drawingml/2006/main">
            <a:srgbClr val="D4F1EE"/>
          </a:solidFill>
        </p:spPr>
      </p:sp>
      <p:sp>
        <p:nvSpPr>
          <p:cNvPr id="15" name="Text 12">
            <a:extLst xmlns:a="http://schemas.openxmlformats.org/drawingml/2006/main">
              <a:ext uri="{FF2B5EF4-FFF2-40B4-BE49-F238E27FC236}">
                <a16:creationId xmlns:a16="http://schemas.microsoft.com/office/drawing/2014/main" id="{A044AF41-38FC-4F21-B6BC-669A63F63A47}"/>
              </a:ext>
            </a:extLst>
          </p:cNvPr>
          <p:cNvSpPr>
            <a:spLocks xmlns:a="http://schemas.openxmlformats.org/drawingml/2006/main" noGrp="1"/>
          </p:cNvSpPr>
          <p:nvPr/>
        </p:nvSpPr>
        <p:spPr>
          <a:xfrm xmlns:a="http://schemas.openxmlformats.org/drawingml/2006/main">
            <a:off x="8485632" y="157276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Order gates by cost</a:t>
            </a:r>
            <a:endParaRPr sz="1050"/>
          </a:p>
        </p:txBody>
      </p:sp>
      <p:sp>
        <p:nvSpPr>
          <p:cNvPr id="16" name="Text 13">
            <a:extLst xmlns:a="http://schemas.openxmlformats.org/drawingml/2006/main">
              <a:ext uri="{FF2B5EF4-FFF2-40B4-BE49-F238E27FC236}">
                <a16:creationId xmlns:a16="http://schemas.microsoft.com/office/drawing/2014/main" id="{ABD4B130-31A6-4A3A-8B9D-F91B23DEF3C4}"/>
              </a:ext>
            </a:extLst>
          </p:cNvPr>
          <p:cNvSpPr>
            <a:spLocks xmlns:a="http://schemas.openxmlformats.org/drawingml/2006/main" noGrp="1"/>
          </p:cNvSpPr>
          <p:nvPr/>
        </p:nvSpPr>
        <p:spPr>
          <a:xfrm xmlns:a="http://schemas.openxmlformats.org/drawingml/2006/main">
            <a:off x="8485632" y="184708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ruff runs in seconds; put it before pytest (minutes) and docker build. Fail fast, fail cheap.</a:t>
            </a:r>
            <a:endParaRPr sz="930"/>
          </a:p>
        </p:txBody>
      </p:sp>
      <p:sp>
        <p:nvSpPr>
          <p:cNvPr id="17" name="Shape 14">
            <a:extLst xmlns:a="http://schemas.openxmlformats.org/drawingml/2006/main">
              <a:ext uri="{FF2B5EF4-FFF2-40B4-BE49-F238E27FC236}">
                <a16:creationId xmlns:a16="http://schemas.microsoft.com/office/drawing/2014/main" id="{763C8B22-A757-409E-B200-85F5271983E5}"/>
              </a:ext>
            </a:extLst>
          </p:cNvPr>
          <p:cNvSpPr>
            <a:spLocks xmlns:a="http://schemas.openxmlformats.org/drawingml/2006/main" noGrp="1"/>
          </p:cNvSpPr>
          <p:nvPr/>
        </p:nvSpPr>
        <p:spPr>
          <a:xfrm xmlns:a="http://schemas.openxmlformats.org/drawingml/2006/main">
            <a:off x="8321040" y="3020568"/>
            <a:ext cx="3364992" cy="1402080"/>
          </a:xfrm>
          <a:prstGeom xmlns:a="http://schemas.openxmlformats.org/drawingml/2006/main" prst="roundRect">
            <a:avLst>
              <a:gd name="adj" fmla="val 3913"/>
            </a:avLst>
          </a:prstGeom>
          <a:solidFill xmlns:a="http://schemas.openxmlformats.org/drawingml/2006/main">
            <a:srgbClr val="D9F0FA"/>
          </a:solidFill>
        </p:spPr>
      </p:sp>
      <p:sp>
        <p:nvSpPr>
          <p:cNvPr id="18" name="Text 15">
            <a:extLst xmlns:a="http://schemas.openxmlformats.org/drawingml/2006/main">
              <a:ext uri="{FF2B5EF4-FFF2-40B4-BE49-F238E27FC236}">
                <a16:creationId xmlns:a16="http://schemas.microsoft.com/office/drawing/2014/main" id="{9E91291B-81D1-4B96-9F07-4781460CBDD8}"/>
              </a:ext>
            </a:extLst>
          </p:cNvPr>
          <p:cNvSpPr>
            <a:spLocks xmlns:a="http://schemas.openxmlformats.org/drawingml/2006/main" noGrp="1"/>
          </p:cNvSpPr>
          <p:nvPr/>
        </p:nvSpPr>
        <p:spPr>
          <a:xfrm xmlns:a="http://schemas.openxmlformats.org/drawingml/2006/main">
            <a:off x="8485632" y="311200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Dependency cache</a:t>
            </a:r>
            <a:endParaRPr sz="1050"/>
          </a:p>
        </p:txBody>
      </p:sp>
      <p:sp>
        <p:nvSpPr>
          <p:cNvPr id="19" name="Text 16">
            <a:extLst xmlns:a="http://schemas.openxmlformats.org/drawingml/2006/main">
              <a:ext uri="{FF2B5EF4-FFF2-40B4-BE49-F238E27FC236}">
                <a16:creationId xmlns:a16="http://schemas.microsoft.com/office/drawing/2014/main" id="{736B9956-B952-401A-8F3D-C4C3C76AF368}"/>
              </a:ext>
            </a:extLst>
          </p:cNvPr>
          <p:cNvSpPr>
            <a:spLocks xmlns:a="http://schemas.openxmlformats.org/drawingml/2006/main" noGrp="1"/>
          </p:cNvSpPr>
          <p:nvPr/>
        </p:nvSpPr>
        <p:spPr>
          <a:xfrm xmlns:a="http://schemas.openxmlformats.org/drawingml/2006/main">
            <a:off x="8485632" y="338632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setup-python cache: pip keyed on the lock file drops install from ~90s to ~8s.</a:t>
            </a:r>
            <a:endParaRPr sz="930"/>
          </a:p>
        </p:txBody>
      </p:sp>
      <p:sp>
        <p:nvSpPr>
          <p:cNvPr id="20" name="Shape 17">
            <a:extLst xmlns:a="http://schemas.openxmlformats.org/drawingml/2006/main">
              <a:ext uri="{FF2B5EF4-FFF2-40B4-BE49-F238E27FC236}">
                <a16:creationId xmlns:a16="http://schemas.microsoft.com/office/drawing/2014/main" id="{E7270DD8-F7AC-4B9A-A078-26DA47ACE741}"/>
              </a:ext>
            </a:extLst>
          </p:cNvPr>
          <p:cNvSpPr>
            <a:spLocks xmlns:a="http://schemas.openxmlformats.org/drawingml/2006/main" noGrp="1"/>
          </p:cNvSpPr>
          <p:nvPr/>
        </p:nvSpPr>
        <p:spPr>
          <a:xfrm xmlns:a="http://schemas.openxmlformats.org/drawingml/2006/main">
            <a:off x="8321040" y="4559808"/>
            <a:ext cx="3364992" cy="1402080"/>
          </a:xfrm>
          <a:prstGeom xmlns:a="http://schemas.openxmlformats.org/drawingml/2006/main" prst="roundRect">
            <a:avLst>
              <a:gd name="adj" fmla="val 3913"/>
            </a:avLst>
          </a:prstGeom>
          <a:solidFill xmlns:a="http://schemas.openxmlformats.org/drawingml/2006/main">
            <a:srgbClr val="FDEBD7"/>
          </a:solidFill>
        </p:spPr>
      </p:sp>
      <p:sp>
        <p:nvSpPr>
          <p:cNvPr id="21" name="Text 18">
            <a:extLst xmlns:a="http://schemas.openxmlformats.org/drawingml/2006/main">
              <a:ext uri="{FF2B5EF4-FFF2-40B4-BE49-F238E27FC236}">
                <a16:creationId xmlns:a16="http://schemas.microsoft.com/office/drawing/2014/main" id="{9E778E14-A01A-4B0E-8565-B6EAA5CB1DD8}"/>
              </a:ext>
            </a:extLst>
          </p:cNvPr>
          <p:cNvSpPr>
            <a:spLocks xmlns:a="http://schemas.openxmlformats.org/drawingml/2006/main" noGrp="1"/>
          </p:cNvSpPr>
          <p:nvPr/>
        </p:nvSpPr>
        <p:spPr>
          <a:xfrm xmlns:a="http://schemas.openxmlformats.org/drawingml/2006/main">
            <a:off x="8485632" y="465124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Two linters</a:t>
            </a:r>
            <a:endParaRPr sz="1050"/>
          </a:p>
        </p:txBody>
      </p:sp>
      <p:sp>
        <p:nvSpPr>
          <p:cNvPr id="22" name="Text 19">
            <a:extLst xmlns:a="http://schemas.openxmlformats.org/drawingml/2006/main">
              <a:ext uri="{FF2B5EF4-FFF2-40B4-BE49-F238E27FC236}">
                <a16:creationId xmlns:a16="http://schemas.microsoft.com/office/drawing/2014/main" id="{F48317DA-33EB-4D5A-BD05-2FEB09DC086B}"/>
              </a:ext>
            </a:extLst>
          </p:cNvPr>
          <p:cNvSpPr>
            <a:spLocks xmlns:a="http://schemas.openxmlformats.org/drawingml/2006/main" noGrp="1"/>
          </p:cNvSpPr>
          <p:nvPr/>
        </p:nvSpPr>
        <p:spPr>
          <a:xfrm xmlns:a="http://schemas.openxmlformats.org/drawingml/2006/main">
            <a:off x="8485632" y="492556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ruff enforces style AND the import-layer contract; mypy --strict type-checks the module seams.</a:t>
            </a:r>
            <a:endParaRPr sz="930"/>
          </a:p>
        </p:txBody>
      </p:sp>
    </p:spTree>
    <p:extLst>
      <p:ext uri="{BB962C8B-B14F-4D97-AF65-F5344CB8AC3E}">
        <p14:creationId xmlns:p14="http://schemas.microsoft.com/office/powerpoint/2010/main" val="994985178"/>
      </p:ext>
    </p:extLst>
  </p:cSld>
</p:sld>
</file>

<file path=ppt/slides/slide11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45B9BAF-5068-475B-9274-45D1F37025BD}"/>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Caching &amp; speed engineering</a:t>
            </a:r>
            <a:endParaRPr sz="2600"/>
          </a:p>
        </p:txBody>
      </p:sp>
      <p:sp>
        <p:nvSpPr>
          <p:cNvPr id="3" name="Text 1">
            <a:extLst xmlns:a="http://schemas.openxmlformats.org/drawingml/2006/main">
              <a:ext uri="{FF2B5EF4-FFF2-40B4-BE49-F238E27FC236}">
                <a16:creationId xmlns:a16="http://schemas.microsoft.com/office/drawing/2014/main" id="{69D08D3B-4C8A-43A3-B139-B0AD5B73186F}"/>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التخزين المؤقت وهندسة السرعة</a:t>
            </a:r>
            <a:endParaRPr sz="1300"/>
          </a:p>
        </p:txBody>
      </p:sp>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e616af4a4e064c6b"/>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2596AED0-07E3-44A8-BDDB-7B384175EA48}"/>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155C510A-EBAD-49DB-A0F2-B2EFAD782BB1}"/>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5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C9A25FF5-AD3E-47DC-A588-3349C53CA9E8}"/>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111</a:t>
            </a:r>
            <a:endParaRPr sz="850"/>
          </a:p>
        </p:txBody>
      </p:sp>
      <p:sp>
        <p:nvSpPr>
          <p:cNvPr id="8" name="Text 5">
            <a:extLst xmlns:a="http://schemas.openxmlformats.org/drawingml/2006/main">
              <a:ext uri="{FF2B5EF4-FFF2-40B4-BE49-F238E27FC236}">
                <a16:creationId xmlns:a16="http://schemas.microsoft.com/office/drawing/2014/main" id="{DF9984FF-21FE-49E6-95EA-24DF29C8F0E1}"/>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263B47AE-8D77-4C54-8F71-336EB891683B}"/>
              </a:ext>
            </a:extLst>
          </p:cNvPr>
          <p:cNvSpPr>
            <a:spLocks xmlns:a="http://schemas.openxmlformats.org/drawingml/2006/main" noGrp="1"/>
          </p:cNvSpPr>
          <p:nvPr/>
        </p:nvSpPr>
        <p:spPr>
          <a:xfrm xmlns:a="http://schemas.openxmlformats.org/drawingml/2006/main">
            <a:off x="1005840" y="14996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Dependency caching</a:t>
            </a:r>
            <a:endParaRPr sz="1350"/>
          </a:p>
        </p:txBody>
      </p:sp>
      <p:sp>
        <p:nvSpPr>
          <p:cNvPr id="10" name="Text 7">
            <a:extLst xmlns:a="http://schemas.openxmlformats.org/drawingml/2006/main">
              <a:ext uri="{FF2B5EF4-FFF2-40B4-BE49-F238E27FC236}">
                <a16:creationId xmlns:a16="http://schemas.microsoft.com/office/drawing/2014/main" id="{62CA8DE9-CE3F-4124-827D-BFB789B4494F}"/>
              </a:ext>
            </a:extLst>
          </p:cNvPr>
          <p:cNvSpPr>
            <a:spLocks xmlns:a="http://schemas.openxmlformats.org/drawingml/2006/main" noGrp="1"/>
          </p:cNvSpPr>
          <p:nvPr/>
        </p:nvSpPr>
        <p:spPr>
          <a:xfrm xmlns:a="http://schemas.openxmlformats.org/drawingml/2006/main">
            <a:off x="1005840" y="1801368"/>
            <a:ext cx="10680192"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actions/setup-python with cache: pip keyed on the lock file drops dependency install from ~90s to ~8s. The lock file is the cache key — which is why you pin it.</a:t>
            </a:r>
            <a:endParaRPr sz="1050"/>
          </a:p>
        </p:txBody>
      </p:sp>
      <p:sp>
        <p:nvSpPr>
          <p:cNvPr id="11" name="Text 8">
            <a:extLst xmlns:a="http://schemas.openxmlformats.org/drawingml/2006/main">
              <a:ext uri="{FF2B5EF4-FFF2-40B4-BE49-F238E27FC236}">
                <a16:creationId xmlns:a16="http://schemas.microsoft.com/office/drawing/2014/main" id="{493DCC00-5EDD-4210-B558-BB93DFC988C1}"/>
              </a:ext>
            </a:extLst>
          </p:cNvPr>
          <p:cNvSpPr>
            <a:spLocks xmlns:a="http://schemas.openxmlformats.org/drawingml/2006/main" noGrp="1"/>
          </p:cNvSpPr>
          <p:nvPr/>
        </p:nvSpPr>
        <p:spPr>
          <a:xfrm xmlns:a="http://schemas.openxmlformats.org/drawingml/2006/main">
            <a:off x="502920" y="292608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45DF9BCA-537C-4BB6-A497-9C86610814F8}"/>
              </a:ext>
            </a:extLst>
          </p:cNvPr>
          <p:cNvSpPr>
            <a:spLocks xmlns:a="http://schemas.openxmlformats.org/drawingml/2006/main" noGrp="1"/>
          </p:cNvSpPr>
          <p:nvPr/>
        </p:nvSpPr>
        <p:spPr>
          <a:xfrm xmlns:a="http://schemas.openxmlformats.org/drawingml/2006/main">
            <a:off x="1005840" y="28712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Docker layer caching</a:t>
            </a:r>
            <a:endParaRPr sz="1350"/>
          </a:p>
        </p:txBody>
      </p:sp>
      <p:sp>
        <p:nvSpPr>
          <p:cNvPr id="13" name="Text 10">
            <a:extLst xmlns:a="http://schemas.openxmlformats.org/drawingml/2006/main">
              <a:ext uri="{FF2B5EF4-FFF2-40B4-BE49-F238E27FC236}">
                <a16:creationId xmlns:a16="http://schemas.microsoft.com/office/drawing/2014/main" id="{C5694CD7-229B-419A-9426-5401E3CD7BA1}"/>
              </a:ext>
            </a:extLst>
          </p:cNvPr>
          <p:cNvSpPr>
            <a:spLocks xmlns:a="http://schemas.openxmlformats.org/drawingml/2006/main" noGrp="1"/>
          </p:cNvSpPr>
          <p:nvPr/>
        </p:nvSpPr>
        <p:spPr>
          <a:xfrm xmlns:a="http://schemas.openxmlformats.org/drawingml/2006/main">
            <a:off x="1005840" y="3172968"/>
            <a:ext cx="10680192"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buildx cache-from / cache-to: type=gha reuses layers between runs. M3's layer-ordering discipline is exactly what makes this effective — one lesson, two parts.</a:t>
            </a:r>
            <a:endParaRPr sz="1050"/>
          </a:p>
        </p:txBody>
      </p:sp>
      <p:sp>
        <p:nvSpPr>
          <p:cNvPr id="14" name="Text 11">
            <a:extLst xmlns:a="http://schemas.openxmlformats.org/drawingml/2006/main">
              <a:ext uri="{FF2B5EF4-FFF2-40B4-BE49-F238E27FC236}">
                <a16:creationId xmlns:a16="http://schemas.microsoft.com/office/drawing/2014/main" id="{41714573-868D-441A-A641-793E89B9D0B9}"/>
              </a:ext>
            </a:extLst>
          </p:cNvPr>
          <p:cNvSpPr>
            <a:spLocks xmlns:a="http://schemas.openxmlformats.org/drawingml/2006/main" noGrp="1"/>
          </p:cNvSpPr>
          <p:nvPr/>
        </p:nvSpPr>
        <p:spPr>
          <a:xfrm xmlns:a="http://schemas.openxmlformats.org/drawingml/2006/main">
            <a:off x="502920" y="429768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E2D2456F-4D3D-4AE2-A62B-5E126AAAAE8D}"/>
              </a:ext>
            </a:extLst>
          </p:cNvPr>
          <p:cNvSpPr>
            <a:spLocks xmlns:a="http://schemas.openxmlformats.org/drawingml/2006/main" noGrp="1"/>
          </p:cNvSpPr>
          <p:nvPr/>
        </p:nvSpPr>
        <p:spPr>
          <a:xfrm xmlns:a="http://schemas.openxmlformats.org/drawingml/2006/main">
            <a:off x="1005840" y="42428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Split for fast feedback</a:t>
            </a:r>
            <a:endParaRPr sz="1350"/>
          </a:p>
        </p:txBody>
      </p:sp>
      <p:sp>
        <p:nvSpPr>
          <p:cNvPr id="16" name="Text 13">
            <a:extLst xmlns:a="http://schemas.openxmlformats.org/drawingml/2006/main">
              <a:ext uri="{FF2B5EF4-FFF2-40B4-BE49-F238E27FC236}">
                <a16:creationId xmlns:a16="http://schemas.microsoft.com/office/drawing/2014/main" id="{89A505EC-457E-4BD3-A1C6-D8D825AD1AC6}"/>
              </a:ext>
            </a:extLst>
          </p:cNvPr>
          <p:cNvSpPr>
            <a:spLocks xmlns:a="http://schemas.openxmlformats.org/drawingml/2006/main" noGrp="1"/>
          </p:cNvSpPr>
          <p:nvPr/>
        </p:nvSpPr>
        <p:spPr>
          <a:xfrm xmlns:a="http://schemas.openxmlformats.org/drawingml/2006/main">
            <a:off x="1005840" y="4544568"/>
            <a:ext cx="10680192"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Run lint and test in parallel; gate image by needs: [lint, test]. The cheap gates report in ~1 min even while the tests are still running.</a:t>
            </a:r>
            <a:endParaRPr sz="1050"/>
          </a:p>
        </p:txBody>
      </p:sp>
    </p:spTree>
    <p:extLst>
      <p:ext uri="{BB962C8B-B14F-4D97-AF65-F5344CB8AC3E}">
        <p14:creationId xmlns:p14="http://schemas.microsoft.com/office/powerpoint/2010/main" val="441156434"/>
      </p:ext>
    </p:extLst>
  </p:cSld>
</p:sld>
</file>

<file path=ppt/slides/slide11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938E188-B41F-4898-B3CA-6FFE6C9D5393}"/>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The test job — real artefact + coverage</a:t>
            </a:r>
            <a:endParaRPr sz="2600"/>
          </a:p>
        </p:txBody>
      </p:sp>
      <p:sp>
        <p:nvSpPr>
          <p:cNvPr id="3" name="Text 1">
            <a:extLst xmlns:a="http://schemas.openxmlformats.org/drawingml/2006/main">
              <a:ext uri="{FF2B5EF4-FFF2-40B4-BE49-F238E27FC236}">
                <a16:creationId xmlns:a16="http://schemas.microsoft.com/office/drawing/2014/main" id="{C078CE41-2D21-4C21-96AD-6FC7B2557D5A}"/>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مهمة الاختبار — القطعة الحقيقية والتغطية</a:t>
            </a:r>
            <a:endParaRPr sz="1300"/>
          </a:p>
        </p:txBody>
      </p:sp>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7b867387600b4eea"/>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8DA086BE-BF46-4F60-8477-CC0662FA47B1}"/>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0ECF4C76-35C5-4D2E-8ED4-09AB0B0DCA19}"/>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5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DE93706C-A3DA-470E-9529-30DD6C99E983}"/>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112</a:t>
            </a:r>
            <a:endParaRPr sz="850"/>
          </a:p>
        </p:txBody>
      </p:sp>
      <p:sp>
        <p:nvSpPr>
          <p:cNvPr id="8" name="Shape 5">
            <a:extLst xmlns:a="http://schemas.openxmlformats.org/drawingml/2006/main">
              <a:ext uri="{FF2B5EF4-FFF2-40B4-BE49-F238E27FC236}">
                <a16:creationId xmlns:a16="http://schemas.microsoft.com/office/drawing/2014/main" id="{C38239DD-25CA-45DB-B190-02051DBA2D9E}"/>
              </a:ext>
            </a:extLst>
          </p:cNvPr>
          <p:cNvSpPr>
            <a:spLocks xmlns:a="http://schemas.openxmlformats.org/drawingml/2006/main" noGrp="1"/>
          </p:cNvSpPr>
          <p:nvPr/>
        </p:nvSpPr>
        <p:spPr>
          <a:xfrm xmlns:a="http://schemas.openxmlformats.org/drawingml/2006/main">
            <a:off x="502920" y="1481328"/>
            <a:ext cx="7635240" cy="4617720"/>
          </a:xfrm>
          <a:prstGeom xmlns:a="http://schemas.openxmlformats.org/drawingml/2006/main" prst="roundRect">
            <a:avLst>
              <a:gd name="adj" fmla="val 1584"/>
            </a:avLst>
          </a:prstGeom>
          <a:solidFill xmlns:a="http://schemas.openxmlformats.org/drawingml/2006/main">
            <a:srgbClr val="1A2233"/>
          </a:solidFill>
        </p:spPr>
      </p:sp>
      <p:sp>
        <p:nvSpPr>
          <p:cNvPr id="9" name="Shape 6">
            <a:extLst xmlns:a="http://schemas.openxmlformats.org/drawingml/2006/main">
              <a:ext uri="{FF2B5EF4-FFF2-40B4-BE49-F238E27FC236}">
                <a16:creationId xmlns:a16="http://schemas.microsoft.com/office/drawing/2014/main" id="{93DDF51F-AA09-4AAC-AB54-E9337FE53336}"/>
              </a:ext>
            </a:extLst>
          </p:cNvPr>
          <p:cNvSpPr>
            <a:spLocks xmlns:a="http://schemas.openxmlformats.org/drawingml/2006/main" noGrp="1"/>
          </p:cNvSpPr>
          <p:nvPr/>
        </p:nvSpPr>
        <p:spPr>
          <a:xfrm xmlns:a="http://schemas.openxmlformats.org/drawingml/2006/main">
            <a:off x="731520" y="1664208"/>
            <a:ext cx="109728" cy="109728"/>
          </a:xfrm>
          <a:prstGeom xmlns:a="http://schemas.openxmlformats.org/drawingml/2006/main" prst="ellipse">
            <a:avLst/>
          </a:prstGeom>
          <a:solidFill xmlns:a="http://schemas.openxmlformats.org/drawingml/2006/main">
            <a:srgbClr val="E8503A"/>
          </a:solidFill>
        </p:spPr>
      </p:sp>
      <p:sp>
        <p:nvSpPr>
          <p:cNvPr id="10" name="Shape 7">
            <a:extLst xmlns:a="http://schemas.openxmlformats.org/drawingml/2006/main">
              <a:ext uri="{FF2B5EF4-FFF2-40B4-BE49-F238E27FC236}">
                <a16:creationId xmlns:a16="http://schemas.microsoft.com/office/drawing/2014/main" id="{4B06D72D-0179-4E91-9D4A-75AB09F87CB5}"/>
              </a:ext>
            </a:extLst>
          </p:cNvPr>
          <p:cNvSpPr>
            <a:spLocks xmlns:a="http://schemas.openxmlformats.org/drawingml/2006/main" noGrp="1"/>
          </p:cNvSpPr>
          <p:nvPr/>
        </p:nvSpPr>
        <p:spPr>
          <a:xfrm xmlns:a="http://schemas.openxmlformats.org/drawingml/2006/main">
            <a:off x="932688" y="1664208"/>
            <a:ext cx="109728" cy="109728"/>
          </a:xfrm>
          <a:prstGeom xmlns:a="http://schemas.openxmlformats.org/drawingml/2006/main" prst="ellipse">
            <a:avLst/>
          </a:prstGeom>
          <a:solidFill xmlns:a="http://schemas.openxmlformats.org/drawingml/2006/main">
            <a:srgbClr val="F5B820"/>
          </a:solidFill>
        </p:spPr>
      </p:sp>
      <p:sp>
        <p:nvSpPr>
          <p:cNvPr id="11" name="Shape 8">
            <a:extLst xmlns:a="http://schemas.openxmlformats.org/drawingml/2006/main">
              <a:ext uri="{FF2B5EF4-FFF2-40B4-BE49-F238E27FC236}">
                <a16:creationId xmlns:a16="http://schemas.microsoft.com/office/drawing/2014/main" id="{87FEB102-B3FD-432B-8A03-8E9F0C54A971}"/>
              </a:ext>
            </a:extLst>
          </p:cNvPr>
          <p:cNvSpPr>
            <a:spLocks xmlns:a="http://schemas.openxmlformats.org/drawingml/2006/main" noGrp="1"/>
          </p:cNvSpPr>
          <p:nvPr/>
        </p:nvSpPr>
        <p:spPr>
          <a:xfrm xmlns:a="http://schemas.openxmlformats.org/drawingml/2006/main">
            <a:off x="1133856" y="1664208"/>
            <a:ext cx="109728" cy="109728"/>
          </a:xfrm>
          <a:prstGeom xmlns:a="http://schemas.openxmlformats.org/drawingml/2006/main" prst="ellipse">
            <a:avLst/>
          </a:prstGeom>
          <a:solidFill xmlns:a="http://schemas.openxmlformats.org/drawingml/2006/main">
            <a:srgbClr val="8DC63F"/>
          </a:solidFill>
        </p:spPr>
      </p:sp>
      <p:sp>
        <p:nvSpPr>
          <p:cNvPr id="12" name="Text 9">
            <a:extLst xmlns:a="http://schemas.openxmlformats.org/drawingml/2006/main">
              <a:ext uri="{FF2B5EF4-FFF2-40B4-BE49-F238E27FC236}">
                <a16:creationId xmlns:a16="http://schemas.microsoft.com/office/drawing/2014/main" id="{1EBD16EB-F092-4028-B3DE-3E699C0D41B5}"/>
              </a:ext>
            </a:extLst>
          </p:cNvPr>
          <p:cNvSpPr>
            <a:spLocks xmlns:a="http://schemas.openxmlformats.org/drawingml/2006/main" noGrp="1"/>
          </p:cNvSpPr>
          <p:nvPr/>
        </p:nvSpPr>
        <p:spPr>
          <a:xfrm xmlns:a="http://schemas.openxmlformats.org/drawingml/2006/main">
            <a:off x="4526280" y="1609344"/>
            <a:ext cx="32918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6C8"/>
                </a:solidFill>
                <a:latin typeface="Consolas"/>
                <a:ea typeface="Consolas"/>
                <a:cs typeface="Consolas"/>
              </a:rPr>
              <a:t>.github/workflows/ci.yml</a:t>
            </a:r>
            <a:endParaRPr sz="900"/>
          </a:p>
        </p:txBody>
      </p:sp>
      <p:sp>
        <p:nvSpPr>
          <p:cNvPr id="13" name="Text 10">
            <a:extLst xmlns:a="http://schemas.openxmlformats.org/drawingml/2006/main">
              <a:ext uri="{FF2B5EF4-FFF2-40B4-BE49-F238E27FC236}">
                <a16:creationId xmlns:a16="http://schemas.microsoft.com/office/drawing/2014/main" id="{B1FF11A3-7FF7-4CAF-97BB-3B390FF28D88}"/>
              </a:ext>
            </a:extLst>
          </p:cNvPr>
          <p:cNvSpPr>
            <a:spLocks xmlns:a="http://schemas.openxmlformats.org/drawingml/2006/main" noGrp="1"/>
          </p:cNvSpPr>
          <p:nvPr/>
        </p:nvSpPr>
        <p:spPr>
          <a:xfrm xmlns:a="http://schemas.openxmlformats.org/drawingml/2006/main">
            <a:off x="713232" y="1965960"/>
            <a:ext cx="717804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000">
                <a:solidFill>
                  <a:srgbClr val="D9E4F5"/>
                </a:solidFill>
                <a:latin typeface="Consolas"/>
                <a:ea typeface="Consolas"/>
                <a:cs typeface="Consolas"/>
              </a:rPr>
              <a:t>  test:</a:t>
            </a:r>
            <a:endParaRPr sz="1000"/>
          </a:p>
          <a:p xmlns:a="http://schemas.openxmlformats.org/drawingml/2006/main">
            <a:pPr marL="0" indent="0">
              <a:lnSpc>
                <a:spcPct val="112000"/>
              </a:lnSpc>
              <a:buNone/>
            </a:pPr>
            <a:r>
              <a:rPr sz="1000">
                <a:solidFill>
                  <a:srgbClr val="D9E4F5"/>
                </a:solidFill>
                <a:latin typeface="Consolas"/>
                <a:ea typeface="Consolas"/>
                <a:cs typeface="Consolas"/>
              </a:rPr>
              <a:t>    runs-on: ubuntu-latest</a:t>
            </a:r>
            <a:endParaRPr sz="1000"/>
          </a:p>
          <a:p xmlns:a="http://schemas.openxmlformats.org/drawingml/2006/main">
            <a:pPr marL="0" indent="0">
              <a:lnSpc>
                <a:spcPct val="112000"/>
              </a:lnSpc>
              <a:buNone/>
            </a:pPr>
            <a:r>
              <a:rPr sz="1000">
                <a:solidFill>
                  <a:srgbClr val="D9E4F5"/>
                </a:solidFill>
                <a:latin typeface="Consolas"/>
                <a:ea typeface="Consolas"/>
                <a:cs typeface="Consolas"/>
              </a:rPr>
              <a:t>    steps:</a:t>
            </a:r>
            <a:endParaRPr sz="1000"/>
          </a:p>
          <a:p xmlns:a="http://schemas.openxmlformats.org/drawingml/2006/main">
            <a:pPr marL="0" indent="0">
              <a:lnSpc>
                <a:spcPct val="112000"/>
              </a:lnSpc>
              <a:buNone/>
            </a:pPr>
            <a:r>
              <a:rPr sz="1000">
                <a:solidFill>
                  <a:srgbClr val="D9E4F5"/>
                </a:solidFill>
                <a:latin typeface="Consolas"/>
                <a:ea typeface="Consolas"/>
                <a:cs typeface="Consolas"/>
              </a:rPr>
              <a:t>      - uses: actions/checkout@v4</a:t>
            </a:r>
            <a:endParaRPr sz="1000"/>
          </a:p>
          <a:p xmlns:a="http://schemas.openxmlformats.org/drawingml/2006/main">
            <a:pPr marL="0" indent="0">
              <a:lnSpc>
                <a:spcPct val="112000"/>
              </a:lnSpc>
              <a:buNone/>
            </a:pPr>
            <a:r>
              <a:rPr sz="1000">
                <a:solidFill>
                  <a:srgbClr val="D9E4F5"/>
                </a:solidFill>
                <a:latin typeface="Consolas"/>
                <a:ea typeface="Consolas"/>
                <a:cs typeface="Consolas"/>
              </a:rPr>
              <a:t>        with:</a:t>
            </a:r>
            <a:endParaRPr sz="1000"/>
          </a:p>
          <a:p xmlns:a="http://schemas.openxmlformats.org/drawingml/2006/main">
            <a:pPr marL="0" indent="0">
              <a:lnSpc>
                <a:spcPct val="112000"/>
              </a:lnSpc>
              <a:buNone/>
            </a:pPr>
            <a:r>
              <a:rPr sz="1000">
                <a:solidFill>
                  <a:srgbClr val="D9E4F5"/>
                </a:solidFill>
                <a:latin typeface="Consolas"/>
                <a:ea typeface="Consolas"/>
                <a:cs typeface="Consolas"/>
              </a:rPr>
              <a:t>          lfs: true   # model artefact for behaviour tests</a:t>
            </a:r>
            <a:endParaRPr sz="1000"/>
          </a:p>
          <a:p xmlns:a="http://schemas.openxmlformats.org/drawingml/2006/main">
            <a:pPr marL="0" indent="0">
              <a:lnSpc>
                <a:spcPct val="112000"/>
              </a:lnSpc>
              <a:buNone/>
            </a:pPr>
            <a:r>
              <a:rPr sz="1000">
                <a:solidFill>
                  <a:srgbClr val="D9E4F5"/>
                </a:solidFill>
                <a:latin typeface="Consolas"/>
                <a:ea typeface="Consolas"/>
                <a:cs typeface="Consolas"/>
              </a:rPr>
              <a:t>      - uses: actions/setup-python@v5</a:t>
            </a:r>
            <a:endParaRPr sz="1000"/>
          </a:p>
          <a:p xmlns:a="http://schemas.openxmlformats.org/drawingml/2006/main">
            <a:pPr marL="0" indent="0">
              <a:lnSpc>
                <a:spcPct val="112000"/>
              </a:lnSpc>
              <a:buNone/>
            </a:pPr>
            <a:r>
              <a:rPr sz="1000">
                <a:solidFill>
                  <a:srgbClr val="D9E4F5"/>
                </a:solidFill>
                <a:latin typeface="Consolas"/>
                <a:ea typeface="Consolas"/>
                <a:cs typeface="Consolas"/>
              </a:rPr>
              <a:t>        with:</a:t>
            </a:r>
            <a:endParaRPr sz="1000"/>
          </a:p>
          <a:p xmlns:a="http://schemas.openxmlformats.org/drawingml/2006/main">
            <a:pPr marL="0" indent="0">
              <a:lnSpc>
                <a:spcPct val="112000"/>
              </a:lnSpc>
              <a:buNone/>
            </a:pPr>
            <a:r>
              <a:rPr sz="1000">
                <a:solidFill>
                  <a:srgbClr val="D9E4F5"/>
                </a:solidFill>
                <a:latin typeface="Consolas"/>
                <a:ea typeface="Consolas"/>
                <a:cs typeface="Consolas"/>
              </a:rPr>
              <a:t>          python-version: ${{ env.PYTHON_VERSION }}</a:t>
            </a:r>
            <a:endParaRPr sz="1000"/>
          </a:p>
          <a:p xmlns:a="http://schemas.openxmlformats.org/drawingml/2006/main">
            <a:pPr marL="0" indent="0">
              <a:lnSpc>
                <a:spcPct val="112000"/>
              </a:lnSpc>
              <a:buNone/>
            </a:pPr>
            <a:r>
              <a:rPr sz="1000">
                <a:solidFill>
                  <a:srgbClr val="D9E4F5"/>
                </a:solidFill>
                <a:latin typeface="Consolas"/>
                <a:ea typeface="Consolas"/>
                <a:cs typeface="Consolas"/>
              </a:rPr>
              <a:t>          cache: pip</a:t>
            </a:r>
            <a:endParaRPr sz="1000"/>
          </a:p>
          <a:p xmlns:a="http://schemas.openxmlformats.org/drawingml/2006/main">
            <a:pPr marL="0" indent="0">
              <a:lnSpc>
                <a:spcPct val="112000"/>
              </a:lnSpc>
              <a:buNone/>
            </a:pPr>
            <a:r>
              <a:rPr sz="1000">
                <a:solidFill>
                  <a:srgbClr val="D9E4F5"/>
                </a:solidFill>
                <a:latin typeface="Consolas"/>
                <a:ea typeface="Consolas"/>
                <a:cs typeface="Consolas"/>
              </a:rPr>
              <a:t>      - run: pip install -r requirements.lock -e .</a:t>
            </a:r>
            <a:endParaRPr sz="1000"/>
          </a:p>
          <a:p xmlns:a="http://schemas.openxmlformats.org/drawingml/2006/main">
            <a:pPr marL="0" indent="0">
              <a:lnSpc>
                <a:spcPct val="112000"/>
              </a:lnSpc>
              <a:buNone/>
            </a:pPr>
            <a:r>
              <a:rPr sz="1000">
                <a:solidFill>
                  <a:srgbClr val="D9E4F5"/>
                </a:solidFill>
                <a:latin typeface="Consolas"/>
                <a:ea typeface="Consolas"/>
                <a:cs typeface="Consolas"/>
              </a:rPr>
              <a:t>      - name: Fast suite (per-commit gate)</a:t>
            </a:r>
            <a:endParaRPr sz="1000"/>
          </a:p>
          <a:p xmlns:a="http://schemas.openxmlformats.org/drawingml/2006/main">
            <a:pPr marL="0" indent="0">
              <a:lnSpc>
                <a:spcPct val="112000"/>
              </a:lnSpc>
              <a:buNone/>
            </a:pPr>
            <a:r>
              <a:rPr sz="1000">
                <a:solidFill>
                  <a:srgbClr val="D9E4F5"/>
                </a:solidFill>
                <a:latin typeface="Consolas"/>
                <a:ea typeface="Consolas"/>
                <a:cs typeface="Consolas"/>
              </a:rPr>
              <a:t>        run: pytest -m "not slow" --cov-fail-under=80</a:t>
            </a:r>
            <a:endParaRPr sz="1000"/>
          </a:p>
          <a:p xmlns:a="http://schemas.openxmlformats.org/drawingml/2006/main">
            <a:pPr marL="0" indent="0">
              <a:lnSpc>
                <a:spcPct val="112000"/>
              </a:lnSpc>
              <a:buNone/>
            </a:pPr>
            <a:r>
              <a:rPr sz="1000">
                <a:solidFill>
                  <a:srgbClr val="D9E4F5"/>
                </a:solidFill>
                <a:latin typeface="Consolas"/>
                <a:ea typeface="Consolas"/>
                <a:cs typeface="Consolas"/>
              </a:rPr>
              <a:t>      - name: Behavioural gate (real artefact)</a:t>
            </a:r>
            <a:endParaRPr sz="1000"/>
          </a:p>
          <a:p xmlns:a="http://schemas.openxmlformats.org/drawingml/2006/main">
            <a:pPr marL="0" indent="0">
              <a:lnSpc>
                <a:spcPct val="112000"/>
              </a:lnSpc>
              <a:buNone/>
            </a:pPr>
            <a:r>
              <a:rPr sz="1000">
                <a:solidFill>
                  <a:srgbClr val="D9E4F5"/>
                </a:solidFill>
                <a:latin typeface="Consolas"/>
                <a:ea typeface="Consolas"/>
                <a:cs typeface="Consolas"/>
              </a:rPr>
              <a:t>        run: pytest -m "behavioural and not slow" -q</a:t>
            </a:r>
            <a:endParaRPr sz="1000"/>
          </a:p>
          <a:p xmlns:a="http://schemas.openxmlformats.org/drawingml/2006/main">
            <a:pPr marL="0" indent="0">
              <a:lnSpc>
                <a:spcPct val="112000"/>
              </a:lnSpc>
              <a:buNone/>
            </a:pPr>
            <a:r>
              <a:rPr sz="1000">
                <a:solidFill>
                  <a:srgbClr val="D9E4F5"/>
                </a:solidFill>
                <a:latin typeface="Consolas"/>
                <a:ea typeface="Consolas"/>
                <a:cs typeface="Consolas"/>
              </a:rPr>
              <a:t>      - name: Upload coverage (evidence on fail)</a:t>
            </a:r>
            <a:endParaRPr sz="1000"/>
          </a:p>
          <a:p xmlns:a="http://schemas.openxmlformats.org/drawingml/2006/main">
            <a:pPr marL="0" indent="0">
              <a:lnSpc>
                <a:spcPct val="112000"/>
              </a:lnSpc>
              <a:buNone/>
            </a:pPr>
            <a:r>
              <a:rPr sz="1000">
                <a:solidFill>
                  <a:srgbClr val="D9E4F5"/>
                </a:solidFill>
                <a:latin typeface="Consolas"/>
                <a:ea typeface="Consolas"/>
                <a:cs typeface="Consolas"/>
              </a:rPr>
              <a:t>        if: always()</a:t>
            </a:r>
            <a:endParaRPr sz="1000"/>
          </a:p>
          <a:p xmlns:a="http://schemas.openxmlformats.org/drawingml/2006/main">
            <a:pPr marL="0" indent="0">
              <a:lnSpc>
                <a:spcPct val="112000"/>
              </a:lnSpc>
              <a:buNone/>
            </a:pPr>
            <a:r>
              <a:rPr sz="1000">
                <a:solidFill>
                  <a:srgbClr val="D9E4F5"/>
                </a:solidFill>
                <a:latin typeface="Consolas"/>
                <a:ea typeface="Consolas"/>
                <a:cs typeface="Consolas"/>
              </a:rPr>
              <a:t>        uses: actions/upload-artifact@v4</a:t>
            </a:r>
            <a:endParaRPr sz="1000"/>
          </a:p>
        </p:txBody>
      </p:sp>
      <p:sp>
        <p:nvSpPr>
          <p:cNvPr id="14" name="Shape 11">
            <a:extLst xmlns:a="http://schemas.openxmlformats.org/drawingml/2006/main">
              <a:ext uri="{FF2B5EF4-FFF2-40B4-BE49-F238E27FC236}">
                <a16:creationId xmlns:a16="http://schemas.microsoft.com/office/drawing/2014/main" id="{C635A62E-52B4-4661-B25E-44C95FDF5727}"/>
              </a:ext>
            </a:extLst>
          </p:cNvPr>
          <p:cNvSpPr>
            <a:spLocks xmlns:a="http://schemas.openxmlformats.org/drawingml/2006/main" noGrp="1"/>
          </p:cNvSpPr>
          <p:nvPr/>
        </p:nvSpPr>
        <p:spPr>
          <a:xfrm xmlns:a="http://schemas.openxmlformats.org/drawingml/2006/main">
            <a:off x="8321040" y="1481328"/>
            <a:ext cx="3364992" cy="1402080"/>
          </a:xfrm>
          <a:prstGeom xmlns:a="http://schemas.openxmlformats.org/drawingml/2006/main" prst="roundRect">
            <a:avLst>
              <a:gd name="adj" fmla="val 3913"/>
            </a:avLst>
          </a:prstGeom>
          <a:solidFill xmlns:a="http://schemas.openxmlformats.org/drawingml/2006/main">
            <a:srgbClr val="D4F1EE"/>
          </a:solidFill>
        </p:spPr>
      </p:sp>
      <p:sp>
        <p:nvSpPr>
          <p:cNvPr id="15" name="Text 12">
            <a:extLst xmlns:a="http://schemas.openxmlformats.org/drawingml/2006/main">
              <a:ext uri="{FF2B5EF4-FFF2-40B4-BE49-F238E27FC236}">
                <a16:creationId xmlns:a16="http://schemas.microsoft.com/office/drawing/2014/main" id="{D4429A9D-D415-4459-8A62-4D7ACD868D1C}"/>
              </a:ext>
            </a:extLst>
          </p:cNvPr>
          <p:cNvSpPr>
            <a:spLocks xmlns:a="http://schemas.openxmlformats.org/drawingml/2006/main" noGrp="1"/>
          </p:cNvSpPr>
          <p:nvPr/>
        </p:nvSpPr>
        <p:spPr>
          <a:xfrm xmlns:a="http://schemas.openxmlformats.org/drawingml/2006/main">
            <a:off x="8485632" y="157276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LFS checkout</a:t>
            </a:r>
            <a:endParaRPr sz="1050"/>
          </a:p>
        </p:txBody>
      </p:sp>
      <p:sp>
        <p:nvSpPr>
          <p:cNvPr id="16" name="Text 13">
            <a:extLst xmlns:a="http://schemas.openxmlformats.org/drawingml/2006/main">
              <a:ext uri="{FF2B5EF4-FFF2-40B4-BE49-F238E27FC236}">
                <a16:creationId xmlns:a16="http://schemas.microsoft.com/office/drawing/2014/main" id="{CF4E7AB2-6F7A-431F-993C-1BF1B490F7E3}"/>
              </a:ext>
            </a:extLst>
          </p:cNvPr>
          <p:cNvSpPr>
            <a:spLocks xmlns:a="http://schemas.openxmlformats.org/drawingml/2006/main" noGrp="1"/>
          </p:cNvSpPr>
          <p:nvPr/>
        </p:nvSpPr>
        <p:spPr>
          <a:xfrm xmlns:a="http://schemas.openxmlformats.org/drawingml/2006/main">
            <a:off x="8485632" y="184708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lfs: true pulls the model file so behavioural tests run the REAL artefact — the #1 CI failure when missed.</a:t>
            </a:r>
            <a:endParaRPr sz="930"/>
          </a:p>
        </p:txBody>
      </p:sp>
      <p:sp>
        <p:nvSpPr>
          <p:cNvPr id="17" name="Shape 14">
            <a:extLst xmlns:a="http://schemas.openxmlformats.org/drawingml/2006/main">
              <a:ext uri="{FF2B5EF4-FFF2-40B4-BE49-F238E27FC236}">
                <a16:creationId xmlns:a16="http://schemas.microsoft.com/office/drawing/2014/main" id="{AE8C1A6F-2D5C-4918-9E71-F22E1EC0F6E4}"/>
              </a:ext>
            </a:extLst>
          </p:cNvPr>
          <p:cNvSpPr>
            <a:spLocks xmlns:a="http://schemas.openxmlformats.org/drawingml/2006/main" noGrp="1"/>
          </p:cNvSpPr>
          <p:nvPr/>
        </p:nvSpPr>
        <p:spPr>
          <a:xfrm xmlns:a="http://schemas.openxmlformats.org/drawingml/2006/main">
            <a:off x="8321040" y="3020568"/>
            <a:ext cx="3364992" cy="1402080"/>
          </a:xfrm>
          <a:prstGeom xmlns:a="http://schemas.openxmlformats.org/drawingml/2006/main" prst="roundRect">
            <a:avLst>
              <a:gd name="adj" fmla="val 3913"/>
            </a:avLst>
          </a:prstGeom>
          <a:solidFill xmlns:a="http://schemas.openxmlformats.org/drawingml/2006/main">
            <a:srgbClr val="D9F0FA"/>
          </a:solidFill>
        </p:spPr>
      </p:sp>
      <p:sp>
        <p:nvSpPr>
          <p:cNvPr id="18" name="Text 15">
            <a:extLst xmlns:a="http://schemas.openxmlformats.org/drawingml/2006/main">
              <a:ext uri="{FF2B5EF4-FFF2-40B4-BE49-F238E27FC236}">
                <a16:creationId xmlns:a16="http://schemas.microsoft.com/office/drawing/2014/main" id="{C7E9AD58-C70E-48F2-B98F-B5218263D1E6}"/>
              </a:ext>
            </a:extLst>
          </p:cNvPr>
          <p:cNvSpPr>
            <a:spLocks xmlns:a="http://schemas.openxmlformats.org/drawingml/2006/main" noGrp="1"/>
          </p:cNvSpPr>
          <p:nvPr/>
        </p:nvSpPr>
        <p:spPr>
          <a:xfrm xmlns:a="http://schemas.openxmlformats.org/drawingml/2006/main">
            <a:off x="8485632" y="311200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Coverage floor</a:t>
            </a:r>
            <a:endParaRPr sz="1050"/>
          </a:p>
        </p:txBody>
      </p:sp>
      <p:sp>
        <p:nvSpPr>
          <p:cNvPr id="19" name="Text 16">
            <a:extLst xmlns:a="http://schemas.openxmlformats.org/drawingml/2006/main">
              <a:ext uri="{FF2B5EF4-FFF2-40B4-BE49-F238E27FC236}">
                <a16:creationId xmlns:a16="http://schemas.microsoft.com/office/drawing/2014/main" id="{0879C125-996B-48EA-8C3C-9C257F18DBF7}"/>
              </a:ext>
            </a:extLst>
          </p:cNvPr>
          <p:cNvSpPr>
            <a:spLocks xmlns:a="http://schemas.openxmlformats.org/drawingml/2006/main" noGrp="1"/>
          </p:cNvSpPr>
          <p:nvPr/>
        </p:nvSpPr>
        <p:spPr>
          <a:xfrm xmlns:a="http://schemas.openxmlformats.org/drawingml/2006/main">
            <a:off x="8485632" y="338632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--cov-fail-under=80 fails the gate on coverage regressions, not only on broken tests.</a:t>
            </a:r>
            <a:endParaRPr sz="930"/>
          </a:p>
        </p:txBody>
      </p:sp>
      <p:sp>
        <p:nvSpPr>
          <p:cNvPr id="20" name="Shape 17">
            <a:extLst xmlns:a="http://schemas.openxmlformats.org/drawingml/2006/main">
              <a:ext uri="{FF2B5EF4-FFF2-40B4-BE49-F238E27FC236}">
                <a16:creationId xmlns:a16="http://schemas.microsoft.com/office/drawing/2014/main" id="{DB9BC722-6D9D-4C2D-B5ED-F128BDEDF885}"/>
              </a:ext>
            </a:extLst>
          </p:cNvPr>
          <p:cNvSpPr>
            <a:spLocks xmlns:a="http://schemas.openxmlformats.org/drawingml/2006/main" noGrp="1"/>
          </p:cNvSpPr>
          <p:nvPr/>
        </p:nvSpPr>
        <p:spPr>
          <a:xfrm xmlns:a="http://schemas.openxmlformats.org/drawingml/2006/main">
            <a:off x="8321040" y="4559808"/>
            <a:ext cx="3364992" cy="1402080"/>
          </a:xfrm>
          <a:prstGeom xmlns:a="http://schemas.openxmlformats.org/drawingml/2006/main" prst="roundRect">
            <a:avLst>
              <a:gd name="adj" fmla="val 3913"/>
            </a:avLst>
          </a:prstGeom>
          <a:solidFill xmlns:a="http://schemas.openxmlformats.org/drawingml/2006/main">
            <a:srgbClr val="FDEBD7"/>
          </a:solidFill>
        </p:spPr>
      </p:sp>
      <p:sp>
        <p:nvSpPr>
          <p:cNvPr id="21" name="Text 18">
            <a:extLst xmlns:a="http://schemas.openxmlformats.org/drawingml/2006/main">
              <a:ext uri="{FF2B5EF4-FFF2-40B4-BE49-F238E27FC236}">
                <a16:creationId xmlns:a16="http://schemas.microsoft.com/office/drawing/2014/main" id="{513163C9-F2D0-4FB2-B1A8-B96AAE465AE3}"/>
              </a:ext>
            </a:extLst>
          </p:cNvPr>
          <p:cNvSpPr>
            <a:spLocks xmlns:a="http://schemas.openxmlformats.org/drawingml/2006/main" noGrp="1"/>
          </p:cNvSpPr>
          <p:nvPr/>
        </p:nvSpPr>
        <p:spPr>
          <a:xfrm xmlns:a="http://schemas.openxmlformats.org/drawingml/2006/main">
            <a:off x="8485632" y="465124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Evidence on failure</a:t>
            </a:r>
            <a:endParaRPr sz="1050"/>
          </a:p>
        </p:txBody>
      </p:sp>
      <p:sp>
        <p:nvSpPr>
          <p:cNvPr id="22" name="Text 19">
            <a:extLst xmlns:a="http://schemas.openxmlformats.org/drawingml/2006/main">
              <a:ext uri="{FF2B5EF4-FFF2-40B4-BE49-F238E27FC236}">
                <a16:creationId xmlns:a16="http://schemas.microsoft.com/office/drawing/2014/main" id="{26C9580E-9AC2-41FB-8858-732713DA3324}"/>
              </a:ext>
            </a:extLst>
          </p:cNvPr>
          <p:cNvSpPr>
            <a:spLocks xmlns:a="http://schemas.openxmlformats.org/drawingml/2006/main" noGrp="1"/>
          </p:cNvSpPr>
          <p:nvPr/>
        </p:nvSpPr>
        <p:spPr>
          <a:xfrm xmlns:a="http://schemas.openxmlformats.org/drawingml/2006/main">
            <a:off x="8485632" y="4925568"/>
            <a:ext cx="3063240" cy="944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if: always() uploads the coverage report even when the job fails — the PR becomes its own audit file.</a:t>
            </a:r>
            <a:endParaRPr sz="930"/>
          </a:p>
        </p:txBody>
      </p:sp>
    </p:spTree>
    <p:extLst>
      <p:ext uri="{BB962C8B-B14F-4D97-AF65-F5344CB8AC3E}">
        <p14:creationId xmlns:p14="http://schemas.microsoft.com/office/powerpoint/2010/main" val="1374400993"/>
      </p:ext>
    </p:extLst>
  </p:cSld>
</p:sld>
</file>

<file path=ppt/slides/slide11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4DBF01F-B3C7-43E9-8E0F-2B331445ED89}"/>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image-smoke — build once with layer cache</a:t>
            </a:r>
            <a:endParaRPr sz="2600"/>
          </a:p>
        </p:txBody>
      </p:sp>
      <p:sp>
        <p:nvSpPr>
          <p:cNvPr id="3" name="Text 1">
            <a:extLst xmlns:a="http://schemas.openxmlformats.org/drawingml/2006/main">
              <a:ext uri="{FF2B5EF4-FFF2-40B4-BE49-F238E27FC236}">
                <a16:creationId xmlns:a16="http://schemas.microsoft.com/office/drawing/2014/main" id="{EC1F94E2-85A1-4441-9715-C75268027B76}"/>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image-smoke — بناء مرة واحدة مع تخزين الطبقات</a:t>
            </a:r>
            <a:endParaRPr sz="1300"/>
          </a:p>
        </p:txBody>
      </p:sp>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09515e543ccc4aa4"/>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D37D7211-C6D2-45FB-8ADC-3A15AD3E35F7}"/>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1732B8E7-5451-4524-99D7-ECCAE7DF5B3C}"/>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5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833FA06C-5377-4EAF-AC7F-9377D24901AF}"/>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113</a:t>
            </a:r>
            <a:endParaRPr sz="850"/>
          </a:p>
        </p:txBody>
      </p:sp>
      <p:sp>
        <p:nvSpPr>
          <p:cNvPr id="8" name="Shape 5">
            <a:extLst xmlns:a="http://schemas.openxmlformats.org/drawingml/2006/main">
              <a:ext uri="{FF2B5EF4-FFF2-40B4-BE49-F238E27FC236}">
                <a16:creationId xmlns:a16="http://schemas.microsoft.com/office/drawing/2014/main" id="{9D20FD1F-2F3E-47E9-B4C8-2DA905BA3C3A}"/>
              </a:ext>
            </a:extLst>
          </p:cNvPr>
          <p:cNvSpPr>
            <a:spLocks xmlns:a="http://schemas.openxmlformats.org/drawingml/2006/main" noGrp="1"/>
          </p:cNvSpPr>
          <p:nvPr/>
        </p:nvSpPr>
        <p:spPr>
          <a:xfrm xmlns:a="http://schemas.openxmlformats.org/drawingml/2006/main">
            <a:off x="502920" y="1481328"/>
            <a:ext cx="7635240" cy="4617720"/>
          </a:xfrm>
          <a:prstGeom xmlns:a="http://schemas.openxmlformats.org/drawingml/2006/main" prst="roundRect">
            <a:avLst>
              <a:gd name="adj" fmla="val 1584"/>
            </a:avLst>
          </a:prstGeom>
          <a:solidFill xmlns:a="http://schemas.openxmlformats.org/drawingml/2006/main">
            <a:srgbClr val="1A2233"/>
          </a:solidFill>
        </p:spPr>
      </p:sp>
      <p:sp>
        <p:nvSpPr>
          <p:cNvPr id="9" name="Shape 6">
            <a:extLst xmlns:a="http://schemas.openxmlformats.org/drawingml/2006/main">
              <a:ext uri="{FF2B5EF4-FFF2-40B4-BE49-F238E27FC236}">
                <a16:creationId xmlns:a16="http://schemas.microsoft.com/office/drawing/2014/main" id="{62C959AC-87F1-41AE-9589-D855A1754B65}"/>
              </a:ext>
            </a:extLst>
          </p:cNvPr>
          <p:cNvSpPr>
            <a:spLocks xmlns:a="http://schemas.openxmlformats.org/drawingml/2006/main" noGrp="1"/>
          </p:cNvSpPr>
          <p:nvPr/>
        </p:nvSpPr>
        <p:spPr>
          <a:xfrm xmlns:a="http://schemas.openxmlformats.org/drawingml/2006/main">
            <a:off x="731520" y="1664208"/>
            <a:ext cx="109728" cy="109728"/>
          </a:xfrm>
          <a:prstGeom xmlns:a="http://schemas.openxmlformats.org/drawingml/2006/main" prst="ellipse">
            <a:avLst/>
          </a:prstGeom>
          <a:solidFill xmlns:a="http://schemas.openxmlformats.org/drawingml/2006/main">
            <a:srgbClr val="E8503A"/>
          </a:solidFill>
        </p:spPr>
      </p:sp>
      <p:sp>
        <p:nvSpPr>
          <p:cNvPr id="10" name="Shape 7">
            <a:extLst xmlns:a="http://schemas.openxmlformats.org/drawingml/2006/main">
              <a:ext uri="{FF2B5EF4-FFF2-40B4-BE49-F238E27FC236}">
                <a16:creationId xmlns:a16="http://schemas.microsoft.com/office/drawing/2014/main" id="{DE0311B1-8816-4B65-8218-DD064BF953CE}"/>
              </a:ext>
            </a:extLst>
          </p:cNvPr>
          <p:cNvSpPr>
            <a:spLocks xmlns:a="http://schemas.openxmlformats.org/drawingml/2006/main" noGrp="1"/>
          </p:cNvSpPr>
          <p:nvPr/>
        </p:nvSpPr>
        <p:spPr>
          <a:xfrm xmlns:a="http://schemas.openxmlformats.org/drawingml/2006/main">
            <a:off x="932688" y="1664208"/>
            <a:ext cx="109728" cy="109728"/>
          </a:xfrm>
          <a:prstGeom xmlns:a="http://schemas.openxmlformats.org/drawingml/2006/main" prst="ellipse">
            <a:avLst/>
          </a:prstGeom>
          <a:solidFill xmlns:a="http://schemas.openxmlformats.org/drawingml/2006/main">
            <a:srgbClr val="F5B820"/>
          </a:solidFill>
        </p:spPr>
      </p:sp>
      <p:sp>
        <p:nvSpPr>
          <p:cNvPr id="11" name="Shape 8">
            <a:extLst xmlns:a="http://schemas.openxmlformats.org/drawingml/2006/main">
              <a:ext uri="{FF2B5EF4-FFF2-40B4-BE49-F238E27FC236}">
                <a16:creationId xmlns:a16="http://schemas.microsoft.com/office/drawing/2014/main" id="{A7D2DB89-0405-4D80-86D8-E5AA19F93824}"/>
              </a:ext>
            </a:extLst>
          </p:cNvPr>
          <p:cNvSpPr>
            <a:spLocks xmlns:a="http://schemas.openxmlformats.org/drawingml/2006/main" noGrp="1"/>
          </p:cNvSpPr>
          <p:nvPr/>
        </p:nvSpPr>
        <p:spPr>
          <a:xfrm xmlns:a="http://schemas.openxmlformats.org/drawingml/2006/main">
            <a:off x="1133856" y="1664208"/>
            <a:ext cx="109728" cy="109728"/>
          </a:xfrm>
          <a:prstGeom xmlns:a="http://schemas.openxmlformats.org/drawingml/2006/main" prst="ellipse">
            <a:avLst/>
          </a:prstGeom>
          <a:solidFill xmlns:a="http://schemas.openxmlformats.org/drawingml/2006/main">
            <a:srgbClr val="8DC63F"/>
          </a:solidFill>
        </p:spPr>
      </p:sp>
      <p:sp>
        <p:nvSpPr>
          <p:cNvPr id="12" name="Text 9">
            <a:extLst xmlns:a="http://schemas.openxmlformats.org/drawingml/2006/main">
              <a:ext uri="{FF2B5EF4-FFF2-40B4-BE49-F238E27FC236}">
                <a16:creationId xmlns:a16="http://schemas.microsoft.com/office/drawing/2014/main" id="{BCD1321E-F9A9-43E9-9E0B-09F8FBB500A8}"/>
              </a:ext>
            </a:extLst>
          </p:cNvPr>
          <p:cNvSpPr>
            <a:spLocks xmlns:a="http://schemas.openxmlformats.org/drawingml/2006/main" noGrp="1"/>
          </p:cNvSpPr>
          <p:nvPr/>
        </p:nvSpPr>
        <p:spPr>
          <a:xfrm xmlns:a="http://schemas.openxmlformats.org/drawingml/2006/main">
            <a:off x="4526280" y="1609344"/>
            <a:ext cx="32918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6C8"/>
                </a:solidFill>
                <a:latin typeface="Consolas"/>
                <a:ea typeface="Consolas"/>
                <a:cs typeface="Consolas"/>
              </a:rPr>
              <a:t>.github/workflows/ci.yml</a:t>
            </a:r>
            <a:endParaRPr sz="900"/>
          </a:p>
        </p:txBody>
      </p:sp>
      <p:sp>
        <p:nvSpPr>
          <p:cNvPr id="13" name="Text 10">
            <a:extLst xmlns:a="http://schemas.openxmlformats.org/drawingml/2006/main">
              <a:ext uri="{FF2B5EF4-FFF2-40B4-BE49-F238E27FC236}">
                <a16:creationId xmlns:a16="http://schemas.microsoft.com/office/drawing/2014/main" id="{56BEB3D6-39E2-473B-9A47-DA0EC41DFA6F}"/>
              </a:ext>
            </a:extLst>
          </p:cNvPr>
          <p:cNvSpPr>
            <a:spLocks xmlns:a="http://schemas.openxmlformats.org/drawingml/2006/main" noGrp="1"/>
          </p:cNvSpPr>
          <p:nvPr/>
        </p:nvSpPr>
        <p:spPr>
          <a:xfrm xmlns:a="http://schemas.openxmlformats.org/drawingml/2006/main">
            <a:off x="713232" y="1965960"/>
            <a:ext cx="717804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100">
                <a:solidFill>
                  <a:srgbClr val="D9E4F5"/>
                </a:solidFill>
                <a:latin typeface="Consolas"/>
                <a:ea typeface="Consolas"/>
                <a:cs typeface="Consolas"/>
              </a:rPr>
              <a:t>  image-smoke:                 # build once, prove artefact</a:t>
            </a:r>
            <a:endParaRPr sz="1100"/>
          </a:p>
          <a:p xmlns:a="http://schemas.openxmlformats.org/drawingml/2006/main">
            <a:pPr marL="0" indent="0">
              <a:lnSpc>
                <a:spcPct val="112000"/>
              </a:lnSpc>
              <a:buNone/>
            </a:pPr>
            <a:r>
              <a:rPr sz="1100">
                <a:solidFill>
                  <a:srgbClr val="D9E4F5"/>
                </a:solidFill>
                <a:latin typeface="Consolas"/>
                <a:ea typeface="Consolas"/>
                <a:cs typeface="Consolas"/>
              </a:rPr>
              <a:t>    runs-on: ubuntu-latest</a:t>
            </a:r>
            <a:endParaRPr sz="1100"/>
          </a:p>
          <a:p xmlns:a="http://schemas.openxmlformats.org/drawingml/2006/main">
            <a:pPr marL="0" indent="0">
              <a:lnSpc>
                <a:spcPct val="112000"/>
              </a:lnSpc>
              <a:buNone/>
            </a:pPr>
            <a:r>
              <a:rPr sz="1100">
                <a:solidFill>
                  <a:srgbClr val="D9E4F5"/>
                </a:solidFill>
                <a:latin typeface="Consolas"/>
                <a:ea typeface="Consolas"/>
                <a:cs typeface="Consolas"/>
              </a:rPr>
              <a:t>    needs: [lint, test]        # gated by the cheap checks</a:t>
            </a:r>
            <a:endParaRPr sz="1100"/>
          </a:p>
          <a:p xmlns:a="http://schemas.openxmlformats.org/drawingml/2006/main">
            <a:pPr marL="0" indent="0">
              <a:lnSpc>
                <a:spcPct val="112000"/>
              </a:lnSpc>
              <a:buNone/>
            </a:pPr>
            <a:r>
              <a:rPr sz="1100">
                <a:solidFill>
                  <a:srgbClr val="D9E4F5"/>
                </a:solidFill>
                <a:latin typeface="Consolas"/>
                <a:ea typeface="Consolas"/>
                <a:cs typeface="Consolas"/>
              </a:rPr>
              <a:t>    steps:</a:t>
            </a:r>
            <a:endParaRPr sz="1100"/>
          </a:p>
          <a:p xmlns:a="http://schemas.openxmlformats.org/drawingml/2006/main">
            <a:pPr marL="0" indent="0">
              <a:lnSpc>
                <a:spcPct val="112000"/>
              </a:lnSpc>
              <a:buNone/>
            </a:pPr>
            <a:r>
              <a:rPr sz="1100">
                <a:solidFill>
                  <a:srgbClr val="D9E4F5"/>
                </a:solidFill>
                <a:latin typeface="Consolas"/>
                <a:ea typeface="Consolas"/>
                <a:cs typeface="Consolas"/>
              </a:rPr>
              <a:t>      - uses: actions/checkout@v4</a:t>
            </a:r>
            <a:endParaRPr sz="1100"/>
          </a:p>
          <a:p xmlns:a="http://schemas.openxmlformats.org/drawingml/2006/main">
            <a:pPr marL="0" indent="0">
              <a:lnSpc>
                <a:spcPct val="112000"/>
              </a:lnSpc>
              <a:buNone/>
            </a:pPr>
            <a:r>
              <a:rPr sz="1100">
                <a:solidFill>
                  <a:srgbClr val="D9E4F5"/>
                </a:solidFill>
                <a:latin typeface="Consolas"/>
                <a:ea typeface="Consolas"/>
                <a:cs typeface="Consolas"/>
              </a:rPr>
              <a:t>        with: {lfs: true}</a:t>
            </a:r>
            <a:endParaRPr sz="1100"/>
          </a:p>
          <a:p xmlns:a="http://schemas.openxmlformats.org/drawingml/2006/main">
            <a:pPr marL="0" indent="0">
              <a:lnSpc>
                <a:spcPct val="112000"/>
              </a:lnSpc>
              <a:buNone/>
            </a:pPr>
            <a:r>
              <a:rPr sz="1100">
                <a:solidFill>
                  <a:srgbClr val="D9E4F5"/>
                </a:solidFill>
                <a:latin typeface="Consolas"/>
                <a:ea typeface="Consolas"/>
                <a:cs typeface="Consolas"/>
              </a:rPr>
              <a:t>      - uses: docker/setup-buildx-action@v3</a:t>
            </a:r>
            <a:endParaRPr sz="1100"/>
          </a:p>
          <a:p xmlns:a="http://schemas.openxmlformats.org/drawingml/2006/main">
            <a:pPr marL="0" indent="0">
              <a:lnSpc>
                <a:spcPct val="112000"/>
              </a:lnSpc>
              <a:buNone/>
            </a:pPr>
            <a:r>
              <a:rPr sz="1100">
                <a:solidFill>
                  <a:srgbClr val="D9E4F5"/>
                </a:solidFill>
                <a:latin typeface="Consolas"/>
                <a:ea typeface="Consolas"/>
                <a:cs typeface="Consolas"/>
              </a:rPr>
              <a:t>      - name: Build with GHA layer cache</a:t>
            </a:r>
            <a:endParaRPr sz="1100"/>
          </a:p>
          <a:p xmlns:a="http://schemas.openxmlformats.org/drawingml/2006/main">
            <a:pPr marL="0" indent="0">
              <a:lnSpc>
                <a:spcPct val="112000"/>
              </a:lnSpc>
              <a:buNone/>
            </a:pPr>
            <a:r>
              <a:rPr sz="1100">
                <a:solidFill>
                  <a:srgbClr val="D9E4F5"/>
                </a:solidFill>
                <a:latin typeface="Consolas"/>
                <a:ea typeface="Consolas"/>
                <a:cs typeface="Consolas"/>
              </a:rPr>
              <a:t>        uses: docker/build-push-action@v6</a:t>
            </a:r>
            <a:endParaRPr sz="1100"/>
          </a:p>
          <a:p xmlns:a="http://schemas.openxmlformats.org/drawingml/2006/main">
            <a:pPr marL="0" indent="0">
              <a:lnSpc>
                <a:spcPct val="112000"/>
              </a:lnSpc>
              <a:buNone/>
            </a:pPr>
            <a:r>
              <a:rPr sz="1100">
                <a:solidFill>
                  <a:srgbClr val="D9E4F5"/>
                </a:solidFill>
                <a:latin typeface="Consolas"/>
                <a:ea typeface="Consolas"/>
                <a:cs typeface="Consolas"/>
              </a:rPr>
              <a:t>        with:</a:t>
            </a:r>
            <a:endParaRPr sz="1100"/>
          </a:p>
          <a:p xmlns:a="http://schemas.openxmlformats.org/drawingml/2006/main">
            <a:pPr marL="0" indent="0">
              <a:lnSpc>
                <a:spcPct val="112000"/>
              </a:lnSpc>
              <a:buNone/>
            </a:pPr>
            <a:r>
              <a:rPr sz="1100">
                <a:solidFill>
                  <a:srgbClr val="D9E4F5"/>
                </a:solidFill>
                <a:latin typeface="Consolas"/>
                <a:ea typeface="Consolas"/>
                <a:cs typeface="Consolas"/>
              </a:rPr>
              <a:t>          context: .</a:t>
            </a:r>
            <a:endParaRPr sz="1100"/>
          </a:p>
          <a:p xmlns:a="http://schemas.openxmlformats.org/drawingml/2006/main">
            <a:pPr marL="0" indent="0">
              <a:lnSpc>
                <a:spcPct val="112000"/>
              </a:lnSpc>
              <a:buNone/>
            </a:pPr>
            <a:r>
              <a:rPr sz="1100">
                <a:solidFill>
                  <a:srgbClr val="D9E4F5"/>
                </a:solidFill>
                <a:latin typeface="Consolas"/>
                <a:ea typeface="Consolas"/>
                <a:cs typeface="Consolas"/>
              </a:rPr>
              <a:t>          load: true           # load locally to smoke it</a:t>
            </a:r>
            <a:endParaRPr sz="1100"/>
          </a:p>
          <a:p xmlns:a="http://schemas.openxmlformats.org/drawingml/2006/main">
            <a:pPr marL="0" indent="0">
              <a:lnSpc>
                <a:spcPct val="112000"/>
              </a:lnSpc>
              <a:buNone/>
            </a:pPr>
            <a:r>
              <a:rPr sz="1100">
                <a:solidFill>
                  <a:srgbClr val="D9E4F5"/>
                </a:solidFill>
                <a:latin typeface="Consolas"/>
                <a:ea typeface="Consolas"/>
                <a:cs typeface="Consolas"/>
              </a:rPr>
              <a:t>          tags: ${{ env.IMAGE }}:${{ github.sha }}</a:t>
            </a:r>
            <a:endParaRPr sz="1100"/>
          </a:p>
          <a:p xmlns:a="http://schemas.openxmlformats.org/drawingml/2006/main">
            <a:pPr marL="0" indent="0">
              <a:lnSpc>
                <a:spcPct val="112000"/>
              </a:lnSpc>
              <a:buNone/>
            </a:pPr>
            <a:r>
              <a:rPr sz="1100">
                <a:solidFill>
                  <a:srgbClr val="D9E4F5"/>
                </a:solidFill>
                <a:latin typeface="Consolas"/>
                <a:ea typeface="Consolas"/>
                <a:cs typeface="Consolas"/>
              </a:rPr>
              <a:t>          cache-from: type=gha</a:t>
            </a:r>
            <a:endParaRPr sz="1100"/>
          </a:p>
          <a:p xmlns:a="http://schemas.openxmlformats.org/drawingml/2006/main">
            <a:pPr marL="0" indent="0">
              <a:lnSpc>
                <a:spcPct val="112000"/>
              </a:lnSpc>
              <a:buNone/>
            </a:pPr>
            <a:r>
              <a:rPr sz="1100">
                <a:solidFill>
                  <a:srgbClr val="D9E4F5"/>
                </a:solidFill>
                <a:latin typeface="Consolas"/>
                <a:ea typeface="Consolas"/>
                <a:cs typeface="Consolas"/>
              </a:rPr>
              <a:t>          cache-to: type=gha,mode=max</a:t>
            </a:r>
            <a:endParaRPr sz="1100"/>
          </a:p>
        </p:txBody>
      </p:sp>
      <p:sp>
        <p:nvSpPr>
          <p:cNvPr id="14" name="Shape 11">
            <a:extLst xmlns:a="http://schemas.openxmlformats.org/drawingml/2006/main">
              <a:ext uri="{FF2B5EF4-FFF2-40B4-BE49-F238E27FC236}">
                <a16:creationId xmlns:a16="http://schemas.microsoft.com/office/drawing/2014/main" id="{82788CFB-B204-4E02-BBF6-FA3E0BFEC711}"/>
              </a:ext>
            </a:extLst>
          </p:cNvPr>
          <p:cNvSpPr>
            <a:spLocks xmlns:a="http://schemas.openxmlformats.org/drawingml/2006/main" noGrp="1"/>
          </p:cNvSpPr>
          <p:nvPr/>
        </p:nvSpPr>
        <p:spPr>
          <a:xfrm xmlns:a="http://schemas.openxmlformats.org/drawingml/2006/main">
            <a:off x="8321040" y="1481328"/>
            <a:ext cx="3364992" cy="1017270"/>
          </a:xfrm>
          <a:prstGeom xmlns:a="http://schemas.openxmlformats.org/drawingml/2006/main" prst="roundRect">
            <a:avLst>
              <a:gd name="adj" fmla="val 5393"/>
            </a:avLst>
          </a:prstGeom>
          <a:solidFill xmlns:a="http://schemas.openxmlformats.org/drawingml/2006/main">
            <a:srgbClr val="D4F1EE"/>
          </a:solidFill>
        </p:spPr>
      </p:sp>
      <p:sp>
        <p:nvSpPr>
          <p:cNvPr id="15" name="Text 12">
            <a:extLst xmlns:a="http://schemas.openxmlformats.org/drawingml/2006/main">
              <a:ext uri="{FF2B5EF4-FFF2-40B4-BE49-F238E27FC236}">
                <a16:creationId xmlns:a16="http://schemas.microsoft.com/office/drawing/2014/main" id="{DF44A646-4CBA-4011-993F-703F011196D3}"/>
              </a:ext>
            </a:extLst>
          </p:cNvPr>
          <p:cNvSpPr>
            <a:spLocks xmlns:a="http://schemas.openxmlformats.org/drawingml/2006/main" noGrp="1"/>
          </p:cNvSpPr>
          <p:nvPr/>
        </p:nvSpPr>
        <p:spPr>
          <a:xfrm xmlns:a="http://schemas.openxmlformats.org/drawingml/2006/main">
            <a:off x="8485632" y="157276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Gated by cheap checks</a:t>
            </a:r>
            <a:endParaRPr sz="1050"/>
          </a:p>
        </p:txBody>
      </p:sp>
      <p:sp>
        <p:nvSpPr>
          <p:cNvPr id="16" name="Text 13">
            <a:extLst xmlns:a="http://schemas.openxmlformats.org/drawingml/2006/main">
              <a:ext uri="{FF2B5EF4-FFF2-40B4-BE49-F238E27FC236}">
                <a16:creationId xmlns:a16="http://schemas.microsoft.com/office/drawing/2014/main" id="{1D97BD59-A3D1-4BFB-9B3E-4DD26DA728E9}"/>
              </a:ext>
            </a:extLst>
          </p:cNvPr>
          <p:cNvSpPr>
            <a:spLocks xmlns:a="http://schemas.openxmlformats.org/drawingml/2006/main" noGrp="1"/>
          </p:cNvSpPr>
          <p:nvPr/>
        </p:nvSpPr>
        <p:spPr>
          <a:xfrm xmlns:a="http://schemas.openxmlformats.org/drawingml/2006/main">
            <a:off x="8485632" y="1847088"/>
            <a:ext cx="3063240" cy="5600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needs: [lint, test] means the expensive build only runs once the fast gates are green.</a:t>
            </a:r>
            <a:endParaRPr sz="930"/>
          </a:p>
        </p:txBody>
      </p:sp>
      <p:sp>
        <p:nvSpPr>
          <p:cNvPr id="17" name="Shape 14">
            <a:extLst xmlns:a="http://schemas.openxmlformats.org/drawingml/2006/main">
              <a:ext uri="{FF2B5EF4-FFF2-40B4-BE49-F238E27FC236}">
                <a16:creationId xmlns:a16="http://schemas.microsoft.com/office/drawing/2014/main" id="{17A4DBA5-9566-42EF-AA84-212D9326EAF8}"/>
              </a:ext>
            </a:extLst>
          </p:cNvPr>
          <p:cNvSpPr>
            <a:spLocks xmlns:a="http://schemas.openxmlformats.org/drawingml/2006/main" noGrp="1"/>
          </p:cNvSpPr>
          <p:nvPr/>
        </p:nvSpPr>
        <p:spPr>
          <a:xfrm xmlns:a="http://schemas.openxmlformats.org/drawingml/2006/main">
            <a:off x="8321040" y="2635758"/>
            <a:ext cx="3364992" cy="1017270"/>
          </a:xfrm>
          <a:prstGeom xmlns:a="http://schemas.openxmlformats.org/drawingml/2006/main" prst="roundRect">
            <a:avLst>
              <a:gd name="adj" fmla="val 5393"/>
            </a:avLst>
          </a:prstGeom>
          <a:solidFill xmlns:a="http://schemas.openxmlformats.org/drawingml/2006/main">
            <a:srgbClr val="D9F0FA"/>
          </a:solidFill>
        </p:spPr>
      </p:sp>
      <p:sp>
        <p:nvSpPr>
          <p:cNvPr id="18" name="Text 15">
            <a:extLst xmlns:a="http://schemas.openxmlformats.org/drawingml/2006/main">
              <a:ext uri="{FF2B5EF4-FFF2-40B4-BE49-F238E27FC236}">
                <a16:creationId xmlns:a16="http://schemas.microsoft.com/office/drawing/2014/main" id="{E5565BBF-DC2C-451E-967B-AF8B216A7DF7}"/>
              </a:ext>
            </a:extLst>
          </p:cNvPr>
          <p:cNvSpPr>
            <a:spLocks xmlns:a="http://schemas.openxmlformats.org/drawingml/2006/main" noGrp="1"/>
          </p:cNvSpPr>
          <p:nvPr/>
        </p:nvSpPr>
        <p:spPr>
          <a:xfrm xmlns:a="http://schemas.openxmlformats.org/drawingml/2006/main">
            <a:off x="8485632" y="272719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load, do not push</a:t>
            </a:r>
            <a:endParaRPr sz="1050"/>
          </a:p>
        </p:txBody>
      </p:sp>
      <p:sp>
        <p:nvSpPr>
          <p:cNvPr id="19" name="Text 16">
            <a:extLst xmlns:a="http://schemas.openxmlformats.org/drawingml/2006/main">
              <a:ext uri="{FF2B5EF4-FFF2-40B4-BE49-F238E27FC236}">
                <a16:creationId xmlns:a16="http://schemas.microsoft.com/office/drawing/2014/main" id="{8B24D013-E08E-4768-9F73-7C64F38E8AB3}"/>
              </a:ext>
            </a:extLst>
          </p:cNvPr>
          <p:cNvSpPr>
            <a:spLocks xmlns:a="http://schemas.openxmlformats.org/drawingml/2006/main" noGrp="1"/>
          </p:cNvSpPr>
          <p:nvPr/>
        </p:nvSpPr>
        <p:spPr>
          <a:xfrm xmlns:a="http://schemas.openxmlformats.org/drawingml/2006/main">
            <a:off x="8485632" y="3001518"/>
            <a:ext cx="3063240" cy="5600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load: true puts the image on the local runner so we can smoke-test it before anyone trusts it.</a:t>
            </a:r>
            <a:endParaRPr sz="930"/>
          </a:p>
        </p:txBody>
      </p:sp>
      <p:sp>
        <p:nvSpPr>
          <p:cNvPr id="20" name="Shape 17">
            <a:extLst xmlns:a="http://schemas.openxmlformats.org/drawingml/2006/main">
              <a:ext uri="{FF2B5EF4-FFF2-40B4-BE49-F238E27FC236}">
                <a16:creationId xmlns:a16="http://schemas.microsoft.com/office/drawing/2014/main" id="{B3019CFE-569A-4FEE-AFC7-4DEDF819A293}"/>
              </a:ext>
            </a:extLst>
          </p:cNvPr>
          <p:cNvSpPr>
            <a:spLocks xmlns:a="http://schemas.openxmlformats.org/drawingml/2006/main" noGrp="1"/>
          </p:cNvSpPr>
          <p:nvPr/>
        </p:nvSpPr>
        <p:spPr>
          <a:xfrm xmlns:a="http://schemas.openxmlformats.org/drawingml/2006/main">
            <a:off x="8321040" y="3790188"/>
            <a:ext cx="3364992" cy="1017270"/>
          </a:xfrm>
          <a:prstGeom xmlns:a="http://schemas.openxmlformats.org/drawingml/2006/main" prst="roundRect">
            <a:avLst>
              <a:gd name="adj" fmla="val 5393"/>
            </a:avLst>
          </a:prstGeom>
          <a:solidFill xmlns:a="http://schemas.openxmlformats.org/drawingml/2006/main">
            <a:srgbClr val="FDEBD7"/>
          </a:solidFill>
        </p:spPr>
      </p:sp>
      <p:sp>
        <p:nvSpPr>
          <p:cNvPr id="21" name="Text 18">
            <a:extLst xmlns:a="http://schemas.openxmlformats.org/drawingml/2006/main">
              <a:ext uri="{FF2B5EF4-FFF2-40B4-BE49-F238E27FC236}">
                <a16:creationId xmlns:a16="http://schemas.microsoft.com/office/drawing/2014/main" id="{A8A6E770-AB30-4E5D-8F56-043137FEFBB0}"/>
              </a:ext>
            </a:extLst>
          </p:cNvPr>
          <p:cNvSpPr>
            <a:spLocks xmlns:a="http://schemas.openxmlformats.org/drawingml/2006/main" noGrp="1"/>
          </p:cNvSpPr>
          <p:nvPr/>
        </p:nvSpPr>
        <p:spPr>
          <a:xfrm xmlns:a="http://schemas.openxmlformats.org/drawingml/2006/main">
            <a:off x="8485632" y="388162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SHA tag</a:t>
            </a:r>
            <a:endParaRPr sz="1050"/>
          </a:p>
        </p:txBody>
      </p:sp>
      <p:sp>
        <p:nvSpPr>
          <p:cNvPr id="22" name="Text 19">
            <a:extLst xmlns:a="http://schemas.openxmlformats.org/drawingml/2006/main">
              <a:ext uri="{FF2B5EF4-FFF2-40B4-BE49-F238E27FC236}">
                <a16:creationId xmlns:a16="http://schemas.microsoft.com/office/drawing/2014/main" id="{B2AF629B-B923-4FBF-BE91-FF599ACEC458}"/>
              </a:ext>
            </a:extLst>
          </p:cNvPr>
          <p:cNvSpPr>
            <a:spLocks xmlns:a="http://schemas.openxmlformats.org/drawingml/2006/main" noGrp="1"/>
          </p:cNvSpPr>
          <p:nvPr/>
        </p:nvSpPr>
        <p:spPr>
          <a:xfrm xmlns:a="http://schemas.openxmlformats.org/drawingml/2006/main">
            <a:off x="8485632" y="4155948"/>
            <a:ext cx="3063240" cy="5600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Tagged with github.sha — this exact commit becomes this exact image. No :latest, ever.</a:t>
            </a:r>
            <a:endParaRPr sz="930"/>
          </a:p>
        </p:txBody>
      </p:sp>
      <p:sp>
        <p:nvSpPr>
          <p:cNvPr id="23" name="Shape 20">
            <a:extLst xmlns:a="http://schemas.openxmlformats.org/drawingml/2006/main">
              <a:ext uri="{FF2B5EF4-FFF2-40B4-BE49-F238E27FC236}">
                <a16:creationId xmlns:a16="http://schemas.microsoft.com/office/drawing/2014/main" id="{F87F1E71-7A26-4C95-9D73-7B6AF8C42B18}"/>
              </a:ext>
            </a:extLst>
          </p:cNvPr>
          <p:cNvSpPr>
            <a:spLocks xmlns:a="http://schemas.openxmlformats.org/drawingml/2006/main" noGrp="1"/>
          </p:cNvSpPr>
          <p:nvPr/>
        </p:nvSpPr>
        <p:spPr>
          <a:xfrm xmlns:a="http://schemas.openxmlformats.org/drawingml/2006/main">
            <a:off x="8321040" y="4944618"/>
            <a:ext cx="3364992" cy="1017270"/>
          </a:xfrm>
          <a:prstGeom xmlns:a="http://schemas.openxmlformats.org/drawingml/2006/main" prst="roundRect">
            <a:avLst>
              <a:gd name="adj" fmla="val 5393"/>
            </a:avLst>
          </a:prstGeom>
          <a:solidFill xmlns:a="http://schemas.openxmlformats.org/drawingml/2006/main">
            <a:srgbClr val="EAF4DC"/>
          </a:solidFill>
        </p:spPr>
      </p:sp>
      <p:sp>
        <p:nvSpPr>
          <p:cNvPr id="24" name="Text 21">
            <a:extLst xmlns:a="http://schemas.openxmlformats.org/drawingml/2006/main">
              <a:ext uri="{FF2B5EF4-FFF2-40B4-BE49-F238E27FC236}">
                <a16:creationId xmlns:a16="http://schemas.microsoft.com/office/drawing/2014/main" id="{74EC7E68-D365-4EF8-8FAC-F3767B6EBA43}"/>
              </a:ext>
            </a:extLst>
          </p:cNvPr>
          <p:cNvSpPr>
            <a:spLocks xmlns:a="http://schemas.openxmlformats.org/drawingml/2006/main" noGrp="1"/>
          </p:cNvSpPr>
          <p:nvPr/>
        </p:nvSpPr>
        <p:spPr>
          <a:xfrm xmlns:a="http://schemas.openxmlformats.org/drawingml/2006/main">
            <a:off x="8485632" y="503605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GHA layer cache</a:t>
            </a:r>
            <a:endParaRPr sz="1050"/>
          </a:p>
        </p:txBody>
      </p:sp>
      <p:sp>
        <p:nvSpPr>
          <p:cNvPr id="25" name="Text 22">
            <a:extLst xmlns:a="http://schemas.openxmlformats.org/drawingml/2006/main">
              <a:ext uri="{FF2B5EF4-FFF2-40B4-BE49-F238E27FC236}">
                <a16:creationId xmlns:a16="http://schemas.microsoft.com/office/drawing/2014/main" id="{CB0A1F0E-8BFC-4B88-BDED-D0764D229F5C}"/>
              </a:ext>
            </a:extLst>
          </p:cNvPr>
          <p:cNvSpPr>
            <a:spLocks xmlns:a="http://schemas.openxmlformats.org/drawingml/2006/main" noGrp="1"/>
          </p:cNvSpPr>
          <p:nvPr/>
        </p:nvSpPr>
        <p:spPr>
          <a:xfrm xmlns:a="http://schemas.openxmlformats.org/drawingml/2006/main">
            <a:off x="8485632" y="5310378"/>
            <a:ext cx="3063240" cy="5600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cache-from/to: type=gha reuses layers between runs; the warm build drops from ~5m40s to ~1m.</a:t>
            </a:r>
            <a:endParaRPr sz="930"/>
          </a:p>
        </p:txBody>
      </p:sp>
    </p:spTree>
    <p:extLst>
      <p:ext uri="{BB962C8B-B14F-4D97-AF65-F5344CB8AC3E}">
        <p14:creationId xmlns:p14="http://schemas.microsoft.com/office/powerpoint/2010/main" val="156118917"/>
      </p:ext>
    </p:extLst>
  </p:cSld>
</p:sld>
</file>

<file path=ppt/slides/slide11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886C972-441C-49EA-8E14-A545BAA7D43E}"/>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The AI-specific gates</a:t>
            </a:r>
            <a:endParaRPr sz="2600"/>
          </a:p>
        </p:txBody>
      </p:sp>
      <p:sp>
        <p:nvSpPr>
          <p:cNvPr id="3" name="Text 1">
            <a:extLst xmlns:a="http://schemas.openxmlformats.org/drawingml/2006/main">
              <a:ext uri="{FF2B5EF4-FFF2-40B4-BE49-F238E27FC236}">
                <a16:creationId xmlns:a16="http://schemas.microsoft.com/office/drawing/2014/main" id="{746B53C5-37ED-457F-8274-5E50A0ED1EDC}"/>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البوابات الخاصة بالذكاء الاصطناعي</a:t>
            </a:r>
            <a:endParaRPr sz="1300"/>
          </a:p>
        </p:txBody>
      </p:sp>
      <p:pic>
        <p:nvPicPr>
          <p:cNvPr id="36" name="Image 0"/>
          <p:cNvPicPr>
            <a:picLocks xmlns:a="http://schemas.openxmlformats.org/drawingml/2006/main" noChangeAspect="1"/>
          </p:cNvPicPr>
          <p:nvPr/>
        </p:nvPicPr>
        <p:blipFill>
          <a:blip xmlns:r="http://schemas.openxmlformats.org/officeDocument/2006/relationships" xmlns:a="http://schemas.openxmlformats.org/drawingml/2006/main" r:embed="Rd96e78126df74904"/>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0737CAE0-2B51-4301-94BB-5165B7B7CCD0}"/>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F54C673A-A02B-44EF-9E65-0907C9B4FF59}"/>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5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B640993B-5614-4D64-BD0F-BAA432033ED6}"/>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114</a:t>
            </a:r>
            <a:endParaRPr sz="850"/>
          </a:p>
        </p:txBody>
      </p:sp>
      <p:sp>
        <p:nvSpPr>
          <p:cNvPr id="8" name="Shape 5">
            <a:extLst xmlns:a="http://schemas.openxmlformats.org/drawingml/2006/main">
              <a:ext uri="{FF2B5EF4-FFF2-40B4-BE49-F238E27FC236}">
                <a16:creationId xmlns:a16="http://schemas.microsoft.com/office/drawing/2014/main" id="{3492A92B-857B-44DF-9116-EC4F0539BAB1}"/>
              </a:ext>
            </a:extLst>
          </p:cNvPr>
          <p:cNvSpPr>
            <a:spLocks xmlns:a="http://schemas.openxmlformats.org/drawingml/2006/main" noGrp="1"/>
          </p:cNvSpPr>
          <p:nvPr/>
        </p:nvSpPr>
        <p:spPr>
          <a:xfrm xmlns:a="http://schemas.openxmlformats.org/drawingml/2006/main">
            <a:off x="502920" y="1517904"/>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15274BD9-6945-4E3E-85D9-EDF53A17F73D}"/>
              </a:ext>
            </a:extLst>
          </p:cNvPr>
          <p:cNvSpPr>
            <a:spLocks xmlns:a="http://schemas.openxmlformats.org/drawingml/2006/main" noGrp="1"/>
          </p:cNvSpPr>
          <p:nvPr/>
        </p:nvSpPr>
        <p:spPr>
          <a:xfrm xmlns:a="http://schemas.openxmlformats.org/drawingml/2006/main">
            <a:off x="502920" y="1517904"/>
            <a:ext cx="82296" cy="2272284"/>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914FA2B1-8474-415B-AB45-C1CE82B55005}"/>
              </a:ext>
            </a:extLst>
          </p:cNvPr>
          <p:cNvSpPr>
            <a:spLocks xmlns:a="http://schemas.openxmlformats.org/drawingml/2006/main" noGrp="1"/>
          </p:cNvSpPr>
          <p:nvPr/>
        </p:nvSpPr>
        <p:spPr>
          <a:xfrm xmlns:a="http://schemas.openxmlformats.org/drawingml/2006/main">
            <a:off x="722376" y="1636776"/>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00A79D"/>
                </a:solidFill>
                <a:latin typeface="Calibri"/>
                <a:ea typeface="Calibri"/>
                <a:cs typeface="Calibri"/>
              </a:rPr>
              <a:t>STANDARD</a:t>
            </a:r>
            <a:endParaRPr sz="900"/>
          </a:p>
        </p:txBody>
      </p:sp>
      <p:sp>
        <p:nvSpPr>
          <p:cNvPr id="11" name="Text 8">
            <a:extLst xmlns:a="http://schemas.openxmlformats.org/drawingml/2006/main">
              <a:ext uri="{FF2B5EF4-FFF2-40B4-BE49-F238E27FC236}">
                <a16:creationId xmlns:a16="http://schemas.microsoft.com/office/drawing/2014/main" id="{245A95F3-B3D6-4B08-BA5A-1AD89A4B9787}"/>
              </a:ext>
            </a:extLst>
          </p:cNvPr>
          <p:cNvSpPr>
            <a:spLocks xmlns:a="http://schemas.openxmlformats.org/drawingml/2006/main" noGrp="1"/>
          </p:cNvSpPr>
          <p:nvPr/>
        </p:nvSpPr>
        <p:spPr>
          <a:xfrm xmlns:a="http://schemas.openxmlformats.org/drawingml/2006/main">
            <a:off x="722376" y="1883664"/>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Lint · type · test</a:t>
            </a:r>
            <a:endParaRPr sz="1250"/>
          </a:p>
        </p:txBody>
      </p:sp>
      <p:sp>
        <p:nvSpPr>
          <p:cNvPr id="12" name="Text 9">
            <a:extLst xmlns:a="http://schemas.openxmlformats.org/drawingml/2006/main">
              <a:ext uri="{FF2B5EF4-FFF2-40B4-BE49-F238E27FC236}">
                <a16:creationId xmlns:a16="http://schemas.microsoft.com/office/drawing/2014/main" id="{EE248D88-7AEA-4AEC-9811-55AA7638FC94}"/>
              </a:ext>
            </a:extLst>
          </p:cNvPr>
          <p:cNvSpPr>
            <a:spLocks xmlns:a="http://schemas.openxmlformats.org/drawingml/2006/main" noGrp="1"/>
          </p:cNvSpPr>
          <p:nvPr/>
        </p:nvSpPr>
        <p:spPr>
          <a:xfrm xmlns:a="http://schemas.openxmlformats.org/drawingml/2006/main">
            <a:off x="722376" y="2404872"/>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ruff + mypy + pytest with a coverage floor — the fast per-commit trio that reports in about a minute.</a:t>
            </a:r>
            <a:endParaRPr sz="980"/>
          </a:p>
        </p:txBody>
      </p:sp>
      <p:sp>
        <p:nvSpPr>
          <p:cNvPr id="13" name="Shape 10">
            <a:extLst xmlns:a="http://schemas.openxmlformats.org/drawingml/2006/main">
              <a:ext uri="{FF2B5EF4-FFF2-40B4-BE49-F238E27FC236}">
                <a16:creationId xmlns:a16="http://schemas.microsoft.com/office/drawing/2014/main" id="{ECD20503-E524-41C6-88FB-9231CBFD0AD0}"/>
              </a:ext>
            </a:extLst>
          </p:cNvPr>
          <p:cNvSpPr>
            <a:spLocks xmlns:a="http://schemas.openxmlformats.org/drawingml/2006/main" noGrp="1"/>
          </p:cNvSpPr>
          <p:nvPr/>
        </p:nvSpPr>
        <p:spPr>
          <a:xfrm xmlns:a="http://schemas.openxmlformats.org/drawingml/2006/main">
            <a:off x="4322064" y="1517904"/>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14" name="Shape 11">
            <a:extLst xmlns:a="http://schemas.openxmlformats.org/drawingml/2006/main">
              <a:ext uri="{FF2B5EF4-FFF2-40B4-BE49-F238E27FC236}">
                <a16:creationId xmlns:a16="http://schemas.microsoft.com/office/drawing/2014/main" id="{D1D6766E-301D-48FE-9265-945C1D07C00E}"/>
              </a:ext>
            </a:extLst>
          </p:cNvPr>
          <p:cNvSpPr>
            <a:spLocks xmlns:a="http://schemas.openxmlformats.org/drawingml/2006/main" noGrp="1"/>
          </p:cNvSpPr>
          <p:nvPr/>
        </p:nvSpPr>
        <p:spPr>
          <a:xfrm xmlns:a="http://schemas.openxmlformats.org/drawingml/2006/main">
            <a:off x="4322064" y="1517904"/>
            <a:ext cx="82296" cy="2272284"/>
          </a:xfrm>
          <a:prstGeom xmlns:a="http://schemas.openxmlformats.org/drawingml/2006/main" prst="rect">
            <a:avLst/>
          </a:prstGeom>
          <a:solidFill xmlns:a="http://schemas.openxmlformats.org/drawingml/2006/main">
            <a:srgbClr val="29ABE2"/>
          </a:solidFill>
        </p:spPr>
      </p:sp>
      <p:sp>
        <p:nvSpPr>
          <p:cNvPr id="15" name="Text 12">
            <a:extLst xmlns:a="http://schemas.openxmlformats.org/drawingml/2006/main">
              <a:ext uri="{FF2B5EF4-FFF2-40B4-BE49-F238E27FC236}">
                <a16:creationId xmlns:a16="http://schemas.microsoft.com/office/drawing/2014/main" id="{85D79407-B735-4E0E-AD75-816C4DCE51F6}"/>
              </a:ext>
            </a:extLst>
          </p:cNvPr>
          <p:cNvSpPr>
            <a:spLocks xmlns:a="http://schemas.openxmlformats.org/drawingml/2006/main" noGrp="1"/>
          </p:cNvSpPr>
          <p:nvPr/>
        </p:nvSpPr>
        <p:spPr>
          <a:xfrm xmlns:a="http://schemas.openxmlformats.org/drawingml/2006/main">
            <a:off x="4541520" y="1636776"/>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29ABE2"/>
                </a:solidFill>
                <a:latin typeface="Calibri"/>
                <a:ea typeface="Calibri"/>
                <a:cs typeface="Calibri"/>
              </a:rPr>
              <a:t>BEHAVIOURAL</a:t>
            </a:r>
            <a:endParaRPr sz="900"/>
          </a:p>
        </p:txBody>
      </p:sp>
      <p:sp>
        <p:nvSpPr>
          <p:cNvPr id="16" name="Text 13">
            <a:extLst xmlns:a="http://schemas.openxmlformats.org/drawingml/2006/main">
              <a:ext uri="{FF2B5EF4-FFF2-40B4-BE49-F238E27FC236}">
                <a16:creationId xmlns:a16="http://schemas.microsoft.com/office/drawing/2014/main" id="{59A6B8BC-27BC-4D74-A676-EE04D206B671}"/>
              </a:ext>
            </a:extLst>
          </p:cNvPr>
          <p:cNvSpPr>
            <a:spLocks xmlns:a="http://schemas.openxmlformats.org/drawingml/2006/main" noGrp="1"/>
          </p:cNvSpPr>
          <p:nvPr/>
        </p:nvSpPr>
        <p:spPr>
          <a:xfrm xmlns:a="http://schemas.openxmlformats.org/drawingml/2006/main">
            <a:off x="4541520" y="1883664"/>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Real-artefact tests</a:t>
            </a:r>
            <a:endParaRPr sz="1250"/>
          </a:p>
        </p:txBody>
      </p:sp>
      <p:sp>
        <p:nvSpPr>
          <p:cNvPr id="17" name="Text 14">
            <a:extLst xmlns:a="http://schemas.openxmlformats.org/drawingml/2006/main">
              <a:ext uri="{FF2B5EF4-FFF2-40B4-BE49-F238E27FC236}">
                <a16:creationId xmlns:a16="http://schemas.microsoft.com/office/drawing/2014/main" id="{443F54C0-7ADE-4A75-A8C1-133700AF426D}"/>
              </a:ext>
            </a:extLst>
          </p:cNvPr>
          <p:cNvSpPr>
            <a:spLocks xmlns:a="http://schemas.openxmlformats.org/drawingml/2006/main" noGrp="1"/>
          </p:cNvSpPr>
          <p:nvPr/>
        </p:nvSpPr>
        <p:spPr>
          <a:xfrm xmlns:a="http://schemas.openxmlformats.org/drawingml/2006/main">
            <a:off x="4541520" y="2404872"/>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pytest -m behavioural needs the model in CI: Git LFS for small artefacts, authenticated download for large.</a:t>
            </a:r>
            <a:endParaRPr sz="980"/>
          </a:p>
        </p:txBody>
      </p:sp>
      <p:sp>
        <p:nvSpPr>
          <p:cNvPr id="18" name="Shape 15">
            <a:extLst xmlns:a="http://schemas.openxmlformats.org/drawingml/2006/main">
              <a:ext uri="{FF2B5EF4-FFF2-40B4-BE49-F238E27FC236}">
                <a16:creationId xmlns:a16="http://schemas.microsoft.com/office/drawing/2014/main" id="{F9952964-16D1-44F6-B8A7-80757D80215E}"/>
              </a:ext>
            </a:extLst>
          </p:cNvPr>
          <p:cNvSpPr>
            <a:spLocks xmlns:a="http://schemas.openxmlformats.org/drawingml/2006/main" noGrp="1"/>
          </p:cNvSpPr>
          <p:nvPr/>
        </p:nvSpPr>
        <p:spPr>
          <a:xfrm xmlns:a="http://schemas.openxmlformats.org/drawingml/2006/main">
            <a:off x="8141208" y="1517904"/>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19" name="Shape 16">
            <a:extLst xmlns:a="http://schemas.openxmlformats.org/drawingml/2006/main">
              <a:ext uri="{FF2B5EF4-FFF2-40B4-BE49-F238E27FC236}">
                <a16:creationId xmlns:a16="http://schemas.microsoft.com/office/drawing/2014/main" id="{1E0C2555-F4F8-492C-BD65-74111E367D5D}"/>
              </a:ext>
            </a:extLst>
          </p:cNvPr>
          <p:cNvSpPr>
            <a:spLocks xmlns:a="http://schemas.openxmlformats.org/drawingml/2006/main" noGrp="1"/>
          </p:cNvSpPr>
          <p:nvPr/>
        </p:nvSpPr>
        <p:spPr>
          <a:xfrm xmlns:a="http://schemas.openxmlformats.org/drawingml/2006/main">
            <a:off x="8141208" y="1517904"/>
            <a:ext cx="82296" cy="2272284"/>
          </a:xfrm>
          <a:prstGeom xmlns:a="http://schemas.openxmlformats.org/drawingml/2006/main" prst="rect">
            <a:avLst/>
          </a:prstGeom>
          <a:solidFill xmlns:a="http://schemas.openxmlformats.org/drawingml/2006/main">
            <a:srgbClr val="F58220"/>
          </a:solidFill>
        </p:spPr>
      </p:sp>
      <p:sp>
        <p:nvSpPr>
          <p:cNvPr id="20" name="Text 17">
            <a:extLst xmlns:a="http://schemas.openxmlformats.org/drawingml/2006/main">
              <a:ext uri="{FF2B5EF4-FFF2-40B4-BE49-F238E27FC236}">
                <a16:creationId xmlns:a16="http://schemas.microsoft.com/office/drawing/2014/main" id="{5EFA9E34-DBCF-4FEE-AC0D-D95EBA38B417}"/>
              </a:ext>
            </a:extLst>
          </p:cNvPr>
          <p:cNvSpPr>
            <a:spLocks xmlns:a="http://schemas.openxmlformats.org/drawingml/2006/main" noGrp="1"/>
          </p:cNvSpPr>
          <p:nvPr/>
        </p:nvSpPr>
        <p:spPr>
          <a:xfrm xmlns:a="http://schemas.openxmlformats.org/drawingml/2006/main">
            <a:off x="8360664" y="1636776"/>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F58220"/>
                </a:solidFill>
                <a:latin typeface="Calibri"/>
                <a:ea typeface="Calibri"/>
                <a:cs typeface="Calibri"/>
              </a:rPr>
              <a:t>SMOKE</a:t>
            </a:r>
            <a:endParaRPr sz="900"/>
          </a:p>
        </p:txBody>
      </p:sp>
      <p:sp>
        <p:nvSpPr>
          <p:cNvPr id="21" name="Text 18">
            <a:extLst xmlns:a="http://schemas.openxmlformats.org/drawingml/2006/main">
              <a:ext uri="{FF2B5EF4-FFF2-40B4-BE49-F238E27FC236}">
                <a16:creationId xmlns:a16="http://schemas.microsoft.com/office/drawing/2014/main" id="{4B1B8A34-55EC-4C39-884D-2BFD18CB2CCF}"/>
              </a:ext>
            </a:extLst>
          </p:cNvPr>
          <p:cNvSpPr>
            <a:spLocks xmlns:a="http://schemas.openxmlformats.org/drawingml/2006/main" noGrp="1"/>
          </p:cNvSpPr>
          <p:nvPr/>
        </p:nvSpPr>
        <p:spPr>
          <a:xfrm xmlns:a="http://schemas.openxmlformats.org/drawingml/2006/main">
            <a:off x="8360664" y="1883664"/>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Container smoke test</a:t>
            </a:r>
            <a:endParaRPr sz="1250"/>
          </a:p>
        </p:txBody>
      </p:sp>
      <p:sp>
        <p:nvSpPr>
          <p:cNvPr id="22" name="Text 19">
            <a:extLst xmlns:a="http://schemas.openxmlformats.org/drawingml/2006/main">
              <a:ext uri="{FF2B5EF4-FFF2-40B4-BE49-F238E27FC236}">
                <a16:creationId xmlns:a16="http://schemas.microsoft.com/office/drawing/2014/main" id="{C23FA568-9800-42D4-A044-828D0315DC9D}"/>
              </a:ext>
            </a:extLst>
          </p:cNvPr>
          <p:cNvSpPr>
            <a:spLocks xmlns:a="http://schemas.openxmlformats.org/drawingml/2006/main" noGrp="1"/>
          </p:cNvSpPr>
          <p:nvPr/>
        </p:nvSpPr>
        <p:spPr>
          <a:xfrm xmlns:a="http://schemas.openxmlformats.org/drawingml/2006/main">
            <a:off x="8360664" y="2404872"/>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Run the built image, wait for /ready, POST one predict, assert contract — catches 'works in venv, broken in image'.</a:t>
            </a:r>
            <a:endParaRPr sz="980"/>
          </a:p>
        </p:txBody>
      </p:sp>
      <p:sp>
        <p:nvSpPr>
          <p:cNvPr id="23" name="Shape 20">
            <a:extLst xmlns:a="http://schemas.openxmlformats.org/drawingml/2006/main">
              <a:ext uri="{FF2B5EF4-FFF2-40B4-BE49-F238E27FC236}">
                <a16:creationId xmlns:a16="http://schemas.microsoft.com/office/drawing/2014/main" id="{C3CCE0B3-0DD0-41DF-AFB1-B845ED38EA23}"/>
              </a:ext>
            </a:extLst>
          </p:cNvPr>
          <p:cNvSpPr>
            <a:spLocks xmlns:a="http://schemas.openxmlformats.org/drawingml/2006/main" noGrp="1"/>
          </p:cNvSpPr>
          <p:nvPr/>
        </p:nvSpPr>
        <p:spPr>
          <a:xfrm xmlns:a="http://schemas.openxmlformats.org/drawingml/2006/main">
            <a:off x="502920" y="4046220"/>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24" name="Shape 21">
            <a:extLst xmlns:a="http://schemas.openxmlformats.org/drawingml/2006/main">
              <a:ext uri="{FF2B5EF4-FFF2-40B4-BE49-F238E27FC236}">
                <a16:creationId xmlns:a16="http://schemas.microsoft.com/office/drawing/2014/main" id="{B45AD8C9-5D88-4884-AD4E-6C9CB76BA03A}"/>
              </a:ext>
            </a:extLst>
          </p:cNvPr>
          <p:cNvSpPr>
            <a:spLocks xmlns:a="http://schemas.openxmlformats.org/drawingml/2006/main" noGrp="1"/>
          </p:cNvSpPr>
          <p:nvPr/>
        </p:nvSpPr>
        <p:spPr>
          <a:xfrm xmlns:a="http://schemas.openxmlformats.org/drawingml/2006/main">
            <a:off x="502920" y="4046220"/>
            <a:ext cx="82296" cy="2272284"/>
          </a:xfrm>
          <a:prstGeom xmlns:a="http://schemas.openxmlformats.org/drawingml/2006/main" prst="rect">
            <a:avLst/>
          </a:prstGeom>
          <a:solidFill xmlns:a="http://schemas.openxmlformats.org/drawingml/2006/main">
            <a:srgbClr val="8DC63F"/>
          </a:solidFill>
        </p:spPr>
      </p:sp>
      <p:sp>
        <p:nvSpPr>
          <p:cNvPr id="25" name="Text 22">
            <a:extLst xmlns:a="http://schemas.openxmlformats.org/drawingml/2006/main">
              <a:ext uri="{FF2B5EF4-FFF2-40B4-BE49-F238E27FC236}">
                <a16:creationId xmlns:a16="http://schemas.microsoft.com/office/drawing/2014/main" id="{DB697466-8877-40FF-B5F9-790745871C74}"/>
              </a:ext>
            </a:extLst>
          </p:cNvPr>
          <p:cNvSpPr>
            <a:spLocks xmlns:a="http://schemas.openxmlformats.org/drawingml/2006/main" noGrp="1"/>
          </p:cNvSpPr>
          <p:nvPr/>
        </p:nvSpPr>
        <p:spPr>
          <a:xfrm xmlns:a="http://schemas.openxmlformats.org/drawingml/2006/main">
            <a:off x="722376" y="4165092"/>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8DC63F"/>
                </a:solidFill>
                <a:latin typeface="Calibri"/>
                <a:ea typeface="Calibri"/>
                <a:cs typeface="Calibri"/>
              </a:rPr>
              <a:t>SCAN</a:t>
            </a:r>
            <a:endParaRPr sz="900"/>
          </a:p>
        </p:txBody>
      </p:sp>
      <p:sp>
        <p:nvSpPr>
          <p:cNvPr id="26" name="Text 23">
            <a:extLst xmlns:a="http://schemas.openxmlformats.org/drawingml/2006/main">
              <a:ext uri="{FF2B5EF4-FFF2-40B4-BE49-F238E27FC236}">
                <a16:creationId xmlns:a16="http://schemas.microsoft.com/office/drawing/2014/main" id="{37B17664-096F-479B-89E4-B9285DB35751}"/>
              </a:ext>
            </a:extLst>
          </p:cNvPr>
          <p:cNvSpPr>
            <a:spLocks xmlns:a="http://schemas.openxmlformats.org/drawingml/2006/main" noGrp="1"/>
          </p:cNvSpPr>
          <p:nvPr/>
        </p:nvSpPr>
        <p:spPr>
          <a:xfrm xmlns:a="http://schemas.openxmlformats.org/drawingml/2006/main">
            <a:off x="722376" y="4411980"/>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Image vulnerability scan</a:t>
            </a:r>
            <a:endParaRPr sz="1250"/>
          </a:p>
        </p:txBody>
      </p:sp>
      <p:sp>
        <p:nvSpPr>
          <p:cNvPr id="27" name="Text 24">
            <a:extLst xmlns:a="http://schemas.openxmlformats.org/drawingml/2006/main">
              <a:ext uri="{FF2B5EF4-FFF2-40B4-BE49-F238E27FC236}">
                <a16:creationId xmlns:a16="http://schemas.microsoft.com/office/drawing/2014/main" id="{03470861-2415-4AC2-BCAA-5F03ADA384FA}"/>
              </a:ext>
            </a:extLst>
          </p:cNvPr>
          <p:cNvSpPr>
            <a:spLocks xmlns:a="http://schemas.openxmlformats.org/drawingml/2006/main" noGrp="1"/>
          </p:cNvSpPr>
          <p:nvPr/>
        </p:nvSpPr>
        <p:spPr>
          <a:xfrm xmlns:a="http://schemas.openxmlformats.org/drawingml/2006/main">
            <a:off x="722376" y="4933188"/>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trivy fails on HIGH/CRITICAL, with a documented expiring .trivyignore for accepted risks — not a blanket skip.</a:t>
            </a:r>
            <a:endParaRPr sz="980"/>
          </a:p>
        </p:txBody>
      </p:sp>
      <p:sp>
        <p:nvSpPr>
          <p:cNvPr id="28" name="Shape 25">
            <a:extLst xmlns:a="http://schemas.openxmlformats.org/drawingml/2006/main">
              <a:ext uri="{FF2B5EF4-FFF2-40B4-BE49-F238E27FC236}">
                <a16:creationId xmlns:a16="http://schemas.microsoft.com/office/drawing/2014/main" id="{C001306A-38EB-40B8-9FA0-14CFC4EEA321}"/>
              </a:ext>
            </a:extLst>
          </p:cNvPr>
          <p:cNvSpPr>
            <a:spLocks xmlns:a="http://schemas.openxmlformats.org/drawingml/2006/main" noGrp="1"/>
          </p:cNvSpPr>
          <p:nvPr/>
        </p:nvSpPr>
        <p:spPr>
          <a:xfrm xmlns:a="http://schemas.openxmlformats.org/drawingml/2006/main">
            <a:off x="4322064" y="4046220"/>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29" name="Shape 26">
            <a:extLst xmlns:a="http://schemas.openxmlformats.org/drawingml/2006/main">
              <a:ext uri="{FF2B5EF4-FFF2-40B4-BE49-F238E27FC236}">
                <a16:creationId xmlns:a16="http://schemas.microsoft.com/office/drawing/2014/main" id="{34E59355-9417-4482-ACA9-87FB7164C567}"/>
              </a:ext>
            </a:extLst>
          </p:cNvPr>
          <p:cNvSpPr>
            <a:spLocks xmlns:a="http://schemas.openxmlformats.org/drawingml/2006/main" noGrp="1"/>
          </p:cNvSpPr>
          <p:nvPr/>
        </p:nvSpPr>
        <p:spPr>
          <a:xfrm xmlns:a="http://schemas.openxmlformats.org/drawingml/2006/main">
            <a:off x="4322064" y="4046220"/>
            <a:ext cx="82296" cy="2272284"/>
          </a:xfrm>
          <a:prstGeom xmlns:a="http://schemas.openxmlformats.org/drawingml/2006/main" prst="rect">
            <a:avLst/>
          </a:prstGeom>
          <a:solidFill xmlns:a="http://schemas.openxmlformats.org/drawingml/2006/main">
            <a:srgbClr val="E8503A"/>
          </a:solidFill>
        </p:spPr>
      </p:sp>
      <p:sp>
        <p:nvSpPr>
          <p:cNvPr id="30" name="Text 27">
            <a:extLst xmlns:a="http://schemas.openxmlformats.org/drawingml/2006/main">
              <a:ext uri="{FF2B5EF4-FFF2-40B4-BE49-F238E27FC236}">
                <a16:creationId xmlns:a16="http://schemas.microsoft.com/office/drawing/2014/main" id="{BF37014F-422A-41FD-9413-78C877079E3F}"/>
              </a:ext>
            </a:extLst>
          </p:cNvPr>
          <p:cNvSpPr>
            <a:spLocks xmlns:a="http://schemas.openxmlformats.org/drawingml/2006/main" noGrp="1"/>
          </p:cNvSpPr>
          <p:nvPr/>
        </p:nvSpPr>
        <p:spPr>
          <a:xfrm xmlns:a="http://schemas.openxmlformats.org/drawingml/2006/main">
            <a:off x="4541520" y="4165092"/>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E8503A"/>
                </a:solidFill>
                <a:latin typeface="Calibri"/>
                <a:ea typeface="Calibri"/>
                <a:cs typeface="Calibri"/>
              </a:rPr>
              <a:t>EVIDENCE</a:t>
            </a:r>
            <a:endParaRPr sz="900"/>
          </a:p>
        </p:txBody>
      </p:sp>
      <p:sp>
        <p:nvSpPr>
          <p:cNvPr id="31" name="Text 28">
            <a:extLst xmlns:a="http://schemas.openxmlformats.org/drawingml/2006/main">
              <a:ext uri="{FF2B5EF4-FFF2-40B4-BE49-F238E27FC236}">
                <a16:creationId xmlns:a16="http://schemas.microsoft.com/office/drawing/2014/main" id="{95D17763-5ADB-4805-AFD7-635AEE595B6D}"/>
              </a:ext>
            </a:extLst>
          </p:cNvPr>
          <p:cNvSpPr>
            <a:spLocks xmlns:a="http://schemas.openxmlformats.org/drawingml/2006/main" noGrp="1"/>
          </p:cNvSpPr>
          <p:nvPr/>
        </p:nvSpPr>
        <p:spPr>
          <a:xfrm xmlns:a="http://schemas.openxmlformats.org/drawingml/2006/main">
            <a:off x="4541520" y="4411980"/>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Golden-diff artefact</a:t>
            </a:r>
            <a:endParaRPr sz="1250"/>
          </a:p>
        </p:txBody>
      </p:sp>
      <p:sp>
        <p:nvSpPr>
          <p:cNvPr id="32" name="Text 29">
            <a:extLst xmlns:a="http://schemas.openxmlformats.org/drawingml/2006/main">
              <a:ext uri="{FF2B5EF4-FFF2-40B4-BE49-F238E27FC236}">
                <a16:creationId xmlns:a16="http://schemas.microsoft.com/office/drawing/2014/main" id="{C757AAC4-E506-48BF-AE7A-50013B6DEBFB}"/>
              </a:ext>
            </a:extLst>
          </p:cNvPr>
          <p:cNvSpPr>
            <a:spLocks xmlns:a="http://schemas.openxmlformats.org/drawingml/2006/main" noGrp="1"/>
          </p:cNvSpPr>
          <p:nvPr/>
        </p:nvSpPr>
        <p:spPr>
          <a:xfrm xmlns:a="http://schemas.openxmlformats.org/drawingml/2006/main">
            <a:off x="4541520" y="4933188"/>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On behavioural failure, upload the diff CSV so the reviewer sees WHICH rows moved without rerunning anything.</a:t>
            </a:r>
            <a:endParaRPr sz="980"/>
          </a:p>
        </p:txBody>
      </p:sp>
    </p:spTree>
    <p:extLst>
      <p:ext uri="{BB962C8B-B14F-4D97-AF65-F5344CB8AC3E}">
        <p14:creationId xmlns:p14="http://schemas.microsoft.com/office/powerpoint/2010/main" val="610460921"/>
      </p:ext>
    </p:extLst>
  </p:cSld>
</p:sld>
</file>

<file path=ppt/slides/slide11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DE93625-B53B-468D-8AEF-21C60B6CEBDB}"/>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Smoke test the container + scan</a:t>
            </a:r>
            <a:endParaRPr sz="2600"/>
          </a:p>
        </p:txBody>
      </p:sp>
      <p:sp>
        <p:nvSpPr>
          <p:cNvPr id="3" name="Text 1">
            <a:extLst xmlns:a="http://schemas.openxmlformats.org/drawingml/2006/main">
              <a:ext uri="{FF2B5EF4-FFF2-40B4-BE49-F238E27FC236}">
                <a16:creationId xmlns:a16="http://schemas.microsoft.com/office/drawing/2014/main" id="{D2638D40-C4B8-4C3C-B33E-1E5A8CFF121C}"/>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اختبار الدخان للحاوية + الفحص</a:t>
            </a:r>
            <a:endParaRPr sz="1300"/>
          </a:p>
        </p:txBody>
      </p:sp>
      <p:pic>
        <p:nvPicPr>
          <p:cNvPr id="18" name="Image 0"/>
          <p:cNvPicPr>
            <a:picLocks xmlns:a="http://schemas.openxmlformats.org/drawingml/2006/main" noChangeAspect="1"/>
          </p:cNvPicPr>
          <p:nvPr/>
        </p:nvPicPr>
        <p:blipFill>
          <a:blip xmlns:r="http://schemas.openxmlformats.org/officeDocument/2006/relationships" xmlns:a="http://schemas.openxmlformats.org/drawingml/2006/main" r:embed="Rf5fad5252dab4911"/>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D6BB76D9-AC7E-4380-8CE8-B74D3563287C}"/>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30C7F036-B5BB-4295-B944-446020FF4002}"/>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5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78471762-B245-4A3C-A521-BD2C073A3C41}"/>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115</a:t>
            </a:r>
            <a:endParaRPr sz="850"/>
          </a:p>
        </p:txBody>
      </p:sp>
      <p:sp>
        <p:nvSpPr>
          <p:cNvPr id="8" name="Shape 5">
            <a:extLst xmlns:a="http://schemas.openxmlformats.org/drawingml/2006/main">
              <a:ext uri="{FF2B5EF4-FFF2-40B4-BE49-F238E27FC236}">
                <a16:creationId xmlns:a16="http://schemas.microsoft.com/office/drawing/2014/main" id="{C4E9BBD9-116F-4387-A644-5F15347AE394}"/>
              </a:ext>
            </a:extLst>
          </p:cNvPr>
          <p:cNvSpPr>
            <a:spLocks xmlns:a="http://schemas.openxmlformats.org/drawingml/2006/main" noGrp="1"/>
          </p:cNvSpPr>
          <p:nvPr/>
        </p:nvSpPr>
        <p:spPr>
          <a:xfrm xmlns:a="http://schemas.openxmlformats.org/drawingml/2006/main">
            <a:off x="502920" y="1481328"/>
            <a:ext cx="11183112" cy="4617720"/>
          </a:xfrm>
          <a:prstGeom xmlns:a="http://schemas.openxmlformats.org/drawingml/2006/main" prst="roundRect">
            <a:avLst>
              <a:gd name="adj" fmla="val 1584"/>
            </a:avLst>
          </a:prstGeom>
          <a:solidFill xmlns:a="http://schemas.openxmlformats.org/drawingml/2006/main">
            <a:srgbClr val="1A2233"/>
          </a:solidFill>
        </p:spPr>
      </p:sp>
      <p:sp>
        <p:nvSpPr>
          <p:cNvPr id="9" name="Shape 6">
            <a:extLst xmlns:a="http://schemas.openxmlformats.org/drawingml/2006/main">
              <a:ext uri="{FF2B5EF4-FFF2-40B4-BE49-F238E27FC236}">
                <a16:creationId xmlns:a16="http://schemas.microsoft.com/office/drawing/2014/main" id="{C5E8A07D-02B7-40D0-A32E-0A755ACA9038}"/>
              </a:ext>
            </a:extLst>
          </p:cNvPr>
          <p:cNvSpPr>
            <a:spLocks xmlns:a="http://schemas.openxmlformats.org/drawingml/2006/main" noGrp="1"/>
          </p:cNvSpPr>
          <p:nvPr/>
        </p:nvSpPr>
        <p:spPr>
          <a:xfrm xmlns:a="http://schemas.openxmlformats.org/drawingml/2006/main">
            <a:off x="731520" y="1664208"/>
            <a:ext cx="109728" cy="109728"/>
          </a:xfrm>
          <a:prstGeom xmlns:a="http://schemas.openxmlformats.org/drawingml/2006/main" prst="ellipse">
            <a:avLst/>
          </a:prstGeom>
          <a:solidFill xmlns:a="http://schemas.openxmlformats.org/drawingml/2006/main">
            <a:srgbClr val="E8503A"/>
          </a:solidFill>
        </p:spPr>
      </p:sp>
      <p:sp>
        <p:nvSpPr>
          <p:cNvPr id="10" name="Shape 7">
            <a:extLst xmlns:a="http://schemas.openxmlformats.org/drawingml/2006/main">
              <a:ext uri="{FF2B5EF4-FFF2-40B4-BE49-F238E27FC236}">
                <a16:creationId xmlns:a16="http://schemas.microsoft.com/office/drawing/2014/main" id="{CDEC9DD6-7A12-4FFB-961B-8B612C905BEC}"/>
              </a:ext>
            </a:extLst>
          </p:cNvPr>
          <p:cNvSpPr>
            <a:spLocks xmlns:a="http://schemas.openxmlformats.org/drawingml/2006/main" noGrp="1"/>
          </p:cNvSpPr>
          <p:nvPr/>
        </p:nvSpPr>
        <p:spPr>
          <a:xfrm xmlns:a="http://schemas.openxmlformats.org/drawingml/2006/main">
            <a:off x="932688" y="1664208"/>
            <a:ext cx="109728" cy="109728"/>
          </a:xfrm>
          <a:prstGeom xmlns:a="http://schemas.openxmlformats.org/drawingml/2006/main" prst="ellipse">
            <a:avLst/>
          </a:prstGeom>
          <a:solidFill xmlns:a="http://schemas.openxmlformats.org/drawingml/2006/main">
            <a:srgbClr val="F5B820"/>
          </a:solidFill>
        </p:spPr>
      </p:sp>
      <p:sp>
        <p:nvSpPr>
          <p:cNvPr id="11" name="Shape 8">
            <a:extLst xmlns:a="http://schemas.openxmlformats.org/drawingml/2006/main">
              <a:ext uri="{FF2B5EF4-FFF2-40B4-BE49-F238E27FC236}">
                <a16:creationId xmlns:a16="http://schemas.microsoft.com/office/drawing/2014/main" id="{321D35E3-FB84-4B18-B0DE-11F9CA2F8716}"/>
              </a:ext>
            </a:extLst>
          </p:cNvPr>
          <p:cNvSpPr>
            <a:spLocks xmlns:a="http://schemas.openxmlformats.org/drawingml/2006/main" noGrp="1"/>
          </p:cNvSpPr>
          <p:nvPr/>
        </p:nvSpPr>
        <p:spPr>
          <a:xfrm xmlns:a="http://schemas.openxmlformats.org/drawingml/2006/main">
            <a:off x="1133856" y="1664208"/>
            <a:ext cx="109728" cy="109728"/>
          </a:xfrm>
          <a:prstGeom xmlns:a="http://schemas.openxmlformats.org/drawingml/2006/main" prst="ellipse">
            <a:avLst/>
          </a:prstGeom>
          <a:solidFill xmlns:a="http://schemas.openxmlformats.org/drawingml/2006/main">
            <a:srgbClr val="8DC63F"/>
          </a:solidFill>
        </p:spPr>
      </p:sp>
      <p:sp>
        <p:nvSpPr>
          <p:cNvPr id="12" name="Text 9">
            <a:extLst xmlns:a="http://schemas.openxmlformats.org/drawingml/2006/main">
              <a:ext uri="{FF2B5EF4-FFF2-40B4-BE49-F238E27FC236}">
                <a16:creationId xmlns:a16="http://schemas.microsoft.com/office/drawing/2014/main" id="{2CA71B85-7A34-40A2-9C92-B4F1364D5CBC}"/>
              </a:ext>
            </a:extLst>
          </p:cNvPr>
          <p:cNvSpPr>
            <a:spLocks xmlns:a="http://schemas.openxmlformats.org/drawingml/2006/main" noGrp="1"/>
          </p:cNvSpPr>
          <p:nvPr/>
        </p:nvSpPr>
        <p:spPr>
          <a:xfrm xmlns:a="http://schemas.openxmlformats.org/drawingml/2006/main">
            <a:off x="8074152" y="1609344"/>
            <a:ext cx="32918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6C8"/>
                </a:solidFill>
                <a:latin typeface="Consolas"/>
                <a:ea typeface="Consolas"/>
                <a:cs typeface="Consolas"/>
              </a:rPr>
              <a:t>.github/workflows/ci.yml</a:t>
            </a:r>
            <a:endParaRPr sz="900"/>
          </a:p>
        </p:txBody>
      </p:sp>
      <p:sp>
        <p:nvSpPr>
          <p:cNvPr id="13" name="Text 10">
            <a:extLst xmlns:a="http://schemas.openxmlformats.org/drawingml/2006/main">
              <a:ext uri="{FF2B5EF4-FFF2-40B4-BE49-F238E27FC236}">
                <a16:creationId xmlns:a16="http://schemas.microsoft.com/office/drawing/2014/main" id="{D9D780F2-D298-4322-8ACA-2963F9F0DC8E}"/>
              </a:ext>
            </a:extLst>
          </p:cNvPr>
          <p:cNvSpPr>
            <a:spLocks xmlns:a="http://schemas.openxmlformats.org/drawingml/2006/main" noGrp="1"/>
          </p:cNvSpPr>
          <p:nvPr/>
        </p:nvSpPr>
        <p:spPr>
          <a:xfrm xmlns:a="http://schemas.openxmlformats.org/drawingml/2006/main">
            <a:off x="713232" y="1965960"/>
            <a:ext cx="10725912"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000">
                <a:solidFill>
                  <a:srgbClr val="D9E4F5"/>
                </a:solidFill>
                <a:latin typeface="Consolas"/>
                <a:ea typeface="Consolas"/>
                <a:cs typeface="Consolas"/>
              </a:rPr>
              <a:t>      - name: Smoke test the container</a:t>
            </a:r>
            <a:endParaRPr sz="1000"/>
          </a:p>
          <a:p xmlns:a="http://schemas.openxmlformats.org/drawingml/2006/main">
            <a:pPr marL="0" indent="0">
              <a:lnSpc>
                <a:spcPct val="112000"/>
              </a:lnSpc>
              <a:buNone/>
            </a:pPr>
            <a:r>
              <a:rPr sz="1000">
                <a:solidFill>
                  <a:srgbClr val="D9E4F5"/>
                </a:solidFill>
                <a:latin typeface="Consolas"/>
                <a:ea typeface="Consolas"/>
                <a:cs typeface="Consolas"/>
              </a:rPr>
              <a:t>        run: |</a:t>
            </a:r>
            <a:endParaRPr sz="1000"/>
          </a:p>
          <a:p xmlns:a="http://schemas.openxmlformats.org/drawingml/2006/main">
            <a:pPr marL="0" indent="0">
              <a:lnSpc>
                <a:spcPct val="112000"/>
              </a:lnSpc>
              <a:buNone/>
            </a:pPr>
            <a:r>
              <a:rPr sz="1000">
                <a:solidFill>
                  <a:srgbClr val="D9E4F5"/>
                </a:solidFill>
                <a:latin typeface="Consolas"/>
                <a:ea typeface="Consolas"/>
                <a:cs typeface="Consolas"/>
              </a:rPr>
              <a:t>          docker run -d --name svc -p 8000:8000 ${{ env.IMAGE }}:${{ github.sha }}</a:t>
            </a:r>
            <a:endParaRPr sz="1000"/>
          </a:p>
          <a:p xmlns:a="http://schemas.openxmlformats.org/drawingml/2006/main">
            <a:pPr marL="0" indent="0">
              <a:lnSpc>
                <a:spcPct val="112000"/>
              </a:lnSpc>
              <a:buNone/>
            </a:pPr>
            <a:r>
              <a:rPr sz="1000">
                <a:solidFill>
                  <a:srgbClr val="D9E4F5"/>
                </a:solidFill>
                <a:latin typeface="Consolas"/>
                <a:ea typeface="Consolas"/>
                <a:cs typeface="Consolas"/>
              </a:rPr>
              <a:t>          for i in $(seq 1 30); do</a:t>
            </a:r>
            <a:endParaRPr sz="1000"/>
          </a:p>
          <a:p xmlns:a="http://schemas.openxmlformats.org/drawingml/2006/main">
            <a:pPr marL="0" indent="0">
              <a:lnSpc>
                <a:spcPct val="112000"/>
              </a:lnSpc>
              <a:buNone/>
            </a:pPr>
            <a:r>
              <a:rPr sz="1000">
                <a:solidFill>
                  <a:srgbClr val="D9E4F5"/>
                </a:solidFill>
                <a:latin typeface="Consolas"/>
                <a:ea typeface="Consolas"/>
                <a:cs typeface="Consolas"/>
              </a:rPr>
              <a:t>            curl -fsS localhost:8000/v1/ready &amp;&amp; break || sleep 2</a:t>
            </a:r>
            <a:endParaRPr sz="1000"/>
          </a:p>
          <a:p xmlns:a="http://schemas.openxmlformats.org/drawingml/2006/main">
            <a:pPr marL="0" indent="0">
              <a:lnSpc>
                <a:spcPct val="112000"/>
              </a:lnSpc>
              <a:buNone/>
            </a:pPr>
            <a:r>
              <a:rPr sz="1000">
                <a:solidFill>
                  <a:srgbClr val="D9E4F5"/>
                </a:solidFill>
                <a:latin typeface="Consolas"/>
                <a:ea typeface="Consolas"/>
                <a:cs typeface="Consolas"/>
              </a:rPr>
              <a:t>          done</a:t>
            </a:r>
            <a:endParaRPr sz="1000"/>
          </a:p>
          <a:p xmlns:a="http://schemas.openxmlformats.org/drawingml/2006/main">
            <a:pPr marL="0" indent="0">
              <a:lnSpc>
                <a:spcPct val="112000"/>
              </a:lnSpc>
              <a:buNone/>
            </a:pPr>
            <a:r>
              <a:rPr sz="1000">
                <a:solidFill>
                  <a:srgbClr val="D9E4F5"/>
                </a:solidFill>
                <a:latin typeface="Consolas"/>
                <a:ea typeface="Consolas"/>
                <a:cs typeface="Consolas"/>
              </a:rPr>
              <a:t>          curl -fsS localhost:8000/v1/predict \</a:t>
            </a:r>
            <a:endParaRPr sz="1000"/>
          </a:p>
          <a:p xmlns:a="http://schemas.openxmlformats.org/drawingml/2006/main">
            <a:pPr marL="0" indent="0">
              <a:lnSpc>
                <a:spcPct val="112000"/>
              </a:lnSpc>
              <a:buNone/>
            </a:pPr>
            <a:r>
              <a:rPr sz="1000">
                <a:solidFill>
                  <a:srgbClr val="D9E4F5"/>
                </a:solidFill>
                <a:latin typeface="Consolas"/>
                <a:ea typeface="Consolas"/>
                <a:cs typeface="Consolas"/>
              </a:rPr>
              <a:t>               -H "content-type: application/json" -d @payloads/sample.json \</a:t>
            </a:r>
            <a:endParaRPr sz="1000"/>
          </a:p>
          <a:p xmlns:a="http://schemas.openxmlformats.org/drawingml/2006/main">
            <a:pPr marL="0" indent="0">
              <a:lnSpc>
                <a:spcPct val="112000"/>
              </a:lnSpc>
              <a:buNone/>
            </a:pPr>
            <a:r>
              <a:rPr sz="1000">
                <a:solidFill>
                  <a:srgbClr val="D9E4F5"/>
                </a:solidFill>
                <a:latin typeface="Consolas"/>
                <a:ea typeface="Consolas"/>
                <a:cs typeface="Consolas"/>
              </a:rPr>
              <a:t>            | python -c "import json,sys; b=json.load(sys.stdin); \</a:t>
            </a:r>
            <a:endParaRPr sz="1000"/>
          </a:p>
          <a:p xmlns:a="http://schemas.openxmlformats.org/drawingml/2006/main">
            <a:pPr marL="0" indent="0">
              <a:lnSpc>
                <a:spcPct val="112000"/>
              </a:lnSpc>
              <a:buNone/>
            </a:pPr>
            <a:r>
              <a:rPr sz="1000">
                <a:solidFill>
                  <a:srgbClr val="D9E4F5"/>
                </a:solidFill>
                <a:latin typeface="Consolas"/>
                <a:ea typeface="Consolas"/>
                <a:cs typeface="Consolas"/>
              </a:rPr>
              <a:t>                         assert 0&lt;=b['fraud_probability']&lt;=1; \</a:t>
            </a:r>
            <a:endParaRPr sz="1000"/>
          </a:p>
          <a:p xmlns:a="http://schemas.openxmlformats.org/drawingml/2006/main">
            <a:pPr marL="0" indent="0">
              <a:lnSpc>
                <a:spcPct val="112000"/>
              </a:lnSpc>
              <a:buNone/>
            </a:pPr>
            <a:r>
              <a:rPr sz="1000">
                <a:solidFill>
                  <a:srgbClr val="D9E4F5"/>
                </a:solidFill>
                <a:latin typeface="Consolas"/>
                <a:ea typeface="Consolas"/>
                <a:cs typeface="Consolas"/>
              </a:rPr>
              <a:t>                         assert b['model_version']; print('smoke OK')"</a:t>
            </a:r>
            <a:endParaRPr sz="1000"/>
          </a:p>
          <a:p xmlns:a="http://schemas.openxmlformats.org/drawingml/2006/main">
            <a:pPr marL="0" indent="0">
              <a:lnSpc>
                <a:spcPct val="112000"/>
              </a:lnSpc>
              <a:buNone/>
            </a:pPr>
            <a:r>
              <a:rPr sz="1000">
                <a:solidFill>
                  <a:srgbClr val="D9E4F5"/>
                </a:solidFill>
                <a:latin typeface="Consolas"/>
                <a:ea typeface="Consolas"/>
                <a:cs typeface="Consolas"/>
              </a:rPr>
              <a:t>          docker logs svc --tail 5</a:t>
            </a:r>
            <a:endParaRPr sz="1000"/>
          </a:p>
          <a:p xmlns:a="http://schemas.openxmlformats.org/drawingml/2006/main">
            <a:pPr marL="0" indent="0">
              <a:lnSpc>
                <a:spcPct val="112000"/>
              </a:lnSpc>
              <a:buNone/>
            </a:pPr>
            <a:r>
              <a:rPr sz="1000">
                <a:solidFill>
                  <a:srgbClr val="D9E4F5"/>
                </a:solidFill>
                <a:latin typeface="Consolas"/>
                <a:ea typeface="Consolas"/>
                <a:cs typeface="Consolas"/>
              </a:rPr>
              <a:t>      - name: Scan image (fail on HIGH/CRITICAL)</a:t>
            </a:r>
            <a:endParaRPr sz="1000"/>
          </a:p>
          <a:p xmlns:a="http://schemas.openxmlformats.org/drawingml/2006/main">
            <a:pPr marL="0" indent="0">
              <a:lnSpc>
                <a:spcPct val="112000"/>
              </a:lnSpc>
              <a:buNone/>
            </a:pPr>
            <a:r>
              <a:rPr sz="1000">
                <a:solidFill>
                  <a:srgbClr val="D9E4F5"/>
                </a:solidFill>
                <a:latin typeface="Consolas"/>
                <a:ea typeface="Consolas"/>
                <a:cs typeface="Consolas"/>
              </a:rPr>
              <a:t>        uses: aquasecurity/trivy-action@master</a:t>
            </a:r>
            <a:endParaRPr sz="1000"/>
          </a:p>
          <a:p xmlns:a="http://schemas.openxmlformats.org/drawingml/2006/main">
            <a:pPr marL="0" indent="0">
              <a:lnSpc>
                <a:spcPct val="112000"/>
              </a:lnSpc>
              <a:buNone/>
            </a:pPr>
            <a:r>
              <a:rPr sz="1000">
                <a:solidFill>
                  <a:srgbClr val="D9E4F5"/>
                </a:solidFill>
                <a:latin typeface="Consolas"/>
                <a:ea typeface="Consolas"/>
                <a:cs typeface="Consolas"/>
              </a:rPr>
              <a:t>        with:</a:t>
            </a:r>
            <a:endParaRPr sz="1000"/>
          </a:p>
          <a:p xmlns:a="http://schemas.openxmlformats.org/drawingml/2006/main">
            <a:pPr marL="0" indent="0">
              <a:lnSpc>
                <a:spcPct val="112000"/>
              </a:lnSpc>
              <a:buNone/>
            </a:pPr>
            <a:r>
              <a:rPr sz="1000">
                <a:solidFill>
                  <a:srgbClr val="D9E4F5"/>
                </a:solidFill>
                <a:latin typeface="Consolas"/>
                <a:ea typeface="Consolas"/>
                <a:cs typeface="Consolas"/>
              </a:rPr>
              <a:t>          image-ref: ${{ env.IMAGE }}:${{ github.sha }}</a:t>
            </a:r>
            <a:endParaRPr sz="1000"/>
          </a:p>
          <a:p xmlns:a="http://schemas.openxmlformats.org/drawingml/2006/main">
            <a:pPr marL="0" indent="0">
              <a:lnSpc>
                <a:spcPct val="112000"/>
              </a:lnSpc>
              <a:buNone/>
            </a:pPr>
            <a:r>
              <a:rPr sz="1000">
                <a:solidFill>
                  <a:srgbClr val="D9E4F5"/>
                </a:solidFill>
                <a:latin typeface="Consolas"/>
                <a:ea typeface="Consolas"/>
                <a:cs typeface="Consolas"/>
              </a:rPr>
              <a:t>          severity: HIGH,CRITICAL</a:t>
            </a:r>
            <a:endParaRPr sz="1000"/>
          </a:p>
          <a:p xmlns:a="http://schemas.openxmlformats.org/drawingml/2006/main">
            <a:pPr marL="0" indent="0">
              <a:lnSpc>
                <a:spcPct val="112000"/>
              </a:lnSpc>
              <a:buNone/>
            </a:pPr>
            <a:r>
              <a:rPr sz="1000">
                <a:solidFill>
                  <a:srgbClr val="D9E4F5"/>
                </a:solidFill>
                <a:latin typeface="Consolas"/>
                <a:ea typeface="Consolas"/>
                <a:cs typeface="Consolas"/>
              </a:rPr>
              <a:t>          exit-code: "1"</a:t>
            </a:r>
            <a:endParaRPr sz="1000"/>
          </a:p>
        </p:txBody>
      </p:sp>
      <p:sp>
        <p:nvSpPr>
          <p:cNvPr id="14" name="Text 11">
            <a:extLst xmlns:a="http://schemas.openxmlformats.org/drawingml/2006/main">
              <a:ext uri="{FF2B5EF4-FFF2-40B4-BE49-F238E27FC236}">
                <a16:creationId xmlns:a16="http://schemas.microsoft.com/office/drawing/2014/main" id="{47CC0484-388C-423B-9E9C-79D368038D29}"/>
              </a:ext>
            </a:extLst>
          </p:cNvPr>
          <p:cNvSpPr>
            <a:spLocks xmlns:a="http://schemas.openxmlformats.org/drawingml/2006/main" noGrp="1"/>
          </p:cNvSpPr>
          <p:nvPr/>
        </p:nvSpPr>
        <p:spPr>
          <a:xfrm xmlns:a="http://schemas.openxmlformats.org/drawingml/2006/main">
            <a:off x="502920" y="6144768"/>
            <a:ext cx="1115568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5F6B7A"/>
                </a:solidFill>
                <a:latin typeface="Calibri"/>
                <a:ea typeface="Calibri"/>
                <a:cs typeface="Calibri"/>
              </a:rPr>
              <a:t>The readiness loop is the fix for a flaky smoke test — poll, do not fixed-sleep.</a:t>
            </a:r>
            <a:endParaRPr sz="950"/>
          </a:p>
        </p:txBody>
      </p:sp>
    </p:spTree>
    <p:extLst>
      <p:ext uri="{BB962C8B-B14F-4D97-AF65-F5344CB8AC3E}">
        <p14:creationId xmlns:p14="http://schemas.microsoft.com/office/powerpoint/2010/main" val="1751799689"/>
      </p:ext>
    </p:extLst>
  </p:cSld>
</p:sld>
</file>

<file path=ppt/slides/slide11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DD87555-3B22-48EB-8364-E3CC3B65FF28}"/>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The publish job — delivery, main only</a:t>
            </a:r>
            <a:endParaRPr sz="2600"/>
          </a:p>
        </p:txBody>
      </p:sp>
      <p:sp>
        <p:nvSpPr>
          <p:cNvPr id="3" name="Text 1">
            <a:extLst xmlns:a="http://schemas.openxmlformats.org/drawingml/2006/main">
              <a:ext uri="{FF2B5EF4-FFF2-40B4-BE49-F238E27FC236}">
                <a16:creationId xmlns:a16="http://schemas.microsoft.com/office/drawing/2014/main" id="{0E4FEDFD-FCF4-4B62-8FD0-6F4632440412}"/>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مهمة النشر — التسليم من main فقط</a:t>
            </a:r>
            <a:endParaRPr sz="1300"/>
          </a:p>
        </p:txBody>
      </p:sp>
      <p:pic>
        <p:nvPicPr>
          <p:cNvPr id="18" name="Image 0"/>
          <p:cNvPicPr>
            <a:picLocks xmlns:a="http://schemas.openxmlformats.org/drawingml/2006/main" noChangeAspect="1"/>
          </p:cNvPicPr>
          <p:nvPr/>
        </p:nvPicPr>
        <p:blipFill>
          <a:blip xmlns:r="http://schemas.openxmlformats.org/officeDocument/2006/relationships" xmlns:a="http://schemas.openxmlformats.org/drawingml/2006/main" r:embed="R75ab071d679a462e"/>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2A0278D0-1F53-4B9B-BB1E-C203727D61CC}"/>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FB496C7B-A2BC-4040-B95E-686A2A45E38C}"/>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5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7D6F9C39-54FB-4815-98D0-6226C9C14BBE}"/>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116</a:t>
            </a:r>
            <a:endParaRPr sz="850"/>
          </a:p>
        </p:txBody>
      </p:sp>
      <p:sp>
        <p:nvSpPr>
          <p:cNvPr id="8" name="Shape 5">
            <a:extLst xmlns:a="http://schemas.openxmlformats.org/drawingml/2006/main">
              <a:ext uri="{FF2B5EF4-FFF2-40B4-BE49-F238E27FC236}">
                <a16:creationId xmlns:a16="http://schemas.microsoft.com/office/drawing/2014/main" id="{473499E6-73F4-4EAD-AD60-41EBC512D812}"/>
              </a:ext>
            </a:extLst>
          </p:cNvPr>
          <p:cNvSpPr>
            <a:spLocks xmlns:a="http://schemas.openxmlformats.org/drawingml/2006/main" noGrp="1"/>
          </p:cNvSpPr>
          <p:nvPr/>
        </p:nvSpPr>
        <p:spPr>
          <a:xfrm xmlns:a="http://schemas.openxmlformats.org/drawingml/2006/main">
            <a:off x="502920" y="1481328"/>
            <a:ext cx="11183112" cy="4617720"/>
          </a:xfrm>
          <a:prstGeom xmlns:a="http://schemas.openxmlformats.org/drawingml/2006/main" prst="roundRect">
            <a:avLst>
              <a:gd name="adj" fmla="val 1584"/>
            </a:avLst>
          </a:prstGeom>
          <a:solidFill xmlns:a="http://schemas.openxmlformats.org/drawingml/2006/main">
            <a:srgbClr val="1A2233"/>
          </a:solidFill>
        </p:spPr>
      </p:sp>
      <p:sp>
        <p:nvSpPr>
          <p:cNvPr id="9" name="Shape 6">
            <a:extLst xmlns:a="http://schemas.openxmlformats.org/drawingml/2006/main">
              <a:ext uri="{FF2B5EF4-FFF2-40B4-BE49-F238E27FC236}">
                <a16:creationId xmlns:a16="http://schemas.microsoft.com/office/drawing/2014/main" id="{3D3D4195-A8D6-46DD-B991-6304108EECEC}"/>
              </a:ext>
            </a:extLst>
          </p:cNvPr>
          <p:cNvSpPr>
            <a:spLocks xmlns:a="http://schemas.openxmlformats.org/drawingml/2006/main" noGrp="1"/>
          </p:cNvSpPr>
          <p:nvPr/>
        </p:nvSpPr>
        <p:spPr>
          <a:xfrm xmlns:a="http://schemas.openxmlformats.org/drawingml/2006/main">
            <a:off x="731520" y="1664208"/>
            <a:ext cx="109728" cy="109728"/>
          </a:xfrm>
          <a:prstGeom xmlns:a="http://schemas.openxmlformats.org/drawingml/2006/main" prst="ellipse">
            <a:avLst/>
          </a:prstGeom>
          <a:solidFill xmlns:a="http://schemas.openxmlformats.org/drawingml/2006/main">
            <a:srgbClr val="E8503A"/>
          </a:solidFill>
        </p:spPr>
      </p:sp>
      <p:sp>
        <p:nvSpPr>
          <p:cNvPr id="10" name="Shape 7">
            <a:extLst xmlns:a="http://schemas.openxmlformats.org/drawingml/2006/main">
              <a:ext uri="{FF2B5EF4-FFF2-40B4-BE49-F238E27FC236}">
                <a16:creationId xmlns:a16="http://schemas.microsoft.com/office/drawing/2014/main" id="{72CE8F60-3180-470B-8E1B-550EF8CD8300}"/>
              </a:ext>
            </a:extLst>
          </p:cNvPr>
          <p:cNvSpPr>
            <a:spLocks xmlns:a="http://schemas.openxmlformats.org/drawingml/2006/main" noGrp="1"/>
          </p:cNvSpPr>
          <p:nvPr/>
        </p:nvSpPr>
        <p:spPr>
          <a:xfrm xmlns:a="http://schemas.openxmlformats.org/drawingml/2006/main">
            <a:off x="932688" y="1664208"/>
            <a:ext cx="109728" cy="109728"/>
          </a:xfrm>
          <a:prstGeom xmlns:a="http://schemas.openxmlformats.org/drawingml/2006/main" prst="ellipse">
            <a:avLst/>
          </a:prstGeom>
          <a:solidFill xmlns:a="http://schemas.openxmlformats.org/drawingml/2006/main">
            <a:srgbClr val="F5B820"/>
          </a:solidFill>
        </p:spPr>
      </p:sp>
      <p:sp>
        <p:nvSpPr>
          <p:cNvPr id="11" name="Shape 8">
            <a:extLst xmlns:a="http://schemas.openxmlformats.org/drawingml/2006/main">
              <a:ext uri="{FF2B5EF4-FFF2-40B4-BE49-F238E27FC236}">
                <a16:creationId xmlns:a16="http://schemas.microsoft.com/office/drawing/2014/main" id="{7145349E-6DA5-4D9E-85DC-715E9EF9D0EE}"/>
              </a:ext>
            </a:extLst>
          </p:cNvPr>
          <p:cNvSpPr>
            <a:spLocks xmlns:a="http://schemas.openxmlformats.org/drawingml/2006/main" noGrp="1"/>
          </p:cNvSpPr>
          <p:nvPr/>
        </p:nvSpPr>
        <p:spPr>
          <a:xfrm xmlns:a="http://schemas.openxmlformats.org/drawingml/2006/main">
            <a:off x="1133856" y="1664208"/>
            <a:ext cx="109728" cy="109728"/>
          </a:xfrm>
          <a:prstGeom xmlns:a="http://schemas.openxmlformats.org/drawingml/2006/main" prst="ellipse">
            <a:avLst/>
          </a:prstGeom>
          <a:solidFill xmlns:a="http://schemas.openxmlformats.org/drawingml/2006/main">
            <a:srgbClr val="8DC63F"/>
          </a:solidFill>
        </p:spPr>
      </p:sp>
      <p:sp>
        <p:nvSpPr>
          <p:cNvPr id="12" name="Text 9">
            <a:extLst xmlns:a="http://schemas.openxmlformats.org/drawingml/2006/main">
              <a:ext uri="{FF2B5EF4-FFF2-40B4-BE49-F238E27FC236}">
                <a16:creationId xmlns:a16="http://schemas.microsoft.com/office/drawing/2014/main" id="{16B40483-680C-427A-925D-D07BBBFE744B}"/>
              </a:ext>
            </a:extLst>
          </p:cNvPr>
          <p:cNvSpPr>
            <a:spLocks xmlns:a="http://schemas.openxmlformats.org/drawingml/2006/main" noGrp="1"/>
          </p:cNvSpPr>
          <p:nvPr/>
        </p:nvSpPr>
        <p:spPr>
          <a:xfrm xmlns:a="http://schemas.openxmlformats.org/drawingml/2006/main">
            <a:off x="8074152" y="1609344"/>
            <a:ext cx="32918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6C8"/>
                </a:solidFill>
                <a:latin typeface="Consolas"/>
                <a:ea typeface="Consolas"/>
                <a:cs typeface="Consolas"/>
              </a:rPr>
              <a:t>.github/workflows/ci.yml</a:t>
            </a:r>
            <a:endParaRPr sz="900"/>
          </a:p>
        </p:txBody>
      </p:sp>
      <p:sp>
        <p:nvSpPr>
          <p:cNvPr id="13" name="Text 10">
            <a:extLst xmlns:a="http://schemas.openxmlformats.org/drawingml/2006/main">
              <a:ext uri="{FF2B5EF4-FFF2-40B4-BE49-F238E27FC236}">
                <a16:creationId xmlns:a16="http://schemas.microsoft.com/office/drawing/2014/main" id="{E73A33AF-D2BF-43EB-A17C-AAFBB5F3B815}"/>
              </a:ext>
            </a:extLst>
          </p:cNvPr>
          <p:cNvSpPr>
            <a:spLocks xmlns:a="http://schemas.openxmlformats.org/drawingml/2006/main" noGrp="1"/>
          </p:cNvSpPr>
          <p:nvPr/>
        </p:nvSpPr>
        <p:spPr>
          <a:xfrm xmlns:a="http://schemas.openxmlformats.org/drawingml/2006/main">
            <a:off x="713232" y="1965960"/>
            <a:ext cx="10725912"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000">
                <a:solidFill>
                  <a:srgbClr val="D9E4F5"/>
                </a:solidFill>
                <a:latin typeface="Consolas"/>
                <a:ea typeface="Consolas"/>
                <a:cs typeface="Consolas"/>
              </a:rPr>
              <a:t>  publish:                    # delivery: only on main, never PRs</a:t>
            </a:r>
            <a:endParaRPr sz="1000"/>
          </a:p>
          <a:p xmlns:a="http://schemas.openxmlformats.org/drawingml/2006/main">
            <a:pPr marL="0" indent="0">
              <a:lnSpc>
                <a:spcPct val="112000"/>
              </a:lnSpc>
              <a:buNone/>
            </a:pPr>
            <a:r>
              <a:rPr sz="1000">
                <a:solidFill>
                  <a:srgbClr val="D9E4F5"/>
                </a:solidFill>
                <a:latin typeface="Consolas"/>
                <a:ea typeface="Consolas"/>
                <a:cs typeface="Consolas"/>
              </a:rPr>
              <a:t>    runs-on: ubuntu-latest</a:t>
            </a:r>
            <a:endParaRPr sz="1000"/>
          </a:p>
          <a:p xmlns:a="http://schemas.openxmlformats.org/drawingml/2006/main">
            <a:pPr marL="0" indent="0">
              <a:lnSpc>
                <a:spcPct val="112000"/>
              </a:lnSpc>
              <a:buNone/>
            </a:pPr>
            <a:r>
              <a:rPr sz="1000">
                <a:solidFill>
                  <a:srgbClr val="D9E4F5"/>
                </a:solidFill>
                <a:latin typeface="Consolas"/>
                <a:ea typeface="Consolas"/>
                <a:cs typeface="Consolas"/>
              </a:rPr>
              <a:t>    if: github.event_name == 'push' &amp;&amp; github.ref == 'refs/heads/main'</a:t>
            </a:r>
            <a:endParaRPr sz="1000"/>
          </a:p>
          <a:p xmlns:a="http://schemas.openxmlformats.org/drawingml/2006/main">
            <a:pPr marL="0" indent="0">
              <a:lnSpc>
                <a:spcPct val="112000"/>
              </a:lnSpc>
              <a:buNone/>
            </a:pPr>
            <a:r>
              <a:rPr sz="1000">
                <a:solidFill>
                  <a:srgbClr val="D9E4F5"/>
                </a:solidFill>
                <a:latin typeface="Consolas"/>
                <a:ea typeface="Consolas"/>
                <a:cs typeface="Consolas"/>
              </a:rPr>
              <a:t>    needs: [image-smoke]</a:t>
            </a:r>
            <a:endParaRPr sz="1000"/>
          </a:p>
          <a:p xmlns:a="http://schemas.openxmlformats.org/drawingml/2006/main">
            <a:pPr marL="0" indent="0">
              <a:lnSpc>
                <a:spcPct val="112000"/>
              </a:lnSpc>
              <a:buNone/>
            </a:pPr>
            <a:r>
              <a:rPr sz="1000">
                <a:solidFill>
                  <a:srgbClr val="D9E4F5"/>
                </a:solidFill>
                <a:latin typeface="Consolas"/>
                <a:ea typeface="Consolas"/>
                <a:cs typeface="Consolas"/>
              </a:rPr>
              <a:t>    permissions:</a:t>
            </a:r>
            <a:endParaRPr sz="1000"/>
          </a:p>
          <a:p xmlns:a="http://schemas.openxmlformats.org/drawingml/2006/main">
            <a:pPr marL="0" indent="0">
              <a:lnSpc>
                <a:spcPct val="112000"/>
              </a:lnSpc>
              <a:buNone/>
            </a:pPr>
            <a:r>
              <a:rPr sz="1000">
                <a:solidFill>
                  <a:srgbClr val="D9E4F5"/>
                </a:solidFill>
                <a:latin typeface="Consolas"/>
                <a:ea typeface="Consolas"/>
                <a:cs typeface="Consolas"/>
              </a:rPr>
              <a:t>      contents: read</a:t>
            </a:r>
            <a:endParaRPr sz="1000"/>
          </a:p>
          <a:p xmlns:a="http://schemas.openxmlformats.org/drawingml/2006/main">
            <a:pPr marL="0" indent="0">
              <a:lnSpc>
                <a:spcPct val="112000"/>
              </a:lnSpc>
              <a:buNone/>
            </a:pPr>
            <a:r>
              <a:rPr sz="1000">
                <a:solidFill>
                  <a:srgbClr val="D9E4F5"/>
                </a:solidFill>
                <a:latin typeface="Consolas"/>
                <a:ea typeface="Consolas"/>
                <a:cs typeface="Consolas"/>
              </a:rPr>
              <a:t>      packages: write         # scoped token for GHCR push, no PAT</a:t>
            </a:r>
            <a:endParaRPr sz="1000"/>
          </a:p>
          <a:p xmlns:a="http://schemas.openxmlformats.org/drawingml/2006/main">
            <a:pPr marL="0" indent="0">
              <a:lnSpc>
                <a:spcPct val="112000"/>
              </a:lnSpc>
              <a:buNone/>
            </a:pPr>
            <a:r>
              <a:rPr sz="1000">
                <a:solidFill>
                  <a:srgbClr val="D9E4F5"/>
                </a:solidFill>
                <a:latin typeface="Consolas"/>
                <a:ea typeface="Consolas"/>
                <a:cs typeface="Consolas"/>
              </a:rPr>
              <a:t>    steps:</a:t>
            </a:r>
            <a:endParaRPr sz="1000"/>
          </a:p>
          <a:p xmlns:a="http://schemas.openxmlformats.org/drawingml/2006/main">
            <a:pPr marL="0" indent="0">
              <a:lnSpc>
                <a:spcPct val="112000"/>
              </a:lnSpc>
              <a:buNone/>
            </a:pPr>
            <a:r>
              <a:rPr sz="1000">
                <a:solidFill>
                  <a:srgbClr val="D9E4F5"/>
                </a:solidFill>
                <a:latin typeface="Consolas"/>
                <a:ea typeface="Consolas"/>
                <a:cs typeface="Consolas"/>
              </a:rPr>
              <a:t>      - uses: docker/login-action@v3</a:t>
            </a:r>
            <a:endParaRPr sz="1000"/>
          </a:p>
          <a:p xmlns:a="http://schemas.openxmlformats.org/drawingml/2006/main">
            <a:pPr marL="0" indent="0">
              <a:lnSpc>
                <a:spcPct val="112000"/>
              </a:lnSpc>
              <a:buNone/>
            </a:pPr>
            <a:r>
              <a:rPr sz="1000">
                <a:solidFill>
                  <a:srgbClr val="D9E4F5"/>
                </a:solidFill>
                <a:latin typeface="Consolas"/>
                <a:ea typeface="Consolas"/>
                <a:cs typeface="Consolas"/>
              </a:rPr>
              <a:t>        with:</a:t>
            </a:r>
            <a:endParaRPr sz="1000"/>
          </a:p>
          <a:p xmlns:a="http://schemas.openxmlformats.org/drawingml/2006/main">
            <a:pPr marL="0" indent="0">
              <a:lnSpc>
                <a:spcPct val="112000"/>
              </a:lnSpc>
              <a:buNone/>
            </a:pPr>
            <a:r>
              <a:rPr sz="1000">
                <a:solidFill>
                  <a:srgbClr val="D9E4F5"/>
                </a:solidFill>
                <a:latin typeface="Consolas"/>
                <a:ea typeface="Consolas"/>
                <a:cs typeface="Consolas"/>
              </a:rPr>
              <a:t>          registry: ghcr.io</a:t>
            </a:r>
            <a:endParaRPr sz="1000"/>
          </a:p>
          <a:p xmlns:a="http://schemas.openxmlformats.org/drawingml/2006/main">
            <a:pPr marL="0" indent="0">
              <a:lnSpc>
                <a:spcPct val="112000"/>
              </a:lnSpc>
              <a:buNone/>
            </a:pPr>
            <a:r>
              <a:rPr sz="1000">
                <a:solidFill>
                  <a:srgbClr val="D9E4F5"/>
                </a:solidFill>
                <a:latin typeface="Consolas"/>
                <a:ea typeface="Consolas"/>
                <a:cs typeface="Consolas"/>
              </a:rPr>
              <a:t>          username: ${{ github.actor }}</a:t>
            </a:r>
            <a:endParaRPr sz="1000"/>
          </a:p>
          <a:p xmlns:a="http://schemas.openxmlformats.org/drawingml/2006/main">
            <a:pPr marL="0" indent="0">
              <a:lnSpc>
                <a:spcPct val="112000"/>
              </a:lnSpc>
              <a:buNone/>
            </a:pPr>
            <a:r>
              <a:rPr sz="1000">
                <a:solidFill>
                  <a:srgbClr val="D9E4F5"/>
                </a:solidFill>
                <a:latin typeface="Consolas"/>
                <a:ea typeface="Consolas"/>
                <a:cs typeface="Consolas"/>
              </a:rPr>
              <a:t>          password: ${{ secrets.GITHUB_TOKEN }}</a:t>
            </a:r>
            <a:endParaRPr sz="1000"/>
          </a:p>
          <a:p xmlns:a="http://schemas.openxmlformats.org/drawingml/2006/main">
            <a:pPr marL="0" indent="0">
              <a:lnSpc>
                <a:spcPct val="112000"/>
              </a:lnSpc>
              <a:buNone/>
            </a:pPr>
            <a:r>
              <a:rPr sz="1000">
                <a:solidFill>
                  <a:srgbClr val="D9E4F5"/>
                </a:solidFill>
                <a:latin typeface="Consolas"/>
                <a:ea typeface="Consolas"/>
                <a:cs typeface="Consolas"/>
              </a:rPr>
              <a:t>      - name: Build and push (SHA + channel tag)</a:t>
            </a:r>
            <a:endParaRPr sz="1000"/>
          </a:p>
          <a:p xmlns:a="http://schemas.openxmlformats.org/drawingml/2006/main">
            <a:pPr marL="0" indent="0">
              <a:lnSpc>
                <a:spcPct val="112000"/>
              </a:lnSpc>
              <a:buNone/>
            </a:pPr>
            <a:r>
              <a:rPr sz="1000">
                <a:solidFill>
                  <a:srgbClr val="D9E4F5"/>
                </a:solidFill>
                <a:latin typeface="Consolas"/>
                <a:ea typeface="Consolas"/>
                <a:cs typeface="Consolas"/>
              </a:rPr>
              <a:t>        uses: docker/build-push-action@v6</a:t>
            </a:r>
            <a:endParaRPr sz="1000"/>
          </a:p>
          <a:p xmlns:a="http://schemas.openxmlformats.org/drawingml/2006/main">
            <a:pPr marL="0" indent="0">
              <a:lnSpc>
                <a:spcPct val="112000"/>
              </a:lnSpc>
              <a:buNone/>
            </a:pPr>
            <a:r>
              <a:rPr sz="1000">
                <a:solidFill>
                  <a:srgbClr val="D9E4F5"/>
                </a:solidFill>
                <a:latin typeface="Consolas"/>
                <a:ea typeface="Consolas"/>
                <a:cs typeface="Consolas"/>
              </a:rPr>
              <a:t>        with:</a:t>
            </a:r>
            <a:endParaRPr sz="1000"/>
          </a:p>
          <a:p xmlns:a="http://schemas.openxmlformats.org/drawingml/2006/main">
            <a:pPr marL="0" indent="0">
              <a:lnSpc>
                <a:spcPct val="112000"/>
              </a:lnSpc>
              <a:buNone/>
            </a:pPr>
            <a:r>
              <a:rPr sz="1000">
                <a:solidFill>
                  <a:srgbClr val="D9E4F5"/>
                </a:solidFill>
                <a:latin typeface="Consolas"/>
                <a:ea typeface="Consolas"/>
                <a:cs typeface="Consolas"/>
              </a:rPr>
              <a:t>          push: true</a:t>
            </a:r>
            <a:endParaRPr sz="1000"/>
          </a:p>
          <a:p xmlns:a="http://schemas.openxmlformats.org/drawingml/2006/main">
            <a:pPr marL="0" indent="0">
              <a:lnSpc>
                <a:spcPct val="112000"/>
              </a:lnSpc>
              <a:buNone/>
            </a:pPr>
            <a:r>
              <a:rPr sz="1000">
                <a:solidFill>
                  <a:srgbClr val="D9E4F5"/>
                </a:solidFill>
                <a:latin typeface="Consolas"/>
                <a:ea typeface="Consolas"/>
                <a:cs typeface="Consolas"/>
              </a:rPr>
              <a:t>          tags: |</a:t>
            </a:r>
            <a:endParaRPr sz="1000"/>
          </a:p>
          <a:p xmlns:a="http://schemas.openxmlformats.org/drawingml/2006/main">
            <a:pPr marL="0" indent="0">
              <a:lnSpc>
                <a:spcPct val="112000"/>
              </a:lnSpc>
              <a:buNone/>
            </a:pPr>
            <a:r>
              <a:rPr sz="1000">
                <a:solidFill>
                  <a:srgbClr val="D9E4F5"/>
                </a:solidFill>
                <a:latin typeface="Consolas"/>
                <a:ea typeface="Consolas"/>
                <a:cs typeface="Consolas"/>
              </a:rPr>
              <a:t>            ${{ env.IMAGE }}:${{ github.sha }}</a:t>
            </a:r>
            <a:endParaRPr sz="1000"/>
          </a:p>
        </p:txBody>
      </p:sp>
      <p:sp>
        <p:nvSpPr>
          <p:cNvPr id="14" name="Text 11">
            <a:extLst xmlns:a="http://schemas.openxmlformats.org/drawingml/2006/main">
              <a:ext uri="{FF2B5EF4-FFF2-40B4-BE49-F238E27FC236}">
                <a16:creationId xmlns:a16="http://schemas.microsoft.com/office/drawing/2014/main" id="{C741DFF1-B482-4233-8812-4DA42F77FDB0}"/>
              </a:ext>
            </a:extLst>
          </p:cNvPr>
          <p:cNvSpPr>
            <a:spLocks xmlns:a="http://schemas.openxmlformats.org/drawingml/2006/main" noGrp="1"/>
          </p:cNvSpPr>
          <p:nvPr/>
        </p:nvSpPr>
        <p:spPr>
          <a:xfrm xmlns:a="http://schemas.openxmlformats.org/drawingml/2006/main">
            <a:off x="502920" y="6144768"/>
            <a:ext cx="1115568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5F6B7A"/>
                </a:solidFill>
                <a:latin typeface="Calibri"/>
                <a:ea typeface="Calibri"/>
                <a:cs typeface="Calibri"/>
              </a:rPr>
              <a:t>The if: condition is the fork-secrets asymmetry made concrete — teach it explicitly.</a:t>
            </a:r>
            <a:endParaRPr sz="950"/>
          </a:p>
        </p:txBody>
      </p:sp>
    </p:spTree>
    <p:extLst>
      <p:ext uri="{BB962C8B-B14F-4D97-AF65-F5344CB8AC3E}">
        <p14:creationId xmlns:p14="http://schemas.microsoft.com/office/powerpoint/2010/main" val="2049726571"/>
      </p:ext>
    </p:extLst>
  </p:cSld>
</p:sld>
</file>

<file path=ppt/slides/slide11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CEA9BFC-E943-401C-A70C-F8A162211826}"/>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Branch protection makes gates real</a:t>
            </a:r>
            <a:endParaRPr sz="2600"/>
          </a:p>
        </p:txBody>
      </p:sp>
      <p:sp>
        <p:nvSpPr>
          <p:cNvPr id="3" name="Text 1">
            <a:extLst xmlns:a="http://schemas.openxmlformats.org/drawingml/2006/main">
              <a:ext uri="{FF2B5EF4-FFF2-40B4-BE49-F238E27FC236}">
                <a16:creationId xmlns:a16="http://schemas.microsoft.com/office/drawing/2014/main" id="{CE41396F-F664-4D68-B7EC-476A00EDDC90}"/>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حماية الفرع تجعل البوابات حقيقية</a:t>
            </a:r>
            <a:endParaRPr sz="1300"/>
          </a:p>
        </p:txBody>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ea78eec577bd4ae6"/>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51F56D18-48CA-48A7-A7AF-713B001A43B6}"/>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4C4DC26E-CC29-4538-9CAE-AFB0C9DCB4A5}"/>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5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7B982D38-96C7-4653-8A6F-593E503FB1C9}"/>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117</a:t>
            </a:r>
            <a:endParaRPr sz="850"/>
          </a:p>
        </p:txBody>
      </p:sp>
      <p:sp>
        <p:nvSpPr>
          <p:cNvPr id="8" name="Shape 5">
            <a:extLst xmlns:a="http://schemas.openxmlformats.org/drawingml/2006/main">
              <a:ext uri="{FF2B5EF4-FFF2-40B4-BE49-F238E27FC236}">
                <a16:creationId xmlns:a16="http://schemas.microsoft.com/office/drawing/2014/main" id="{CA913D61-4CB5-4FD7-9992-904D328B5294}"/>
              </a:ext>
            </a:extLst>
          </p:cNvPr>
          <p:cNvSpPr>
            <a:spLocks xmlns:a="http://schemas.openxmlformats.org/drawingml/2006/main" noGrp="1"/>
          </p:cNvSpPr>
          <p:nvPr/>
        </p:nvSpPr>
        <p:spPr>
          <a:xfrm xmlns:a="http://schemas.openxmlformats.org/drawingml/2006/main">
            <a:off x="502920" y="1508760"/>
            <a:ext cx="5440680" cy="3977640"/>
          </a:xfrm>
          <a:prstGeom xmlns:a="http://schemas.openxmlformats.org/drawingml/2006/main" prst="roundRect">
            <a:avLst>
              <a:gd name="adj" fmla="val 1609"/>
            </a:avLst>
          </a:prstGeom>
          <a:solidFill xmlns:a="http://schemas.openxmlformats.org/drawingml/2006/main">
            <a:srgbClr val="FFFFFF"/>
          </a:solidFill>
          <a:ln xmlns:a="http://schemas.openxmlformats.org/drawingml/2006/main" w="12700">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D8873676-322C-4DD4-BD70-C7FD25C21992}"/>
              </a:ext>
            </a:extLst>
          </p:cNvPr>
          <p:cNvSpPr>
            <a:spLocks xmlns:a="http://schemas.openxmlformats.org/drawingml/2006/main" noGrp="1"/>
          </p:cNvSpPr>
          <p:nvPr/>
        </p:nvSpPr>
        <p:spPr>
          <a:xfrm xmlns:a="http://schemas.openxmlformats.org/drawingml/2006/main">
            <a:off x="502920" y="1508760"/>
            <a:ext cx="5440680" cy="475488"/>
          </a:xfrm>
          <a:prstGeom xmlns:a="http://schemas.openxmlformats.org/drawingml/2006/main" prst="roundRect">
            <a:avLst>
              <a:gd name="adj" fmla="val 13462"/>
            </a:avLst>
          </a:prstGeom>
          <a:solidFill xmlns:a="http://schemas.openxmlformats.org/drawingml/2006/main">
            <a:srgbClr val="FADDD8"/>
          </a:solidFill>
        </p:spPr>
      </p:sp>
      <p:sp>
        <p:nvSpPr>
          <p:cNvPr id="10" name="Text 7">
            <a:extLst xmlns:a="http://schemas.openxmlformats.org/drawingml/2006/main">
              <a:ext uri="{FF2B5EF4-FFF2-40B4-BE49-F238E27FC236}">
                <a16:creationId xmlns:a16="http://schemas.microsoft.com/office/drawing/2014/main" id="{EECD4873-AE7F-461E-A78B-2E0CED0156BB}"/>
              </a:ext>
            </a:extLst>
          </p:cNvPr>
          <p:cNvSpPr>
            <a:spLocks xmlns:a="http://schemas.openxmlformats.org/drawingml/2006/main" noGrp="1"/>
          </p:cNvSpPr>
          <p:nvPr/>
        </p:nvSpPr>
        <p:spPr>
          <a:xfrm xmlns:a="http://schemas.openxmlformats.org/drawingml/2006/main">
            <a:off x="685800" y="1545336"/>
            <a:ext cx="5074920"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E8503A"/>
                </a:solidFill>
                <a:latin typeface="Calibri"/>
                <a:ea typeface="Calibri"/>
                <a:cs typeface="Calibri"/>
              </a:rPr>
              <a:t>A pipeline without branch protection</a:t>
            </a:r>
            <a:endParaRPr sz="1300"/>
          </a:p>
        </p:txBody>
      </p:sp>
      <p:sp>
        <p:nvSpPr>
          <p:cNvPr id="11" name="Text 8">
            <a:extLst xmlns:a="http://schemas.openxmlformats.org/drawingml/2006/main">
              <a:ext uri="{FF2B5EF4-FFF2-40B4-BE49-F238E27FC236}">
                <a16:creationId xmlns:a16="http://schemas.microsoft.com/office/drawing/2014/main" id="{EAF7439B-7736-478B-A0BE-0D92EDBBE134}"/>
              </a:ext>
            </a:extLst>
          </p:cNvPr>
          <p:cNvSpPr>
            <a:spLocks xmlns:a="http://schemas.openxmlformats.org/drawingml/2006/main" noGrp="1"/>
          </p:cNvSpPr>
          <p:nvPr/>
        </p:nvSpPr>
        <p:spPr>
          <a:xfrm xmlns:a="http://schemas.openxmlformats.org/drawingml/2006/main">
            <a:off x="667512" y="21671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8503A"/>
                </a:solidFill>
                <a:latin typeface="Calibri"/>
                <a:ea typeface="Calibri"/>
                <a:cs typeface="Calibri"/>
              </a:rPr>
              <a:t>✕</a:t>
            </a:r>
            <a:endParaRPr sz="1200"/>
          </a:p>
        </p:txBody>
      </p:sp>
      <p:sp>
        <p:nvSpPr>
          <p:cNvPr id="12" name="Text 9">
            <a:extLst xmlns:a="http://schemas.openxmlformats.org/drawingml/2006/main">
              <a:ext uri="{FF2B5EF4-FFF2-40B4-BE49-F238E27FC236}">
                <a16:creationId xmlns:a16="http://schemas.microsoft.com/office/drawing/2014/main" id="{A65303DC-1032-461B-B96A-DBEAFE77F8B0}"/>
              </a:ext>
            </a:extLst>
          </p:cNvPr>
          <p:cNvSpPr>
            <a:spLocks xmlns:a="http://schemas.openxmlformats.org/drawingml/2006/main" noGrp="1"/>
          </p:cNvSpPr>
          <p:nvPr/>
        </p:nvSpPr>
        <p:spPr>
          <a:xfrm xmlns:a="http://schemas.openxmlformats.org/drawingml/2006/main">
            <a:off x="978408" y="21396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Green checks are advisory — anyone can merge red</a:t>
            </a:r>
            <a:endParaRPr sz="1050"/>
          </a:p>
        </p:txBody>
      </p:sp>
      <p:sp>
        <p:nvSpPr>
          <p:cNvPr id="13" name="Text 10">
            <a:extLst xmlns:a="http://schemas.openxmlformats.org/drawingml/2006/main">
              <a:ext uri="{FF2B5EF4-FFF2-40B4-BE49-F238E27FC236}">
                <a16:creationId xmlns:a16="http://schemas.microsoft.com/office/drawing/2014/main" id="{C7DB32B0-A41C-4D59-B1C8-AD94A0E0DA16}"/>
              </a:ext>
            </a:extLst>
          </p:cNvPr>
          <p:cNvSpPr>
            <a:spLocks xmlns:a="http://schemas.openxmlformats.org/drawingml/2006/main" noGrp="1"/>
          </p:cNvSpPr>
          <p:nvPr/>
        </p:nvSpPr>
        <p:spPr>
          <a:xfrm xmlns:a="http://schemas.openxmlformats.org/drawingml/2006/main">
            <a:off x="667512" y="29672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8503A"/>
                </a:solidFill>
                <a:latin typeface="Calibri"/>
                <a:ea typeface="Calibri"/>
                <a:cs typeface="Calibri"/>
              </a:rPr>
              <a:t>✕</a:t>
            </a:r>
            <a:endParaRPr sz="1200"/>
          </a:p>
        </p:txBody>
      </p:sp>
      <p:sp>
        <p:nvSpPr>
          <p:cNvPr id="14" name="Text 11">
            <a:extLst xmlns:a="http://schemas.openxmlformats.org/drawingml/2006/main">
              <a:ext uri="{FF2B5EF4-FFF2-40B4-BE49-F238E27FC236}">
                <a16:creationId xmlns:a16="http://schemas.microsoft.com/office/drawing/2014/main" id="{0399D278-5B6A-4BC0-9104-06B6E9C606BE}"/>
              </a:ext>
            </a:extLst>
          </p:cNvPr>
          <p:cNvSpPr>
            <a:spLocks xmlns:a="http://schemas.openxmlformats.org/drawingml/2006/main" noGrp="1"/>
          </p:cNvSpPr>
          <p:nvPr/>
        </p:nvSpPr>
        <p:spPr>
          <a:xfrm xmlns:a="http://schemas.openxmlformats.org/drawingml/2006/main">
            <a:off x="978408" y="29397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New joiners rely on tribal memory for what "done" means</a:t>
            </a:r>
            <a:endParaRPr sz="1050"/>
          </a:p>
        </p:txBody>
      </p:sp>
      <p:sp>
        <p:nvSpPr>
          <p:cNvPr id="15" name="Text 12">
            <a:extLst xmlns:a="http://schemas.openxmlformats.org/drawingml/2006/main">
              <a:ext uri="{FF2B5EF4-FFF2-40B4-BE49-F238E27FC236}">
                <a16:creationId xmlns:a16="http://schemas.microsoft.com/office/drawing/2014/main" id="{79C20083-1F70-475A-B033-B98FA5869D17}"/>
              </a:ext>
            </a:extLst>
          </p:cNvPr>
          <p:cNvSpPr>
            <a:spLocks xmlns:a="http://schemas.openxmlformats.org/drawingml/2006/main" noGrp="1"/>
          </p:cNvSpPr>
          <p:nvPr/>
        </p:nvSpPr>
        <p:spPr>
          <a:xfrm xmlns:a="http://schemas.openxmlformats.org/drawingml/2006/main">
            <a:off x="667512" y="37673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8503A"/>
                </a:solidFill>
                <a:latin typeface="Calibri"/>
                <a:ea typeface="Calibri"/>
                <a:cs typeface="Calibri"/>
              </a:rPr>
              <a:t>✕</a:t>
            </a:r>
            <a:endParaRPr sz="1200"/>
          </a:p>
        </p:txBody>
      </p:sp>
      <p:sp>
        <p:nvSpPr>
          <p:cNvPr id="16" name="Text 13">
            <a:extLst xmlns:a="http://schemas.openxmlformats.org/drawingml/2006/main">
              <a:ext uri="{FF2B5EF4-FFF2-40B4-BE49-F238E27FC236}">
                <a16:creationId xmlns:a16="http://schemas.microsoft.com/office/drawing/2014/main" id="{6B5A1FE7-617B-41FB-9F7B-2F45DD666D9E}"/>
              </a:ext>
            </a:extLst>
          </p:cNvPr>
          <p:cNvSpPr>
            <a:spLocks xmlns:a="http://schemas.openxmlformats.org/drawingml/2006/main" noGrp="1"/>
          </p:cNvSpPr>
          <p:nvPr/>
        </p:nvSpPr>
        <p:spPr>
          <a:xfrm xmlns:a="http://schemas.openxmlformats.org/drawingml/2006/main">
            <a:off x="978408" y="37398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'Temporarily disabling checks' is how the M4 telecom incident happened</a:t>
            </a:r>
            <a:endParaRPr sz="1050"/>
          </a:p>
        </p:txBody>
      </p:sp>
      <p:sp>
        <p:nvSpPr>
          <p:cNvPr id="17" name="Text 14">
            <a:extLst xmlns:a="http://schemas.openxmlformats.org/drawingml/2006/main">
              <a:ext uri="{FF2B5EF4-FFF2-40B4-BE49-F238E27FC236}">
                <a16:creationId xmlns:a16="http://schemas.microsoft.com/office/drawing/2014/main" id="{EFC34DEA-92B1-46D4-94B1-9416E19FF53F}"/>
              </a:ext>
            </a:extLst>
          </p:cNvPr>
          <p:cNvSpPr>
            <a:spLocks xmlns:a="http://schemas.openxmlformats.org/drawingml/2006/main" noGrp="1"/>
          </p:cNvSpPr>
          <p:nvPr/>
        </p:nvSpPr>
        <p:spPr>
          <a:xfrm xmlns:a="http://schemas.openxmlformats.org/drawingml/2006/main">
            <a:off x="667512" y="45674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8503A"/>
                </a:solidFill>
                <a:latin typeface="Calibri"/>
                <a:ea typeface="Calibri"/>
                <a:cs typeface="Calibri"/>
              </a:rPr>
              <a:t>✕</a:t>
            </a:r>
            <a:endParaRPr sz="1200"/>
          </a:p>
        </p:txBody>
      </p:sp>
      <p:sp>
        <p:nvSpPr>
          <p:cNvPr id="18" name="Text 15">
            <a:extLst xmlns:a="http://schemas.openxmlformats.org/drawingml/2006/main">
              <a:ext uri="{FF2B5EF4-FFF2-40B4-BE49-F238E27FC236}">
                <a16:creationId xmlns:a16="http://schemas.microsoft.com/office/drawing/2014/main" id="{EDDDA909-44C1-41E9-BF12-3ECA43D4E641}"/>
              </a:ext>
            </a:extLst>
          </p:cNvPr>
          <p:cNvSpPr>
            <a:spLocks xmlns:a="http://schemas.openxmlformats.org/drawingml/2006/main" noGrp="1"/>
          </p:cNvSpPr>
          <p:nvPr/>
        </p:nvSpPr>
        <p:spPr>
          <a:xfrm xmlns:a="http://schemas.openxmlformats.org/drawingml/2006/main">
            <a:off x="978408" y="45399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Force-push can quietly rewrite main</a:t>
            </a:r>
            <a:endParaRPr sz="1050"/>
          </a:p>
        </p:txBody>
      </p:sp>
      <p:sp>
        <p:nvSpPr>
          <p:cNvPr id="19" name="Shape 16">
            <a:extLst xmlns:a="http://schemas.openxmlformats.org/drawingml/2006/main">
              <a:ext uri="{FF2B5EF4-FFF2-40B4-BE49-F238E27FC236}">
                <a16:creationId xmlns:a16="http://schemas.microsoft.com/office/drawing/2014/main" id="{1CCC7C8D-FC03-4154-AD3B-5FAA8739A418}"/>
              </a:ext>
            </a:extLst>
          </p:cNvPr>
          <p:cNvSpPr>
            <a:spLocks xmlns:a="http://schemas.openxmlformats.org/drawingml/2006/main" noGrp="1"/>
          </p:cNvSpPr>
          <p:nvPr/>
        </p:nvSpPr>
        <p:spPr>
          <a:xfrm xmlns:a="http://schemas.openxmlformats.org/drawingml/2006/main">
            <a:off x="6245352" y="1508760"/>
            <a:ext cx="5440680" cy="3977640"/>
          </a:xfrm>
          <a:prstGeom xmlns:a="http://schemas.openxmlformats.org/drawingml/2006/main" prst="roundRect">
            <a:avLst>
              <a:gd name="adj" fmla="val 1609"/>
            </a:avLst>
          </a:prstGeom>
          <a:solidFill xmlns:a="http://schemas.openxmlformats.org/drawingml/2006/main">
            <a:srgbClr val="FFFFFF"/>
          </a:solidFill>
          <a:ln xmlns:a="http://schemas.openxmlformats.org/drawingml/2006/main" w="12700">
            <a:solidFill>
              <a:srgbClr val="D9E4F5"/>
            </a:solidFill>
            <a:prstDash val="solid"/>
          </a:ln>
        </p:spPr>
      </p:sp>
      <p:sp>
        <p:nvSpPr>
          <p:cNvPr id="20" name="Shape 17">
            <a:extLst xmlns:a="http://schemas.openxmlformats.org/drawingml/2006/main">
              <a:ext uri="{FF2B5EF4-FFF2-40B4-BE49-F238E27FC236}">
                <a16:creationId xmlns:a16="http://schemas.microsoft.com/office/drawing/2014/main" id="{AF0D985C-053D-4C95-9325-1D22EE7E67C2}"/>
              </a:ext>
            </a:extLst>
          </p:cNvPr>
          <p:cNvSpPr>
            <a:spLocks xmlns:a="http://schemas.openxmlformats.org/drawingml/2006/main" noGrp="1"/>
          </p:cNvSpPr>
          <p:nvPr/>
        </p:nvSpPr>
        <p:spPr>
          <a:xfrm xmlns:a="http://schemas.openxmlformats.org/drawingml/2006/main">
            <a:off x="6245352" y="1508760"/>
            <a:ext cx="5440680" cy="475488"/>
          </a:xfrm>
          <a:prstGeom xmlns:a="http://schemas.openxmlformats.org/drawingml/2006/main" prst="roundRect">
            <a:avLst>
              <a:gd name="adj" fmla="val 13462"/>
            </a:avLst>
          </a:prstGeom>
          <a:solidFill xmlns:a="http://schemas.openxmlformats.org/drawingml/2006/main">
            <a:srgbClr val="EAF4DC"/>
          </a:solidFill>
        </p:spPr>
      </p:sp>
      <p:sp>
        <p:nvSpPr>
          <p:cNvPr id="21" name="Text 18">
            <a:extLst xmlns:a="http://schemas.openxmlformats.org/drawingml/2006/main">
              <a:ext uri="{FF2B5EF4-FFF2-40B4-BE49-F238E27FC236}">
                <a16:creationId xmlns:a16="http://schemas.microsoft.com/office/drawing/2014/main" id="{34748A8D-D9EE-4EF1-933F-4D3F028E5264}"/>
              </a:ext>
            </a:extLst>
          </p:cNvPr>
          <p:cNvSpPr>
            <a:spLocks xmlns:a="http://schemas.openxmlformats.org/drawingml/2006/main" noGrp="1"/>
          </p:cNvSpPr>
          <p:nvPr/>
        </p:nvSpPr>
        <p:spPr>
          <a:xfrm xmlns:a="http://schemas.openxmlformats.org/drawingml/2006/main">
            <a:off x="6428232" y="1545336"/>
            <a:ext cx="5074920"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5A8F1F"/>
                </a:solidFill>
                <a:latin typeface="Calibri"/>
                <a:ea typeface="Calibri"/>
                <a:cs typeface="Calibri"/>
              </a:rPr>
              <a:t>main with required checks</a:t>
            </a:r>
            <a:endParaRPr sz="1300"/>
          </a:p>
        </p:txBody>
      </p:sp>
      <p:sp>
        <p:nvSpPr>
          <p:cNvPr id="22" name="Text 19">
            <a:extLst xmlns:a="http://schemas.openxmlformats.org/drawingml/2006/main">
              <a:ext uri="{FF2B5EF4-FFF2-40B4-BE49-F238E27FC236}">
                <a16:creationId xmlns:a16="http://schemas.microsoft.com/office/drawing/2014/main" id="{5C08388F-BAD3-4EC9-A61B-2BA1DEDB5ECB}"/>
              </a:ext>
            </a:extLst>
          </p:cNvPr>
          <p:cNvSpPr>
            <a:spLocks xmlns:a="http://schemas.openxmlformats.org/drawingml/2006/main" noGrp="1"/>
          </p:cNvSpPr>
          <p:nvPr/>
        </p:nvSpPr>
        <p:spPr>
          <a:xfrm xmlns:a="http://schemas.openxmlformats.org/drawingml/2006/main">
            <a:off x="6409944" y="21671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5A8F1F"/>
                </a:solidFill>
                <a:latin typeface="Calibri"/>
                <a:ea typeface="Calibri"/>
                <a:cs typeface="Calibri"/>
              </a:rPr>
              <a:t>✓</a:t>
            </a:r>
            <a:endParaRPr sz="1200"/>
          </a:p>
        </p:txBody>
      </p:sp>
      <p:sp>
        <p:nvSpPr>
          <p:cNvPr id="23" name="Text 20">
            <a:extLst xmlns:a="http://schemas.openxmlformats.org/drawingml/2006/main">
              <a:ext uri="{FF2B5EF4-FFF2-40B4-BE49-F238E27FC236}">
                <a16:creationId xmlns:a16="http://schemas.microsoft.com/office/drawing/2014/main" id="{18F7AD08-4142-4E35-A970-B6E5B01C14C9}"/>
              </a:ext>
            </a:extLst>
          </p:cNvPr>
          <p:cNvSpPr>
            <a:spLocks xmlns:a="http://schemas.openxmlformats.org/drawingml/2006/main" noGrp="1"/>
          </p:cNvSpPr>
          <p:nvPr/>
        </p:nvSpPr>
        <p:spPr>
          <a:xfrm xmlns:a="http://schemas.openxmlformats.org/drawingml/2006/main">
            <a:off x="6720840" y="21396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Require PRs + status checks: lint, test, image-smoke</a:t>
            </a:r>
            <a:endParaRPr sz="1050"/>
          </a:p>
        </p:txBody>
      </p:sp>
      <p:sp>
        <p:nvSpPr>
          <p:cNvPr id="24" name="Text 21">
            <a:extLst xmlns:a="http://schemas.openxmlformats.org/drawingml/2006/main">
              <a:ext uri="{FF2B5EF4-FFF2-40B4-BE49-F238E27FC236}">
                <a16:creationId xmlns:a16="http://schemas.microsoft.com/office/drawing/2014/main" id="{D14029AA-90B1-4E51-A747-2AA98B1D9700}"/>
              </a:ext>
            </a:extLst>
          </p:cNvPr>
          <p:cNvSpPr>
            <a:spLocks xmlns:a="http://schemas.openxmlformats.org/drawingml/2006/main" noGrp="1"/>
          </p:cNvSpPr>
          <p:nvPr/>
        </p:nvSpPr>
        <p:spPr>
          <a:xfrm xmlns:a="http://schemas.openxmlformats.org/drawingml/2006/main">
            <a:off x="6409944" y="29672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5A8F1F"/>
                </a:solidFill>
                <a:latin typeface="Calibri"/>
                <a:ea typeface="Calibri"/>
                <a:cs typeface="Calibri"/>
              </a:rPr>
              <a:t>✓</a:t>
            </a:r>
            <a:endParaRPr sz="1200"/>
          </a:p>
        </p:txBody>
      </p:sp>
      <p:sp>
        <p:nvSpPr>
          <p:cNvPr id="25" name="Text 22">
            <a:extLst xmlns:a="http://schemas.openxmlformats.org/drawingml/2006/main">
              <a:ext uri="{FF2B5EF4-FFF2-40B4-BE49-F238E27FC236}">
                <a16:creationId xmlns:a16="http://schemas.microsoft.com/office/drawing/2014/main" id="{F743905F-401E-408E-95BC-10E6E63A3B10}"/>
              </a:ext>
            </a:extLst>
          </p:cNvPr>
          <p:cNvSpPr>
            <a:spLocks xmlns:a="http://schemas.openxmlformats.org/drawingml/2006/main" noGrp="1"/>
          </p:cNvSpPr>
          <p:nvPr/>
        </p:nvSpPr>
        <p:spPr>
          <a:xfrm xmlns:a="http://schemas.openxmlformats.org/drawingml/2006/main">
            <a:off x="6720840" y="29397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Require one review; forbid force-push</a:t>
            </a:r>
            <a:endParaRPr sz="1050"/>
          </a:p>
        </p:txBody>
      </p:sp>
      <p:sp>
        <p:nvSpPr>
          <p:cNvPr id="26" name="Text 23">
            <a:extLst xmlns:a="http://schemas.openxmlformats.org/drawingml/2006/main">
              <a:ext uri="{FF2B5EF4-FFF2-40B4-BE49-F238E27FC236}">
                <a16:creationId xmlns:a16="http://schemas.microsoft.com/office/drawing/2014/main" id="{345227F1-3466-43A5-8164-F373C3BE83A2}"/>
              </a:ext>
            </a:extLst>
          </p:cNvPr>
          <p:cNvSpPr>
            <a:spLocks xmlns:a="http://schemas.openxmlformats.org/drawingml/2006/main" noGrp="1"/>
          </p:cNvSpPr>
          <p:nvPr/>
        </p:nvSpPr>
        <p:spPr>
          <a:xfrm xmlns:a="http://schemas.openxmlformats.org/drawingml/2006/main">
            <a:off x="6409944" y="37673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5A8F1F"/>
                </a:solidFill>
                <a:latin typeface="Calibri"/>
                <a:ea typeface="Calibri"/>
                <a:cs typeface="Calibri"/>
              </a:rPr>
              <a:t>✓</a:t>
            </a:r>
            <a:endParaRPr sz="1200"/>
          </a:p>
        </p:txBody>
      </p:sp>
      <p:sp>
        <p:nvSpPr>
          <p:cNvPr id="27" name="Text 24">
            <a:extLst xmlns:a="http://schemas.openxmlformats.org/drawingml/2006/main">
              <a:ext uri="{FF2B5EF4-FFF2-40B4-BE49-F238E27FC236}">
                <a16:creationId xmlns:a16="http://schemas.microsoft.com/office/drawing/2014/main" id="{693A6220-7A38-45B0-ABC5-44B924F7C17D}"/>
              </a:ext>
            </a:extLst>
          </p:cNvPr>
          <p:cNvSpPr>
            <a:spLocks xmlns:a="http://schemas.openxmlformats.org/drawingml/2006/main" noGrp="1"/>
          </p:cNvSpPr>
          <p:nvPr/>
        </p:nvSpPr>
        <p:spPr>
          <a:xfrm xmlns:a="http://schemas.openxmlformats.org/drawingml/2006/main">
            <a:off x="6720840" y="37398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The repository enforces the definition of done</a:t>
            </a:r>
            <a:endParaRPr sz="1050"/>
          </a:p>
        </p:txBody>
      </p:sp>
      <p:sp>
        <p:nvSpPr>
          <p:cNvPr id="28" name="Text 25">
            <a:extLst xmlns:a="http://schemas.openxmlformats.org/drawingml/2006/main">
              <a:ext uri="{FF2B5EF4-FFF2-40B4-BE49-F238E27FC236}">
                <a16:creationId xmlns:a16="http://schemas.microsoft.com/office/drawing/2014/main" id="{79A98CB3-8B44-45B4-B9FE-447752C0D91A}"/>
              </a:ext>
            </a:extLst>
          </p:cNvPr>
          <p:cNvSpPr>
            <a:spLocks xmlns:a="http://schemas.openxmlformats.org/drawingml/2006/main" noGrp="1"/>
          </p:cNvSpPr>
          <p:nvPr/>
        </p:nvSpPr>
        <p:spPr>
          <a:xfrm xmlns:a="http://schemas.openxmlformats.org/drawingml/2006/main">
            <a:off x="6409944" y="45674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5A8F1F"/>
                </a:solidFill>
                <a:latin typeface="Calibri"/>
                <a:ea typeface="Calibri"/>
                <a:cs typeface="Calibri"/>
              </a:rPr>
              <a:t>✓</a:t>
            </a:r>
            <a:endParaRPr sz="1200"/>
          </a:p>
        </p:txBody>
      </p:sp>
      <p:sp>
        <p:nvSpPr>
          <p:cNvPr id="29" name="Text 26">
            <a:extLst xmlns:a="http://schemas.openxmlformats.org/drawingml/2006/main">
              <a:ext uri="{FF2B5EF4-FFF2-40B4-BE49-F238E27FC236}">
                <a16:creationId xmlns:a16="http://schemas.microsoft.com/office/drawing/2014/main" id="{13AAE1EF-1086-45AA-87DF-579901E19BB6}"/>
              </a:ext>
            </a:extLst>
          </p:cNvPr>
          <p:cNvSpPr>
            <a:spLocks xmlns:a="http://schemas.openxmlformats.org/drawingml/2006/main" noGrp="1"/>
          </p:cNvSpPr>
          <p:nvPr/>
        </p:nvSpPr>
        <p:spPr>
          <a:xfrm xmlns:a="http://schemas.openxmlformats.org/drawingml/2006/main">
            <a:off x="6720840" y="45399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Hotfix path: workflow_dispatch + logged admin bypass</a:t>
            </a:r>
            <a:endParaRPr sz="1050"/>
          </a:p>
        </p:txBody>
      </p:sp>
      <p:sp>
        <p:nvSpPr>
          <p:cNvPr id="30" name="Shape 27">
            <a:extLst xmlns:a="http://schemas.openxmlformats.org/drawingml/2006/main">
              <a:ext uri="{FF2B5EF4-FFF2-40B4-BE49-F238E27FC236}">
                <a16:creationId xmlns:a16="http://schemas.microsoft.com/office/drawing/2014/main" id="{DCDCBFA8-CA18-403E-BFC9-1FC8CB2EF300}"/>
              </a:ext>
            </a:extLst>
          </p:cNvPr>
          <p:cNvSpPr>
            <a:spLocks xmlns:a="http://schemas.openxmlformats.org/drawingml/2006/main" noGrp="1"/>
          </p:cNvSpPr>
          <p:nvPr/>
        </p:nvSpPr>
        <p:spPr>
          <a:xfrm xmlns:a="http://schemas.openxmlformats.org/drawingml/2006/main">
            <a:off x="502920" y="5650992"/>
            <a:ext cx="11183112" cy="566928"/>
          </a:xfrm>
          <a:prstGeom xmlns:a="http://schemas.openxmlformats.org/drawingml/2006/main" prst="roundRect">
            <a:avLst>
              <a:gd name="adj" fmla="val 11290"/>
            </a:avLst>
          </a:prstGeom>
          <a:solidFill xmlns:a="http://schemas.openxmlformats.org/drawingml/2006/main">
            <a:srgbClr val="1D2A5C"/>
          </a:solidFill>
        </p:spPr>
      </p:sp>
      <p:sp>
        <p:nvSpPr>
          <p:cNvPr id="31" name="Text 28">
            <a:extLst xmlns:a="http://schemas.openxmlformats.org/drawingml/2006/main">
              <a:ext uri="{FF2B5EF4-FFF2-40B4-BE49-F238E27FC236}">
                <a16:creationId xmlns:a16="http://schemas.microsoft.com/office/drawing/2014/main" id="{41C5C9AC-D1C4-4F3B-8558-00DD5A524D27}"/>
              </a:ext>
            </a:extLst>
          </p:cNvPr>
          <p:cNvSpPr>
            <a:spLocks xmlns:a="http://schemas.openxmlformats.org/drawingml/2006/main" noGrp="1"/>
          </p:cNvSpPr>
          <p:nvPr/>
        </p:nvSpPr>
        <p:spPr>
          <a:xfrm xmlns:a="http://schemas.openxmlformats.org/drawingml/2006/main">
            <a:off x="777240" y="5650992"/>
            <a:ext cx="1069848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00A79D"/>
                </a:solidFill>
                <a:latin typeface="Calibri"/>
                <a:ea typeface="Calibri"/>
                <a:cs typeface="Calibri"/>
              </a:rPr>
              <a:t>TAKEAWAY   </a:t>
            </a:r>
            <a:r>
              <a:rPr sz="1150">
                <a:solidFill>
                  <a:srgbClr val="FFFFFF"/>
                </a:solidFill>
                <a:latin typeface="Calibri"/>
                <a:ea typeface="Calibri"/>
                <a:cs typeface="Calibri"/>
              </a:rPr>
              <a:t>A pipeline without branch protection is decoration. Make the repo defend itself — discipline from infrastructure, not memory.</a:t>
            </a:r>
            <a:endParaRPr sz="1000"/>
          </a:p>
        </p:txBody>
      </p:sp>
    </p:spTree>
    <p:extLst>
      <p:ext uri="{BB962C8B-B14F-4D97-AF65-F5344CB8AC3E}">
        <p14:creationId xmlns:p14="http://schemas.microsoft.com/office/powerpoint/2010/main" val="618896493"/>
      </p:ext>
    </p:extLst>
  </p:cSld>
</p:sld>
</file>

<file path=ppt/slides/slide11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9E2C674-9D93-4B45-AEAD-86295E96C472}"/>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Secrets &amp; permissions in CI</a:t>
            </a:r>
            <a:endParaRPr sz="2600"/>
          </a:p>
        </p:txBody>
      </p:sp>
      <p:sp>
        <p:nvSpPr>
          <p:cNvPr id="3" name="Text 1">
            <a:extLst xmlns:a="http://schemas.openxmlformats.org/drawingml/2006/main">
              <a:ext uri="{FF2B5EF4-FFF2-40B4-BE49-F238E27FC236}">
                <a16:creationId xmlns:a16="http://schemas.microsoft.com/office/drawing/2014/main" id="{957CEAD8-081A-430C-A20C-761F8FDAB531}"/>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الأسرار والصلاحيات في CI</a:t>
            </a:r>
            <a:endParaRPr sz="1300"/>
          </a:p>
        </p:txBody>
      </p:sp>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1bda2a1e6a2340ef"/>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1D2DDCDB-9488-4A17-85C4-E8C16D079AE1}"/>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08C13174-7D8D-4F39-AD9C-BD041A3D3DB1}"/>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5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DF76F6D4-9B46-4940-B823-484B37DB5F9F}"/>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118</a:t>
            </a:r>
            <a:endParaRPr sz="850"/>
          </a:p>
        </p:txBody>
      </p:sp>
      <p:sp>
        <p:nvSpPr>
          <p:cNvPr id="8" name="Text 5">
            <a:extLst xmlns:a="http://schemas.openxmlformats.org/drawingml/2006/main">
              <a:ext uri="{FF2B5EF4-FFF2-40B4-BE49-F238E27FC236}">
                <a16:creationId xmlns:a16="http://schemas.microsoft.com/office/drawing/2014/main" id="{88EAC163-EBFE-4BE9-A955-5079401C5445}"/>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4F33B9B1-0C2D-428C-BDC0-F9BDEB5877CA}"/>
              </a:ext>
            </a:extLst>
          </p:cNvPr>
          <p:cNvSpPr>
            <a:spLocks xmlns:a="http://schemas.openxmlformats.org/drawingml/2006/main" noGrp="1"/>
          </p:cNvSpPr>
          <p:nvPr/>
        </p:nvSpPr>
        <p:spPr>
          <a:xfrm xmlns:a="http://schemas.openxmlformats.org/drawingml/2006/main">
            <a:off x="1005840" y="14996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Least-privilege tokens</a:t>
            </a:r>
            <a:endParaRPr sz="1350"/>
          </a:p>
        </p:txBody>
      </p:sp>
      <p:sp>
        <p:nvSpPr>
          <p:cNvPr id="10" name="Text 7">
            <a:extLst xmlns:a="http://schemas.openxmlformats.org/drawingml/2006/main">
              <a:ext uri="{FF2B5EF4-FFF2-40B4-BE49-F238E27FC236}">
                <a16:creationId xmlns:a16="http://schemas.microsoft.com/office/drawing/2014/main" id="{EC1DCA6D-6E68-4245-9CB1-EDB15C018928}"/>
              </a:ext>
            </a:extLst>
          </p:cNvPr>
          <p:cNvSpPr>
            <a:spLocks xmlns:a="http://schemas.openxmlformats.org/drawingml/2006/main" noGrp="1"/>
          </p:cNvSpPr>
          <p:nvPr/>
        </p:nvSpPr>
        <p:spPr>
          <a:xfrm xmlns:a="http://schemas.openxmlformats.org/drawingml/2006/main">
            <a:off x="1005840" y="1801368"/>
            <a:ext cx="10680192"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Registry push uses secrets.GITHUB_TOKEN with permissions: packages: write (GHCR) — no long-lived PATs. Keep contents: read by default; widen per job, not per workflow.</a:t>
            </a:r>
            <a:endParaRPr sz="1050"/>
          </a:p>
        </p:txBody>
      </p:sp>
      <p:sp>
        <p:nvSpPr>
          <p:cNvPr id="11" name="Text 8">
            <a:extLst xmlns:a="http://schemas.openxmlformats.org/drawingml/2006/main">
              <a:ext uri="{FF2B5EF4-FFF2-40B4-BE49-F238E27FC236}">
                <a16:creationId xmlns:a16="http://schemas.microsoft.com/office/drawing/2014/main" id="{FD54B318-3EC5-4549-9F13-4C246F511E7F}"/>
              </a:ext>
            </a:extLst>
          </p:cNvPr>
          <p:cNvSpPr>
            <a:spLocks xmlns:a="http://schemas.openxmlformats.org/drawingml/2006/main" noGrp="1"/>
          </p:cNvSpPr>
          <p:nvPr/>
        </p:nvSpPr>
        <p:spPr>
          <a:xfrm xmlns:a="http://schemas.openxmlformats.org/drawingml/2006/main">
            <a:off x="502920" y="292608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9D5D39C9-1EB9-4CA2-A84A-A079AA9B8257}"/>
              </a:ext>
            </a:extLst>
          </p:cNvPr>
          <p:cNvSpPr>
            <a:spLocks xmlns:a="http://schemas.openxmlformats.org/drawingml/2006/main" noGrp="1"/>
          </p:cNvSpPr>
          <p:nvPr/>
        </p:nvSpPr>
        <p:spPr>
          <a:xfrm xmlns:a="http://schemas.openxmlformats.org/drawingml/2006/main">
            <a:off x="1005840" y="28712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Never echo secrets</a:t>
            </a:r>
            <a:endParaRPr sz="1350"/>
          </a:p>
        </p:txBody>
      </p:sp>
      <p:sp>
        <p:nvSpPr>
          <p:cNvPr id="13" name="Text 10">
            <a:extLst xmlns:a="http://schemas.openxmlformats.org/drawingml/2006/main">
              <a:ext uri="{FF2B5EF4-FFF2-40B4-BE49-F238E27FC236}">
                <a16:creationId xmlns:a16="http://schemas.microsoft.com/office/drawing/2014/main" id="{2A9B0816-DA48-4357-9402-D673ECD854CF}"/>
              </a:ext>
            </a:extLst>
          </p:cNvPr>
          <p:cNvSpPr>
            <a:spLocks xmlns:a="http://schemas.openxmlformats.org/drawingml/2006/main" noGrp="1"/>
          </p:cNvSpPr>
          <p:nvPr/>
        </p:nvSpPr>
        <p:spPr>
          <a:xfrm xmlns:a="http://schemas.openxmlformats.org/drawingml/2006/main">
            <a:off x="1005840" y="3172968"/>
            <a:ext cx="10680192"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Actions masks known secrets but NOT derived strings. An echoed or logged secret is a leak — treat every CI log line as if it were public.</a:t>
            </a:r>
            <a:endParaRPr sz="1050"/>
          </a:p>
        </p:txBody>
      </p:sp>
      <p:sp>
        <p:nvSpPr>
          <p:cNvPr id="14" name="Text 11">
            <a:extLst xmlns:a="http://schemas.openxmlformats.org/drawingml/2006/main">
              <a:ext uri="{FF2B5EF4-FFF2-40B4-BE49-F238E27FC236}">
                <a16:creationId xmlns:a16="http://schemas.microsoft.com/office/drawing/2014/main" id="{1024E920-6643-4D95-95E8-50E5CC549F3C}"/>
              </a:ext>
            </a:extLst>
          </p:cNvPr>
          <p:cNvSpPr>
            <a:spLocks xmlns:a="http://schemas.openxmlformats.org/drawingml/2006/main" noGrp="1"/>
          </p:cNvSpPr>
          <p:nvPr/>
        </p:nvSpPr>
        <p:spPr>
          <a:xfrm xmlns:a="http://schemas.openxmlformats.org/drawingml/2006/main">
            <a:off x="502920" y="429768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6D9A2630-0B97-4AC6-B0F8-96EC3AC766BC}"/>
              </a:ext>
            </a:extLst>
          </p:cNvPr>
          <p:cNvSpPr>
            <a:spLocks xmlns:a="http://schemas.openxmlformats.org/drawingml/2006/main" noGrp="1"/>
          </p:cNvSpPr>
          <p:nvPr/>
        </p:nvSpPr>
        <p:spPr>
          <a:xfrm xmlns:a="http://schemas.openxmlformats.org/drawingml/2006/main">
            <a:off x="1005840" y="42428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Fork-PR asymmetry</a:t>
            </a:r>
            <a:endParaRPr sz="1350"/>
          </a:p>
        </p:txBody>
      </p:sp>
      <p:sp>
        <p:nvSpPr>
          <p:cNvPr id="16" name="Text 13">
            <a:extLst xmlns:a="http://schemas.openxmlformats.org/drawingml/2006/main">
              <a:ext uri="{FF2B5EF4-FFF2-40B4-BE49-F238E27FC236}">
                <a16:creationId xmlns:a16="http://schemas.microsoft.com/office/drawing/2014/main" id="{66CF4717-79EA-4FB0-98ED-59622F02A416}"/>
              </a:ext>
            </a:extLst>
          </p:cNvPr>
          <p:cNvSpPr>
            <a:spLocks xmlns:a="http://schemas.openxmlformats.org/drawingml/2006/main" noGrp="1"/>
          </p:cNvSpPr>
          <p:nvPr/>
        </p:nvSpPr>
        <p:spPr>
          <a:xfrm xmlns:a="http://schemas.openxmlformats.org/drawingml/2006/main">
            <a:off x="1005840" y="4544568"/>
            <a:ext cx="10680192"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Fork PRs do not get secrets. That is why publish runs only on push to main, never on pull_request. This asymmetry trips everyone once — teach it explicitly.</a:t>
            </a:r>
            <a:endParaRPr sz="1050"/>
          </a:p>
        </p:txBody>
      </p:sp>
    </p:spTree>
    <p:extLst>
      <p:ext uri="{BB962C8B-B14F-4D97-AF65-F5344CB8AC3E}">
        <p14:creationId xmlns:p14="http://schemas.microsoft.com/office/powerpoint/2010/main" val="227390630"/>
      </p:ext>
    </p:extLst>
  </p:cSld>
</p:sld>
</file>

<file path=ppt/slides/slide11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7B8A2D5-1BEE-45E5-85E9-FF461A516357}"/>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Architecture enforcement via import-linter</a:t>
            </a:r>
            <a:endParaRPr sz="2600"/>
          </a:p>
        </p:txBody>
      </p:sp>
      <p:sp>
        <p:nvSpPr>
          <p:cNvPr id="3" name="Text 1">
            <a:extLst xmlns:a="http://schemas.openxmlformats.org/drawingml/2006/main">
              <a:ext uri="{FF2B5EF4-FFF2-40B4-BE49-F238E27FC236}">
                <a16:creationId xmlns:a16="http://schemas.microsoft.com/office/drawing/2014/main" id="{7B199014-1D69-4BE9-A85F-5DC2FD39F9D4}"/>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فرض المعمارية عبر import-linter</a:t>
            </a:r>
            <a:endParaRPr sz="1300"/>
          </a:p>
        </p:txBody>
      </p:sp>
      <p:pic>
        <p:nvPicPr>
          <p:cNvPr id="18" name="Image 0"/>
          <p:cNvPicPr>
            <a:picLocks xmlns:a="http://schemas.openxmlformats.org/drawingml/2006/main" noChangeAspect="1"/>
          </p:cNvPicPr>
          <p:nvPr/>
        </p:nvPicPr>
        <p:blipFill>
          <a:blip xmlns:r="http://schemas.openxmlformats.org/officeDocument/2006/relationships" xmlns:a="http://schemas.openxmlformats.org/drawingml/2006/main" r:embed="Rfd49a173d8c24901"/>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672255C5-ED36-4405-AF7B-704B9B69D9B2}"/>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2906A775-63C1-4E0D-9D80-BB458D53E2A2}"/>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5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B5D4B9BC-0BA3-4411-B892-3ED84294DCC8}"/>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119</a:t>
            </a:r>
            <a:endParaRPr sz="850"/>
          </a:p>
        </p:txBody>
      </p:sp>
      <p:sp>
        <p:nvSpPr>
          <p:cNvPr id="8" name="Shape 5">
            <a:extLst xmlns:a="http://schemas.openxmlformats.org/drawingml/2006/main">
              <a:ext uri="{FF2B5EF4-FFF2-40B4-BE49-F238E27FC236}">
                <a16:creationId xmlns:a16="http://schemas.microsoft.com/office/drawing/2014/main" id="{FE7D1BE1-C5E2-4FE6-A7A9-3EAACC01C697}"/>
              </a:ext>
            </a:extLst>
          </p:cNvPr>
          <p:cNvSpPr>
            <a:spLocks xmlns:a="http://schemas.openxmlformats.org/drawingml/2006/main" noGrp="1"/>
          </p:cNvSpPr>
          <p:nvPr/>
        </p:nvSpPr>
        <p:spPr>
          <a:xfrm xmlns:a="http://schemas.openxmlformats.org/drawingml/2006/main">
            <a:off x="502920" y="1481328"/>
            <a:ext cx="11183112" cy="4617720"/>
          </a:xfrm>
          <a:prstGeom xmlns:a="http://schemas.openxmlformats.org/drawingml/2006/main" prst="roundRect">
            <a:avLst>
              <a:gd name="adj" fmla="val 1584"/>
            </a:avLst>
          </a:prstGeom>
          <a:solidFill xmlns:a="http://schemas.openxmlformats.org/drawingml/2006/main">
            <a:srgbClr val="1A2233"/>
          </a:solidFill>
        </p:spPr>
      </p:sp>
      <p:sp>
        <p:nvSpPr>
          <p:cNvPr id="9" name="Shape 6">
            <a:extLst xmlns:a="http://schemas.openxmlformats.org/drawingml/2006/main">
              <a:ext uri="{FF2B5EF4-FFF2-40B4-BE49-F238E27FC236}">
                <a16:creationId xmlns:a16="http://schemas.microsoft.com/office/drawing/2014/main" id="{656D571A-0BB3-484B-B0C3-1B5E1EC77FD1}"/>
              </a:ext>
            </a:extLst>
          </p:cNvPr>
          <p:cNvSpPr>
            <a:spLocks xmlns:a="http://schemas.openxmlformats.org/drawingml/2006/main" noGrp="1"/>
          </p:cNvSpPr>
          <p:nvPr/>
        </p:nvSpPr>
        <p:spPr>
          <a:xfrm xmlns:a="http://schemas.openxmlformats.org/drawingml/2006/main">
            <a:off x="731520" y="1664208"/>
            <a:ext cx="109728" cy="109728"/>
          </a:xfrm>
          <a:prstGeom xmlns:a="http://schemas.openxmlformats.org/drawingml/2006/main" prst="ellipse">
            <a:avLst/>
          </a:prstGeom>
          <a:solidFill xmlns:a="http://schemas.openxmlformats.org/drawingml/2006/main">
            <a:srgbClr val="E8503A"/>
          </a:solidFill>
        </p:spPr>
      </p:sp>
      <p:sp>
        <p:nvSpPr>
          <p:cNvPr id="10" name="Shape 7">
            <a:extLst xmlns:a="http://schemas.openxmlformats.org/drawingml/2006/main">
              <a:ext uri="{FF2B5EF4-FFF2-40B4-BE49-F238E27FC236}">
                <a16:creationId xmlns:a16="http://schemas.microsoft.com/office/drawing/2014/main" id="{B68D8117-6303-40E7-9E01-1124DB131FF4}"/>
              </a:ext>
            </a:extLst>
          </p:cNvPr>
          <p:cNvSpPr>
            <a:spLocks xmlns:a="http://schemas.openxmlformats.org/drawingml/2006/main" noGrp="1"/>
          </p:cNvSpPr>
          <p:nvPr/>
        </p:nvSpPr>
        <p:spPr>
          <a:xfrm xmlns:a="http://schemas.openxmlformats.org/drawingml/2006/main">
            <a:off x="932688" y="1664208"/>
            <a:ext cx="109728" cy="109728"/>
          </a:xfrm>
          <a:prstGeom xmlns:a="http://schemas.openxmlformats.org/drawingml/2006/main" prst="ellipse">
            <a:avLst/>
          </a:prstGeom>
          <a:solidFill xmlns:a="http://schemas.openxmlformats.org/drawingml/2006/main">
            <a:srgbClr val="F5B820"/>
          </a:solidFill>
        </p:spPr>
      </p:sp>
      <p:sp>
        <p:nvSpPr>
          <p:cNvPr id="11" name="Shape 8">
            <a:extLst xmlns:a="http://schemas.openxmlformats.org/drawingml/2006/main">
              <a:ext uri="{FF2B5EF4-FFF2-40B4-BE49-F238E27FC236}">
                <a16:creationId xmlns:a16="http://schemas.microsoft.com/office/drawing/2014/main" id="{AAE9516D-688C-4965-9831-1E48111EC4A0}"/>
              </a:ext>
            </a:extLst>
          </p:cNvPr>
          <p:cNvSpPr>
            <a:spLocks xmlns:a="http://schemas.openxmlformats.org/drawingml/2006/main" noGrp="1"/>
          </p:cNvSpPr>
          <p:nvPr/>
        </p:nvSpPr>
        <p:spPr>
          <a:xfrm xmlns:a="http://schemas.openxmlformats.org/drawingml/2006/main">
            <a:off x="1133856" y="1664208"/>
            <a:ext cx="109728" cy="109728"/>
          </a:xfrm>
          <a:prstGeom xmlns:a="http://schemas.openxmlformats.org/drawingml/2006/main" prst="ellipse">
            <a:avLst/>
          </a:prstGeom>
          <a:solidFill xmlns:a="http://schemas.openxmlformats.org/drawingml/2006/main">
            <a:srgbClr val="8DC63F"/>
          </a:solidFill>
        </p:spPr>
      </p:sp>
      <p:sp>
        <p:nvSpPr>
          <p:cNvPr id="12" name="Text 9">
            <a:extLst xmlns:a="http://schemas.openxmlformats.org/drawingml/2006/main">
              <a:ext uri="{FF2B5EF4-FFF2-40B4-BE49-F238E27FC236}">
                <a16:creationId xmlns:a16="http://schemas.microsoft.com/office/drawing/2014/main" id="{6E79755A-9E0F-4C5C-8FA1-9F6E925157FC}"/>
              </a:ext>
            </a:extLst>
          </p:cNvPr>
          <p:cNvSpPr>
            <a:spLocks xmlns:a="http://schemas.openxmlformats.org/drawingml/2006/main" noGrp="1"/>
          </p:cNvSpPr>
          <p:nvPr/>
        </p:nvSpPr>
        <p:spPr>
          <a:xfrm xmlns:a="http://schemas.openxmlformats.org/drawingml/2006/main">
            <a:off x="8074152" y="1609344"/>
            <a:ext cx="32918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6C8"/>
                </a:solidFill>
                <a:latin typeface="Consolas"/>
                <a:ea typeface="Consolas"/>
                <a:cs typeface="Consolas"/>
              </a:rPr>
              <a:t>pyproject.toml</a:t>
            </a:r>
            <a:endParaRPr sz="900"/>
          </a:p>
        </p:txBody>
      </p:sp>
      <p:sp>
        <p:nvSpPr>
          <p:cNvPr id="13" name="Text 10">
            <a:extLst xmlns:a="http://schemas.openxmlformats.org/drawingml/2006/main">
              <a:ext uri="{FF2B5EF4-FFF2-40B4-BE49-F238E27FC236}">
                <a16:creationId xmlns:a16="http://schemas.microsoft.com/office/drawing/2014/main" id="{BE8442B2-CCFB-4224-A323-8BD6821C59F4}"/>
              </a:ext>
            </a:extLst>
          </p:cNvPr>
          <p:cNvSpPr>
            <a:spLocks xmlns:a="http://schemas.openxmlformats.org/drawingml/2006/main" noGrp="1"/>
          </p:cNvSpPr>
          <p:nvPr/>
        </p:nvSpPr>
        <p:spPr>
          <a:xfrm xmlns:a="http://schemas.openxmlformats.org/drawingml/2006/main">
            <a:off x="713232" y="1965960"/>
            <a:ext cx="10725912"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100">
                <a:solidFill>
                  <a:srgbClr val="D9E4F5"/>
                </a:solidFill>
                <a:latin typeface="Consolas"/>
                <a:ea typeface="Consolas"/>
                <a:cs typeface="Consolas"/>
              </a:rPr>
              <a:t># import-linter contract, run inside the lint job</a:t>
            </a:r>
            <a:endParaRPr sz="1100"/>
          </a:p>
          <a:p xmlns:a="http://schemas.openxmlformats.org/drawingml/2006/main">
            <a:pPr marL="0" indent="0">
              <a:lnSpc>
                <a:spcPct val="112000"/>
              </a:lnSpc>
              <a:buNone/>
            </a:pPr>
            <a:r>
              <a:rPr sz="1100">
                <a:solidFill>
                  <a:srgbClr val="D9E4F5"/>
                </a:solidFill>
                <a:latin typeface="Consolas"/>
                <a:ea typeface="Consolas"/>
                <a:cs typeface="Consolas"/>
              </a:rPr>
              <a:t>[tool.importlinter]</a:t>
            </a:r>
            <a:endParaRPr sz="1100"/>
          </a:p>
          <a:p xmlns:a="http://schemas.openxmlformats.org/drawingml/2006/main">
            <a:pPr marL="0" indent="0">
              <a:lnSpc>
                <a:spcPct val="112000"/>
              </a:lnSpc>
              <a:buNone/>
            </a:pPr>
            <a:r>
              <a:rPr sz="1100">
                <a:solidFill>
                  <a:srgbClr val="D9E4F5"/>
                </a:solidFill>
                <a:latin typeface="Consolas"/>
                <a:ea typeface="Consolas"/>
                <a:cs typeface="Consolas"/>
              </a:rPr>
              <a:t>root_package = "fraud_service"</a:t>
            </a:r>
            <a:endParaRPr sz="1100"/>
          </a:p>
          <a:p xmlns:a="http://schemas.openxmlformats.org/drawingml/2006/main">
            <a:pPr marL="0" indent="0">
              <a:lnSpc>
                <a:spcPct val="112000"/>
              </a:lnSpc>
              <a:buNone/>
            </a:pPr>
            <a:endParaRPr sz="1100"/>
          </a:p>
          <a:p xmlns:a="http://schemas.openxmlformats.org/drawingml/2006/main">
            <a:pPr marL="0" indent="0">
              <a:lnSpc>
                <a:spcPct val="112000"/>
              </a:lnSpc>
              <a:buNone/>
            </a:pPr>
            <a:r>
              <a:rPr sz="1100">
                <a:solidFill>
                  <a:srgbClr val="D9E4F5"/>
                </a:solidFill>
                <a:latin typeface="Consolas"/>
                <a:ea typeface="Consolas"/>
                <a:cs typeface="Consolas"/>
              </a:rPr>
              <a:t>[[tool.importlinter.contracts]]</a:t>
            </a:r>
            <a:endParaRPr sz="1100"/>
          </a:p>
          <a:p xmlns:a="http://schemas.openxmlformats.org/drawingml/2006/main">
            <a:pPr marL="0" indent="0">
              <a:lnSpc>
                <a:spcPct val="112000"/>
              </a:lnSpc>
              <a:buNone/>
            </a:pPr>
            <a:r>
              <a:rPr sz="1100">
                <a:solidFill>
                  <a:srgbClr val="D9E4F5"/>
                </a:solidFill>
                <a:latin typeface="Consolas"/>
                <a:ea typeface="Consolas"/>
                <a:cs typeface="Consolas"/>
              </a:rPr>
              <a:t>name = "Clean architecture layers"</a:t>
            </a:r>
            <a:endParaRPr sz="1100"/>
          </a:p>
          <a:p xmlns:a="http://schemas.openxmlformats.org/drawingml/2006/main">
            <a:pPr marL="0" indent="0">
              <a:lnSpc>
                <a:spcPct val="112000"/>
              </a:lnSpc>
              <a:buNone/>
            </a:pPr>
            <a:r>
              <a:rPr sz="1100">
                <a:solidFill>
                  <a:srgbClr val="D9E4F5"/>
                </a:solidFill>
                <a:latin typeface="Consolas"/>
                <a:ea typeface="Consolas"/>
                <a:cs typeface="Consolas"/>
              </a:rPr>
              <a:t>type = "layers"</a:t>
            </a:r>
            <a:endParaRPr sz="1100"/>
          </a:p>
          <a:p xmlns:a="http://schemas.openxmlformats.org/drawingml/2006/main">
            <a:pPr marL="0" indent="0">
              <a:lnSpc>
                <a:spcPct val="112000"/>
              </a:lnSpc>
              <a:buNone/>
            </a:pPr>
            <a:r>
              <a:rPr sz="1100">
                <a:solidFill>
                  <a:srgbClr val="D9E4F5"/>
                </a:solidFill>
                <a:latin typeface="Consolas"/>
                <a:ea typeface="Consolas"/>
                <a:cs typeface="Consolas"/>
              </a:rPr>
              <a:t>layers = [</a:t>
            </a:r>
            <a:endParaRPr sz="1100"/>
          </a:p>
          <a:p xmlns:a="http://schemas.openxmlformats.org/drawingml/2006/main">
            <a:pPr marL="0" indent="0">
              <a:lnSpc>
                <a:spcPct val="112000"/>
              </a:lnSpc>
              <a:buNone/>
            </a:pPr>
            <a:r>
              <a:rPr sz="1100">
                <a:solidFill>
                  <a:srgbClr val="D9E4F5"/>
                </a:solidFill>
                <a:latin typeface="Consolas"/>
                <a:ea typeface="Consolas"/>
                <a:cs typeface="Consolas"/>
              </a:rPr>
              <a:t>    "fraud_service.api",</a:t>
            </a:r>
            <a:endParaRPr sz="1100"/>
          </a:p>
          <a:p xmlns:a="http://schemas.openxmlformats.org/drawingml/2006/main">
            <a:pPr marL="0" indent="0">
              <a:lnSpc>
                <a:spcPct val="112000"/>
              </a:lnSpc>
              <a:buNone/>
            </a:pPr>
            <a:r>
              <a:rPr sz="1100">
                <a:solidFill>
                  <a:srgbClr val="D9E4F5"/>
                </a:solidFill>
                <a:latin typeface="Consolas"/>
                <a:ea typeface="Consolas"/>
                <a:cs typeface="Consolas"/>
              </a:rPr>
              <a:t>    "fraud_service.adapters",</a:t>
            </a:r>
            <a:endParaRPr sz="1100"/>
          </a:p>
          <a:p xmlns:a="http://schemas.openxmlformats.org/drawingml/2006/main">
            <a:pPr marL="0" indent="0">
              <a:lnSpc>
                <a:spcPct val="112000"/>
              </a:lnSpc>
              <a:buNone/>
            </a:pPr>
            <a:r>
              <a:rPr sz="1100">
                <a:solidFill>
                  <a:srgbClr val="D9E4F5"/>
                </a:solidFill>
                <a:latin typeface="Consolas"/>
                <a:ea typeface="Consolas"/>
                <a:cs typeface="Consolas"/>
              </a:rPr>
              <a:t>    "fraud_service.service",</a:t>
            </a:r>
            <a:endParaRPr sz="1100"/>
          </a:p>
          <a:p xmlns:a="http://schemas.openxmlformats.org/drawingml/2006/main">
            <a:pPr marL="0" indent="0">
              <a:lnSpc>
                <a:spcPct val="112000"/>
              </a:lnSpc>
              <a:buNone/>
            </a:pPr>
            <a:r>
              <a:rPr sz="1100">
                <a:solidFill>
                  <a:srgbClr val="D9E4F5"/>
                </a:solidFill>
                <a:latin typeface="Consolas"/>
                <a:ea typeface="Consolas"/>
                <a:cs typeface="Consolas"/>
              </a:rPr>
              <a:t>    "fraud_service.domain",</a:t>
            </a:r>
            <a:endParaRPr sz="1100"/>
          </a:p>
          <a:p xmlns:a="http://schemas.openxmlformats.org/drawingml/2006/main">
            <a:pPr marL="0" indent="0">
              <a:lnSpc>
                <a:spcPct val="112000"/>
              </a:lnSpc>
              <a:buNone/>
            </a:pPr>
            <a:r>
              <a:rPr sz="1100">
                <a:solidFill>
                  <a:srgbClr val="D9E4F5"/>
                </a:solidFill>
                <a:latin typeface="Consolas"/>
                <a:ea typeface="Consolas"/>
                <a:cs typeface="Consolas"/>
              </a:rPr>
              <a:t>]</a:t>
            </a:r>
            <a:endParaRPr sz="1100"/>
          </a:p>
          <a:p xmlns:a="http://schemas.openxmlformats.org/drawingml/2006/main">
            <a:pPr marL="0" indent="0">
              <a:lnSpc>
                <a:spcPct val="112000"/>
              </a:lnSpc>
              <a:buNone/>
            </a:pPr>
            <a:r>
              <a:rPr sz="1100">
                <a:solidFill>
                  <a:srgbClr val="D9E4F5"/>
                </a:solidFill>
                <a:latin typeface="Consolas"/>
                <a:ea typeface="Consolas"/>
                <a:cs typeface="Consolas"/>
              </a:rPr>
              <a:t># domain imports nothing above it;</a:t>
            </a:r>
            <a:endParaRPr sz="1100"/>
          </a:p>
          <a:p xmlns:a="http://schemas.openxmlformats.org/drawingml/2006/main">
            <a:pPr marL="0" indent="0">
              <a:lnSpc>
                <a:spcPct val="112000"/>
              </a:lnSpc>
              <a:buNone/>
            </a:pPr>
            <a:r>
              <a:rPr sz="1100">
                <a:solidFill>
                  <a:srgbClr val="D9E4F5"/>
                </a:solidFill>
                <a:latin typeface="Consolas"/>
                <a:ea typeface="Consolas"/>
                <a:cs typeface="Consolas"/>
              </a:rPr>
              <a:t># violations fail CI, not code review</a:t>
            </a:r>
            <a:endParaRPr sz="1100"/>
          </a:p>
        </p:txBody>
      </p:sp>
      <p:sp>
        <p:nvSpPr>
          <p:cNvPr id="14" name="Text 11">
            <a:extLst xmlns:a="http://schemas.openxmlformats.org/drawingml/2006/main">
              <a:ext uri="{FF2B5EF4-FFF2-40B4-BE49-F238E27FC236}">
                <a16:creationId xmlns:a16="http://schemas.microsoft.com/office/drawing/2014/main" id="{D589AB9A-624B-4288-AEB2-5777E4A38BDD}"/>
              </a:ext>
            </a:extLst>
          </p:cNvPr>
          <p:cNvSpPr>
            <a:spLocks xmlns:a="http://schemas.openxmlformats.org/drawingml/2006/main" noGrp="1"/>
          </p:cNvSpPr>
          <p:nvPr/>
        </p:nvSpPr>
        <p:spPr>
          <a:xfrm xmlns:a="http://schemas.openxmlformats.org/drawingml/2006/main">
            <a:off x="502920" y="6144768"/>
            <a:ext cx="1115568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5F6B7A"/>
                </a:solidFill>
                <a:latin typeface="Calibri"/>
                <a:ea typeface="Calibri"/>
                <a:cs typeface="Calibri"/>
              </a:rPr>
              <a:t>Ties Module 1 to CI: the layered architecture is now machine-enforced on every PR.</a:t>
            </a:r>
            <a:endParaRPr sz="950"/>
          </a:p>
        </p:txBody>
      </p:sp>
    </p:spTree>
    <p:extLst>
      <p:ext uri="{BB962C8B-B14F-4D97-AF65-F5344CB8AC3E}">
        <p14:creationId xmlns:p14="http://schemas.microsoft.com/office/powerpoint/2010/main" val="354570360"/>
      </p:ext>
    </p:extLst>
  </p:cSld>
</p:sld>
</file>

<file path=ppt/slides/slide12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DD15282-372B-4C21-8832-18C2B9EA677E}"/>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Lab 5 — Build the Pipeline</a:t>
            </a:r>
            <a:endParaRPr sz="2600"/>
          </a:p>
        </p:txBody>
      </p:sp>
      <p:sp>
        <p:nvSpPr>
          <p:cNvPr id="3" name="Text 1">
            <a:extLst xmlns:a="http://schemas.openxmlformats.org/drawingml/2006/main">
              <a:ext uri="{FF2B5EF4-FFF2-40B4-BE49-F238E27FC236}">
                <a16:creationId xmlns:a16="http://schemas.microsoft.com/office/drawing/2014/main" id="{2D2B9C8E-696C-4B2D-A667-42EA62091E03}"/>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المعمل 5 — بناء خط الأنابيب</a:t>
            </a:r>
            <a:endParaRPr sz="1300"/>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41632cdb7446436f"/>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2E81BA56-9B2A-45CD-BFCB-415BA4359A6D}"/>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94F9A070-154C-4281-84CE-0F149E331DD4}"/>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5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2E513B12-CF3A-4EC1-897A-01860E6781B9}"/>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120</a:t>
            </a:r>
            <a:endParaRPr sz="850"/>
          </a:p>
        </p:txBody>
      </p:sp>
      <p:sp>
        <p:nvSpPr>
          <p:cNvPr id="8" name="Text 5">
            <a:extLst xmlns:a="http://schemas.openxmlformats.org/drawingml/2006/main">
              <a:ext uri="{FF2B5EF4-FFF2-40B4-BE49-F238E27FC236}">
                <a16:creationId xmlns:a16="http://schemas.microsoft.com/office/drawing/2014/main" id="{4D181673-D489-413F-934D-81650324FA07}"/>
              </a:ext>
            </a:extLst>
          </p:cNvPr>
          <p:cNvSpPr>
            <a:spLocks xmlns:a="http://schemas.openxmlformats.org/drawingml/2006/main" noGrp="1"/>
          </p:cNvSpPr>
          <p:nvPr/>
        </p:nvSpPr>
        <p:spPr>
          <a:xfrm xmlns:a="http://schemas.openxmlformats.org/drawingml/2006/main">
            <a:off x="502920" y="1481328"/>
            <a:ext cx="1188720" cy="310896"/>
          </a:xfrm>
          <a:prstGeom xmlns:a="http://schemas.openxmlformats.org/drawingml/2006/main" prst="roundRect">
            <a:avLst>
              <a:gd name="adj" fmla="val 17647"/>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LAB 5</a:t>
            </a:r>
            <a:endParaRPr sz="1100"/>
          </a:p>
        </p:txBody>
      </p:sp>
      <p:sp>
        <p:nvSpPr>
          <p:cNvPr id="9" name="Text 6">
            <a:extLst xmlns:a="http://schemas.openxmlformats.org/drawingml/2006/main">
              <a:ext uri="{FF2B5EF4-FFF2-40B4-BE49-F238E27FC236}">
                <a16:creationId xmlns:a16="http://schemas.microsoft.com/office/drawing/2014/main" id="{9713A0AF-B9E0-4525-B503-5EC9E2C1881A}"/>
              </a:ext>
            </a:extLst>
          </p:cNvPr>
          <p:cNvSpPr>
            <a:spLocks xmlns:a="http://schemas.openxmlformats.org/drawingml/2006/main" noGrp="1"/>
          </p:cNvSpPr>
          <p:nvPr/>
        </p:nvSpPr>
        <p:spPr>
          <a:xfrm xmlns:a="http://schemas.openxmlformats.org/drawingml/2006/main">
            <a:off x="1874520" y="1481328"/>
            <a:ext cx="594360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5F6B7A"/>
                </a:solidFill>
                <a:latin typeface="Calibri"/>
                <a:ea typeface="Calibri"/>
                <a:cs typeface="Calibri"/>
              </a:rPr>
              <a:t>⏱ 50 min</a:t>
            </a:r>
            <a:r>
              <a:rPr sz="1050">
                <a:solidFill>
                  <a:srgbClr val="5F6B7A"/>
                </a:solidFill>
                <a:latin typeface="Calibri"/>
                <a:ea typeface="Calibri"/>
                <a:cs typeface="Calibri"/>
              </a:rPr>
              <a:t>     Pairs</a:t>
            </a:r>
            <a:r>
              <a:rPr sz="1050">
                <a:solidFill>
                  <a:srgbClr val="5F6B7A"/>
                </a:solidFill>
                <a:latin typeface="Calibri"/>
                <a:ea typeface="Calibri"/>
                <a:cs typeface="Calibri"/>
              </a:rPr>
              <a:t>     Difficulty: </a:t>
            </a:r>
            <a:r>
              <a:rPr sz="1050">
                <a:solidFill>
                  <a:srgbClr val="F58220"/>
                </a:solidFill>
                <a:latin typeface="Calibri"/>
                <a:ea typeface="Calibri"/>
                <a:cs typeface="Calibri"/>
              </a:rPr>
              <a:t>●●○</a:t>
            </a:r>
            <a:endParaRPr sz="1050"/>
          </a:p>
        </p:txBody>
      </p:sp>
      <p:sp>
        <p:nvSpPr>
          <p:cNvPr id="10" name="Text 7">
            <a:extLst xmlns:a="http://schemas.openxmlformats.org/drawingml/2006/main">
              <a:ext uri="{FF2B5EF4-FFF2-40B4-BE49-F238E27FC236}">
                <a16:creationId xmlns:a16="http://schemas.microsoft.com/office/drawing/2014/main" id="{C0BB2BD7-2DF3-453A-8A26-D8DFBB482821}"/>
              </a:ext>
            </a:extLst>
          </p:cNvPr>
          <p:cNvSpPr>
            <a:spLocks xmlns:a="http://schemas.openxmlformats.org/drawingml/2006/main" noGrp="1"/>
          </p:cNvSpPr>
          <p:nvPr/>
        </p:nvSpPr>
        <p:spPr>
          <a:xfrm xmlns:a="http://schemas.openxmlformats.org/drawingml/2006/main">
            <a:off x="502920" y="2029968"/>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1</a:t>
            </a:r>
            <a:endParaRPr sz="1050"/>
          </a:p>
        </p:txBody>
      </p:sp>
      <p:sp>
        <p:nvSpPr>
          <p:cNvPr id="11" name="Text 8">
            <a:extLst xmlns:a="http://schemas.openxmlformats.org/drawingml/2006/main">
              <a:ext uri="{FF2B5EF4-FFF2-40B4-BE49-F238E27FC236}">
                <a16:creationId xmlns:a16="http://schemas.microsoft.com/office/drawing/2014/main" id="{74DC42E5-D5AA-4CB0-ACD3-CAD7E89CC492}"/>
              </a:ext>
            </a:extLst>
          </p:cNvPr>
          <p:cNvSpPr>
            <a:spLocks xmlns:a="http://schemas.openxmlformats.org/drawingml/2006/main" noGrp="1"/>
          </p:cNvSpPr>
          <p:nvPr/>
        </p:nvSpPr>
        <p:spPr>
          <a:xfrm xmlns:a="http://schemas.openxmlformats.org/drawingml/2006/main">
            <a:off x="914400" y="2011680"/>
            <a:ext cx="6035040" cy="8412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lint + test jobs  </a:t>
            </a:r>
            <a:r>
              <a:rPr sz="1000">
                <a:solidFill>
                  <a:srgbClr val="5F6B7A"/>
                </a:solidFill>
                <a:latin typeface="Calibri"/>
                <a:ea typeface="Calibri"/>
                <a:cs typeface="Calibri"/>
              </a:rPr>
              <a:t>Add ci.yml; push; watch the run; fix red (most hit a lock-file or LFS miss — intended)</a:t>
            </a:r>
            <a:endParaRPr sz="1050"/>
          </a:p>
        </p:txBody>
      </p:sp>
      <p:sp>
        <p:nvSpPr>
          <p:cNvPr id="12" name="Text 9">
            <a:extLst xmlns:a="http://schemas.openxmlformats.org/drawingml/2006/main">
              <a:ext uri="{FF2B5EF4-FFF2-40B4-BE49-F238E27FC236}">
                <a16:creationId xmlns:a16="http://schemas.microsoft.com/office/drawing/2014/main" id="{BB668698-CBAE-4437-B46A-105D5477A0C8}"/>
              </a:ext>
            </a:extLst>
          </p:cNvPr>
          <p:cNvSpPr>
            <a:spLocks xmlns:a="http://schemas.openxmlformats.org/drawingml/2006/main" noGrp="1"/>
          </p:cNvSpPr>
          <p:nvPr/>
        </p:nvSpPr>
        <p:spPr>
          <a:xfrm xmlns:a="http://schemas.openxmlformats.org/drawingml/2006/main">
            <a:off x="502920" y="2871216"/>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2</a:t>
            </a:r>
            <a:endParaRPr sz="1050"/>
          </a:p>
        </p:txBody>
      </p:sp>
      <p:sp>
        <p:nvSpPr>
          <p:cNvPr id="13" name="Text 10">
            <a:extLst xmlns:a="http://schemas.openxmlformats.org/drawingml/2006/main">
              <a:ext uri="{FF2B5EF4-FFF2-40B4-BE49-F238E27FC236}">
                <a16:creationId xmlns:a16="http://schemas.microsoft.com/office/drawing/2014/main" id="{239C67D2-423B-4D91-A15C-75F7B095B0AD}"/>
              </a:ext>
            </a:extLst>
          </p:cNvPr>
          <p:cNvSpPr>
            <a:spLocks xmlns:a="http://schemas.openxmlformats.org/drawingml/2006/main" noGrp="1"/>
          </p:cNvSpPr>
          <p:nvPr/>
        </p:nvSpPr>
        <p:spPr>
          <a:xfrm xmlns:a="http://schemas.openxmlformats.org/drawingml/2006/main">
            <a:off x="914400" y="2852928"/>
            <a:ext cx="6035040" cy="8412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image-smoke job  </a:t>
            </a:r>
            <a:r>
              <a:rPr sz="1000">
                <a:solidFill>
                  <a:srgbClr val="5F6B7A"/>
                </a:solidFill>
                <a:latin typeface="Calibri"/>
                <a:ea typeface="Calibri"/>
                <a:cs typeface="Calibri"/>
              </a:rPr>
              <a:t>Confirm buildx cache makes the second run ≥3x faster; compare timings in the Actions UI</a:t>
            </a:r>
            <a:endParaRPr sz="1050"/>
          </a:p>
        </p:txBody>
      </p:sp>
      <p:sp>
        <p:nvSpPr>
          <p:cNvPr id="14" name="Text 11">
            <a:extLst xmlns:a="http://schemas.openxmlformats.org/drawingml/2006/main">
              <a:ext uri="{FF2B5EF4-FFF2-40B4-BE49-F238E27FC236}">
                <a16:creationId xmlns:a16="http://schemas.microsoft.com/office/drawing/2014/main" id="{F6697B7E-D053-4E84-9D1D-8791DC579A4E}"/>
              </a:ext>
            </a:extLst>
          </p:cNvPr>
          <p:cNvSpPr>
            <a:spLocks xmlns:a="http://schemas.openxmlformats.org/drawingml/2006/main" noGrp="1"/>
          </p:cNvSpPr>
          <p:nvPr/>
        </p:nvSpPr>
        <p:spPr>
          <a:xfrm xmlns:a="http://schemas.openxmlformats.org/drawingml/2006/main">
            <a:off x="502920" y="3712464"/>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3</a:t>
            </a:r>
            <a:endParaRPr sz="1050"/>
          </a:p>
        </p:txBody>
      </p:sp>
      <p:sp>
        <p:nvSpPr>
          <p:cNvPr id="15" name="Text 12">
            <a:extLst xmlns:a="http://schemas.openxmlformats.org/drawingml/2006/main">
              <a:ext uri="{FF2B5EF4-FFF2-40B4-BE49-F238E27FC236}">
                <a16:creationId xmlns:a16="http://schemas.microsoft.com/office/drawing/2014/main" id="{625A7E87-8339-4254-9801-3E8D7AC9F14B}"/>
              </a:ext>
            </a:extLst>
          </p:cNvPr>
          <p:cNvSpPr>
            <a:spLocks xmlns:a="http://schemas.openxmlformats.org/drawingml/2006/main" noGrp="1"/>
          </p:cNvSpPr>
          <p:nvPr/>
        </p:nvSpPr>
        <p:spPr>
          <a:xfrm xmlns:a="http://schemas.openxmlformats.org/drawingml/2006/main">
            <a:off x="914400" y="3694176"/>
            <a:ext cx="6035040" cy="8412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publish job  </a:t>
            </a:r>
            <a:r>
              <a:rPr sz="1000">
                <a:solidFill>
                  <a:srgbClr val="5F6B7A"/>
                </a:solidFill>
                <a:latin typeface="Calibri"/>
                <a:ea typeface="Calibri"/>
                <a:cs typeface="Calibri"/>
              </a:rPr>
              <a:t>Merge to main; verify SHA-tagged image on GHCR; docker pull it and run make smoke on the pulled image</a:t>
            </a:r>
            <a:endParaRPr sz="1050"/>
          </a:p>
        </p:txBody>
      </p:sp>
      <p:sp>
        <p:nvSpPr>
          <p:cNvPr id="16" name="Text 13">
            <a:extLst xmlns:a="http://schemas.openxmlformats.org/drawingml/2006/main">
              <a:ext uri="{FF2B5EF4-FFF2-40B4-BE49-F238E27FC236}">
                <a16:creationId xmlns:a16="http://schemas.microsoft.com/office/drawing/2014/main" id="{24BA89A0-9E06-462D-BCA8-7277DF7BC7F8}"/>
              </a:ext>
            </a:extLst>
          </p:cNvPr>
          <p:cNvSpPr>
            <a:spLocks xmlns:a="http://schemas.openxmlformats.org/drawingml/2006/main" noGrp="1"/>
          </p:cNvSpPr>
          <p:nvPr/>
        </p:nvSpPr>
        <p:spPr>
          <a:xfrm xmlns:a="http://schemas.openxmlformats.org/drawingml/2006/main">
            <a:off x="502920" y="4553712"/>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4</a:t>
            </a:r>
            <a:endParaRPr sz="1050"/>
          </a:p>
        </p:txBody>
      </p:sp>
      <p:sp>
        <p:nvSpPr>
          <p:cNvPr id="17" name="Text 14">
            <a:extLst xmlns:a="http://schemas.openxmlformats.org/drawingml/2006/main">
              <a:ext uri="{FF2B5EF4-FFF2-40B4-BE49-F238E27FC236}">
                <a16:creationId xmlns:a16="http://schemas.microsoft.com/office/drawing/2014/main" id="{1A388A76-A737-49E4-8B11-97D293E89D22}"/>
              </a:ext>
            </a:extLst>
          </p:cNvPr>
          <p:cNvSpPr>
            <a:spLocks xmlns:a="http://schemas.openxmlformats.org/drawingml/2006/main" noGrp="1"/>
          </p:cNvSpPr>
          <p:nvPr/>
        </p:nvSpPr>
        <p:spPr>
          <a:xfrm xmlns:a="http://schemas.openxmlformats.org/drawingml/2006/main">
            <a:off x="914400" y="4535424"/>
            <a:ext cx="6035040" cy="8412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Branch protection  </a:t>
            </a:r>
            <a:r>
              <a:rPr sz="1000">
                <a:solidFill>
                  <a:srgbClr val="5F6B7A"/>
                </a:solidFill>
                <a:latin typeface="Calibri"/>
                <a:ea typeface="Calibri"/>
                <a:cs typeface="Calibri"/>
              </a:rPr>
              <a:t>Require lint, test, image-smoke + 1 review; open the provided bad-pr and watch it blocked</a:t>
            </a:r>
            <a:endParaRPr sz="1050"/>
          </a:p>
        </p:txBody>
      </p:sp>
      <p:sp>
        <p:nvSpPr>
          <p:cNvPr id="18" name="Text 15">
            <a:extLst xmlns:a="http://schemas.openxmlformats.org/drawingml/2006/main">
              <a:ext uri="{FF2B5EF4-FFF2-40B4-BE49-F238E27FC236}">
                <a16:creationId xmlns:a16="http://schemas.microsoft.com/office/drawing/2014/main" id="{7554E1A9-E608-4857-984E-634EAAB64886}"/>
              </a:ext>
            </a:extLst>
          </p:cNvPr>
          <p:cNvSpPr>
            <a:spLocks xmlns:a="http://schemas.openxmlformats.org/drawingml/2006/main" noGrp="1"/>
          </p:cNvSpPr>
          <p:nvPr/>
        </p:nvSpPr>
        <p:spPr>
          <a:xfrm xmlns:a="http://schemas.openxmlformats.org/drawingml/2006/main">
            <a:off x="502920" y="5394960"/>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5</a:t>
            </a:r>
            <a:endParaRPr sz="1050"/>
          </a:p>
        </p:txBody>
      </p:sp>
      <p:sp>
        <p:nvSpPr>
          <p:cNvPr id="19" name="Text 16">
            <a:extLst xmlns:a="http://schemas.openxmlformats.org/drawingml/2006/main">
              <a:ext uri="{FF2B5EF4-FFF2-40B4-BE49-F238E27FC236}">
                <a16:creationId xmlns:a16="http://schemas.microsoft.com/office/drawing/2014/main" id="{A09AEB28-773B-4B79-868F-101D60620E96}"/>
              </a:ext>
            </a:extLst>
          </p:cNvPr>
          <p:cNvSpPr>
            <a:spLocks xmlns:a="http://schemas.openxmlformats.org/drawingml/2006/main" noGrp="1"/>
          </p:cNvSpPr>
          <p:nvPr/>
        </p:nvSpPr>
        <p:spPr>
          <a:xfrm xmlns:a="http://schemas.openxmlformats.org/drawingml/2006/main">
            <a:off x="914400" y="5376672"/>
            <a:ext cx="6035040" cy="8412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Fix the PR properly  </a:t>
            </a:r>
            <a:r>
              <a:rPr sz="1000">
                <a:solidFill>
                  <a:srgbClr val="5F6B7A"/>
                </a:solidFill>
                <a:latin typeface="Calibri"/>
                <a:ea typeface="Calibri"/>
                <a:cs typeface="Calibri"/>
              </a:rPr>
              <a:t>Not by weakening tests; merge green; record pipeline timings in BENCHMARKS.md</a:t>
            </a:r>
            <a:endParaRPr sz="1050"/>
          </a:p>
        </p:txBody>
      </p:sp>
      <p:sp>
        <p:nvSpPr>
          <p:cNvPr id="20" name="Shape 17">
            <a:extLst xmlns:a="http://schemas.openxmlformats.org/drawingml/2006/main">
              <a:ext uri="{FF2B5EF4-FFF2-40B4-BE49-F238E27FC236}">
                <a16:creationId xmlns:a16="http://schemas.microsoft.com/office/drawing/2014/main" id="{6598226D-396A-4200-A2CC-1FCE360D93DA}"/>
              </a:ext>
            </a:extLst>
          </p:cNvPr>
          <p:cNvSpPr>
            <a:spLocks xmlns:a="http://schemas.openxmlformats.org/drawingml/2006/main" noGrp="1"/>
          </p:cNvSpPr>
          <p:nvPr/>
        </p:nvSpPr>
        <p:spPr>
          <a:xfrm xmlns:a="http://schemas.openxmlformats.org/drawingml/2006/main">
            <a:off x="7269480" y="2011680"/>
            <a:ext cx="4416552" cy="1417320"/>
          </a:xfrm>
          <a:prstGeom xmlns:a="http://schemas.openxmlformats.org/drawingml/2006/main" prst="roundRect">
            <a:avLst>
              <a:gd name="adj" fmla="val 4516"/>
            </a:avLst>
          </a:prstGeom>
          <a:solidFill xmlns:a="http://schemas.openxmlformats.org/drawingml/2006/main">
            <a:srgbClr val="D4F1EE"/>
          </a:solidFill>
        </p:spPr>
      </p:sp>
      <p:sp>
        <p:nvSpPr>
          <p:cNvPr id="21" name="Text 18">
            <a:extLst xmlns:a="http://schemas.openxmlformats.org/drawingml/2006/main">
              <a:ext uri="{FF2B5EF4-FFF2-40B4-BE49-F238E27FC236}">
                <a16:creationId xmlns:a16="http://schemas.microsoft.com/office/drawing/2014/main" id="{0E729008-7029-4EA6-873A-CDB19DEF0B25}"/>
              </a:ext>
            </a:extLst>
          </p:cNvPr>
          <p:cNvSpPr>
            <a:spLocks xmlns:a="http://schemas.openxmlformats.org/drawingml/2006/main" noGrp="1"/>
          </p:cNvSpPr>
          <p:nvPr/>
        </p:nvSpPr>
        <p:spPr>
          <a:xfrm xmlns:a="http://schemas.openxmlformats.org/drawingml/2006/main">
            <a:off x="7452360" y="2139696"/>
            <a:ext cx="405079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056A63"/>
                </a:solidFill>
                <a:latin typeface="Calibri"/>
                <a:ea typeface="Calibri"/>
                <a:cs typeface="Calibri"/>
              </a:rPr>
              <a:t>DELIVERABLE</a:t>
            </a:r>
            <a:endParaRPr sz="900"/>
          </a:p>
        </p:txBody>
      </p:sp>
      <p:sp>
        <p:nvSpPr>
          <p:cNvPr id="22" name="Text 19">
            <a:extLst xmlns:a="http://schemas.openxmlformats.org/drawingml/2006/main">
              <a:ext uri="{FF2B5EF4-FFF2-40B4-BE49-F238E27FC236}">
                <a16:creationId xmlns:a16="http://schemas.microsoft.com/office/drawing/2014/main" id="{705E148F-3550-41BB-96EE-97559185AE48}"/>
              </a:ext>
            </a:extLst>
          </p:cNvPr>
          <p:cNvSpPr>
            <a:spLocks xmlns:a="http://schemas.openxmlformats.org/drawingml/2006/main" noGrp="1"/>
          </p:cNvSpPr>
          <p:nvPr/>
        </p:nvSpPr>
        <p:spPr>
          <a:xfrm xmlns:a="http://schemas.openxmlformats.org/drawingml/2006/main">
            <a:off x="7452360" y="2395728"/>
            <a:ext cx="4050792" cy="960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30">
                <a:solidFill>
                  <a:srgbClr val="056A63"/>
                </a:solidFill>
                <a:latin typeface="Calibri"/>
                <a:ea typeface="Calibri"/>
                <a:cs typeface="Calibri"/>
              </a:rPr>
              <a:t>Green main-branch run + GHCR digest; a blocked bad-pr with its golden-diff artefact downloaded; BENCHMARKS.md timings recorded.</a:t>
            </a:r>
            <a:endParaRPr sz="1030"/>
          </a:p>
        </p:txBody>
      </p:sp>
      <p:sp>
        <p:nvSpPr>
          <p:cNvPr id="23" name="Shape 20">
            <a:extLst xmlns:a="http://schemas.openxmlformats.org/drawingml/2006/main">
              <a:ext uri="{FF2B5EF4-FFF2-40B4-BE49-F238E27FC236}">
                <a16:creationId xmlns:a16="http://schemas.microsoft.com/office/drawing/2014/main" id="{114429DA-B7C9-4B8F-8C21-FB1F9D892EF0}"/>
              </a:ext>
            </a:extLst>
          </p:cNvPr>
          <p:cNvSpPr>
            <a:spLocks xmlns:a="http://schemas.openxmlformats.org/drawingml/2006/main" noGrp="1"/>
          </p:cNvSpPr>
          <p:nvPr/>
        </p:nvSpPr>
        <p:spPr>
          <a:xfrm xmlns:a="http://schemas.openxmlformats.org/drawingml/2006/main">
            <a:off x="7269480" y="3611880"/>
            <a:ext cx="4416552" cy="1371600"/>
          </a:xfrm>
          <a:prstGeom xmlns:a="http://schemas.openxmlformats.org/drawingml/2006/main" prst="roundRect">
            <a:avLst>
              <a:gd name="adj" fmla="val 4667"/>
            </a:avLst>
          </a:prstGeom>
          <a:solidFill xmlns:a="http://schemas.openxmlformats.org/drawingml/2006/main">
            <a:srgbClr val="EEF3FB"/>
          </a:solidFill>
          <a:ln xmlns:a="http://schemas.openxmlformats.org/drawingml/2006/main" w="9525">
            <a:solidFill>
              <a:srgbClr val="D9E4F5"/>
            </a:solidFill>
            <a:prstDash val="solid"/>
          </a:ln>
        </p:spPr>
      </p:sp>
      <p:sp>
        <p:nvSpPr>
          <p:cNvPr id="24" name="Text 21">
            <a:extLst xmlns:a="http://schemas.openxmlformats.org/drawingml/2006/main">
              <a:ext uri="{FF2B5EF4-FFF2-40B4-BE49-F238E27FC236}">
                <a16:creationId xmlns:a16="http://schemas.microsoft.com/office/drawing/2014/main" id="{E6C17069-F469-408B-A614-45B088695959}"/>
              </a:ext>
            </a:extLst>
          </p:cNvPr>
          <p:cNvSpPr>
            <a:spLocks xmlns:a="http://schemas.openxmlformats.org/drawingml/2006/main" noGrp="1"/>
          </p:cNvSpPr>
          <p:nvPr/>
        </p:nvSpPr>
        <p:spPr>
          <a:xfrm xmlns:a="http://schemas.openxmlformats.org/drawingml/2006/main">
            <a:off x="7452360" y="3730752"/>
            <a:ext cx="405079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100">
                <a:solidFill>
                  <a:srgbClr val="1D2A5C"/>
                </a:solidFill>
                <a:latin typeface="Calibri"/>
                <a:ea typeface="Calibri"/>
                <a:cs typeface="Calibri"/>
              </a:rPr>
              <a:t>CHECKPOINT — how you know it worked</a:t>
            </a:r>
            <a:endParaRPr sz="900"/>
          </a:p>
        </p:txBody>
      </p:sp>
      <p:sp>
        <p:nvSpPr>
          <p:cNvPr id="25" name="Text 22">
            <a:extLst xmlns:a="http://schemas.openxmlformats.org/drawingml/2006/main">
              <a:ext uri="{FF2B5EF4-FFF2-40B4-BE49-F238E27FC236}">
                <a16:creationId xmlns:a16="http://schemas.microsoft.com/office/drawing/2014/main" id="{789501A3-CFB2-4DBB-97C5-E3D41CA28E9E}"/>
              </a:ext>
            </a:extLst>
          </p:cNvPr>
          <p:cNvSpPr>
            <a:spLocks xmlns:a="http://schemas.openxmlformats.org/drawingml/2006/main" noGrp="1"/>
          </p:cNvSpPr>
          <p:nvPr/>
        </p:nvSpPr>
        <p:spPr>
          <a:xfrm xmlns:a="http://schemas.openxmlformats.org/drawingml/2006/main">
            <a:off x="7452360" y="3986784"/>
            <a:ext cx="4050792"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5F6B7A"/>
                </a:solidFill>
                <a:latin typeface="Calibri"/>
                <a:ea typeface="Calibri"/>
                <a:cs typeface="Calibri"/>
              </a:rPr>
              <a:t>git checkout lab5-start if behind. The bad-pr carries a layer violation + a golden-breaking change — it must NOT merge.</a:t>
            </a:r>
            <a:endParaRPr sz="1000"/>
          </a:p>
        </p:txBody>
      </p:sp>
      <p:sp>
        <p:nvSpPr>
          <p:cNvPr id="26" name="Shape 23">
            <a:extLst xmlns:a="http://schemas.openxmlformats.org/drawingml/2006/main">
              <a:ext uri="{FF2B5EF4-FFF2-40B4-BE49-F238E27FC236}">
                <a16:creationId xmlns:a16="http://schemas.microsoft.com/office/drawing/2014/main" id="{8A573178-934A-4DE2-B3C9-A00E382AD5E6}"/>
              </a:ext>
            </a:extLst>
          </p:cNvPr>
          <p:cNvSpPr>
            <a:spLocks xmlns:a="http://schemas.openxmlformats.org/drawingml/2006/main" noGrp="1"/>
          </p:cNvSpPr>
          <p:nvPr/>
        </p:nvSpPr>
        <p:spPr>
          <a:xfrm xmlns:a="http://schemas.openxmlformats.org/drawingml/2006/main">
            <a:off x="7269480" y="5166360"/>
            <a:ext cx="4416552" cy="1051560"/>
          </a:xfrm>
          <a:prstGeom xmlns:a="http://schemas.openxmlformats.org/drawingml/2006/main" prst="roundRect">
            <a:avLst>
              <a:gd name="adj" fmla="val 6087"/>
            </a:avLst>
          </a:prstGeom>
          <a:solidFill xmlns:a="http://schemas.openxmlformats.org/drawingml/2006/main">
            <a:srgbClr val="FDEBD7"/>
          </a:solidFill>
        </p:spPr>
      </p:sp>
      <p:sp>
        <p:nvSpPr>
          <p:cNvPr id="27" name="Text 24">
            <a:extLst xmlns:a="http://schemas.openxmlformats.org/drawingml/2006/main">
              <a:ext uri="{FF2B5EF4-FFF2-40B4-BE49-F238E27FC236}">
                <a16:creationId xmlns:a16="http://schemas.microsoft.com/office/drawing/2014/main" id="{55CC1C5F-8937-4C42-BB60-D3C345202CED}"/>
              </a:ext>
            </a:extLst>
          </p:cNvPr>
          <p:cNvSpPr>
            <a:spLocks xmlns:a="http://schemas.openxmlformats.org/drawingml/2006/main" noGrp="1"/>
          </p:cNvSpPr>
          <p:nvPr/>
        </p:nvSpPr>
        <p:spPr>
          <a:xfrm xmlns:a="http://schemas.openxmlformats.org/drawingml/2006/main">
            <a:off x="7452360" y="5230368"/>
            <a:ext cx="4050792"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850" b="1">
                <a:solidFill>
                  <a:srgbClr val="A6531C"/>
                </a:solidFill>
                <a:latin typeface="Calibri"/>
                <a:ea typeface="Calibri"/>
                <a:cs typeface="Calibri"/>
              </a:rPr>
              <a:t>INSTRUCTOR TIP  </a:t>
            </a:r>
            <a:r>
              <a:rPr sz="950">
                <a:solidFill>
                  <a:srgbClr val="A6531C"/>
                </a:solidFill>
                <a:latin typeface="Calibri"/>
                <a:ea typeface="Calibri"/>
                <a:cs typeface="Calibri"/>
              </a:rPr>
              <a:t>Make one participant try to merge bad-pr in the UI and screenshot the greyed-out button for the class — the repo defends itself.</a:t>
            </a:r>
            <a:endParaRPr sz="850"/>
          </a:p>
        </p:txBody>
      </p:sp>
    </p:spTree>
    <p:extLst>
      <p:ext uri="{BB962C8B-B14F-4D97-AF65-F5344CB8AC3E}">
        <p14:creationId xmlns:p14="http://schemas.microsoft.com/office/powerpoint/2010/main" val="709898853"/>
      </p:ext>
    </p:extLst>
  </p:cSld>
</p:sld>
</file>

<file path=ppt/slides/slide12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DE5F17D-659E-48CC-9D2F-EC1A655C4B18}"/>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Pipeline incident tabletop — decide what blocks and what ships</a:t>
            </a:r>
            <a:endParaRPr sz="2600"/>
          </a:p>
        </p:txBody>
      </p:sp>
      <p:sp>
        <p:nvSpPr>
          <p:cNvPr id="3" name="Text 1">
            <a:extLst xmlns:a="http://schemas.openxmlformats.org/drawingml/2006/main">
              <a:ext uri="{FF2B5EF4-FFF2-40B4-BE49-F238E27FC236}">
                <a16:creationId xmlns:a16="http://schemas.microsoft.com/office/drawing/2014/main" id="{16A3C7C4-974F-4731-AE67-C6A488FEC868}"/>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محاكاة حادث خط الأنابيب — قرّر ما يمنع الدمج وما يُشحن</a:t>
            </a:r>
            <a:endParaRPr sz="1300"/>
          </a:p>
        </p:txBody>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46c0dce1100c4e3e"/>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D60A61EA-B363-4398-BC98-A84121CFAE1F}"/>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BB66A3E8-A99A-4AF4-B699-7DE7040FFBAF}"/>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LAB 5</a:t>
            </a:r>
            <a:r>
              <a:rPr sz="850" b="1" spc="100">
                <a:solidFill>
                  <a:srgbClr val="00A79D"/>
                </a:solidFill>
                <a:latin typeface="Calibri"/>
                <a:ea typeface="Calibri"/>
                <a:cs typeface="Calibri"/>
              </a:rPr>
              <a:t>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7667CF09-35EA-459F-AE5E-228548E764FA}"/>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121</a:t>
            </a:r>
            <a:endParaRPr sz="850"/>
          </a:p>
        </p:txBody>
      </p:sp>
      <p:sp>
        <p:nvSpPr>
          <p:cNvPr id="8" name="Text 5">
            <a:extLst xmlns:a="http://schemas.openxmlformats.org/drawingml/2006/main">
              <a:ext uri="{FF2B5EF4-FFF2-40B4-BE49-F238E27FC236}">
                <a16:creationId xmlns:a16="http://schemas.microsoft.com/office/drawing/2014/main" id="{AD1E06BF-FB27-40AC-9620-6A2C25D75C02}"/>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A85E1220-86F3-4C31-AB2B-F1DE3B7144CB}"/>
              </a:ext>
            </a:extLst>
          </p:cNvPr>
          <p:cNvSpPr>
            <a:spLocks xmlns:a="http://schemas.openxmlformats.org/drawingml/2006/main" noGrp="1"/>
          </p:cNvSpPr>
          <p:nvPr/>
        </p:nvSpPr>
        <p:spPr>
          <a:xfrm xmlns:a="http://schemas.openxmlformats.org/drawingml/2006/main">
            <a:off x="1005840" y="14996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Golden diff on a planned model change</a:t>
            </a:r>
            <a:endParaRPr sz="1350"/>
          </a:p>
        </p:txBody>
      </p:sp>
      <p:sp>
        <p:nvSpPr>
          <p:cNvPr id="10" name="Text 7">
            <a:extLst xmlns:a="http://schemas.openxmlformats.org/drawingml/2006/main">
              <a:ext uri="{FF2B5EF4-FFF2-40B4-BE49-F238E27FC236}">
                <a16:creationId xmlns:a16="http://schemas.microsoft.com/office/drawing/2014/main" id="{A82ACBC5-1BFF-4AA9-B0B0-C3F7204F9481}"/>
              </a:ext>
            </a:extLst>
          </p:cNvPr>
          <p:cNvSpPr>
            <a:spLocks xmlns:a="http://schemas.openxmlformats.org/drawingml/2006/main" noGrp="1"/>
          </p:cNvSpPr>
          <p:nvPr/>
        </p:nvSpPr>
        <p:spPr>
          <a:xfrm xmlns:a="http://schemas.openxmlformats.org/drawingml/2006/main">
            <a:off x="1005840" y="180136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Require reviewed evidence and versioning; do not auto-accept or auto-reject.</a:t>
            </a:r>
            <a:endParaRPr sz="1050"/>
          </a:p>
        </p:txBody>
      </p:sp>
      <p:sp>
        <p:nvSpPr>
          <p:cNvPr id="11" name="Text 8">
            <a:extLst xmlns:a="http://schemas.openxmlformats.org/drawingml/2006/main">
              <a:ext uri="{FF2B5EF4-FFF2-40B4-BE49-F238E27FC236}">
                <a16:creationId xmlns:a16="http://schemas.microsoft.com/office/drawing/2014/main" id="{6E412656-5263-45AE-82D5-31AA6B396614}"/>
              </a:ext>
            </a:extLst>
          </p:cNvPr>
          <p:cNvSpPr>
            <a:spLocks xmlns:a="http://schemas.openxmlformats.org/drawingml/2006/main" noGrp="1"/>
          </p:cNvSpPr>
          <p:nvPr/>
        </p:nvSpPr>
        <p:spPr>
          <a:xfrm xmlns:a="http://schemas.openxmlformats.org/drawingml/2006/main">
            <a:off x="502920" y="280035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0736F55E-3534-4AC1-B57C-0E7933249618}"/>
              </a:ext>
            </a:extLst>
          </p:cNvPr>
          <p:cNvSpPr>
            <a:spLocks xmlns:a="http://schemas.openxmlformats.org/drawingml/2006/main" noGrp="1"/>
          </p:cNvSpPr>
          <p:nvPr/>
        </p:nvSpPr>
        <p:spPr>
          <a:xfrm xmlns:a="http://schemas.openxmlformats.org/drawingml/2006/main">
            <a:off x="1005840" y="274548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Three casing invariance failures</a:t>
            </a:r>
            <a:endParaRPr sz="1350"/>
          </a:p>
        </p:txBody>
      </p:sp>
      <p:sp>
        <p:nvSpPr>
          <p:cNvPr id="13" name="Text 10">
            <a:extLst xmlns:a="http://schemas.openxmlformats.org/drawingml/2006/main">
              <a:ext uri="{FF2B5EF4-FFF2-40B4-BE49-F238E27FC236}">
                <a16:creationId xmlns:a16="http://schemas.microsoft.com/office/drawing/2014/main" id="{F1DBD095-EE3F-4C72-9CC1-5BAF1DF19F2D}"/>
              </a:ext>
            </a:extLst>
          </p:cNvPr>
          <p:cNvSpPr>
            <a:spLocks xmlns:a="http://schemas.openxmlformats.org/drawingml/2006/main" noGrp="1"/>
          </p:cNvSpPr>
          <p:nvPr/>
        </p:nvSpPr>
        <p:spPr>
          <a:xfrm xmlns:a="http://schemas.openxmlformats.org/drawingml/2006/main">
            <a:off x="1005840" y="304723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Block and investigate the feature adapter; the count does not weaken the claim.</a:t>
            </a:r>
            <a:endParaRPr sz="1050"/>
          </a:p>
        </p:txBody>
      </p:sp>
      <p:sp>
        <p:nvSpPr>
          <p:cNvPr id="14" name="Text 11">
            <a:extLst xmlns:a="http://schemas.openxmlformats.org/drawingml/2006/main">
              <a:ext uri="{FF2B5EF4-FFF2-40B4-BE49-F238E27FC236}">
                <a16:creationId xmlns:a16="http://schemas.microsoft.com/office/drawing/2014/main" id="{5E6EAE5C-12C5-47A9-9452-01DF822D6446}"/>
              </a:ext>
            </a:extLst>
          </p:cNvPr>
          <p:cNvSpPr>
            <a:spLocks xmlns:a="http://schemas.openxmlformats.org/drawingml/2006/main" noGrp="1"/>
          </p:cNvSpPr>
          <p:nvPr/>
        </p:nvSpPr>
        <p:spPr>
          <a:xfrm xmlns:a="http://schemas.openxmlformats.org/drawingml/2006/main">
            <a:off x="502920" y="404622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1328E8FC-72BC-4EB6-B1D4-913BBA056ED3}"/>
              </a:ext>
            </a:extLst>
          </p:cNvPr>
          <p:cNvSpPr>
            <a:spLocks xmlns:a="http://schemas.openxmlformats.org/drawingml/2006/main" noGrp="1"/>
          </p:cNvSpPr>
          <p:nvPr/>
        </p:nvSpPr>
        <p:spPr>
          <a:xfrm xmlns:a="http://schemas.openxmlformats.org/drawingml/2006/main">
            <a:off x="1005840" y="399135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Publish fails with 403</a:t>
            </a:r>
            <a:endParaRPr sz="1350"/>
          </a:p>
        </p:txBody>
      </p:sp>
      <p:sp>
        <p:nvSpPr>
          <p:cNvPr id="16" name="Text 13">
            <a:extLst xmlns:a="http://schemas.openxmlformats.org/drawingml/2006/main">
              <a:ext uri="{FF2B5EF4-FFF2-40B4-BE49-F238E27FC236}">
                <a16:creationId xmlns:a16="http://schemas.microsoft.com/office/drawing/2014/main" id="{3F5D62A0-6DDC-4E90-A328-72310E4B2B4B}"/>
              </a:ext>
            </a:extLst>
          </p:cNvPr>
          <p:cNvSpPr>
            <a:spLocks xmlns:a="http://schemas.openxmlformats.org/drawingml/2006/main" noGrp="1"/>
          </p:cNvSpPr>
          <p:nvPr/>
        </p:nvSpPr>
        <p:spPr>
          <a:xfrm xmlns:a="http://schemas.openxmlformats.org/drawingml/2006/main">
            <a:off x="1005840" y="429310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Preserve the validated artefact; fix job permissions without widening the workflow.</a:t>
            </a:r>
            <a:endParaRPr sz="1050"/>
          </a:p>
        </p:txBody>
      </p:sp>
      <p:sp>
        <p:nvSpPr>
          <p:cNvPr id="17" name="Text 14">
            <a:extLst xmlns:a="http://schemas.openxmlformats.org/drawingml/2006/main">
              <a:ext uri="{FF2B5EF4-FFF2-40B4-BE49-F238E27FC236}">
                <a16:creationId xmlns:a16="http://schemas.microsoft.com/office/drawing/2014/main" id="{FB07FD8A-01E0-41A0-9EC7-11398930CF87}"/>
              </a:ext>
            </a:extLst>
          </p:cNvPr>
          <p:cNvSpPr>
            <a:spLocks xmlns:a="http://schemas.openxmlformats.org/drawingml/2006/main" noGrp="1"/>
          </p:cNvSpPr>
          <p:nvPr/>
        </p:nvSpPr>
        <p:spPr>
          <a:xfrm xmlns:a="http://schemas.openxmlformats.org/drawingml/2006/main">
            <a:off x="502920" y="5292090"/>
            <a:ext cx="329184" cy="329184"/>
          </a:xfrm>
          <a:prstGeom xmlns:a="http://schemas.openxmlformats.org/drawingml/2006/main" prst="ellipse">
            <a:avLst/>
          </a:prstGeom>
          <a:solidFill xmlns:a="http://schemas.openxmlformats.org/drawingml/2006/main">
            <a:srgbClr val="8DC63F"/>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4</a:t>
            </a:r>
            <a:endParaRPr sz="1300"/>
          </a:p>
        </p:txBody>
      </p:sp>
      <p:sp>
        <p:nvSpPr>
          <p:cNvPr id="18" name="Text 15">
            <a:extLst xmlns:a="http://schemas.openxmlformats.org/drawingml/2006/main">
              <a:ext uri="{FF2B5EF4-FFF2-40B4-BE49-F238E27FC236}">
                <a16:creationId xmlns:a16="http://schemas.microsoft.com/office/drawing/2014/main" id="{AEAF08CC-5E57-4839-B0C5-2220C8377B19}"/>
              </a:ext>
            </a:extLst>
          </p:cNvPr>
          <p:cNvSpPr>
            <a:spLocks xmlns:a="http://schemas.openxmlformats.org/drawingml/2006/main" noGrp="1"/>
          </p:cNvSpPr>
          <p:nvPr/>
        </p:nvSpPr>
        <p:spPr>
          <a:xfrm xmlns:a="http://schemas.openxmlformats.org/drawingml/2006/main">
            <a:off x="1005840" y="523722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Merge proof</a:t>
            </a:r>
            <a:endParaRPr sz="1350"/>
          </a:p>
        </p:txBody>
      </p:sp>
      <p:sp>
        <p:nvSpPr>
          <p:cNvPr id="19" name="Text 16">
            <a:extLst xmlns:a="http://schemas.openxmlformats.org/drawingml/2006/main">
              <a:ext uri="{FF2B5EF4-FFF2-40B4-BE49-F238E27FC236}">
                <a16:creationId xmlns:a16="http://schemas.microsoft.com/office/drawing/2014/main" id="{7F216B22-A29B-4D51-8C78-03BE97EBA8C0}"/>
              </a:ext>
            </a:extLst>
          </p:cNvPr>
          <p:cNvSpPr>
            <a:spLocks xmlns:a="http://schemas.openxmlformats.org/drawingml/2006/main" noGrp="1"/>
          </p:cNvSpPr>
          <p:nvPr/>
        </p:nvSpPr>
        <p:spPr>
          <a:xfrm xmlns:a="http://schemas.openxmlformats.org/drawingml/2006/main">
            <a:off x="1005840" y="553897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Point to required checks, review, immutable digest, and the evidence artefacts attached to the PR.</a:t>
            </a:r>
            <a:endParaRPr sz="1050"/>
          </a:p>
        </p:txBody>
      </p:sp>
    </p:spTree>
    <p:extLst>
      <p:ext uri="{BB962C8B-B14F-4D97-AF65-F5344CB8AC3E}">
        <p14:creationId xmlns:p14="http://schemas.microsoft.com/office/powerpoint/2010/main" val="975794841"/>
      </p:ext>
    </p:extLst>
  </p:cSld>
</p:sld>
</file>

<file path=ppt/slides/slide12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760675C-5AE1-40BE-B0F2-4F13C5B97437}"/>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Mini exercises — CI/CD</a:t>
            </a:r>
            <a:endParaRPr sz="2600"/>
          </a:p>
        </p:txBody>
      </p:sp>
      <p:sp>
        <p:nvSpPr>
          <p:cNvPr id="3" name="Text 1">
            <a:extLst xmlns:a="http://schemas.openxmlformats.org/drawingml/2006/main">
              <a:ext uri="{FF2B5EF4-FFF2-40B4-BE49-F238E27FC236}">
                <a16:creationId xmlns:a16="http://schemas.microsoft.com/office/drawing/2014/main" id="{2498F6D0-2551-416B-A166-98BDC864628A}"/>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تمارين قصيرة — CI/CD</a:t>
            </a:r>
            <a:endParaRPr sz="1300"/>
          </a:p>
        </p:txBody>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fca91bfe4cbd4412"/>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6B37CCB0-EABF-46BF-9556-F79D6B5F1C23}"/>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1C27CB67-9173-46B4-BBCF-F2D0E6588F44}"/>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5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0B29EC09-47B8-4414-9278-A9B3B2755DA6}"/>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122</a:t>
            </a:r>
            <a:endParaRPr sz="850"/>
          </a:p>
        </p:txBody>
      </p:sp>
      <p:sp>
        <p:nvSpPr>
          <p:cNvPr id="8" name="Text 5">
            <a:extLst xmlns:a="http://schemas.openxmlformats.org/drawingml/2006/main">
              <a:ext uri="{FF2B5EF4-FFF2-40B4-BE49-F238E27FC236}">
                <a16:creationId xmlns:a16="http://schemas.microsoft.com/office/drawing/2014/main" id="{78760D35-7F1B-4036-B466-407181BED6B2}"/>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C818BAEE-F180-4765-BB7F-6A97D2D6164E}"/>
              </a:ext>
            </a:extLst>
          </p:cNvPr>
          <p:cNvSpPr>
            <a:spLocks xmlns:a="http://schemas.openxmlformats.org/drawingml/2006/main" noGrp="1"/>
          </p:cNvSpPr>
          <p:nvPr/>
        </p:nvSpPr>
        <p:spPr>
          <a:xfrm xmlns:a="http://schemas.openxmlformats.org/drawingml/2006/main">
            <a:off x="1005840" y="14996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Quiz warm-ups</a:t>
            </a:r>
            <a:endParaRPr sz="1350"/>
          </a:p>
        </p:txBody>
      </p:sp>
      <p:sp>
        <p:nvSpPr>
          <p:cNvPr id="10" name="Text 7">
            <a:extLst xmlns:a="http://schemas.openxmlformats.org/drawingml/2006/main">
              <a:ext uri="{FF2B5EF4-FFF2-40B4-BE49-F238E27FC236}">
                <a16:creationId xmlns:a16="http://schemas.microsoft.com/office/drawing/2014/main" id="{08B9CCC9-41B1-48D4-909A-598DE6BB7A41}"/>
              </a:ext>
            </a:extLst>
          </p:cNvPr>
          <p:cNvSpPr>
            <a:spLocks xmlns:a="http://schemas.openxmlformats.org/drawingml/2006/main" noGrp="1"/>
          </p:cNvSpPr>
          <p:nvPr/>
        </p:nvSpPr>
        <p:spPr>
          <a:xfrm xmlns:a="http://schemas.openxmlformats.org/drawingml/2006/main">
            <a:off x="1005840" y="180136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Why does publish run only on push-to-main? Order these gates and justify: docker build, ruff, pytest-fast, trivy. What makes an image 'the same one' that passed CI? (the digest)</a:t>
            </a:r>
            <a:endParaRPr sz="1050"/>
          </a:p>
        </p:txBody>
      </p:sp>
      <p:sp>
        <p:nvSpPr>
          <p:cNvPr id="11" name="Text 8">
            <a:extLst xmlns:a="http://schemas.openxmlformats.org/drawingml/2006/main">
              <a:ext uri="{FF2B5EF4-FFF2-40B4-BE49-F238E27FC236}">
                <a16:creationId xmlns:a16="http://schemas.microsoft.com/office/drawing/2014/main" id="{A4155926-E49B-4899-B877-C993F55465BF}"/>
              </a:ext>
            </a:extLst>
          </p:cNvPr>
          <p:cNvSpPr>
            <a:spLocks xmlns:a="http://schemas.openxmlformats.org/drawingml/2006/main" noGrp="1"/>
          </p:cNvSpPr>
          <p:nvPr/>
        </p:nvSpPr>
        <p:spPr>
          <a:xfrm xmlns:a="http://schemas.openxmlformats.org/drawingml/2006/main">
            <a:off x="502920" y="280035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D0175FC0-98E2-4667-8AB3-47164E9F96EA}"/>
              </a:ext>
            </a:extLst>
          </p:cNvPr>
          <p:cNvSpPr>
            <a:spLocks xmlns:a="http://schemas.openxmlformats.org/drawingml/2006/main" noGrp="1"/>
          </p:cNvSpPr>
          <p:nvPr/>
        </p:nvSpPr>
        <p:spPr>
          <a:xfrm xmlns:a="http://schemas.openxmlformats.org/drawingml/2006/main">
            <a:off x="1005840" y="274548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Debugging exercise</a:t>
            </a:r>
            <a:endParaRPr sz="1350"/>
          </a:p>
        </p:txBody>
      </p:sp>
      <p:sp>
        <p:nvSpPr>
          <p:cNvPr id="13" name="Text 10">
            <a:extLst xmlns:a="http://schemas.openxmlformats.org/drawingml/2006/main">
              <a:ext uri="{FF2B5EF4-FFF2-40B4-BE49-F238E27FC236}">
                <a16:creationId xmlns:a16="http://schemas.microsoft.com/office/drawing/2014/main" id="{7ED3691B-C5AB-4E92-8382-E98634932B9C}"/>
              </a:ext>
            </a:extLst>
          </p:cNvPr>
          <p:cNvSpPr>
            <a:spLocks xmlns:a="http://schemas.openxmlformats.org/drawingml/2006/main" noGrp="1"/>
          </p:cNvSpPr>
          <p:nvPr/>
        </p:nvSpPr>
        <p:spPr>
          <a:xfrm xmlns:a="http://schemas.openxmlformats.org/drawingml/2006/main">
            <a:off x="1005840" y="304723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A run is green locally but red in CI with ImportError: fraud_service. Root cause: a missing pip install -e . — participants must find it from the log alone in under 5 minutes.</a:t>
            </a:r>
            <a:endParaRPr sz="1050"/>
          </a:p>
        </p:txBody>
      </p:sp>
      <p:sp>
        <p:nvSpPr>
          <p:cNvPr id="14" name="Text 11">
            <a:extLst xmlns:a="http://schemas.openxmlformats.org/drawingml/2006/main">
              <a:ext uri="{FF2B5EF4-FFF2-40B4-BE49-F238E27FC236}">
                <a16:creationId xmlns:a16="http://schemas.microsoft.com/office/drawing/2014/main" id="{084C7540-0EF8-4895-9979-C1906E3C4B9B}"/>
              </a:ext>
            </a:extLst>
          </p:cNvPr>
          <p:cNvSpPr>
            <a:spLocks xmlns:a="http://schemas.openxmlformats.org/drawingml/2006/main" noGrp="1"/>
          </p:cNvSpPr>
          <p:nvPr/>
        </p:nvSpPr>
        <p:spPr>
          <a:xfrm xmlns:a="http://schemas.openxmlformats.org/drawingml/2006/main">
            <a:off x="502920" y="404622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60449FFB-7BD2-4114-9DDC-8FA64F9E6EF0}"/>
              </a:ext>
            </a:extLst>
          </p:cNvPr>
          <p:cNvSpPr>
            <a:spLocks xmlns:a="http://schemas.openxmlformats.org/drawingml/2006/main" noGrp="1"/>
          </p:cNvSpPr>
          <p:nvPr/>
        </p:nvSpPr>
        <p:spPr>
          <a:xfrm xmlns:a="http://schemas.openxmlformats.org/drawingml/2006/main">
            <a:off x="1005840" y="399135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Code-review exercise</a:t>
            </a:r>
            <a:endParaRPr sz="1350"/>
          </a:p>
        </p:txBody>
      </p:sp>
      <p:sp>
        <p:nvSpPr>
          <p:cNvPr id="16" name="Text 13">
            <a:extLst xmlns:a="http://schemas.openxmlformats.org/drawingml/2006/main">
              <a:ext uri="{FF2B5EF4-FFF2-40B4-BE49-F238E27FC236}">
                <a16:creationId xmlns:a16="http://schemas.microsoft.com/office/drawing/2014/main" id="{D13BB522-922E-4FEB-B7C3-394272564BBD}"/>
              </a:ext>
            </a:extLst>
          </p:cNvPr>
          <p:cNvSpPr>
            <a:spLocks xmlns:a="http://schemas.openxmlformats.org/drawingml/2006/main" noGrp="1"/>
          </p:cNvSpPr>
          <p:nvPr/>
        </p:nvSpPr>
        <p:spPr>
          <a:xfrm xmlns:a="http://schemas.openxmlformats.org/drawingml/2006/main">
            <a:off x="1005840" y="429310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Review a teammate's ci.yml: unpinned third-party action, secrets echoed to a debug step, slow suite on every PR, a :latest push. Find all four.</a:t>
            </a:r>
            <a:endParaRPr sz="1050"/>
          </a:p>
        </p:txBody>
      </p:sp>
      <p:sp>
        <p:nvSpPr>
          <p:cNvPr id="17" name="Text 14">
            <a:extLst xmlns:a="http://schemas.openxmlformats.org/drawingml/2006/main">
              <a:ext uri="{FF2B5EF4-FFF2-40B4-BE49-F238E27FC236}">
                <a16:creationId xmlns:a16="http://schemas.microsoft.com/office/drawing/2014/main" id="{80C85DE8-F753-4C0F-BD48-19E8078E415F}"/>
              </a:ext>
            </a:extLst>
          </p:cNvPr>
          <p:cNvSpPr>
            <a:spLocks xmlns:a="http://schemas.openxmlformats.org/drawingml/2006/main" noGrp="1"/>
          </p:cNvSpPr>
          <p:nvPr/>
        </p:nvSpPr>
        <p:spPr>
          <a:xfrm xmlns:a="http://schemas.openxmlformats.org/drawingml/2006/main">
            <a:off x="502920" y="5292090"/>
            <a:ext cx="329184" cy="329184"/>
          </a:xfrm>
          <a:prstGeom xmlns:a="http://schemas.openxmlformats.org/drawingml/2006/main" prst="ellipse">
            <a:avLst/>
          </a:prstGeom>
          <a:solidFill xmlns:a="http://schemas.openxmlformats.org/drawingml/2006/main">
            <a:srgbClr val="8DC63F"/>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4</a:t>
            </a:r>
            <a:endParaRPr sz="1300"/>
          </a:p>
        </p:txBody>
      </p:sp>
      <p:sp>
        <p:nvSpPr>
          <p:cNvPr id="18" name="Text 15">
            <a:extLst xmlns:a="http://schemas.openxmlformats.org/drawingml/2006/main">
              <a:ext uri="{FF2B5EF4-FFF2-40B4-BE49-F238E27FC236}">
                <a16:creationId xmlns:a16="http://schemas.microsoft.com/office/drawing/2014/main" id="{BB162D89-CA31-4E18-A443-8B5D4ED790F4}"/>
              </a:ext>
            </a:extLst>
          </p:cNvPr>
          <p:cNvSpPr>
            <a:spLocks xmlns:a="http://schemas.openxmlformats.org/drawingml/2006/main" noGrp="1"/>
          </p:cNvSpPr>
          <p:nvPr/>
        </p:nvSpPr>
        <p:spPr>
          <a:xfrm xmlns:a="http://schemas.openxmlformats.org/drawingml/2006/main">
            <a:off x="1005840" y="523722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Discussion</a:t>
            </a:r>
            <a:endParaRPr sz="1350"/>
          </a:p>
        </p:txBody>
      </p:sp>
      <p:sp>
        <p:nvSpPr>
          <p:cNvPr id="19" name="Text 16">
            <a:extLst xmlns:a="http://schemas.openxmlformats.org/drawingml/2006/main">
              <a:ext uri="{FF2B5EF4-FFF2-40B4-BE49-F238E27FC236}">
                <a16:creationId xmlns:a16="http://schemas.microsoft.com/office/drawing/2014/main" id="{6129BBF5-9B53-4A85-B8C6-C49C98F056E9}"/>
              </a:ext>
            </a:extLst>
          </p:cNvPr>
          <p:cNvSpPr>
            <a:spLocks xmlns:a="http://schemas.openxmlformats.org/drawingml/2006/main" noGrp="1"/>
          </p:cNvSpPr>
          <p:nvPr/>
        </p:nvSpPr>
        <p:spPr>
          <a:xfrm xmlns:a="http://schemas.openxmlformats.org/drawingml/2006/main">
            <a:off x="1005840" y="553897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Your bank forbids GitHub-hosted runners from touching the internal model registry. Redesign the pipeline: which jobs move to self-hosted runners, and what new risks appear?</a:t>
            </a:r>
            <a:endParaRPr sz="1050"/>
          </a:p>
        </p:txBody>
      </p:sp>
    </p:spTree>
    <p:extLst>
      <p:ext uri="{BB962C8B-B14F-4D97-AF65-F5344CB8AC3E}">
        <p14:creationId xmlns:p14="http://schemas.microsoft.com/office/powerpoint/2010/main" val="1623656126"/>
      </p:ext>
    </p:extLst>
  </p:cSld>
</p:sld>
</file>

<file path=ppt/slides/slide12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6CF9264-AD6F-4B90-914C-06FC11B13957}"/>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Case Study — Fraud Model v4 Rollout Gate</a:t>
            </a:r>
            <a:endParaRPr sz="2600"/>
          </a:p>
        </p:txBody>
      </p:sp>
      <p:sp>
        <p:nvSpPr>
          <p:cNvPr id="3" name="Text 1">
            <a:extLst xmlns:a="http://schemas.openxmlformats.org/drawingml/2006/main">
              <a:ext uri="{FF2B5EF4-FFF2-40B4-BE49-F238E27FC236}">
                <a16:creationId xmlns:a16="http://schemas.microsoft.com/office/drawing/2014/main" id="{2D3736D9-4472-45EA-9462-0C79C7651BA0}"/>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دراسة حالة — بوابة إطلاق نموذج الاحتيال v4</a:t>
            </a:r>
            <a:endParaRPr sz="1300"/>
          </a:p>
        </p:txBody>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0ffa9f75bb664111"/>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12BB3063-0A90-4939-92D1-644D10D6B5DF}"/>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2B1767BD-ACB6-495E-B426-C7C3D069D480}"/>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5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70A4A40B-602D-4B9A-9F87-A4260785AC14}"/>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123</a:t>
            </a:r>
            <a:endParaRPr sz="850"/>
          </a:p>
        </p:txBody>
      </p:sp>
      <p:sp>
        <p:nvSpPr>
          <p:cNvPr id="8" name="Text 5">
            <a:extLst xmlns:a="http://schemas.openxmlformats.org/drawingml/2006/main">
              <a:ext uri="{FF2B5EF4-FFF2-40B4-BE49-F238E27FC236}">
                <a16:creationId xmlns:a16="http://schemas.microsoft.com/office/drawing/2014/main" id="{C937232E-D12E-4680-80EC-8E398E67F4EB}"/>
              </a:ext>
            </a:extLst>
          </p:cNvPr>
          <p:cNvSpPr>
            <a:spLocks xmlns:a="http://schemas.openxmlformats.org/drawingml/2006/main" noGrp="1"/>
          </p:cNvSpPr>
          <p:nvPr/>
        </p:nvSpPr>
        <p:spPr>
          <a:xfrm xmlns:a="http://schemas.openxmlformats.org/drawingml/2006/main">
            <a:off x="502920" y="1444752"/>
            <a:ext cx="1554480" cy="310896"/>
          </a:xfrm>
          <a:prstGeom xmlns:a="http://schemas.openxmlformats.org/drawingml/2006/main" prst="roundRect">
            <a:avLst>
              <a:gd name="adj" fmla="val 1764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CASE STUDY</a:t>
            </a:r>
            <a:endParaRPr sz="950"/>
          </a:p>
        </p:txBody>
      </p:sp>
      <p:sp>
        <p:nvSpPr>
          <p:cNvPr id="9" name="Text 6">
            <a:extLst xmlns:a="http://schemas.openxmlformats.org/drawingml/2006/main">
              <a:ext uri="{FF2B5EF4-FFF2-40B4-BE49-F238E27FC236}">
                <a16:creationId xmlns:a16="http://schemas.microsoft.com/office/drawing/2014/main" id="{CBCB559A-1858-4AE0-B667-DFFBE00CC96D}"/>
              </a:ext>
            </a:extLst>
          </p:cNvPr>
          <p:cNvSpPr>
            <a:spLocks xmlns:a="http://schemas.openxmlformats.org/drawingml/2006/main" noGrp="1"/>
          </p:cNvSpPr>
          <p:nvPr/>
        </p:nvSpPr>
        <p:spPr>
          <a:xfrm xmlns:a="http://schemas.openxmlformats.org/drawingml/2006/main">
            <a:off x="2240280" y="1444752"/>
            <a:ext cx="2377440" cy="310896"/>
          </a:xfrm>
          <a:prstGeom xmlns:a="http://schemas.openxmlformats.org/drawingml/2006/main" prst="roundRect">
            <a:avLst>
              <a:gd name="adj" fmla="val 17647"/>
            </a:avLst>
          </a:prstGeom>
          <a:solidFill xmlns:a="http://schemas.openxmlformats.org/drawingml/2006/main">
            <a:srgbClr val="EEF3FB"/>
          </a:solidFill>
          <a:ln xmlns:a="http://schemas.openxmlformats.org/drawingml/2006/main" w="12700">
            <a:solidFill>
              <a:srgbClr val="D9E4F5"/>
            </a:solidFill>
          </a:ln>
        </p:spPr>
        <p:txBody>
          <a:bodyPr xmlns:a="http://schemas.openxmlformats.org/drawingml/2006/main" wrap="square" anchor="ctr"/>
          <a:lstStyle xmlns:a="http://schemas.openxmlformats.org/drawingml/2006/main"/>
          <a:p xmlns:a="http://schemas.openxmlformats.org/drawingml/2006/main">
            <a:pPr marL="0" indent="0" algn="ctr">
              <a:buNone/>
            </a:pPr>
            <a:r>
              <a:rPr sz="950" b="1">
                <a:solidFill>
                  <a:srgbClr val="1D2A5C"/>
                </a:solidFill>
                <a:latin typeface="Calibri"/>
                <a:ea typeface="Calibri"/>
                <a:cs typeface="Calibri"/>
              </a:rPr>
              <a:t>Banking · Fraud ML · Riyadh</a:t>
            </a:r>
            <a:endParaRPr sz="950"/>
          </a:p>
        </p:txBody>
      </p:sp>
      <p:sp>
        <p:nvSpPr>
          <p:cNvPr id="10" name="Text 7">
            <a:extLst xmlns:a="http://schemas.openxmlformats.org/drawingml/2006/main">
              <a:ext uri="{FF2B5EF4-FFF2-40B4-BE49-F238E27FC236}">
                <a16:creationId xmlns:a16="http://schemas.microsoft.com/office/drawing/2014/main" id="{6A64CC9A-3445-4ADD-A222-4BB3CAD3C031}"/>
              </a:ext>
            </a:extLst>
          </p:cNvPr>
          <p:cNvSpPr>
            <a:spLocks xmlns:a="http://schemas.openxmlformats.org/drawingml/2006/main" noGrp="1"/>
          </p:cNvSpPr>
          <p:nvPr/>
        </p:nvSpPr>
        <p:spPr>
          <a:xfrm xmlns:a="http://schemas.openxmlformats.org/drawingml/2006/main">
            <a:off x="502920" y="1938528"/>
            <a:ext cx="658368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Data science delivers model v4 (better AUC, new boosting library) as a PR: new artefact via LFS, updated lock file, threshold retuned 0.85 → 0.82. SAMA-style governance needs validation evidence a risk officer can read.</a:t>
            </a:r>
            <a:endParaRPr sz="1100"/>
          </a:p>
        </p:txBody>
      </p:sp>
      <p:sp>
        <p:nvSpPr>
          <p:cNvPr id="11" name="Shape 8">
            <a:extLst xmlns:a="http://schemas.openxmlformats.org/drawingml/2006/main">
              <a:ext uri="{FF2B5EF4-FFF2-40B4-BE49-F238E27FC236}">
                <a16:creationId xmlns:a16="http://schemas.microsoft.com/office/drawing/2014/main" id="{9A6B2555-FDDC-41B6-91B7-DFA3A2CAD758}"/>
              </a:ext>
            </a:extLst>
          </p:cNvPr>
          <p:cNvSpPr>
            <a:spLocks xmlns:a="http://schemas.openxmlformats.org/drawingml/2006/main" noGrp="1"/>
          </p:cNvSpPr>
          <p:nvPr/>
        </p:nvSpPr>
        <p:spPr>
          <a:xfrm xmlns:a="http://schemas.openxmlformats.org/drawingml/2006/main">
            <a:off x="566928" y="3026664"/>
            <a:ext cx="182880" cy="182880"/>
          </a:xfrm>
          <a:prstGeom xmlns:a="http://schemas.openxmlformats.org/drawingml/2006/main" prst="ellipse">
            <a:avLst/>
          </a:prstGeom>
          <a:solidFill xmlns:a="http://schemas.openxmlformats.org/drawingml/2006/main">
            <a:srgbClr val="00A79D"/>
          </a:solidFill>
        </p:spPr>
      </p:sp>
      <p:sp>
        <p:nvSpPr>
          <p:cNvPr id="12" name="Shape 9">
            <a:extLst xmlns:a="http://schemas.openxmlformats.org/drawingml/2006/main">
              <a:ext uri="{FF2B5EF4-FFF2-40B4-BE49-F238E27FC236}">
                <a16:creationId xmlns:a16="http://schemas.microsoft.com/office/drawing/2014/main" id="{DDC33902-779E-4BC2-8A50-D7F99DCAE8D9}"/>
              </a:ext>
            </a:extLst>
          </p:cNvPr>
          <p:cNvSpPr>
            <a:spLocks xmlns:a="http://schemas.openxmlformats.org/drawingml/2006/main" noGrp="1"/>
          </p:cNvSpPr>
          <p:nvPr/>
        </p:nvSpPr>
        <p:spPr>
          <a:xfrm xmlns:a="http://schemas.openxmlformats.org/drawingml/2006/main">
            <a:off x="658368" y="3227832"/>
            <a:ext cx="0" cy="438912"/>
          </a:xfrm>
          <a:prstGeom xmlns:a="http://schemas.openxmlformats.org/drawingml/2006/main" prst="line">
            <a:avLst/>
          </a:prstGeom>
          <a:noFill xmlns:a="http://schemas.openxmlformats.org/drawingml/2006/main"/>
          <a:ln xmlns:a="http://schemas.openxmlformats.org/drawingml/2006/main" w="19050">
            <a:solidFill>
              <a:srgbClr val="D9E4F5"/>
            </a:solidFill>
            <a:prstDash val="solid"/>
          </a:ln>
        </p:spPr>
      </p:sp>
      <p:sp>
        <p:nvSpPr>
          <p:cNvPr id="13" name="Text 10">
            <a:extLst xmlns:a="http://schemas.openxmlformats.org/drawingml/2006/main">
              <a:ext uri="{FF2B5EF4-FFF2-40B4-BE49-F238E27FC236}">
                <a16:creationId xmlns:a16="http://schemas.microsoft.com/office/drawing/2014/main" id="{0777389A-B12F-46D9-954A-5D241E71B3BC}"/>
              </a:ext>
            </a:extLst>
          </p:cNvPr>
          <p:cNvSpPr>
            <a:spLocks xmlns:a="http://schemas.openxmlformats.org/drawingml/2006/main" noGrp="1"/>
          </p:cNvSpPr>
          <p:nvPr/>
        </p:nvSpPr>
        <p:spPr>
          <a:xfrm xmlns:a="http://schemas.openxmlformats.org/drawingml/2006/main">
            <a:off x="960120" y="2953512"/>
            <a:ext cx="6126480" cy="6583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1D2A5C"/>
                </a:solidFill>
                <a:latin typeface="Calibri"/>
                <a:ea typeface="Calibri"/>
                <a:cs typeface="Calibri"/>
              </a:rPr>
              <a:t>PR opened  </a:t>
            </a:r>
            <a:r>
              <a:rPr sz="1000">
                <a:solidFill>
                  <a:srgbClr val="5F6B7A"/>
                </a:solidFill>
                <a:latin typeface="Calibri"/>
                <a:ea typeface="Calibri"/>
                <a:cs typeface="Calibri"/>
              </a:rPr>
              <a:t>Golden-file failure (expected — new model); directional tests pass</a:t>
            </a:r>
            <a:endParaRPr sz="1050"/>
          </a:p>
        </p:txBody>
      </p:sp>
      <p:sp>
        <p:nvSpPr>
          <p:cNvPr id="14" name="Shape 11">
            <a:extLst xmlns:a="http://schemas.openxmlformats.org/drawingml/2006/main">
              <a:ext uri="{FF2B5EF4-FFF2-40B4-BE49-F238E27FC236}">
                <a16:creationId xmlns:a16="http://schemas.microsoft.com/office/drawing/2014/main" id="{545ABF62-CB80-4814-903D-2B4E658D3B4F}"/>
              </a:ext>
            </a:extLst>
          </p:cNvPr>
          <p:cNvSpPr>
            <a:spLocks xmlns:a="http://schemas.openxmlformats.org/drawingml/2006/main" noGrp="1"/>
          </p:cNvSpPr>
          <p:nvPr/>
        </p:nvSpPr>
        <p:spPr>
          <a:xfrm xmlns:a="http://schemas.openxmlformats.org/drawingml/2006/main">
            <a:off x="566928" y="3685032"/>
            <a:ext cx="182880" cy="182880"/>
          </a:xfrm>
          <a:prstGeom xmlns:a="http://schemas.openxmlformats.org/drawingml/2006/main" prst="ellipse">
            <a:avLst/>
          </a:prstGeom>
          <a:solidFill xmlns:a="http://schemas.openxmlformats.org/drawingml/2006/main">
            <a:srgbClr val="29ABE2"/>
          </a:solidFill>
        </p:spPr>
      </p:sp>
      <p:sp>
        <p:nvSpPr>
          <p:cNvPr id="15" name="Shape 12">
            <a:extLst xmlns:a="http://schemas.openxmlformats.org/drawingml/2006/main">
              <a:ext uri="{FF2B5EF4-FFF2-40B4-BE49-F238E27FC236}">
                <a16:creationId xmlns:a16="http://schemas.microsoft.com/office/drawing/2014/main" id="{FFEBA1F4-3AA0-409D-AA48-8D979448A699}"/>
              </a:ext>
            </a:extLst>
          </p:cNvPr>
          <p:cNvSpPr>
            <a:spLocks xmlns:a="http://schemas.openxmlformats.org/drawingml/2006/main" noGrp="1"/>
          </p:cNvSpPr>
          <p:nvPr/>
        </p:nvSpPr>
        <p:spPr>
          <a:xfrm xmlns:a="http://schemas.openxmlformats.org/drawingml/2006/main">
            <a:off x="658368" y="3886200"/>
            <a:ext cx="0" cy="438912"/>
          </a:xfrm>
          <a:prstGeom xmlns:a="http://schemas.openxmlformats.org/drawingml/2006/main" prst="line">
            <a:avLst/>
          </a:prstGeom>
          <a:noFill xmlns:a="http://schemas.openxmlformats.org/drawingml/2006/main"/>
          <a:ln xmlns:a="http://schemas.openxmlformats.org/drawingml/2006/main" w="19050">
            <a:solidFill>
              <a:srgbClr val="D9E4F5"/>
            </a:solidFill>
            <a:prstDash val="solid"/>
          </a:ln>
        </p:spPr>
      </p:sp>
      <p:sp>
        <p:nvSpPr>
          <p:cNvPr id="16" name="Text 13">
            <a:extLst xmlns:a="http://schemas.openxmlformats.org/drawingml/2006/main">
              <a:ext uri="{FF2B5EF4-FFF2-40B4-BE49-F238E27FC236}">
                <a16:creationId xmlns:a16="http://schemas.microsoft.com/office/drawing/2014/main" id="{8C025209-E01D-49DB-98F7-7AABCE9477E6}"/>
              </a:ext>
            </a:extLst>
          </p:cNvPr>
          <p:cNvSpPr>
            <a:spLocks xmlns:a="http://schemas.openxmlformats.org/drawingml/2006/main" noGrp="1"/>
          </p:cNvSpPr>
          <p:nvPr/>
        </p:nvSpPr>
        <p:spPr>
          <a:xfrm xmlns:a="http://schemas.openxmlformats.org/drawingml/2006/main">
            <a:off x="960120" y="3611880"/>
            <a:ext cx="6126480" cy="6583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1D2A5C"/>
                </a:solidFill>
                <a:latin typeface="Calibri"/>
                <a:ea typeface="Calibri"/>
                <a:cs typeface="Calibri"/>
              </a:rPr>
              <a:t>Invariance fails  </a:t>
            </a:r>
            <a:r>
              <a:rPr sz="1000">
                <a:solidFill>
                  <a:srgbClr val="5F6B7A"/>
                </a:solidFill>
                <a:latin typeface="Calibri"/>
                <a:ea typeface="Calibri"/>
                <a:cs typeface="Calibri"/>
              </a:rPr>
              <a:t>Casing invariance fails on 3 of 5,000 rows; image grows 220 MB</a:t>
            </a:r>
            <a:endParaRPr sz="1050"/>
          </a:p>
        </p:txBody>
      </p:sp>
      <p:sp>
        <p:nvSpPr>
          <p:cNvPr id="17" name="Shape 14">
            <a:extLst xmlns:a="http://schemas.openxmlformats.org/drawingml/2006/main">
              <a:ext uri="{FF2B5EF4-FFF2-40B4-BE49-F238E27FC236}">
                <a16:creationId xmlns:a16="http://schemas.microsoft.com/office/drawing/2014/main" id="{EFFE103A-559D-42FF-9B9F-99C33468E633}"/>
              </a:ext>
            </a:extLst>
          </p:cNvPr>
          <p:cNvSpPr>
            <a:spLocks xmlns:a="http://schemas.openxmlformats.org/drawingml/2006/main" noGrp="1"/>
          </p:cNvSpPr>
          <p:nvPr/>
        </p:nvSpPr>
        <p:spPr>
          <a:xfrm xmlns:a="http://schemas.openxmlformats.org/drawingml/2006/main">
            <a:off x="566928" y="4343400"/>
            <a:ext cx="182880" cy="182880"/>
          </a:xfrm>
          <a:prstGeom xmlns:a="http://schemas.openxmlformats.org/drawingml/2006/main" prst="ellipse">
            <a:avLst/>
          </a:prstGeom>
          <a:solidFill xmlns:a="http://schemas.openxmlformats.org/drawingml/2006/main">
            <a:srgbClr val="F58220"/>
          </a:solidFill>
        </p:spPr>
      </p:sp>
      <p:sp>
        <p:nvSpPr>
          <p:cNvPr id="18" name="Shape 15">
            <a:extLst xmlns:a="http://schemas.openxmlformats.org/drawingml/2006/main">
              <a:ext uri="{FF2B5EF4-FFF2-40B4-BE49-F238E27FC236}">
                <a16:creationId xmlns:a16="http://schemas.microsoft.com/office/drawing/2014/main" id="{4BB0CBC6-7221-4CE9-8842-D8B134D2119C}"/>
              </a:ext>
            </a:extLst>
          </p:cNvPr>
          <p:cNvSpPr>
            <a:spLocks xmlns:a="http://schemas.openxmlformats.org/drawingml/2006/main" noGrp="1"/>
          </p:cNvSpPr>
          <p:nvPr/>
        </p:nvSpPr>
        <p:spPr>
          <a:xfrm xmlns:a="http://schemas.openxmlformats.org/drawingml/2006/main">
            <a:off x="658368" y="4544568"/>
            <a:ext cx="0" cy="438912"/>
          </a:xfrm>
          <a:prstGeom xmlns:a="http://schemas.openxmlformats.org/drawingml/2006/main" prst="line">
            <a:avLst/>
          </a:prstGeom>
          <a:noFill xmlns:a="http://schemas.openxmlformats.org/drawingml/2006/main"/>
          <a:ln xmlns:a="http://schemas.openxmlformats.org/drawingml/2006/main" w="19050">
            <a:solidFill>
              <a:srgbClr val="D9E4F5"/>
            </a:solidFill>
            <a:prstDash val="solid"/>
          </a:ln>
        </p:spPr>
      </p:sp>
      <p:sp>
        <p:nvSpPr>
          <p:cNvPr id="19" name="Text 16">
            <a:extLst xmlns:a="http://schemas.openxmlformats.org/drawingml/2006/main">
              <a:ext uri="{FF2B5EF4-FFF2-40B4-BE49-F238E27FC236}">
                <a16:creationId xmlns:a16="http://schemas.microsoft.com/office/drawing/2014/main" id="{47A1B903-8D92-420B-BDC6-0A1AB9BAE110}"/>
              </a:ext>
            </a:extLst>
          </p:cNvPr>
          <p:cNvSpPr>
            <a:spLocks xmlns:a="http://schemas.openxmlformats.org/drawingml/2006/main" noGrp="1"/>
          </p:cNvSpPr>
          <p:nvPr/>
        </p:nvSpPr>
        <p:spPr>
          <a:xfrm xmlns:a="http://schemas.openxmlformats.org/drawingml/2006/main">
            <a:off x="960120" y="4270248"/>
            <a:ext cx="6126480" cy="6583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1D2A5C"/>
                </a:solidFill>
                <a:latin typeface="Calibri"/>
                <a:ea typeface="Calibri"/>
                <a:cs typeface="Calibri"/>
              </a:rPr>
              <a:t>Smoke passes  </a:t>
            </a:r>
            <a:r>
              <a:rPr sz="1000">
                <a:solidFill>
                  <a:srgbClr val="5F6B7A"/>
                </a:solidFill>
                <a:latin typeface="Calibri"/>
                <a:ea typeface="Calibri"/>
                <a:cs typeface="Calibri"/>
              </a:rPr>
              <a:t>Container builds and serves; contract fields intact</a:t>
            </a:r>
            <a:endParaRPr sz="1050"/>
          </a:p>
        </p:txBody>
      </p:sp>
      <p:sp>
        <p:nvSpPr>
          <p:cNvPr id="20" name="Shape 17">
            <a:extLst xmlns:a="http://schemas.openxmlformats.org/drawingml/2006/main">
              <a:ext uri="{FF2B5EF4-FFF2-40B4-BE49-F238E27FC236}">
                <a16:creationId xmlns:a16="http://schemas.microsoft.com/office/drawing/2014/main" id="{2C76DD57-C0B6-4B40-BE09-4360C20361A6}"/>
              </a:ext>
            </a:extLst>
          </p:cNvPr>
          <p:cNvSpPr>
            <a:spLocks xmlns:a="http://schemas.openxmlformats.org/drawingml/2006/main" noGrp="1"/>
          </p:cNvSpPr>
          <p:nvPr/>
        </p:nvSpPr>
        <p:spPr>
          <a:xfrm xmlns:a="http://schemas.openxmlformats.org/drawingml/2006/main">
            <a:off x="566928" y="5001768"/>
            <a:ext cx="182880" cy="182880"/>
          </a:xfrm>
          <a:prstGeom xmlns:a="http://schemas.openxmlformats.org/drawingml/2006/main" prst="ellipse">
            <a:avLst/>
          </a:prstGeom>
          <a:solidFill xmlns:a="http://schemas.openxmlformats.org/drawingml/2006/main">
            <a:srgbClr val="8DC63F"/>
          </a:solidFill>
        </p:spPr>
      </p:sp>
      <p:sp>
        <p:nvSpPr>
          <p:cNvPr id="21" name="Shape 18">
            <a:extLst xmlns:a="http://schemas.openxmlformats.org/drawingml/2006/main">
              <a:ext uri="{FF2B5EF4-FFF2-40B4-BE49-F238E27FC236}">
                <a16:creationId xmlns:a16="http://schemas.microsoft.com/office/drawing/2014/main" id="{8810139C-272D-49D9-B1DC-3C321A657432}"/>
              </a:ext>
            </a:extLst>
          </p:cNvPr>
          <p:cNvSpPr>
            <a:spLocks xmlns:a="http://schemas.openxmlformats.org/drawingml/2006/main" noGrp="1"/>
          </p:cNvSpPr>
          <p:nvPr/>
        </p:nvSpPr>
        <p:spPr>
          <a:xfrm xmlns:a="http://schemas.openxmlformats.org/drawingml/2006/main">
            <a:off x="658368" y="5202936"/>
            <a:ext cx="0" cy="438912"/>
          </a:xfrm>
          <a:prstGeom xmlns:a="http://schemas.openxmlformats.org/drawingml/2006/main" prst="line">
            <a:avLst/>
          </a:prstGeom>
          <a:noFill xmlns:a="http://schemas.openxmlformats.org/drawingml/2006/main"/>
          <a:ln xmlns:a="http://schemas.openxmlformats.org/drawingml/2006/main" w="19050">
            <a:solidFill>
              <a:srgbClr val="D9E4F5"/>
            </a:solidFill>
            <a:prstDash val="solid"/>
          </a:ln>
        </p:spPr>
      </p:sp>
      <p:sp>
        <p:nvSpPr>
          <p:cNvPr id="22" name="Text 19">
            <a:extLst xmlns:a="http://schemas.openxmlformats.org/drawingml/2006/main">
              <a:ext uri="{FF2B5EF4-FFF2-40B4-BE49-F238E27FC236}">
                <a16:creationId xmlns:a16="http://schemas.microsoft.com/office/drawing/2014/main" id="{D746C71A-D19B-4E62-88AF-157A3E515F3B}"/>
              </a:ext>
            </a:extLst>
          </p:cNvPr>
          <p:cNvSpPr>
            <a:spLocks xmlns:a="http://schemas.openxmlformats.org/drawingml/2006/main" noGrp="1"/>
          </p:cNvSpPr>
          <p:nvPr/>
        </p:nvSpPr>
        <p:spPr>
          <a:xfrm xmlns:a="http://schemas.openxmlformats.org/drawingml/2006/main">
            <a:off x="960120" y="4928616"/>
            <a:ext cx="6126480" cy="6583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1D2A5C"/>
                </a:solidFill>
                <a:latin typeface="Calibri"/>
                <a:ea typeface="Calibri"/>
                <a:cs typeface="Calibri"/>
              </a:rPr>
              <a:t>Governed regeneration  </a:t>
            </a:r>
            <a:r>
              <a:rPr sz="1000">
                <a:solidFill>
                  <a:srgbClr val="5F6B7A"/>
                </a:solidFill>
                <a:latin typeface="Calibri"/>
                <a:ea typeface="Calibri"/>
                <a:cs typeface="Calibri"/>
              </a:rPr>
              <a:t>Regenerate goldens in the PR; attach diff CSV + notebook as the risk evidence pack</a:t>
            </a:r>
            <a:endParaRPr sz="1050"/>
          </a:p>
        </p:txBody>
      </p:sp>
      <p:sp>
        <p:nvSpPr>
          <p:cNvPr id="23" name="Shape 20">
            <a:extLst xmlns:a="http://schemas.openxmlformats.org/drawingml/2006/main">
              <a:ext uri="{FF2B5EF4-FFF2-40B4-BE49-F238E27FC236}">
                <a16:creationId xmlns:a16="http://schemas.microsoft.com/office/drawing/2014/main" id="{10048E86-AC9D-4522-B8B9-86F4C6409A1F}"/>
              </a:ext>
            </a:extLst>
          </p:cNvPr>
          <p:cNvSpPr>
            <a:spLocks xmlns:a="http://schemas.openxmlformats.org/drawingml/2006/main" noGrp="1"/>
          </p:cNvSpPr>
          <p:nvPr/>
        </p:nvSpPr>
        <p:spPr>
          <a:xfrm xmlns:a="http://schemas.openxmlformats.org/drawingml/2006/main">
            <a:off x="566928" y="5660136"/>
            <a:ext cx="182880" cy="182880"/>
          </a:xfrm>
          <a:prstGeom xmlns:a="http://schemas.openxmlformats.org/drawingml/2006/main" prst="ellipse">
            <a:avLst/>
          </a:prstGeom>
          <a:solidFill xmlns:a="http://schemas.openxmlformats.org/drawingml/2006/main">
            <a:srgbClr val="E8503A"/>
          </a:solidFill>
        </p:spPr>
      </p:sp>
      <p:sp>
        <p:nvSpPr>
          <p:cNvPr id="24" name="Text 21">
            <a:extLst xmlns:a="http://schemas.openxmlformats.org/drawingml/2006/main">
              <a:ext uri="{FF2B5EF4-FFF2-40B4-BE49-F238E27FC236}">
                <a16:creationId xmlns:a16="http://schemas.microsoft.com/office/drawing/2014/main" id="{727C139E-E345-461D-AFE7-6BB24EF6815B}"/>
              </a:ext>
            </a:extLst>
          </p:cNvPr>
          <p:cNvSpPr>
            <a:spLocks xmlns:a="http://schemas.openxmlformats.org/drawingml/2006/main" noGrp="1"/>
          </p:cNvSpPr>
          <p:nvPr/>
        </p:nvSpPr>
        <p:spPr>
          <a:xfrm xmlns:a="http://schemas.openxmlformats.org/drawingml/2006/main">
            <a:off x="960120" y="5586984"/>
            <a:ext cx="6126480" cy="6583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1D2A5C"/>
                </a:solidFill>
                <a:latin typeface="Calibri"/>
                <a:ea typeface="Calibri"/>
                <a:cs typeface="Calibri"/>
              </a:rPr>
              <a:t>Root-cause the 3 rows  </a:t>
            </a:r>
            <a:r>
              <a:rPr sz="1000">
                <a:solidFill>
                  <a:srgbClr val="5F6B7A"/>
                </a:solidFill>
                <a:latin typeface="Calibri"/>
                <a:ea typeface="Calibri"/>
                <a:cs typeface="Calibri"/>
              </a:rPr>
              <a:t>New library's category encoder is case-sensitive — fixed in the feature adapter, not by deleting the test</a:t>
            </a:r>
            <a:endParaRPr sz="1050"/>
          </a:p>
        </p:txBody>
      </p:sp>
      <p:sp>
        <p:nvSpPr>
          <p:cNvPr id="25" name="Shape 22">
            <a:extLst xmlns:a="http://schemas.openxmlformats.org/drawingml/2006/main">
              <a:ext uri="{FF2B5EF4-FFF2-40B4-BE49-F238E27FC236}">
                <a16:creationId xmlns:a16="http://schemas.microsoft.com/office/drawing/2014/main" id="{3FA7C06B-18BA-4E49-8359-758EDA7CAF19}"/>
              </a:ext>
            </a:extLst>
          </p:cNvPr>
          <p:cNvSpPr>
            <a:spLocks xmlns:a="http://schemas.openxmlformats.org/drawingml/2006/main" noGrp="1"/>
          </p:cNvSpPr>
          <p:nvPr/>
        </p:nvSpPr>
        <p:spPr>
          <a:xfrm xmlns:a="http://schemas.openxmlformats.org/drawingml/2006/main">
            <a:off x="7406640" y="1938528"/>
            <a:ext cx="4279392" cy="4160520"/>
          </a:xfrm>
          <a:prstGeom xmlns:a="http://schemas.openxmlformats.org/drawingml/2006/main" prst="roundRect">
            <a:avLst>
              <a:gd name="adj" fmla="val 1538"/>
            </a:avLst>
          </a:prstGeom>
          <a:solidFill xmlns:a="http://schemas.openxmlformats.org/drawingml/2006/main">
            <a:srgbClr val="EAF4DC"/>
          </a:solidFill>
        </p:spPr>
      </p:sp>
      <p:sp>
        <p:nvSpPr>
          <p:cNvPr id="26" name="Text 23">
            <a:extLst xmlns:a="http://schemas.openxmlformats.org/drawingml/2006/main">
              <a:ext uri="{FF2B5EF4-FFF2-40B4-BE49-F238E27FC236}">
                <a16:creationId xmlns:a16="http://schemas.microsoft.com/office/drawing/2014/main" id="{DA506D65-8715-49F3-95DE-BB997067BD0E}"/>
              </a:ext>
            </a:extLst>
          </p:cNvPr>
          <p:cNvSpPr>
            <a:spLocks xmlns:a="http://schemas.openxmlformats.org/drawingml/2006/main" noGrp="1"/>
          </p:cNvSpPr>
          <p:nvPr/>
        </p:nvSpPr>
        <p:spPr>
          <a:xfrm xmlns:a="http://schemas.openxmlformats.org/drawingml/2006/main">
            <a:off x="7607808" y="2103120"/>
            <a:ext cx="3877056"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b="1" spc="150">
                <a:solidFill>
                  <a:srgbClr val="4A7A15"/>
                </a:solidFill>
                <a:latin typeface="Calibri"/>
                <a:ea typeface="Calibri"/>
                <a:cs typeface="Calibri"/>
              </a:rPr>
              <a:t>LESSONS FOR YOUR SERVICE</a:t>
            </a:r>
            <a:endParaRPr sz="950"/>
          </a:p>
        </p:txBody>
      </p:sp>
      <p:sp>
        <p:nvSpPr>
          <p:cNvPr id="27" name="Text 24">
            <a:extLst xmlns:a="http://schemas.openxmlformats.org/drawingml/2006/main">
              <a:ext uri="{FF2B5EF4-FFF2-40B4-BE49-F238E27FC236}">
                <a16:creationId xmlns:a16="http://schemas.microsoft.com/office/drawing/2014/main" id="{B6BBB4BD-210F-422C-83E4-EA0FD89D66F6}"/>
              </a:ext>
            </a:extLst>
          </p:cNvPr>
          <p:cNvSpPr>
            <a:spLocks xmlns:a="http://schemas.openxmlformats.org/drawingml/2006/main" noGrp="1"/>
          </p:cNvSpPr>
          <p:nvPr/>
        </p:nvSpPr>
        <p:spPr>
          <a:xfrm xmlns:a="http://schemas.openxmlformats.org/drawingml/2006/main">
            <a:off x="7607808" y="2487168"/>
            <a:ext cx="256032"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5A8F1F"/>
                </a:solidFill>
                <a:latin typeface="Calibri"/>
                <a:ea typeface="Calibri"/>
                <a:cs typeface="Calibri"/>
              </a:rPr>
              <a:t>✓</a:t>
            </a:r>
            <a:endParaRPr sz="1100"/>
          </a:p>
        </p:txBody>
      </p:sp>
      <p:sp>
        <p:nvSpPr>
          <p:cNvPr id="28" name="Text 25">
            <a:extLst xmlns:a="http://schemas.openxmlformats.org/drawingml/2006/main">
              <a:ext uri="{FF2B5EF4-FFF2-40B4-BE49-F238E27FC236}">
                <a16:creationId xmlns:a16="http://schemas.microsoft.com/office/drawing/2014/main" id="{7111F425-0F1F-4F65-AFEF-67732CAD76C5}"/>
              </a:ext>
            </a:extLst>
          </p:cNvPr>
          <p:cNvSpPr>
            <a:spLocks xmlns:a="http://schemas.openxmlformats.org/drawingml/2006/main" noGrp="1"/>
          </p:cNvSpPr>
          <p:nvPr/>
        </p:nvSpPr>
        <p:spPr>
          <a:xfrm xmlns:a="http://schemas.openxmlformats.org/drawingml/2006/main">
            <a:off x="7909560" y="2468880"/>
            <a:ext cx="3547872"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3F5A18"/>
                </a:solidFill>
                <a:latin typeface="Calibri"/>
                <a:ea typeface="Calibri"/>
                <a:cs typeface="Calibri"/>
              </a:rPr>
              <a:t>A golden failure is not a bug: governed regeneration turns it into reviewable evidence</a:t>
            </a:r>
            <a:endParaRPr sz="1000"/>
          </a:p>
        </p:txBody>
      </p:sp>
      <p:sp>
        <p:nvSpPr>
          <p:cNvPr id="29" name="Text 26">
            <a:extLst xmlns:a="http://schemas.openxmlformats.org/drawingml/2006/main">
              <a:ext uri="{FF2B5EF4-FFF2-40B4-BE49-F238E27FC236}">
                <a16:creationId xmlns:a16="http://schemas.microsoft.com/office/drawing/2014/main" id="{884ED744-873E-470E-9E0C-AD771FAF88B3}"/>
              </a:ext>
            </a:extLst>
          </p:cNvPr>
          <p:cNvSpPr>
            <a:spLocks xmlns:a="http://schemas.openxmlformats.org/drawingml/2006/main" noGrp="1"/>
          </p:cNvSpPr>
          <p:nvPr/>
        </p:nvSpPr>
        <p:spPr>
          <a:xfrm xmlns:a="http://schemas.openxmlformats.org/drawingml/2006/main">
            <a:off x="7607808" y="3355848"/>
            <a:ext cx="256032"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5A8F1F"/>
                </a:solidFill>
                <a:latin typeface="Calibri"/>
                <a:ea typeface="Calibri"/>
                <a:cs typeface="Calibri"/>
              </a:rPr>
              <a:t>✓</a:t>
            </a:r>
            <a:endParaRPr sz="1100"/>
          </a:p>
        </p:txBody>
      </p:sp>
      <p:sp>
        <p:nvSpPr>
          <p:cNvPr id="30" name="Text 27">
            <a:extLst xmlns:a="http://schemas.openxmlformats.org/drawingml/2006/main">
              <a:ext uri="{FF2B5EF4-FFF2-40B4-BE49-F238E27FC236}">
                <a16:creationId xmlns:a16="http://schemas.microsoft.com/office/drawing/2014/main" id="{2C62AD85-A788-41C1-BD59-136ABEDCDE82}"/>
              </a:ext>
            </a:extLst>
          </p:cNvPr>
          <p:cNvSpPr>
            <a:spLocks xmlns:a="http://schemas.openxmlformats.org/drawingml/2006/main" noGrp="1"/>
          </p:cNvSpPr>
          <p:nvPr/>
        </p:nvSpPr>
        <p:spPr>
          <a:xfrm xmlns:a="http://schemas.openxmlformats.org/drawingml/2006/main">
            <a:off x="7909560" y="3337560"/>
            <a:ext cx="3547872"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3F5A18"/>
                </a:solidFill>
                <a:latin typeface="Calibri"/>
                <a:ea typeface="Calibri"/>
                <a:cs typeface="Calibri"/>
              </a:rPr>
              <a:t>Never fix an invariance failure by deleting the test — fix the adapter</a:t>
            </a:r>
            <a:endParaRPr sz="1000"/>
          </a:p>
        </p:txBody>
      </p:sp>
      <p:sp>
        <p:nvSpPr>
          <p:cNvPr id="31" name="Text 28">
            <a:extLst xmlns:a="http://schemas.openxmlformats.org/drawingml/2006/main">
              <a:ext uri="{FF2B5EF4-FFF2-40B4-BE49-F238E27FC236}">
                <a16:creationId xmlns:a16="http://schemas.microsoft.com/office/drawing/2014/main" id="{5F8FDFC2-2F11-4936-8F36-4C3A0BC6DEDE}"/>
              </a:ext>
            </a:extLst>
          </p:cNvPr>
          <p:cNvSpPr>
            <a:spLocks xmlns:a="http://schemas.openxmlformats.org/drawingml/2006/main" noGrp="1"/>
          </p:cNvSpPr>
          <p:nvPr/>
        </p:nvSpPr>
        <p:spPr>
          <a:xfrm xmlns:a="http://schemas.openxmlformats.org/drawingml/2006/main">
            <a:off x="7607808" y="4224528"/>
            <a:ext cx="256032"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5A8F1F"/>
                </a:solidFill>
                <a:latin typeface="Calibri"/>
                <a:ea typeface="Calibri"/>
                <a:cs typeface="Calibri"/>
              </a:rPr>
              <a:t>✓</a:t>
            </a:r>
            <a:endParaRPr sz="1100"/>
          </a:p>
        </p:txBody>
      </p:sp>
      <p:sp>
        <p:nvSpPr>
          <p:cNvPr id="32" name="Text 29">
            <a:extLst xmlns:a="http://schemas.openxmlformats.org/drawingml/2006/main">
              <a:ext uri="{FF2B5EF4-FFF2-40B4-BE49-F238E27FC236}">
                <a16:creationId xmlns:a16="http://schemas.microsoft.com/office/drawing/2014/main" id="{B60FAB00-A10C-4E9B-AFDD-D56E80D369D3}"/>
              </a:ext>
            </a:extLst>
          </p:cNvPr>
          <p:cNvSpPr>
            <a:spLocks xmlns:a="http://schemas.openxmlformats.org/drawingml/2006/main" noGrp="1"/>
          </p:cNvSpPr>
          <p:nvPr/>
        </p:nvSpPr>
        <p:spPr>
          <a:xfrm xmlns:a="http://schemas.openxmlformats.org/drawingml/2006/main">
            <a:off x="7909560" y="4206240"/>
            <a:ext cx="3547872"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3F5A18"/>
                </a:solidFill>
                <a:latin typeface="Calibri"/>
                <a:ea typeface="Calibri"/>
                <a:cs typeface="Calibri"/>
              </a:rPr>
              <a:t>The merge produces a digest; deployment consumes it — rollback is a single digest re-pin</a:t>
            </a:r>
            <a:endParaRPr sz="1000"/>
          </a:p>
        </p:txBody>
      </p:sp>
      <p:sp>
        <p:nvSpPr>
          <p:cNvPr id="33" name="Text 30">
            <a:extLst xmlns:a="http://schemas.openxmlformats.org/drawingml/2006/main">
              <a:ext uri="{FF2B5EF4-FFF2-40B4-BE49-F238E27FC236}">
                <a16:creationId xmlns:a16="http://schemas.microsoft.com/office/drawing/2014/main" id="{53059E37-21B5-4971-BCAA-98520776DDC3}"/>
              </a:ext>
            </a:extLst>
          </p:cNvPr>
          <p:cNvSpPr>
            <a:spLocks xmlns:a="http://schemas.openxmlformats.org/drawingml/2006/main" noGrp="1"/>
          </p:cNvSpPr>
          <p:nvPr/>
        </p:nvSpPr>
        <p:spPr>
          <a:xfrm xmlns:a="http://schemas.openxmlformats.org/drawingml/2006/main">
            <a:off x="7607808" y="5093208"/>
            <a:ext cx="256032"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5A8F1F"/>
                </a:solidFill>
                <a:latin typeface="Calibri"/>
                <a:ea typeface="Calibri"/>
                <a:cs typeface="Calibri"/>
              </a:rPr>
              <a:t>✓</a:t>
            </a:r>
            <a:endParaRPr sz="1100"/>
          </a:p>
        </p:txBody>
      </p:sp>
      <p:sp>
        <p:nvSpPr>
          <p:cNvPr id="34" name="Text 31">
            <a:extLst xmlns:a="http://schemas.openxmlformats.org/drawingml/2006/main">
              <a:ext uri="{FF2B5EF4-FFF2-40B4-BE49-F238E27FC236}">
                <a16:creationId xmlns:a16="http://schemas.microsoft.com/office/drawing/2014/main" id="{57FEA506-B5E5-4FCD-B511-5490A62E7E36}"/>
              </a:ext>
            </a:extLst>
          </p:cNvPr>
          <p:cNvSpPr>
            <a:spLocks xmlns:a="http://schemas.openxmlformats.org/drawingml/2006/main" noGrp="1"/>
          </p:cNvSpPr>
          <p:nvPr/>
        </p:nvSpPr>
        <p:spPr>
          <a:xfrm xmlns:a="http://schemas.openxmlformats.org/drawingml/2006/main">
            <a:off x="7909560" y="5074920"/>
            <a:ext cx="3547872"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3F5A18"/>
                </a:solidFill>
                <a:latin typeface="Calibri"/>
                <a:ea typeface="Calibri"/>
                <a:cs typeface="Calibri"/>
              </a:rPr>
              <a:t>Threshold 0.85 → 0.82 is a governance decision, not just a config edit</a:t>
            </a:r>
            <a:endParaRPr sz="1000"/>
          </a:p>
        </p:txBody>
      </p:sp>
    </p:spTree>
    <p:extLst>
      <p:ext uri="{BB962C8B-B14F-4D97-AF65-F5344CB8AC3E}">
        <p14:creationId xmlns:p14="http://schemas.microsoft.com/office/powerpoint/2010/main" val="1006858988"/>
      </p:ext>
    </p:extLst>
  </p:cSld>
</p:sld>
</file>

<file path=ppt/slides/slide12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85DB02D-2B8A-411F-BEFC-C33B0A654F7D}"/>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Quick check — Module 5</a:t>
            </a:r>
            <a:endParaRPr sz="2600"/>
          </a:p>
        </p:txBody>
      </p:sp>
      <p:sp>
        <p:nvSpPr>
          <p:cNvPr id="3" name="Text 1">
            <a:extLst xmlns:a="http://schemas.openxmlformats.org/drawingml/2006/main">
              <a:ext uri="{FF2B5EF4-FFF2-40B4-BE49-F238E27FC236}">
                <a16:creationId xmlns:a16="http://schemas.microsoft.com/office/drawing/2014/main" id="{79D301D2-BE07-4047-A460-D07649E76580}"/>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فحص سريع — الوحدة 5</a:t>
            </a:r>
            <a:endParaRPr sz="1300"/>
          </a:p>
        </p:txBody>
      </p:sp>
      <p:pic>
        <p:nvPicPr>
          <p:cNvPr id="40" name="Image 0"/>
          <p:cNvPicPr>
            <a:picLocks xmlns:a="http://schemas.openxmlformats.org/drawingml/2006/main" noChangeAspect="1"/>
          </p:cNvPicPr>
          <p:nvPr/>
        </p:nvPicPr>
        <p:blipFill>
          <a:blip xmlns:r="http://schemas.openxmlformats.org/officeDocument/2006/relationships" xmlns:a="http://schemas.openxmlformats.org/drawingml/2006/main" r:embed="Rbfc1320951494190"/>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31931638-E4BC-46AC-901D-2AED9FB910F4}"/>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8B2FE06A-7CCF-4C7B-A300-A72E42E8AD8D}"/>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5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4B1C0E6A-E987-458F-BA3A-E2989F08EF14}"/>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124</a:t>
            </a:r>
            <a:endParaRPr sz="850"/>
          </a:p>
        </p:txBody>
      </p:sp>
      <p:sp>
        <p:nvSpPr>
          <p:cNvPr id="8" name="Text 5">
            <a:extLst xmlns:a="http://schemas.openxmlformats.org/drawingml/2006/main">
              <a:ext uri="{FF2B5EF4-FFF2-40B4-BE49-F238E27FC236}">
                <a16:creationId xmlns:a16="http://schemas.microsoft.com/office/drawing/2014/main" id="{B79CFA63-E28A-440F-861E-20E798647380}"/>
              </a:ext>
            </a:extLst>
          </p:cNvPr>
          <p:cNvSpPr>
            <a:spLocks xmlns:a="http://schemas.openxmlformats.org/drawingml/2006/main" noGrp="1"/>
          </p:cNvSpPr>
          <p:nvPr/>
        </p:nvSpPr>
        <p:spPr>
          <a:xfrm xmlns:a="http://schemas.openxmlformats.org/drawingml/2006/main">
            <a:off x="502920" y="1444752"/>
            <a:ext cx="1920240" cy="310896"/>
          </a:xfrm>
          <a:prstGeom xmlns:a="http://schemas.openxmlformats.org/drawingml/2006/main" prst="roundRect">
            <a:avLst>
              <a:gd name="adj" fmla="val 17647"/>
            </a:avLst>
          </a:prstGeom>
          <a:solidFill xmlns:a="http://schemas.openxmlformats.org/drawingml/2006/main">
            <a:srgbClr val="7B61A6"/>
          </a:solidFill>
        </p:spPr>
        <p:txBody>
          <a:bodyPr xmlns:a="http://schemas.openxmlformats.org/drawingml/2006/main" wrap="square"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KNOWLEDGE CHECK</a:t>
            </a:r>
            <a:endParaRPr sz="950"/>
          </a:p>
        </p:txBody>
      </p:sp>
      <p:sp>
        <p:nvSpPr>
          <p:cNvPr id="9" name="Text 6">
            <a:extLst xmlns:a="http://schemas.openxmlformats.org/drawingml/2006/main">
              <a:ext uri="{FF2B5EF4-FFF2-40B4-BE49-F238E27FC236}">
                <a16:creationId xmlns:a16="http://schemas.microsoft.com/office/drawing/2014/main" id="{C5B965E2-6243-46F3-BAF4-7FA0B8271A4B}"/>
              </a:ext>
            </a:extLst>
          </p:cNvPr>
          <p:cNvSpPr>
            <a:spLocks xmlns:a="http://schemas.openxmlformats.org/drawingml/2006/main" noGrp="1"/>
          </p:cNvSpPr>
          <p:nvPr/>
        </p:nvSpPr>
        <p:spPr>
          <a:xfrm xmlns:a="http://schemas.openxmlformats.org/drawingml/2006/main">
            <a:off x="502920" y="1920240"/>
            <a:ext cx="544068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b="1">
                <a:solidFill>
                  <a:srgbClr val="1D2A5C"/>
                </a:solidFill>
                <a:latin typeface="Calibri"/>
                <a:ea typeface="Calibri"/>
                <a:cs typeface="Calibri"/>
              </a:rPr>
              <a:t>Q1. Why does the publish job run only on push to main, never on pull_request?</a:t>
            </a:r>
            <a:endParaRPr sz="1200"/>
          </a:p>
        </p:txBody>
      </p:sp>
      <p:sp>
        <p:nvSpPr>
          <p:cNvPr id="10" name="Shape 7">
            <a:extLst xmlns:a="http://schemas.openxmlformats.org/drawingml/2006/main">
              <a:ext uri="{FF2B5EF4-FFF2-40B4-BE49-F238E27FC236}">
                <a16:creationId xmlns:a16="http://schemas.microsoft.com/office/drawing/2014/main" id="{5BDE2B7F-EAAE-4016-A9C5-A3C94FD90E91}"/>
              </a:ext>
            </a:extLst>
          </p:cNvPr>
          <p:cNvSpPr>
            <a:spLocks xmlns:a="http://schemas.openxmlformats.org/drawingml/2006/main" noGrp="1"/>
          </p:cNvSpPr>
          <p:nvPr/>
        </p:nvSpPr>
        <p:spPr>
          <a:xfrm xmlns:a="http://schemas.openxmlformats.org/drawingml/2006/main">
            <a:off x="502920" y="2788920"/>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11" name="Text 8">
            <a:extLst xmlns:a="http://schemas.openxmlformats.org/drawingml/2006/main">
              <a:ext uri="{FF2B5EF4-FFF2-40B4-BE49-F238E27FC236}">
                <a16:creationId xmlns:a16="http://schemas.microsoft.com/office/drawing/2014/main" id="{3E123198-55CE-4E63-8193-5D565C897989}"/>
              </a:ext>
            </a:extLst>
          </p:cNvPr>
          <p:cNvSpPr>
            <a:spLocks xmlns:a="http://schemas.openxmlformats.org/drawingml/2006/main" noGrp="1"/>
          </p:cNvSpPr>
          <p:nvPr/>
        </p:nvSpPr>
        <p:spPr>
          <a:xfrm xmlns:a="http://schemas.openxmlformats.org/drawingml/2006/main">
            <a:off x="612648" y="2907792"/>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A</a:t>
            </a:r>
            <a:endParaRPr sz="1100"/>
          </a:p>
        </p:txBody>
      </p:sp>
      <p:sp>
        <p:nvSpPr>
          <p:cNvPr id="12" name="Text 9">
            <a:extLst xmlns:a="http://schemas.openxmlformats.org/drawingml/2006/main">
              <a:ext uri="{FF2B5EF4-FFF2-40B4-BE49-F238E27FC236}">
                <a16:creationId xmlns:a16="http://schemas.microsoft.com/office/drawing/2014/main" id="{F5672C4D-3BDC-4F70-9C98-0C26E2A3990F}"/>
              </a:ext>
            </a:extLst>
          </p:cNvPr>
          <p:cNvSpPr>
            <a:spLocks xmlns:a="http://schemas.openxmlformats.org/drawingml/2006/main" noGrp="1"/>
          </p:cNvSpPr>
          <p:nvPr/>
        </p:nvSpPr>
        <p:spPr>
          <a:xfrm xmlns:a="http://schemas.openxmlformats.org/drawingml/2006/main">
            <a:off x="1033272" y="2788920"/>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main is faster than PR branches</a:t>
            </a:r>
            <a:endParaRPr sz="1050"/>
          </a:p>
        </p:txBody>
      </p:sp>
      <p:sp>
        <p:nvSpPr>
          <p:cNvPr id="13" name="Shape 10">
            <a:extLst xmlns:a="http://schemas.openxmlformats.org/drawingml/2006/main">
              <a:ext uri="{FF2B5EF4-FFF2-40B4-BE49-F238E27FC236}">
                <a16:creationId xmlns:a16="http://schemas.microsoft.com/office/drawing/2014/main" id="{EE53EBF9-016F-4E16-AF2F-AC2096194039}"/>
              </a:ext>
            </a:extLst>
          </p:cNvPr>
          <p:cNvSpPr>
            <a:spLocks xmlns:a="http://schemas.openxmlformats.org/drawingml/2006/main" noGrp="1"/>
          </p:cNvSpPr>
          <p:nvPr/>
        </p:nvSpPr>
        <p:spPr>
          <a:xfrm xmlns:a="http://schemas.openxmlformats.org/drawingml/2006/main">
            <a:off x="502920" y="3447288"/>
            <a:ext cx="5440680" cy="548640"/>
          </a:xfrm>
          <a:prstGeom xmlns:a="http://schemas.openxmlformats.org/drawingml/2006/main" prst="roundRect">
            <a:avLst>
              <a:gd name="adj" fmla="val 10000"/>
            </a:avLst>
          </a:prstGeom>
          <a:solidFill xmlns:a="http://schemas.openxmlformats.org/drawingml/2006/main">
            <a:srgbClr val="D4F1EE"/>
          </a:solidFill>
          <a:ln xmlns:a="http://schemas.openxmlformats.org/drawingml/2006/main" w="19050">
            <a:solidFill>
              <a:srgbClr val="00A79D"/>
            </a:solidFill>
            <a:prstDash val="solid"/>
          </a:ln>
        </p:spPr>
      </p:sp>
      <p:sp>
        <p:nvSpPr>
          <p:cNvPr id="14" name="Text 11">
            <a:extLst xmlns:a="http://schemas.openxmlformats.org/drawingml/2006/main">
              <a:ext uri="{FF2B5EF4-FFF2-40B4-BE49-F238E27FC236}">
                <a16:creationId xmlns:a16="http://schemas.microsoft.com/office/drawing/2014/main" id="{164E8012-0279-4061-994E-8BDA1B58ED31}"/>
              </a:ext>
            </a:extLst>
          </p:cNvPr>
          <p:cNvSpPr>
            <a:spLocks xmlns:a="http://schemas.openxmlformats.org/drawingml/2006/main" noGrp="1"/>
          </p:cNvSpPr>
          <p:nvPr/>
        </p:nvSpPr>
        <p:spPr>
          <a:xfrm xmlns:a="http://schemas.openxmlformats.org/drawingml/2006/main">
            <a:off x="612648" y="3566160"/>
            <a:ext cx="310896" cy="310896"/>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B</a:t>
            </a:r>
            <a:endParaRPr sz="1100"/>
          </a:p>
        </p:txBody>
      </p:sp>
      <p:sp>
        <p:nvSpPr>
          <p:cNvPr id="15" name="Text 12">
            <a:extLst xmlns:a="http://schemas.openxmlformats.org/drawingml/2006/main">
              <a:ext uri="{FF2B5EF4-FFF2-40B4-BE49-F238E27FC236}">
                <a16:creationId xmlns:a16="http://schemas.microsoft.com/office/drawing/2014/main" id="{2D863E2C-68F8-4BDF-82D8-F379C8F44180}"/>
              </a:ext>
            </a:extLst>
          </p:cNvPr>
          <p:cNvSpPr>
            <a:spLocks xmlns:a="http://schemas.openxmlformats.org/drawingml/2006/main" noGrp="1"/>
          </p:cNvSpPr>
          <p:nvPr/>
        </p:nvSpPr>
        <p:spPr>
          <a:xfrm xmlns:a="http://schemas.openxmlformats.org/drawingml/2006/main">
            <a:off x="1033272" y="3447288"/>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056A63"/>
                </a:solidFill>
                <a:latin typeface="Calibri"/>
                <a:ea typeface="Calibri"/>
                <a:cs typeface="Calibri"/>
              </a:rPr>
              <a:t>Fork PRs do not receive secrets, so a push job would fail or leak   ✓</a:t>
            </a:r>
            <a:endParaRPr sz="1050"/>
          </a:p>
        </p:txBody>
      </p:sp>
      <p:sp>
        <p:nvSpPr>
          <p:cNvPr id="16" name="Shape 13">
            <a:extLst xmlns:a="http://schemas.openxmlformats.org/drawingml/2006/main">
              <a:ext uri="{FF2B5EF4-FFF2-40B4-BE49-F238E27FC236}">
                <a16:creationId xmlns:a16="http://schemas.microsoft.com/office/drawing/2014/main" id="{063681CE-85CD-475F-A877-F087FB03D75A}"/>
              </a:ext>
            </a:extLst>
          </p:cNvPr>
          <p:cNvSpPr>
            <a:spLocks xmlns:a="http://schemas.openxmlformats.org/drawingml/2006/main" noGrp="1"/>
          </p:cNvSpPr>
          <p:nvPr/>
        </p:nvSpPr>
        <p:spPr>
          <a:xfrm xmlns:a="http://schemas.openxmlformats.org/drawingml/2006/main">
            <a:off x="502920" y="4105656"/>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17" name="Text 14">
            <a:extLst xmlns:a="http://schemas.openxmlformats.org/drawingml/2006/main">
              <a:ext uri="{FF2B5EF4-FFF2-40B4-BE49-F238E27FC236}">
                <a16:creationId xmlns:a16="http://schemas.microsoft.com/office/drawing/2014/main" id="{710DCB75-3480-4248-A54F-439311347009}"/>
              </a:ext>
            </a:extLst>
          </p:cNvPr>
          <p:cNvSpPr>
            <a:spLocks xmlns:a="http://schemas.openxmlformats.org/drawingml/2006/main" noGrp="1"/>
          </p:cNvSpPr>
          <p:nvPr/>
        </p:nvSpPr>
        <p:spPr>
          <a:xfrm xmlns:a="http://schemas.openxmlformats.org/drawingml/2006/main">
            <a:off x="612648" y="4224528"/>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C</a:t>
            </a:r>
            <a:endParaRPr sz="1100"/>
          </a:p>
        </p:txBody>
      </p:sp>
      <p:sp>
        <p:nvSpPr>
          <p:cNvPr id="18" name="Text 15">
            <a:extLst xmlns:a="http://schemas.openxmlformats.org/drawingml/2006/main">
              <a:ext uri="{FF2B5EF4-FFF2-40B4-BE49-F238E27FC236}">
                <a16:creationId xmlns:a16="http://schemas.microsoft.com/office/drawing/2014/main" id="{75BFE37A-AC4D-4810-A078-B1B836A26917}"/>
              </a:ext>
            </a:extLst>
          </p:cNvPr>
          <p:cNvSpPr>
            <a:spLocks xmlns:a="http://schemas.openxmlformats.org/drawingml/2006/main" noGrp="1"/>
          </p:cNvSpPr>
          <p:nvPr/>
        </p:nvSpPr>
        <p:spPr>
          <a:xfrm xmlns:a="http://schemas.openxmlformats.org/drawingml/2006/main">
            <a:off x="1033272" y="4105656"/>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PRs cannot build Docker images</a:t>
            </a:r>
            <a:endParaRPr sz="1050"/>
          </a:p>
        </p:txBody>
      </p:sp>
      <p:sp>
        <p:nvSpPr>
          <p:cNvPr id="19" name="Shape 16">
            <a:extLst xmlns:a="http://schemas.openxmlformats.org/drawingml/2006/main">
              <a:ext uri="{FF2B5EF4-FFF2-40B4-BE49-F238E27FC236}">
                <a16:creationId xmlns:a16="http://schemas.microsoft.com/office/drawing/2014/main" id="{1F242C0D-FED8-42C5-865D-C0324207D0D4}"/>
              </a:ext>
            </a:extLst>
          </p:cNvPr>
          <p:cNvSpPr>
            <a:spLocks xmlns:a="http://schemas.openxmlformats.org/drawingml/2006/main" noGrp="1"/>
          </p:cNvSpPr>
          <p:nvPr/>
        </p:nvSpPr>
        <p:spPr>
          <a:xfrm xmlns:a="http://schemas.openxmlformats.org/drawingml/2006/main">
            <a:off x="502920" y="4764024"/>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20" name="Text 17">
            <a:extLst xmlns:a="http://schemas.openxmlformats.org/drawingml/2006/main">
              <a:ext uri="{FF2B5EF4-FFF2-40B4-BE49-F238E27FC236}">
                <a16:creationId xmlns:a16="http://schemas.microsoft.com/office/drawing/2014/main" id="{20F992B6-681A-467F-A756-7CFF19078B82}"/>
              </a:ext>
            </a:extLst>
          </p:cNvPr>
          <p:cNvSpPr>
            <a:spLocks xmlns:a="http://schemas.openxmlformats.org/drawingml/2006/main" noGrp="1"/>
          </p:cNvSpPr>
          <p:nvPr/>
        </p:nvSpPr>
        <p:spPr>
          <a:xfrm xmlns:a="http://schemas.openxmlformats.org/drawingml/2006/main">
            <a:off x="612648" y="4882896"/>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D</a:t>
            </a:r>
            <a:endParaRPr sz="1100"/>
          </a:p>
        </p:txBody>
      </p:sp>
      <p:sp>
        <p:nvSpPr>
          <p:cNvPr id="21" name="Text 18">
            <a:extLst xmlns:a="http://schemas.openxmlformats.org/drawingml/2006/main">
              <a:ext uri="{FF2B5EF4-FFF2-40B4-BE49-F238E27FC236}">
                <a16:creationId xmlns:a16="http://schemas.microsoft.com/office/drawing/2014/main" id="{00E9EC7F-59D8-4399-9375-2CF516F0DFB3}"/>
              </a:ext>
            </a:extLst>
          </p:cNvPr>
          <p:cNvSpPr>
            <a:spLocks xmlns:a="http://schemas.openxmlformats.org/drawingml/2006/main" noGrp="1"/>
          </p:cNvSpPr>
          <p:nvPr/>
        </p:nvSpPr>
        <p:spPr>
          <a:xfrm xmlns:a="http://schemas.openxmlformats.org/drawingml/2006/main">
            <a:off x="1033272" y="4764024"/>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GHCR only accepts pushes from main</a:t>
            </a:r>
            <a:endParaRPr sz="1050"/>
          </a:p>
        </p:txBody>
      </p:sp>
      <p:sp>
        <p:nvSpPr>
          <p:cNvPr id="22" name="Text 19">
            <a:extLst xmlns:a="http://schemas.openxmlformats.org/drawingml/2006/main">
              <a:ext uri="{FF2B5EF4-FFF2-40B4-BE49-F238E27FC236}">
                <a16:creationId xmlns:a16="http://schemas.microsoft.com/office/drawing/2014/main" id="{284D2C4E-220D-4E30-9EB4-68AEDF0AAF7C}"/>
              </a:ext>
            </a:extLst>
          </p:cNvPr>
          <p:cNvSpPr>
            <a:spLocks xmlns:a="http://schemas.openxmlformats.org/drawingml/2006/main" noGrp="1"/>
          </p:cNvSpPr>
          <p:nvPr/>
        </p:nvSpPr>
        <p:spPr>
          <a:xfrm xmlns:a="http://schemas.openxmlformats.org/drawingml/2006/main">
            <a:off x="502920" y="5513832"/>
            <a:ext cx="544068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b="1" i="1">
                <a:solidFill>
                  <a:srgbClr val="5F6B7A"/>
                </a:solidFill>
                <a:latin typeface="Calibri"/>
                <a:ea typeface="Calibri"/>
                <a:cs typeface="Calibri"/>
              </a:rPr>
              <a:t>Why: </a:t>
            </a:r>
            <a:r>
              <a:rPr sz="950" i="1">
                <a:solidFill>
                  <a:srgbClr val="5F6B7A"/>
                </a:solidFill>
                <a:latin typeface="Calibri"/>
                <a:ea typeface="Calibri"/>
                <a:cs typeface="Calibri"/>
              </a:rPr>
              <a:t>Fork PRs run in an untrusted context without secrets; publishing there would fail or expose credentials. Delivery happens only on trusted push-to-main.</a:t>
            </a:r>
            <a:endParaRPr sz="950"/>
          </a:p>
        </p:txBody>
      </p:sp>
      <p:sp>
        <p:nvSpPr>
          <p:cNvPr id="23" name="Text 20">
            <a:extLst xmlns:a="http://schemas.openxmlformats.org/drawingml/2006/main">
              <a:ext uri="{FF2B5EF4-FFF2-40B4-BE49-F238E27FC236}">
                <a16:creationId xmlns:a16="http://schemas.microsoft.com/office/drawing/2014/main" id="{46F64A30-DB5D-457D-B380-AB66DD999A1D}"/>
              </a:ext>
            </a:extLst>
          </p:cNvPr>
          <p:cNvSpPr>
            <a:spLocks xmlns:a="http://schemas.openxmlformats.org/drawingml/2006/main" noGrp="1"/>
          </p:cNvSpPr>
          <p:nvPr/>
        </p:nvSpPr>
        <p:spPr>
          <a:xfrm xmlns:a="http://schemas.openxmlformats.org/drawingml/2006/main">
            <a:off x="6245352" y="1920240"/>
            <a:ext cx="544068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b="1">
                <a:solidFill>
                  <a:srgbClr val="1D2A5C"/>
                </a:solidFill>
                <a:latin typeface="Calibri"/>
                <a:ea typeface="Calibri"/>
                <a:cs typeface="Calibri"/>
              </a:rPr>
              <a:t>Q2. What makes an image 'the same one' that passed CI?</a:t>
            </a:r>
            <a:endParaRPr sz="1200"/>
          </a:p>
        </p:txBody>
      </p:sp>
      <p:sp>
        <p:nvSpPr>
          <p:cNvPr id="24" name="Shape 21">
            <a:extLst xmlns:a="http://schemas.openxmlformats.org/drawingml/2006/main">
              <a:ext uri="{FF2B5EF4-FFF2-40B4-BE49-F238E27FC236}">
                <a16:creationId xmlns:a16="http://schemas.microsoft.com/office/drawing/2014/main" id="{2F06CEB5-4F26-4DEE-AF76-BA8B159D4028}"/>
              </a:ext>
            </a:extLst>
          </p:cNvPr>
          <p:cNvSpPr>
            <a:spLocks xmlns:a="http://schemas.openxmlformats.org/drawingml/2006/main" noGrp="1"/>
          </p:cNvSpPr>
          <p:nvPr/>
        </p:nvSpPr>
        <p:spPr>
          <a:xfrm xmlns:a="http://schemas.openxmlformats.org/drawingml/2006/main">
            <a:off x="6245352" y="2788920"/>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25" name="Text 22">
            <a:extLst xmlns:a="http://schemas.openxmlformats.org/drawingml/2006/main">
              <a:ext uri="{FF2B5EF4-FFF2-40B4-BE49-F238E27FC236}">
                <a16:creationId xmlns:a16="http://schemas.microsoft.com/office/drawing/2014/main" id="{2F7DA3EC-575A-4922-966A-61F778425E24}"/>
              </a:ext>
            </a:extLst>
          </p:cNvPr>
          <p:cNvSpPr>
            <a:spLocks xmlns:a="http://schemas.openxmlformats.org/drawingml/2006/main" noGrp="1"/>
          </p:cNvSpPr>
          <p:nvPr/>
        </p:nvSpPr>
        <p:spPr>
          <a:xfrm xmlns:a="http://schemas.openxmlformats.org/drawingml/2006/main">
            <a:off x="6355080" y="2907792"/>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A</a:t>
            </a:r>
            <a:endParaRPr sz="1100"/>
          </a:p>
        </p:txBody>
      </p:sp>
      <p:sp>
        <p:nvSpPr>
          <p:cNvPr id="26" name="Text 23">
            <a:extLst xmlns:a="http://schemas.openxmlformats.org/drawingml/2006/main">
              <a:ext uri="{FF2B5EF4-FFF2-40B4-BE49-F238E27FC236}">
                <a16:creationId xmlns:a16="http://schemas.microsoft.com/office/drawing/2014/main" id="{271BFEB5-EB7D-451F-B8D2-BD00050F81B6}"/>
              </a:ext>
            </a:extLst>
          </p:cNvPr>
          <p:cNvSpPr>
            <a:spLocks xmlns:a="http://schemas.openxmlformats.org/drawingml/2006/main" noGrp="1"/>
          </p:cNvSpPr>
          <p:nvPr/>
        </p:nvSpPr>
        <p:spPr>
          <a:xfrm xmlns:a="http://schemas.openxmlformats.org/drawingml/2006/main">
            <a:off x="6775704" y="2788920"/>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Its :latest tag</a:t>
            </a:r>
            <a:endParaRPr sz="1050"/>
          </a:p>
        </p:txBody>
      </p:sp>
      <p:sp>
        <p:nvSpPr>
          <p:cNvPr id="27" name="Shape 24">
            <a:extLst xmlns:a="http://schemas.openxmlformats.org/drawingml/2006/main">
              <a:ext uri="{FF2B5EF4-FFF2-40B4-BE49-F238E27FC236}">
                <a16:creationId xmlns:a16="http://schemas.microsoft.com/office/drawing/2014/main" id="{9FA121AA-F1D7-4363-A129-573C5E545A9F}"/>
              </a:ext>
            </a:extLst>
          </p:cNvPr>
          <p:cNvSpPr>
            <a:spLocks xmlns:a="http://schemas.openxmlformats.org/drawingml/2006/main" noGrp="1"/>
          </p:cNvSpPr>
          <p:nvPr/>
        </p:nvSpPr>
        <p:spPr>
          <a:xfrm xmlns:a="http://schemas.openxmlformats.org/drawingml/2006/main">
            <a:off x="6245352" y="3447288"/>
            <a:ext cx="5440680" cy="548640"/>
          </a:xfrm>
          <a:prstGeom xmlns:a="http://schemas.openxmlformats.org/drawingml/2006/main" prst="roundRect">
            <a:avLst>
              <a:gd name="adj" fmla="val 10000"/>
            </a:avLst>
          </a:prstGeom>
          <a:solidFill xmlns:a="http://schemas.openxmlformats.org/drawingml/2006/main">
            <a:srgbClr val="D4F1EE"/>
          </a:solidFill>
          <a:ln xmlns:a="http://schemas.openxmlformats.org/drawingml/2006/main" w="19050">
            <a:solidFill>
              <a:srgbClr val="00A79D"/>
            </a:solidFill>
            <a:prstDash val="solid"/>
          </a:ln>
        </p:spPr>
      </p:sp>
      <p:sp>
        <p:nvSpPr>
          <p:cNvPr id="28" name="Text 25">
            <a:extLst xmlns:a="http://schemas.openxmlformats.org/drawingml/2006/main">
              <a:ext uri="{FF2B5EF4-FFF2-40B4-BE49-F238E27FC236}">
                <a16:creationId xmlns:a16="http://schemas.microsoft.com/office/drawing/2014/main" id="{4FA7B624-69F4-4705-9F24-A814D1941F3A}"/>
              </a:ext>
            </a:extLst>
          </p:cNvPr>
          <p:cNvSpPr>
            <a:spLocks xmlns:a="http://schemas.openxmlformats.org/drawingml/2006/main" noGrp="1"/>
          </p:cNvSpPr>
          <p:nvPr/>
        </p:nvSpPr>
        <p:spPr>
          <a:xfrm xmlns:a="http://schemas.openxmlformats.org/drawingml/2006/main">
            <a:off x="6355080" y="3566160"/>
            <a:ext cx="310896" cy="310896"/>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B</a:t>
            </a:r>
            <a:endParaRPr sz="1100"/>
          </a:p>
        </p:txBody>
      </p:sp>
      <p:sp>
        <p:nvSpPr>
          <p:cNvPr id="29" name="Text 26">
            <a:extLst xmlns:a="http://schemas.openxmlformats.org/drawingml/2006/main">
              <a:ext uri="{FF2B5EF4-FFF2-40B4-BE49-F238E27FC236}">
                <a16:creationId xmlns:a16="http://schemas.microsoft.com/office/drawing/2014/main" id="{B65E51E7-9330-4C18-B29C-A3FF41ACCF7E}"/>
              </a:ext>
            </a:extLst>
          </p:cNvPr>
          <p:cNvSpPr>
            <a:spLocks xmlns:a="http://schemas.openxmlformats.org/drawingml/2006/main" noGrp="1"/>
          </p:cNvSpPr>
          <p:nvPr/>
        </p:nvSpPr>
        <p:spPr>
          <a:xfrm xmlns:a="http://schemas.openxmlformats.org/drawingml/2006/main">
            <a:off x="6775704" y="3447288"/>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056A63"/>
                </a:solidFill>
                <a:latin typeface="Calibri"/>
                <a:ea typeface="Calibri"/>
                <a:cs typeface="Calibri"/>
              </a:rPr>
              <a:t>Its immutable content digest   ✓</a:t>
            </a:r>
            <a:endParaRPr sz="1050"/>
          </a:p>
        </p:txBody>
      </p:sp>
      <p:sp>
        <p:nvSpPr>
          <p:cNvPr id="30" name="Shape 27">
            <a:extLst xmlns:a="http://schemas.openxmlformats.org/drawingml/2006/main">
              <a:ext uri="{FF2B5EF4-FFF2-40B4-BE49-F238E27FC236}">
                <a16:creationId xmlns:a16="http://schemas.microsoft.com/office/drawing/2014/main" id="{0C430352-37CD-4367-AB63-151FDBEBE037}"/>
              </a:ext>
            </a:extLst>
          </p:cNvPr>
          <p:cNvSpPr>
            <a:spLocks xmlns:a="http://schemas.openxmlformats.org/drawingml/2006/main" noGrp="1"/>
          </p:cNvSpPr>
          <p:nvPr/>
        </p:nvSpPr>
        <p:spPr>
          <a:xfrm xmlns:a="http://schemas.openxmlformats.org/drawingml/2006/main">
            <a:off x="6245352" y="4105656"/>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31" name="Text 28">
            <a:extLst xmlns:a="http://schemas.openxmlformats.org/drawingml/2006/main">
              <a:ext uri="{FF2B5EF4-FFF2-40B4-BE49-F238E27FC236}">
                <a16:creationId xmlns:a16="http://schemas.microsoft.com/office/drawing/2014/main" id="{BB1CF7EB-55B9-4DEB-965D-65617C033B36}"/>
              </a:ext>
            </a:extLst>
          </p:cNvPr>
          <p:cNvSpPr>
            <a:spLocks xmlns:a="http://schemas.openxmlformats.org/drawingml/2006/main" noGrp="1"/>
          </p:cNvSpPr>
          <p:nvPr/>
        </p:nvSpPr>
        <p:spPr>
          <a:xfrm xmlns:a="http://schemas.openxmlformats.org/drawingml/2006/main">
            <a:off x="6355080" y="4224528"/>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C</a:t>
            </a:r>
            <a:endParaRPr sz="1100"/>
          </a:p>
        </p:txBody>
      </p:sp>
      <p:sp>
        <p:nvSpPr>
          <p:cNvPr id="32" name="Text 29">
            <a:extLst xmlns:a="http://schemas.openxmlformats.org/drawingml/2006/main">
              <a:ext uri="{FF2B5EF4-FFF2-40B4-BE49-F238E27FC236}">
                <a16:creationId xmlns:a16="http://schemas.microsoft.com/office/drawing/2014/main" id="{465A388D-4331-45AE-8C9A-315B5897E32F}"/>
              </a:ext>
            </a:extLst>
          </p:cNvPr>
          <p:cNvSpPr>
            <a:spLocks xmlns:a="http://schemas.openxmlformats.org/drawingml/2006/main" noGrp="1"/>
          </p:cNvSpPr>
          <p:nvPr/>
        </p:nvSpPr>
        <p:spPr>
          <a:xfrm xmlns:a="http://schemas.openxmlformats.org/drawingml/2006/main">
            <a:off x="6775704" y="4105656"/>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The branch name</a:t>
            </a:r>
            <a:endParaRPr sz="1050"/>
          </a:p>
        </p:txBody>
      </p:sp>
      <p:sp>
        <p:nvSpPr>
          <p:cNvPr id="33" name="Shape 30">
            <a:extLst xmlns:a="http://schemas.openxmlformats.org/drawingml/2006/main">
              <a:ext uri="{FF2B5EF4-FFF2-40B4-BE49-F238E27FC236}">
                <a16:creationId xmlns:a16="http://schemas.microsoft.com/office/drawing/2014/main" id="{0327B7D2-B43F-4B84-90F9-36EC0F234750}"/>
              </a:ext>
            </a:extLst>
          </p:cNvPr>
          <p:cNvSpPr>
            <a:spLocks xmlns:a="http://schemas.openxmlformats.org/drawingml/2006/main" noGrp="1"/>
          </p:cNvSpPr>
          <p:nvPr/>
        </p:nvSpPr>
        <p:spPr>
          <a:xfrm xmlns:a="http://schemas.openxmlformats.org/drawingml/2006/main">
            <a:off x="6245352" y="4764024"/>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34" name="Text 31">
            <a:extLst xmlns:a="http://schemas.openxmlformats.org/drawingml/2006/main">
              <a:ext uri="{FF2B5EF4-FFF2-40B4-BE49-F238E27FC236}">
                <a16:creationId xmlns:a16="http://schemas.microsoft.com/office/drawing/2014/main" id="{508EE9A1-BB46-4C8F-90E8-A010F25422A4}"/>
              </a:ext>
            </a:extLst>
          </p:cNvPr>
          <p:cNvSpPr>
            <a:spLocks xmlns:a="http://schemas.openxmlformats.org/drawingml/2006/main" noGrp="1"/>
          </p:cNvSpPr>
          <p:nvPr/>
        </p:nvSpPr>
        <p:spPr>
          <a:xfrm xmlns:a="http://schemas.openxmlformats.org/drawingml/2006/main">
            <a:off x="6355080" y="4882896"/>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D</a:t>
            </a:r>
            <a:endParaRPr sz="1100"/>
          </a:p>
        </p:txBody>
      </p:sp>
      <p:sp>
        <p:nvSpPr>
          <p:cNvPr id="35" name="Text 32">
            <a:extLst xmlns:a="http://schemas.openxmlformats.org/drawingml/2006/main">
              <a:ext uri="{FF2B5EF4-FFF2-40B4-BE49-F238E27FC236}">
                <a16:creationId xmlns:a16="http://schemas.microsoft.com/office/drawing/2014/main" id="{FBCEBE51-C2B1-4C7A-96A4-F018807048AD}"/>
              </a:ext>
            </a:extLst>
          </p:cNvPr>
          <p:cNvSpPr>
            <a:spLocks xmlns:a="http://schemas.openxmlformats.org/drawingml/2006/main" noGrp="1"/>
          </p:cNvSpPr>
          <p:nvPr/>
        </p:nvSpPr>
        <p:spPr>
          <a:xfrm xmlns:a="http://schemas.openxmlformats.org/drawingml/2006/main">
            <a:off x="6775704" y="4764024"/>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The workflow run number</a:t>
            </a:r>
            <a:endParaRPr sz="1050"/>
          </a:p>
        </p:txBody>
      </p:sp>
      <p:sp>
        <p:nvSpPr>
          <p:cNvPr id="36" name="Text 33">
            <a:extLst xmlns:a="http://schemas.openxmlformats.org/drawingml/2006/main">
              <a:ext uri="{FF2B5EF4-FFF2-40B4-BE49-F238E27FC236}">
                <a16:creationId xmlns:a16="http://schemas.microsoft.com/office/drawing/2014/main" id="{CB625545-506F-4900-8CEF-FFEE3EC28B8A}"/>
              </a:ext>
            </a:extLst>
          </p:cNvPr>
          <p:cNvSpPr>
            <a:spLocks xmlns:a="http://schemas.openxmlformats.org/drawingml/2006/main" noGrp="1"/>
          </p:cNvSpPr>
          <p:nvPr/>
        </p:nvSpPr>
        <p:spPr>
          <a:xfrm xmlns:a="http://schemas.openxmlformats.org/drawingml/2006/main">
            <a:off x="6245352" y="5513832"/>
            <a:ext cx="544068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b="1" i="1">
                <a:solidFill>
                  <a:srgbClr val="5F6B7A"/>
                </a:solidFill>
                <a:latin typeface="Calibri"/>
                <a:ea typeface="Calibri"/>
                <a:cs typeface="Calibri"/>
              </a:rPr>
              <a:t>Why: </a:t>
            </a:r>
            <a:r>
              <a:rPr sz="950" i="1">
                <a:solidFill>
                  <a:srgbClr val="5F6B7A"/>
                </a:solidFill>
                <a:latin typeface="Calibri"/>
                <a:ea typeface="Calibri"/>
                <a:cs typeface="Calibri"/>
              </a:rPr>
              <a:t>The digest is the immutable identity. Tags move; digests do not. CD re-pins the exact digest CI produced — nothing rebuilt on a laptop.</a:t>
            </a:r>
            <a:endParaRPr sz="950"/>
          </a:p>
        </p:txBody>
      </p:sp>
    </p:spTree>
    <p:extLst>
      <p:ext uri="{BB962C8B-B14F-4D97-AF65-F5344CB8AC3E}">
        <p14:creationId xmlns:p14="http://schemas.microsoft.com/office/powerpoint/2010/main" val="982426572"/>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EFBAA51-DE21-4AFB-8BC7-36AE7F0EF0C8}"/>
              </a:ext>
            </a:extLst>
          </p:cNvPr>
          <p:cNvSpPr>
            <a:spLocks xmlns:a="http://schemas.openxmlformats.org/drawingml/2006/main" noGrp="1"/>
          </p:cNvSpPr>
          <p:nvPr/>
        </p:nvSpPr>
        <p:spPr>
          <a:xfrm xmlns:a="http://schemas.openxmlformats.org/drawingml/2006/main" rot="5400000" flipH="1">
            <a:off x="9692640" y="1124712"/>
            <a:ext cx="329184" cy="288036"/>
          </a:xfrm>
          <a:prstGeom xmlns:a="http://schemas.openxmlformats.org/drawingml/2006/main" prst="triangle">
            <a:avLst/>
          </a:prstGeom>
          <a:solidFill xmlns:a="http://schemas.openxmlformats.org/drawingml/2006/main">
            <a:srgbClr val="00A79D"/>
          </a:solidFill>
        </p:spPr>
      </p:sp>
      <p:sp>
        <p:nvSpPr>
          <p:cNvPr id="3" name="Shape 1">
            <a:extLst xmlns:a="http://schemas.openxmlformats.org/drawingml/2006/main">
              <a:ext uri="{FF2B5EF4-FFF2-40B4-BE49-F238E27FC236}">
                <a16:creationId xmlns:a16="http://schemas.microsoft.com/office/drawing/2014/main" id="{5F2689EB-51AF-4886-BD7F-2762304EE717}"/>
              </a:ext>
            </a:extLst>
          </p:cNvPr>
          <p:cNvSpPr>
            <a:spLocks xmlns:a="http://schemas.openxmlformats.org/drawingml/2006/main" noGrp="1"/>
          </p:cNvSpPr>
          <p:nvPr/>
        </p:nvSpPr>
        <p:spPr>
          <a:xfrm xmlns:a="http://schemas.openxmlformats.org/drawingml/2006/main" rot="5400000">
            <a:off x="10041575" y="836676"/>
            <a:ext cx="329184" cy="288036"/>
          </a:xfrm>
          <a:prstGeom xmlns:a="http://schemas.openxmlformats.org/drawingml/2006/main" prst="triangle">
            <a:avLst/>
          </a:prstGeom>
          <a:solidFill xmlns:a="http://schemas.openxmlformats.org/drawingml/2006/main">
            <a:srgbClr val="29ABE2"/>
          </a:solidFill>
        </p:spPr>
      </p:sp>
      <p:sp>
        <p:nvSpPr>
          <p:cNvPr id="4" name="Shape 2">
            <a:extLst xmlns:a="http://schemas.openxmlformats.org/drawingml/2006/main">
              <a:ext uri="{FF2B5EF4-FFF2-40B4-BE49-F238E27FC236}">
                <a16:creationId xmlns:a16="http://schemas.microsoft.com/office/drawing/2014/main" id="{E4AE62CF-2FAF-4926-A39A-AEB40736BD36}"/>
              </a:ext>
            </a:extLst>
          </p:cNvPr>
          <p:cNvSpPr>
            <a:spLocks xmlns:a="http://schemas.openxmlformats.org/drawingml/2006/main" noGrp="1"/>
          </p:cNvSpPr>
          <p:nvPr/>
        </p:nvSpPr>
        <p:spPr>
          <a:xfrm xmlns:a="http://schemas.openxmlformats.org/drawingml/2006/main" rot="5400000">
            <a:off x="10041575" y="1412748"/>
            <a:ext cx="329184" cy="288036"/>
          </a:xfrm>
          <a:prstGeom xmlns:a="http://schemas.openxmlformats.org/drawingml/2006/main" prst="triangle">
            <a:avLst/>
          </a:prstGeom>
          <a:solidFill xmlns:a="http://schemas.openxmlformats.org/drawingml/2006/main">
            <a:srgbClr val="F58220"/>
          </a:solidFill>
        </p:spPr>
      </p:sp>
      <p:sp>
        <p:nvSpPr>
          <p:cNvPr id="5" name="Shape 3">
            <a:extLst xmlns:a="http://schemas.openxmlformats.org/drawingml/2006/main">
              <a:ext uri="{FF2B5EF4-FFF2-40B4-BE49-F238E27FC236}">
                <a16:creationId xmlns:a16="http://schemas.microsoft.com/office/drawing/2014/main" id="{87985ABF-AA99-4401-BB9A-499ECE094648}"/>
              </a:ext>
            </a:extLst>
          </p:cNvPr>
          <p:cNvSpPr>
            <a:spLocks xmlns:a="http://schemas.openxmlformats.org/drawingml/2006/main" noGrp="1"/>
          </p:cNvSpPr>
          <p:nvPr/>
        </p:nvSpPr>
        <p:spPr>
          <a:xfrm xmlns:a="http://schemas.openxmlformats.org/drawingml/2006/main" rot="5400000" flipH="1">
            <a:off x="10390510" y="548640"/>
            <a:ext cx="329184" cy="288036"/>
          </a:xfrm>
          <a:prstGeom xmlns:a="http://schemas.openxmlformats.org/drawingml/2006/main" prst="triangle">
            <a:avLst/>
          </a:prstGeom>
          <a:solidFill xmlns:a="http://schemas.openxmlformats.org/drawingml/2006/main">
            <a:srgbClr val="8DC63F"/>
          </a:solidFill>
        </p:spPr>
      </p:sp>
      <p:sp>
        <p:nvSpPr>
          <p:cNvPr id="6" name="Shape 4">
            <a:extLst xmlns:a="http://schemas.openxmlformats.org/drawingml/2006/main">
              <a:ext uri="{FF2B5EF4-FFF2-40B4-BE49-F238E27FC236}">
                <a16:creationId xmlns:a16="http://schemas.microsoft.com/office/drawing/2014/main" id="{F6CACF63-8FCF-4D8F-82F7-F5B507C11C9A}"/>
              </a:ext>
            </a:extLst>
          </p:cNvPr>
          <p:cNvSpPr>
            <a:spLocks xmlns:a="http://schemas.openxmlformats.org/drawingml/2006/main" noGrp="1"/>
          </p:cNvSpPr>
          <p:nvPr/>
        </p:nvSpPr>
        <p:spPr>
          <a:xfrm xmlns:a="http://schemas.openxmlformats.org/drawingml/2006/main" rot="5400000">
            <a:off x="10390510" y="1124712"/>
            <a:ext cx="329184" cy="288036"/>
          </a:xfrm>
          <a:prstGeom xmlns:a="http://schemas.openxmlformats.org/drawingml/2006/main" prst="triangle">
            <a:avLst/>
          </a:prstGeom>
          <a:solidFill xmlns:a="http://schemas.openxmlformats.org/drawingml/2006/main">
            <a:srgbClr val="B9C8E8"/>
          </a:solidFill>
        </p:spPr>
      </p:sp>
      <p:sp>
        <p:nvSpPr>
          <p:cNvPr id="7" name="Shape 5">
            <a:extLst xmlns:a="http://schemas.openxmlformats.org/drawingml/2006/main">
              <a:ext uri="{FF2B5EF4-FFF2-40B4-BE49-F238E27FC236}">
                <a16:creationId xmlns:a16="http://schemas.microsoft.com/office/drawing/2014/main" id="{4C46E798-7402-43B1-B017-9E6B80541C70}"/>
              </a:ext>
            </a:extLst>
          </p:cNvPr>
          <p:cNvSpPr>
            <a:spLocks xmlns:a="http://schemas.openxmlformats.org/drawingml/2006/main" noGrp="1"/>
          </p:cNvSpPr>
          <p:nvPr/>
        </p:nvSpPr>
        <p:spPr>
          <a:xfrm xmlns:a="http://schemas.openxmlformats.org/drawingml/2006/main" rot="5400000">
            <a:off x="10739445" y="836676"/>
            <a:ext cx="329184" cy="288036"/>
          </a:xfrm>
          <a:prstGeom xmlns:a="http://schemas.openxmlformats.org/drawingml/2006/main" prst="triangle">
            <a:avLst/>
          </a:prstGeom>
          <a:solidFill xmlns:a="http://schemas.openxmlformats.org/drawingml/2006/main">
            <a:srgbClr val="00A79D"/>
          </a:solidFill>
        </p:spPr>
      </p:sp>
      <p:sp>
        <p:nvSpPr>
          <p:cNvPr id="8" name="Shape 6">
            <a:extLst xmlns:a="http://schemas.openxmlformats.org/drawingml/2006/main">
              <a:ext uri="{FF2B5EF4-FFF2-40B4-BE49-F238E27FC236}">
                <a16:creationId xmlns:a16="http://schemas.microsoft.com/office/drawing/2014/main" id="{4C06B8BB-54FA-4FB8-8AD6-FA8344EF3872}"/>
              </a:ext>
            </a:extLst>
          </p:cNvPr>
          <p:cNvSpPr>
            <a:spLocks xmlns:a="http://schemas.openxmlformats.org/drawingml/2006/main" noGrp="1"/>
          </p:cNvSpPr>
          <p:nvPr/>
        </p:nvSpPr>
        <p:spPr>
          <a:xfrm xmlns:a="http://schemas.openxmlformats.org/drawingml/2006/main" rot="5400000" flipH="1">
            <a:off x="10739445" y="1412748"/>
            <a:ext cx="329184" cy="288036"/>
          </a:xfrm>
          <a:prstGeom xmlns:a="http://schemas.openxmlformats.org/drawingml/2006/main" prst="triangle">
            <a:avLst/>
          </a:prstGeom>
          <a:solidFill xmlns:a="http://schemas.openxmlformats.org/drawingml/2006/main">
            <a:srgbClr val="29ABE2"/>
          </a:solidFill>
        </p:spPr>
      </p:sp>
      <p:sp>
        <p:nvSpPr>
          <p:cNvPr id="9" name="Shape 7">
            <a:extLst xmlns:a="http://schemas.openxmlformats.org/drawingml/2006/main">
              <a:ext uri="{FF2B5EF4-FFF2-40B4-BE49-F238E27FC236}">
                <a16:creationId xmlns:a16="http://schemas.microsoft.com/office/drawing/2014/main" id="{7FED811B-ABFB-4175-B8F8-87211C662E82}"/>
              </a:ext>
            </a:extLst>
          </p:cNvPr>
          <p:cNvSpPr>
            <a:spLocks xmlns:a="http://schemas.openxmlformats.org/drawingml/2006/main" noGrp="1"/>
          </p:cNvSpPr>
          <p:nvPr/>
        </p:nvSpPr>
        <p:spPr>
          <a:xfrm xmlns:a="http://schemas.openxmlformats.org/drawingml/2006/main" rot="5400000">
            <a:off x="11088380" y="1124712"/>
            <a:ext cx="329184" cy="288036"/>
          </a:xfrm>
          <a:prstGeom xmlns:a="http://schemas.openxmlformats.org/drawingml/2006/main" prst="triangle">
            <a:avLst/>
          </a:prstGeom>
          <a:solidFill xmlns:a="http://schemas.openxmlformats.org/drawingml/2006/main">
            <a:srgbClr val="F58220"/>
          </a:solidFill>
        </p:spPr>
      </p:sp>
      <p:sp>
        <p:nvSpPr>
          <p:cNvPr id="10" name="Shape 8">
            <a:extLst xmlns:a="http://schemas.openxmlformats.org/drawingml/2006/main">
              <a:ext uri="{FF2B5EF4-FFF2-40B4-BE49-F238E27FC236}">
                <a16:creationId xmlns:a16="http://schemas.microsoft.com/office/drawing/2014/main" id="{5BDA37F3-F717-484C-AC04-D8B2FF87323A}"/>
              </a:ext>
            </a:extLst>
          </p:cNvPr>
          <p:cNvSpPr>
            <a:spLocks xmlns:a="http://schemas.openxmlformats.org/drawingml/2006/main" noGrp="1"/>
          </p:cNvSpPr>
          <p:nvPr/>
        </p:nvSpPr>
        <p:spPr>
          <a:xfrm xmlns:a="http://schemas.openxmlformats.org/drawingml/2006/main" rot="5400000" flipH="1">
            <a:off x="640080" y="5875020"/>
            <a:ext cx="274320" cy="240030"/>
          </a:xfrm>
          <a:prstGeom xmlns:a="http://schemas.openxmlformats.org/drawingml/2006/main" prst="triangle">
            <a:avLst/>
          </a:prstGeom>
          <a:solidFill xmlns:a="http://schemas.openxmlformats.org/drawingml/2006/main">
            <a:srgbClr val="B9C8E8"/>
          </a:solidFill>
        </p:spPr>
      </p:sp>
      <p:sp>
        <p:nvSpPr>
          <p:cNvPr id="11" name="Shape 9">
            <a:extLst xmlns:a="http://schemas.openxmlformats.org/drawingml/2006/main">
              <a:ext uri="{FF2B5EF4-FFF2-40B4-BE49-F238E27FC236}">
                <a16:creationId xmlns:a16="http://schemas.microsoft.com/office/drawing/2014/main" id="{CD8FD486-6CAC-4735-9B33-8F16BDC97514}"/>
              </a:ext>
            </a:extLst>
          </p:cNvPr>
          <p:cNvSpPr>
            <a:spLocks xmlns:a="http://schemas.openxmlformats.org/drawingml/2006/main" noGrp="1"/>
          </p:cNvSpPr>
          <p:nvPr/>
        </p:nvSpPr>
        <p:spPr>
          <a:xfrm xmlns:a="http://schemas.openxmlformats.org/drawingml/2006/main" rot="5400000">
            <a:off x="930859" y="5634990"/>
            <a:ext cx="274320" cy="240030"/>
          </a:xfrm>
          <a:prstGeom xmlns:a="http://schemas.openxmlformats.org/drawingml/2006/main" prst="triangle">
            <a:avLst/>
          </a:prstGeom>
          <a:solidFill xmlns:a="http://schemas.openxmlformats.org/drawingml/2006/main">
            <a:srgbClr val="DCE6F8"/>
          </a:solidFill>
        </p:spPr>
      </p:sp>
      <p:sp>
        <p:nvSpPr>
          <p:cNvPr id="12" name="Shape 10">
            <a:extLst xmlns:a="http://schemas.openxmlformats.org/drawingml/2006/main">
              <a:ext uri="{FF2B5EF4-FFF2-40B4-BE49-F238E27FC236}">
                <a16:creationId xmlns:a16="http://schemas.microsoft.com/office/drawing/2014/main" id="{E6A63FEF-0F62-4358-B74F-92575EA5880D}"/>
              </a:ext>
            </a:extLst>
          </p:cNvPr>
          <p:cNvSpPr>
            <a:spLocks xmlns:a="http://schemas.openxmlformats.org/drawingml/2006/main" noGrp="1"/>
          </p:cNvSpPr>
          <p:nvPr/>
        </p:nvSpPr>
        <p:spPr>
          <a:xfrm xmlns:a="http://schemas.openxmlformats.org/drawingml/2006/main" rot="5400000">
            <a:off x="930859" y="6115050"/>
            <a:ext cx="274320" cy="240030"/>
          </a:xfrm>
          <a:prstGeom xmlns:a="http://schemas.openxmlformats.org/drawingml/2006/main" prst="triangle">
            <a:avLst/>
          </a:prstGeom>
          <a:solidFill xmlns:a="http://schemas.openxmlformats.org/drawingml/2006/main">
            <a:srgbClr val="00A79D"/>
          </a:solidFill>
        </p:spPr>
      </p:sp>
      <p:sp>
        <p:nvSpPr>
          <p:cNvPr id="13" name="Shape 11">
            <a:extLst xmlns:a="http://schemas.openxmlformats.org/drawingml/2006/main">
              <a:ext uri="{FF2B5EF4-FFF2-40B4-BE49-F238E27FC236}">
                <a16:creationId xmlns:a16="http://schemas.microsoft.com/office/drawing/2014/main" id="{E56EFDE1-5629-48EB-B678-7703D079C679}"/>
              </a:ext>
            </a:extLst>
          </p:cNvPr>
          <p:cNvSpPr>
            <a:spLocks xmlns:a="http://schemas.openxmlformats.org/drawingml/2006/main" noGrp="1"/>
          </p:cNvSpPr>
          <p:nvPr/>
        </p:nvSpPr>
        <p:spPr>
          <a:xfrm xmlns:a="http://schemas.openxmlformats.org/drawingml/2006/main" rot="5400000" flipH="1">
            <a:off x="1221638" y="5394960"/>
            <a:ext cx="274320" cy="240030"/>
          </a:xfrm>
          <a:prstGeom xmlns:a="http://schemas.openxmlformats.org/drawingml/2006/main" prst="triangle">
            <a:avLst/>
          </a:prstGeom>
          <a:solidFill xmlns:a="http://schemas.openxmlformats.org/drawingml/2006/main">
            <a:srgbClr val="29ABE2"/>
          </a:solidFill>
        </p:spPr>
      </p:sp>
      <p:sp>
        <p:nvSpPr>
          <p:cNvPr id="14" name="Shape 12">
            <a:extLst xmlns:a="http://schemas.openxmlformats.org/drawingml/2006/main">
              <a:ext uri="{FF2B5EF4-FFF2-40B4-BE49-F238E27FC236}">
                <a16:creationId xmlns:a16="http://schemas.microsoft.com/office/drawing/2014/main" id="{9A6A083E-AC55-45B8-AEDC-B6FDC1C60162}"/>
              </a:ext>
            </a:extLst>
          </p:cNvPr>
          <p:cNvSpPr>
            <a:spLocks xmlns:a="http://schemas.openxmlformats.org/drawingml/2006/main" noGrp="1"/>
          </p:cNvSpPr>
          <p:nvPr/>
        </p:nvSpPr>
        <p:spPr>
          <a:xfrm xmlns:a="http://schemas.openxmlformats.org/drawingml/2006/main" rot="5400000">
            <a:off x="1221638" y="5875020"/>
            <a:ext cx="274320" cy="240030"/>
          </a:xfrm>
          <a:prstGeom xmlns:a="http://schemas.openxmlformats.org/drawingml/2006/main" prst="triangle">
            <a:avLst/>
          </a:prstGeom>
          <a:solidFill xmlns:a="http://schemas.openxmlformats.org/drawingml/2006/main">
            <a:srgbClr val="B9C8E8"/>
          </a:solidFill>
        </p:spPr>
      </p:sp>
      <p:sp>
        <p:nvSpPr>
          <p:cNvPr id="15" name="Shape 13">
            <a:extLst xmlns:a="http://schemas.openxmlformats.org/drawingml/2006/main">
              <a:ext uri="{FF2B5EF4-FFF2-40B4-BE49-F238E27FC236}">
                <a16:creationId xmlns:a16="http://schemas.microsoft.com/office/drawing/2014/main" id="{EEF576C9-EEB0-4304-BB2D-0CFE85A4E438}"/>
              </a:ext>
            </a:extLst>
          </p:cNvPr>
          <p:cNvSpPr>
            <a:spLocks xmlns:a="http://schemas.openxmlformats.org/drawingml/2006/main" noGrp="1"/>
          </p:cNvSpPr>
          <p:nvPr/>
        </p:nvSpPr>
        <p:spPr>
          <a:xfrm xmlns:a="http://schemas.openxmlformats.org/drawingml/2006/main" rot="5400000">
            <a:off x="1512418" y="5634990"/>
            <a:ext cx="274320" cy="240030"/>
          </a:xfrm>
          <a:prstGeom xmlns:a="http://schemas.openxmlformats.org/drawingml/2006/main" prst="triangle">
            <a:avLst/>
          </a:prstGeom>
          <a:solidFill xmlns:a="http://schemas.openxmlformats.org/drawingml/2006/main">
            <a:srgbClr val="DCE6F8"/>
          </a:solidFill>
        </p:spPr>
      </p:sp>
      <p:sp>
        <p:nvSpPr>
          <p:cNvPr id="16" name="Shape 14">
            <a:extLst xmlns:a="http://schemas.openxmlformats.org/drawingml/2006/main">
              <a:ext uri="{FF2B5EF4-FFF2-40B4-BE49-F238E27FC236}">
                <a16:creationId xmlns:a16="http://schemas.microsoft.com/office/drawing/2014/main" id="{ABB4D16F-6C66-41F5-AA07-12BD851067F7}"/>
              </a:ext>
            </a:extLst>
          </p:cNvPr>
          <p:cNvSpPr>
            <a:spLocks xmlns:a="http://schemas.openxmlformats.org/drawingml/2006/main" noGrp="1"/>
          </p:cNvSpPr>
          <p:nvPr/>
        </p:nvSpPr>
        <p:spPr>
          <a:xfrm xmlns:a="http://schemas.openxmlformats.org/drawingml/2006/main" rot="5400000" flipH="1">
            <a:off x="1512418" y="6115050"/>
            <a:ext cx="274320" cy="240030"/>
          </a:xfrm>
          <a:prstGeom xmlns:a="http://schemas.openxmlformats.org/drawingml/2006/main" prst="triangle">
            <a:avLst/>
          </a:prstGeom>
          <a:solidFill xmlns:a="http://schemas.openxmlformats.org/drawingml/2006/main">
            <a:srgbClr val="00A79D"/>
          </a:solidFill>
        </p:spPr>
      </p:sp>
      <p:sp>
        <p:nvSpPr>
          <p:cNvPr id="17" name="Shape 15">
            <a:extLst xmlns:a="http://schemas.openxmlformats.org/drawingml/2006/main">
              <a:ext uri="{FF2B5EF4-FFF2-40B4-BE49-F238E27FC236}">
                <a16:creationId xmlns:a16="http://schemas.microsoft.com/office/drawing/2014/main" id="{2BD9D166-CFF3-422A-8F72-7C2FA23E7CB8}"/>
              </a:ext>
            </a:extLst>
          </p:cNvPr>
          <p:cNvSpPr>
            <a:spLocks xmlns:a="http://schemas.openxmlformats.org/drawingml/2006/main" noGrp="1"/>
          </p:cNvSpPr>
          <p:nvPr/>
        </p:nvSpPr>
        <p:spPr>
          <a:xfrm xmlns:a="http://schemas.openxmlformats.org/drawingml/2006/main" rot="5400000">
            <a:off x="1803197" y="5875020"/>
            <a:ext cx="274320" cy="240030"/>
          </a:xfrm>
          <a:prstGeom xmlns:a="http://schemas.openxmlformats.org/drawingml/2006/main" prst="triangle">
            <a:avLst/>
          </a:prstGeom>
          <a:solidFill xmlns:a="http://schemas.openxmlformats.org/drawingml/2006/main">
            <a:srgbClr val="29ABE2"/>
          </a:solidFill>
        </p:spPr>
      </p:sp>
      <p:sp>
        <p:nvSpPr>
          <p:cNvPr id="18" name="Text 16">
            <a:extLst xmlns:a="http://schemas.openxmlformats.org/drawingml/2006/main">
              <a:ext uri="{FF2B5EF4-FFF2-40B4-BE49-F238E27FC236}">
                <a16:creationId xmlns:a16="http://schemas.microsoft.com/office/drawing/2014/main" id="{56671CAE-AD06-4C1D-8094-DA46B3180F5F}"/>
              </a:ext>
            </a:extLst>
          </p:cNvPr>
          <p:cNvSpPr>
            <a:spLocks xmlns:a="http://schemas.openxmlformats.org/drawingml/2006/main" noGrp="1"/>
          </p:cNvSpPr>
          <p:nvPr/>
        </p:nvSpPr>
        <p:spPr>
          <a:xfrm xmlns:a="http://schemas.openxmlformats.org/drawingml/2006/main">
            <a:off x="1097280" y="192024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spc="300">
                <a:solidFill>
                  <a:srgbClr val="00A79D"/>
                </a:solidFill>
                <a:latin typeface="Calibri"/>
                <a:ea typeface="Calibri"/>
                <a:cs typeface="Calibri"/>
              </a:rPr>
              <a:t>MODULE 5 TAKEAWAY</a:t>
            </a:r>
            <a:endParaRPr sz="1300"/>
          </a:p>
        </p:txBody>
      </p:sp>
      <p:sp>
        <p:nvSpPr>
          <p:cNvPr id="19" name="Text 17">
            <a:extLst xmlns:a="http://schemas.openxmlformats.org/drawingml/2006/main">
              <a:ext uri="{FF2B5EF4-FFF2-40B4-BE49-F238E27FC236}">
                <a16:creationId xmlns:a16="http://schemas.microsoft.com/office/drawing/2014/main" id="{C0A3BC33-83AD-44E8-9238-4A1E089D3CDC}"/>
              </a:ext>
            </a:extLst>
          </p:cNvPr>
          <p:cNvSpPr>
            <a:spLocks xmlns:a="http://schemas.openxmlformats.org/drawingml/2006/main" noGrp="1"/>
          </p:cNvSpPr>
          <p:nvPr/>
        </p:nvSpPr>
        <p:spPr>
          <a:xfrm xmlns:a="http://schemas.openxmlformats.org/drawingml/2006/main">
            <a:off x="1097280" y="2377440"/>
            <a:ext cx="9994392" cy="1737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3000" b="1">
                <a:solidFill>
                  <a:srgbClr val="1D2A5C"/>
                </a:solidFill>
                <a:latin typeface="Calibri"/>
                <a:ea typeface="Calibri"/>
                <a:cs typeface="Calibri"/>
              </a:rPr>
              <a:t>The repository enforces the definition of done.</a:t>
            </a:r>
            <a:endParaRPr sz="3000"/>
          </a:p>
        </p:txBody>
      </p:sp>
      <p:sp>
        <p:nvSpPr>
          <p:cNvPr id="20" name="Text 18">
            <a:extLst xmlns:a="http://schemas.openxmlformats.org/drawingml/2006/main">
              <a:ext uri="{FF2B5EF4-FFF2-40B4-BE49-F238E27FC236}">
                <a16:creationId xmlns:a16="http://schemas.microsoft.com/office/drawing/2014/main" id="{AE8F9575-FDFE-4292-827F-E50774E021C8}"/>
              </a:ext>
            </a:extLst>
          </p:cNvPr>
          <p:cNvSpPr>
            <a:spLocks xmlns:a="http://schemas.openxmlformats.org/drawingml/2006/main" noGrp="1"/>
          </p:cNvSpPr>
          <p:nvPr/>
        </p:nvSpPr>
        <p:spPr>
          <a:xfrm xmlns:a="http://schemas.openxmlformats.org/drawingml/2006/main">
            <a:off x="2011680" y="4251960"/>
            <a:ext cx="8165592"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350">
                <a:solidFill>
                  <a:srgbClr val="5F6B7A"/>
                </a:solidFill>
                <a:latin typeface="Calibri"/>
                <a:ea typeface="Calibri"/>
                <a:cs typeface="Calibri"/>
              </a:rPr>
              <a:t>Lint, type, test, smoke, scan — then a SHA-tagged image pushed only when everything is green. New team members inherit discipline from infrastructure.</a:t>
            </a:r>
            <a:endParaRPr sz="1350"/>
          </a:p>
        </p:txBody>
      </p:sp>
      <p:pic>
        <p:nvPicPr>
          <p:cNvPr id="44" name="Image 0"/>
          <p:cNvPicPr>
            <a:picLocks xmlns:a="http://schemas.openxmlformats.org/drawingml/2006/main" noChangeAspect="1"/>
          </p:cNvPicPr>
          <p:nvPr/>
        </p:nvPicPr>
        <p:blipFill>
          <a:blip xmlns:r="http://schemas.openxmlformats.org/officeDocument/2006/relationships" xmlns:a="http://schemas.openxmlformats.org/drawingml/2006/main" r:embed="Re67e12ba3944436d"/>
          <a:stretch xmlns:a="http://schemas.openxmlformats.org/drawingml/2006/main">
            <a:fillRect l="0" t="0" r="0" b="0"/>
          </a:stretch>
        </p:blipFill>
        <p:spPr>
          <a:xfrm xmlns:a="http://schemas.openxmlformats.org/drawingml/2006/main">
            <a:off x="5559552" y="6172200"/>
            <a:ext cx="1078992" cy="265176"/>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5EB53772-EC6B-4ACE-8A8E-94D95AC2B7A6}"/>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5   </a:t>
            </a:r>
            <a:r>
              <a:rPr sz="850" spc="100">
                <a:solidFill>
                  <a:srgbClr val="8A96A6"/>
                </a:solidFill>
                <a:latin typeface="Calibri"/>
                <a:ea typeface="Calibri"/>
                <a:cs typeface="Calibri"/>
              </a:rPr>
              <a:t>SDA-AIE-113 · Software Engineering Practices for AI Systems</a:t>
            </a:r>
            <a:endParaRPr sz="850"/>
          </a:p>
        </p:txBody>
      </p:sp>
      <p:sp>
        <p:nvSpPr>
          <p:cNvPr id="23" name="Text 20">
            <a:extLst xmlns:a="http://schemas.openxmlformats.org/drawingml/2006/main">
              <a:ext uri="{FF2B5EF4-FFF2-40B4-BE49-F238E27FC236}">
                <a16:creationId xmlns:a16="http://schemas.microsoft.com/office/drawing/2014/main" id="{4A01CE2A-381D-4B96-9617-9448D5812D55}"/>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125</a:t>
            </a:r>
            <a:endParaRPr sz="850"/>
          </a:p>
        </p:txBody>
      </p:sp>
    </p:spTree>
    <p:extLst>
      <p:ext uri="{BB962C8B-B14F-4D97-AF65-F5344CB8AC3E}">
        <p14:creationId xmlns:p14="http://schemas.microsoft.com/office/powerpoint/2010/main" val="2075469561"/>
      </p:ext>
    </p:extLst>
  </p:cSld>
</p:sld>
</file>

<file path=ppt/slides/slide126.xml><?xml version="1.0" encoding="utf-8"?>
<p:sld xmlns:p="http://schemas.openxmlformats.org/presentationml/2006/main">
  <p:cSld>
    <p:bg>
      <p:bgPr>
        <a:solidFill xmlns:a="http://schemas.openxmlformats.org/drawingml/2006/main">
          <a:srgbClr val="1D2A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F2D998A-9E2C-43B4-BE44-E3465663387F}"/>
              </a:ext>
            </a:extLst>
          </p:cNvPr>
          <p:cNvSpPr>
            <a:spLocks xmlns:a="http://schemas.openxmlformats.org/drawingml/2006/main" noGrp="1"/>
          </p:cNvSpPr>
          <p:nvPr/>
        </p:nvSpPr>
        <p:spPr>
          <a:xfrm xmlns:a="http://schemas.openxmlformats.org/drawingml/2006/main" rot="5400000" flipH="1">
            <a:off x="9235440" y="1298448"/>
            <a:ext cx="402336" cy="352044"/>
          </a:xfrm>
          <a:prstGeom xmlns:a="http://schemas.openxmlformats.org/drawingml/2006/main" prst="triangle">
            <a:avLst/>
          </a:prstGeom>
          <a:solidFill xmlns:a="http://schemas.openxmlformats.org/drawingml/2006/main">
            <a:srgbClr val="00A79D"/>
          </a:solidFill>
        </p:spPr>
      </p:sp>
      <p:sp>
        <p:nvSpPr>
          <p:cNvPr id="3" name="Shape 1">
            <a:extLst xmlns:a="http://schemas.openxmlformats.org/drawingml/2006/main">
              <a:ext uri="{FF2B5EF4-FFF2-40B4-BE49-F238E27FC236}">
                <a16:creationId xmlns:a16="http://schemas.microsoft.com/office/drawing/2014/main" id="{6D382254-1B61-4A0B-A594-500822391BC2}"/>
              </a:ext>
            </a:extLst>
          </p:cNvPr>
          <p:cNvSpPr>
            <a:spLocks xmlns:a="http://schemas.openxmlformats.org/drawingml/2006/main" noGrp="1"/>
          </p:cNvSpPr>
          <p:nvPr/>
        </p:nvSpPr>
        <p:spPr>
          <a:xfrm xmlns:a="http://schemas.openxmlformats.org/drawingml/2006/main" rot="5400000">
            <a:off x="9661916" y="946404"/>
            <a:ext cx="402336" cy="352044"/>
          </a:xfrm>
          <a:prstGeom xmlns:a="http://schemas.openxmlformats.org/drawingml/2006/main" prst="triangle">
            <a:avLst/>
          </a:prstGeom>
          <a:solidFill xmlns:a="http://schemas.openxmlformats.org/drawingml/2006/main">
            <a:srgbClr val="29ABE2"/>
          </a:solidFill>
        </p:spPr>
      </p:sp>
      <p:sp>
        <p:nvSpPr>
          <p:cNvPr id="4" name="Shape 2">
            <a:extLst xmlns:a="http://schemas.openxmlformats.org/drawingml/2006/main">
              <a:ext uri="{FF2B5EF4-FFF2-40B4-BE49-F238E27FC236}">
                <a16:creationId xmlns:a16="http://schemas.microsoft.com/office/drawing/2014/main" id="{CF97BA7A-7A4A-41A0-A1C9-472A72A20548}"/>
              </a:ext>
            </a:extLst>
          </p:cNvPr>
          <p:cNvSpPr>
            <a:spLocks xmlns:a="http://schemas.openxmlformats.org/drawingml/2006/main" noGrp="1"/>
          </p:cNvSpPr>
          <p:nvPr/>
        </p:nvSpPr>
        <p:spPr>
          <a:xfrm xmlns:a="http://schemas.openxmlformats.org/drawingml/2006/main" rot="5400000">
            <a:off x="9661916" y="1650492"/>
            <a:ext cx="402336" cy="352044"/>
          </a:xfrm>
          <a:prstGeom xmlns:a="http://schemas.openxmlformats.org/drawingml/2006/main" prst="triangle">
            <a:avLst/>
          </a:prstGeom>
          <a:solidFill xmlns:a="http://schemas.openxmlformats.org/drawingml/2006/main">
            <a:srgbClr val="F58220"/>
          </a:solidFill>
        </p:spPr>
      </p:sp>
      <p:sp>
        <p:nvSpPr>
          <p:cNvPr id="5" name="Shape 3">
            <a:extLst xmlns:a="http://schemas.openxmlformats.org/drawingml/2006/main">
              <a:ext uri="{FF2B5EF4-FFF2-40B4-BE49-F238E27FC236}">
                <a16:creationId xmlns:a16="http://schemas.microsoft.com/office/drawing/2014/main" id="{8C5E91CE-CEDE-4558-B026-DA58BF9F8EC0}"/>
              </a:ext>
            </a:extLst>
          </p:cNvPr>
          <p:cNvSpPr>
            <a:spLocks xmlns:a="http://schemas.openxmlformats.org/drawingml/2006/main" noGrp="1"/>
          </p:cNvSpPr>
          <p:nvPr/>
        </p:nvSpPr>
        <p:spPr>
          <a:xfrm xmlns:a="http://schemas.openxmlformats.org/drawingml/2006/main" rot="5400000" flipH="1">
            <a:off x="10088392" y="594360"/>
            <a:ext cx="402336" cy="352044"/>
          </a:xfrm>
          <a:prstGeom xmlns:a="http://schemas.openxmlformats.org/drawingml/2006/main" prst="triangle">
            <a:avLst/>
          </a:prstGeom>
          <a:solidFill xmlns:a="http://schemas.openxmlformats.org/drawingml/2006/main">
            <a:srgbClr val="8DC63F"/>
          </a:solidFill>
        </p:spPr>
      </p:sp>
      <p:sp>
        <p:nvSpPr>
          <p:cNvPr id="6" name="Shape 4">
            <a:extLst xmlns:a="http://schemas.openxmlformats.org/drawingml/2006/main">
              <a:ext uri="{FF2B5EF4-FFF2-40B4-BE49-F238E27FC236}">
                <a16:creationId xmlns:a16="http://schemas.microsoft.com/office/drawing/2014/main" id="{5344E713-FD0C-43DE-A88A-9E158C39D383}"/>
              </a:ext>
            </a:extLst>
          </p:cNvPr>
          <p:cNvSpPr>
            <a:spLocks xmlns:a="http://schemas.openxmlformats.org/drawingml/2006/main" noGrp="1"/>
          </p:cNvSpPr>
          <p:nvPr/>
        </p:nvSpPr>
        <p:spPr>
          <a:xfrm xmlns:a="http://schemas.openxmlformats.org/drawingml/2006/main" rot="5400000">
            <a:off x="10088392" y="1298448"/>
            <a:ext cx="402336" cy="352044"/>
          </a:xfrm>
          <a:prstGeom xmlns:a="http://schemas.openxmlformats.org/drawingml/2006/main" prst="triangle">
            <a:avLst/>
          </a:prstGeom>
          <a:solidFill xmlns:a="http://schemas.openxmlformats.org/drawingml/2006/main">
            <a:srgbClr val="00A79D"/>
          </a:solidFill>
        </p:spPr>
      </p:sp>
      <p:sp>
        <p:nvSpPr>
          <p:cNvPr id="7" name="Shape 5">
            <a:extLst xmlns:a="http://schemas.openxmlformats.org/drawingml/2006/main">
              <a:ext uri="{FF2B5EF4-FFF2-40B4-BE49-F238E27FC236}">
                <a16:creationId xmlns:a16="http://schemas.microsoft.com/office/drawing/2014/main" id="{CDB4E88B-C71D-4AA2-87E0-A0320FDEF199}"/>
              </a:ext>
            </a:extLst>
          </p:cNvPr>
          <p:cNvSpPr>
            <a:spLocks xmlns:a="http://schemas.openxmlformats.org/drawingml/2006/main" noGrp="1"/>
          </p:cNvSpPr>
          <p:nvPr/>
        </p:nvSpPr>
        <p:spPr>
          <a:xfrm xmlns:a="http://schemas.openxmlformats.org/drawingml/2006/main" rot="5400000">
            <a:off x="10514868" y="946404"/>
            <a:ext cx="402336" cy="352044"/>
          </a:xfrm>
          <a:prstGeom xmlns:a="http://schemas.openxmlformats.org/drawingml/2006/main" prst="triangle">
            <a:avLst/>
          </a:prstGeom>
          <a:solidFill xmlns:a="http://schemas.openxmlformats.org/drawingml/2006/main">
            <a:srgbClr val="29ABE2"/>
          </a:solidFill>
        </p:spPr>
      </p:sp>
      <p:sp>
        <p:nvSpPr>
          <p:cNvPr id="8" name="Shape 6">
            <a:extLst xmlns:a="http://schemas.openxmlformats.org/drawingml/2006/main">
              <a:ext uri="{FF2B5EF4-FFF2-40B4-BE49-F238E27FC236}">
                <a16:creationId xmlns:a16="http://schemas.microsoft.com/office/drawing/2014/main" id="{9A84CF7B-FC3A-4DE9-87DB-425DA537CA0F}"/>
              </a:ext>
            </a:extLst>
          </p:cNvPr>
          <p:cNvSpPr>
            <a:spLocks xmlns:a="http://schemas.openxmlformats.org/drawingml/2006/main" noGrp="1"/>
          </p:cNvSpPr>
          <p:nvPr/>
        </p:nvSpPr>
        <p:spPr>
          <a:xfrm xmlns:a="http://schemas.openxmlformats.org/drawingml/2006/main" rot="5400000" flipH="1">
            <a:off x="10514868" y="1650492"/>
            <a:ext cx="402336" cy="352044"/>
          </a:xfrm>
          <a:prstGeom xmlns:a="http://schemas.openxmlformats.org/drawingml/2006/main" prst="triangle">
            <a:avLst/>
          </a:prstGeom>
          <a:solidFill xmlns:a="http://schemas.openxmlformats.org/drawingml/2006/main">
            <a:srgbClr val="F58220"/>
          </a:solidFill>
        </p:spPr>
      </p:sp>
      <p:sp>
        <p:nvSpPr>
          <p:cNvPr id="9" name="Shape 7">
            <a:extLst xmlns:a="http://schemas.openxmlformats.org/drawingml/2006/main">
              <a:ext uri="{FF2B5EF4-FFF2-40B4-BE49-F238E27FC236}">
                <a16:creationId xmlns:a16="http://schemas.microsoft.com/office/drawing/2014/main" id="{90D581F0-2325-4146-94BC-10257D558340}"/>
              </a:ext>
            </a:extLst>
          </p:cNvPr>
          <p:cNvSpPr>
            <a:spLocks xmlns:a="http://schemas.openxmlformats.org/drawingml/2006/main" noGrp="1"/>
          </p:cNvSpPr>
          <p:nvPr/>
        </p:nvSpPr>
        <p:spPr>
          <a:xfrm xmlns:a="http://schemas.openxmlformats.org/drawingml/2006/main" rot="5400000">
            <a:off x="10941345" y="1298448"/>
            <a:ext cx="402336" cy="352044"/>
          </a:xfrm>
          <a:prstGeom xmlns:a="http://schemas.openxmlformats.org/drawingml/2006/main" prst="triangle">
            <a:avLst/>
          </a:prstGeom>
          <a:solidFill xmlns:a="http://schemas.openxmlformats.org/drawingml/2006/main">
            <a:srgbClr val="8DC63F"/>
          </a:solidFill>
        </p:spPr>
      </p:sp>
      <p:sp>
        <p:nvSpPr>
          <p:cNvPr id="10" name="Text 8">
            <a:extLst xmlns:a="http://schemas.openxmlformats.org/drawingml/2006/main">
              <a:ext uri="{FF2B5EF4-FFF2-40B4-BE49-F238E27FC236}">
                <a16:creationId xmlns:a16="http://schemas.microsoft.com/office/drawing/2014/main" id="{F08AAE19-4483-40BD-90B6-6943C11A4437}"/>
              </a:ext>
            </a:extLst>
          </p:cNvPr>
          <p:cNvSpPr>
            <a:spLocks xmlns:a="http://schemas.openxmlformats.org/drawingml/2006/main" noGrp="1"/>
          </p:cNvSpPr>
          <p:nvPr/>
        </p:nvSpPr>
        <p:spPr>
          <a:xfrm xmlns:a="http://schemas.openxmlformats.org/drawingml/2006/main">
            <a:off x="777240" y="1417320"/>
            <a:ext cx="731520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spc="400">
                <a:solidFill>
                  <a:srgbClr val="00A79D"/>
                </a:solidFill>
                <a:latin typeface="Calibri"/>
                <a:ea typeface="Calibri"/>
                <a:cs typeface="Calibri"/>
              </a:rPr>
              <a:t>DAY 3 · MODULE 6</a:t>
            </a:r>
            <a:endParaRPr sz="1500"/>
          </a:p>
        </p:txBody>
      </p:sp>
      <p:sp>
        <p:nvSpPr>
          <p:cNvPr id="11" name="Text 9">
            <a:extLst xmlns:a="http://schemas.openxmlformats.org/drawingml/2006/main">
              <a:ext uri="{FF2B5EF4-FFF2-40B4-BE49-F238E27FC236}">
                <a16:creationId xmlns:a16="http://schemas.microsoft.com/office/drawing/2014/main" id="{273E0043-5073-435F-9438-5DD1BBD1935C}"/>
              </a:ext>
            </a:extLst>
          </p:cNvPr>
          <p:cNvSpPr>
            <a:spLocks xmlns:a="http://schemas.openxmlformats.org/drawingml/2006/main" noGrp="1"/>
          </p:cNvSpPr>
          <p:nvPr/>
        </p:nvSpPr>
        <p:spPr>
          <a:xfrm xmlns:a="http://schemas.openxmlformats.org/drawingml/2006/main">
            <a:off x="749808" y="1874520"/>
            <a:ext cx="106070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600" b="1">
                <a:solidFill>
                  <a:srgbClr val="FFFFFF"/>
                </a:solidFill>
                <a:latin typeface="Calibri"/>
                <a:ea typeface="Calibri"/>
                <a:cs typeface="Calibri"/>
              </a:rPr>
              <a:t>Configuration, Secrets &amp; Logging Practices</a:t>
            </a:r>
            <a:endParaRPr sz="3600"/>
          </a:p>
        </p:txBody>
      </p:sp>
      <p:sp>
        <p:nvSpPr>
          <p:cNvPr id="12" name="Text 10">
            <a:extLst xmlns:a="http://schemas.openxmlformats.org/drawingml/2006/main">
              <a:ext uri="{FF2B5EF4-FFF2-40B4-BE49-F238E27FC236}">
                <a16:creationId xmlns:a16="http://schemas.microsoft.com/office/drawing/2014/main" id="{68CBA7C2-E95A-46D5-AA04-E4E02F3876D8}"/>
              </a:ext>
            </a:extLst>
          </p:cNvPr>
          <p:cNvSpPr>
            <a:spLocks xmlns:a="http://schemas.openxmlformats.org/drawingml/2006/main" noGrp="1"/>
          </p:cNvSpPr>
          <p:nvPr/>
        </p:nvSpPr>
        <p:spPr>
          <a:xfrm xmlns:a="http://schemas.openxmlformats.org/drawingml/2006/main">
            <a:off x="777240" y="2761488"/>
            <a:ext cx="100584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a:solidFill>
                  <a:srgbClr val="B9C8E8"/>
                </a:solidFill>
                <a:latin typeface="Calibri"/>
                <a:ea typeface="Calibri"/>
                <a:cs typeface="Calibri"/>
              </a:rPr>
              <a:t>ممارسات الإعداد والأسرار والتسجيل</a:t>
            </a:r>
            <a:endParaRPr sz="1700"/>
          </a:p>
        </p:txBody>
      </p:sp>
      <p:sp>
        <p:nvSpPr>
          <p:cNvPr id="13" name="Shape 11">
            <a:extLst xmlns:a="http://schemas.openxmlformats.org/drawingml/2006/main">
              <a:ext uri="{FF2B5EF4-FFF2-40B4-BE49-F238E27FC236}">
                <a16:creationId xmlns:a16="http://schemas.microsoft.com/office/drawing/2014/main" id="{CE4A1519-AF6D-4483-B296-87CE03DB7856}"/>
              </a:ext>
            </a:extLst>
          </p:cNvPr>
          <p:cNvSpPr>
            <a:spLocks xmlns:a="http://schemas.openxmlformats.org/drawingml/2006/main" noGrp="1"/>
          </p:cNvSpPr>
          <p:nvPr/>
        </p:nvSpPr>
        <p:spPr>
          <a:xfrm xmlns:a="http://schemas.openxmlformats.org/drawingml/2006/main">
            <a:off x="777240"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14" name="Text 12">
            <a:extLst xmlns:a="http://schemas.openxmlformats.org/drawingml/2006/main">
              <a:ext uri="{FF2B5EF4-FFF2-40B4-BE49-F238E27FC236}">
                <a16:creationId xmlns:a16="http://schemas.microsoft.com/office/drawing/2014/main" id="{6D2E4854-6813-412A-B2C5-60D2F6620834}"/>
              </a:ext>
            </a:extLst>
          </p:cNvPr>
          <p:cNvSpPr>
            <a:spLocks xmlns:a="http://schemas.openxmlformats.org/drawingml/2006/main" noGrp="1"/>
          </p:cNvSpPr>
          <p:nvPr/>
        </p:nvSpPr>
        <p:spPr>
          <a:xfrm xmlns:a="http://schemas.openxmlformats.org/drawingml/2006/main">
            <a:off x="923544"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A79D"/>
                </a:solidFill>
                <a:latin typeface="Calibri"/>
                <a:ea typeface="Calibri"/>
                <a:cs typeface="Calibri"/>
              </a:rPr>
              <a:t>01</a:t>
            </a:r>
            <a:endParaRPr sz="1400"/>
          </a:p>
        </p:txBody>
      </p:sp>
      <p:sp>
        <p:nvSpPr>
          <p:cNvPr id="15" name="Text 13">
            <a:extLst xmlns:a="http://schemas.openxmlformats.org/drawingml/2006/main">
              <a:ext uri="{FF2B5EF4-FFF2-40B4-BE49-F238E27FC236}">
                <a16:creationId xmlns:a16="http://schemas.microsoft.com/office/drawing/2014/main" id="{EF55D5C9-B71B-4296-AD9B-08D1AA3D59F5}"/>
              </a:ext>
            </a:extLst>
          </p:cNvPr>
          <p:cNvSpPr>
            <a:spLocks xmlns:a="http://schemas.openxmlformats.org/drawingml/2006/main" noGrp="1"/>
          </p:cNvSpPr>
          <p:nvPr/>
        </p:nvSpPr>
        <p:spPr>
          <a:xfrm xmlns:a="http://schemas.openxmlformats.org/drawingml/2006/main">
            <a:off x="923544"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Typed config</a:t>
            </a:r>
            <a:endParaRPr sz="1200"/>
          </a:p>
        </p:txBody>
      </p:sp>
      <p:sp>
        <p:nvSpPr>
          <p:cNvPr id="16" name="Text 14">
            <a:extLst xmlns:a="http://schemas.openxmlformats.org/drawingml/2006/main">
              <a:ext uri="{FF2B5EF4-FFF2-40B4-BE49-F238E27FC236}">
                <a16:creationId xmlns:a16="http://schemas.microsoft.com/office/drawing/2014/main" id="{7F43B876-C569-470F-866D-94C1CFFA428F}"/>
              </a:ext>
            </a:extLst>
          </p:cNvPr>
          <p:cNvSpPr>
            <a:spLocks xmlns:a="http://schemas.openxmlformats.org/drawingml/2006/main" noGrp="1"/>
          </p:cNvSpPr>
          <p:nvPr/>
        </p:nvSpPr>
        <p:spPr>
          <a:xfrm xmlns:a="http://schemas.openxmlformats.org/drawingml/2006/main">
            <a:off x="923544"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pydantic-settings: validated, environment-driven, fail-fast</a:t>
            </a:r>
            <a:endParaRPr sz="950"/>
          </a:p>
        </p:txBody>
      </p:sp>
      <p:sp>
        <p:nvSpPr>
          <p:cNvPr id="17" name="Shape 15">
            <a:extLst xmlns:a="http://schemas.openxmlformats.org/drawingml/2006/main">
              <a:ext uri="{FF2B5EF4-FFF2-40B4-BE49-F238E27FC236}">
                <a16:creationId xmlns:a16="http://schemas.microsoft.com/office/drawing/2014/main" id="{0B300D55-E704-405D-BE07-DD508054C9CD}"/>
              </a:ext>
            </a:extLst>
          </p:cNvPr>
          <p:cNvSpPr>
            <a:spLocks xmlns:a="http://schemas.openxmlformats.org/drawingml/2006/main" noGrp="1"/>
          </p:cNvSpPr>
          <p:nvPr/>
        </p:nvSpPr>
        <p:spPr>
          <a:xfrm xmlns:a="http://schemas.openxmlformats.org/drawingml/2006/main">
            <a:off x="3493008"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18" name="Text 16">
            <a:extLst xmlns:a="http://schemas.openxmlformats.org/drawingml/2006/main">
              <a:ext uri="{FF2B5EF4-FFF2-40B4-BE49-F238E27FC236}">
                <a16:creationId xmlns:a16="http://schemas.microsoft.com/office/drawing/2014/main" id="{985C836F-F909-4DE3-AD41-9C442A8FA70D}"/>
              </a:ext>
            </a:extLst>
          </p:cNvPr>
          <p:cNvSpPr>
            <a:spLocks xmlns:a="http://schemas.openxmlformats.org/drawingml/2006/main" noGrp="1"/>
          </p:cNvSpPr>
          <p:nvPr/>
        </p:nvSpPr>
        <p:spPr>
          <a:xfrm xmlns:a="http://schemas.openxmlformats.org/drawingml/2006/main">
            <a:off x="3639312"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29ABE2"/>
                </a:solidFill>
                <a:latin typeface="Calibri"/>
                <a:ea typeface="Calibri"/>
                <a:cs typeface="Calibri"/>
              </a:rPr>
              <a:t>02</a:t>
            </a:r>
            <a:endParaRPr sz="1400"/>
          </a:p>
        </p:txBody>
      </p:sp>
      <p:sp>
        <p:nvSpPr>
          <p:cNvPr id="19" name="Text 17">
            <a:extLst xmlns:a="http://schemas.openxmlformats.org/drawingml/2006/main">
              <a:ext uri="{FF2B5EF4-FFF2-40B4-BE49-F238E27FC236}">
                <a16:creationId xmlns:a16="http://schemas.microsoft.com/office/drawing/2014/main" id="{526A178F-B977-4329-8183-6FA6768AE933}"/>
              </a:ext>
            </a:extLst>
          </p:cNvPr>
          <p:cNvSpPr>
            <a:spLocks xmlns:a="http://schemas.openxmlformats.org/drawingml/2006/main" noGrp="1"/>
          </p:cNvSpPr>
          <p:nvPr/>
        </p:nvSpPr>
        <p:spPr>
          <a:xfrm xmlns:a="http://schemas.openxmlformats.org/drawingml/2006/main">
            <a:off x="3639312"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Secret hygiene</a:t>
            </a:r>
            <a:endParaRPr sz="1200"/>
          </a:p>
        </p:txBody>
      </p:sp>
      <p:sp>
        <p:nvSpPr>
          <p:cNvPr id="20" name="Text 18">
            <a:extLst xmlns:a="http://schemas.openxmlformats.org/drawingml/2006/main">
              <a:ext uri="{FF2B5EF4-FFF2-40B4-BE49-F238E27FC236}">
                <a16:creationId xmlns:a16="http://schemas.microsoft.com/office/drawing/2014/main" id="{0B550767-EC25-4770-8D66-1E487AE26860}"/>
              </a:ext>
            </a:extLst>
          </p:cNvPr>
          <p:cNvSpPr>
            <a:spLocks xmlns:a="http://schemas.openxmlformats.org/drawingml/2006/main" noGrp="1"/>
          </p:cNvSpPr>
          <p:nvPr/>
        </p:nvSpPr>
        <p:spPr>
          <a:xfrm xmlns:a="http://schemas.openxmlformats.org/drawingml/2006/main">
            <a:off x="3639312"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Never in git, images, or logs; rotate-first response</a:t>
            </a:r>
            <a:endParaRPr sz="950"/>
          </a:p>
        </p:txBody>
      </p:sp>
      <p:sp>
        <p:nvSpPr>
          <p:cNvPr id="21" name="Shape 19">
            <a:extLst xmlns:a="http://schemas.openxmlformats.org/drawingml/2006/main">
              <a:ext uri="{FF2B5EF4-FFF2-40B4-BE49-F238E27FC236}">
                <a16:creationId xmlns:a16="http://schemas.microsoft.com/office/drawing/2014/main" id="{E655330C-A63A-4233-8CD8-9F17027312FA}"/>
              </a:ext>
            </a:extLst>
          </p:cNvPr>
          <p:cNvSpPr>
            <a:spLocks xmlns:a="http://schemas.openxmlformats.org/drawingml/2006/main" noGrp="1"/>
          </p:cNvSpPr>
          <p:nvPr/>
        </p:nvSpPr>
        <p:spPr>
          <a:xfrm xmlns:a="http://schemas.openxmlformats.org/drawingml/2006/main">
            <a:off x="6208776"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22" name="Text 20">
            <a:extLst xmlns:a="http://schemas.openxmlformats.org/drawingml/2006/main">
              <a:ext uri="{FF2B5EF4-FFF2-40B4-BE49-F238E27FC236}">
                <a16:creationId xmlns:a16="http://schemas.microsoft.com/office/drawing/2014/main" id="{5DFBF00F-47DB-439D-A123-F17FF2EB2B9C}"/>
              </a:ext>
            </a:extLst>
          </p:cNvPr>
          <p:cNvSpPr>
            <a:spLocks xmlns:a="http://schemas.openxmlformats.org/drawingml/2006/main" noGrp="1"/>
          </p:cNvSpPr>
          <p:nvPr/>
        </p:nvSpPr>
        <p:spPr>
          <a:xfrm xmlns:a="http://schemas.openxmlformats.org/drawingml/2006/main">
            <a:off x="6355080"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F58220"/>
                </a:solidFill>
                <a:latin typeface="Calibri"/>
                <a:ea typeface="Calibri"/>
                <a:cs typeface="Calibri"/>
              </a:rPr>
              <a:t>03</a:t>
            </a:r>
            <a:endParaRPr sz="1400"/>
          </a:p>
        </p:txBody>
      </p:sp>
      <p:sp>
        <p:nvSpPr>
          <p:cNvPr id="23" name="Text 21">
            <a:extLst xmlns:a="http://schemas.openxmlformats.org/drawingml/2006/main">
              <a:ext uri="{FF2B5EF4-FFF2-40B4-BE49-F238E27FC236}">
                <a16:creationId xmlns:a16="http://schemas.microsoft.com/office/drawing/2014/main" id="{0890381B-EEF0-41FE-B5E8-A9C855974CBD}"/>
              </a:ext>
            </a:extLst>
          </p:cNvPr>
          <p:cNvSpPr>
            <a:spLocks xmlns:a="http://schemas.openxmlformats.org/drawingml/2006/main" noGrp="1"/>
          </p:cNvSpPr>
          <p:nvPr/>
        </p:nvSpPr>
        <p:spPr>
          <a:xfrm xmlns:a="http://schemas.openxmlformats.org/drawingml/2006/main">
            <a:off x="6355080"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Structured logs</a:t>
            </a:r>
            <a:endParaRPr sz="1200"/>
          </a:p>
        </p:txBody>
      </p:sp>
      <p:sp>
        <p:nvSpPr>
          <p:cNvPr id="24" name="Text 22">
            <a:extLst xmlns:a="http://schemas.openxmlformats.org/drawingml/2006/main">
              <a:ext uri="{FF2B5EF4-FFF2-40B4-BE49-F238E27FC236}">
                <a16:creationId xmlns:a16="http://schemas.microsoft.com/office/drawing/2014/main" id="{C36F45F2-55B6-402C-9202-CE2EF42F80FD}"/>
              </a:ext>
            </a:extLst>
          </p:cNvPr>
          <p:cNvSpPr>
            <a:spLocks xmlns:a="http://schemas.openxmlformats.org/drawingml/2006/main" noGrp="1"/>
          </p:cNvSpPr>
          <p:nvPr/>
        </p:nvSpPr>
        <p:spPr>
          <a:xfrm xmlns:a="http://schemas.openxmlformats.org/drawingml/2006/main">
            <a:off x="6355080"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JSON events with trace_id + model_version correlation</a:t>
            </a:r>
            <a:endParaRPr sz="950"/>
          </a:p>
        </p:txBody>
      </p:sp>
      <p:sp>
        <p:nvSpPr>
          <p:cNvPr id="25" name="Shape 23">
            <a:extLst xmlns:a="http://schemas.openxmlformats.org/drawingml/2006/main">
              <a:ext uri="{FF2B5EF4-FFF2-40B4-BE49-F238E27FC236}">
                <a16:creationId xmlns:a16="http://schemas.microsoft.com/office/drawing/2014/main" id="{A12F6525-4E1E-4784-8D5E-FBFF6EB6901D}"/>
              </a:ext>
            </a:extLst>
          </p:cNvPr>
          <p:cNvSpPr>
            <a:spLocks xmlns:a="http://schemas.openxmlformats.org/drawingml/2006/main" noGrp="1"/>
          </p:cNvSpPr>
          <p:nvPr/>
        </p:nvSpPr>
        <p:spPr>
          <a:xfrm xmlns:a="http://schemas.openxmlformats.org/drawingml/2006/main">
            <a:off x="8924544"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26" name="Text 24">
            <a:extLst xmlns:a="http://schemas.openxmlformats.org/drawingml/2006/main">
              <a:ext uri="{FF2B5EF4-FFF2-40B4-BE49-F238E27FC236}">
                <a16:creationId xmlns:a16="http://schemas.microsoft.com/office/drawing/2014/main" id="{BEB2248F-3884-483C-B645-4A913D711670}"/>
              </a:ext>
            </a:extLst>
          </p:cNvPr>
          <p:cNvSpPr>
            <a:spLocks xmlns:a="http://schemas.openxmlformats.org/drawingml/2006/main" noGrp="1"/>
          </p:cNvSpPr>
          <p:nvPr/>
        </p:nvSpPr>
        <p:spPr>
          <a:xfrm xmlns:a="http://schemas.openxmlformats.org/drawingml/2006/main">
            <a:off x="9070848"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8DC63F"/>
                </a:solidFill>
                <a:latin typeface="Calibri"/>
                <a:ea typeface="Calibri"/>
                <a:cs typeface="Calibri"/>
              </a:rPr>
              <a:t>04</a:t>
            </a:r>
            <a:endParaRPr sz="1400"/>
          </a:p>
        </p:txBody>
      </p:sp>
      <p:sp>
        <p:nvSpPr>
          <p:cNvPr id="27" name="Text 25">
            <a:extLst xmlns:a="http://schemas.openxmlformats.org/drawingml/2006/main">
              <a:ext uri="{FF2B5EF4-FFF2-40B4-BE49-F238E27FC236}">
                <a16:creationId xmlns:a16="http://schemas.microsoft.com/office/drawing/2014/main" id="{B1F05642-0401-43DE-88EF-4EDB82237FF4}"/>
              </a:ext>
            </a:extLst>
          </p:cNvPr>
          <p:cNvSpPr>
            <a:spLocks xmlns:a="http://schemas.openxmlformats.org/drawingml/2006/main" noGrp="1"/>
          </p:cNvSpPr>
          <p:nvPr/>
        </p:nvSpPr>
        <p:spPr>
          <a:xfrm xmlns:a="http://schemas.openxmlformats.org/drawingml/2006/main">
            <a:off x="9070848"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Privacy by design</a:t>
            </a:r>
            <a:endParaRPr sz="1200"/>
          </a:p>
        </p:txBody>
      </p:sp>
      <p:sp>
        <p:nvSpPr>
          <p:cNvPr id="28" name="Text 26">
            <a:extLst xmlns:a="http://schemas.openxmlformats.org/drawingml/2006/main">
              <a:ext uri="{FF2B5EF4-FFF2-40B4-BE49-F238E27FC236}">
                <a16:creationId xmlns:a16="http://schemas.microsoft.com/office/drawing/2014/main" id="{E42514A6-5983-406C-8EEB-D4344298BB5B}"/>
              </a:ext>
            </a:extLst>
          </p:cNvPr>
          <p:cNvSpPr>
            <a:spLocks xmlns:a="http://schemas.openxmlformats.org/drawingml/2006/main" noGrp="1"/>
          </p:cNvSpPr>
          <p:nvPr/>
        </p:nvSpPr>
        <p:spPr>
          <a:xfrm xmlns:a="http://schemas.openxmlformats.org/drawingml/2006/main">
            <a:off x="9070848"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Bucket, mask, and omit — PDPL-aware logging</a:t>
            </a:r>
            <a:endParaRPr sz="950"/>
          </a:p>
        </p:txBody>
      </p:sp>
      <p:sp>
        <p:nvSpPr>
          <p:cNvPr id="29" name="Text 27">
            <a:extLst xmlns:a="http://schemas.openxmlformats.org/drawingml/2006/main">
              <a:ext uri="{FF2B5EF4-FFF2-40B4-BE49-F238E27FC236}">
                <a16:creationId xmlns:a16="http://schemas.microsoft.com/office/drawing/2014/main" id="{E963896F-F82E-4444-98DA-849F8A44A4D5}"/>
              </a:ext>
            </a:extLst>
          </p:cNvPr>
          <p:cNvSpPr>
            <a:spLocks xmlns:a="http://schemas.openxmlformats.org/drawingml/2006/main" noGrp="1"/>
          </p:cNvSpPr>
          <p:nvPr/>
        </p:nvSpPr>
        <p:spPr>
          <a:xfrm xmlns:a="http://schemas.openxmlformats.org/drawingml/2006/main">
            <a:off x="777240" y="5806440"/>
            <a:ext cx="100584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8A96C8"/>
                </a:solidFill>
                <a:latin typeface="Calibri"/>
                <a:ea typeface="Calibri"/>
                <a:cs typeface="Calibri"/>
              </a:rPr>
              <a:t>~30 min lecture + Lab 6 · LO5 · LO1 · LO6</a:t>
            </a:r>
            <a:endParaRPr sz="1100"/>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6af1051f66c743aa"/>
          <a:stretch xmlns:a="http://schemas.openxmlformats.org/drawingml/2006/main">
            <a:fillRect l="0" t="0" r="0" b="0"/>
          </a:stretch>
        </p:blipFill>
        <p:spPr>
          <a:xfrm xmlns:a="http://schemas.openxmlformats.org/drawingml/2006/main">
            <a:off x="777240" y="6309360"/>
            <a:ext cx="1078992" cy="265176"/>
          </a:xfrm>
          <a:prstGeom xmlns:a="http://schemas.openxmlformats.org/drawingml/2006/main" prst="rect">
            <a:avLst/>
          </a:prstGeom>
        </p:spPr>
      </p:pic>
    </p:spTree>
    <p:extLst>
      <p:ext uri="{BB962C8B-B14F-4D97-AF65-F5344CB8AC3E}">
        <p14:creationId xmlns:p14="http://schemas.microsoft.com/office/powerpoint/2010/main" val="2134794619"/>
      </p:ext>
    </p:extLst>
  </p:cSld>
</p:sld>
</file>

<file path=ppt/slides/slide12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66B60E6-D742-489B-9CA8-705F6557AD21}"/>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Module 6 — learning objectives</a:t>
            </a:r>
            <a:endParaRPr sz="2600"/>
          </a:p>
        </p:txBody>
      </p:sp>
      <p:sp>
        <p:nvSpPr>
          <p:cNvPr id="3" name="Text 1">
            <a:extLst xmlns:a="http://schemas.openxmlformats.org/drawingml/2006/main">
              <a:ext uri="{FF2B5EF4-FFF2-40B4-BE49-F238E27FC236}">
                <a16:creationId xmlns:a16="http://schemas.microsoft.com/office/drawing/2014/main" id="{527EE4B5-D9E8-4A92-8613-547DA64796D5}"/>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الوحدة 6 — أهداف التعلم</a:t>
            </a:r>
            <a:endParaRPr sz="1300"/>
          </a:p>
        </p:txBody>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1d7b490ae0804a53"/>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53D4B0B7-96B1-412A-82C9-58B55CC71705}"/>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EBC993B0-5C3E-45AA-8A19-276ECAE6FBE2}"/>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6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5BE31EC5-283E-461E-AB75-876A7A82B24A}"/>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127</a:t>
            </a:r>
            <a:endParaRPr sz="850"/>
          </a:p>
        </p:txBody>
      </p:sp>
      <p:sp>
        <p:nvSpPr>
          <p:cNvPr id="8" name="Shape 5">
            <a:extLst xmlns:a="http://schemas.openxmlformats.org/drawingml/2006/main">
              <a:ext uri="{FF2B5EF4-FFF2-40B4-BE49-F238E27FC236}">
                <a16:creationId xmlns:a16="http://schemas.microsoft.com/office/drawing/2014/main" id="{2F0B77A9-1349-4F4D-82FA-1314252D7EF0}"/>
              </a:ext>
            </a:extLst>
          </p:cNvPr>
          <p:cNvSpPr>
            <a:spLocks xmlns:a="http://schemas.openxmlformats.org/drawingml/2006/main" noGrp="1"/>
          </p:cNvSpPr>
          <p:nvPr/>
        </p:nvSpPr>
        <p:spPr>
          <a:xfrm xmlns:a="http://schemas.openxmlformats.org/drawingml/2006/main">
            <a:off x="502920" y="1481328"/>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3DEBA022-FA1E-4AC1-8EB7-2C1AD6FD32F5}"/>
              </a:ext>
            </a:extLst>
          </p:cNvPr>
          <p:cNvSpPr>
            <a:spLocks xmlns:a="http://schemas.openxmlformats.org/drawingml/2006/main" noGrp="1"/>
          </p:cNvSpPr>
          <p:nvPr/>
        </p:nvSpPr>
        <p:spPr>
          <a:xfrm xmlns:a="http://schemas.openxmlformats.org/drawingml/2006/main">
            <a:off x="502920" y="1481328"/>
            <a:ext cx="64008" cy="1417320"/>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6C0BCD25-DB79-44CA-B104-9FBEDCB3530C}"/>
              </a:ext>
            </a:extLst>
          </p:cNvPr>
          <p:cNvSpPr>
            <a:spLocks xmlns:a="http://schemas.openxmlformats.org/drawingml/2006/main" noGrp="1"/>
          </p:cNvSpPr>
          <p:nvPr/>
        </p:nvSpPr>
        <p:spPr>
          <a:xfrm xmlns:a="http://schemas.openxmlformats.org/drawingml/2006/main">
            <a:off x="685800" y="1609344"/>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6.1</a:t>
            </a:r>
            <a:endParaRPr sz="1200"/>
          </a:p>
        </p:txBody>
      </p:sp>
      <p:sp>
        <p:nvSpPr>
          <p:cNvPr id="11" name="Text 8">
            <a:extLst xmlns:a="http://schemas.openxmlformats.org/drawingml/2006/main">
              <a:ext uri="{FF2B5EF4-FFF2-40B4-BE49-F238E27FC236}">
                <a16:creationId xmlns:a16="http://schemas.microsoft.com/office/drawing/2014/main" id="{943A9584-E5A9-43B4-96F7-140AC52AABDB}"/>
              </a:ext>
            </a:extLst>
          </p:cNvPr>
          <p:cNvSpPr>
            <a:spLocks xmlns:a="http://schemas.openxmlformats.org/drawingml/2006/main" noGrp="1"/>
          </p:cNvSpPr>
          <p:nvPr/>
        </p:nvSpPr>
        <p:spPr>
          <a:xfrm xmlns:a="http://schemas.openxmlformats.org/drawingml/2006/main">
            <a:off x="4997196" y="1609344"/>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LO5</a:t>
            </a:r>
            <a:endParaRPr sz="850"/>
          </a:p>
        </p:txBody>
      </p:sp>
      <p:sp>
        <p:nvSpPr>
          <p:cNvPr id="12" name="Text 9">
            <a:extLst xmlns:a="http://schemas.openxmlformats.org/drawingml/2006/main">
              <a:ext uri="{FF2B5EF4-FFF2-40B4-BE49-F238E27FC236}">
                <a16:creationId xmlns:a16="http://schemas.microsoft.com/office/drawing/2014/main" id="{A8A9BF9D-4EAC-4D92-81F3-0DF1EE6D47BA}"/>
              </a:ext>
            </a:extLst>
          </p:cNvPr>
          <p:cNvSpPr>
            <a:spLocks xmlns:a="http://schemas.openxmlformats.org/drawingml/2006/main" noGrp="1"/>
          </p:cNvSpPr>
          <p:nvPr/>
        </p:nvSpPr>
        <p:spPr>
          <a:xfrm xmlns:a="http://schemas.openxmlformats.org/drawingml/2006/main">
            <a:off x="685800" y="1901952"/>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Implement typed, validated configuration with pydantic-settings</a:t>
            </a:r>
            <a:endParaRPr sz="1100"/>
          </a:p>
        </p:txBody>
      </p:sp>
      <p:sp>
        <p:nvSpPr>
          <p:cNvPr id="13" name="Shape 10">
            <a:extLst xmlns:a="http://schemas.openxmlformats.org/drawingml/2006/main">
              <a:ext uri="{FF2B5EF4-FFF2-40B4-BE49-F238E27FC236}">
                <a16:creationId xmlns:a16="http://schemas.microsoft.com/office/drawing/2014/main" id="{51671E79-E350-495F-9683-D6DAEE5E2D7C}"/>
              </a:ext>
            </a:extLst>
          </p:cNvPr>
          <p:cNvSpPr>
            <a:spLocks xmlns:a="http://schemas.openxmlformats.org/drawingml/2006/main" noGrp="1"/>
          </p:cNvSpPr>
          <p:nvPr/>
        </p:nvSpPr>
        <p:spPr>
          <a:xfrm xmlns:a="http://schemas.openxmlformats.org/drawingml/2006/main">
            <a:off x="6231636" y="1481328"/>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14" name="Shape 11">
            <a:extLst xmlns:a="http://schemas.openxmlformats.org/drawingml/2006/main">
              <a:ext uri="{FF2B5EF4-FFF2-40B4-BE49-F238E27FC236}">
                <a16:creationId xmlns:a16="http://schemas.microsoft.com/office/drawing/2014/main" id="{49851DCD-F29A-401C-B3B5-9C4E538CFE4B}"/>
              </a:ext>
            </a:extLst>
          </p:cNvPr>
          <p:cNvSpPr>
            <a:spLocks xmlns:a="http://schemas.openxmlformats.org/drawingml/2006/main" noGrp="1"/>
          </p:cNvSpPr>
          <p:nvPr/>
        </p:nvSpPr>
        <p:spPr>
          <a:xfrm xmlns:a="http://schemas.openxmlformats.org/drawingml/2006/main">
            <a:off x="6231636" y="1481328"/>
            <a:ext cx="64008" cy="1417320"/>
          </a:xfrm>
          <a:prstGeom xmlns:a="http://schemas.openxmlformats.org/drawingml/2006/main" prst="rect">
            <a:avLst/>
          </a:prstGeom>
          <a:solidFill xmlns:a="http://schemas.openxmlformats.org/drawingml/2006/main">
            <a:srgbClr val="29ABE2"/>
          </a:solidFill>
        </p:spPr>
      </p:sp>
      <p:sp>
        <p:nvSpPr>
          <p:cNvPr id="15" name="Text 12">
            <a:extLst xmlns:a="http://schemas.openxmlformats.org/drawingml/2006/main">
              <a:ext uri="{FF2B5EF4-FFF2-40B4-BE49-F238E27FC236}">
                <a16:creationId xmlns:a16="http://schemas.microsoft.com/office/drawing/2014/main" id="{3DDB9D28-18E7-41CB-8664-DDED2AF00A82}"/>
              </a:ext>
            </a:extLst>
          </p:cNvPr>
          <p:cNvSpPr>
            <a:spLocks xmlns:a="http://schemas.openxmlformats.org/drawingml/2006/main" noGrp="1"/>
          </p:cNvSpPr>
          <p:nvPr/>
        </p:nvSpPr>
        <p:spPr>
          <a:xfrm xmlns:a="http://schemas.openxmlformats.org/drawingml/2006/main">
            <a:off x="6414516" y="1609344"/>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6.2</a:t>
            </a:r>
            <a:endParaRPr sz="1200"/>
          </a:p>
        </p:txBody>
      </p:sp>
      <p:sp>
        <p:nvSpPr>
          <p:cNvPr id="16" name="Text 13">
            <a:extLst xmlns:a="http://schemas.openxmlformats.org/drawingml/2006/main">
              <a:ext uri="{FF2B5EF4-FFF2-40B4-BE49-F238E27FC236}">
                <a16:creationId xmlns:a16="http://schemas.microsoft.com/office/drawing/2014/main" id="{98CD5DD5-5B48-4E34-8E21-B57DF117D72D}"/>
              </a:ext>
            </a:extLst>
          </p:cNvPr>
          <p:cNvSpPr>
            <a:spLocks xmlns:a="http://schemas.openxmlformats.org/drawingml/2006/main" noGrp="1"/>
          </p:cNvSpPr>
          <p:nvPr/>
        </p:nvSpPr>
        <p:spPr>
          <a:xfrm xmlns:a="http://schemas.openxmlformats.org/drawingml/2006/main">
            <a:off x="10725912" y="1609344"/>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LO5·2</a:t>
            </a:r>
            <a:endParaRPr sz="850"/>
          </a:p>
        </p:txBody>
      </p:sp>
      <p:sp>
        <p:nvSpPr>
          <p:cNvPr id="17" name="Text 14">
            <a:extLst xmlns:a="http://schemas.openxmlformats.org/drawingml/2006/main">
              <a:ext uri="{FF2B5EF4-FFF2-40B4-BE49-F238E27FC236}">
                <a16:creationId xmlns:a16="http://schemas.microsoft.com/office/drawing/2014/main" id="{36959E9A-83C6-4E1B-A801-2BB18010834F}"/>
              </a:ext>
            </a:extLst>
          </p:cNvPr>
          <p:cNvSpPr>
            <a:spLocks xmlns:a="http://schemas.openxmlformats.org/drawingml/2006/main" noGrp="1"/>
          </p:cNvSpPr>
          <p:nvPr/>
        </p:nvSpPr>
        <p:spPr>
          <a:xfrm xmlns:a="http://schemas.openxmlformats.org/drawingml/2006/main">
            <a:off x="6414516" y="1901952"/>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Layer config (defaults &lt; file &lt; env) and keep one image across environments</a:t>
            </a:r>
            <a:endParaRPr sz="1100"/>
          </a:p>
        </p:txBody>
      </p:sp>
      <p:sp>
        <p:nvSpPr>
          <p:cNvPr id="18" name="Shape 15">
            <a:extLst xmlns:a="http://schemas.openxmlformats.org/drawingml/2006/main">
              <a:ext uri="{FF2B5EF4-FFF2-40B4-BE49-F238E27FC236}">
                <a16:creationId xmlns:a16="http://schemas.microsoft.com/office/drawing/2014/main" id="{D4B6A6CD-FE38-4B0B-8DDF-5FFC5C8BBE19}"/>
              </a:ext>
            </a:extLst>
          </p:cNvPr>
          <p:cNvSpPr>
            <a:spLocks xmlns:a="http://schemas.openxmlformats.org/drawingml/2006/main" noGrp="1"/>
          </p:cNvSpPr>
          <p:nvPr/>
        </p:nvSpPr>
        <p:spPr>
          <a:xfrm xmlns:a="http://schemas.openxmlformats.org/drawingml/2006/main">
            <a:off x="502920" y="3099816"/>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19" name="Shape 16">
            <a:extLst xmlns:a="http://schemas.openxmlformats.org/drawingml/2006/main">
              <a:ext uri="{FF2B5EF4-FFF2-40B4-BE49-F238E27FC236}">
                <a16:creationId xmlns:a16="http://schemas.microsoft.com/office/drawing/2014/main" id="{28FE7973-BF76-4FCD-927E-D0B701024E25}"/>
              </a:ext>
            </a:extLst>
          </p:cNvPr>
          <p:cNvSpPr>
            <a:spLocks xmlns:a="http://schemas.openxmlformats.org/drawingml/2006/main" noGrp="1"/>
          </p:cNvSpPr>
          <p:nvPr/>
        </p:nvSpPr>
        <p:spPr>
          <a:xfrm xmlns:a="http://schemas.openxmlformats.org/drawingml/2006/main">
            <a:off x="502920" y="3099816"/>
            <a:ext cx="64008" cy="1417320"/>
          </a:xfrm>
          <a:prstGeom xmlns:a="http://schemas.openxmlformats.org/drawingml/2006/main" prst="rect">
            <a:avLst/>
          </a:prstGeom>
          <a:solidFill xmlns:a="http://schemas.openxmlformats.org/drawingml/2006/main">
            <a:srgbClr val="F58220"/>
          </a:solidFill>
        </p:spPr>
      </p:sp>
      <p:sp>
        <p:nvSpPr>
          <p:cNvPr id="20" name="Text 17">
            <a:extLst xmlns:a="http://schemas.openxmlformats.org/drawingml/2006/main">
              <a:ext uri="{FF2B5EF4-FFF2-40B4-BE49-F238E27FC236}">
                <a16:creationId xmlns:a16="http://schemas.microsoft.com/office/drawing/2014/main" id="{45657CD9-0577-40E5-9B39-5A3698781780}"/>
              </a:ext>
            </a:extLst>
          </p:cNvPr>
          <p:cNvSpPr>
            <a:spLocks xmlns:a="http://schemas.openxmlformats.org/drawingml/2006/main" noGrp="1"/>
          </p:cNvSpPr>
          <p:nvPr/>
        </p:nvSpPr>
        <p:spPr>
          <a:xfrm xmlns:a="http://schemas.openxmlformats.org/drawingml/2006/main">
            <a:off x="685800" y="3227832"/>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6.3</a:t>
            </a:r>
            <a:endParaRPr sz="1200"/>
          </a:p>
        </p:txBody>
      </p:sp>
      <p:sp>
        <p:nvSpPr>
          <p:cNvPr id="21" name="Text 18">
            <a:extLst xmlns:a="http://schemas.openxmlformats.org/drawingml/2006/main">
              <a:ext uri="{FF2B5EF4-FFF2-40B4-BE49-F238E27FC236}">
                <a16:creationId xmlns:a16="http://schemas.microsoft.com/office/drawing/2014/main" id="{26E61441-8814-4C2F-9F6C-D582670F9A7B}"/>
              </a:ext>
            </a:extLst>
          </p:cNvPr>
          <p:cNvSpPr>
            <a:spLocks xmlns:a="http://schemas.openxmlformats.org/drawingml/2006/main" noGrp="1"/>
          </p:cNvSpPr>
          <p:nvPr/>
        </p:nvSpPr>
        <p:spPr>
          <a:xfrm xmlns:a="http://schemas.openxmlformats.org/drawingml/2006/main">
            <a:off x="4997196" y="3227832"/>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LO5·6</a:t>
            </a:r>
            <a:endParaRPr sz="850"/>
          </a:p>
        </p:txBody>
      </p:sp>
      <p:sp>
        <p:nvSpPr>
          <p:cNvPr id="22" name="Text 19">
            <a:extLst xmlns:a="http://schemas.openxmlformats.org/drawingml/2006/main">
              <a:ext uri="{FF2B5EF4-FFF2-40B4-BE49-F238E27FC236}">
                <a16:creationId xmlns:a16="http://schemas.microsoft.com/office/drawing/2014/main" id="{8B337056-3B34-45F1-B1CE-8BB3971CFA5B}"/>
              </a:ext>
            </a:extLst>
          </p:cNvPr>
          <p:cNvSpPr>
            <a:spLocks xmlns:a="http://schemas.openxmlformats.org/drawingml/2006/main" noGrp="1"/>
          </p:cNvSpPr>
          <p:nvPr/>
        </p:nvSpPr>
        <p:spPr>
          <a:xfrm xmlns:a="http://schemas.openxmlformats.org/drawingml/2006/main">
            <a:off x="685800" y="3520440"/>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Keep secrets out of git, images, and logs; scan and respond to leaks</a:t>
            </a:r>
            <a:endParaRPr sz="1100"/>
          </a:p>
        </p:txBody>
      </p:sp>
      <p:sp>
        <p:nvSpPr>
          <p:cNvPr id="23" name="Shape 20">
            <a:extLst xmlns:a="http://schemas.openxmlformats.org/drawingml/2006/main">
              <a:ext uri="{FF2B5EF4-FFF2-40B4-BE49-F238E27FC236}">
                <a16:creationId xmlns:a16="http://schemas.microsoft.com/office/drawing/2014/main" id="{DED69A7F-431A-4D69-B7BA-69B29DC2FD1D}"/>
              </a:ext>
            </a:extLst>
          </p:cNvPr>
          <p:cNvSpPr>
            <a:spLocks xmlns:a="http://schemas.openxmlformats.org/drawingml/2006/main" noGrp="1"/>
          </p:cNvSpPr>
          <p:nvPr/>
        </p:nvSpPr>
        <p:spPr>
          <a:xfrm xmlns:a="http://schemas.openxmlformats.org/drawingml/2006/main">
            <a:off x="6231636" y="3099816"/>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24" name="Shape 21">
            <a:extLst xmlns:a="http://schemas.openxmlformats.org/drawingml/2006/main">
              <a:ext uri="{FF2B5EF4-FFF2-40B4-BE49-F238E27FC236}">
                <a16:creationId xmlns:a16="http://schemas.microsoft.com/office/drawing/2014/main" id="{53F2AC8B-E37A-4F3E-88DE-29652D1AD7DA}"/>
              </a:ext>
            </a:extLst>
          </p:cNvPr>
          <p:cNvSpPr>
            <a:spLocks xmlns:a="http://schemas.openxmlformats.org/drawingml/2006/main" noGrp="1"/>
          </p:cNvSpPr>
          <p:nvPr/>
        </p:nvSpPr>
        <p:spPr>
          <a:xfrm xmlns:a="http://schemas.openxmlformats.org/drawingml/2006/main">
            <a:off x="6231636" y="3099816"/>
            <a:ext cx="64008" cy="1417320"/>
          </a:xfrm>
          <a:prstGeom xmlns:a="http://schemas.openxmlformats.org/drawingml/2006/main" prst="rect">
            <a:avLst/>
          </a:prstGeom>
          <a:solidFill xmlns:a="http://schemas.openxmlformats.org/drawingml/2006/main">
            <a:srgbClr val="8DC63F"/>
          </a:solidFill>
        </p:spPr>
      </p:sp>
      <p:sp>
        <p:nvSpPr>
          <p:cNvPr id="25" name="Text 22">
            <a:extLst xmlns:a="http://schemas.openxmlformats.org/drawingml/2006/main">
              <a:ext uri="{FF2B5EF4-FFF2-40B4-BE49-F238E27FC236}">
                <a16:creationId xmlns:a16="http://schemas.microsoft.com/office/drawing/2014/main" id="{B5D31944-6786-40F4-8843-E5A8809F6C77}"/>
              </a:ext>
            </a:extLst>
          </p:cNvPr>
          <p:cNvSpPr>
            <a:spLocks xmlns:a="http://schemas.openxmlformats.org/drawingml/2006/main" noGrp="1"/>
          </p:cNvSpPr>
          <p:nvPr/>
        </p:nvSpPr>
        <p:spPr>
          <a:xfrm xmlns:a="http://schemas.openxmlformats.org/drawingml/2006/main">
            <a:off x="6414516" y="3227832"/>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6.4</a:t>
            </a:r>
            <a:endParaRPr sz="1200"/>
          </a:p>
        </p:txBody>
      </p:sp>
      <p:sp>
        <p:nvSpPr>
          <p:cNvPr id="26" name="Text 23">
            <a:extLst xmlns:a="http://schemas.openxmlformats.org/drawingml/2006/main">
              <a:ext uri="{FF2B5EF4-FFF2-40B4-BE49-F238E27FC236}">
                <a16:creationId xmlns:a16="http://schemas.microsoft.com/office/drawing/2014/main" id="{F757D6A7-2FD9-4048-858C-3B79F9E8A984}"/>
              </a:ext>
            </a:extLst>
          </p:cNvPr>
          <p:cNvSpPr>
            <a:spLocks xmlns:a="http://schemas.openxmlformats.org/drawingml/2006/main" noGrp="1"/>
          </p:cNvSpPr>
          <p:nvPr/>
        </p:nvSpPr>
        <p:spPr>
          <a:xfrm xmlns:a="http://schemas.openxmlformats.org/drawingml/2006/main">
            <a:off x="10725912" y="3227832"/>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LO5·1</a:t>
            </a:r>
            <a:endParaRPr sz="850"/>
          </a:p>
        </p:txBody>
      </p:sp>
      <p:sp>
        <p:nvSpPr>
          <p:cNvPr id="27" name="Text 24">
            <a:extLst xmlns:a="http://schemas.openxmlformats.org/drawingml/2006/main">
              <a:ext uri="{FF2B5EF4-FFF2-40B4-BE49-F238E27FC236}">
                <a16:creationId xmlns:a16="http://schemas.microsoft.com/office/drawing/2014/main" id="{A7FCECB7-0EA0-4EA0-99A3-DDA5FCE7DCDE}"/>
              </a:ext>
            </a:extLst>
          </p:cNvPr>
          <p:cNvSpPr>
            <a:spLocks xmlns:a="http://schemas.openxmlformats.org/drawingml/2006/main" noGrp="1"/>
          </p:cNvSpPr>
          <p:nvPr/>
        </p:nvSpPr>
        <p:spPr>
          <a:xfrm xmlns:a="http://schemas.openxmlformats.org/drawingml/2006/main">
            <a:off x="6414516" y="3520440"/>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Emit structured JSON logs with trace_id and model_version correlation</a:t>
            </a:r>
            <a:endParaRPr sz="1100"/>
          </a:p>
        </p:txBody>
      </p:sp>
      <p:sp>
        <p:nvSpPr>
          <p:cNvPr id="28" name="Shape 25">
            <a:extLst xmlns:a="http://schemas.openxmlformats.org/drawingml/2006/main">
              <a:ext uri="{FF2B5EF4-FFF2-40B4-BE49-F238E27FC236}">
                <a16:creationId xmlns:a16="http://schemas.microsoft.com/office/drawing/2014/main" id="{0713C8FF-C02B-48E2-82A0-199C2867B527}"/>
              </a:ext>
            </a:extLst>
          </p:cNvPr>
          <p:cNvSpPr>
            <a:spLocks xmlns:a="http://schemas.openxmlformats.org/drawingml/2006/main" noGrp="1"/>
          </p:cNvSpPr>
          <p:nvPr/>
        </p:nvSpPr>
        <p:spPr>
          <a:xfrm xmlns:a="http://schemas.openxmlformats.org/drawingml/2006/main">
            <a:off x="502920" y="4718304"/>
            <a:ext cx="5454396" cy="1417320"/>
          </a:xfrm>
          <a:prstGeom xmlns:a="http://schemas.openxmlformats.org/drawingml/2006/main" prst="roundRect">
            <a:avLst>
              <a:gd name="adj" fmla="val 3871"/>
            </a:avLst>
          </a:prstGeom>
          <a:solidFill xmlns:a="http://schemas.openxmlformats.org/drawingml/2006/main">
            <a:srgbClr val="EEF3FB"/>
          </a:solidFill>
          <a:ln xmlns:a="http://schemas.openxmlformats.org/drawingml/2006/main" w="9525">
            <a:solidFill>
              <a:srgbClr val="D9E4F5"/>
            </a:solidFill>
            <a:prstDash val="solid"/>
          </a:ln>
        </p:spPr>
      </p:sp>
      <p:sp>
        <p:nvSpPr>
          <p:cNvPr id="29" name="Shape 26">
            <a:extLst xmlns:a="http://schemas.openxmlformats.org/drawingml/2006/main">
              <a:ext uri="{FF2B5EF4-FFF2-40B4-BE49-F238E27FC236}">
                <a16:creationId xmlns:a16="http://schemas.microsoft.com/office/drawing/2014/main" id="{06376233-ACC9-4965-B829-F84C68F10466}"/>
              </a:ext>
            </a:extLst>
          </p:cNvPr>
          <p:cNvSpPr>
            <a:spLocks xmlns:a="http://schemas.openxmlformats.org/drawingml/2006/main" noGrp="1"/>
          </p:cNvSpPr>
          <p:nvPr/>
        </p:nvSpPr>
        <p:spPr>
          <a:xfrm xmlns:a="http://schemas.openxmlformats.org/drawingml/2006/main">
            <a:off x="502920" y="4718304"/>
            <a:ext cx="64008" cy="1417320"/>
          </a:xfrm>
          <a:prstGeom xmlns:a="http://schemas.openxmlformats.org/drawingml/2006/main" prst="rect">
            <a:avLst/>
          </a:prstGeom>
          <a:solidFill xmlns:a="http://schemas.openxmlformats.org/drawingml/2006/main">
            <a:srgbClr val="E8503A"/>
          </a:solidFill>
        </p:spPr>
      </p:sp>
      <p:sp>
        <p:nvSpPr>
          <p:cNvPr id="30" name="Text 27">
            <a:extLst xmlns:a="http://schemas.openxmlformats.org/drawingml/2006/main">
              <a:ext uri="{FF2B5EF4-FFF2-40B4-BE49-F238E27FC236}">
                <a16:creationId xmlns:a16="http://schemas.microsoft.com/office/drawing/2014/main" id="{3E8D1E87-19AD-4DE1-B45F-0B04FA095955}"/>
              </a:ext>
            </a:extLst>
          </p:cNvPr>
          <p:cNvSpPr>
            <a:spLocks xmlns:a="http://schemas.openxmlformats.org/drawingml/2006/main" noGrp="1"/>
          </p:cNvSpPr>
          <p:nvPr/>
        </p:nvSpPr>
        <p:spPr>
          <a:xfrm xmlns:a="http://schemas.openxmlformats.org/drawingml/2006/main">
            <a:off x="685800" y="4846320"/>
            <a:ext cx="822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79D"/>
                </a:solidFill>
                <a:latin typeface="Calibri"/>
                <a:ea typeface="Calibri"/>
                <a:cs typeface="Calibri"/>
              </a:rPr>
              <a:t>6.5</a:t>
            </a:r>
            <a:endParaRPr sz="1200"/>
          </a:p>
        </p:txBody>
      </p:sp>
      <p:sp>
        <p:nvSpPr>
          <p:cNvPr id="31" name="Text 28">
            <a:extLst xmlns:a="http://schemas.openxmlformats.org/drawingml/2006/main">
              <a:ext uri="{FF2B5EF4-FFF2-40B4-BE49-F238E27FC236}">
                <a16:creationId xmlns:a16="http://schemas.microsoft.com/office/drawing/2014/main" id="{4E7D54E6-3D68-4297-965C-D4CC0F855AE2}"/>
              </a:ext>
            </a:extLst>
          </p:cNvPr>
          <p:cNvSpPr>
            <a:spLocks xmlns:a="http://schemas.openxmlformats.org/drawingml/2006/main" noGrp="1"/>
          </p:cNvSpPr>
          <p:nvPr/>
        </p:nvSpPr>
        <p:spPr>
          <a:xfrm xmlns:a="http://schemas.openxmlformats.org/drawingml/2006/main">
            <a:off x="4997196" y="4846320"/>
            <a:ext cx="777240" cy="237744"/>
          </a:xfrm>
          <a:prstGeom xmlns:a="http://schemas.openxmlformats.org/drawingml/2006/main" prst="roundRect">
            <a:avLst>
              <a:gd name="adj" fmla="val 2307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LO5·6</a:t>
            </a:r>
            <a:endParaRPr sz="850"/>
          </a:p>
        </p:txBody>
      </p:sp>
      <p:sp>
        <p:nvSpPr>
          <p:cNvPr id="32" name="Text 29">
            <a:extLst xmlns:a="http://schemas.openxmlformats.org/drawingml/2006/main">
              <a:ext uri="{FF2B5EF4-FFF2-40B4-BE49-F238E27FC236}">
                <a16:creationId xmlns:a16="http://schemas.microsoft.com/office/drawing/2014/main" id="{95AF8EF2-C69D-4E97-98F9-94E3A83568E6}"/>
              </a:ext>
            </a:extLst>
          </p:cNvPr>
          <p:cNvSpPr>
            <a:spLocks xmlns:a="http://schemas.openxmlformats.org/drawingml/2006/main" noGrp="1"/>
          </p:cNvSpPr>
          <p:nvPr/>
        </p:nvSpPr>
        <p:spPr>
          <a:xfrm xmlns:a="http://schemas.openxmlformats.org/drawingml/2006/main">
            <a:off x="685800" y="5138928"/>
            <a:ext cx="5088636" cy="8869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Decide what to log at which level — including what must never be logged</a:t>
            </a:r>
            <a:endParaRPr sz="1100"/>
          </a:p>
        </p:txBody>
      </p:sp>
      <p:sp>
        <p:nvSpPr>
          <p:cNvPr id="33" name="Text 30">
            <a:extLst xmlns:a="http://schemas.openxmlformats.org/drawingml/2006/main">
              <a:ext uri="{FF2B5EF4-FFF2-40B4-BE49-F238E27FC236}">
                <a16:creationId xmlns:a16="http://schemas.microsoft.com/office/drawing/2014/main" id="{0E59243E-C38F-4F0B-BD70-AD2DD64E7058}"/>
              </a:ext>
            </a:extLst>
          </p:cNvPr>
          <p:cNvSpPr>
            <a:spLocks xmlns:a="http://schemas.openxmlformats.org/drawingml/2006/main" noGrp="1"/>
          </p:cNvSpPr>
          <p:nvPr/>
        </p:nvSpPr>
        <p:spPr>
          <a:xfrm xmlns:a="http://schemas.openxmlformats.org/drawingml/2006/main">
            <a:off x="502920" y="6080760"/>
            <a:ext cx="11155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5F6B7A"/>
                </a:solidFill>
                <a:latin typeface="Calibri"/>
                <a:ea typeface="Calibri"/>
                <a:cs typeface="Calibri"/>
              </a:rPr>
              <a:t>Most real incidents are configuration incidents; a secret leak is a PDPL regulatory event. Discipline is the deliverable.</a:t>
            </a:r>
            <a:endParaRPr sz="1000"/>
          </a:p>
        </p:txBody>
      </p:sp>
    </p:spTree>
    <p:extLst>
      <p:ext uri="{BB962C8B-B14F-4D97-AF65-F5344CB8AC3E}">
        <p14:creationId xmlns:p14="http://schemas.microsoft.com/office/powerpoint/2010/main" val="1384746667"/>
      </p:ext>
    </p:extLst>
  </p:cSld>
</p:sld>
</file>

<file path=ppt/slides/slide12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23374DB-F30F-42DF-A913-F63CD64BFF4C}"/>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Configuration as a typed contract</a:t>
            </a:r>
            <a:endParaRPr sz="2600"/>
          </a:p>
        </p:txBody>
      </p:sp>
      <p:sp>
        <p:nvSpPr>
          <p:cNvPr id="3" name="Text 1">
            <a:extLst xmlns:a="http://schemas.openxmlformats.org/drawingml/2006/main">
              <a:ext uri="{FF2B5EF4-FFF2-40B4-BE49-F238E27FC236}">
                <a16:creationId xmlns:a16="http://schemas.microsoft.com/office/drawing/2014/main" id="{D2CD1188-E40A-44A6-B6A4-2129CC31276E}"/>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الإعداد كعقد نوعي</a:t>
            </a:r>
            <a:endParaRPr sz="1300"/>
          </a:p>
        </p:txBody>
      </p:sp>
      <p:pic>
        <p:nvPicPr>
          <p:cNvPr id="28" name="Image 0"/>
          <p:cNvPicPr>
            <a:picLocks xmlns:a="http://schemas.openxmlformats.org/drawingml/2006/main" noChangeAspect="1"/>
          </p:cNvPicPr>
          <p:nvPr/>
        </p:nvPicPr>
        <p:blipFill>
          <a:blip xmlns:r="http://schemas.openxmlformats.org/officeDocument/2006/relationships" xmlns:a="http://schemas.openxmlformats.org/drawingml/2006/main" r:embed="R00f8e7172cbb43a9"/>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CDD00822-FBBA-4AE4-BCCF-D272077D64F2}"/>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C70DD529-63F5-4EE0-A7A1-70E668324008}"/>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6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17911F07-3C33-4287-A838-DF7211C57435}"/>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128</a:t>
            </a:r>
            <a:endParaRPr sz="850"/>
          </a:p>
        </p:txBody>
      </p:sp>
      <p:sp>
        <p:nvSpPr>
          <p:cNvPr id="8" name="Text 5">
            <a:extLst xmlns:a="http://schemas.openxmlformats.org/drawingml/2006/main">
              <a:ext uri="{FF2B5EF4-FFF2-40B4-BE49-F238E27FC236}">
                <a16:creationId xmlns:a16="http://schemas.microsoft.com/office/drawing/2014/main" id="{29019706-67F4-48B6-AF85-169CC39FF97E}"/>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0D524C76-871A-4471-91B6-5228053DD71D}"/>
              </a:ext>
            </a:extLst>
          </p:cNvPr>
          <p:cNvSpPr>
            <a:spLocks xmlns:a="http://schemas.openxmlformats.org/drawingml/2006/main" noGrp="1"/>
          </p:cNvSpPr>
          <p:nvPr/>
        </p:nvSpPr>
        <p:spPr>
          <a:xfrm xmlns:a="http://schemas.openxmlformats.org/drawingml/2006/main">
            <a:off x="1005840" y="14996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Typed, validated, fail-fast</a:t>
            </a:r>
            <a:endParaRPr sz="1350"/>
          </a:p>
        </p:txBody>
      </p:sp>
      <p:sp>
        <p:nvSpPr>
          <p:cNvPr id="10" name="Text 7">
            <a:extLst xmlns:a="http://schemas.openxmlformats.org/drawingml/2006/main">
              <a:ext uri="{FF2B5EF4-FFF2-40B4-BE49-F238E27FC236}">
                <a16:creationId xmlns:a16="http://schemas.microsoft.com/office/drawing/2014/main" id="{3AC52CDE-F3CD-41FD-B602-CB9CE8FF690F}"/>
              </a:ext>
            </a:extLst>
          </p:cNvPr>
          <p:cNvSpPr>
            <a:spLocks xmlns:a="http://schemas.openxmlformats.org/drawingml/2006/main" noGrp="1"/>
          </p:cNvSpPr>
          <p:nvPr/>
        </p:nvSpPr>
        <p:spPr>
          <a:xfrm xmlns:a="http://schemas.openxmlformats.org/drawingml/2006/main">
            <a:off x="1005840" y="18013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Config errors deserve the same defence as bad API input. Settings() at startup returns a valid object or crashes with a field-by-field report — surfaced now, not as a 500 three hours later.</a:t>
            </a:r>
            <a:endParaRPr sz="1050"/>
          </a:p>
        </p:txBody>
      </p:sp>
      <p:sp>
        <p:nvSpPr>
          <p:cNvPr id="11" name="Text 8">
            <a:extLst xmlns:a="http://schemas.openxmlformats.org/drawingml/2006/main">
              <a:ext uri="{FF2B5EF4-FFF2-40B4-BE49-F238E27FC236}">
                <a16:creationId xmlns:a16="http://schemas.microsoft.com/office/drawing/2014/main" id="{5E42764C-63E1-4653-8E39-AC361575A5C8}"/>
              </a:ext>
            </a:extLst>
          </p:cNvPr>
          <p:cNvSpPr>
            <a:spLocks xmlns:a="http://schemas.openxmlformats.org/drawingml/2006/main" noGrp="1"/>
          </p:cNvSpPr>
          <p:nvPr/>
        </p:nvSpPr>
        <p:spPr>
          <a:xfrm xmlns:a="http://schemas.openxmlformats.org/drawingml/2006/main">
            <a:off x="502920" y="292608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F2083387-3DE4-44B4-ADB0-ACCA0ADA94EC}"/>
              </a:ext>
            </a:extLst>
          </p:cNvPr>
          <p:cNvSpPr>
            <a:spLocks xmlns:a="http://schemas.openxmlformats.org/drawingml/2006/main" noGrp="1"/>
          </p:cNvSpPr>
          <p:nvPr/>
        </p:nvSpPr>
        <p:spPr>
          <a:xfrm xmlns:a="http://schemas.openxmlformats.org/drawingml/2006/main">
            <a:off x="1005840" y="28712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One image, many environments</a:t>
            </a:r>
            <a:endParaRPr sz="1350"/>
          </a:p>
        </p:txBody>
      </p:sp>
      <p:sp>
        <p:nvSpPr>
          <p:cNvPr id="13" name="Text 10">
            <a:extLst xmlns:a="http://schemas.openxmlformats.org/drawingml/2006/main">
              <a:ext uri="{FF2B5EF4-FFF2-40B4-BE49-F238E27FC236}">
                <a16:creationId xmlns:a16="http://schemas.microsoft.com/office/drawing/2014/main" id="{52A36D62-39B5-4A81-8D0F-C917A6B5F620}"/>
              </a:ext>
            </a:extLst>
          </p:cNvPr>
          <p:cNvSpPr>
            <a:spLocks xmlns:a="http://schemas.openxmlformats.org/drawingml/2006/main" noGrp="1"/>
          </p:cNvSpPr>
          <p:nvPr/>
        </p:nvSpPr>
        <p:spPr>
          <a:xfrm xmlns:a="http://schemas.openxmlformats.org/drawingml/2006/main">
            <a:off x="1005840" y="31729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Precedence: defaults in code &lt; .env / file &lt; environment variables. Env wins because that is what dev / staging / prod vary. The image is promoted unchanged.</a:t>
            </a:r>
            <a:endParaRPr sz="1050"/>
          </a:p>
        </p:txBody>
      </p:sp>
      <p:sp>
        <p:nvSpPr>
          <p:cNvPr id="14" name="Text 11">
            <a:extLst xmlns:a="http://schemas.openxmlformats.org/drawingml/2006/main">
              <a:ext uri="{FF2B5EF4-FFF2-40B4-BE49-F238E27FC236}">
                <a16:creationId xmlns:a16="http://schemas.microsoft.com/office/drawing/2014/main" id="{64F27655-871D-42CB-AFFC-5774B9112CBA}"/>
              </a:ext>
            </a:extLst>
          </p:cNvPr>
          <p:cNvSpPr>
            <a:spLocks xmlns:a="http://schemas.openxmlformats.org/drawingml/2006/main" noGrp="1"/>
          </p:cNvSpPr>
          <p:nvPr/>
        </p:nvSpPr>
        <p:spPr>
          <a:xfrm xmlns:a="http://schemas.openxmlformats.org/drawingml/2006/main">
            <a:off x="502920" y="429768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7890C11C-0587-4DC9-89D9-FB12D65B0548}"/>
              </a:ext>
            </a:extLst>
          </p:cNvPr>
          <p:cNvSpPr>
            <a:spLocks xmlns:a="http://schemas.openxmlformats.org/drawingml/2006/main" noGrp="1"/>
          </p:cNvSpPr>
          <p:nvPr/>
        </p:nvSpPr>
        <p:spPr>
          <a:xfrm xmlns:a="http://schemas.openxmlformats.org/drawingml/2006/main">
            <a:off x="1005840" y="42428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Config vs code vs data</a:t>
            </a:r>
            <a:endParaRPr sz="1350"/>
          </a:p>
        </p:txBody>
      </p:sp>
      <p:sp>
        <p:nvSpPr>
          <p:cNvPr id="16" name="Text 13">
            <a:extLst xmlns:a="http://schemas.openxmlformats.org/drawingml/2006/main">
              <a:ext uri="{FF2B5EF4-FFF2-40B4-BE49-F238E27FC236}">
                <a16:creationId xmlns:a16="http://schemas.microsoft.com/office/drawing/2014/main" id="{859F09AA-7BE8-4CAF-ABCC-A93A4BFFFDD9}"/>
              </a:ext>
            </a:extLst>
          </p:cNvPr>
          <p:cNvSpPr>
            <a:spLocks xmlns:a="http://schemas.openxmlformats.org/drawingml/2006/main" noGrp="1"/>
          </p:cNvSpPr>
          <p:nvPr/>
        </p:nvSpPr>
        <p:spPr>
          <a:xfrm xmlns:a="http://schemas.openxmlformats.org/drawingml/2006/main">
            <a:off x="1005840" y="45445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Threshold: config (risk-owned, audited). Feature names: code (they version with the model). Model path: config. Teach the QUESTION, not just the answers.</a:t>
            </a:r>
            <a:endParaRPr sz="1050"/>
          </a:p>
        </p:txBody>
      </p:sp>
      <p:sp>
        <p:nvSpPr>
          <p:cNvPr id="17" name="Shape 14">
            <a:extLst xmlns:a="http://schemas.openxmlformats.org/drawingml/2006/main">
              <a:ext uri="{FF2B5EF4-FFF2-40B4-BE49-F238E27FC236}">
                <a16:creationId xmlns:a16="http://schemas.microsoft.com/office/drawing/2014/main" id="{807D0CAA-6302-4FF5-9F92-C677FE5A46BE}"/>
              </a:ext>
            </a:extLst>
          </p:cNvPr>
          <p:cNvSpPr>
            <a:spLocks xmlns:a="http://schemas.openxmlformats.org/drawingml/2006/main" noGrp="1"/>
          </p:cNvSpPr>
          <p:nvPr/>
        </p:nvSpPr>
        <p:spPr>
          <a:xfrm xmlns:a="http://schemas.openxmlformats.org/drawingml/2006/main">
            <a:off x="6355080" y="1481328"/>
            <a:ext cx="5330952" cy="4663440"/>
          </a:xfrm>
          <a:prstGeom xmlns:a="http://schemas.openxmlformats.org/drawingml/2006/main" prst="roundRect">
            <a:avLst>
              <a:gd name="adj" fmla="val 1373"/>
            </a:avLst>
          </a:prstGeom>
          <a:solidFill xmlns:a="http://schemas.openxmlformats.org/drawingml/2006/main">
            <a:srgbClr val="EEF3FB"/>
          </a:solidFill>
          <a:ln xmlns:a="http://schemas.openxmlformats.org/drawingml/2006/main" w="9525">
            <a:solidFill>
              <a:srgbClr val="D9E4F5"/>
            </a:solidFill>
            <a:prstDash val="solid"/>
          </a:ln>
        </p:spPr>
      </p:sp>
      <p:sp>
        <p:nvSpPr>
          <p:cNvPr id="18" name="Text 15">
            <a:extLst xmlns:a="http://schemas.openxmlformats.org/drawingml/2006/main">
              <a:ext uri="{FF2B5EF4-FFF2-40B4-BE49-F238E27FC236}">
                <a16:creationId xmlns:a16="http://schemas.microsoft.com/office/drawing/2014/main" id="{95A3EBCD-09BB-4EA3-B5CA-963A41B995F4}"/>
              </a:ext>
            </a:extLst>
          </p:cNvPr>
          <p:cNvSpPr>
            <a:spLocks xmlns:a="http://schemas.openxmlformats.org/drawingml/2006/main" noGrp="1"/>
          </p:cNvSpPr>
          <p:nvPr/>
        </p:nvSpPr>
        <p:spPr>
          <a:xfrm xmlns:a="http://schemas.openxmlformats.org/drawingml/2006/main">
            <a:off x="6556248" y="1645920"/>
            <a:ext cx="492861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D2A5C"/>
                </a:solidFill>
                <a:latin typeface="Calibri"/>
                <a:ea typeface="Calibri"/>
                <a:cs typeface="Calibri"/>
              </a:rPr>
              <a:t>One module only</a:t>
            </a:r>
            <a:endParaRPr sz="1300"/>
          </a:p>
        </p:txBody>
      </p:sp>
      <p:sp>
        <p:nvSpPr>
          <p:cNvPr id="19" name="Shape 16">
            <a:extLst xmlns:a="http://schemas.openxmlformats.org/drawingml/2006/main">
              <a:ext uri="{FF2B5EF4-FFF2-40B4-BE49-F238E27FC236}">
                <a16:creationId xmlns:a16="http://schemas.microsoft.com/office/drawing/2014/main" id="{0127B77A-D37F-4606-9244-2BF68048ADA4}"/>
              </a:ext>
            </a:extLst>
          </p:cNvPr>
          <p:cNvSpPr>
            <a:spLocks xmlns:a="http://schemas.openxmlformats.org/drawingml/2006/main" noGrp="1"/>
          </p:cNvSpPr>
          <p:nvPr/>
        </p:nvSpPr>
        <p:spPr>
          <a:xfrm xmlns:a="http://schemas.openxmlformats.org/drawingml/2006/main" rot="2700000">
            <a:off x="6556248" y="2130552"/>
            <a:ext cx="128016" cy="128016"/>
          </a:xfrm>
          <a:prstGeom xmlns:a="http://schemas.openxmlformats.org/drawingml/2006/main" prst="rect">
            <a:avLst/>
          </a:prstGeom>
          <a:solidFill xmlns:a="http://schemas.openxmlformats.org/drawingml/2006/main">
            <a:srgbClr val="00A79D"/>
          </a:solidFill>
        </p:spPr>
      </p:sp>
      <p:sp>
        <p:nvSpPr>
          <p:cNvPr id="20" name="Text 17">
            <a:extLst xmlns:a="http://schemas.openxmlformats.org/drawingml/2006/main">
              <a:ext uri="{FF2B5EF4-FFF2-40B4-BE49-F238E27FC236}">
                <a16:creationId xmlns:a16="http://schemas.microsoft.com/office/drawing/2014/main" id="{A66A4B96-782D-401C-B396-BE04D1762019}"/>
              </a:ext>
            </a:extLst>
          </p:cNvPr>
          <p:cNvSpPr>
            <a:spLocks xmlns:a="http://schemas.openxmlformats.org/drawingml/2006/main" noGrp="1"/>
          </p:cNvSpPr>
          <p:nvPr/>
        </p:nvSpPr>
        <p:spPr>
          <a:xfrm xmlns:a="http://schemas.openxmlformats.org/drawingml/2006/main">
            <a:off x="6812280" y="2039112"/>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No scattered os.environ</a:t>
            </a:r>
            <a:endParaRPr sz="1100"/>
          </a:p>
        </p:txBody>
      </p:sp>
      <p:sp>
        <p:nvSpPr>
          <p:cNvPr id="21" name="Text 18">
            <a:extLst xmlns:a="http://schemas.openxmlformats.org/drawingml/2006/main">
              <a:ext uri="{FF2B5EF4-FFF2-40B4-BE49-F238E27FC236}">
                <a16:creationId xmlns:a16="http://schemas.microsoft.com/office/drawing/2014/main" id="{E60A4F4D-27A3-4401-9591-A509C41F1CAE}"/>
              </a:ext>
            </a:extLst>
          </p:cNvPr>
          <p:cNvSpPr>
            <a:spLocks xmlns:a="http://schemas.openxmlformats.org/drawingml/2006/main" noGrp="1"/>
          </p:cNvSpPr>
          <p:nvPr/>
        </p:nvSpPr>
        <p:spPr>
          <a:xfrm xmlns:a="http://schemas.openxmlformats.org/drawingml/2006/main">
            <a:off x="6812280" y="2304288"/>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Sprinkled reads are unreviewable and untestable</a:t>
            </a:r>
            <a:endParaRPr sz="950"/>
          </a:p>
        </p:txBody>
      </p:sp>
      <p:sp>
        <p:nvSpPr>
          <p:cNvPr id="22" name="Shape 19">
            <a:extLst xmlns:a="http://schemas.openxmlformats.org/drawingml/2006/main">
              <a:ext uri="{FF2B5EF4-FFF2-40B4-BE49-F238E27FC236}">
                <a16:creationId xmlns:a16="http://schemas.microsoft.com/office/drawing/2014/main" id="{C5A4F966-6921-47E5-8A4D-F35D53432CB2}"/>
              </a:ext>
            </a:extLst>
          </p:cNvPr>
          <p:cNvSpPr>
            <a:spLocks xmlns:a="http://schemas.openxmlformats.org/drawingml/2006/main" noGrp="1"/>
          </p:cNvSpPr>
          <p:nvPr/>
        </p:nvSpPr>
        <p:spPr>
          <a:xfrm xmlns:a="http://schemas.openxmlformats.org/drawingml/2006/main" rot="2700000">
            <a:off x="6556248" y="4096512"/>
            <a:ext cx="128016" cy="128016"/>
          </a:xfrm>
          <a:prstGeom xmlns:a="http://schemas.openxmlformats.org/drawingml/2006/main" prst="rect">
            <a:avLst/>
          </a:prstGeom>
          <a:solidFill xmlns:a="http://schemas.openxmlformats.org/drawingml/2006/main">
            <a:srgbClr val="29ABE2"/>
          </a:solidFill>
        </p:spPr>
      </p:sp>
      <p:sp>
        <p:nvSpPr>
          <p:cNvPr id="23" name="Text 20">
            <a:extLst xmlns:a="http://schemas.openxmlformats.org/drawingml/2006/main">
              <a:ext uri="{FF2B5EF4-FFF2-40B4-BE49-F238E27FC236}">
                <a16:creationId xmlns:a16="http://schemas.microsoft.com/office/drawing/2014/main" id="{CFD81568-D752-45EA-9E6B-BB37C52A2C80}"/>
              </a:ext>
            </a:extLst>
          </p:cNvPr>
          <p:cNvSpPr>
            <a:spLocks xmlns:a="http://schemas.openxmlformats.org/drawingml/2006/main" noGrp="1"/>
          </p:cNvSpPr>
          <p:nvPr/>
        </p:nvSpPr>
        <p:spPr>
          <a:xfrm xmlns:a="http://schemas.openxmlformats.org/drawingml/2006/main">
            <a:off x="6812280" y="4005072"/>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Read at the composition root</a:t>
            </a:r>
            <a:endParaRPr sz="1100"/>
          </a:p>
        </p:txBody>
      </p:sp>
      <p:sp>
        <p:nvSpPr>
          <p:cNvPr id="24" name="Text 21">
            <a:extLst xmlns:a="http://schemas.openxmlformats.org/drawingml/2006/main">
              <a:ext uri="{FF2B5EF4-FFF2-40B4-BE49-F238E27FC236}">
                <a16:creationId xmlns:a16="http://schemas.microsoft.com/office/drawing/2014/main" id="{3192E280-0F4A-4512-8E21-591053C0CFB1}"/>
              </a:ext>
            </a:extLst>
          </p:cNvPr>
          <p:cNvSpPr>
            <a:spLocks xmlns:a="http://schemas.openxmlformats.org/drawingml/2006/main" noGrp="1"/>
          </p:cNvSpPr>
          <p:nvPr/>
        </p:nvSpPr>
        <p:spPr>
          <a:xfrm xmlns:a="http://schemas.openxmlformats.org/drawingml/2006/main">
            <a:off x="6812280" y="4270248"/>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Read once, then pass explicitly down the stack</a:t>
            </a:r>
            <a:endParaRPr sz="950"/>
          </a:p>
        </p:txBody>
      </p:sp>
    </p:spTree>
    <p:extLst>
      <p:ext uri="{BB962C8B-B14F-4D97-AF65-F5344CB8AC3E}">
        <p14:creationId xmlns:p14="http://schemas.microsoft.com/office/powerpoint/2010/main" val="2116083878"/>
      </p:ext>
    </p:extLst>
  </p:cSld>
</p:sld>
</file>

<file path=ppt/slides/slide12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1DF8C36-E9E5-4D7A-AC27-1D4D1D32C13C}"/>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config.py — typed settings, validated at startup</a:t>
            </a:r>
            <a:endParaRPr sz="2600"/>
          </a:p>
        </p:txBody>
      </p:sp>
      <p:sp>
        <p:nvSpPr>
          <p:cNvPr id="3" name="Text 1">
            <a:extLst xmlns:a="http://schemas.openxmlformats.org/drawingml/2006/main">
              <a:ext uri="{FF2B5EF4-FFF2-40B4-BE49-F238E27FC236}">
                <a16:creationId xmlns:a16="http://schemas.microsoft.com/office/drawing/2014/main" id="{3C2A3270-2B6F-44AD-993C-D076BFAF3096}"/>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config.py — إعدادات نوعية مُتحقق منها</a:t>
            </a:r>
            <a:endParaRPr sz="1300"/>
          </a:p>
        </p:txBody>
      </p:sp>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1ad4125cb87647e0"/>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680384DF-666D-4B09-B7BA-AAD3B9A02582}"/>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CB3B6A10-DE21-4F11-8D76-E600F7FF4994}"/>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6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36DC8333-B80E-492E-8D05-BC6BECEEEA01}"/>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129</a:t>
            </a:r>
            <a:endParaRPr sz="850"/>
          </a:p>
        </p:txBody>
      </p:sp>
      <p:sp>
        <p:nvSpPr>
          <p:cNvPr id="8" name="Shape 5">
            <a:extLst xmlns:a="http://schemas.openxmlformats.org/drawingml/2006/main">
              <a:ext uri="{FF2B5EF4-FFF2-40B4-BE49-F238E27FC236}">
                <a16:creationId xmlns:a16="http://schemas.microsoft.com/office/drawing/2014/main" id="{F47A68AD-D56B-42B2-896D-CD1F40601E82}"/>
              </a:ext>
            </a:extLst>
          </p:cNvPr>
          <p:cNvSpPr>
            <a:spLocks xmlns:a="http://schemas.openxmlformats.org/drawingml/2006/main" noGrp="1"/>
          </p:cNvSpPr>
          <p:nvPr/>
        </p:nvSpPr>
        <p:spPr>
          <a:xfrm xmlns:a="http://schemas.openxmlformats.org/drawingml/2006/main">
            <a:off x="502920" y="1481328"/>
            <a:ext cx="7635240" cy="4617720"/>
          </a:xfrm>
          <a:prstGeom xmlns:a="http://schemas.openxmlformats.org/drawingml/2006/main" prst="roundRect">
            <a:avLst>
              <a:gd name="adj" fmla="val 1584"/>
            </a:avLst>
          </a:prstGeom>
          <a:solidFill xmlns:a="http://schemas.openxmlformats.org/drawingml/2006/main">
            <a:srgbClr val="1A2233"/>
          </a:solidFill>
        </p:spPr>
      </p:sp>
      <p:sp>
        <p:nvSpPr>
          <p:cNvPr id="9" name="Shape 6">
            <a:extLst xmlns:a="http://schemas.openxmlformats.org/drawingml/2006/main">
              <a:ext uri="{FF2B5EF4-FFF2-40B4-BE49-F238E27FC236}">
                <a16:creationId xmlns:a16="http://schemas.microsoft.com/office/drawing/2014/main" id="{6E07B01E-6FF7-4DF3-BCC7-1C0A60CB8F0F}"/>
              </a:ext>
            </a:extLst>
          </p:cNvPr>
          <p:cNvSpPr>
            <a:spLocks xmlns:a="http://schemas.openxmlformats.org/drawingml/2006/main" noGrp="1"/>
          </p:cNvSpPr>
          <p:nvPr/>
        </p:nvSpPr>
        <p:spPr>
          <a:xfrm xmlns:a="http://schemas.openxmlformats.org/drawingml/2006/main">
            <a:off x="731520" y="1664208"/>
            <a:ext cx="109728" cy="109728"/>
          </a:xfrm>
          <a:prstGeom xmlns:a="http://schemas.openxmlformats.org/drawingml/2006/main" prst="ellipse">
            <a:avLst/>
          </a:prstGeom>
          <a:solidFill xmlns:a="http://schemas.openxmlformats.org/drawingml/2006/main">
            <a:srgbClr val="E8503A"/>
          </a:solidFill>
        </p:spPr>
      </p:sp>
      <p:sp>
        <p:nvSpPr>
          <p:cNvPr id="10" name="Shape 7">
            <a:extLst xmlns:a="http://schemas.openxmlformats.org/drawingml/2006/main">
              <a:ext uri="{FF2B5EF4-FFF2-40B4-BE49-F238E27FC236}">
                <a16:creationId xmlns:a16="http://schemas.microsoft.com/office/drawing/2014/main" id="{EE73CED0-D6C5-43A8-A723-165807E2DEE8}"/>
              </a:ext>
            </a:extLst>
          </p:cNvPr>
          <p:cNvSpPr>
            <a:spLocks xmlns:a="http://schemas.openxmlformats.org/drawingml/2006/main" noGrp="1"/>
          </p:cNvSpPr>
          <p:nvPr/>
        </p:nvSpPr>
        <p:spPr>
          <a:xfrm xmlns:a="http://schemas.openxmlformats.org/drawingml/2006/main">
            <a:off x="932688" y="1664208"/>
            <a:ext cx="109728" cy="109728"/>
          </a:xfrm>
          <a:prstGeom xmlns:a="http://schemas.openxmlformats.org/drawingml/2006/main" prst="ellipse">
            <a:avLst/>
          </a:prstGeom>
          <a:solidFill xmlns:a="http://schemas.openxmlformats.org/drawingml/2006/main">
            <a:srgbClr val="F5B820"/>
          </a:solidFill>
        </p:spPr>
      </p:sp>
      <p:sp>
        <p:nvSpPr>
          <p:cNvPr id="11" name="Shape 8">
            <a:extLst xmlns:a="http://schemas.openxmlformats.org/drawingml/2006/main">
              <a:ext uri="{FF2B5EF4-FFF2-40B4-BE49-F238E27FC236}">
                <a16:creationId xmlns:a16="http://schemas.microsoft.com/office/drawing/2014/main" id="{B0056D64-F6F7-4B42-9D37-012C7C1E5DDE}"/>
              </a:ext>
            </a:extLst>
          </p:cNvPr>
          <p:cNvSpPr>
            <a:spLocks xmlns:a="http://schemas.openxmlformats.org/drawingml/2006/main" noGrp="1"/>
          </p:cNvSpPr>
          <p:nvPr/>
        </p:nvSpPr>
        <p:spPr>
          <a:xfrm xmlns:a="http://schemas.openxmlformats.org/drawingml/2006/main">
            <a:off x="1133856" y="1664208"/>
            <a:ext cx="109728" cy="109728"/>
          </a:xfrm>
          <a:prstGeom xmlns:a="http://schemas.openxmlformats.org/drawingml/2006/main" prst="ellipse">
            <a:avLst/>
          </a:prstGeom>
          <a:solidFill xmlns:a="http://schemas.openxmlformats.org/drawingml/2006/main">
            <a:srgbClr val="8DC63F"/>
          </a:solidFill>
        </p:spPr>
      </p:sp>
      <p:sp>
        <p:nvSpPr>
          <p:cNvPr id="12" name="Text 9">
            <a:extLst xmlns:a="http://schemas.openxmlformats.org/drawingml/2006/main">
              <a:ext uri="{FF2B5EF4-FFF2-40B4-BE49-F238E27FC236}">
                <a16:creationId xmlns:a16="http://schemas.microsoft.com/office/drawing/2014/main" id="{36281DA8-FC27-493D-97C2-1F2ACFFD36C5}"/>
              </a:ext>
            </a:extLst>
          </p:cNvPr>
          <p:cNvSpPr>
            <a:spLocks xmlns:a="http://schemas.openxmlformats.org/drawingml/2006/main" noGrp="1"/>
          </p:cNvSpPr>
          <p:nvPr/>
        </p:nvSpPr>
        <p:spPr>
          <a:xfrm xmlns:a="http://schemas.openxmlformats.org/drawingml/2006/main">
            <a:off x="4526280" y="1609344"/>
            <a:ext cx="32918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6C8"/>
                </a:solidFill>
                <a:latin typeface="Consolas"/>
                <a:ea typeface="Consolas"/>
                <a:cs typeface="Consolas"/>
              </a:rPr>
              <a:t>src/fraud_service/config.py</a:t>
            </a:r>
            <a:endParaRPr sz="900"/>
          </a:p>
        </p:txBody>
      </p:sp>
      <p:sp>
        <p:nvSpPr>
          <p:cNvPr id="13" name="Text 10">
            <a:extLst xmlns:a="http://schemas.openxmlformats.org/drawingml/2006/main">
              <a:ext uri="{FF2B5EF4-FFF2-40B4-BE49-F238E27FC236}">
                <a16:creationId xmlns:a16="http://schemas.microsoft.com/office/drawing/2014/main" id="{38C93188-B8AB-4B93-8795-15C20B853CD8}"/>
              </a:ext>
            </a:extLst>
          </p:cNvPr>
          <p:cNvSpPr>
            <a:spLocks xmlns:a="http://schemas.openxmlformats.org/drawingml/2006/main" noGrp="1"/>
          </p:cNvSpPr>
          <p:nvPr/>
        </p:nvSpPr>
        <p:spPr>
          <a:xfrm xmlns:a="http://schemas.openxmlformats.org/drawingml/2006/main">
            <a:off x="713232" y="1965960"/>
            <a:ext cx="717804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000">
                <a:solidFill>
                  <a:srgbClr val="D9E4F5"/>
                </a:solidFill>
                <a:latin typeface="Consolas"/>
                <a:ea typeface="Consolas"/>
                <a:cs typeface="Consolas"/>
              </a:rPr>
              <a:t>class Settings(BaseSettings):</a:t>
            </a:r>
            <a:endParaRPr sz="1000"/>
          </a:p>
          <a:p xmlns:a="http://schemas.openxmlformats.org/drawingml/2006/main">
            <a:pPr marL="0" indent="0">
              <a:lnSpc>
                <a:spcPct val="112000"/>
              </a:lnSpc>
              <a:buNone/>
            </a:pPr>
            <a:r>
              <a:rPr sz="1000">
                <a:solidFill>
                  <a:srgbClr val="D9E4F5"/>
                </a:solidFill>
                <a:latin typeface="Consolas"/>
                <a:ea typeface="Consolas"/>
                <a:cs typeface="Consolas"/>
              </a:rPr>
              <a:t>    model_config = SettingsConfigDict(</a:t>
            </a:r>
            <a:endParaRPr sz="1000"/>
          </a:p>
          <a:p xmlns:a="http://schemas.openxmlformats.org/drawingml/2006/main">
            <a:pPr marL="0" indent="0">
              <a:lnSpc>
                <a:spcPct val="112000"/>
              </a:lnSpc>
              <a:buNone/>
            </a:pPr>
            <a:r>
              <a:rPr sz="1000">
                <a:solidFill>
                  <a:srgbClr val="D9E4F5"/>
                </a:solidFill>
                <a:latin typeface="Consolas"/>
                <a:ea typeface="Consolas"/>
                <a:cs typeface="Consolas"/>
              </a:rPr>
              <a:t>        env_prefix="FRAUD_",     # FRAUD_MODEL_PATH ...</a:t>
            </a:r>
            <a:endParaRPr sz="1000"/>
          </a:p>
          <a:p xmlns:a="http://schemas.openxmlformats.org/drawingml/2006/main">
            <a:pPr marL="0" indent="0">
              <a:lnSpc>
                <a:spcPct val="112000"/>
              </a:lnSpc>
              <a:buNone/>
            </a:pPr>
            <a:r>
              <a:rPr sz="1000">
                <a:solidFill>
                  <a:srgbClr val="D9E4F5"/>
                </a:solidFill>
                <a:latin typeface="Consolas"/>
                <a:ea typeface="Consolas"/>
                <a:cs typeface="Consolas"/>
              </a:rPr>
              <a:t>        env_file=".env",         # dev only; prod uses env</a:t>
            </a:r>
            <a:endParaRPr sz="1000"/>
          </a:p>
          <a:p xmlns:a="http://schemas.openxmlformats.org/drawingml/2006/main">
            <a:pPr marL="0" indent="0">
              <a:lnSpc>
                <a:spcPct val="112000"/>
              </a:lnSpc>
              <a:buNone/>
            </a:pPr>
            <a:r>
              <a:rPr sz="1000">
                <a:solidFill>
                  <a:srgbClr val="D9E4F5"/>
                </a:solidFill>
                <a:latin typeface="Consolas"/>
                <a:ea typeface="Consolas"/>
                <a:cs typeface="Consolas"/>
              </a:rPr>
              <a:t>        extra="forbid",          # unknown FRAUD_* = crash</a:t>
            </a:r>
            <a:endParaRPr sz="1000"/>
          </a:p>
          <a:p xmlns:a="http://schemas.openxmlformats.org/drawingml/2006/main">
            <a:pPr marL="0" indent="0">
              <a:lnSpc>
                <a:spcPct val="112000"/>
              </a:lnSpc>
              <a:buNone/>
            </a:pPr>
            <a:r>
              <a:rPr sz="1000">
                <a:solidFill>
                  <a:srgbClr val="D9E4F5"/>
                </a:solidFill>
                <a:latin typeface="Consolas"/>
                <a:ea typeface="Consolas"/>
                <a:cs typeface="Consolas"/>
              </a:rPr>
              <a:t>    )</a:t>
            </a:r>
            <a:endParaRPr sz="1000"/>
          </a:p>
          <a:p xmlns:a="http://schemas.openxmlformats.org/drawingml/2006/main">
            <a:pPr marL="0" indent="0">
              <a:lnSpc>
                <a:spcPct val="112000"/>
              </a:lnSpc>
              <a:buNone/>
            </a:pPr>
            <a:r>
              <a:rPr sz="1000">
                <a:solidFill>
                  <a:srgbClr val="D9E4F5"/>
                </a:solidFill>
                <a:latin typeface="Consolas"/>
                <a:ea typeface="Consolas"/>
                <a:cs typeface="Consolas"/>
              </a:rPr>
              <a:t>    model_path: Path = Field(description="joblib bundle")</a:t>
            </a:r>
            <a:endParaRPr sz="1000"/>
          </a:p>
          <a:p xmlns:a="http://schemas.openxmlformats.org/drawingml/2006/main">
            <a:pPr marL="0" indent="0">
              <a:lnSpc>
                <a:spcPct val="112000"/>
              </a:lnSpc>
              <a:buNone/>
            </a:pPr>
            <a:r>
              <a:rPr sz="1000">
                <a:solidFill>
                  <a:srgbClr val="D9E4F5"/>
                </a:solidFill>
                <a:latin typeface="Consolas"/>
                <a:ea typeface="Consolas"/>
                <a:cs typeface="Consolas"/>
              </a:rPr>
              <a:t>    block_threshold: float = Field(</a:t>
            </a:r>
            <a:endParaRPr sz="1000"/>
          </a:p>
          <a:p xmlns:a="http://schemas.openxmlformats.org/drawingml/2006/main">
            <a:pPr marL="0" indent="0">
              <a:lnSpc>
                <a:spcPct val="112000"/>
              </a:lnSpc>
              <a:buNone/>
            </a:pPr>
            <a:r>
              <a:rPr sz="1000">
                <a:solidFill>
                  <a:srgbClr val="D9E4F5"/>
                </a:solidFill>
                <a:latin typeface="Consolas"/>
                <a:ea typeface="Consolas"/>
                <a:cs typeface="Consolas"/>
              </a:rPr>
              <a:t>        0.85, ge=0.5, le=0.99,</a:t>
            </a:r>
            <a:endParaRPr sz="1000"/>
          </a:p>
          <a:p xmlns:a="http://schemas.openxmlformats.org/drawingml/2006/main">
            <a:pPr marL="0" indent="0">
              <a:lnSpc>
                <a:spcPct val="112000"/>
              </a:lnSpc>
              <a:buNone/>
            </a:pPr>
            <a:r>
              <a:rPr sz="1000">
                <a:solidFill>
                  <a:srgbClr val="D9E4F5"/>
                </a:solidFill>
                <a:latin typeface="Consolas"/>
                <a:ea typeface="Consolas"/>
                <a:cs typeface="Consolas"/>
              </a:rPr>
              <a:t>        description="Risk-approved block threshold")</a:t>
            </a:r>
            <a:endParaRPr sz="1000"/>
          </a:p>
          <a:p xmlns:a="http://schemas.openxmlformats.org/drawingml/2006/main">
            <a:pPr marL="0" indent="0">
              <a:lnSpc>
                <a:spcPct val="112000"/>
              </a:lnSpc>
              <a:buNone/>
            </a:pPr>
            <a:r>
              <a:rPr sz="1000">
                <a:solidFill>
                  <a:srgbClr val="D9E4F5"/>
                </a:solidFill>
                <a:latin typeface="Consolas"/>
                <a:ea typeface="Consolas"/>
                <a:cs typeface="Consolas"/>
              </a:rPr>
              <a:t>    log_level: str = Field("INFO")</a:t>
            </a:r>
            <a:endParaRPr sz="1000"/>
          </a:p>
          <a:p xmlns:a="http://schemas.openxmlformats.org/drawingml/2006/main">
            <a:pPr marL="0" indent="0">
              <a:lnSpc>
                <a:spcPct val="112000"/>
              </a:lnSpc>
              <a:buNone/>
            </a:pPr>
            <a:r>
              <a:rPr sz="1000">
                <a:solidFill>
                  <a:srgbClr val="D9E4F5"/>
                </a:solidFill>
                <a:latin typeface="Consolas"/>
                <a:ea typeface="Consolas"/>
                <a:cs typeface="Consolas"/>
              </a:rPr>
              <a:t>    git_sha: str = Field("dev")  # injected by CI</a:t>
            </a:r>
            <a:endParaRPr sz="1000"/>
          </a:p>
          <a:p xmlns:a="http://schemas.openxmlformats.org/drawingml/2006/main">
            <a:pPr marL="0" indent="0">
              <a:lnSpc>
                <a:spcPct val="112000"/>
              </a:lnSpc>
              <a:buNone/>
            </a:pPr>
            <a:r>
              <a:rPr sz="1000">
                <a:solidFill>
                  <a:srgbClr val="D9E4F5"/>
                </a:solidFill>
                <a:latin typeface="Consolas"/>
                <a:ea typeface="Consolas"/>
                <a:cs typeface="Consolas"/>
              </a:rPr>
              <a:t>    registry_token: SecretStr | None = Field(None)</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    @field_validator("model_path")</a:t>
            </a:r>
            <a:endParaRPr sz="1000"/>
          </a:p>
          <a:p xmlns:a="http://schemas.openxmlformats.org/drawingml/2006/main">
            <a:pPr marL="0" indent="0">
              <a:lnSpc>
                <a:spcPct val="112000"/>
              </a:lnSpc>
              <a:buNone/>
            </a:pPr>
            <a:r>
              <a:rPr sz="1000">
                <a:solidFill>
                  <a:srgbClr val="D9E4F5"/>
                </a:solidFill>
                <a:latin typeface="Consolas"/>
                <a:ea typeface="Consolas"/>
                <a:cs typeface="Consolas"/>
              </a:rPr>
              <a:t>    @classmethod</a:t>
            </a:r>
            <a:endParaRPr sz="1000"/>
          </a:p>
          <a:p xmlns:a="http://schemas.openxmlformats.org/drawingml/2006/main">
            <a:pPr marL="0" indent="0">
              <a:lnSpc>
                <a:spcPct val="112000"/>
              </a:lnSpc>
              <a:buNone/>
            </a:pPr>
            <a:r>
              <a:rPr sz="1000">
                <a:solidFill>
                  <a:srgbClr val="D9E4F5"/>
                </a:solidFill>
                <a:latin typeface="Consolas"/>
                <a:ea typeface="Consolas"/>
                <a:cs typeface="Consolas"/>
              </a:rPr>
              <a:t>    def model_file_must_exist(cls, v: Path) -&gt; Path:</a:t>
            </a:r>
            <a:endParaRPr sz="1000"/>
          </a:p>
          <a:p xmlns:a="http://schemas.openxmlformats.org/drawingml/2006/main">
            <a:pPr marL="0" indent="0">
              <a:lnSpc>
                <a:spcPct val="112000"/>
              </a:lnSpc>
              <a:buNone/>
            </a:pPr>
            <a:r>
              <a:rPr sz="1000">
                <a:solidFill>
                  <a:srgbClr val="D9E4F5"/>
                </a:solidFill>
                <a:latin typeface="Consolas"/>
                <a:ea typeface="Consolas"/>
                <a:cs typeface="Consolas"/>
              </a:rPr>
              <a:t>        if not v.exists():</a:t>
            </a:r>
            <a:endParaRPr sz="1000"/>
          </a:p>
          <a:p xmlns:a="http://schemas.openxmlformats.org/drawingml/2006/main">
            <a:pPr marL="0" indent="0">
              <a:lnSpc>
                <a:spcPct val="112000"/>
              </a:lnSpc>
              <a:buNone/>
            </a:pPr>
            <a:r>
              <a:rPr sz="1000">
                <a:solidFill>
                  <a:srgbClr val="D9E4F5"/>
                </a:solidFill>
                <a:latin typeface="Consolas"/>
                <a:ea typeface="Consolas"/>
                <a:cs typeface="Consolas"/>
              </a:rPr>
              <a:t>            raise ValueError(f"artefact not found: {v}")</a:t>
            </a:r>
            <a:endParaRPr sz="1000"/>
          </a:p>
        </p:txBody>
      </p:sp>
      <p:sp>
        <p:nvSpPr>
          <p:cNvPr id="14" name="Shape 11">
            <a:extLst xmlns:a="http://schemas.openxmlformats.org/drawingml/2006/main">
              <a:ext uri="{FF2B5EF4-FFF2-40B4-BE49-F238E27FC236}">
                <a16:creationId xmlns:a16="http://schemas.microsoft.com/office/drawing/2014/main" id="{630D617A-2391-4412-9017-BDE22D998FFA}"/>
              </a:ext>
            </a:extLst>
          </p:cNvPr>
          <p:cNvSpPr>
            <a:spLocks xmlns:a="http://schemas.openxmlformats.org/drawingml/2006/main" noGrp="1"/>
          </p:cNvSpPr>
          <p:nvPr/>
        </p:nvSpPr>
        <p:spPr>
          <a:xfrm xmlns:a="http://schemas.openxmlformats.org/drawingml/2006/main">
            <a:off x="8321040" y="1481328"/>
            <a:ext cx="3364992" cy="1017270"/>
          </a:xfrm>
          <a:prstGeom xmlns:a="http://schemas.openxmlformats.org/drawingml/2006/main" prst="roundRect">
            <a:avLst>
              <a:gd name="adj" fmla="val 5393"/>
            </a:avLst>
          </a:prstGeom>
          <a:solidFill xmlns:a="http://schemas.openxmlformats.org/drawingml/2006/main">
            <a:srgbClr val="D4F1EE"/>
          </a:solidFill>
        </p:spPr>
      </p:sp>
      <p:sp>
        <p:nvSpPr>
          <p:cNvPr id="15" name="Text 12">
            <a:extLst xmlns:a="http://schemas.openxmlformats.org/drawingml/2006/main">
              <a:ext uri="{FF2B5EF4-FFF2-40B4-BE49-F238E27FC236}">
                <a16:creationId xmlns:a16="http://schemas.microsoft.com/office/drawing/2014/main" id="{32BCCCC0-3F61-41A6-A85A-D16D3040BAC7}"/>
              </a:ext>
            </a:extLst>
          </p:cNvPr>
          <p:cNvSpPr>
            <a:spLocks xmlns:a="http://schemas.openxmlformats.org/drawingml/2006/main" noGrp="1"/>
          </p:cNvSpPr>
          <p:nvPr/>
        </p:nvSpPr>
        <p:spPr>
          <a:xfrm xmlns:a="http://schemas.openxmlformats.org/drawingml/2006/main">
            <a:off x="8485632" y="157276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env_prefix + forbid</a:t>
            </a:r>
            <a:endParaRPr sz="1050"/>
          </a:p>
        </p:txBody>
      </p:sp>
      <p:sp>
        <p:nvSpPr>
          <p:cNvPr id="16" name="Text 13">
            <a:extLst xmlns:a="http://schemas.openxmlformats.org/drawingml/2006/main">
              <a:ext uri="{FF2B5EF4-FFF2-40B4-BE49-F238E27FC236}">
                <a16:creationId xmlns:a16="http://schemas.microsoft.com/office/drawing/2014/main" id="{DB396985-B048-40C1-AD0B-7D9684F8A3B2}"/>
              </a:ext>
            </a:extLst>
          </p:cNvPr>
          <p:cNvSpPr>
            <a:spLocks xmlns:a="http://schemas.openxmlformats.org/drawingml/2006/main" noGrp="1"/>
          </p:cNvSpPr>
          <p:nvPr/>
        </p:nvSpPr>
        <p:spPr>
          <a:xfrm xmlns:a="http://schemas.openxmlformats.org/drawingml/2006/main">
            <a:off x="8485632" y="1847088"/>
            <a:ext cx="3063240" cy="5600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Every knob reads from FRAUD_*; extra="forbid" turns a typo into a startup crash, not a silent default.</a:t>
            </a:r>
            <a:endParaRPr sz="930"/>
          </a:p>
        </p:txBody>
      </p:sp>
      <p:sp>
        <p:nvSpPr>
          <p:cNvPr id="17" name="Shape 14">
            <a:extLst xmlns:a="http://schemas.openxmlformats.org/drawingml/2006/main">
              <a:ext uri="{FF2B5EF4-FFF2-40B4-BE49-F238E27FC236}">
                <a16:creationId xmlns:a16="http://schemas.microsoft.com/office/drawing/2014/main" id="{68013B3A-4306-43AE-A483-B08680CDD4F0}"/>
              </a:ext>
            </a:extLst>
          </p:cNvPr>
          <p:cNvSpPr>
            <a:spLocks xmlns:a="http://schemas.openxmlformats.org/drawingml/2006/main" noGrp="1"/>
          </p:cNvSpPr>
          <p:nvPr/>
        </p:nvSpPr>
        <p:spPr>
          <a:xfrm xmlns:a="http://schemas.openxmlformats.org/drawingml/2006/main">
            <a:off x="8321040" y="2635758"/>
            <a:ext cx="3364992" cy="1017270"/>
          </a:xfrm>
          <a:prstGeom xmlns:a="http://schemas.openxmlformats.org/drawingml/2006/main" prst="roundRect">
            <a:avLst>
              <a:gd name="adj" fmla="val 5393"/>
            </a:avLst>
          </a:prstGeom>
          <a:solidFill xmlns:a="http://schemas.openxmlformats.org/drawingml/2006/main">
            <a:srgbClr val="D9F0FA"/>
          </a:solidFill>
        </p:spPr>
      </p:sp>
      <p:sp>
        <p:nvSpPr>
          <p:cNvPr id="18" name="Text 15">
            <a:extLst xmlns:a="http://schemas.openxmlformats.org/drawingml/2006/main">
              <a:ext uri="{FF2B5EF4-FFF2-40B4-BE49-F238E27FC236}">
                <a16:creationId xmlns:a16="http://schemas.microsoft.com/office/drawing/2014/main" id="{DAC4FFFC-7B3A-4FD7-A8D6-E83A3977D9EE}"/>
              </a:ext>
            </a:extLst>
          </p:cNvPr>
          <p:cNvSpPr>
            <a:spLocks xmlns:a="http://schemas.openxmlformats.org/drawingml/2006/main" noGrp="1"/>
          </p:cNvSpPr>
          <p:nvPr/>
        </p:nvSpPr>
        <p:spPr>
          <a:xfrm xmlns:a="http://schemas.openxmlformats.org/drawingml/2006/main">
            <a:off x="8485632" y="272719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Typed + bounded</a:t>
            </a:r>
            <a:endParaRPr sz="1050"/>
          </a:p>
        </p:txBody>
      </p:sp>
      <p:sp>
        <p:nvSpPr>
          <p:cNvPr id="19" name="Text 16">
            <a:extLst xmlns:a="http://schemas.openxmlformats.org/drawingml/2006/main">
              <a:ext uri="{FF2B5EF4-FFF2-40B4-BE49-F238E27FC236}">
                <a16:creationId xmlns:a16="http://schemas.microsoft.com/office/drawing/2014/main" id="{9A90775D-CE89-4DDA-9D44-27BBEE3F8A6A}"/>
              </a:ext>
            </a:extLst>
          </p:cNvPr>
          <p:cNvSpPr>
            <a:spLocks xmlns:a="http://schemas.openxmlformats.org/drawingml/2006/main" noGrp="1"/>
          </p:cNvSpPr>
          <p:nvPr/>
        </p:nvSpPr>
        <p:spPr>
          <a:xfrm xmlns:a="http://schemas.openxmlformats.org/drawingml/2006/main">
            <a:off x="8485632" y="3001518"/>
            <a:ext cx="3063240" cy="5600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block_threshold is a float constrained to 0.5-0.99; an out-of-range value fails validation at startup.</a:t>
            </a:r>
            <a:endParaRPr sz="930"/>
          </a:p>
        </p:txBody>
      </p:sp>
      <p:sp>
        <p:nvSpPr>
          <p:cNvPr id="20" name="Shape 17">
            <a:extLst xmlns:a="http://schemas.openxmlformats.org/drawingml/2006/main">
              <a:ext uri="{FF2B5EF4-FFF2-40B4-BE49-F238E27FC236}">
                <a16:creationId xmlns:a16="http://schemas.microsoft.com/office/drawing/2014/main" id="{0704BC19-E80D-423E-BC4A-7848071ABCF8}"/>
              </a:ext>
            </a:extLst>
          </p:cNvPr>
          <p:cNvSpPr>
            <a:spLocks xmlns:a="http://schemas.openxmlformats.org/drawingml/2006/main" noGrp="1"/>
          </p:cNvSpPr>
          <p:nvPr/>
        </p:nvSpPr>
        <p:spPr>
          <a:xfrm xmlns:a="http://schemas.openxmlformats.org/drawingml/2006/main">
            <a:off x="8321040" y="3790188"/>
            <a:ext cx="3364992" cy="1017270"/>
          </a:xfrm>
          <a:prstGeom xmlns:a="http://schemas.openxmlformats.org/drawingml/2006/main" prst="roundRect">
            <a:avLst>
              <a:gd name="adj" fmla="val 5393"/>
            </a:avLst>
          </a:prstGeom>
          <a:solidFill xmlns:a="http://schemas.openxmlformats.org/drawingml/2006/main">
            <a:srgbClr val="FDEBD7"/>
          </a:solidFill>
        </p:spPr>
      </p:sp>
      <p:sp>
        <p:nvSpPr>
          <p:cNvPr id="21" name="Text 18">
            <a:extLst xmlns:a="http://schemas.openxmlformats.org/drawingml/2006/main">
              <a:ext uri="{FF2B5EF4-FFF2-40B4-BE49-F238E27FC236}">
                <a16:creationId xmlns:a16="http://schemas.microsoft.com/office/drawing/2014/main" id="{838D2F64-56D5-4C88-B007-50E68DF7D2A7}"/>
              </a:ext>
            </a:extLst>
          </p:cNvPr>
          <p:cNvSpPr>
            <a:spLocks xmlns:a="http://schemas.openxmlformats.org/drawingml/2006/main" noGrp="1"/>
          </p:cNvSpPr>
          <p:nvPr/>
        </p:nvSpPr>
        <p:spPr>
          <a:xfrm xmlns:a="http://schemas.openxmlformats.org/drawingml/2006/main">
            <a:off x="8485632" y="388162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SecretStr</a:t>
            </a:r>
            <a:endParaRPr sz="1050"/>
          </a:p>
        </p:txBody>
      </p:sp>
      <p:sp>
        <p:nvSpPr>
          <p:cNvPr id="22" name="Text 19">
            <a:extLst xmlns:a="http://schemas.openxmlformats.org/drawingml/2006/main">
              <a:ext uri="{FF2B5EF4-FFF2-40B4-BE49-F238E27FC236}">
                <a16:creationId xmlns:a16="http://schemas.microsoft.com/office/drawing/2014/main" id="{74D10A77-AF4F-4A10-AD6E-DAD395245C9C}"/>
              </a:ext>
            </a:extLst>
          </p:cNvPr>
          <p:cNvSpPr>
            <a:spLocks xmlns:a="http://schemas.openxmlformats.org/drawingml/2006/main" noGrp="1"/>
          </p:cNvSpPr>
          <p:nvPr/>
        </p:nvSpPr>
        <p:spPr>
          <a:xfrm xmlns:a="http://schemas.openxmlformats.org/drawingml/2006/main">
            <a:off x="8485632" y="4155948"/>
            <a:ext cx="3063240" cy="5600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registry_token is masked in reprs and prints; .get_secret_value() makes every intentional use grep-able.</a:t>
            </a:r>
            <a:endParaRPr sz="930"/>
          </a:p>
        </p:txBody>
      </p:sp>
      <p:sp>
        <p:nvSpPr>
          <p:cNvPr id="23" name="Shape 20">
            <a:extLst xmlns:a="http://schemas.openxmlformats.org/drawingml/2006/main">
              <a:ext uri="{FF2B5EF4-FFF2-40B4-BE49-F238E27FC236}">
                <a16:creationId xmlns:a16="http://schemas.microsoft.com/office/drawing/2014/main" id="{B47C90AD-0CD9-4FA1-B06B-D313B70C23FD}"/>
              </a:ext>
            </a:extLst>
          </p:cNvPr>
          <p:cNvSpPr>
            <a:spLocks xmlns:a="http://schemas.openxmlformats.org/drawingml/2006/main" noGrp="1"/>
          </p:cNvSpPr>
          <p:nvPr/>
        </p:nvSpPr>
        <p:spPr>
          <a:xfrm xmlns:a="http://schemas.openxmlformats.org/drawingml/2006/main">
            <a:off x="8321040" y="4944618"/>
            <a:ext cx="3364992" cy="1017270"/>
          </a:xfrm>
          <a:prstGeom xmlns:a="http://schemas.openxmlformats.org/drawingml/2006/main" prst="roundRect">
            <a:avLst>
              <a:gd name="adj" fmla="val 5393"/>
            </a:avLst>
          </a:prstGeom>
          <a:solidFill xmlns:a="http://schemas.openxmlformats.org/drawingml/2006/main">
            <a:srgbClr val="EAF4DC"/>
          </a:solidFill>
        </p:spPr>
      </p:sp>
      <p:sp>
        <p:nvSpPr>
          <p:cNvPr id="24" name="Text 21">
            <a:extLst xmlns:a="http://schemas.openxmlformats.org/drawingml/2006/main">
              <a:ext uri="{FF2B5EF4-FFF2-40B4-BE49-F238E27FC236}">
                <a16:creationId xmlns:a16="http://schemas.microsoft.com/office/drawing/2014/main" id="{E0F230B6-6D80-483F-9A51-12D8C6761541}"/>
              </a:ext>
            </a:extLst>
          </p:cNvPr>
          <p:cNvSpPr>
            <a:spLocks xmlns:a="http://schemas.openxmlformats.org/drawingml/2006/main" noGrp="1"/>
          </p:cNvSpPr>
          <p:nvPr/>
        </p:nvSpPr>
        <p:spPr>
          <a:xfrm xmlns:a="http://schemas.openxmlformats.org/drawingml/2006/main">
            <a:off x="8485632" y="503605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Fail fast</a:t>
            </a:r>
            <a:endParaRPr sz="1050"/>
          </a:p>
        </p:txBody>
      </p:sp>
      <p:sp>
        <p:nvSpPr>
          <p:cNvPr id="25" name="Text 22">
            <a:extLst xmlns:a="http://schemas.openxmlformats.org/drawingml/2006/main">
              <a:ext uri="{FF2B5EF4-FFF2-40B4-BE49-F238E27FC236}">
                <a16:creationId xmlns:a16="http://schemas.microsoft.com/office/drawing/2014/main" id="{945FD658-9192-4966-BD19-600C7D91BC83}"/>
              </a:ext>
            </a:extLst>
          </p:cNvPr>
          <p:cNvSpPr>
            <a:spLocks xmlns:a="http://schemas.openxmlformats.org/drawingml/2006/main" noGrp="1"/>
          </p:cNvSpPr>
          <p:nvPr/>
        </p:nvSpPr>
        <p:spPr>
          <a:xfrm xmlns:a="http://schemas.openxmlformats.org/drawingml/2006/main">
            <a:off x="8485632" y="5310378"/>
            <a:ext cx="3063240" cy="5600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model_file_must_exist validates at startup with an operator-readable message — not a 500 on first request.</a:t>
            </a:r>
            <a:endParaRPr sz="930"/>
          </a:p>
        </p:txBody>
      </p:sp>
    </p:spTree>
    <p:extLst>
      <p:ext uri="{BB962C8B-B14F-4D97-AF65-F5344CB8AC3E}">
        <p14:creationId xmlns:p14="http://schemas.microsoft.com/office/powerpoint/2010/main" val="1628817050"/>
      </p:ext>
    </p:extLst>
  </p:cSld>
</p:sld>
</file>

<file path=ppt/slides/slide13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700EA57-1E07-4D7D-BBF3-E61E46F43282}"/>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Configuration precedence ladder</a:t>
            </a:r>
            <a:endParaRPr sz="2600"/>
          </a:p>
        </p:txBody>
      </p:sp>
      <p:sp>
        <p:nvSpPr>
          <p:cNvPr id="3" name="Text 1">
            <a:extLst xmlns:a="http://schemas.openxmlformats.org/drawingml/2006/main">
              <a:ext uri="{FF2B5EF4-FFF2-40B4-BE49-F238E27FC236}">
                <a16:creationId xmlns:a16="http://schemas.microsoft.com/office/drawing/2014/main" id="{161FFB85-0681-4C66-9C66-025A40F4D2B9}"/>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سلّم أولوية الإعداد</a:t>
            </a:r>
            <a:endParaRPr sz="1300"/>
          </a:p>
        </p:txBody>
      </p:sp>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a86c1a483216433e"/>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EF798705-70DC-4D00-B3DC-18474B6A974C}"/>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00D6E3E1-F6FD-4869-8DEC-AE72BD5EADE0}"/>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6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FC9CB2F7-8FD6-4B12-BAA6-6BCA8A2B2623}"/>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130</a:t>
            </a:r>
            <a:endParaRPr sz="850"/>
          </a:p>
        </p:txBody>
      </p:sp>
      <p:sp>
        <p:nvSpPr>
          <p:cNvPr id="8" name="Shape 5">
            <a:extLst xmlns:a="http://schemas.openxmlformats.org/drawingml/2006/main">
              <a:ext uri="{FF2B5EF4-FFF2-40B4-BE49-F238E27FC236}">
                <a16:creationId xmlns:a16="http://schemas.microsoft.com/office/drawing/2014/main" id="{F20DDD9C-0398-4318-897F-E8C85B0A74EC}"/>
              </a:ext>
            </a:extLst>
          </p:cNvPr>
          <p:cNvSpPr>
            <a:spLocks xmlns:a="http://schemas.openxmlformats.org/drawingml/2006/main" noGrp="1"/>
          </p:cNvSpPr>
          <p:nvPr/>
        </p:nvSpPr>
        <p:spPr>
          <a:xfrm xmlns:a="http://schemas.openxmlformats.org/drawingml/2006/main">
            <a:off x="502920" y="1600200"/>
            <a:ext cx="6949440" cy="1033272"/>
          </a:xfrm>
          <a:prstGeom xmlns:a="http://schemas.openxmlformats.org/drawingml/2006/main" prst="roundRect">
            <a:avLst>
              <a:gd name="adj" fmla="val 5310"/>
            </a:avLst>
          </a:prstGeom>
          <a:solidFill xmlns:a="http://schemas.openxmlformats.org/drawingml/2006/main">
            <a:srgbClr val="D4F1EE"/>
          </a:solidFill>
          <a:ln xmlns:a="http://schemas.openxmlformats.org/drawingml/2006/main" w="15875">
            <a:solidFill>
              <a:srgbClr val="00A79D"/>
            </a:solidFill>
            <a:prstDash val="solid"/>
          </a:ln>
        </p:spPr>
      </p:sp>
      <p:sp>
        <p:nvSpPr>
          <p:cNvPr id="9" name="Text 6">
            <a:extLst xmlns:a="http://schemas.openxmlformats.org/drawingml/2006/main">
              <a:ext uri="{FF2B5EF4-FFF2-40B4-BE49-F238E27FC236}">
                <a16:creationId xmlns:a16="http://schemas.microsoft.com/office/drawing/2014/main" id="{4DB4E710-693C-4DBD-9D4E-8437CFA1B9A3}"/>
              </a:ext>
            </a:extLst>
          </p:cNvPr>
          <p:cNvSpPr>
            <a:spLocks xmlns:a="http://schemas.openxmlformats.org/drawingml/2006/main" noGrp="1"/>
          </p:cNvSpPr>
          <p:nvPr/>
        </p:nvSpPr>
        <p:spPr>
          <a:xfrm xmlns:a="http://schemas.openxmlformats.org/drawingml/2006/main">
            <a:off x="731520" y="1673352"/>
            <a:ext cx="2362810" cy="8869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D2A5C"/>
                </a:solidFill>
                <a:latin typeface="Calibri"/>
                <a:ea typeface="Calibri"/>
                <a:cs typeface="Calibri"/>
              </a:rPr>
              <a:t>Environment variables</a:t>
            </a:r>
            <a:endParaRPr sz="1300"/>
          </a:p>
        </p:txBody>
      </p:sp>
      <p:sp>
        <p:nvSpPr>
          <p:cNvPr id="10" name="Text 7">
            <a:extLst xmlns:a="http://schemas.openxmlformats.org/drawingml/2006/main">
              <a:ext uri="{FF2B5EF4-FFF2-40B4-BE49-F238E27FC236}">
                <a16:creationId xmlns:a16="http://schemas.microsoft.com/office/drawing/2014/main" id="{7D713C67-F503-46A4-B425-41B8C3203D77}"/>
              </a:ext>
            </a:extLst>
          </p:cNvPr>
          <p:cNvSpPr>
            <a:spLocks xmlns:a="http://schemas.openxmlformats.org/drawingml/2006/main" noGrp="1"/>
          </p:cNvSpPr>
          <p:nvPr/>
        </p:nvSpPr>
        <p:spPr>
          <a:xfrm xmlns:a="http://schemas.openxmlformats.org/drawingml/2006/main">
            <a:off x="3004718" y="1673352"/>
            <a:ext cx="4308653" cy="8869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a:solidFill>
                  <a:srgbClr val="5F6B7A"/>
                </a:solidFill>
                <a:latin typeface="Calibri"/>
                <a:ea typeface="Calibri"/>
                <a:cs typeface="Calibri"/>
              </a:rPr>
              <a:t>Set by the platform per env (compose, CI secrets, prod) — highest precedence, wins</a:t>
            </a:r>
            <a:endParaRPr sz="1000"/>
          </a:p>
        </p:txBody>
      </p:sp>
      <p:sp>
        <p:nvSpPr>
          <p:cNvPr id="11" name="Shape 8">
            <a:extLst xmlns:a="http://schemas.openxmlformats.org/drawingml/2006/main">
              <a:ext uri="{FF2B5EF4-FFF2-40B4-BE49-F238E27FC236}">
                <a16:creationId xmlns:a16="http://schemas.microsoft.com/office/drawing/2014/main" id="{05A0B362-070C-4126-931B-2AAD247640C2}"/>
              </a:ext>
            </a:extLst>
          </p:cNvPr>
          <p:cNvSpPr>
            <a:spLocks xmlns:a="http://schemas.openxmlformats.org/drawingml/2006/main" noGrp="1"/>
          </p:cNvSpPr>
          <p:nvPr/>
        </p:nvSpPr>
        <p:spPr>
          <a:xfrm xmlns:a="http://schemas.openxmlformats.org/drawingml/2006/main" rot="10800000">
            <a:off x="3895344" y="2638044"/>
            <a:ext cx="164592" cy="128016"/>
          </a:xfrm>
          <a:prstGeom xmlns:a="http://schemas.openxmlformats.org/drawingml/2006/main" prst="triangle">
            <a:avLst/>
          </a:prstGeom>
          <a:solidFill xmlns:a="http://schemas.openxmlformats.org/drawingml/2006/main">
            <a:srgbClr val="8A96A6"/>
          </a:solidFill>
        </p:spPr>
      </p:sp>
      <p:sp>
        <p:nvSpPr>
          <p:cNvPr id="12" name="Shape 9">
            <a:extLst xmlns:a="http://schemas.openxmlformats.org/drawingml/2006/main">
              <a:ext uri="{FF2B5EF4-FFF2-40B4-BE49-F238E27FC236}">
                <a16:creationId xmlns:a16="http://schemas.microsoft.com/office/drawing/2014/main" id="{E6627353-15D5-480E-83EC-25E4C9E90B4A}"/>
              </a:ext>
            </a:extLst>
          </p:cNvPr>
          <p:cNvSpPr>
            <a:spLocks xmlns:a="http://schemas.openxmlformats.org/drawingml/2006/main" noGrp="1"/>
          </p:cNvSpPr>
          <p:nvPr/>
        </p:nvSpPr>
        <p:spPr>
          <a:xfrm xmlns:a="http://schemas.openxmlformats.org/drawingml/2006/main">
            <a:off x="502920" y="2779776"/>
            <a:ext cx="6949440" cy="1033272"/>
          </a:xfrm>
          <a:prstGeom xmlns:a="http://schemas.openxmlformats.org/drawingml/2006/main" prst="roundRect">
            <a:avLst>
              <a:gd name="adj" fmla="val 5310"/>
            </a:avLst>
          </a:prstGeom>
          <a:solidFill xmlns:a="http://schemas.openxmlformats.org/drawingml/2006/main">
            <a:srgbClr val="D9F0FA"/>
          </a:solidFill>
          <a:ln xmlns:a="http://schemas.openxmlformats.org/drawingml/2006/main" w="15875">
            <a:solidFill>
              <a:srgbClr val="29ABE2"/>
            </a:solidFill>
            <a:prstDash val="solid"/>
          </a:ln>
        </p:spPr>
      </p:sp>
      <p:sp>
        <p:nvSpPr>
          <p:cNvPr id="13" name="Text 10">
            <a:extLst xmlns:a="http://schemas.openxmlformats.org/drawingml/2006/main">
              <a:ext uri="{FF2B5EF4-FFF2-40B4-BE49-F238E27FC236}">
                <a16:creationId xmlns:a16="http://schemas.microsoft.com/office/drawing/2014/main" id="{054739A8-E6A9-4851-839B-6982A118BD12}"/>
              </a:ext>
            </a:extLst>
          </p:cNvPr>
          <p:cNvSpPr>
            <a:spLocks xmlns:a="http://schemas.openxmlformats.org/drawingml/2006/main" noGrp="1"/>
          </p:cNvSpPr>
          <p:nvPr/>
        </p:nvSpPr>
        <p:spPr>
          <a:xfrm xmlns:a="http://schemas.openxmlformats.org/drawingml/2006/main">
            <a:off x="731520" y="2852928"/>
            <a:ext cx="2362810" cy="8869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D2A5C"/>
                </a:solidFill>
                <a:latin typeface="Calibri"/>
                <a:ea typeface="Calibri"/>
                <a:cs typeface="Calibri"/>
              </a:rPr>
              <a:t>.env file</a:t>
            </a:r>
            <a:endParaRPr sz="1300"/>
          </a:p>
        </p:txBody>
      </p:sp>
      <p:sp>
        <p:nvSpPr>
          <p:cNvPr id="14" name="Text 11">
            <a:extLst xmlns:a="http://schemas.openxmlformats.org/drawingml/2006/main">
              <a:ext uri="{FF2B5EF4-FFF2-40B4-BE49-F238E27FC236}">
                <a16:creationId xmlns:a16="http://schemas.microsoft.com/office/drawing/2014/main" id="{B39BD533-F019-4E17-9B79-854DDF999759}"/>
              </a:ext>
            </a:extLst>
          </p:cNvPr>
          <p:cNvSpPr>
            <a:spLocks xmlns:a="http://schemas.openxmlformats.org/drawingml/2006/main" noGrp="1"/>
          </p:cNvSpPr>
          <p:nvPr/>
        </p:nvSpPr>
        <p:spPr>
          <a:xfrm xmlns:a="http://schemas.openxmlformats.org/drawingml/2006/main">
            <a:off x="3004718" y="2852928"/>
            <a:ext cx="4308653" cy="8869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a:solidFill>
                  <a:srgbClr val="5F6B7A"/>
                </a:solidFill>
                <a:latin typeface="Calibri"/>
                <a:ea typeface="Calibri"/>
                <a:cs typeface="Calibri"/>
              </a:rPr>
              <a:t>Dev convenience only, never committed; loaded by pydantic-settings</a:t>
            </a:r>
            <a:endParaRPr sz="1000"/>
          </a:p>
        </p:txBody>
      </p:sp>
      <p:sp>
        <p:nvSpPr>
          <p:cNvPr id="15" name="Shape 12">
            <a:extLst xmlns:a="http://schemas.openxmlformats.org/drawingml/2006/main">
              <a:ext uri="{FF2B5EF4-FFF2-40B4-BE49-F238E27FC236}">
                <a16:creationId xmlns:a16="http://schemas.microsoft.com/office/drawing/2014/main" id="{37FC53A4-503F-482E-8932-1BCDF25D4C88}"/>
              </a:ext>
            </a:extLst>
          </p:cNvPr>
          <p:cNvSpPr>
            <a:spLocks xmlns:a="http://schemas.openxmlformats.org/drawingml/2006/main" noGrp="1"/>
          </p:cNvSpPr>
          <p:nvPr/>
        </p:nvSpPr>
        <p:spPr>
          <a:xfrm xmlns:a="http://schemas.openxmlformats.org/drawingml/2006/main" rot="10800000">
            <a:off x="3895344" y="3817620"/>
            <a:ext cx="164592" cy="128016"/>
          </a:xfrm>
          <a:prstGeom xmlns:a="http://schemas.openxmlformats.org/drawingml/2006/main" prst="triangle">
            <a:avLst/>
          </a:prstGeom>
          <a:solidFill xmlns:a="http://schemas.openxmlformats.org/drawingml/2006/main">
            <a:srgbClr val="8A96A6"/>
          </a:solidFill>
        </p:spPr>
      </p:sp>
      <p:sp>
        <p:nvSpPr>
          <p:cNvPr id="16" name="Shape 13">
            <a:extLst xmlns:a="http://schemas.openxmlformats.org/drawingml/2006/main">
              <a:ext uri="{FF2B5EF4-FFF2-40B4-BE49-F238E27FC236}">
                <a16:creationId xmlns:a16="http://schemas.microsoft.com/office/drawing/2014/main" id="{E0E2DE70-D684-4F80-AF78-18505B6DBD17}"/>
              </a:ext>
            </a:extLst>
          </p:cNvPr>
          <p:cNvSpPr>
            <a:spLocks xmlns:a="http://schemas.openxmlformats.org/drawingml/2006/main" noGrp="1"/>
          </p:cNvSpPr>
          <p:nvPr/>
        </p:nvSpPr>
        <p:spPr>
          <a:xfrm xmlns:a="http://schemas.openxmlformats.org/drawingml/2006/main">
            <a:off x="502920" y="3959352"/>
            <a:ext cx="6949440" cy="1033272"/>
          </a:xfrm>
          <a:prstGeom xmlns:a="http://schemas.openxmlformats.org/drawingml/2006/main" prst="roundRect">
            <a:avLst>
              <a:gd name="adj" fmla="val 5310"/>
            </a:avLst>
          </a:prstGeom>
          <a:solidFill xmlns:a="http://schemas.openxmlformats.org/drawingml/2006/main">
            <a:srgbClr val="FDEBD7"/>
          </a:solidFill>
          <a:ln xmlns:a="http://schemas.openxmlformats.org/drawingml/2006/main" w="15875">
            <a:solidFill>
              <a:srgbClr val="F58220"/>
            </a:solidFill>
            <a:prstDash val="solid"/>
          </a:ln>
        </p:spPr>
      </p:sp>
      <p:sp>
        <p:nvSpPr>
          <p:cNvPr id="17" name="Text 14">
            <a:extLst xmlns:a="http://schemas.openxmlformats.org/drawingml/2006/main">
              <a:ext uri="{FF2B5EF4-FFF2-40B4-BE49-F238E27FC236}">
                <a16:creationId xmlns:a16="http://schemas.microsoft.com/office/drawing/2014/main" id="{BADA1B86-E533-4881-B2B1-F9876B6D353D}"/>
              </a:ext>
            </a:extLst>
          </p:cNvPr>
          <p:cNvSpPr>
            <a:spLocks xmlns:a="http://schemas.openxmlformats.org/drawingml/2006/main" noGrp="1"/>
          </p:cNvSpPr>
          <p:nvPr/>
        </p:nvSpPr>
        <p:spPr>
          <a:xfrm xmlns:a="http://schemas.openxmlformats.org/drawingml/2006/main">
            <a:off x="731520" y="4032504"/>
            <a:ext cx="2362810" cy="8869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D2A5C"/>
                </a:solidFill>
                <a:latin typeface="Calibri"/>
                <a:ea typeface="Calibri"/>
                <a:cs typeface="Calibri"/>
              </a:rPr>
              <a:t>settings.example.env</a:t>
            </a:r>
            <a:endParaRPr sz="1300"/>
          </a:p>
        </p:txBody>
      </p:sp>
      <p:sp>
        <p:nvSpPr>
          <p:cNvPr id="18" name="Text 15">
            <a:extLst xmlns:a="http://schemas.openxmlformats.org/drawingml/2006/main">
              <a:ext uri="{FF2B5EF4-FFF2-40B4-BE49-F238E27FC236}">
                <a16:creationId xmlns:a16="http://schemas.microsoft.com/office/drawing/2014/main" id="{F2EFEA4F-8FE5-4D64-8BFE-A21D272AAA06}"/>
              </a:ext>
            </a:extLst>
          </p:cNvPr>
          <p:cNvSpPr>
            <a:spLocks xmlns:a="http://schemas.openxmlformats.org/drawingml/2006/main" noGrp="1"/>
          </p:cNvSpPr>
          <p:nvPr/>
        </p:nvSpPr>
        <p:spPr>
          <a:xfrm xmlns:a="http://schemas.openxmlformats.org/drawingml/2006/main">
            <a:off x="3004718" y="4032504"/>
            <a:ext cx="4308653" cy="8869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a:solidFill>
                  <a:srgbClr val="5F6B7A"/>
                </a:solidFill>
                <a:latin typeface="Calibri"/>
                <a:ea typeface="Calibri"/>
                <a:cs typeface="Calibri"/>
              </a:rPr>
              <a:t>Committed template documenting every knob with placeholder values</a:t>
            </a:r>
            <a:endParaRPr sz="1000"/>
          </a:p>
        </p:txBody>
      </p:sp>
      <p:sp>
        <p:nvSpPr>
          <p:cNvPr id="19" name="Shape 16">
            <a:extLst xmlns:a="http://schemas.openxmlformats.org/drawingml/2006/main">
              <a:ext uri="{FF2B5EF4-FFF2-40B4-BE49-F238E27FC236}">
                <a16:creationId xmlns:a16="http://schemas.microsoft.com/office/drawing/2014/main" id="{289F44A2-368D-4F76-9A7F-B5A923767E68}"/>
              </a:ext>
            </a:extLst>
          </p:cNvPr>
          <p:cNvSpPr>
            <a:spLocks xmlns:a="http://schemas.openxmlformats.org/drawingml/2006/main" noGrp="1"/>
          </p:cNvSpPr>
          <p:nvPr/>
        </p:nvSpPr>
        <p:spPr>
          <a:xfrm xmlns:a="http://schemas.openxmlformats.org/drawingml/2006/main" rot="10800000">
            <a:off x="3895344" y="4997196"/>
            <a:ext cx="164592" cy="128016"/>
          </a:xfrm>
          <a:prstGeom xmlns:a="http://schemas.openxmlformats.org/drawingml/2006/main" prst="triangle">
            <a:avLst/>
          </a:prstGeom>
          <a:solidFill xmlns:a="http://schemas.openxmlformats.org/drawingml/2006/main">
            <a:srgbClr val="8A96A6"/>
          </a:solidFill>
        </p:spPr>
      </p:sp>
      <p:sp>
        <p:nvSpPr>
          <p:cNvPr id="20" name="Shape 17">
            <a:extLst xmlns:a="http://schemas.openxmlformats.org/drawingml/2006/main">
              <a:ext uri="{FF2B5EF4-FFF2-40B4-BE49-F238E27FC236}">
                <a16:creationId xmlns:a16="http://schemas.microsoft.com/office/drawing/2014/main" id="{0FC853E9-E1F3-4131-9B3D-82D8DD3F3CA1}"/>
              </a:ext>
            </a:extLst>
          </p:cNvPr>
          <p:cNvSpPr>
            <a:spLocks xmlns:a="http://schemas.openxmlformats.org/drawingml/2006/main" noGrp="1"/>
          </p:cNvSpPr>
          <p:nvPr/>
        </p:nvSpPr>
        <p:spPr>
          <a:xfrm xmlns:a="http://schemas.openxmlformats.org/drawingml/2006/main">
            <a:off x="502920" y="5138928"/>
            <a:ext cx="6949440" cy="1033272"/>
          </a:xfrm>
          <a:prstGeom xmlns:a="http://schemas.openxmlformats.org/drawingml/2006/main" prst="roundRect">
            <a:avLst>
              <a:gd name="adj" fmla="val 5310"/>
            </a:avLst>
          </a:prstGeom>
          <a:solidFill xmlns:a="http://schemas.openxmlformats.org/drawingml/2006/main">
            <a:srgbClr val="EAF4DC"/>
          </a:solidFill>
          <a:ln xmlns:a="http://schemas.openxmlformats.org/drawingml/2006/main" w="15875">
            <a:solidFill>
              <a:srgbClr val="8DC63F"/>
            </a:solidFill>
            <a:prstDash val="solid"/>
          </a:ln>
        </p:spPr>
      </p:sp>
      <p:sp>
        <p:nvSpPr>
          <p:cNvPr id="21" name="Text 18">
            <a:extLst xmlns:a="http://schemas.openxmlformats.org/drawingml/2006/main">
              <a:ext uri="{FF2B5EF4-FFF2-40B4-BE49-F238E27FC236}">
                <a16:creationId xmlns:a16="http://schemas.microsoft.com/office/drawing/2014/main" id="{99CB5650-5D3A-45B6-ABEB-0033331D24BD}"/>
              </a:ext>
            </a:extLst>
          </p:cNvPr>
          <p:cNvSpPr>
            <a:spLocks xmlns:a="http://schemas.openxmlformats.org/drawingml/2006/main" noGrp="1"/>
          </p:cNvSpPr>
          <p:nvPr/>
        </p:nvSpPr>
        <p:spPr>
          <a:xfrm xmlns:a="http://schemas.openxmlformats.org/drawingml/2006/main">
            <a:off x="731520" y="5212080"/>
            <a:ext cx="2362810" cy="8869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D2A5C"/>
                </a:solidFill>
                <a:latin typeface="Calibri"/>
                <a:ea typeface="Calibri"/>
                <a:cs typeface="Calibri"/>
              </a:rPr>
              <a:t>Code defaults</a:t>
            </a:r>
            <a:endParaRPr sz="1300"/>
          </a:p>
        </p:txBody>
      </p:sp>
      <p:sp>
        <p:nvSpPr>
          <p:cNvPr id="22" name="Text 19">
            <a:extLst xmlns:a="http://schemas.openxmlformats.org/drawingml/2006/main">
              <a:ext uri="{FF2B5EF4-FFF2-40B4-BE49-F238E27FC236}">
                <a16:creationId xmlns:a16="http://schemas.microsoft.com/office/drawing/2014/main" id="{867128B6-8F96-4B8A-8AA5-0DAFFF110B1C}"/>
              </a:ext>
            </a:extLst>
          </p:cNvPr>
          <p:cNvSpPr>
            <a:spLocks xmlns:a="http://schemas.openxmlformats.org/drawingml/2006/main" noGrp="1"/>
          </p:cNvSpPr>
          <p:nvPr/>
        </p:nvSpPr>
        <p:spPr>
          <a:xfrm xmlns:a="http://schemas.openxmlformats.org/drawingml/2006/main">
            <a:off x="3004718" y="5212080"/>
            <a:ext cx="4308653" cy="8869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a:solidFill>
                  <a:srgbClr val="5F6B7A"/>
                </a:solidFill>
                <a:latin typeface="Calibri"/>
                <a:ea typeface="Calibri"/>
                <a:cs typeface="Calibri"/>
              </a:rPr>
              <a:t>Field(...) defaults and validators — lowest precedence, always present</a:t>
            </a:r>
            <a:endParaRPr sz="1000"/>
          </a:p>
        </p:txBody>
      </p:sp>
      <p:sp>
        <p:nvSpPr>
          <p:cNvPr id="23" name="Shape 20">
            <a:extLst xmlns:a="http://schemas.openxmlformats.org/drawingml/2006/main">
              <a:ext uri="{FF2B5EF4-FFF2-40B4-BE49-F238E27FC236}">
                <a16:creationId xmlns:a16="http://schemas.microsoft.com/office/drawing/2014/main" id="{43A4FF46-5919-4864-BA86-A25EBED09A77}"/>
              </a:ext>
            </a:extLst>
          </p:cNvPr>
          <p:cNvSpPr>
            <a:spLocks xmlns:a="http://schemas.openxmlformats.org/drawingml/2006/main" noGrp="1"/>
          </p:cNvSpPr>
          <p:nvPr/>
        </p:nvSpPr>
        <p:spPr>
          <a:xfrm xmlns:a="http://schemas.openxmlformats.org/drawingml/2006/main">
            <a:off x="7772400" y="1600200"/>
            <a:ext cx="3913632" cy="4572000"/>
          </a:xfrm>
          <a:prstGeom xmlns:a="http://schemas.openxmlformats.org/drawingml/2006/main" prst="roundRect">
            <a:avLst>
              <a:gd name="adj" fmla="val 1636"/>
            </a:avLst>
          </a:prstGeom>
          <a:solidFill xmlns:a="http://schemas.openxmlformats.org/drawingml/2006/main">
            <a:srgbClr val="1D2A5C"/>
          </a:solidFill>
        </p:spPr>
      </p:sp>
      <p:sp>
        <p:nvSpPr>
          <p:cNvPr id="24" name="Text 21">
            <a:extLst xmlns:a="http://schemas.openxmlformats.org/drawingml/2006/main">
              <a:ext uri="{FF2B5EF4-FFF2-40B4-BE49-F238E27FC236}">
                <a16:creationId xmlns:a16="http://schemas.microsoft.com/office/drawing/2014/main" id="{1913AEEB-1A8A-4A49-9E8C-853AF27EEF7A}"/>
              </a:ext>
            </a:extLst>
          </p:cNvPr>
          <p:cNvSpPr>
            <a:spLocks xmlns:a="http://schemas.openxmlformats.org/drawingml/2006/main" noGrp="1"/>
          </p:cNvSpPr>
          <p:nvPr/>
        </p:nvSpPr>
        <p:spPr>
          <a:xfrm xmlns:a="http://schemas.openxmlformats.org/drawingml/2006/main">
            <a:off x="7973568" y="1783080"/>
            <a:ext cx="35204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00A79D"/>
                </a:solidFill>
                <a:latin typeface="Calibri"/>
                <a:ea typeface="Calibri"/>
                <a:cs typeface="Calibri"/>
              </a:rPr>
              <a:t>One image, three environments</a:t>
            </a:r>
            <a:endParaRPr sz="1300"/>
          </a:p>
        </p:txBody>
      </p:sp>
      <p:sp>
        <p:nvSpPr>
          <p:cNvPr id="25" name="Text 22">
            <a:extLst xmlns:a="http://schemas.openxmlformats.org/drawingml/2006/main">
              <a:ext uri="{FF2B5EF4-FFF2-40B4-BE49-F238E27FC236}">
                <a16:creationId xmlns:a16="http://schemas.microsoft.com/office/drawing/2014/main" id="{1BDA919E-881A-4D84-B25C-09D1D070EE3E}"/>
              </a:ext>
            </a:extLst>
          </p:cNvPr>
          <p:cNvSpPr>
            <a:spLocks xmlns:a="http://schemas.openxmlformats.org/drawingml/2006/main" noGrp="1"/>
          </p:cNvSpPr>
          <p:nvPr/>
        </p:nvSpPr>
        <p:spPr>
          <a:xfrm xmlns:a="http://schemas.openxmlformats.org/drawingml/2006/main">
            <a:off x="7973568" y="2194560"/>
            <a:ext cx="3520440" cy="3749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1500"/>
              </a:lnSpc>
              <a:buNone/>
            </a:pPr>
            <a:r>
              <a:rPr sz="1050">
                <a:solidFill>
                  <a:srgbClr val="D9E4F5"/>
                </a:solidFill>
                <a:latin typeface="Calibri"/>
                <a:ea typeface="Calibri"/>
                <a:cs typeface="Calibri"/>
              </a:rPr>
              <a:t>The image from Modules 3 and 5 is promoted dev → staging → prod with only the environment changing. That is the 12-factor promise — and the only way 'we tested that image' stays true. If you rebuild per environment, you have lost the CI guarantee. Environment wins the precedence contest precisely because environment is the thing that legitimately differs between dev, staging, and production; everything else is baked into the one promoted image.</a:t>
            </a:r>
            <a:endParaRPr sz="1050"/>
          </a:p>
        </p:txBody>
      </p:sp>
    </p:spTree>
    <p:extLst>
      <p:ext uri="{BB962C8B-B14F-4D97-AF65-F5344CB8AC3E}">
        <p14:creationId xmlns:p14="http://schemas.microsoft.com/office/powerpoint/2010/main" val="1217517998"/>
      </p:ext>
    </p:extLst>
  </p:cSld>
</p:sld>
</file>

<file path=ppt/slides/slide13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9C6AE09-F405-496D-B392-DF52AFB5971A}"/>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settings.example.env — committed vs .env</a:t>
            </a:r>
            <a:endParaRPr sz="2600"/>
          </a:p>
        </p:txBody>
      </p:sp>
      <p:sp>
        <p:nvSpPr>
          <p:cNvPr id="3" name="Text 1">
            <a:extLst xmlns:a="http://schemas.openxmlformats.org/drawingml/2006/main">
              <a:ext uri="{FF2B5EF4-FFF2-40B4-BE49-F238E27FC236}">
                <a16:creationId xmlns:a16="http://schemas.microsoft.com/office/drawing/2014/main" id="{0841EC9E-1D49-4E3B-8144-AF3C55362B81}"/>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settings.example.env — مُودَع مقابل .env</a:t>
            </a:r>
            <a:endParaRPr sz="1300"/>
          </a:p>
        </p:txBody>
      </p:sp>
      <p:pic>
        <p:nvPicPr>
          <p:cNvPr id="18" name="Image 0"/>
          <p:cNvPicPr>
            <a:picLocks xmlns:a="http://schemas.openxmlformats.org/drawingml/2006/main" noChangeAspect="1"/>
          </p:cNvPicPr>
          <p:nvPr/>
        </p:nvPicPr>
        <p:blipFill>
          <a:blip xmlns:r="http://schemas.openxmlformats.org/officeDocument/2006/relationships" xmlns:a="http://schemas.openxmlformats.org/drawingml/2006/main" r:embed="R8ba0a6ac760e4597"/>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521DE09E-906B-4F5B-AB7F-794863088D9F}"/>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157239B0-80DF-4D52-B177-F2B76730FC0B}"/>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6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96002F2D-E3E0-4F29-8920-415EE1726161}"/>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131</a:t>
            </a:r>
            <a:endParaRPr sz="850"/>
          </a:p>
        </p:txBody>
      </p:sp>
      <p:sp>
        <p:nvSpPr>
          <p:cNvPr id="8" name="Shape 5">
            <a:extLst xmlns:a="http://schemas.openxmlformats.org/drawingml/2006/main">
              <a:ext uri="{FF2B5EF4-FFF2-40B4-BE49-F238E27FC236}">
                <a16:creationId xmlns:a16="http://schemas.microsoft.com/office/drawing/2014/main" id="{5331ECF0-7B0F-4832-B9A7-8066A7C5588D}"/>
              </a:ext>
            </a:extLst>
          </p:cNvPr>
          <p:cNvSpPr>
            <a:spLocks xmlns:a="http://schemas.openxmlformats.org/drawingml/2006/main" noGrp="1"/>
          </p:cNvSpPr>
          <p:nvPr/>
        </p:nvSpPr>
        <p:spPr>
          <a:xfrm xmlns:a="http://schemas.openxmlformats.org/drawingml/2006/main">
            <a:off x="502920" y="1481328"/>
            <a:ext cx="11183112" cy="4617720"/>
          </a:xfrm>
          <a:prstGeom xmlns:a="http://schemas.openxmlformats.org/drawingml/2006/main" prst="roundRect">
            <a:avLst>
              <a:gd name="adj" fmla="val 1584"/>
            </a:avLst>
          </a:prstGeom>
          <a:solidFill xmlns:a="http://schemas.openxmlformats.org/drawingml/2006/main">
            <a:srgbClr val="1A2233"/>
          </a:solidFill>
        </p:spPr>
      </p:sp>
      <p:sp>
        <p:nvSpPr>
          <p:cNvPr id="9" name="Shape 6">
            <a:extLst xmlns:a="http://schemas.openxmlformats.org/drawingml/2006/main">
              <a:ext uri="{FF2B5EF4-FFF2-40B4-BE49-F238E27FC236}">
                <a16:creationId xmlns:a16="http://schemas.microsoft.com/office/drawing/2014/main" id="{DC087D4A-FD90-4E35-8CED-0CEBE6E200C6}"/>
              </a:ext>
            </a:extLst>
          </p:cNvPr>
          <p:cNvSpPr>
            <a:spLocks xmlns:a="http://schemas.openxmlformats.org/drawingml/2006/main" noGrp="1"/>
          </p:cNvSpPr>
          <p:nvPr/>
        </p:nvSpPr>
        <p:spPr>
          <a:xfrm xmlns:a="http://schemas.openxmlformats.org/drawingml/2006/main">
            <a:off x="731520" y="1664208"/>
            <a:ext cx="109728" cy="109728"/>
          </a:xfrm>
          <a:prstGeom xmlns:a="http://schemas.openxmlformats.org/drawingml/2006/main" prst="ellipse">
            <a:avLst/>
          </a:prstGeom>
          <a:solidFill xmlns:a="http://schemas.openxmlformats.org/drawingml/2006/main">
            <a:srgbClr val="E8503A"/>
          </a:solidFill>
        </p:spPr>
      </p:sp>
      <p:sp>
        <p:nvSpPr>
          <p:cNvPr id="10" name="Shape 7">
            <a:extLst xmlns:a="http://schemas.openxmlformats.org/drawingml/2006/main">
              <a:ext uri="{FF2B5EF4-FFF2-40B4-BE49-F238E27FC236}">
                <a16:creationId xmlns:a16="http://schemas.microsoft.com/office/drawing/2014/main" id="{DFC77166-F58B-46BF-B8FA-CD9D52E6D85F}"/>
              </a:ext>
            </a:extLst>
          </p:cNvPr>
          <p:cNvSpPr>
            <a:spLocks xmlns:a="http://schemas.openxmlformats.org/drawingml/2006/main" noGrp="1"/>
          </p:cNvSpPr>
          <p:nvPr/>
        </p:nvSpPr>
        <p:spPr>
          <a:xfrm xmlns:a="http://schemas.openxmlformats.org/drawingml/2006/main">
            <a:off x="932688" y="1664208"/>
            <a:ext cx="109728" cy="109728"/>
          </a:xfrm>
          <a:prstGeom xmlns:a="http://schemas.openxmlformats.org/drawingml/2006/main" prst="ellipse">
            <a:avLst/>
          </a:prstGeom>
          <a:solidFill xmlns:a="http://schemas.openxmlformats.org/drawingml/2006/main">
            <a:srgbClr val="F5B820"/>
          </a:solidFill>
        </p:spPr>
      </p:sp>
      <p:sp>
        <p:nvSpPr>
          <p:cNvPr id="11" name="Shape 8">
            <a:extLst xmlns:a="http://schemas.openxmlformats.org/drawingml/2006/main">
              <a:ext uri="{FF2B5EF4-FFF2-40B4-BE49-F238E27FC236}">
                <a16:creationId xmlns:a16="http://schemas.microsoft.com/office/drawing/2014/main" id="{A48AFBEA-FF18-42EB-81A6-45534BD4E408}"/>
              </a:ext>
            </a:extLst>
          </p:cNvPr>
          <p:cNvSpPr>
            <a:spLocks xmlns:a="http://schemas.openxmlformats.org/drawingml/2006/main" noGrp="1"/>
          </p:cNvSpPr>
          <p:nvPr/>
        </p:nvSpPr>
        <p:spPr>
          <a:xfrm xmlns:a="http://schemas.openxmlformats.org/drawingml/2006/main">
            <a:off x="1133856" y="1664208"/>
            <a:ext cx="109728" cy="109728"/>
          </a:xfrm>
          <a:prstGeom xmlns:a="http://schemas.openxmlformats.org/drawingml/2006/main" prst="ellipse">
            <a:avLst/>
          </a:prstGeom>
          <a:solidFill xmlns:a="http://schemas.openxmlformats.org/drawingml/2006/main">
            <a:srgbClr val="8DC63F"/>
          </a:solidFill>
        </p:spPr>
      </p:sp>
      <p:sp>
        <p:nvSpPr>
          <p:cNvPr id="12" name="Text 9">
            <a:extLst xmlns:a="http://schemas.openxmlformats.org/drawingml/2006/main">
              <a:ext uri="{FF2B5EF4-FFF2-40B4-BE49-F238E27FC236}">
                <a16:creationId xmlns:a16="http://schemas.microsoft.com/office/drawing/2014/main" id="{1196306F-3A53-4B9A-B81C-76D63E47F099}"/>
              </a:ext>
            </a:extLst>
          </p:cNvPr>
          <p:cNvSpPr>
            <a:spLocks xmlns:a="http://schemas.openxmlformats.org/drawingml/2006/main" noGrp="1"/>
          </p:cNvSpPr>
          <p:nvPr/>
        </p:nvSpPr>
        <p:spPr>
          <a:xfrm xmlns:a="http://schemas.openxmlformats.org/drawingml/2006/main">
            <a:off x="8074152" y="1609344"/>
            <a:ext cx="32918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6C8"/>
                </a:solidFill>
                <a:latin typeface="Consolas"/>
                <a:ea typeface="Consolas"/>
                <a:cs typeface="Consolas"/>
              </a:rPr>
              <a:t>configs/settings.example.env</a:t>
            </a:r>
            <a:endParaRPr sz="900"/>
          </a:p>
        </p:txBody>
      </p:sp>
      <p:sp>
        <p:nvSpPr>
          <p:cNvPr id="13" name="Text 10">
            <a:extLst xmlns:a="http://schemas.openxmlformats.org/drawingml/2006/main">
              <a:ext uri="{FF2B5EF4-FFF2-40B4-BE49-F238E27FC236}">
                <a16:creationId xmlns:a16="http://schemas.microsoft.com/office/drawing/2014/main" id="{42B0F73C-9E67-472D-B73F-45D36A5A5F99}"/>
              </a:ext>
            </a:extLst>
          </p:cNvPr>
          <p:cNvSpPr>
            <a:spLocks xmlns:a="http://schemas.openxmlformats.org/drawingml/2006/main" noGrp="1"/>
          </p:cNvSpPr>
          <p:nvPr/>
        </p:nvSpPr>
        <p:spPr>
          <a:xfrm xmlns:a="http://schemas.openxmlformats.org/drawingml/2006/main">
            <a:off x="713232" y="1965960"/>
            <a:ext cx="10725912"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200">
                <a:solidFill>
                  <a:srgbClr val="D9E4F5"/>
                </a:solidFill>
                <a:latin typeface="Consolas"/>
                <a:ea typeface="Consolas"/>
                <a:cs typeface="Consolas"/>
              </a:rPr>
              <a:t># COMMITTED. Documents every knob, no real values.</a:t>
            </a:r>
            <a:endParaRPr sz="1200"/>
          </a:p>
          <a:p xmlns:a="http://schemas.openxmlformats.org/drawingml/2006/main">
            <a:pPr marL="0" indent="0">
              <a:lnSpc>
                <a:spcPct val="112000"/>
              </a:lnSpc>
              <a:buNone/>
            </a:pPr>
            <a:r>
              <a:rPr sz="1200">
                <a:solidFill>
                  <a:srgbClr val="D9E4F5"/>
                </a:solidFill>
                <a:latin typeface="Consolas"/>
                <a:ea typeface="Consolas"/>
                <a:cs typeface="Consolas"/>
              </a:rPr>
              <a:t>FRAUD_MODEL_PATH=/models/fraud_xgb_v3.joblib</a:t>
            </a:r>
            <a:endParaRPr sz="1200"/>
          </a:p>
          <a:p xmlns:a="http://schemas.openxmlformats.org/drawingml/2006/main">
            <a:pPr marL="0" indent="0">
              <a:lnSpc>
                <a:spcPct val="112000"/>
              </a:lnSpc>
              <a:buNone/>
            </a:pPr>
            <a:r>
              <a:rPr sz="1200">
                <a:solidFill>
                  <a:srgbClr val="D9E4F5"/>
                </a:solidFill>
                <a:latin typeface="Consolas"/>
                <a:ea typeface="Consolas"/>
                <a:cs typeface="Consolas"/>
              </a:rPr>
              <a:t>FRAUD_BLOCK_THRESHOLD=0.85</a:t>
            </a:r>
            <a:endParaRPr sz="1200"/>
          </a:p>
          <a:p xmlns:a="http://schemas.openxmlformats.org/drawingml/2006/main">
            <a:pPr marL="0" indent="0">
              <a:lnSpc>
                <a:spcPct val="112000"/>
              </a:lnSpc>
              <a:buNone/>
            </a:pPr>
            <a:r>
              <a:rPr sz="1200">
                <a:solidFill>
                  <a:srgbClr val="D9E4F5"/>
                </a:solidFill>
                <a:latin typeface="Consolas"/>
                <a:ea typeface="Consolas"/>
                <a:cs typeface="Consolas"/>
              </a:rPr>
              <a:t>FRAUD_LOG_LEVEL=INFO</a:t>
            </a:r>
            <a:endParaRPr sz="1200"/>
          </a:p>
          <a:p xmlns:a="http://schemas.openxmlformats.org/drawingml/2006/main">
            <a:pPr marL="0" indent="0">
              <a:lnSpc>
                <a:spcPct val="112000"/>
              </a:lnSpc>
              <a:buNone/>
            </a:pPr>
            <a:r>
              <a:rPr sz="1200">
                <a:solidFill>
                  <a:srgbClr val="D9E4F5"/>
                </a:solidFill>
                <a:latin typeface="Consolas"/>
                <a:ea typeface="Consolas"/>
                <a:cs typeface="Consolas"/>
              </a:rPr>
              <a:t>FRAUD_REDIS_URL=redis://feature-cache:6379/0</a:t>
            </a:r>
            <a:endParaRPr sz="1200"/>
          </a:p>
          <a:p xmlns:a="http://schemas.openxmlformats.org/drawingml/2006/main">
            <a:pPr marL="0" indent="0">
              <a:lnSpc>
                <a:spcPct val="112000"/>
              </a:lnSpc>
              <a:buNone/>
            </a:pPr>
            <a:r>
              <a:rPr sz="1200">
                <a:solidFill>
                  <a:srgbClr val="D9E4F5"/>
                </a:solidFill>
                <a:latin typeface="Consolas"/>
                <a:ea typeface="Consolas"/>
                <a:cs typeface="Consolas"/>
              </a:rPr>
              <a:t># FRAUD_REGISTRY_TOKEN=   # &lt;- set only via secret store</a:t>
            </a:r>
            <a:endParaRPr sz="1200"/>
          </a:p>
          <a:p xmlns:a="http://schemas.openxmlformats.org/drawingml/2006/main">
            <a:pPr marL="0" indent="0">
              <a:lnSpc>
                <a:spcPct val="112000"/>
              </a:lnSpc>
              <a:buNone/>
            </a:pPr>
            <a:endParaRPr sz="1200"/>
          </a:p>
          <a:p xmlns:a="http://schemas.openxmlformats.org/drawingml/2006/main">
            <a:pPr marL="0" indent="0">
              <a:lnSpc>
                <a:spcPct val="112000"/>
              </a:lnSpc>
              <a:buNone/>
            </a:pPr>
            <a:r>
              <a:rPr sz="1200">
                <a:solidFill>
                  <a:srgbClr val="D9E4F5"/>
                </a:solidFill>
                <a:latin typeface="Consolas"/>
                <a:ea typeface="Consolas"/>
                <a:cs typeface="Consolas"/>
              </a:rPr>
              <a:t># .env (REAL values) is git-ignored from repo birth</a:t>
            </a:r>
            <a:endParaRPr sz="1200"/>
          </a:p>
          <a:p xmlns:a="http://schemas.openxmlformats.org/drawingml/2006/main">
            <a:pPr marL="0" indent="0">
              <a:lnSpc>
                <a:spcPct val="112000"/>
              </a:lnSpc>
              <a:buNone/>
            </a:pPr>
            <a:r>
              <a:rPr sz="1200">
                <a:solidFill>
                  <a:srgbClr val="D9E4F5"/>
                </a:solidFill>
                <a:latin typeface="Consolas"/>
                <a:ea typeface="Consolas"/>
                <a:cs typeface="Consolas"/>
              </a:rPr>
              <a:t># and listed in .dockerignore — it never ships anywhere.</a:t>
            </a:r>
            <a:endParaRPr sz="1200"/>
          </a:p>
        </p:txBody>
      </p:sp>
      <p:sp>
        <p:nvSpPr>
          <p:cNvPr id="14" name="Text 11">
            <a:extLst xmlns:a="http://schemas.openxmlformats.org/drawingml/2006/main">
              <a:ext uri="{FF2B5EF4-FFF2-40B4-BE49-F238E27FC236}">
                <a16:creationId xmlns:a16="http://schemas.microsoft.com/office/drawing/2014/main" id="{391E39BA-B688-4AD9-AE4F-5D945893A32B}"/>
              </a:ext>
            </a:extLst>
          </p:cNvPr>
          <p:cNvSpPr>
            <a:spLocks xmlns:a="http://schemas.openxmlformats.org/drawingml/2006/main" noGrp="1"/>
          </p:cNvSpPr>
          <p:nvPr/>
        </p:nvSpPr>
        <p:spPr>
          <a:xfrm xmlns:a="http://schemas.openxmlformats.org/drawingml/2006/main">
            <a:off x="502920" y="6144768"/>
            <a:ext cx="1115568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5F6B7A"/>
                </a:solidFill>
                <a:latin typeface="Calibri"/>
                <a:ea typeface="Calibri"/>
                <a:cs typeface="Calibri"/>
              </a:rPr>
              <a:t>The example file is documentation; the real .env is git-ignored and .dockerignored.</a:t>
            </a:r>
            <a:endParaRPr sz="950"/>
          </a:p>
        </p:txBody>
      </p:sp>
    </p:spTree>
    <p:extLst>
      <p:ext uri="{BB962C8B-B14F-4D97-AF65-F5344CB8AC3E}">
        <p14:creationId xmlns:p14="http://schemas.microsoft.com/office/powerpoint/2010/main" val="638568222"/>
      </p:ext>
    </p:extLst>
  </p:cSld>
</p:sld>
</file>

<file path=ppt/slides/slide13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DF3742E-BFC1-478B-BF25-1D3E593779ED}"/>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Secret hygiene — the non-negotiables</a:t>
            </a:r>
            <a:endParaRPr sz="2600"/>
          </a:p>
        </p:txBody>
      </p:sp>
      <p:sp>
        <p:nvSpPr>
          <p:cNvPr id="3" name="Text 1">
            <a:extLst xmlns:a="http://schemas.openxmlformats.org/drawingml/2006/main">
              <a:ext uri="{FF2B5EF4-FFF2-40B4-BE49-F238E27FC236}">
                <a16:creationId xmlns:a16="http://schemas.microsoft.com/office/drawing/2014/main" id="{81A7BABA-6AD8-4B38-BD4D-236FE05B3351}"/>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نظافة الأسرار — الثوابت غير القابلة للتفاوض</a:t>
            </a:r>
            <a:endParaRPr sz="1300"/>
          </a:p>
        </p:txBody>
      </p:sp>
      <p:pic>
        <p:nvPicPr>
          <p:cNvPr id="41" name="Image 0"/>
          <p:cNvPicPr>
            <a:picLocks xmlns:a="http://schemas.openxmlformats.org/drawingml/2006/main" noChangeAspect="1"/>
          </p:cNvPicPr>
          <p:nvPr/>
        </p:nvPicPr>
        <p:blipFill>
          <a:blip xmlns:r="http://schemas.openxmlformats.org/officeDocument/2006/relationships" xmlns:a="http://schemas.openxmlformats.org/drawingml/2006/main" r:embed="Rfd4c1d302a45441f"/>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37B6E560-3943-4A7C-8156-094ACE1D7B5D}"/>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3DE52B86-8625-413B-929B-7DAD3DA1137B}"/>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6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3EDB059E-B1F4-4B45-95B2-0C42E133ACFA}"/>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132</a:t>
            </a:r>
            <a:endParaRPr sz="850"/>
          </a:p>
        </p:txBody>
      </p:sp>
      <p:sp>
        <p:nvSpPr>
          <p:cNvPr id="8" name="Shape 5">
            <a:extLst xmlns:a="http://schemas.openxmlformats.org/drawingml/2006/main">
              <a:ext uri="{FF2B5EF4-FFF2-40B4-BE49-F238E27FC236}">
                <a16:creationId xmlns:a16="http://schemas.microsoft.com/office/drawing/2014/main" id="{FB1564E5-8807-4224-8AD3-FD0330762523}"/>
              </a:ext>
            </a:extLst>
          </p:cNvPr>
          <p:cNvSpPr>
            <a:spLocks xmlns:a="http://schemas.openxmlformats.org/drawingml/2006/main" noGrp="1"/>
          </p:cNvSpPr>
          <p:nvPr/>
        </p:nvSpPr>
        <p:spPr>
          <a:xfrm xmlns:a="http://schemas.openxmlformats.org/drawingml/2006/main">
            <a:off x="502920" y="1517904"/>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61271322-629D-499B-9CD4-B9EA969F260C}"/>
              </a:ext>
            </a:extLst>
          </p:cNvPr>
          <p:cNvSpPr>
            <a:spLocks xmlns:a="http://schemas.openxmlformats.org/drawingml/2006/main" noGrp="1"/>
          </p:cNvSpPr>
          <p:nvPr/>
        </p:nvSpPr>
        <p:spPr>
          <a:xfrm xmlns:a="http://schemas.openxmlformats.org/drawingml/2006/main">
            <a:off x="502920" y="1517904"/>
            <a:ext cx="82296" cy="2272284"/>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6645EC03-C9B8-4ECC-874E-943B260739D7}"/>
              </a:ext>
            </a:extLst>
          </p:cNvPr>
          <p:cNvSpPr>
            <a:spLocks xmlns:a="http://schemas.openxmlformats.org/drawingml/2006/main" noGrp="1"/>
          </p:cNvSpPr>
          <p:nvPr/>
        </p:nvSpPr>
        <p:spPr>
          <a:xfrm xmlns:a="http://schemas.openxmlformats.org/drawingml/2006/main">
            <a:off x="722376" y="1636776"/>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00A79D"/>
                </a:solidFill>
                <a:latin typeface="Calibri"/>
                <a:ea typeface="Calibri"/>
                <a:cs typeface="Calibri"/>
              </a:rPr>
              <a:t>NEVER IN GIT</a:t>
            </a:r>
            <a:endParaRPr sz="900"/>
          </a:p>
        </p:txBody>
      </p:sp>
      <p:sp>
        <p:nvSpPr>
          <p:cNvPr id="11" name="Text 8">
            <a:extLst xmlns:a="http://schemas.openxmlformats.org/drawingml/2006/main">
              <a:ext uri="{FF2B5EF4-FFF2-40B4-BE49-F238E27FC236}">
                <a16:creationId xmlns:a16="http://schemas.microsoft.com/office/drawing/2014/main" id="{211544C0-2C9D-498C-81CC-1D68F545E806}"/>
              </a:ext>
            </a:extLst>
          </p:cNvPr>
          <p:cNvSpPr>
            <a:spLocks xmlns:a="http://schemas.openxmlformats.org/drawingml/2006/main" noGrp="1"/>
          </p:cNvSpPr>
          <p:nvPr/>
        </p:nvSpPr>
        <p:spPr>
          <a:xfrm xmlns:a="http://schemas.openxmlformats.org/drawingml/2006/main">
            <a:off x="722376" y="1883664"/>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Not even "just for now"</a:t>
            </a:r>
            <a:endParaRPr sz="1250"/>
          </a:p>
        </p:txBody>
      </p:sp>
      <p:sp>
        <p:nvSpPr>
          <p:cNvPr id="12" name="Text 9">
            <a:extLst xmlns:a="http://schemas.openxmlformats.org/drawingml/2006/main">
              <a:ext uri="{FF2B5EF4-FFF2-40B4-BE49-F238E27FC236}">
                <a16:creationId xmlns:a16="http://schemas.microsoft.com/office/drawing/2014/main" id="{9117F62C-C58A-4011-A003-AE9FBF57AA42}"/>
              </a:ext>
            </a:extLst>
          </p:cNvPr>
          <p:cNvSpPr>
            <a:spLocks xmlns:a="http://schemas.openxmlformats.org/drawingml/2006/main" noGrp="1"/>
          </p:cNvSpPr>
          <p:nvPr/>
        </p:nvSpPr>
        <p:spPr>
          <a:xfrm xmlns:a="http://schemas.openxmlformats.org/drawingml/2006/main">
            <a:off x="722376" y="2404872"/>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Private repos too — forks, laptops, backups multiply exposure. .env is git-ignored from repo birth and in .dockerignore.</a:t>
            </a:r>
            <a:endParaRPr sz="980"/>
          </a:p>
        </p:txBody>
      </p:sp>
      <p:sp>
        <p:nvSpPr>
          <p:cNvPr id="13" name="Shape 10">
            <a:extLst xmlns:a="http://schemas.openxmlformats.org/drawingml/2006/main">
              <a:ext uri="{FF2B5EF4-FFF2-40B4-BE49-F238E27FC236}">
                <a16:creationId xmlns:a16="http://schemas.microsoft.com/office/drawing/2014/main" id="{C2C53D96-9147-4739-893C-39A9DE4C5E20}"/>
              </a:ext>
            </a:extLst>
          </p:cNvPr>
          <p:cNvSpPr>
            <a:spLocks xmlns:a="http://schemas.openxmlformats.org/drawingml/2006/main" noGrp="1"/>
          </p:cNvSpPr>
          <p:nvPr/>
        </p:nvSpPr>
        <p:spPr>
          <a:xfrm xmlns:a="http://schemas.openxmlformats.org/drawingml/2006/main">
            <a:off x="4322064" y="1517904"/>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14" name="Shape 11">
            <a:extLst xmlns:a="http://schemas.openxmlformats.org/drawingml/2006/main">
              <a:ext uri="{FF2B5EF4-FFF2-40B4-BE49-F238E27FC236}">
                <a16:creationId xmlns:a16="http://schemas.microsoft.com/office/drawing/2014/main" id="{985729AE-CB17-4517-AC36-A12B06454F70}"/>
              </a:ext>
            </a:extLst>
          </p:cNvPr>
          <p:cNvSpPr>
            <a:spLocks xmlns:a="http://schemas.openxmlformats.org/drawingml/2006/main" noGrp="1"/>
          </p:cNvSpPr>
          <p:nvPr/>
        </p:nvSpPr>
        <p:spPr>
          <a:xfrm xmlns:a="http://schemas.openxmlformats.org/drawingml/2006/main">
            <a:off x="4322064" y="1517904"/>
            <a:ext cx="82296" cy="2272284"/>
          </a:xfrm>
          <a:prstGeom xmlns:a="http://schemas.openxmlformats.org/drawingml/2006/main" prst="rect">
            <a:avLst/>
          </a:prstGeom>
          <a:solidFill xmlns:a="http://schemas.openxmlformats.org/drawingml/2006/main">
            <a:srgbClr val="29ABE2"/>
          </a:solidFill>
        </p:spPr>
      </p:sp>
      <p:sp>
        <p:nvSpPr>
          <p:cNvPr id="15" name="Text 12">
            <a:extLst xmlns:a="http://schemas.openxmlformats.org/drawingml/2006/main">
              <a:ext uri="{FF2B5EF4-FFF2-40B4-BE49-F238E27FC236}">
                <a16:creationId xmlns:a16="http://schemas.microsoft.com/office/drawing/2014/main" id="{D67FA98E-B19D-4DC7-BE80-4CDFEB941285}"/>
              </a:ext>
            </a:extLst>
          </p:cNvPr>
          <p:cNvSpPr>
            <a:spLocks xmlns:a="http://schemas.openxmlformats.org/drawingml/2006/main" noGrp="1"/>
          </p:cNvSpPr>
          <p:nvPr/>
        </p:nvSpPr>
        <p:spPr>
          <a:xfrm xmlns:a="http://schemas.openxmlformats.org/drawingml/2006/main">
            <a:off x="4541520" y="1636776"/>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29ABE2"/>
                </a:solidFill>
                <a:latin typeface="Calibri"/>
                <a:ea typeface="Calibri"/>
                <a:cs typeface="Calibri"/>
              </a:rPr>
              <a:t>NEVER IN IMAGES</a:t>
            </a:r>
            <a:endParaRPr sz="900"/>
          </a:p>
        </p:txBody>
      </p:sp>
      <p:sp>
        <p:nvSpPr>
          <p:cNvPr id="16" name="Text 13">
            <a:extLst xmlns:a="http://schemas.openxmlformats.org/drawingml/2006/main">
              <a:ext uri="{FF2B5EF4-FFF2-40B4-BE49-F238E27FC236}">
                <a16:creationId xmlns:a16="http://schemas.microsoft.com/office/drawing/2014/main" id="{474D7EBA-A18D-4479-BD7C-417CAC0B7FFE}"/>
              </a:ext>
            </a:extLst>
          </p:cNvPr>
          <p:cNvSpPr>
            <a:spLocks xmlns:a="http://schemas.openxmlformats.org/drawingml/2006/main" noGrp="1"/>
          </p:cNvSpPr>
          <p:nvPr/>
        </p:nvSpPr>
        <p:spPr>
          <a:xfrm xmlns:a="http://schemas.openxmlformats.org/drawingml/2006/main">
            <a:off x="4541520" y="1883664"/>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Layers are archives</a:t>
            </a:r>
            <a:endParaRPr sz="1250"/>
          </a:p>
        </p:txBody>
      </p:sp>
      <p:sp>
        <p:nvSpPr>
          <p:cNvPr id="17" name="Text 14">
            <a:extLst xmlns:a="http://schemas.openxmlformats.org/drawingml/2006/main">
              <a:ext uri="{FF2B5EF4-FFF2-40B4-BE49-F238E27FC236}">
                <a16:creationId xmlns:a16="http://schemas.microsoft.com/office/drawing/2014/main" id="{8EB3551D-B7EB-4307-A3D9-330F09782C87}"/>
              </a:ext>
            </a:extLst>
          </p:cNvPr>
          <p:cNvSpPr>
            <a:spLocks xmlns:a="http://schemas.openxmlformats.org/drawingml/2006/main" noGrp="1"/>
          </p:cNvSpPr>
          <p:nvPr/>
        </p:nvSpPr>
        <p:spPr>
          <a:xfrm xmlns:a="http://schemas.openxmlformats.org/drawingml/2006/main">
            <a:off x="4541520" y="2404872"/>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docker history reads them (the M3 simulation proved it). A baked-in secret ships in every single pull.</a:t>
            </a:r>
            <a:endParaRPr sz="980"/>
          </a:p>
        </p:txBody>
      </p:sp>
      <p:sp>
        <p:nvSpPr>
          <p:cNvPr id="18" name="Shape 15">
            <a:extLst xmlns:a="http://schemas.openxmlformats.org/drawingml/2006/main">
              <a:ext uri="{FF2B5EF4-FFF2-40B4-BE49-F238E27FC236}">
                <a16:creationId xmlns:a16="http://schemas.microsoft.com/office/drawing/2014/main" id="{0789F174-59EE-427E-AD20-6944F03BEC3C}"/>
              </a:ext>
            </a:extLst>
          </p:cNvPr>
          <p:cNvSpPr>
            <a:spLocks xmlns:a="http://schemas.openxmlformats.org/drawingml/2006/main" noGrp="1"/>
          </p:cNvSpPr>
          <p:nvPr/>
        </p:nvSpPr>
        <p:spPr>
          <a:xfrm xmlns:a="http://schemas.openxmlformats.org/drawingml/2006/main">
            <a:off x="8141208" y="1517904"/>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19" name="Shape 16">
            <a:extLst xmlns:a="http://schemas.openxmlformats.org/drawingml/2006/main">
              <a:ext uri="{FF2B5EF4-FFF2-40B4-BE49-F238E27FC236}">
                <a16:creationId xmlns:a16="http://schemas.microsoft.com/office/drawing/2014/main" id="{A8F858A7-EBA4-44EF-8106-46884945BCF3}"/>
              </a:ext>
            </a:extLst>
          </p:cNvPr>
          <p:cNvSpPr>
            <a:spLocks xmlns:a="http://schemas.openxmlformats.org/drawingml/2006/main" noGrp="1"/>
          </p:cNvSpPr>
          <p:nvPr/>
        </p:nvSpPr>
        <p:spPr>
          <a:xfrm xmlns:a="http://schemas.openxmlformats.org/drawingml/2006/main">
            <a:off x="8141208" y="1517904"/>
            <a:ext cx="82296" cy="2272284"/>
          </a:xfrm>
          <a:prstGeom xmlns:a="http://schemas.openxmlformats.org/drawingml/2006/main" prst="rect">
            <a:avLst/>
          </a:prstGeom>
          <a:solidFill xmlns:a="http://schemas.openxmlformats.org/drawingml/2006/main">
            <a:srgbClr val="F58220"/>
          </a:solidFill>
        </p:spPr>
      </p:sp>
      <p:sp>
        <p:nvSpPr>
          <p:cNvPr id="20" name="Text 17">
            <a:extLst xmlns:a="http://schemas.openxmlformats.org/drawingml/2006/main">
              <a:ext uri="{FF2B5EF4-FFF2-40B4-BE49-F238E27FC236}">
                <a16:creationId xmlns:a16="http://schemas.microsoft.com/office/drawing/2014/main" id="{80A5C52D-558F-4E9A-8F5E-3663B2E4FF67}"/>
              </a:ext>
            </a:extLst>
          </p:cNvPr>
          <p:cNvSpPr>
            <a:spLocks xmlns:a="http://schemas.openxmlformats.org/drawingml/2006/main" noGrp="1"/>
          </p:cNvSpPr>
          <p:nvPr/>
        </p:nvSpPr>
        <p:spPr>
          <a:xfrm xmlns:a="http://schemas.openxmlformats.org/drawingml/2006/main">
            <a:off x="8360664" y="1636776"/>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F58220"/>
                </a:solidFill>
                <a:latin typeface="Calibri"/>
                <a:ea typeface="Calibri"/>
                <a:cs typeface="Calibri"/>
              </a:rPr>
              <a:t>NEVER IN LOGS</a:t>
            </a:r>
            <a:endParaRPr sz="900"/>
          </a:p>
        </p:txBody>
      </p:sp>
      <p:sp>
        <p:nvSpPr>
          <p:cNvPr id="21" name="Text 18">
            <a:extLst xmlns:a="http://schemas.openxmlformats.org/drawingml/2006/main">
              <a:ext uri="{FF2B5EF4-FFF2-40B4-BE49-F238E27FC236}">
                <a16:creationId xmlns:a16="http://schemas.microsoft.com/office/drawing/2014/main" id="{A29033EA-6376-4332-969D-61E4AA67CE3A}"/>
              </a:ext>
            </a:extLst>
          </p:cNvPr>
          <p:cNvSpPr>
            <a:spLocks xmlns:a="http://schemas.openxmlformats.org/drawingml/2006/main" noGrp="1"/>
          </p:cNvSpPr>
          <p:nvPr/>
        </p:nvSpPr>
        <p:spPr>
          <a:xfrm xmlns:a="http://schemas.openxmlformats.org/drawingml/2006/main">
            <a:off x="8360664" y="1883664"/>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The most common leak</a:t>
            </a:r>
            <a:endParaRPr sz="1250"/>
          </a:p>
        </p:txBody>
      </p:sp>
      <p:sp>
        <p:nvSpPr>
          <p:cNvPr id="22" name="Text 19">
            <a:extLst xmlns:a="http://schemas.openxmlformats.org/drawingml/2006/main">
              <a:ext uri="{FF2B5EF4-FFF2-40B4-BE49-F238E27FC236}">
                <a16:creationId xmlns:a16="http://schemas.microsoft.com/office/drawing/2014/main" id="{844F2941-5C72-47CB-A651-309B3CACE597}"/>
              </a:ext>
            </a:extLst>
          </p:cNvPr>
          <p:cNvSpPr>
            <a:spLocks xmlns:a="http://schemas.openxmlformats.org/drawingml/2006/main" noGrp="1"/>
          </p:cNvSpPr>
          <p:nvPr/>
        </p:nvSpPr>
        <p:spPr>
          <a:xfrm xmlns:a="http://schemas.openxmlformats.org/drawingml/2006/main">
            <a:off x="8360664" y="2404872"/>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The logging setup masks known secret fields defensively — the one control that holds when the others fail.</a:t>
            </a:r>
            <a:endParaRPr sz="980"/>
          </a:p>
        </p:txBody>
      </p:sp>
      <p:sp>
        <p:nvSpPr>
          <p:cNvPr id="23" name="Shape 20">
            <a:extLst xmlns:a="http://schemas.openxmlformats.org/drawingml/2006/main">
              <a:ext uri="{FF2B5EF4-FFF2-40B4-BE49-F238E27FC236}">
                <a16:creationId xmlns:a16="http://schemas.microsoft.com/office/drawing/2014/main" id="{731BDA7E-BF65-475B-9686-9E0ACD2A7A4D}"/>
              </a:ext>
            </a:extLst>
          </p:cNvPr>
          <p:cNvSpPr>
            <a:spLocks xmlns:a="http://schemas.openxmlformats.org/drawingml/2006/main" noGrp="1"/>
          </p:cNvSpPr>
          <p:nvPr/>
        </p:nvSpPr>
        <p:spPr>
          <a:xfrm xmlns:a="http://schemas.openxmlformats.org/drawingml/2006/main">
            <a:off x="502920" y="4046220"/>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24" name="Shape 21">
            <a:extLst xmlns:a="http://schemas.openxmlformats.org/drawingml/2006/main">
              <a:ext uri="{FF2B5EF4-FFF2-40B4-BE49-F238E27FC236}">
                <a16:creationId xmlns:a16="http://schemas.microsoft.com/office/drawing/2014/main" id="{16641F18-2ED2-4F95-9A77-A8BD9511701B}"/>
              </a:ext>
            </a:extLst>
          </p:cNvPr>
          <p:cNvSpPr>
            <a:spLocks xmlns:a="http://schemas.openxmlformats.org/drawingml/2006/main" noGrp="1"/>
          </p:cNvSpPr>
          <p:nvPr/>
        </p:nvSpPr>
        <p:spPr>
          <a:xfrm xmlns:a="http://schemas.openxmlformats.org/drawingml/2006/main">
            <a:off x="502920" y="4046220"/>
            <a:ext cx="82296" cy="2272284"/>
          </a:xfrm>
          <a:prstGeom xmlns:a="http://schemas.openxmlformats.org/drawingml/2006/main" prst="rect">
            <a:avLst/>
          </a:prstGeom>
          <a:solidFill xmlns:a="http://schemas.openxmlformats.org/drawingml/2006/main">
            <a:srgbClr val="8DC63F"/>
          </a:solidFill>
        </p:spPr>
      </p:sp>
      <p:sp>
        <p:nvSpPr>
          <p:cNvPr id="25" name="Text 22">
            <a:extLst xmlns:a="http://schemas.openxmlformats.org/drawingml/2006/main">
              <a:ext uri="{FF2B5EF4-FFF2-40B4-BE49-F238E27FC236}">
                <a16:creationId xmlns:a16="http://schemas.microsoft.com/office/drawing/2014/main" id="{CEEE7B8C-F37F-44F7-84E3-FE188D7CCC85}"/>
              </a:ext>
            </a:extLst>
          </p:cNvPr>
          <p:cNvSpPr>
            <a:spLocks xmlns:a="http://schemas.openxmlformats.org/drawingml/2006/main" noGrp="1"/>
          </p:cNvSpPr>
          <p:nvPr/>
        </p:nvSpPr>
        <p:spPr>
          <a:xfrm xmlns:a="http://schemas.openxmlformats.org/drawingml/2006/main">
            <a:off x="722376" y="4165092"/>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8DC63F"/>
                </a:solidFill>
                <a:latin typeface="Calibri"/>
                <a:ea typeface="Calibri"/>
                <a:cs typeface="Calibri"/>
              </a:rPr>
              <a:t>DELIVERY</a:t>
            </a:r>
            <a:endParaRPr sz="900"/>
          </a:p>
        </p:txBody>
      </p:sp>
      <p:sp>
        <p:nvSpPr>
          <p:cNvPr id="26" name="Text 23">
            <a:extLst xmlns:a="http://schemas.openxmlformats.org/drawingml/2006/main">
              <a:ext uri="{FF2B5EF4-FFF2-40B4-BE49-F238E27FC236}">
                <a16:creationId xmlns:a16="http://schemas.microsoft.com/office/drawing/2014/main" id="{F8477796-B567-4872-A332-23BD4C273BD9}"/>
              </a:ext>
            </a:extLst>
          </p:cNvPr>
          <p:cNvSpPr>
            <a:spLocks xmlns:a="http://schemas.openxmlformats.org/drawingml/2006/main" noGrp="1"/>
          </p:cNvSpPr>
          <p:nvPr/>
        </p:nvSpPr>
        <p:spPr>
          <a:xfrm xmlns:a="http://schemas.openxmlformats.org/drawingml/2006/main">
            <a:off x="722376" y="4411980"/>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Injected at runtime</a:t>
            </a:r>
            <a:endParaRPr sz="1250"/>
          </a:p>
        </p:txBody>
      </p:sp>
      <p:sp>
        <p:nvSpPr>
          <p:cNvPr id="27" name="Text 24">
            <a:extLst xmlns:a="http://schemas.openxmlformats.org/drawingml/2006/main">
              <a:ext uri="{FF2B5EF4-FFF2-40B4-BE49-F238E27FC236}">
                <a16:creationId xmlns:a16="http://schemas.microsoft.com/office/drawing/2014/main" id="{FBA8308C-C567-4F77-8C2D-4717541D56EF}"/>
              </a:ext>
            </a:extLst>
          </p:cNvPr>
          <p:cNvSpPr>
            <a:spLocks xmlns:a="http://schemas.openxmlformats.org/drawingml/2006/main" noGrp="1"/>
          </p:cNvSpPr>
          <p:nvPr/>
        </p:nvSpPr>
        <p:spPr>
          <a:xfrm xmlns:a="http://schemas.openxmlformats.org/drawingml/2006/main">
            <a:off x="722376" y="4933188"/>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Env vars from the platform: compose env_file (dev), CI secrets.*, vault / secret-manager (prod).</a:t>
            </a:r>
            <a:endParaRPr sz="980"/>
          </a:p>
        </p:txBody>
      </p:sp>
      <p:sp>
        <p:nvSpPr>
          <p:cNvPr id="28" name="Shape 25">
            <a:extLst xmlns:a="http://schemas.openxmlformats.org/drawingml/2006/main">
              <a:ext uri="{FF2B5EF4-FFF2-40B4-BE49-F238E27FC236}">
                <a16:creationId xmlns:a16="http://schemas.microsoft.com/office/drawing/2014/main" id="{83711B89-07E9-4A46-AB79-6DE592C83360}"/>
              </a:ext>
            </a:extLst>
          </p:cNvPr>
          <p:cNvSpPr>
            <a:spLocks xmlns:a="http://schemas.openxmlformats.org/drawingml/2006/main" noGrp="1"/>
          </p:cNvSpPr>
          <p:nvPr/>
        </p:nvSpPr>
        <p:spPr>
          <a:xfrm xmlns:a="http://schemas.openxmlformats.org/drawingml/2006/main">
            <a:off x="4322064" y="4046220"/>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29" name="Shape 26">
            <a:extLst xmlns:a="http://schemas.openxmlformats.org/drawingml/2006/main">
              <a:ext uri="{FF2B5EF4-FFF2-40B4-BE49-F238E27FC236}">
                <a16:creationId xmlns:a16="http://schemas.microsoft.com/office/drawing/2014/main" id="{68514E1F-FBE7-4E09-883D-E5FEF8C506F7}"/>
              </a:ext>
            </a:extLst>
          </p:cNvPr>
          <p:cNvSpPr>
            <a:spLocks xmlns:a="http://schemas.openxmlformats.org/drawingml/2006/main" noGrp="1"/>
          </p:cNvSpPr>
          <p:nvPr/>
        </p:nvSpPr>
        <p:spPr>
          <a:xfrm xmlns:a="http://schemas.openxmlformats.org/drawingml/2006/main">
            <a:off x="4322064" y="4046220"/>
            <a:ext cx="82296" cy="2272284"/>
          </a:xfrm>
          <a:prstGeom xmlns:a="http://schemas.openxmlformats.org/drawingml/2006/main" prst="rect">
            <a:avLst/>
          </a:prstGeom>
          <a:solidFill xmlns:a="http://schemas.openxmlformats.org/drawingml/2006/main">
            <a:srgbClr val="E8503A"/>
          </a:solidFill>
        </p:spPr>
      </p:sp>
      <p:sp>
        <p:nvSpPr>
          <p:cNvPr id="30" name="Text 27">
            <a:extLst xmlns:a="http://schemas.openxmlformats.org/drawingml/2006/main">
              <a:ext uri="{FF2B5EF4-FFF2-40B4-BE49-F238E27FC236}">
                <a16:creationId xmlns:a16="http://schemas.microsoft.com/office/drawing/2014/main" id="{84956A52-E68A-48B7-A148-18A0F408BE48}"/>
              </a:ext>
            </a:extLst>
          </p:cNvPr>
          <p:cNvSpPr>
            <a:spLocks xmlns:a="http://schemas.openxmlformats.org/drawingml/2006/main" noGrp="1"/>
          </p:cNvSpPr>
          <p:nvPr/>
        </p:nvSpPr>
        <p:spPr>
          <a:xfrm xmlns:a="http://schemas.openxmlformats.org/drawingml/2006/main">
            <a:off x="4541520" y="4165092"/>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E8503A"/>
                </a:solidFill>
                <a:latin typeface="Calibri"/>
                <a:ea typeface="Calibri"/>
                <a:cs typeface="Calibri"/>
              </a:rPr>
              <a:t>DETECTION</a:t>
            </a:r>
            <a:endParaRPr sz="900"/>
          </a:p>
        </p:txBody>
      </p:sp>
      <p:sp>
        <p:nvSpPr>
          <p:cNvPr id="31" name="Text 28">
            <a:extLst xmlns:a="http://schemas.openxmlformats.org/drawingml/2006/main">
              <a:ext uri="{FF2B5EF4-FFF2-40B4-BE49-F238E27FC236}">
                <a16:creationId xmlns:a16="http://schemas.microsoft.com/office/drawing/2014/main" id="{EC107773-EBDD-4380-AB42-E7DC9E2AE499}"/>
              </a:ext>
            </a:extLst>
          </p:cNvPr>
          <p:cNvSpPr>
            <a:spLocks xmlns:a="http://schemas.openxmlformats.org/drawingml/2006/main" noGrp="1"/>
          </p:cNvSpPr>
          <p:nvPr/>
        </p:nvSpPr>
        <p:spPr>
          <a:xfrm xmlns:a="http://schemas.openxmlformats.org/drawingml/2006/main">
            <a:off x="4541520" y="4411980"/>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gitleaks + pre-commit</a:t>
            </a:r>
            <a:endParaRPr sz="1250"/>
          </a:p>
        </p:txBody>
      </p:sp>
      <p:sp>
        <p:nvSpPr>
          <p:cNvPr id="32" name="Text 29">
            <a:extLst xmlns:a="http://schemas.openxmlformats.org/drawingml/2006/main">
              <a:ext uri="{FF2B5EF4-FFF2-40B4-BE49-F238E27FC236}">
                <a16:creationId xmlns:a16="http://schemas.microsoft.com/office/drawing/2014/main" id="{0FA2C2CA-14E8-4E0C-B2FC-A12F5568F828}"/>
              </a:ext>
            </a:extLst>
          </p:cNvPr>
          <p:cNvSpPr>
            <a:spLocks xmlns:a="http://schemas.openxmlformats.org/drawingml/2006/main" noGrp="1"/>
          </p:cNvSpPr>
          <p:nvPr/>
        </p:nvSpPr>
        <p:spPr>
          <a:xfrm xmlns:a="http://schemas.openxmlformats.org/drawingml/2006/main">
            <a:off x="4541520" y="4933188"/>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gitleaks in CI and a pre-commit hook locally catch leaks before they ever land in history.</a:t>
            </a:r>
            <a:endParaRPr sz="980"/>
          </a:p>
        </p:txBody>
      </p:sp>
      <p:sp>
        <p:nvSpPr>
          <p:cNvPr id="33" name="Shape 30">
            <a:extLst xmlns:a="http://schemas.openxmlformats.org/drawingml/2006/main">
              <a:ext uri="{FF2B5EF4-FFF2-40B4-BE49-F238E27FC236}">
                <a16:creationId xmlns:a16="http://schemas.microsoft.com/office/drawing/2014/main" id="{9962487A-B90B-4806-96F9-ACA6E835964C}"/>
              </a:ext>
            </a:extLst>
          </p:cNvPr>
          <p:cNvSpPr>
            <a:spLocks xmlns:a="http://schemas.openxmlformats.org/drawingml/2006/main" noGrp="1"/>
          </p:cNvSpPr>
          <p:nvPr/>
        </p:nvSpPr>
        <p:spPr>
          <a:xfrm xmlns:a="http://schemas.openxmlformats.org/drawingml/2006/main">
            <a:off x="8141208" y="4046220"/>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34" name="Shape 31">
            <a:extLst xmlns:a="http://schemas.openxmlformats.org/drawingml/2006/main">
              <a:ext uri="{FF2B5EF4-FFF2-40B4-BE49-F238E27FC236}">
                <a16:creationId xmlns:a16="http://schemas.microsoft.com/office/drawing/2014/main" id="{A31F94BA-95EA-44D4-A4C6-D1016D88C559}"/>
              </a:ext>
            </a:extLst>
          </p:cNvPr>
          <p:cNvSpPr>
            <a:spLocks xmlns:a="http://schemas.openxmlformats.org/drawingml/2006/main" noGrp="1"/>
          </p:cNvSpPr>
          <p:nvPr/>
        </p:nvSpPr>
        <p:spPr>
          <a:xfrm xmlns:a="http://schemas.openxmlformats.org/drawingml/2006/main">
            <a:off x="8141208" y="4046220"/>
            <a:ext cx="82296" cy="2272284"/>
          </a:xfrm>
          <a:prstGeom xmlns:a="http://schemas.openxmlformats.org/drawingml/2006/main" prst="rect">
            <a:avLst/>
          </a:prstGeom>
          <a:solidFill xmlns:a="http://schemas.openxmlformats.org/drawingml/2006/main">
            <a:srgbClr val="7B61A6"/>
          </a:solidFill>
        </p:spPr>
      </p:sp>
      <p:sp>
        <p:nvSpPr>
          <p:cNvPr id="35" name="Text 32">
            <a:extLst xmlns:a="http://schemas.openxmlformats.org/drawingml/2006/main">
              <a:ext uri="{FF2B5EF4-FFF2-40B4-BE49-F238E27FC236}">
                <a16:creationId xmlns:a16="http://schemas.microsoft.com/office/drawing/2014/main" id="{C1EBD27D-7F63-4524-A569-FC4BCBC1466B}"/>
              </a:ext>
            </a:extLst>
          </p:cNvPr>
          <p:cNvSpPr>
            <a:spLocks xmlns:a="http://schemas.openxmlformats.org/drawingml/2006/main" noGrp="1"/>
          </p:cNvSpPr>
          <p:nvPr/>
        </p:nvSpPr>
        <p:spPr>
          <a:xfrm xmlns:a="http://schemas.openxmlformats.org/drawingml/2006/main">
            <a:off x="8360664" y="4165092"/>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7B61A6"/>
                </a:solidFill>
                <a:latin typeface="Calibri"/>
                <a:ea typeface="Calibri"/>
                <a:cs typeface="Calibri"/>
              </a:rPr>
              <a:t>SecretStr</a:t>
            </a:r>
            <a:endParaRPr sz="900"/>
          </a:p>
        </p:txBody>
      </p:sp>
      <p:sp>
        <p:nvSpPr>
          <p:cNvPr id="36" name="Text 33">
            <a:extLst xmlns:a="http://schemas.openxmlformats.org/drawingml/2006/main">
              <a:ext uri="{FF2B5EF4-FFF2-40B4-BE49-F238E27FC236}">
                <a16:creationId xmlns:a16="http://schemas.microsoft.com/office/drawing/2014/main" id="{760E22C0-4854-4508-8CC2-068CD54B039F}"/>
              </a:ext>
            </a:extLst>
          </p:cNvPr>
          <p:cNvSpPr>
            <a:spLocks xmlns:a="http://schemas.openxmlformats.org/drawingml/2006/main" noGrp="1"/>
          </p:cNvSpPr>
          <p:nvPr/>
        </p:nvSpPr>
        <p:spPr>
          <a:xfrm xmlns:a="http://schemas.openxmlformats.org/drawingml/2006/main">
            <a:off x="8360664" y="4411980"/>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Masked by type</a:t>
            </a:r>
            <a:endParaRPr sz="1250"/>
          </a:p>
        </p:txBody>
      </p:sp>
      <p:sp>
        <p:nvSpPr>
          <p:cNvPr id="37" name="Text 34">
            <a:extLst xmlns:a="http://schemas.openxmlformats.org/drawingml/2006/main">
              <a:ext uri="{FF2B5EF4-FFF2-40B4-BE49-F238E27FC236}">
                <a16:creationId xmlns:a16="http://schemas.microsoft.com/office/drawing/2014/main" id="{95AF3E0E-C11C-4FDD-AC58-11382D043882}"/>
              </a:ext>
            </a:extLst>
          </p:cNvPr>
          <p:cNvSpPr>
            <a:spLocks xmlns:a="http://schemas.openxmlformats.org/drawingml/2006/main" noGrp="1"/>
          </p:cNvSpPr>
          <p:nvPr/>
        </p:nvSpPr>
        <p:spPr>
          <a:xfrm xmlns:a="http://schemas.openxmlformats.org/drawingml/2006/main">
            <a:off x="8360664" y="4933188"/>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Masked in reprs and prints; .get_secret_value() makes every intentional use grep-able in review.</a:t>
            </a:r>
            <a:endParaRPr sz="980"/>
          </a:p>
        </p:txBody>
      </p:sp>
    </p:spTree>
    <p:extLst>
      <p:ext uri="{BB962C8B-B14F-4D97-AF65-F5344CB8AC3E}">
        <p14:creationId xmlns:p14="http://schemas.microsoft.com/office/powerpoint/2010/main" val="1212239949"/>
      </p:ext>
    </p:extLst>
  </p:cSld>
</p:sld>
</file>

<file path=ppt/slides/slide13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9DD4B79-67CE-4B17-BD21-F376767A84B7}"/>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Secret leak — the response drill</a:t>
            </a:r>
            <a:endParaRPr sz="2600"/>
          </a:p>
        </p:txBody>
      </p:sp>
      <p:sp>
        <p:nvSpPr>
          <p:cNvPr id="3" name="Text 1">
            <a:extLst xmlns:a="http://schemas.openxmlformats.org/drawingml/2006/main">
              <a:ext uri="{FF2B5EF4-FFF2-40B4-BE49-F238E27FC236}">
                <a16:creationId xmlns:a16="http://schemas.microsoft.com/office/drawing/2014/main" id="{2F61FCD2-3019-4417-AD25-5D7F731FF720}"/>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تسريب سرّ — تمرين الاستجابة</a:t>
            </a:r>
            <a:endParaRPr sz="1300"/>
          </a:p>
        </p:txBody>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9fa61bf6555a4123"/>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81098766-7C68-4CB7-9D2B-841D1ADA96BD}"/>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F85D6598-FA1E-4E80-99E3-695E8DCFB056}"/>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6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6EAE3A66-2276-4822-AD58-3EC249AAE4AB}"/>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133</a:t>
            </a:r>
            <a:endParaRPr sz="850"/>
          </a:p>
        </p:txBody>
      </p:sp>
      <p:sp>
        <p:nvSpPr>
          <p:cNvPr id="8" name="Shape 5">
            <a:extLst xmlns:a="http://schemas.openxmlformats.org/drawingml/2006/main">
              <a:ext uri="{FF2B5EF4-FFF2-40B4-BE49-F238E27FC236}">
                <a16:creationId xmlns:a16="http://schemas.microsoft.com/office/drawing/2014/main" id="{097CB996-1FF8-4EC5-9E13-7F0577E35825}"/>
              </a:ext>
            </a:extLst>
          </p:cNvPr>
          <p:cNvSpPr>
            <a:spLocks xmlns:a="http://schemas.openxmlformats.org/drawingml/2006/main" noGrp="1"/>
          </p:cNvSpPr>
          <p:nvPr/>
        </p:nvSpPr>
        <p:spPr>
          <a:xfrm xmlns:a="http://schemas.openxmlformats.org/drawingml/2006/main">
            <a:off x="502920" y="1508760"/>
            <a:ext cx="5440680" cy="3977640"/>
          </a:xfrm>
          <a:prstGeom xmlns:a="http://schemas.openxmlformats.org/drawingml/2006/main" prst="roundRect">
            <a:avLst>
              <a:gd name="adj" fmla="val 1609"/>
            </a:avLst>
          </a:prstGeom>
          <a:solidFill xmlns:a="http://schemas.openxmlformats.org/drawingml/2006/main">
            <a:srgbClr val="FFFFFF"/>
          </a:solidFill>
          <a:ln xmlns:a="http://schemas.openxmlformats.org/drawingml/2006/main" w="12700">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99E454F6-AC22-4348-BC22-83F559EAC53F}"/>
              </a:ext>
            </a:extLst>
          </p:cNvPr>
          <p:cNvSpPr>
            <a:spLocks xmlns:a="http://schemas.openxmlformats.org/drawingml/2006/main" noGrp="1"/>
          </p:cNvSpPr>
          <p:nvPr/>
        </p:nvSpPr>
        <p:spPr>
          <a:xfrm xmlns:a="http://schemas.openxmlformats.org/drawingml/2006/main">
            <a:off x="502920" y="1508760"/>
            <a:ext cx="5440680" cy="475488"/>
          </a:xfrm>
          <a:prstGeom xmlns:a="http://schemas.openxmlformats.org/drawingml/2006/main" prst="roundRect">
            <a:avLst>
              <a:gd name="adj" fmla="val 13462"/>
            </a:avLst>
          </a:prstGeom>
          <a:solidFill xmlns:a="http://schemas.openxmlformats.org/drawingml/2006/main">
            <a:srgbClr val="FADDD8"/>
          </a:solidFill>
        </p:spPr>
      </p:sp>
      <p:sp>
        <p:nvSpPr>
          <p:cNvPr id="10" name="Text 7">
            <a:extLst xmlns:a="http://schemas.openxmlformats.org/drawingml/2006/main">
              <a:ext uri="{FF2B5EF4-FFF2-40B4-BE49-F238E27FC236}">
                <a16:creationId xmlns:a16="http://schemas.microsoft.com/office/drawing/2014/main" id="{00501AEA-C2E1-4587-87B9-43ECC829D052}"/>
              </a:ext>
            </a:extLst>
          </p:cNvPr>
          <p:cNvSpPr>
            <a:spLocks xmlns:a="http://schemas.openxmlformats.org/drawingml/2006/main" noGrp="1"/>
          </p:cNvSpPr>
          <p:nvPr/>
        </p:nvSpPr>
        <p:spPr>
          <a:xfrm xmlns:a="http://schemas.openxmlformats.org/drawingml/2006/main">
            <a:off x="685800" y="1545336"/>
            <a:ext cx="5074920"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E8503A"/>
                </a:solidFill>
                <a:latin typeface="Calibri"/>
                <a:ea typeface="Calibri"/>
                <a:cs typeface="Calibri"/>
              </a:rPr>
              <a:t>Wrong: just delete the commit</a:t>
            </a:r>
            <a:endParaRPr sz="1300"/>
          </a:p>
        </p:txBody>
      </p:sp>
      <p:sp>
        <p:nvSpPr>
          <p:cNvPr id="11" name="Text 8">
            <a:extLst xmlns:a="http://schemas.openxmlformats.org/drawingml/2006/main">
              <a:ext uri="{FF2B5EF4-FFF2-40B4-BE49-F238E27FC236}">
                <a16:creationId xmlns:a16="http://schemas.microsoft.com/office/drawing/2014/main" id="{985E7CA2-7ABD-45B6-97EE-D5CBD126EF2A}"/>
              </a:ext>
            </a:extLst>
          </p:cNvPr>
          <p:cNvSpPr>
            <a:spLocks xmlns:a="http://schemas.openxmlformats.org/drawingml/2006/main" noGrp="1"/>
          </p:cNvSpPr>
          <p:nvPr/>
        </p:nvSpPr>
        <p:spPr>
          <a:xfrm xmlns:a="http://schemas.openxmlformats.org/drawingml/2006/main">
            <a:off x="667512" y="21671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8503A"/>
                </a:solidFill>
                <a:latin typeface="Calibri"/>
                <a:ea typeface="Calibri"/>
                <a:cs typeface="Calibri"/>
              </a:rPr>
              <a:t>✕</a:t>
            </a:r>
            <a:endParaRPr sz="1200"/>
          </a:p>
        </p:txBody>
      </p:sp>
      <p:sp>
        <p:nvSpPr>
          <p:cNvPr id="12" name="Text 9">
            <a:extLst xmlns:a="http://schemas.openxmlformats.org/drawingml/2006/main">
              <a:ext uri="{FF2B5EF4-FFF2-40B4-BE49-F238E27FC236}">
                <a16:creationId xmlns:a16="http://schemas.microsoft.com/office/drawing/2014/main" id="{56F6E341-AF09-42F0-8695-D44F6C8E3A17}"/>
              </a:ext>
            </a:extLst>
          </p:cNvPr>
          <p:cNvSpPr>
            <a:spLocks xmlns:a="http://schemas.openxmlformats.org/drawingml/2006/main" noGrp="1"/>
          </p:cNvSpPr>
          <p:nvPr/>
        </p:nvSpPr>
        <p:spPr>
          <a:xfrm xmlns:a="http://schemas.openxmlformats.org/drawingml/2006/main">
            <a:off x="978408" y="21396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'I removed the .env commit, we're fine'</a:t>
            </a:r>
            <a:endParaRPr sz="1050"/>
          </a:p>
        </p:txBody>
      </p:sp>
      <p:sp>
        <p:nvSpPr>
          <p:cNvPr id="13" name="Text 10">
            <a:extLst xmlns:a="http://schemas.openxmlformats.org/drawingml/2006/main">
              <a:ext uri="{FF2B5EF4-FFF2-40B4-BE49-F238E27FC236}">
                <a16:creationId xmlns:a16="http://schemas.microsoft.com/office/drawing/2014/main" id="{59F0921D-33CF-4140-9AA3-152FBF39D8F7}"/>
              </a:ext>
            </a:extLst>
          </p:cNvPr>
          <p:cNvSpPr>
            <a:spLocks xmlns:a="http://schemas.openxmlformats.org/drawingml/2006/main" noGrp="1"/>
          </p:cNvSpPr>
          <p:nvPr/>
        </p:nvSpPr>
        <p:spPr>
          <a:xfrm xmlns:a="http://schemas.openxmlformats.org/drawingml/2006/main">
            <a:off x="667512" y="29672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8503A"/>
                </a:solidFill>
                <a:latin typeface="Calibri"/>
                <a:ea typeface="Calibri"/>
                <a:cs typeface="Calibri"/>
              </a:rPr>
              <a:t>✕</a:t>
            </a:r>
            <a:endParaRPr sz="1200"/>
          </a:p>
        </p:txBody>
      </p:sp>
      <p:sp>
        <p:nvSpPr>
          <p:cNvPr id="14" name="Text 11">
            <a:extLst xmlns:a="http://schemas.openxmlformats.org/drawingml/2006/main">
              <a:ext uri="{FF2B5EF4-FFF2-40B4-BE49-F238E27FC236}">
                <a16:creationId xmlns:a16="http://schemas.microsoft.com/office/drawing/2014/main" id="{48BAFF00-80E0-4F52-AD0B-AA27229799FD}"/>
              </a:ext>
            </a:extLst>
          </p:cNvPr>
          <p:cNvSpPr>
            <a:spLocks xmlns:a="http://schemas.openxmlformats.org/drawingml/2006/main" noGrp="1"/>
          </p:cNvSpPr>
          <p:nvPr/>
        </p:nvSpPr>
        <p:spPr>
          <a:xfrm xmlns:a="http://schemas.openxmlformats.org/drawingml/2006/main">
            <a:off x="978408" y="29397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The secret is already cloned, forked, in reflog and backups</a:t>
            </a:r>
            <a:endParaRPr sz="1050"/>
          </a:p>
        </p:txBody>
      </p:sp>
      <p:sp>
        <p:nvSpPr>
          <p:cNvPr id="15" name="Text 12">
            <a:extLst xmlns:a="http://schemas.openxmlformats.org/drawingml/2006/main">
              <a:ext uri="{FF2B5EF4-FFF2-40B4-BE49-F238E27FC236}">
                <a16:creationId xmlns:a16="http://schemas.microsoft.com/office/drawing/2014/main" id="{30E9C626-12D1-4E5F-85A8-8201943EE8EA}"/>
              </a:ext>
            </a:extLst>
          </p:cNvPr>
          <p:cNvSpPr>
            <a:spLocks xmlns:a="http://schemas.openxmlformats.org/drawingml/2006/main" noGrp="1"/>
          </p:cNvSpPr>
          <p:nvPr/>
        </p:nvSpPr>
        <p:spPr>
          <a:xfrm xmlns:a="http://schemas.openxmlformats.org/drawingml/2006/main">
            <a:off x="667512" y="37673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8503A"/>
                </a:solidFill>
                <a:latin typeface="Calibri"/>
                <a:ea typeface="Calibri"/>
                <a:cs typeface="Calibri"/>
              </a:rPr>
              <a:t>✕</a:t>
            </a:r>
            <a:endParaRPr sz="1200"/>
          </a:p>
        </p:txBody>
      </p:sp>
      <p:sp>
        <p:nvSpPr>
          <p:cNvPr id="16" name="Text 13">
            <a:extLst xmlns:a="http://schemas.openxmlformats.org/drawingml/2006/main">
              <a:ext uri="{FF2B5EF4-FFF2-40B4-BE49-F238E27FC236}">
                <a16:creationId xmlns:a16="http://schemas.microsoft.com/office/drawing/2014/main" id="{2A52E998-29E8-4326-8E72-D5FC455A0D29}"/>
              </a:ext>
            </a:extLst>
          </p:cNvPr>
          <p:cNvSpPr>
            <a:spLocks xmlns:a="http://schemas.openxmlformats.org/drawingml/2006/main" noGrp="1"/>
          </p:cNvSpPr>
          <p:nvPr/>
        </p:nvSpPr>
        <p:spPr>
          <a:xfrm xmlns:a="http://schemas.openxmlformats.org/drawingml/2006/main">
            <a:off x="978408" y="37398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Deleting the commit does not un-leak it</a:t>
            </a:r>
            <a:endParaRPr sz="1050"/>
          </a:p>
        </p:txBody>
      </p:sp>
      <p:sp>
        <p:nvSpPr>
          <p:cNvPr id="17" name="Text 14">
            <a:extLst xmlns:a="http://schemas.openxmlformats.org/drawingml/2006/main">
              <a:ext uri="{FF2B5EF4-FFF2-40B4-BE49-F238E27FC236}">
                <a16:creationId xmlns:a16="http://schemas.microsoft.com/office/drawing/2014/main" id="{22568BD7-7D70-401C-A436-7683905A7AAC}"/>
              </a:ext>
            </a:extLst>
          </p:cNvPr>
          <p:cNvSpPr>
            <a:spLocks xmlns:a="http://schemas.openxmlformats.org/drawingml/2006/main" noGrp="1"/>
          </p:cNvSpPr>
          <p:nvPr/>
        </p:nvSpPr>
        <p:spPr>
          <a:xfrm xmlns:a="http://schemas.openxmlformats.org/drawingml/2006/main">
            <a:off x="667512" y="45674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8503A"/>
                </a:solidFill>
                <a:latin typeface="Calibri"/>
                <a:ea typeface="Calibri"/>
                <a:cs typeface="Calibri"/>
              </a:rPr>
              <a:t>✕</a:t>
            </a:r>
            <a:endParaRPr sz="1200"/>
          </a:p>
        </p:txBody>
      </p:sp>
      <p:sp>
        <p:nvSpPr>
          <p:cNvPr id="18" name="Text 15">
            <a:extLst xmlns:a="http://schemas.openxmlformats.org/drawingml/2006/main">
              <a:ext uri="{FF2B5EF4-FFF2-40B4-BE49-F238E27FC236}">
                <a16:creationId xmlns:a16="http://schemas.microsoft.com/office/drawing/2014/main" id="{4AA345D3-2265-4B96-B2AC-2AD09A3538E2}"/>
              </a:ext>
            </a:extLst>
          </p:cNvPr>
          <p:cNvSpPr>
            <a:spLocks xmlns:a="http://schemas.openxmlformats.org/drawingml/2006/main" noGrp="1"/>
          </p:cNvSpPr>
          <p:nvPr/>
        </p:nvSpPr>
        <p:spPr>
          <a:xfrm xmlns:a="http://schemas.openxmlformats.org/drawingml/2006/main">
            <a:off x="978408" y="45399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The key is burned the moment it is exposed</a:t>
            </a:r>
            <a:endParaRPr sz="1050"/>
          </a:p>
        </p:txBody>
      </p:sp>
      <p:sp>
        <p:nvSpPr>
          <p:cNvPr id="19" name="Shape 16">
            <a:extLst xmlns:a="http://schemas.openxmlformats.org/drawingml/2006/main">
              <a:ext uri="{FF2B5EF4-FFF2-40B4-BE49-F238E27FC236}">
                <a16:creationId xmlns:a16="http://schemas.microsoft.com/office/drawing/2014/main" id="{6E93CCE0-586F-4853-A957-81E77BA3593A}"/>
              </a:ext>
            </a:extLst>
          </p:cNvPr>
          <p:cNvSpPr>
            <a:spLocks xmlns:a="http://schemas.openxmlformats.org/drawingml/2006/main" noGrp="1"/>
          </p:cNvSpPr>
          <p:nvPr/>
        </p:nvSpPr>
        <p:spPr>
          <a:xfrm xmlns:a="http://schemas.openxmlformats.org/drawingml/2006/main">
            <a:off x="6245352" y="1508760"/>
            <a:ext cx="5440680" cy="3977640"/>
          </a:xfrm>
          <a:prstGeom xmlns:a="http://schemas.openxmlformats.org/drawingml/2006/main" prst="roundRect">
            <a:avLst>
              <a:gd name="adj" fmla="val 1609"/>
            </a:avLst>
          </a:prstGeom>
          <a:solidFill xmlns:a="http://schemas.openxmlformats.org/drawingml/2006/main">
            <a:srgbClr val="FFFFFF"/>
          </a:solidFill>
          <a:ln xmlns:a="http://schemas.openxmlformats.org/drawingml/2006/main" w="12700">
            <a:solidFill>
              <a:srgbClr val="D9E4F5"/>
            </a:solidFill>
            <a:prstDash val="solid"/>
          </a:ln>
        </p:spPr>
      </p:sp>
      <p:sp>
        <p:nvSpPr>
          <p:cNvPr id="20" name="Shape 17">
            <a:extLst xmlns:a="http://schemas.openxmlformats.org/drawingml/2006/main">
              <a:ext uri="{FF2B5EF4-FFF2-40B4-BE49-F238E27FC236}">
                <a16:creationId xmlns:a16="http://schemas.microsoft.com/office/drawing/2014/main" id="{AD168750-9568-43F0-BBCB-1AAC5A905C58}"/>
              </a:ext>
            </a:extLst>
          </p:cNvPr>
          <p:cNvSpPr>
            <a:spLocks xmlns:a="http://schemas.openxmlformats.org/drawingml/2006/main" noGrp="1"/>
          </p:cNvSpPr>
          <p:nvPr/>
        </p:nvSpPr>
        <p:spPr>
          <a:xfrm xmlns:a="http://schemas.openxmlformats.org/drawingml/2006/main">
            <a:off x="6245352" y="1508760"/>
            <a:ext cx="5440680" cy="475488"/>
          </a:xfrm>
          <a:prstGeom xmlns:a="http://schemas.openxmlformats.org/drawingml/2006/main" prst="roundRect">
            <a:avLst>
              <a:gd name="adj" fmla="val 13462"/>
            </a:avLst>
          </a:prstGeom>
          <a:solidFill xmlns:a="http://schemas.openxmlformats.org/drawingml/2006/main">
            <a:srgbClr val="EAF4DC"/>
          </a:solidFill>
        </p:spPr>
      </p:sp>
      <p:sp>
        <p:nvSpPr>
          <p:cNvPr id="21" name="Text 18">
            <a:extLst xmlns:a="http://schemas.openxmlformats.org/drawingml/2006/main">
              <a:ext uri="{FF2B5EF4-FFF2-40B4-BE49-F238E27FC236}">
                <a16:creationId xmlns:a16="http://schemas.microsoft.com/office/drawing/2014/main" id="{54002840-3E3D-4A85-898D-2F4EBE0E86C5}"/>
              </a:ext>
            </a:extLst>
          </p:cNvPr>
          <p:cNvSpPr>
            <a:spLocks xmlns:a="http://schemas.openxmlformats.org/drawingml/2006/main" noGrp="1"/>
          </p:cNvSpPr>
          <p:nvPr/>
        </p:nvSpPr>
        <p:spPr>
          <a:xfrm xmlns:a="http://schemas.openxmlformats.org/drawingml/2006/main">
            <a:off x="6428232" y="1545336"/>
            <a:ext cx="5074920"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5A8F1F"/>
                </a:solidFill>
                <a:latin typeface="Calibri"/>
                <a:ea typeface="Calibri"/>
                <a:cs typeface="Calibri"/>
              </a:rPr>
              <a:t>Right: rotate first, then clean</a:t>
            </a:r>
            <a:endParaRPr sz="1300"/>
          </a:p>
        </p:txBody>
      </p:sp>
      <p:sp>
        <p:nvSpPr>
          <p:cNvPr id="22" name="Text 19">
            <a:extLst xmlns:a="http://schemas.openxmlformats.org/drawingml/2006/main">
              <a:ext uri="{FF2B5EF4-FFF2-40B4-BE49-F238E27FC236}">
                <a16:creationId xmlns:a16="http://schemas.microsoft.com/office/drawing/2014/main" id="{CAB25B04-9C78-4431-AAC8-B6B605F62138}"/>
              </a:ext>
            </a:extLst>
          </p:cNvPr>
          <p:cNvSpPr>
            <a:spLocks xmlns:a="http://schemas.openxmlformats.org/drawingml/2006/main" noGrp="1"/>
          </p:cNvSpPr>
          <p:nvPr/>
        </p:nvSpPr>
        <p:spPr>
          <a:xfrm xmlns:a="http://schemas.openxmlformats.org/drawingml/2006/main">
            <a:off x="6409944" y="21671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5A8F1F"/>
                </a:solidFill>
                <a:latin typeface="Calibri"/>
                <a:ea typeface="Calibri"/>
                <a:cs typeface="Calibri"/>
              </a:rPr>
              <a:t>✓</a:t>
            </a:r>
            <a:endParaRPr sz="1200"/>
          </a:p>
        </p:txBody>
      </p:sp>
      <p:sp>
        <p:nvSpPr>
          <p:cNvPr id="23" name="Text 20">
            <a:extLst xmlns:a="http://schemas.openxmlformats.org/drawingml/2006/main">
              <a:ext uri="{FF2B5EF4-FFF2-40B4-BE49-F238E27FC236}">
                <a16:creationId xmlns:a16="http://schemas.microsoft.com/office/drawing/2014/main" id="{59E5D564-5A87-45A5-8E40-1EC3C26113CA}"/>
              </a:ext>
            </a:extLst>
          </p:cNvPr>
          <p:cNvSpPr>
            <a:spLocks xmlns:a="http://schemas.openxmlformats.org/drawingml/2006/main" noGrp="1"/>
          </p:cNvSpPr>
          <p:nvPr/>
        </p:nvSpPr>
        <p:spPr>
          <a:xfrm xmlns:a="http://schemas.openxmlformats.org/drawingml/2006/main">
            <a:off x="6720840" y="21396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Rotate the secret immediately — assume it is compromised</a:t>
            </a:r>
            <a:endParaRPr sz="1050"/>
          </a:p>
        </p:txBody>
      </p:sp>
      <p:sp>
        <p:nvSpPr>
          <p:cNvPr id="24" name="Text 21">
            <a:extLst xmlns:a="http://schemas.openxmlformats.org/drawingml/2006/main">
              <a:ext uri="{FF2B5EF4-FFF2-40B4-BE49-F238E27FC236}">
                <a16:creationId xmlns:a16="http://schemas.microsoft.com/office/drawing/2014/main" id="{02D7BE01-925C-4FDC-AF45-97A285489A16}"/>
              </a:ext>
            </a:extLst>
          </p:cNvPr>
          <p:cNvSpPr>
            <a:spLocks xmlns:a="http://schemas.openxmlformats.org/drawingml/2006/main" noGrp="1"/>
          </p:cNvSpPr>
          <p:nvPr/>
        </p:nvSpPr>
        <p:spPr>
          <a:xfrm xmlns:a="http://schemas.openxmlformats.org/drawingml/2006/main">
            <a:off x="6409944" y="29672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5A8F1F"/>
                </a:solidFill>
                <a:latin typeface="Calibri"/>
                <a:ea typeface="Calibri"/>
                <a:cs typeface="Calibri"/>
              </a:rPr>
              <a:t>✓</a:t>
            </a:r>
            <a:endParaRPr sz="1200"/>
          </a:p>
        </p:txBody>
      </p:sp>
      <p:sp>
        <p:nvSpPr>
          <p:cNvPr id="25" name="Text 22">
            <a:extLst xmlns:a="http://schemas.openxmlformats.org/drawingml/2006/main">
              <a:ext uri="{FF2B5EF4-FFF2-40B4-BE49-F238E27FC236}">
                <a16:creationId xmlns:a16="http://schemas.microsoft.com/office/drawing/2014/main" id="{293B86AE-0C8A-48C8-A56C-A7A79D359542}"/>
              </a:ext>
            </a:extLst>
          </p:cNvPr>
          <p:cNvSpPr>
            <a:spLocks xmlns:a="http://schemas.openxmlformats.org/drawingml/2006/main" noGrp="1"/>
          </p:cNvSpPr>
          <p:nvPr/>
        </p:nvSpPr>
        <p:spPr>
          <a:xfrm xmlns:a="http://schemas.openxmlformats.org/drawingml/2006/main">
            <a:off x="6720840" y="29397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Rotate ALL related keys (assume lateral discovery)</a:t>
            </a:r>
            <a:endParaRPr sz="1050"/>
          </a:p>
        </p:txBody>
      </p:sp>
      <p:sp>
        <p:nvSpPr>
          <p:cNvPr id="26" name="Text 23">
            <a:extLst xmlns:a="http://schemas.openxmlformats.org/drawingml/2006/main">
              <a:ext uri="{FF2B5EF4-FFF2-40B4-BE49-F238E27FC236}">
                <a16:creationId xmlns:a16="http://schemas.microsoft.com/office/drawing/2014/main" id="{55B17A7A-74A8-432E-9E32-9B592ED5FBA8}"/>
              </a:ext>
            </a:extLst>
          </p:cNvPr>
          <p:cNvSpPr>
            <a:spLocks xmlns:a="http://schemas.openxmlformats.org/drawingml/2006/main" noGrp="1"/>
          </p:cNvSpPr>
          <p:nvPr/>
        </p:nvSpPr>
        <p:spPr>
          <a:xfrm xmlns:a="http://schemas.openxmlformats.org/drawingml/2006/main">
            <a:off x="6409944" y="37673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5A8F1F"/>
                </a:solidFill>
                <a:latin typeface="Calibri"/>
                <a:ea typeface="Calibri"/>
                <a:cs typeface="Calibri"/>
              </a:rPr>
              <a:t>✓</a:t>
            </a:r>
            <a:endParaRPr sz="1200"/>
          </a:p>
        </p:txBody>
      </p:sp>
      <p:sp>
        <p:nvSpPr>
          <p:cNvPr id="27" name="Text 24">
            <a:extLst xmlns:a="http://schemas.openxmlformats.org/drawingml/2006/main">
              <a:ext uri="{FF2B5EF4-FFF2-40B4-BE49-F238E27FC236}">
                <a16:creationId xmlns:a16="http://schemas.microsoft.com/office/drawing/2014/main" id="{0B62F0B8-E174-4BB2-9FAE-C9BD02BE3A88}"/>
              </a:ext>
            </a:extLst>
          </p:cNvPr>
          <p:cNvSpPr>
            <a:spLocks xmlns:a="http://schemas.openxmlformats.org/drawingml/2006/main" noGrp="1"/>
          </p:cNvSpPr>
          <p:nvPr/>
        </p:nvSpPr>
        <p:spPr>
          <a:xfrm xmlns:a="http://schemas.openxmlformats.org/drawingml/2006/main">
            <a:off x="6720840" y="37398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Then rewrite history + add gitleaks as a required check</a:t>
            </a:r>
            <a:endParaRPr sz="1050"/>
          </a:p>
        </p:txBody>
      </p:sp>
      <p:sp>
        <p:nvSpPr>
          <p:cNvPr id="28" name="Text 25">
            <a:extLst xmlns:a="http://schemas.openxmlformats.org/drawingml/2006/main">
              <a:ext uri="{FF2B5EF4-FFF2-40B4-BE49-F238E27FC236}">
                <a16:creationId xmlns:a16="http://schemas.microsoft.com/office/drawing/2014/main" id="{AFA1D2BB-B2F2-4758-9C1D-A9E228E612AA}"/>
              </a:ext>
            </a:extLst>
          </p:cNvPr>
          <p:cNvSpPr>
            <a:spLocks xmlns:a="http://schemas.openxmlformats.org/drawingml/2006/main" noGrp="1"/>
          </p:cNvSpPr>
          <p:nvPr/>
        </p:nvSpPr>
        <p:spPr>
          <a:xfrm xmlns:a="http://schemas.openxmlformats.org/drawingml/2006/main">
            <a:off x="6409944" y="4567428"/>
            <a:ext cx="274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5A8F1F"/>
                </a:solidFill>
                <a:latin typeface="Calibri"/>
                <a:ea typeface="Calibri"/>
                <a:cs typeface="Calibri"/>
              </a:rPr>
              <a:t>✓</a:t>
            </a:r>
            <a:endParaRPr sz="1200"/>
          </a:p>
        </p:txBody>
      </p:sp>
      <p:sp>
        <p:nvSpPr>
          <p:cNvPr id="29" name="Text 26">
            <a:extLst xmlns:a="http://schemas.openxmlformats.org/drawingml/2006/main">
              <a:ext uri="{FF2B5EF4-FFF2-40B4-BE49-F238E27FC236}">
                <a16:creationId xmlns:a16="http://schemas.microsoft.com/office/drawing/2014/main" id="{5272B9D3-8EF8-4249-ABB9-6410AE619D84}"/>
              </a:ext>
            </a:extLst>
          </p:cNvPr>
          <p:cNvSpPr>
            <a:spLocks xmlns:a="http://schemas.openxmlformats.org/drawingml/2006/main" noGrp="1"/>
          </p:cNvSpPr>
          <p:nvPr/>
        </p:nvSpPr>
        <p:spPr>
          <a:xfrm xmlns:a="http://schemas.openxmlformats.org/drawingml/2006/main">
            <a:off x="6720840" y="4539996"/>
            <a:ext cx="4754880" cy="7886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23293B"/>
                </a:solidFill>
                <a:latin typeface="Calibri"/>
                <a:ea typeface="Calibri"/>
                <a:cs typeface="Calibri"/>
              </a:rPr>
              <a:t>Write the two-step response in INCIDENT.md</a:t>
            </a:r>
            <a:endParaRPr sz="1050"/>
          </a:p>
        </p:txBody>
      </p:sp>
      <p:sp>
        <p:nvSpPr>
          <p:cNvPr id="30" name="Shape 27">
            <a:extLst xmlns:a="http://schemas.openxmlformats.org/drawingml/2006/main">
              <a:ext uri="{FF2B5EF4-FFF2-40B4-BE49-F238E27FC236}">
                <a16:creationId xmlns:a16="http://schemas.microsoft.com/office/drawing/2014/main" id="{FACED044-82F4-4D98-AED3-64DA8201745C}"/>
              </a:ext>
            </a:extLst>
          </p:cNvPr>
          <p:cNvSpPr>
            <a:spLocks xmlns:a="http://schemas.openxmlformats.org/drawingml/2006/main" noGrp="1"/>
          </p:cNvSpPr>
          <p:nvPr/>
        </p:nvSpPr>
        <p:spPr>
          <a:xfrm xmlns:a="http://schemas.openxmlformats.org/drawingml/2006/main">
            <a:off x="502920" y="5650992"/>
            <a:ext cx="11183112" cy="566928"/>
          </a:xfrm>
          <a:prstGeom xmlns:a="http://schemas.openxmlformats.org/drawingml/2006/main" prst="roundRect">
            <a:avLst>
              <a:gd name="adj" fmla="val 11290"/>
            </a:avLst>
          </a:prstGeom>
          <a:solidFill xmlns:a="http://schemas.openxmlformats.org/drawingml/2006/main">
            <a:srgbClr val="1D2A5C"/>
          </a:solidFill>
        </p:spPr>
      </p:sp>
      <p:sp>
        <p:nvSpPr>
          <p:cNvPr id="31" name="Text 28">
            <a:extLst xmlns:a="http://schemas.openxmlformats.org/drawingml/2006/main">
              <a:ext uri="{FF2B5EF4-FFF2-40B4-BE49-F238E27FC236}">
                <a16:creationId xmlns:a16="http://schemas.microsoft.com/office/drawing/2014/main" id="{46D2E4EC-723E-46A3-AD2E-2FA7F548DB80}"/>
              </a:ext>
            </a:extLst>
          </p:cNvPr>
          <p:cNvSpPr>
            <a:spLocks xmlns:a="http://schemas.openxmlformats.org/drawingml/2006/main" noGrp="1"/>
          </p:cNvSpPr>
          <p:nvPr/>
        </p:nvSpPr>
        <p:spPr>
          <a:xfrm xmlns:a="http://schemas.openxmlformats.org/drawingml/2006/main">
            <a:off x="777240" y="5650992"/>
            <a:ext cx="1069848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00A79D"/>
                </a:solidFill>
                <a:latin typeface="Calibri"/>
                <a:ea typeface="Calibri"/>
                <a:cs typeface="Calibri"/>
              </a:rPr>
              <a:t>TAKEAWAY   </a:t>
            </a:r>
            <a:r>
              <a:rPr sz="1150">
                <a:solidFill>
                  <a:srgbClr val="FFFFFF"/>
                </a:solidFill>
                <a:latin typeface="Calibri"/>
                <a:ea typeface="Calibri"/>
                <a:cs typeface="Calibri"/>
              </a:rPr>
              <a:t>Rotation BEFORE history cleanup. A leaked secret is burned forever — the ordering is the exam question people fail in real life.</a:t>
            </a:r>
            <a:endParaRPr sz="1000"/>
          </a:p>
        </p:txBody>
      </p:sp>
    </p:spTree>
    <p:extLst>
      <p:ext uri="{BB962C8B-B14F-4D97-AF65-F5344CB8AC3E}">
        <p14:creationId xmlns:p14="http://schemas.microsoft.com/office/powerpoint/2010/main" val="75032276"/>
      </p:ext>
    </p:extLst>
  </p:cSld>
</p:sld>
</file>

<file path=ppt/slides/slide13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CDE87F6-09FD-450D-A292-BE46745D9C9F}"/>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Structured logging for AI services</a:t>
            </a:r>
            <a:endParaRPr sz="2600"/>
          </a:p>
        </p:txBody>
      </p:sp>
      <p:sp>
        <p:nvSpPr>
          <p:cNvPr id="3" name="Text 1">
            <a:extLst xmlns:a="http://schemas.openxmlformats.org/drawingml/2006/main">
              <a:ext uri="{FF2B5EF4-FFF2-40B4-BE49-F238E27FC236}">
                <a16:creationId xmlns:a16="http://schemas.microsoft.com/office/drawing/2014/main" id="{22BB1C83-301E-4E07-AD58-40E101EEF1EC}"/>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التسجيل المنظم لخدمات الذكاء الاصطناعي</a:t>
            </a:r>
            <a:endParaRPr sz="1300"/>
          </a:p>
        </p:txBody>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0f3e900fffaf4873"/>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96EB4718-A508-49B0-8757-53A25EBC80A0}"/>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13D97AA1-4FE0-4A5B-AF3D-D882801AA8CA}"/>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6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EBAB5CF6-A578-46FF-9823-EA63EC4F3E65}"/>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134</a:t>
            </a:r>
            <a:endParaRPr sz="850"/>
          </a:p>
        </p:txBody>
      </p:sp>
      <p:sp>
        <p:nvSpPr>
          <p:cNvPr id="8" name="Text 5">
            <a:extLst xmlns:a="http://schemas.openxmlformats.org/drawingml/2006/main">
              <a:ext uri="{FF2B5EF4-FFF2-40B4-BE49-F238E27FC236}">
                <a16:creationId xmlns:a16="http://schemas.microsoft.com/office/drawing/2014/main" id="{FC5F99FB-4B97-403A-9E25-41D4CA5FE173}"/>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61B59874-50BD-40A3-B0AD-283CEEE7A3FE}"/>
              </a:ext>
            </a:extLst>
          </p:cNvPr>
          <p:cNvSpPr>
            <a:spLocks xmlns:a="http://schemas.openxmlformats.org/drawingml/2006/main" noGrp="1"/>
          </p:cNvSpPr>
          <p:nvPr/>
        </p:nvSpPr>
        <p:spPr>
          <a:xfrm xmlns:a="http://schemas.openxmlformats.org/drawingml/2006/main">
            <a:off x="1005840" y="14996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Logs are events, not sentences</a:t>
            </a:r>
            <a:endParaRPr sz="1350"/>
          </a:p>
        </p:txBody>
      </p:sp>
      <p:sp>
        <p:nvSpPr>
          <p:cNvPr id="10" name="Text 7">
            <a:extLst xmlns:a="http://schemas.openxmlformats.org/drawingml/2006/main">
              <a:ext uri="{FF2B5EF4-FFF2-40B4-BE49-F238E27FC236}">
                <a16:creationId xmlns:a16="http://schemas.microsoft.com/office/drawing/2014/main" id="{E060720B-2272-40DB-AA2F-885E780BF4FD}"/>
              </a:ext>
            </a:extLst>
          </p:cNvPr>
          <p:cNvSpPr>
            <a:spLocks xmlns:a="http://schemas.openxmlformats.org/drawingml/2006/main" noGrp="1"/>
          </p:cNvSpPr>
          <p:nvPr/>
        </p:nvSpPr>
        <p:spPr>
          <a:xfrm xmlns:a="http://schemas.openxmlformats.org/drawingml/2006/main">
            <a:off x="1005840" y="18013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JSON lines with stable field names turn 'grep and hope' into queries. Always-on fields: timestamp, level, event, trace_id, model_version, git_sha.</a:t>
            </a:r>
            <a:endParaRPr sz="1050"/>
          </a:p>
        </p:txBody>
      </p:sp>
      <p:sp>
        <p:nvSpPr>
          <p:cNvPr id="11" name="Text 8">
            <a:extLst xmlns:a="http://schemas.openxmlformats.org/drawingml/2006/main">
              <a:ext uri="{FF2B5EF4-FFF2-40B4-BE49-F238E27FC236}">
                <a16:creationId xmlns:a16="http://schemas.microsoft.com/office/drawing/2014/main" id="{78A8E7B2-0643-46A6-977E-2AEE37CF780C}"/>
              </a:ext>
            </a:extLst>
          </p:cNvPr>
          <p:cNvSpPr>
            <a:spLocks xmlns:a="http://schemas.openxmlformats.org/drawingml/2006/main" noGrp="1"/>
          </p:cNvSpPr>
          <p:nvPr/>
        </p:nvSpPr>
        <p:spPr>
          <a:xfrm xmlns:a="http://schemas.openxmlformats.org/drawingml/2006/main">
            <a:off x="502920" y="292608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A3DE2B1D-A4CC-4187-9C5F-7A00C0DDBEBB}"/>
              </a:ext>
            </a:extLst>
          </p:cNvPr>
          <p:cNvSpPr>
            <a:spLocks xmlns:a="http://schemas.openxmlformats.org/drawingml/2006/main" noGrp="1"/>
          </p:cNvSpPr>
          <p:nvPr/>
        </p:nvSpPr>
        <p:spPr>
          <a:xfrm xmlns:a="http://schemas.openxmlformats.org/drawingml/2006/main">
            <a:off x="1005840" y="28712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Correlation pays off</a:t>
            </a:r>
            <a:endParaRPr sz="1350"/>
          </a:p>
        </p:txBody>
      </p:sp>
      <p:sp>
        <p:nvSpPr>
          <p:cNvPr id="13" name="Text 10">
            <a:extLst xmlns:a="http://schemas.openxmlformats.org/drawingml/2006/main">
              <a:ext uri="{FF2B5EF4-FFF2-40B4-BE49-F238E27FC236}">
                <a16:creationId xmlns:a16="http://schemas.microsoft.com/office/drawing/2014/main" id="{A866A8B9-F376-449A-95CD-13DB9855436E}"/>
              </a:ext>
            </a:extLst>
          </p:cNvPr>
          <p:cNvSpPr>
            <a:spLocks xmlns:a="http://schemas.openxmlformats.org/drawingml/2006/main" noGrp="1"/>
          </p:cNvSpPr>
          <p:nvPr/>
        </p:nvSpPr>
        <p:spPr>
          <a:xfrm xmlns:a="http://schemas.openxmlformats.org/drawingml/2006/main">
            <a:off x="1005840" y="31729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One trace_id joins the gateway log, the API log, and the scoring event. One model_version splits an error-rate graph during a rollout (SDA-AIE-211 dependency).</a:t>
            </a:r>
            <a:endParaRPr sz="1050"/>
          </a:p>
        </p:txBody>
      </p:sp>
      <p:sp>
        <p:nvSpPr>
          <p:cNvPr id="14" name="Text 11">
            <a:extLst xmlns:a="http://schemas.openxmlformats.org/drawingml/2006/main">
              <a:ext uri="{FF2B5EF4-FFF2-40B4-BE49-F238E27FC236}">
                <a16:creationId xmlns:a16="http://schemas.microsoft.com/office/drawing/2014/main" id="{5CFF964F-E64A-43F5-87FF-6B94FA3C537E}"/>
              </a:ext>
            </a:extLst>
          </p:cNvPr>
          <p:cNvSpPr>
            <a:spLocks xmlns:a="http://schemas.openxmlformats.org/drawingml/2006/main" noGrp="1"/>
          </p:cNvSpPr>
          <p:nvPr/>
        </p:nvSpPr>
        <p:spPr>
          <a:xfrm xmlns:a="http://schemas.openxmlformats.org/drawingml/2006/main">
            <a:off x="502920" y="429768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C6BC958F-265C-4847-9542-49973A256419}"/>
              </a:ext>
            </a:extLst>
          </p:cNvPr>
          <p:cNvSpPr>
            <a:spLocks xmlns:a="http://schemas.openxmlformats.org/drawingml/2006/main" noGrp="1"/>
          </p:cNvSpPr>
          <p:nvPr/>
        </p:nvSpPr>
        <p:spPr>
          <a:xfrm xmlns:a="http://schemas.openxmlformats.org/drawingml/2006/main">
            <a:off x="1005840" y="42428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stdout only (12-factor)</a:t>
            </a:r>
            <a:endParaRPr sz="1350"/>
          </a:p>
        </p:txBody>
      </p:sp>
      <p:sp>
        <p:nvSpPr>
          <p:cNvPr id="16" name="Text 13">
            <a:extLst xmlns:a="http://schemas.openxmlformats.org/drawingml/2006/main">
              <a:ext uri="{FF2B5EF4-FFF2-40B4-BE49-F238E27FC236}">
                <a16:creationId xmlns:a16="http://schemas.microsoft.com/office/drawing/2014/main" id="{1086D5C3-A367-4115-8D82-67A68806FE44}"/>
              </a:ext>
            </a:extLst>
          </p:cNvPr>
          <p:cNvSpPr>
            <a:spLocks xmlns:a="http://schemas.openxmlformats.org/drawingml/2006/main" noGrp="1"/>
          </p:cNvSpPr>
          <p:nvPr/>
        </p:nvSpPr>
        <p:spPr>
          <a:xfrm xmlns:a="http://schemas.openxmlformats.org/drawingml/2006/main">
            <a:off x="1005840" y="45445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The container platform owns shipping and rotation. File handlers inside containers create the M3 permission bug and un-shippable logs.</a:t>
            </a:r>
            <a:endParaRPr sz="1050"/>
          </a:p>
        </p:txBody>
      </p:sp>
      <p:sp>
        <p:nvSpPr>
          <p:cNvPr id="17" name="Shape 14">
            <a:extLst xmlns:a="http://schemas.openxmlformats.org/drawingml/2006/main">
              <a:ext uri="{FF2B5EF4-FFF2-40B4-BE49-F238E27FC236}">
                <a16:creationId xmlns:a16="http://schemas.microsoft.com/office/drawing/2014/main" id="{5A3BDED8-90F4-4ED0-AC25-9454A0C7ABD8}"/>
              </a:ext>
            </a:extLst>
          </p:cNvPr>
          <p:cNvSpPr>
            <a:spLocks xmlns:a="http://schemas.openxmlformats.org/drawingml/2006/main" noGrp="1"/>
          </p:cNvSpPr>
          <p:nvPr/>
        </p:nvSpPr>
        <p:spPr>
          <a:xfrm xmlns:a="http://schemas.openxmlformats.org/drawingml/2006/main">
            <a:off x="6355080" y="1481328"/>
            <a:ext cx="5330952" cy="4663440"/>
          </a:xfrm>
          <a:prstGeom xmlns:a="http://schemas.openxmlformats.org/drawingml/2006/main" prst="roundRect">
            <a:avLst>
              <a:gd name="adj" fmla="val 1373"/>
            </a:avLst>
          </a:prstGeom>
          <a:solidFill xmlns:a="http://schemas.openxmlformats.org/drawingml/2006/main">
            <a:srgbClr val="EEF3FB"/>
          </a:solidFill>
          <a:ln xmlns:a="http://schemas.openxmlformats.org/drawingml/2006/main" w="9525">
            <a:solidFill>
              <a:srgbClr val="D9E4F5"/>
            </a:solidFill>
            <a:prstDash val="solid"/>
          </a:ln>
        </p:spPr>
      </p:sp>
      <p:sp>
        <p:nvSpPr>
          <p:cNvPr id="18" name="Text 15">
            <a:extLst xmlns:a="http://schemas.openxmlformats.org/drawingml/2006/main">
              <a:ext uri="{FF2B5EF4-FFF2-40B4-BE49-F238E27FC236}">
                <a16:creationId xmlns:a16="http://schemas.microsoft.com/office/drawing/2014/main" id="{FF8D09A7-9E4C-4604-A309-5FE42E48DD9F}"/>
              </a:ext>
            </a:extLst>
          </p:cNvPr>
          <p:cNvSpPr>
            <a:spLocks xmlns:a="http://schemas.openxmlformats.org/drawingml/2006/main" noGrp="1"/>
          </p:cNvSpPr>
          <p:nvPr/>
        </p:nvSpPr>
        <p:spPr>
          <a:xfrm xmlns:a="http://schemas.openxmlformats.org/drawingml/2006/main">
            <a:off x="6556248" y="1645920"/>
            <a:ext cx="492861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D2A5C"/>
                </a:solidFill>
                <a:latin typeface="Calibri"/>
                <a:ea typeface="Calibri"/>
                <a:cs typeface="Calibri"/>
              </a:rPr>
              <a:t>Levels with intent</a:t>
            </a:r>
            <a:endParaRPr sz="1300"/>
          </a:p>
        </p:txBody>
      </p:sp>
      <p:sp>
        <p:nvSpPr>
          <p:cNvPr id="19" name="Shape 16">
            <a:extLst xmlns:a="http://schemas.openxmlformats.org/drawingml/2006/main">
              <a:ext uri="{FF2B5EF4-FFF2-40B4-BE49-F238E27FC236}">
                <a16:creationId xmlns:a16="http://schemas.microsoft.com/office/drawing/2014/main" id="{EBE8DA82-96DC-46CF-A78C-1B4A1CCB3191}"/>
              </a:ext>
            </a:extLst>
          </p:cNvPr>
          <p:cNvSpPr>
            <a:spLocks xmlns:a="http://schemas.openxmlformats.org/drawingml/2006/main" noGrp="1"/>
          </p:cNvSpPr>
          <p:nvPr/>
        </p:nvSpPr>
        <p:spPr>
          <a:xfrm xmlns:a="http://schemas.openxmlformats.org/drawingml/2006/main" rot="2700000">
            <a:off x="6556248" y="2130552"/>
            <a:ext cx="128016" cy="128016"/>
          </a:xfrm>
          <a:prstGeom xmlns:a="http://schemas.openxmlformats.org/drawingml/2006/main" prst="rect">
            <a:avLst/>
          </a:prstGeom>
          <a:solidFill xmlns:a="http://schemas.openxmlformats.org/drawingml/2006/main">
            <a:srgbClr val="00A79D"/>
          </a:solidFill>
        </p:spPr>
      </p:sp>
      <p:sp>
        <p:nvSpPr>
          <p:cNvPr id="20" name="Text 17">
            <a:extLst xmlns:a="http://schemas.openxmlformats.org/drawingml/2006/main">
              <a:ext uri="{FF2B5EF4-FFF2-40B4-BE49-F238E27FC236}">
                <a16:creationId xmlns:a16="http://schemas.microsoft.com/office/drawing/2014/main" id="{881849C4-F31A-4B3A-B8A1-784C20645B26}"/>
              </a:ext>
            </a:extLst>
          </p:cNvPr>
          <p:cNvSpPr>
            <a:spLocks xmlns:a="http://schemas.openxmlformats.org/drawingml/2006/main" noGrp="1"/>
          </p:cNvSpPr>
          <p:nvPr/>
        </p:nvSpPr>
        <p:spPr>
          <a:xfrm xmlns:a="http://schemas.openxmlformats.org/drawingml/2006/main">
            <a:off x="6812280" y="2039112"/>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INFO</a:t>
            </a:r>
            <a:endParaRPr sz="1100"/>
          </a:p>
        </p:txBody>
      </p:sp>
      <p:sp>
        <p:nvSpPr>
          <p:cNvPr id="21" name="Text 18">
            <a:extLst xmlns:a="http://schemas.openxmlformats.org/drawingml/2006/main">
              <a:ext uri="{FF2B5EF4-FFF2-40B4-BE49-F238E27FC236}">
                <a16:creationId xmlns:a16="http://schemas.microsoft.com/office/drawing/2014/main" id="{FBECF385-2579-4A14-B343-E3629A325F8D}"/>
              </a:ext>
            </a:extLst>
          </p:cNvPr>
          <p:cNvSpPr>
            <a:spLocks xmlns:a="http://schemas.openxmlformats.org/drawingml/2006/main" noGrp="1"/>
          </p:cNvSpPr>
          <p:nvPr/>
        </p:nvSpPr>
        <p:spPr>
          <a:xfrm xmlns:a="http://schemas.openxmlformats.org/drawingml/2006/main">
            <a:off x="6812280" y="2304288"/>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Business events — prediction_served, model_loaded</a:t>
            </a:r>
            <a:endParaRPr sz="950"/>
          </a:p>
        </p:txBody>
      </p:sp>
      <p:sp>
        <p:nvSpPr>
          <p:cNvPr id="22" name="Shape 19">
            <a:extLst xmlns:a="http://schemas.openxmlformats.org/drawingml/2006/main">
              <a:ext uri="{FF2B5EF4-FFF2-40B4-BE49-F238E27FC236}">
                <a16:creationId xmlns:a16="http://schemas.microsoft.com/office/drawing/2014/main" id="{E4B9EA8C-E4CE-4EE9-B0C0-B39508A244A0}"/>
              </a:ext>
            </a:extLst>
          </p:cNvPr>
          <p:cNvSpPr>
            <a:spLocks xmlns:a="http://schemas.openxmlformats.org/drawingml/2006/main" noGrp="1"/>
          </p:cNvSpPr>
          <p:nvPr/>
        </p:nvSpPr>
        <p:spPr>
          <a:xfrm xmlns:a="http://schemas.openxmlformats.org/drawingml/2006/main" rot="2700000">
            <a:off x="6556248" y="2916936"/>
            <a:ext cx="128016" cy="128016"/>
          </a:xfrm>
          <a:prstGeom xmlns:a="http://schemas.openxmlformats.org/drawingml/2006/main" prst="rect">
            <a:avLst/>
          </a:prstGeom>
          <a:solidFill xmlns:a="http://schemas.openxmlformats.org/drawingml/2006/main">
            <a:srgbClr val="29ABE2"/>
          </a:solidFill>
        </p:spPr>
      </p:sp>
      <p:sp>
        <p:nvSpPr>
          <p:cNvPr id="23" name="Text 20">
            <a:extLst xmlns:a="http://schemas.openxmlformats.org/drawingml/2006/main">
              <a:ext uri="{FF2B5EF4-FFF2-40B4-BE49-F238E27FC236}">
                <a16:creationId xmlns:a16="http://schemas.microsoft.com/office/drawing/2014/main" id="{29686384-FBD6-4B17-984A-19AD04426AD4}"/>
              </a:ext>
            </a:extLst>
          </p:cNvPr>
          <p:cNvSpPr>
            <a:spLocks xmlns:a="http://schemas.openxmlformats.org/drawingml/2006/main" noGrp="1"/>
          </p:cNvSpPr>
          <p:nvPr/>
        </p:nvSpPr>
        <p:spPr>
          <a:xfrm xmlns:a="http://schemas.openxmlformats.org/drawingml/2006/main">
            <a:off x="6812280" y="2825496"/>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WARNING</a:t>
            </a:r>
            <a:endParaRPr sz="1100"/>
          </a:p>
        </p:txBody>
      </p:sp>
      <p:sp>
        <p:nvSpPr>
          <p:cNvPr id="24" name="Text 21">
            <a:extLst xmlns:a="http://schemas.openxmlformats.org/drawingml/2006/main">
              <a:ext uri="{FF2B5EF4-FFF2-40B4-BE49-F238E27FC236}">
                <a16:creationId xmlns:a16="http://schemas.microsoft.com/office/drawing/2014/main" id="{65D12D4E-C586-4BB2-AE2E-E3DC06F1558A}"/>
              </a:ext>
            </a:extLst>
          </p:cNvPr>
          <p:cNvSpPr>
            <a:spLocks xmlns:a="http://schemas.openxmlformats.org/drawingml/2006/main" noGrp="1"/>
          </p:cNvSpPr>
          <p:nvPr/>
        </p:nvSpPr>
        <p:spPr>
          <a:xfrm xmlns:a="http://schemas.openxmlformats.org/drawingml/2006/main">
            <a:off x="6812280" y="3090672"/>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Degraded but serving — cache-miss fallback</a:t>
            </a:r>
            <a:endParaRPr sz="950"/>
          </a:p>
        </p:txBody>
      </p:sp>
      <p:sp>
        <p:nvSpPr>
          <p:cNvPr id="25" name="Shape 22">
            <a:extLst xmlns:a="http://schemas.openxmlformats.org/drawingml/2006/main">
              <a:ext uri="{FF2B5EF4-FFF2-40B4-BE49-F238E27FC236}">
                <a16:creationId xmlns:a16="http://schemas.microsoft.com/office/drawing/2014/main" id="{99648DF5-F8D4-43D8-ABE8-760FFF0C363B}"/>
              </a:ext>
            </a:extLst>
          </p:cNvPr>
          <p:cNvSpPr>
            <a:spLocks xmlns:a="http://schemas.openxmlformats.org/drawingml/2006/main" noGrp="1"/>
          </p:cNvSpPr>
          <p:nvPr/>
        </p:nvSpPr>
        <p:spPr>
          <a:xfrm xmlns:a="http://schemas.openxmlformats.org/drawingml/2006/main" rot="2700000">
            <a:off x="6556248" y="3703320"/>
            <a:ext cx="128016" cy="128016"/>
          </a:xfrm>
          <a:prstGeom xmlns:a="http://schemas.openxmlformats.org/drawingml/2006/main" prst="rect">
            <a:avLst/>
          </a:prstGeom>
          <a:solidFill xmlns:a="http://schemas.openxmlformats.org/drawingml/2006/main">
            <a:srgbClr val="F58220"/>
          </a:solidFill>
        </p:spPr>
      </p:sp>
      <p:sp>
        <p:nvSpPr>
          <p:cNvPr id="26" name="Text 23">
            <a:extLst xmlns:a="http://schemas.openxmlformats.org/drawingml/2006/main">
              <a:ext uri="{FF2B5EF4-FFF2-40B4-BE49-F238E27FC236}">
                <a16:creationId xmlns:a16="http://schemas.microsoft.com/office/drawing/2014/main" id="{07C02587-1B04-44BA-AF56-76F451682799}"/>
              </a:ext>
            </a:extLst>
          </p:cNvPr>
          <p:cNvSpPr>
            <a:spLocks xmlns:a="http://schemas.openxmlformats.org/drawingml/2006/main" noGrp="1"/>
          </p:cNvSpPr>
          <p:nvPr/>
        </p:nvSpPr>
        <p:spPr>
          <a:xfrm xmlns:a="http://schemas.openxmlformats.org/drawingml/2006/main">
            <a:off x="6812280" y="3611880"/>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ERROR</a:t>
            </a:r>
            <a:endParaRPr sz="1100"/>
          </a:p>
        </p:txBody>
      </p:sp>
      <p:sp>
        <p:nvSpPr>
          <p:cNvPr id="27" name="Text 24">
            <a:extLst xmlns:a="http://schemas.openxmlformats.org/drawingml/2006/main">
              <a:ext uri="{FF2B5EF4-FFF2-40B4-BE49-F238E27FC236}">
                <a16:creationId xmlns:a16="http://schemas.microsoft.com/office/drawing/2014/main" id="{9B3A488D-AA73-448A-92D4-7D8F11E8BA99}"/>
              </a:ext>
            </a:extLst>
          </p:cNvPr>
          <p:cNvSpPr>
            <a:spLocks xmlns:a="http://schemas.openxmlformats.org/drawingml/2006/main" noGrp="1"/>
          </p:cNvSpPr>
          <p:nvPr/>
        </p:nvSpPr>
        <p:spPr>
          <a:xfrm xmlns:a="http://schemas.openxmlformats.org/drawingml/2006/main">
            <a:off x="6812280" y="3877056"/>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Request failed</a:t>
            </a:r>
            <a:endParaRPr sz="950"/>
          </a:p>
        </p:txBody>
      </p:sp>
      <p:sp>
        <p:nvSpPr>
          <p:cNvPr id="28" name="Shape 25">
            <a:extLst xmlns:a="http://schemas.openxmlformats.org/drawingml/2006/main">
              <a:ext uri="{FF2B5EF4-FFF2-40B4-BE49-F238E27FC236}">
                <a16:creationId xmlns:a16="http://schemas.microsoft.com/office/drawing/2014/main" id="{B61DC2B4-5DE9-4FFF-AC72-C0A1CDF0B508}"/>
              </a:ext>
            </a:extLst>
          </p:cNvPr>
          <p:cNvSpPr>
            <a:spLocks xmlns:a="http://schemas.openxmlformats.org/drawingml/2006/main" noGrp="1"/>
          </p:cNvSpPr>
          <p:nvPr/>
        </p:nvSpPr>
        <p:spPr>
          <a:xfrm xmlns:a="http://schemas.openxmlformats.org/drawingml/2006/main" rot="2700000">
            <a:off x="6556248" y="4489704"/>
            <a:ext cx="128016" cy="128016"/>
          </a:xfrm>
          <a:prstGeom xmlns:a="http://schemas.openxmlformats.org/drawingml/2006/main" prst="rect">
            <a:avLst/>
          </a:prstGeom>
          <a:solidFill xmlns:a="http://schemas.openxmlformats.org/drawingml/2006/main">
            <a:srgbClr val="8DC63F"/>
          </a:solidFill>
        </p:spPr>
      </p:sp>
      <p:sp>
        <p:nvSpPr>
          <p:cNvPr id="29" name="Text 26">
            <a:extLst xmlns:a="http://schemas.openxmlformats.org/drawingml/2006/main">
              <a:ext uri="{FF2B5EF4-FFF2-40B4-BE49-F238E27FC236}">
                <a16:creationId xmlns:a16="http://schemas.microsoft.com/office/drawing/2014/main" id="{F7B1F06F-1666-41ED-908C-D35B574A1823}"/>
              </a:ext>
            </a:extLst>
          </p:cNvPr>
          <p:cNvSpPr>
            <a:spLocks xmlns:a="http://schemas.openxmlformats.org/drawingml/2006/main" noGrp="1"/>
          </p:cNvSpPr>
          <p:nvPr/>
        </p:nvSpPr>
        <p:spPr>
          <a:xfrm xmlns:a="http://schemas.openxmlformats.org/drawingml/2006/main">
            <a:off x="6812280" y="4398264"/>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CRITICAL</a:t>
            </a:r>
            <a:endParaRPr sz="1100"/>
          </a:p>
        </p:txBody>
      </p:sp>
      <p:sp>
        <p:nvSpPr>
          <p:cNvPr id="30" name="Text 27">
            <a:extLst xmlns:a="http://schemas.openxmlformats.org/drawingml/2006/main">
              <a:ext uri="{FF2B5EF4-FFF2-40B4-BE49-F238E27FC236}">
                <a16:creationId xmlns:a16="http://schemas.microsoft.com/office/drawing/2014/main" id="{3CB26483-4FE1-4E82-8DED-93C03C803CF5}"/>
              </a:ext>
            </a:extLst>
          </p:cNvPr>
          <p:cNvSpPr>
            <a:spLocks xmlns:a="http://schemas.openxmlformats.org/drawingml/2006/main" noGrp="1"/>
          </p:cNvSpPr>
          <p:nvPr/>
        </p:nvSpPr>
        <p:spPr>
          <a:xfrm xmlns:a="http://schemas.openxmlformats.org/drawingml/2006/main">
            <a:off x="6812280" y="4663440"/>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Service cannot serve</a:t>
            </a:r>
            <a:endParaRPr sz="950"/>
          </a:p>
        </p:txBody>
      </p:sp>
      <p:sp>
        <p:nvSpPr>
          <p:cNvPr id="31" name="Shape 28">
            <a:extLst xmlns:a="http://schemas.openxmlformats.org/drawingml/2006/main">
              <a:ext uri="{FF2B5EF4-FFF2-40B4-BE49-F238E27FC236}">
                <a16:creationId xmlns:a16="http://schemas.microsoft.com/office/drawing/2014/main" id="{AC1B5BB4-1823-4195-AC58-58E6F4AE893C}"/>
              </a:ext>
            </a:extLst>
          </p:cNvPr>
          <p:cNvSpPr>
            <a:spLocks xmlns:a="http://schemas.openxmlformats.org/drawingml/2006/main" noGrp="1"/>
          </p:cNvSpPr>
          <p:nvPr/>
        </p:nvSpPr>
        <p:spPr>
          <a:xfrm xmlns:a="http://schemas.openxmlformats.org/drawingml/2006/main" rot="2700000">
            <a:off x="6556248" y="5276088"/>
            <a:ext cx="128016" cy="128016"/>
          </a:xfrm>
          <a:prstGeom xmlns:a="http://schemas.openxmlformats.org/drawingml/2006/main" prst="rect">
            <a:avLst/>
          </a:prstGeom>
          <a:solidFill xmlns:a="http://schemas.openxmlformats.org/drawingml/2006/main">
            <a:srgbClr val="E8503A"/>
          </a:solidFill>
        </p:spPr>
      </p:sp>
      <p:sp>
        <p:nvSpPr>
          <p:cNvPr id="32" name="Text 29">
            <a:extLst xmlns:a="http://schemas.openxmlformats.org/drawingml/2006/main">
              <a:ext uri="{FF2B5EF4-FFF2-40B4-BE49-F238E27FC236}">
                <a16:creationId xmlns:a16="http://schemas.microsoft.com/office/drawing/2014/main" id="{9DCE445B-AB6C-47C3-B793-24BD8459CA00}"/>
              </a:ext>
            </a:extLst>
          </p:cNvPr>
          <p:cNvSpPr>
            <a:spLocks xmlns:a="http://schemas.openxmlformats.org/drawingml/2006/main" noGrp="1"/>
          </p:cNvSpPr>
          <p:nvPr/>
        </p:nvSpPr>
        <p:spPr>
          <a:xfrm xmlns:a="http://schemas.openxmlformats.org/drawingml/2006/main">
            <a:off x="6812280" y="5184648"/>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DEBUG</a:t>
            </a:r>
            <a:endParaRPr sz="1100"/>
          </a:p>
        </p:txBody>
      </p:sp>
      <p:sp>
        <p:nvSpPr>
          <p:cNvPr id="33" name="Text 30">
            <a:extLst xmlns:a="http://schemas.openxmlformats.org/drawingml/2006/main">
              <a:ext uri="{FF2B5EF4-FFF2-40B4-BE49-F238E27FC236}">
                <a16:creationId xmlns:a16="http://schemas.microsoft.com/office/drawing/2014/main" id="{03BE981D-0EB9-484A-9D11-5F11820148D1}"/>
              </a:ext>
            </a:extLst>
          </p:cNvPr>
          <p:cNvSpPr>
            <a:spLocks xmlns:a="http://schemas.openxmlformats.org/drawingml/2006/main" noGrp="1"/>
          </p:cNvSpPr>
          <p:nvPr/>
        </p:nvSpPr>
        <p:spPr>
          <a:xfrm xmlns:a="http://schemas.openxmlformats.org/drawingml/2006/main">
            <a:off x="6812280" y="5449824"/>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Development detail, off in prod</a:t>
            </a:r>
            <a:endParaRPr sz="950"/>
          </a:p>
        </p:txBody>
      </p:sp>
    </p:spTree>
    <p:extLst>
      <p:ext uri="{BB962C8B-B14F-4D97-AF65-F5344CB8AC3E}">
        <p14:creationId xmlns:p14="http://schemas.microsoft.com/office/powerpoint/2010/main" val="1736766038"/>
      </p:ext>
    </p:extLst>
  </p:cSld>
</p:sld>
</file>

<file path=ppt/slides/slide13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EB1A8CF-9D69-4715-A5A0-8CFAD211AEE4}"/>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logging_setup.py — JSON logs to stdout</a:t>
            </a:r>
            <a:endParaRPr sz="2600"/>
          </a:p>
        </p:txBody>
      </p:sp>
      <p:sp>
        <p:nvSpPr>
          <p:cNvPr id="3" name="Text 1">
            <a:extLst xmlns:a="http://schemas.openxmlformats.org/drawingml/2006/main">
              <a:ext uri="{FF2B5EF4-FFF2-40B4-BE49-F238E27FC236}">
                <a16:creationId xmlns:a16="http://schemas.microsoft.com/office/drawing/2014/main" id="{F554B155-401B-4FD0-BD3A-DCBDDF4DF613}"/>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logging_setup.py — سجلات JSON إلى stdout</a:t>
            </a:r>
            <a:endParaRPr sz="1300"/>
          </a:p>
        </p:txBody>
      </p:sp>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13320496debb45c1"/>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D9CA1BC0-601F-4DF2-A4FD-F0E326665838}"/>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C5DF115E-B4A8-4E14-94BE-BAA7E066E046}"/>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6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35C41F54-B72C-42EC-B2E5-2F575A669AA9}"/>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135</a:t>
            </a:r>
            <a:endParaRPr sz="850"/>
          </a:p>
        </p:txBody>
      </p:sp>
      <p:sp>
        <p:nvSpPr>
          <p:cNvPr id="8" name="Shape 5">
            <a:extLst xmlns:a="http://schemas.openxmlformats.org/drawingml/2006/main">
              <a:ext uri="{FF2B5EF4-FFF2-40B4-BE49-F238E27FC236}">
                <a16:creationId xmlns:a16="http://schemas.microsoft.com/office/drawing/2014/main" id="{46C151F5-EED3-42D2-82A1-4FC455887883}"/>
              </a:ext>
            </a:extLst>
          </p:cNvPr>
          <p:cNvSpPr>
            <a:spLocks xmlns:a="http://schemas.openxmlformats.org/drawingml/2006/main" noGrp="1"/>
          </p:cNvSpPr>
          <p:nvPr/>
        </p:nvSpPr>
        <p:spPr>
          <a:xfrm xmlns:a="http://schemas.openxmlformats.org/drawingml/2006/main">
            <a:off x="502920" y="1481328"/>
            <a:ext cx="7635240" cy="4617720"/>
          </a:xfrm>
          <a:prstGeom xmlns:a="http://schemas.openxmlformats.org/drawingml/2006/main" prst="roundRect">
            <a:avLst>
              <a:gd name="adj" fmla="val 1584"/>
            </a:avLst>
          </a:prstGeom>
          <a:solidFill xmlns:a="http://schemas.openxmlformats.org/drawingml/2006/main">
            <a:srgbClr val="1A2233"/>
          </a:solidFill>
        </p:spPr>
      </p:sp>
      <p:sp>
        <p:nvSpPr>
          <p:cNvPr id="9" name="Shape 6">
            <a:extLst xmlns:a="http://schemas.openxmlformats.org/drawingml/2006/main">
              <a:ext uri="{FF2B5EF4-FFF2-40B4-BE49-F238E27FC236}">
                <a16:creationId xmlns:a16="http://schemas.microsoft.com/office/drawing/2014/main" id="{68CC4182-F971-47E1-832F-BB1BA49FE462}"/>
              </a:ext>
            </a:extLst>
          </p:cNvPr>
          <p:cNvSpPr>
            <a:spLocks xmlns:a="http://schemas.openxmlformats.org/drawingml/2006/main" noGrp="1"/>
          </p:cNvSpPr>
          <p:nvPr/>
        </p:nvSpPr>
        <p:spPr>
          <a:xfrm xmlns:a="http://schemas.openxmlformats.org/drawingml/2006/main">
            <a:off x="731520" y="1664208"/>
            <a:ext cx="109728" cy="109728"/>
          </a:xfrm>
          <a:prstGeom xmlns:a="http://schemas.openxmlformats.org/drawingml/2006/main" prst="ellipse">
            <a:avLst/>
          </a:prstGeom>
          <a:solidFill xmlns:a="http://schemas.openxmlformats.org/drawingml/2006/main">
            <a:srgbClr val="E8503A"/>
          </a:solidFill>
        </p:spPr>
      </p:sp>
      <p:sp>
        <p:nvSpPr>
          <p:cNvPr id="10" name="Shape 7">
            <a:extLst xmlns:a="http://schemas.openxmlformats.org/drawingml/2006/main">
              <a:ext uri="{FF2B5EF4-FFF2-40B4-BE49-F238E27FC236}">
                <a16:creationId xmlns:a16="http://schemas.microsoft.com/office/drawing/2014/main" id="{69D7E91E-0C7D-4E52-99FC-75A53ED11967}"/>
              </a:ext>
            </a:extLst>
          </p:cNvPr>
          <p:cNvSpPr>
            <a:spLocks xmlns:a="http://schemas.openxmlformats.org/drawingml/2006/main" noGrp="1"/>
          </p:cNvSpPr>
          <p:nvPr/>
        </p:nvSpPr>
        <p:spPr>
          <a:xfrm xmlns:a="http://schemas.openxmlformats.org/drawingml/2006/main">
            <a:off x="932688" y="1664208"/>
            <a:ext cx="109728" cy="109728"/>
          </a:xfrm>
          <a:prstGeom xmlns:a="http://schemas.openxmlformats.org/drawingml/2006/main" prst="ellipse">
            <a:avLst/>
          </a:prstGeom>
          <a:solidFill xmlns:a="http://schemas.openxmlformats.org/drawingml/2006/main">
            <a:srgbClr val="F5B820"/>
          </a:solidFill>
        </p:spPr>
      </p:sp>
      <p:sp>
        <p:nvSpPr>
          <p:cNvPr id="11" name="Shape 8">
            <a:extLst xmlns:a="http://schemas.openxmlformats.org/drawingml/2006/main">
              <a:ext uri="{FF2B5EF4-FFF2-40B4-BE49-F238E27FC236}">
                <a16:creationId xmlns:a16="http://schemas.microsoft.com/office/drawing/2014/main" id="{75B9B988-771B-4B9F-99B7-1B4C1BA57C01}"/>
              </a:ext>
            </a:extLst>
          </p:cNvPr>
          <p:cNvSpPr>
            <a:spLocks xmlns:a="http://schemas.openxmlformats.org/drawingml/2006/main" noGrp="1"/>
          </p:cNvSpPr>
          <p:nvPr/>
        </p:nvSpPr>
        <p:spPr>
          <a:xfrm xmlns:a="http://schemas.openxmlformats.org/drawingml/2006/main">
            <a:off x="1133856" y="1664208"/>
            <a:ext cx="109728" cy="109728"/>
          </a:xfrm>
          <a:prstGeom xmlns:a="http://schemas.openxmlformats.org/drawingml/2006/main" prst="ellipse">
            <a:avLst/>
          </a:prstGeom>
          <a:solidFill xmlns:a="http://schemas.openxmlformats.org/drawingml/2006/main">
            <a:srgbClr val="8DC63F"/>
          </a:solidFill>
        </p:spPr>
      </p:sp>
      <p:sp>
        <p:nvSpPr>
          <p:cNvPr id="12" name="Text 9">
            <a:extLst xmlns:a="http://schemas.openxmlformats.org/drawingml/2006/main">
              <a:ext uri="{FF2B5EF4-FFF2-40B4-BE49-F238E27FC236}">
                <a16:creationId xmlns:a16="http://schemas.microsoft.com/office/drawing/2014/main" id="{DEC7A1C1-EEB2-44EA-9F25-6775913EDF3A}"/>
              </a:ext>
            </a:extLst>
          </p:cNvPr>
          <p:cNvSpPr>
            <a:spLocks xmlns:a="http://schemas.openxmlformats.org/drawingml/2006/main" noGrp="1"/>
          </p:cNvSpPr>
          <p:nvPr/>
        </p:nvSpPr>
        <p:spPr>
          <a:xfrm xmlns:a="http://schemas.openxmlformats.org/drawingml/2006/main">
            <a:off x="4526280" y="1609344"/>
            <a:ext cx="32918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6C8"/>
                </a:solidFill>
                <a:latin typeface="Consolas"/>
                <a:ea typeface="Consolas"/>
                <a:cs typeface="Consolas"/>
              </a:rPr>
              <a:t>src/fraud_service/logging_setup.py</a:t>
            </a:r>
            <a:endParaRPr sz="900"/>
          </a:p>
        </p:txBody>
      </p:sp>
      <p:sp>
        <p:nvSpPr>
          <p:cNvPr id="13" name="Text 10">
            <a:extLst xmlns:a="http://schemas.openxmlformats.org/drawingml/2006/main">
              <a:ext uri="{FF2B5EF4-FFF2-40B4-BE49-F238E27FC236}">
                <a16:creationId xmlns:a16="http://schemas.microsoft.com/office/drawing/2014/main" id="{E6F10EFD-8C28-40B8-BA50-96D9053CCB00}"/>
              </a:ext>
            </a:extLst>
          </p:cNvPr>
          <p:cNvSpPr>
            <a:spLocks xmlns:a="http://schemas.openxmlformats.org/drawingml/2006/main" noGrp="1"/>
          </p:cNvSpPr>
          <p:nvPr/>
        </p:nvSpPr>
        <p:spPr>
          <a:xfrm xmlns:a="http://schemas.openxmlformats.org/drawingml/2006/main">
            <a:off x="713232" y="1965960"/>
            <a:ext cx="717804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000">
                <a:solidFill>
                  <a:srgbClr val="D9E4F5"/>
                </a:solidFill>
                <a:latin typeface="Consolas"/>
                <a:ea typeface="Consolas"/>
                <a:cs typeface="Consolas"/>
              </a:rPr>
              <a:t>SENSITIVE_KEYS = {"password", "token", "secret",</a:t>
            </a:r>
            <a:endParaRPr sz="1000"/>
          </a:p>
          <a:p xmlns:a="http://schemas.openxmlformats.org/drawingml/2006/main">
            <a:pPr marL="0" indent="0">
              <a:lnSpc>
                <a:spcPct val="112000"/>
              </a:lnSpc>
              <a:buNone/>
            </a:pPr>
            <a:r>
              <a:rPr sz="1000">
                <a:solidFill>
                  <a:srgbClr val="D9E4F5"/>
                </a:solidFill>
                <a:latin typeface="Consolas"/>
                <a:ea typeface="Consolas"/>
                <a:cs typeface="Consolas"/>
              </a:rPr>
              <a:t>                  "national_id", "card_number"}</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def _mask_sensitive(logger, method, event_dict):</a:t>
            </a:r>
            <a:endParaRPr sz="1000"/>
          </a:p>
          <a:p xmlns:a="http://schemas.openxmlformats.org/drawingml/2006/main">
            <a:pPr marL="0" indent="0">
              <a:lnSpc>
                <a:spcPct val="112000"/>
              </a:lnSpc>
              <a:buNone/>
            </a:pPr>
            <a:r>
              <a:rPr sz="1000">
                <a:solidFill>
                  <a:srgbClr val="D9E4F5"/>
                </a:solidFill>
                <a:latin typeface="Consolas"/>
                <a:ea typeface="Consolas"/>
                <a:cs typeface="Consolas"/>
              </a:rPr>
              <a:t>    for key in list(event_dict):</a:t>
            </a:r>
            <a:endParaRPr sz="1000"/>
          </a:p>
          <a:p xmlns:a="http://schemas.openxmlformats.org/drawingml/2006/main">
            <a:pPr marL="0" indent="0">
              <a:lnSpc>
                <a:spcPct val="112000"/>
              </a:lnSpc>
              <a:buNone/>
            </a:pPr>
            <a:r>
              <a:rPr sz="1000">
                <a:solidFill>
                  <a:srgbClr val="D9E4F5"/>
                </a:solidFill>
                <a:latin typeface="Consolas"/>
                <a:ea typeface="Consolas"/>
                <a:cs typeface="Consolas"/>
              </a:rPr>
              <a:t>        if key.lower() in SENSITIVE_KEYS:</a:t>
            </a:r>
            <a:endParaRPr sz="1000"/>
          </a:p>
          <a:p xmlns:a="http://schemas.openxmlformats.org/drawingml/2006/main">
            <a:pPr marL="0" indent="0">
              <a:lnSpc>
                <a:spcPct val="112000"/>
              </a:lnSpc>
              <a:buNone/>
            </a:pPr>
            <a:r>
              <a:rPr sz="1000">
                <a:solidFill>
                  <a:srgbClr val="D9E4F5"/>
                </a:solidFill>
                <a:latin typeface="Consolas"/>
                <a:ea typeface="Consolas"/>
                <a:cs typeface="Consolas"/>
              </a:rPr>
              <a:t>            event_dict[key] = "***MASKED***"</a:t>
            </a:r>
            <a:endParaRPr sz="1000"/>
          </a:p>
          <a:p xmlns:a="http://schemas.openxmlformats.org/drawingml/2006/main">
            <a:pPr marL="0" indent="0">
              <a:lnSpc>
                <a:spcPct val="112000"/>
              </a:lnSpc>
              <a:buNone/>
            </a:pPr>
            <a:r>
              <a:rPr sz="1000">
                <a:solidFill>
                  <a:srgbClr val="D9E4F5"/>
                </a:solidFill>
                <a:latin typeface="Consolas"/>
                <a:ea typeface="Consolas"/>
                <a:cs typeface="Consolas"/>
              </a:rPr>
              <a:t>    return event_dict</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def configure_logging(level: str = "INFO") -&gt; None:</a:t>
            </a:r>
            <a:endParaRPr sz="1000"/>
          </a:p>
          <a:p xmlns:a="http://schemas.openxmlformats.org/drawingml/2006/main">
            <a:pPr marL="0" indent="0">
              <a:lnSpc>
                <a:spcPct val="112000"/>
              </a:lnSpc>
              <a:buNone/>
            </a:pPr>
            <a:r>
              <a:rPr sz="1000">
                <a:solidFill>
                  <a:srgbClr val="D9E4F5"/>
                </a:solidFill>
                <a:latin typeface="Consolas"/>
                <a:ea typeface="Consolas"/>
                <a:cs typeface="Consolas"/>
              </a:rPr>
              <a:t>    logging.basicConfig(stream=sys.stdout, level=level)</a:t>
            </a:r>
            <a:endParaRPr sz="1000"/>
          </a:p>
          <a:p xmlns:a="http://schemas.openxmlformats.org/drawingml/2006/main">
            <a:pPr marL="0" indent="0">
              <a:lnSpc>
                <a:spcPct val="112000"/>
              </a:lnSpc>
              <a:buNone/>
            </a:pPr>
            <a:r>
              <a:rPr sz="1000">
                <a:solidFill>
                  <a:srgbClr val="D9E4F5"/>
                </a:solidFill>
                <a:latin typeface="Consolas"/>
                <a:ea typeface="Consolas"/>
                <a:cs typeface="Consolas"/>
              </a:rPr>
              <a:t>    structlog.configure(processors=[</a:t>
            </a:r>
            <a:endParaRPr sz="1000"/>
          </a:p>
          <a:p xmlns:a="http://schemas.openxmlformats.org/drawingml/2006/main">
            <a:pPr marL="0" indent="0">
              <a:lnSpc>
                <a:spcPct val="112000"/>
              </a:lnSpc>
              <a:buNone/>
            </a:pPr>
            <a:r>
              <a:rPr sz="1000">
                <a:solidFill>
                  <a:srgbClr val="D9E4F5"/>
                </a:solidFill>
                <a:latin typeface="Consolas"/>
                <a:ea typeface="Consolas"/>
                <a:cs typeface="Consolas"/>
              </a:rPr>
              <a:t>        structlog.contextvars.merge_contextvars,</a:t>
            </a:r>
            <a:endParaRPr sz="1000"/>
          </a:p>
          <a:p xmlns:a="http://schemas.openxmlformats.org/drawingml/2006/main">
            <a:pPr marL="0" indent="0">
              <a:lnSpc>
                <a:spcPct val="112000"/>
              </a:lnSpc>
              <a:buNone/>
            </a:pPr>
            <a:r>
              <a:rPr sz="1000">
                <a:solidFill>
                  <a:srgbClr val="D9E4F5"/>
                </a:solidFill>
                <a:latin typeface="Consolas"/>
                <a:ea typeface="Consolas"/>
                <a:cs typeface="Consolas"/>
              </a:rPr>
              <a:t>        structlog.processors.add_log_level,</a:t>
            </a:r>
            <a:endParaRPr sz="1000"/>
          </a:p>
          <a:p xmlns:a="http://schemas.openxmlformats.org/drawingml/2006/main">
            <a:pPr marL="0" indent="0">
              <a:lnSpc>
                <a:spcPct val="112000"/>
              </a:lnSpc>
              <a:buNone/>
            </a:pPr>
            <a:r>
              <a:rPr sz="1000">
                <a:solidFill>
                  <a:srgbClr val="D9E4F5"/>
                </a:solidFill>
                <a:latin typeface="Consolas"/>
                <a:ea typeface="Consolas"/>
                <a:cs typeface="Consolas"/>
              </a:rPr>
              <a:t>        structlog.processors.TimeStamper(fmt="iso",</a:t>
            </a:r>
            <a:endParaRPr sz="1000"/>
          </a:p>
          <a:p xmlns:a="http://schemas.openxmlformats.org/drawingml/2006/main">
            <a:pPr marL="0" indent="0">
              <a:lnSpc>
                <a:spcPct val="112000"/>
              </a:lnSpc>
              <a:buNone/>
            </a:pPr>
            <a:r>
              <a:rPr sz="1000">
                <a:solidFill>
                  <a:srgbClr val="D9E4F5"/>
                </a:solidFill>
                <a:latin typeface="Consolas"/>
                <a:ea typeface="Consolas"/>
                <a:cs typeface="Consolas"/>
              </a:rPr>
              <a:t>                                         utc=True),</a:t>
            </a:r>
            <a:endParaRPr sz="1000"/>
          </a:p>
          <a:p xmlns:a="http://schemas.openxmlformats.org/drawingml/2006/main">
            <a:pPr marL="0" indent="0">
              <a:lnSpc>
                <a:spcPct val="112000"/>
              </a:lnSpc>
              <a:buNone/>
            </a:pPr>
            <a:r>
              <a:rPr sz="1000">
                <a:solidFill>
                  <a:srgbClr val="D9E4F5"/>
                </a:solidFill>
                <a:latin typeface="Consolas"/>
                <a:ea typeface="Consolas"/>
                <a:cs typeface="Consolas"/>
              </a:rPr>
              <a:t>        _mask_sensitive,</a:t>
            </a:r>
            <a:endParaRPr sz="1000"/>
          </a:p>
          <a:p xmlns:a="http://schemas.openxmlformats.org/drawingml/2006/main">
            <a:pPr marL="0" indent="0">
              <a:lnSpc>
                <a:spcPct val="112000"/>
              </a:lnSpc>
              <a:buNone/>
            </a:pPr>
            <a:r>
              <a:rPr sz="1000">
                <a:solidFill>
                  <a:srgbClr val="D9E4F5"/>
                </a:solidFill>
                <a:latin typeface="Consolas"/>
                <a:ea typeface="Consolas"/>
                <a:cs typeface="Consolas"/>
              </a:rPr>
              <a:t>        structlog.processors.JSONRenderer(),</a:t>
            </a:r>
            <a:endParaRPr sz="1000"/>
          </a:p>
          <a:p xmlns:a="http://schemas.openxmlformats.org/drawingml/2006/main">
            <a:pPr marL="0" indent="0">
              <a:lnSpc>
                <a:spcPct val="112000"/>
              </a:lnSpc>
              <a:buNone/>
            </a:pPr>
            <a:r>
              <a:rPr sz="1000">
                <a:solidFill>
                  <a:srgbClr val="D9E4F5"/>
                </a:solidFill>
                <a:latin typeface="Consolas"/>
                <a:ea typeface="Consolas"/>
                <a:cs typeface="Consolas"/>
              </a:rPr>
              <a:t>    ])</a:t>
            </a:r>
            <a:endParaRPr sz="1000"/>
          </a:p>
        </p:txBody>
      </p:sp>
      <p:sp>
        <p:nvSpPr>
          <p:cNvPr id="14" name="Shape 11">
            <a:extLst xmlns:a="http://schemas.openxmlformats.org/drawingml/2006/main">
              <a:ext uri="{FF2B5EF4-FFF2-40B4-BE49-F238E27FC236}">
                <a16:creationId xmlns:a16="http://schemas.microsoft.com/office/drawing/2014/main" id="{09EC6821-8242-451B-B8DF-86F321A674DC}"/>
              </a:ext>
            </a:extLst>
          </p:cNvPr>
          <p:cNvSpPr>
            <a:spLocks xmlns:a="http://schemas.openxmlformats.org/drawingml/2006/main" noGrp="1"/>
          </p:cNvSpPr>
          <p:nvPr/>
        </p:nvSpPr>
        <p:spPr>
          <a:xfrm xmlns:a="http://schemas.openxmlformats.org/drawingml/2006/main">
            <a:off x="8321040" y="1481328"/>
            <a:ext cx="3364992" cy="1017270"/>
          </a:xfrm>
          <a:prstGeom xmlns:a="http://schemas.openxmlformats.org/drawingml/2006/main" prst="roundRect">
            <a:avLst>
              <a:gd name="adj" fmla="val 5393"/>
            </a:avLst>
          </a:prstGeom>
          <a:solidFill xmlns:a="http://schemas.openxmlformats.org/drawingml/2006/main">
            <a:srgbClr val="D4F1EE"/>
          </a:solidFill>
        </p:spPr>
      </p:sp>
      <p:sp>
        <p:nvSpPr>
          <p:cNvPr id="15" name="Text 12">
            <a:extLst xmlns:a="http://schemas.openxmlformats.org/drawingml/2006/main">
              <a:ext uri="{FF2B5EF4-FFF2-40B4-BE49-F238E27FC236}">
                <a16:creationId xmlns:a16="http://schemas.microsoft.com/office/drawing/2014/main" id="{65CAEEFD-E82C-4496-8C82-831786CDA2F3}"/>
              </a:ext>
            </a:extLst>
          </p:cNvPr>
          <p:cNvSpPr>
            <a:spLocks xmlns:a="http://schemas.openxmlformats.org/drawingml/2006/main" noGrp="1"/>
          </p:cNvSpPr>
          <p:nvPr/>
        </p:nvSpPr>
        <p:spPr>
          <a:xfrm xmlns:a="http://schemas.openxmlformats.org/drawingml/2006/main">
            <a:off x="8485632" y="157276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Defensive masking</a:t>
            </a:r>
            <a:endParaRPr sz="1050"/>
          </a:p>
        </p:txBody>
      </p:sp>
      <p:sp>
        <p:nvSpPr>
          <p:cNvPr id="16" name="Text 13">
            <a:extLst xmlns:a="http://schemas.openxmlformats.org/drawingml/2006/main">
              <a:ext uri="{FF2B5EF4-FFF2-40B4-BE49-F238E27FC236}">
                <a16:creationId xmlns:a16="http://schemas.microsoft.com/office/drawing/2014/main" id="{E1548B87-1FCC-4DC5-99EE-15629613AEE4}"/>
              </a:ext>
            </a:extLst>
          </p:cNvPr>
          <p:cNvSpPr>
            <a:spLocks xmlns:a="http://schemas.openxmlformats.org/drawingml/2006/main" noGrp="1"/>
          </p:cNvSpPr>
          <p:nvPr/>
        </p:nvSpPr>
        <p:spPr>
          <a:xfrm xmlns:a="http://schemas.openxmlformats.org/drawingml/2006/main">
            <a:off x="8485632" y="1847088"/>
            <a:ext cx="3063240" cy="5600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Even if someone logs a secret field, _mask_sensitive replaces it with ***MASKED*** before it leaves the process.</a:t>
            </a:r>
            <a:endParaRPr sz="930"/>
          </a:p>
        </p:txBody>
      </p:sp>
      <p:sp>
        <p:nvSpPr>
          <p:cNvPr id="17" name="Shape 14">
            <a:extLst xmlns:a="http://schemas.openxmlformats.org/drawingml/2006/main">
              <a:ext uri="{FF2B5EF4-FFF2-40B4-BE49-F238E27FC236}">
                <a16:creationId xmlns:a16="http://schemas.microsoft.com/office/drawing/2014/main" id="{C0C74410-0DB3-4DAC-B1F4-3434F6AB7167}"/>
              </a:ext>
            </a:extLst>
          </p:cNvPr>
          <p:cNvSpPr>
            <a:spLocks xmlns:a="http://schemas.openxmlformats.org/drawingml/2006/main" noGrp="1"/>
          </p:cNvSpPr>
          <p:nvPr/>
        </p:nvSpPr>
        <p:spPr>
          <a:xfrm xmlns:a="http://schemas.openxmlformats.org/drawingml/2006/main">
            <a:off x="8321040" y="2635758"/>
            <a:ext cx="3364992" cy="1017270"/>
          </a:xfrm>
          <a:prstGeom xmlns:a="http://schemas.openxmlformats.org/drawingml/2006/main" prst="roundRect">
            <a:avLst>
              <a:gd name="adj" fmla="val 5393"/>
            </a:avLst>
          </a:prstGeom>
          <a:solidFill xmlns:a="http://schemas.openxmlformats.org/drawingml/2006/main">
            <a:srgbClr val="D9F0FA"/>
          </a:solidFill>
        </p:spPr>
      </p:sp>
      <p:sp>
        <p:nvSpPr>
          <p:cNvPr id="18" name="Text 15">
            <a:extLst xmlns:a="http://schemas.openxmlformats.org/drawingml/2006/main">
              <a:ext uri="{FF2B5EF4-FFF2-40B4-BE49-F238E27FC236}">
                <a16:creationId xmlns:a16="http://schemas.microsoft.com/office/drawing/2014/main" id="{70E62DF4-8DF0-4297-A4D3-B9AA5EEFA2BC}"/>
              </a:ext>
            </a:extLst>
          </p:cNvPr>
          <p:cNvSpPr>
            <a:spLocks xmlns:a="http://schemas.openxmlformats.org/drawingml/2006/main" noGrp="1"/>
          </p:cNvSpPr>
          <p:nvPr/>
        </p:nvSpPr>
        <p:spPr>
          <a:xfrm xmlns:a="http://schemas.openxmlformats.org/drawingml/2006/main">
            <a:off x="8485632" y="272719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trace_id binding</a:t>
            </a:r>
            <a:endParaRPr sz="1050"/>
          </a:p>
        </p:txBody>
      </p:sp>
      <p:sp>
        <p:nvSpPr>
          <p:cNvPr id="19" name="Text 16">
            <a:extLst xmlns:a="http://schemas.openxmlformats.org/drawingml/2006/main">
              <a:ext uri="{FF2B5EF4-FFF2-40B4-BE49-F238E27FC236}">
                <a16:creationId xmlns:a16="http://schemas.microsoft.com/office/drawing/2014/main" id="{00FC345D-EED8-4EF3-932B-FD58D34D0866}"/>
              </a:ext>
            </a:extLst>
          </p:cNvPr>
          <p:cNvSpPr>
            <a:spLocks xmlns:a="http://schemas.openxmlformats.org/drawingml/2006/main" noGrp="1"/>
          </p:cNvSpPr>
          <p:nvPr/>
        </p:nvSpPr>
        <p:spPr>
          <a:xfrm xmlns:a="http://schemas.openxmlformats.org/drawingml/2006/main">
            <a:off x="8485632" y="3001518"/>
            <a:ext cx="3063240" cy="5600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merge_contextvars pulls the bound trace_id into every line — one id joins gateway, API, and scoring logs.</a:t>
            </a:r>
            <a:endParaRPr sz="930"/>
          </a:p>
        </p:txBody>
      </p:sp>
      <p:sp>
        <p:nvSpPr>
          <p:cNvPr id="20" name="Shape 17">
            <a:extLst xmlns:a="http://schemas.openxmlformats.org/drawingml/2006/main">
              <a:ext uri="{FF2B5EF4-FFF2-40B4-BE49-F238E27FC236}">
                <a16:creationId xmlns:a16="http://schemas.microsoft.com/office/drawing/2014/main" id="{3CE5A072-FD39-4167-821E-BEAB7719E2E5}"/>
              </a:ext>
            </a:extLst>
          </p:cNvPr>
          <p:cNvSpPr>
            <a:spLocks xmlns:a="http://schemas.openxmlformats.org/drawingml/2006/main" noGrp="1"/>
          </p:cNvSpPr>
          <p:nvPr/>
        </p:nvSpPr>
        <p:spPr>
          <a:xfrm xmlns:a="http://schemas.openxmlformats.org/drawingml/2006/main">
            <a:off x="8321040" y="3790188"/>
            <a:ext cx="3364992" cy="1017270"/>
          </a:xfrm>
          <a:prstGeom xmlns:a="http://schemas.openxmlformats.org/drawingml/2006/main" prst="roundRect">
            <a:avLst>
              <a:gd name="adj" fmla="val 5393"/>
            </a:avLst>
          </a:prstGeom>
          <a:solidFill xmlns:a="http://schemas.openxmlformats.org/drawingml/2006/main">
            <a:srgbClr val="FDEBD7"/>
          </a:solidFill>
        </p:spPr>
      </p:sp>
      <p:sp>
        <p:nvSpPr>
          <p:cNvPr id="21" name="Text 18">
            <a:extLst xmlns:a="http://schemas.openxmlformats.org/drawingml/2006/main">
              <a:ext uri="{FF2B5EF4-FFF2-40B4-BE49-F238E27FC236}">
                <a16:creationId xmlns:a16="http://schemas.microsoft.com/office/drawing/2014/main" id="{D1840FC8-0407-413E-BAE6-BB6A1C7017AE}"/>
              </a:ext>
            </a:extLst>
          </p:cNvPr>
          <p:cNvSpPr>
            <a:spLocks xmlns:a="http://schemas.openxmlformats.org/drawingml/2006/main" noGrp="1"/>
          </p:cNvSpPr>
          <p:nvPr/>
        </p:nvSpPr>
        <p:spPr>
          <a:xfrm xmlns:a="http://schemas.openxmlformats.org/drawingml/2006/main">
            <a:off x="8485632" y="388162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Always UTC</a:t>
            </a:r>
            <a:endParaRPr sz="1050"/>
          </a:p>
        </p:txBody>
      </p:sp>
      <p:sp>
        <p:nvSpPr>
          <p:cNvPr id="22" name="Text 19">
            <a:extLst xmlns:a="http://schemas.openxmlformats.org/drawingml/2006/main">
              <a:ext uri="{FF2B5EF4-FFF2-40B4-BE49-F238E27FC236}">
                <a16:creationId xmlns:a16="http://schemas.microsoft.com/office/drawing/2014/main" id="{061BF164-9C32-4833-BDF8-7E25839B130D}"/>
              </a:ext>
            </a:extLst>
          </p:cNvPr>
          <p:cNvSpPr>
            <a:spLocks xmlns:a="http://schemas.openxmlformats.org/drawingml/2006/main" noGrp="1"/>
          </p:cNvSpPr>
          <p:nvPr/>
        </p:nvSpPr>
        <p:spPr>
          <a:xfrm xmlns:a="http://schemas.openxmlformats.org/drawingml/2006/main">
            <a:off x="8485632" y="4155948"/>
            <a:ext cx="3063240" cy="5600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TimeStamper utc=True: log in UTC, render locally. Incidents cross midnight; naive timestamps mislead.</a:t>
            </a:r>
            <a:endParaRPr sz="930"/>
          </a:p>
        </p:txBody>
      </p:sp>
      <p:sp>
        <p:nvSpPr>
          <p:cNvPr id="23" name="Shape 20">
            <a:extLst xmlns:a="http://schemas.openxmlformats.org/drawingml/2006/main">
              <a:ext uri="{FF2B5EF4-FFF2-40B4-BE49-F238E27FC236}">
                <a16:creationId xmlns:a16="http://schemas.microsoft.com/office/drawing/2014/main" id="{8A927DEA-9F17-4333-8875-F069D47BDE3C}"/>
              </a:ext>
            </a:extLst>
          </p:cNvPr>
          <p:cNvSpPr>
            <a:spLocks xmlns:a="http://schemas.openxmlformats.org/drawingml/2006/main" noGrp="1"/>
          </p:cNvSpPr>
          <p:nvPr/>
        </p:nvSpPr>
        <p:spPr>
          <a:xfrm xmlns:a="http://schemas.openxmlformats.org/drawingml/2006/main">
            <a:off x="8321040" y="4944618"/>
            <a:ext cx="3364992" cy="1017270"/>
          </a:xfrm>
          <a:prstGeom xmlns:a="http://schemas.openxmlformats.org/drawingml/2006/main" prst="roundRect">
            <a:avLst>
              <a:gd name="adj" fmla="val 5393"/>
            </a:avLst>
          </a:prstGeom>
          <a:solidFill xmlns:a="http://schemas.openxmlformats.org/drawingml/2006/main">
            <a:srgbClr val="EAF4DC"/>
          </a:solidFill>
        </p:spPr>
      </p:sp>
      <p:sp>
        <p:nvSpPr>
          <p:cNvPr id="24" name="Text 21">
            <a:extLst xmlns:a="http://schemas.openxmlformats.org/drawingml/2006/main">
              <a:ext uri="{FF2B5EF4-FFF2-40B4-BE49-F238E27FC236}">
                <a16:creationId xmlns:a16="http://schemas.microsoft.com/office/drawing/2014/main" id="{BB3B6BD4-D28C-442B-8C6F-E26BC82E2D1A}"/>
              </a:ext>
            </a:extLst>
          </p:cNvPr>
          <p:cNvSpPr>
            <a:spLocks xmlns:a="http://schemas.openxmlformats.org/drawingml/2006/main" noGrp="1"/>
          </p:cNvSpPr>
          <p:nvPr/>
        </p:nvSpPr>
        <p:spPr>
          <a:xfrm xmlns:a="http://schemas.openxmlformats.org/drawingml/2006/main">
            <a:off x="8485632" y="503605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JSON to stdout</a:t>
            </a:r>
            <a:endParaRPr sz="1050"/>
          </a:p>
        </p:txBody>
      </p:sp>
      <p:sp>
        <p:nvSpPr>
          <p:cNvPr id="25" name="Text 22">
            <a:extLst xmlns:a="http://schemas.openxmlformats.org/drawingml/2006/main">
              <a:ext uri="{FF2B5EF4-FFF2-40B4-BE49-F238E27FC236}">
                <a16:creationId xmlns:a16="http://schemas.microsoft.com/office/drawing/2014/main" id="{69B9B08E-515F-4F50-B201-66E02C0694BA}"/>
              </a:ext>
            </a:extLst>
          </p:cNvPr>
          <p:cNvSpPr>
            <a:spLocks xmlns:a="http://schemas.openxmlformats.org/drawingml/2006/main" noGrp="1"/>
          </p:cNvSpPr>
          <p:nvPr/>
        </p:nvSpPr>
        <p:spPr>
          <a:xfrm xmlns:a="http://schemas.openxmlformats.org/drawingml/2006/main">
            <a:off x="8485632" y="5310378"/>
            <a:ext cx="3063240" cy="5600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JSONRenderer emits queryable events; the platform owns shipping and rotation (12-factor).</a:t>
            </a:r>
            <a:endParaRPr sz="930"/>
          </a:p>
        </p:txBody>
      </p:sp>
    </p:spTree>
    <p:extLst>
      <p:ext uri="{BB962C8B-B14F-4D97-AF65-F5344CB8AC3E}">
        <p14:creationId xmlns:p14="http://schemas.microsoft.com/office/powerpoint/2010/main" val="1480328822"/>
      </p:ext>
    </p:extLst>
  </p:cSld>
</p:sld>
</file>

<file path=ppt/slides/slide13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F5C21A4-F199-423B-A20D-C7F456196BF3}"/>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Request middleware + scoring event</a:t>
            </a:r>
            <a:endParaRPr sz="2600"/>
          </a:p>
        </p:txBody>
      </p:sp>
      <p:sp>
        <p:nvSpPr>
          <p:cNvPr id="3" name="Text 1">
            <a:extLst xmlns:a="http://schemas.openxmlformats.org/drawingml/2006/main">
              <a:ext uri="{FF2B5EF4-FFF2-40B4-BE49-F238E27FC236}">
                <a16:creationId xmlns:a16="http://schemas.microsoft.com/office/drawing/2014/main" id="{56C0F277-0511-4A07-A7F3-EC7F137158FE}"/>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وسيط الطلب + حدث التسجيل</a:t>
            </a:r>
            <a:endParaRPr sz="1300"/>
          </a:p>
        </p:txBody>
      </p:sp>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a7f91bc188494fa6"/>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C1A7ED28-1097-4572-BC02-45EF2BDA36CF}"/>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CCB4E764-528E-4E6E-BA11-ED82D076ACC4}"/>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6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D474609A-F5F9-4EAE-A3CA-46F091362D2B}"/>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136</a:t>
            </a:r>
            <a:endParaRPr sz="850"/>
          </a:p>
        </p:txBody>
      </p:sp>
      <p:sp>
        <p:nvSpPr>
          <p:cNvPr id="8" name="Shape 5">
            <a:extLst xmlns:a="http://schemas.openxmlformats.org/drawingml/2006/main">
              <a:ext uri="{FF2B5EF4-FFF2-40B4-BE49-F238E27FC236}">
                <a16:creationId xmlns:a16="http://schemas.microsoft.com/office/drawing/2014/main" id="{40C737C5-6FC7-4634-849F-2E6600563852}"/>
              </a:ext>
            </a:extLst>
          </p:cNvPr>
          <p:cNvSpPr>
            <a:spLocks xmlns:a="http://schemas.openxmlformats.org/drawingml/2006/main" noGrp="1"/>
          </p:cNvSpPr>
          <p:nvPr/>
        </p:nvSpPr>
        <p:spPr>
          <a:xfrm xmlns:a="http://schemas.openxmlformats.org/drawingml/2006/main">
            <a:off x="502920" y="1481328"/>
            <a:ext cx="7635240" cy="4617720"/>
          </a:xfrm>
          <a:prstGeom xmlns:a="http://schemas.openxmlformats.org/drawingml/2006/main" prst="roundRect">
            <a:avLst>
              <a:gd name="adj" fmla="val 1584"/>
            </a:avLst>
          </a:prstGeom>
          <a:solidFill xmlns:a="http://schemas.openxmlformats.org/drawingml/2006/main">
            <a:srgbClr val="1A2233"/>
          </a:solidFill>
        </p:spPr>
      </p:sp>
      <p:sp>
        <p:nvSpPr>
          <p:cNvPr id="9" name="Shape 6">
            <a:extLst xmlns:a="http://schemas.openxmlformats.org/drawingml/2006/main">
              <a:ext uri="{FF2B5EF4-FFF2-40B4-BE49-F238E27FC236}">
                <a16:creationId xmlns:a16="http://schemas.microsoft.com/office/drawing/2014/main" id="{15D73EA9-8F2E-448F-84C5-661AE5ECB570}"/>
              </a:ext>
            </a:extLst>
          </p:cNvPr>
          <p:cNvSpPr>
            <a:spLocks xmlns:a="http://schemas.openxmlformats.org/drawingml/2006/main" noGrp="1"/>
          </p:cNvSpPr>
          <p:nvPr/>
        </p:nvSpPr>
        <p:spPr>
          <a:xfrm xmlns:a="http://schemas.openxmlformats.org/drawingml/2006/main">
            <a:off x="731520" y="1664208"/>
            <a:ext cx="109728" cy="109728"/>
          </a:xfrm>
          <a:prstGeom xmlns:a="http://schemas.openxmlformats.org/drawingml/2006/main" prst="ellipse">
            <a:avLst/>
          </a:prstGeom>
          <a:solidFill xmlns:a="http://schemas.openxmlformats.org/drawingml/2006/main">
            <a:srgbClr val="E8503A"/>
          </a:solidFill>
        </p:spPr>
      </p:sp>
      <p:sp>
        <p:nvSpPr>
          <p:cNvPr id="10" name="Shape 7">
            <a:extLst xmlns:a="http://schemas.openxmlformats.org/drawingml/2006/main">
              <a:ext uri="{FF2B5EF4-FFF2-40B4-BE49-F238E27FC236}">
                <a16:creationId xmlns:a16="http://schemas.microsoft.com/office/drawing/2014/main" id="{616F3173-71BA-4AFA-875D-E65E30EB78A4}"/>
              </a:ext>
            </a:extLst>
          </p:cNvPr>
          <p:cNvSpPr>
            <a:spLocks xmlns:a="http://schemas.openxmlformats.org/drawingml/2006/main" noGrp="1"/>
          </p:cNvSpPr>
          <p:nvPr/>
        </p:nvSpPr>
        <p:spPr>
          <a:xfrm xmlns:a="http://schemas.openxmlformats.org/drawingml/2006/main">
            <a:off x="932688" y="1664208"/>
            <a:ext cx="109728" cy="109728"/>
          </a:xfrm>
          <a:prstGeom xmlns:a="http://schemas.openxmlformats.org/drawingml/2006/main" prst="ellipse">
            <a:avLst/>
          </a:prstGeom>
          <a:solidFill xmlns:a="http://schemas.openxmlformats.org/drawingml/2006/main">
            <a:srgbClr val="F5B820"/>
          </a:solidFill>
        </p:spPr>
      </p:sp>
      <p:sp>
        <p:nvSpPr>
          <p:cNvPr id="11" name="Shape 8">
            <a:extLst xmlns:a="http://schemas.openxmlformats.org/drawingml/2006/main">
              <a:ext uri="{FF2B5EF4-FFF2-40B4-BE49-F238E27FC236}">
                <a16:creationId xmlns:a16="http://schemas.microsoft.com/office/drawing/2014/main" id="{57B9804A-2B78-42AF-BEFF-89D10923980C}"/>
              </a:ext>
            </a:extLst>
          </p:cNvPr>
          <p:cNvSpPr>
            <a:spLocks xmlns:a="http://schemas.openxmlformats.org/drawingml/2006/main" noGrp="1"/>
          </p:cNvSpPr>
          <p:nvPr/>
        </p:nvSpPr>
        <p:spPr>
          <a:xfrm xmlns:a="http://schemas.openxmlformats.org/drawingml/2006/main">
            <a:off x="1133856" y="1664208"/>
            <a:ext cx="109728" cy="109728"/>
          </a:xfrm>
          <a:prstGeom xmlns:a="http://schemas.openxmlformats.org/drawingml/2006/main" prst="ellipse">
            <a:avLst/>
          </a:prstGeom>
          <a:solidFill xmlns:a="http://schemas.openxmlformats.org/drawingml/2006/main">
            <a:srgbClr val="8DC63F"/>
          </a:solidFill>
        </p:spPr>
      </p:sp>
      <p:sp>
        <p:nvSpPr>
          <p:cNvPr id="12" name="Text 9">
            <a:extLst xmlns:a="http://schemas.openxmlformats.org/drawingml/2006/main">
              <a:ext uri="{FF2B5EF4-FFF2-40B4-BE49-F238E27FC236}">
                <a16:creationId xmlns:a16="http://schemas.microsoft.com/office/drawing/2014/main" id="{F0E69272-3559-49A8-9244-24FF3145A6B3}"/>
              </a:ext>
            </a:extLst>
          </p:cNvPr>
          <p:cNvSpPr>
            <a:spLocks xmlns:a="http://schemas.openxmlformats.org/drawingml/2006/main" noGrp="1"/>
          </p:cNvSpPr>
          <p:nvPr/>
        </p:nvSpPr>
        <p:spPr>
          <a:xfrm xmlns:a="http://schemas.openxmlformats.org/drawingml/2006/main">
            <a:off x="4526280" y="1609344"/>
            <a:ext cx="32918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6C8"/>
                </a:solidFill>
                <a:latin typeface="Consolas"/>
                <a:ea typeface="Consolas"/>
                <a:cs typeface="Consolas"/>
              </a:rPr>
              <a:t>src/fraud_service/api/app.py</a:t>
            </a:r>
            <a:endParaRPr sz="900"/>
          </a:p>
        </p:txBody>
      </p:sp>
      <p:sp>
        <p:nvSpPr>
          <p:cNvPr id="13" name="Text 10">
            <a:extLst xmlns:a="http://schemas.openxmlformats.org/drawingml/2006/main">
              <a:ext uri="{FF2B5EF4-FFF2-40B4-BE49-F238E27FC236}">
                <a16:creationId xmlns:a16="http://schemas.microsoft.com/office/drawing/2014/main" id="{2C424E9B-B986-4338-8ED1-FBE81D550027}"/>
              </a:ext>
            </a:extLst>
          </p:cNvPr>
          <p:cNvSpPr>
            <a:spLocks xmlns:a="http://schemas.openxmlformats.org/drawingml/2006/main" noGrp="1"/>
          </p:cNvSpPr>
          <p:nvPr/>
        </p:nvSpPr>
        <p:spPr>
          <a:xfrm xmlns:a="http://schemas.openxmlformats.org/drawingml/2006/main">
            <a:off x="713232" y="1965960"/>
            <a:ext cx="717804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12000"/>
              </a:lnSpc>
              <a:buNone/>
            </a:pPr>
            <a:r>
              <a:rPr sz="1000">
                <a:solidFill>
                  <a:srgbClr val="D9E4F5"/>
                </a:solidFill>
                <a:latin typeface="Consolas"/>
                <a:ea typeface="Consolas"/>
                <a:cs typeface="Consolas"/>
              </a:rPr>
              <a:t>@app.middleware("http")</a:t>
            </a:r>
            <a:endParaRPr sz="1000"/>
          </a:p>
          <a:p xmlns:a="http://schemas.openxmlformats.org/drawingml/2006/main">
            <a:pPr marL="0" indent="0">
              <a:lnSpc>
                <a:spcPct val="112000"/>
              </a:lnSpc>
              <a:buNone/>
            </a:pPr>
            <a:r>
              <a:rPr sz="1000">
                <a:solidFill>
                  <a:srgbClr val="D9E4F5"/>
                </a:solidFill>
                <a:latin typeface="Consolas"/>
                <a:ea typeface="Consolas"/>
                <a:cs typeface="Consolas"/>
              </a:rPr>
              <a:t>async def request_logging(request, call_next):</a:t>
            </a:r>
            <a:endParaRPr sz="1000"/>
          </a:p>
          <a:p xmlns:a="http://schemas.openxmlformats.org/drawingml/2006/main">
            <a:pPr marL="0" indent="0">
              <a:lnSpc>
                <a:spcPct val="112000"/>
              </a:lnSpc>
              <a:buNone/>
            </a:pPr>
            <a:r>
              <a:rPr sz="1000">
                <a:solidFill>
                  <a:srgbClr val="D9E4F5"/>
                </a:solidFill>
                <a:latin typeface="Consolas"/>
                <a:ea typeface="Consolas"/>
                <a:cs typeface="Consolas"/>
              </a:rPr>
              <a:t>    structlog.contextvars.clear_contextvars()</a:t>
            </a:r>
            <a:endParaRPr sz="1000"/>
          </a:p>
          <a:p xmlns:a="http://schemas.openxmlformats.org/drawingml/2006/main">
            <a:pPr marL="0" indent="0">
              <a:lnSpc>
                <a:spcPct val="112000"/>
              </a:lnSpc>
              <a:buNone/>
            </a:pPr>
            <a:r>
              <a:rPr sz="1000">
                <a:solidFill>
                  <a:srgbClr val="D9E4F5"/>
                </a:solidFill>
                <a:latin typeface="Consolas"/>
                <a:ea typeface="Consolas"/>
                <a:cs typeface="Consolas"/>
              </a:rPr>
              <a:t>    structlog.contextvars.bind_contextvars(</a:t>
            </a:r>
            <a:endParaRPr sz="1000"/>
          </a:p>
          <a:p xmlns:a="http://schemas.openxmlformats.org/drawingml/2006/main">
            <a:pPr marL="0" indent="0">
              <a:lnSpc>
                <a:spcPct val="112000"/>
              </a:lnSpc>
              <a:buNone/>
            </a:pPr>
            <a:r>
              <a:rPr sz="1000">
                <a:solidFill>
                  <a:srgbClr val="D9E4F5"/>
                </a:solidFill>
                <a:latin typeface="Consolas"/>
                <a:ea typeface="Consolas"/>
                <a:cs typeface="Consolas"/>
              </a:rPr>
              <a:t>        trace_id=request.state.trace_id,</a:t>
            </a:r>
            <a:endParaRPr sz="1000"/>
          </a:p>
          <a:p xmlns:a="http://schemas.openxmlformats.org/drawingml/2006/main">
            <a:pPr marL="0" indent="0">
              <a:lnSpc>
                <a:spcPct val="112000"/>
              </a:lnSpc>
              <a:buNone/>
            </a:pPr>
            <a:r>
              <a:rPr sz="1000">
                <a:solidFill>
                  <a:srgbClr val="D9E4F5"/>
                </a:solidFill>
                <a:latin typeface="Consolas"/>
                <a:ea typeface="Consolas"/>
                <a:cs typeface="Consolas"/>
              </a:rPr>
              <a:t>        path=request.url.path, method=request.method)</a:t>
            </a:r>
            <a:endParaRPr sz="1000"/>
          </a:p>
          <a:p xmlns:a="http://schemas.openxmlformats.org/drawingml/2006/main">
            <a:pPr marL="0" indent="0">
              <a:lnSpc>
                <a:spcPct val="112000"/>
              </a:lnSpc>
              <a:buNone/>
            </a:pPr>
            <a:r>
              <a:rPr sz="1000">
                <a:solidFill>
                  <a:srgbClr val="D9E4F5"/>
                </a:solidFill>
                <a:latin typeface="Consolas"/>
                <a:ea typeface="Consolas"/>
                <a:cs typeface="Consolas"/>
              </a:rPr>
              <a:t>    t0 = time.perf_counter()</a:t>
            </a:r>
            <a:endParaRPr sz="1000"/>
          </a:p>
          <a:p xmlns:a="http://schemas.openxmlformats.org/drawingml/2006/main">
            <a:pPr marL="0" indent="0">
              <a:lnSpc>
                <a:spcPct val="112000"/>
              </a:lnSpc>
              <a:buNone/>
            </a:pPr>
            <a:r>
              <a:rPr sz="1000">
                <a:solidFill>
                  <a:srgbClr val="D9E4F5"/>
                </a:solidFill>
                <a:latin typeface="Consolas"/>
                <a:ea typeface="Consolas"/>
                <a:cs typeface="Consolas"/>
              </a:rPr>
              <a:t>    response = await call_next(request)</a:t>
            </a:r>
            <a:endParaRPr sz="1000"/>
          </a:p>
          <a:p xmlns:a="http://schemas.openxmlformats.org/drawingml/2006/main">
            <a:pPr marL="0" indent="0">
              <a:lnSpc>
                <a:spcPct val="112000"/>
              </a:lnSpc>
              <a:buNone/>
            </a:pPr>
            <a:r>
              <a:rPr sz="1000">
                <a:solidFill>
                  <a:srgbClr val="D9E4F5"/>
                </a:solidFill>
                <a:latin typeface="Consolas"/>
                <a:ea typeface="Consolas"/>
                <a:cs typeface="Consolas"/>
              </a:rPr>
              <a:t>    log.info(</a:t>
            </a:r>
            <a:endParaRPr sz="1000"/>
          </a:p>
          <a:p xmlns:a="http://schemas.openxmlformats.org/drawingml/2006/main">
            <a:pPr marL="0" indent="0">
              <a:lnSpc>
                <a:spcPct val="112000"/>
              </a:lnSpc>
              <a:buNone/>
            </a:pPr>
            <a:r>
              <a:rPr sz="1000">
                <a:solidFill>
                  <a:srgbClr val="D9E4F5"/>
                </a:solidFill>
                <a:latin typeface="Consolas"/>
                <a:ea typeface="Consolas"/>
                <a:cs typeface="Consolas"/>
              </a:rPr>
              <a:t>        "http_request", status=response.status_code,</a:t>
            </a:r>
            <a:endParaRPr sz="1000"/>
          </a:p>
          <a:p xmlns:a="http://schemas.openxmlformats.org/drawingml/2006/main">
            <a:pPr marL="0" indent="0">
              <a:lnSpc>
                <a:spcPct val="112000"/>
              </a:lnSpc>
              <a:buNone/>
            </a:pPr>
            <a:r>
              <a:rPr sz="1000">
                <a:solidFill>
                  <a:srgbClr val="D9E4F5"/>
                </a:solidFill>
                <a:latin typeface="Consolas"/>
                <a:ea typeface="Consolas"/>
                <a:cs typeface="Consolas"/>
              </a:rPr>
              <a:t>        latency_ms=round((time.perf_counter()-t0)*1000, 1))</a:t>
            </a:r>
            <a:endParaRPr sz="1000"/>
          </a:p>
          <a:p xmlns:a="http://schemas.openxmlformats.org/drawingml/2006/main">
            <a:pPr marL="0" indent="0">
              <a:lnSpc>
                <a:spcPct val="112000"/>
              </a:lnSpc>
              <a:buNone/>
            </a:pPr>
            <a:r>
              <a:rPr sz="1000">
                <a:solidFill>
                  <a:srgbClr val="D9E4F5"/>
                </a:solidFill>
                <a:latin typeface="Consolas"/>
                <a:ea typeface="Consolas"/>
                <a:cs typeface="Consolas"/>
              </a:rPr>
              <a:t>    return response</a:t>
            </a:r>
            <a:endParaRPr sz="1000"/>
          </a:p>
          <a:p xmlns:a="http://schemas.openxmlformats.org/drawingml/2006/main">
            <a:pPr marL="0" indent="0">
              <a:lnSpc>
                <a:spcPct val="112000"/>
              </a:lnSpc>
              <a:buNone/>
            </a:pPr>
            <a:endParaRPr sz="1000"/>
          </a:p>
          <a:p xmlns:a="http://schemas.openxmlformats.org/drawingml/2006/main">
            <a:pPr marL="0" indent="0">
              <a:lnSpc>
                <a:spcPct val="112000"/>
              </a:lnSpc>
              <a:buNone/>
            </a:pPr>
            <a:r>
              <a:rPr sz="1000">
                <a:solidFill>
                  <a:srgbClr val="D9E4F5"/>
                </a:solidFill>
                <a:latin typeface="Consolas"/>
                <a:ea typeface="Consolas"/>
                <a:cs typeface="Consolas"/>
              </a:rPr>
              <a:t># scoring event inside the route:</a:t>
            </a:r>
            <a:endParaRPr sz="1000"/>
          </a:p>
          <a:p xmlns:a="http://schemas.openxmlformats.org/drawingml/2006/main">
            <a:pPr marL="0" indent="0">
              <a:lnSpc>
                <a:spcPct val="112000"/>
              </a:lnSpc>
              <a:buNone/>
            </a:pPr>
            <a:r>
              <a:rPr sz="1000">
                <a:solidFill>
                  <a:srgbClr val="D9E4F5"/>
                </a:solidFill>
                <a:latin typeface="Consolas"/>
                <a:ea typeface="Consolas"/>
                <a:cs typeface="Consolas"/>
              </a:rPr>
              <a:t>log.info("prediction_served",</a:t>
            </a:r>
            <a:endParaRPr sz="1000"/>
          </a:p>
          <a:p xmlns:a="http://schemas.openxmlformats.org/drawingml/2006/main">
            <a:pPr marL="0" indent="0">
              <a:lnSpc>
                <a:spcPct val="112000"/>
              </a:lnSpc>
              <a:buNone/>
            </a:pPr>
            <a:r>
              <a:rPr sz="1000">
                <a:solidFill>
                  <a:srgbClr val="D9E4F5"/>
                </a:solidFill>
                <a:latin typeface="Consolas"/>
                <a:ea typeface="Consolas"/>
                <a:cs typeface="Consolas"/>
              </a:rPr>
              <a:t>         decision=score.decision.value,</a:t>
            </a:r>
            <a:endParaRPr sz="1000"/>
          </a:p>
          <a:p xmlns:a="http://schemas.openxmlformats.org/drawingml/2006/main">
            <a:pPr marL="0" indent="0">
              <a:lnSpc>
                <a:spcPct val="112000"/>
              </a:lnSpc>
              <a:buNone/>
            </a:pPr>
            <a:r>
              <a:rPr sz="1000">
                <a:solidFill>
                  <a:srgbClr val="D9E4F5"/>
                </a:solidFill>
                <a:latin typeface="Consolas"/>
                <a:ea typeface="Consolas"/>
                <a:cs typeface="Consolas"/>
              </a:rPr>
              <a:t>         probability_bucket=round(score.probability, 1),</a:t>
            </a:r>
            <a:endParaRPr sz="1000"/>
          </a:p>
          <a:p xmlns:a="http://schemas.openxmlformats.org/drawingml/2006/main">
            <a:pPr marL="0" indent="0">
              <a:lnSpc>
                <a:spcPct val="112000"/>
              </a:lnSpc>
              <a:buNone/>
            </a:pPr>
            <a:r>
              <a:rPr sz="1000">
                <a:solidFill>
                  <a:srgbClr val="D9E4F5"/>
                </a:solidFill>
                <a:latin typeface="Consolas"/>
                <a:ea typeface="Consolas"/>
                <a:cs typeface="Consolas"/>
              </a:rPr>
              <a:t>         model_version=score.model_version)</a:t>
            </a:r>
            <a:endParaRPr sz="1000"/>
          </a:p>
          <a:p xmlns:a="http://schemas.openxmlformats.org/drawingml/2006/main">
            <a:pPr marL="0" indent="0">
              <a:lnSpc>
                <a:spcPct val="112000"/>
              </a:lnSpc>
              <a:buNone/>
            </a:pPr>
            <a:r>
              <a:rPr sz="1000">
                <a:solidFill>
                  <a:srgbClr val="D9E4F5"/>
                </a:solidFill>
                <a:latin typeface="Consolas"/>
                <a:ea typeface="Consolas"/>
                <a:cs typeface="Consolas"/>
              </a:rPr>
              <a:t># ABSENT by design: customer_id, amount, raw features</a:t>
            </a:r>
            <a:endParaRPr sz="1000"/>
          </a:p>
        </p:txBody>
      </p:sp>
      <p:sp>
        <p:nvSpPr>
          <p:cNvPr id="14" name="Shape 11">
            <a:extLst xmlns:a="http://schemas.openxmlformats.org/drawingml/2006/main">
              <a:ext uri="{FF2B5EF4-FFF2-40B4-BE49-F238E27FC236}">
                <a16:creationId xmlns:a16="http://schemas.microsoft.com/office/drawing/2014/main" id="{559F356A-78D1-4A12-9608-1ED6E51EFE25}"/>
              </a:ext>
            </a:extLst>
          </p:cNvPr>
          <p:cNvSpPr>
            <a:spLocks xmlns:a="http://schemas.openxmlformats.org/drawingml/2006/main" noGrp="1"/>
          </p:cNvSpPr>
          <p:nvPr/>
        </p:nvSpPr>
        <p:spPr>
          <a:xfrm xmlns:a="http://schemas.openxmlformats.org/drawingml/2006/main">
            <a:off x="8321040" y="1481328"/>
            <a:ext cx="3364992" cy="1017270"/>
          </a:xfrm>
          <a:prstGeom xmlns:a="http://schemas.openxmlformats.org/drawingml/2006/main" prst="roundRect">
            <a:avLst>
              <a:gd name="adj" fmla="val 5393"/>
            </a:avLst>
          </a:prstGeom>
          <a:solidFill xmlns:a="http://schemas.openxmlformats.org/drawingml/2006/main">
            <a:srgbClr val="D4F1EE"/>
          </a:solidFill>
        </p:spPr>
      </p:sp>
      <p:sp>
        <p:nvSpPr>
          <p:cNvPr id="15" name="Text 12">
            <a:extLst xmlns:a="http://schemas.openxmlformats.org/drawingml/2006/main">
              <a:ext uri="{FF2B5EF4-FFF2-40B4-BE49-F238E27FC236}">
                <a16:creationId xmlns:a16="http://schemas.microsoft.com/office/drawing/2014/main" id="{61AEF62F-4A4B-48FE-8465-9C36329BF0B7}"/>
              </a:ext>
            </a:extLst>
          </p:cNvPr>
          <p:cNvSpPr>
            <a:spLocks xmlns:a="http://schemas.openxmlformats.org/drawingml/2006/main" noGrp="1"/>
          </p:cNvSpPr>
          <p:nvPr/>
        </p:nvSpPr>
        <p:spPr>
          <a:xfrm xmlns:a="http://schemas.openxmlformats.org/drawingml/2006/main">
            <a:off x="8485632" y="157276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Bind once per request</a:t>
            </a:r>
            <a:endParaRPr sz="1050"/>
          </a:p>
        </p:txBody>
      </p:sp>
      <p:sp>
        <p:nvSpPr>
          <p:cNvPr id="16" name="Text 13">
            <a:extLst xmlns:a="http://schemas.openxmlformats.org/drawingml/2006/main">
              <a:ext uri="{FF2B5EF4-FFF2-40B4-BE49-F238E27FC236}">
                <a16:creationId xmlns:a16="http://schemas.microsoft.com/office/drawing/2014/main" id="{C89DD399-1B61-49F3-A727-C6EAA0ACFEFA}"/>
              </a:ext>
            </a:extLst>
          </p:cNvPr>
          <p:cNvSpPr>
            <a:spLocks xmlns:a="http://schemas.openxmlformats.org/drawingml/2006/main" noGrp="1"/>
          </p:cNvSpPr>
          <p:nvPr/>
        </p:nvSpPr>
        <p:spPr>
          <a:xfrm xmlns:a="http://schemas.openxmlformats.org/drawingml/2006/main">
            <a:off x="8485632" y="1847088"/>
            <a:ext cx="3063240" cy="5600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clear + bind_contextvars sets trace_id, path, method so every line in the request carries them automatically.</a:t>
            </a:r>
            <a:endParaRPr sz="930"/>
          </a:p>
        </p:txBody>
      </p:sp>
      <p:sp>
        <p:nvSpPr>
          <p:cNvPr id="17" name="Shape 14">
            <a:extLst xmlns:a="http://schemas.openxmlformats.org/drawingml/2006/main">
              <a:ext uri="{FF2B5EF4-FFF2-40B4-BE49-F238E27FC236}">
                <a16:creationId xmlns:a16="http://schemas.microsoft.com/office/drawing/2014/main" id="{0371ECF3-0DF3-43FD-B3B2-0A8D984EFCA0}"/>
              </a:ext>
            </a:extLst>
          </p:cNvPr>
          <p:cNvSpPr>
            <a:spLocks xmlns:a="http://schemas.openxmlformats.org/drawingml/2006/main" noGrp="1"/>
          </p:cNvSpPr>
          <p:nvPr/>
        </p:nvSpPr>
        <p:spPr>
          <a:xfrm xmlns:a="http://schemas.openxmlformats.org/drawingml/2006/main">
            <a:off x="8321040" y="2635758"/>
            <a:ext cx="3364992" cy="1017270"/>
          </a:xfrm>
          <a:prstGeom xmlns:a="http://schemas.openxmlformats.org/drawingml/2006/main" prst="roundRect">
            <a:avLst>
              <a:gd name="adj" fmla="val 5393"/>
            </a:avLst>
          </a:prstGeom>
          <a:solidFill xmlns:a="http://schemas.openxmlformats.org/drawingml/2006/main">
            <a:srgbClr val="D9F0FA"/>
          </a:solidFill>
        </p:spPr>
      </p:sp>
      <p:sp>
        <p:nvSpPr>
          <p:cNvPr id="18" name="Text 15">
            <a:extLst xmlns:a="http://schemas.openxmlformats.org/drawingml/2006/main">
              <a:ext uri="{FF2B5EF4-FFF2-40B4-BE49-F238E27FC236}">
                <a16:creationId xmlns:a16="http://schemas.microsoft.com/office/drawing/2014/main" id="{E76D8860-2B0E-427E-BB9C-DD4A45A3A707}"/>
              </a:ext>
            </a:extLst>
          </p:cNvPr>
          <p:cNvSpPr>
            <a:spLocks xmlns:a="http://schemas.openxmlformats.org/drawingml/2006/main" noGrp="1"/>
          </p:cNvSpPr>
          <p:nvPr/>
        </p:nvSpPr>
        <p:spPr>
          <a:xfrm xmlns:a="http://schemas.openxmlformats.org/drawingml/2006/main">
            <a:off x="8485632" y="272719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Latency from logs</a:t>
            </a:r>
            <a:endParaRPr sz="1050"/>
          </a:p>
        </p:txBody>
      </p:sp>
      <p:sp>
        <p:nvSpPr>
          <p:cNvPr id="19" name="Text 16">
            <a:extLst xmlns:a="http://schemas.openxmlformats.org/drawingml/2006/main">
              <a:ext uri="{FF2B5EF4-FFF2-40B4-BE49-F238E27FC236}">
                <a16:creationId xmlns:a16="http://schemas.microsoft.com/office/drawing/2014/main" id="{D7259F2A-06C7-4A86-917F-D82D7438A654}"/>
              </a:ext>
            </a:extLst>
          </p:cNvPr>
          <p:cNvSpPr>
            <a:spLocks xmlns:a="http://schemas.openxmlformats.org/drawingml/2006/main" noGrp="1"/>
          </p:cNvSpPr>
          <p:nvPr/>
        </p:nvSpPr>
        <p:spPr>
          <a:xfrm xmlns:a="http://schemas.openxmlformats.org/drawingml/2006/main">
            <a:off x="8485632" y="3001518"/>
            <a:ext cx="3063240" cy="5600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http_request logs status + latency_ms — jq over the stream computes p50/p99 with no separate metrics system.</a:t>
            </a:r>
            <a:endParaRPr sz="930"/>
          </a:p>
        </p:txBody>
      </p:sp>
      <p:sp>
        <p:nvSpPr>
          <p:cNvPr id="20" name="Shape 17">
            <a:extLst xmlns:a="http://schemas.openxmlformats.org/drawingml/2006/main">
              <a:ext uri="{FF2B5EF4-FFF2-40B4-BE49-F238E27FC236}">
                <a16:creationId xmlns:a16="http://schemas.microsoft.com/office/drawing/2014/main" id="{29B9D52E-6980-46A2-9BAE-BF48926CADF2}"/>
              </a:ext>
            </a:extLst>
          </p:cNvPr>
          <p:cNvSpPr>
            <a:spLocks xmlns:a="http://schemas.openxmlformats.org/drawingml/2006/main" noGrp="1"/>
          </p:cNvSpPr>
          <p:nvPr/>
        </p:nvSpPr>
        <p:spPr>
          <a:xfrm xmlns:a="http://schemas.openxmlformats.org/drawingml/2006/main">
            <a:off x="8321040" y="3790188"/>
            <a:ext cx="3364992" cy="1017270"/>
          </a:xfrm>
          <a:prstGeom xmlns:a="http://schemas.openxmlformats.org/drawingml/2006/main" prst="roundRect">
            <a:avLst>
              <a:gd name="adj" fmla="val 5393"/>
            </a:avLst>
          </a:prstGeom>
          <a:solidFill xmlns:a="http://schemas.openxmlformats.org/drawingml/2006/main">
            <a:srgbClr val="FDEBD7"/>
          </a:solidFill>
        </p:spPr>
      </p:sp>
      <p:sp>
        <p:nvSpPr>
          <p:cNvPr id="21" name="Text 18">
            <a:extLst xmlns:a="http://schemas.openxmlformats.org/drawingml/2006/main">
              <a:ext uri="{FF2B5EF4-FFF2-40B4-BE49-F238E27FC236}">
                <a16:creationId xmlns:a16="http://schemas.microsoft.com/office/drawing/2014/main" id="{9E205CB3-B034-4FB1-9E13-76FF93A421FE}"/>
              </a:ext>
            </a:extLst>
          </p:cNvPr>
          <p:cNvSpPr>
            <a:spLocks xmlns:a="http://schemas.openxmlformats.org/drawingml/2006/main" noGrp="1"/>
          </p:cNvSpPr>
          <p:nvPr/>
        </p:nvSpPr>
        <p:spPr>
          <a:xfrm xmlns:a="http://schemas.openxmlformats.org/drawingml/2006/main">
            <a:off x="8485632" y="388162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Bucketed, not raw</a:t>
            </a:r>
            <a:endParaRPr sz="1050"/>
          </a:p>
        </p:txBody>
      </p:sp>
      <p:sp>
        <p:nvSpPr>
          <p:cNvPr id="22" name="Text 19">
            <a:extLst xmlns:a="http://schemas.openxmlformats.org/drawingml/2006/main">
              <a:ext uri="{FF2B5EF4-FFF2-40B4-BE49-F238E27FC236}">
                <a16:creationId xmlns:a16="http://schemas.microsoft.com/office/drawing/2014/main" id="{49332132-3A1B-4EB2-A744-065DB3C3721B}"/>
              </a:ext>
            </a:extLst>
          </p:cNvPr>
          <p:cNvSpPr>
            <a:spLocks xmlns:a="http://schemas.openxmlformats.org/drawingml/2006/main" noGrp="1"/>
          </p:cNvSpPr>
          <p:nvPr/>
        </p:nvSpPr>
        <p:spPr>
          <a:xfrm xmlns:a="http://schemas.openxmlformats.org/drawingml/2006/main">
            <a:off x="8485632" y="4155948"/>
            <a:ext cx="3063240" cy="5600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probability_bucket rounds to 0.1 steps; a raw score plus a customer id together may be sensitive.</a:t>
            </a:r>
            <a:endParaRPr sz="930"/>
          </a:p>
        </p:txBody>
      </p:sp>
      <p:sp>
        <p:nvSpPr>
          <p:cNvPr id="23" name="Shape 20">
            <a:extLst xmlns:a="http://schemas.openxmlformats.org/drawingml/2006/main">
              <a:ext uri="{FF2B5EF4-FFF2-40B4-BE49-F238E27FC236}">
                <a16:creationId xmlns:a16="http://schemas.microsoft.com/office/drawing/2014/main" id="{95F4F130-D128-4FF1-9DE8-6EEC527D5B55}"/>
              </a:ext>
            </a:extLst>
          </p:cNvPr>
          <p:cNvSpPr>
            <a:spLocks xmlns:a="http://schemas.openxmlformats.org/drawingml/2006/main" noGrp="1"/>
          </p:cNvSpPr>
          <p:nvPr/>
        </p:nvSpPr>
        <p:spPr>
          <a:xfrm xmlns:a="http://schemas.openxmlformats.org/drawingml/2006/main">
            <a:off x="8321040" y="4944618"/>
            <a:ext cx="3364992" cy="1017270"/>
          </a:xfrm>
          <a:prstGeom xmlns:a="http://schemas.openxmlformats.org/drawingml/2006/main" prst="roundRect">
            <a:avLst>
              <a:gd name="adj" fmla="val 5393"/>
            </a:avLst>
          </a:prstGeom>
          <a:solidFill xmlns:a="http://schemas.openxmlformats.org/drawingml/2006/main">
            <a:srgbClr val="EAF4DC"/>
          </a:solidFill>
        </p:spPr>
      </p:sp>
      <p:sp>
        <p:nvSpPr>
          <p:cNvPr id="24" name="Text 21">
            <a:extLst xmlns:a="http://schemas.openxmlformats.org/drawingml/2006/main">
              <a:ext uri="{FF2B5EF4-FFF2-40B4-BE49-F238E27FC236}">
                <a16:creationId xmlns:a16="http://schemas.microsoft.com/office/drawing/2014/main" id="{D9BFEB8A-DDA6-4B2D-A188-A3BF831DCE07}"/>
              </a:ext>
            </a:extLst>
          </p:cNvPr>
          <p:cNvSpPr>
            <a:spLocks xmlns:a="http://schemas.openxmlformats.org/drawingml/2006/main" noGrp="1"/>
          </p:cNvSpPr>
          <p:nvPr/>
        </p:nvSpPr>
        <p:spPr>
          <a:xfrm xmlns:a="http://schemas.openxmlformats.org/drawingml/2006/main">
            <a:off x="8485632" y="5036058"/>
            <a:ext cx="3063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1D2A5C"/>
                </a:solidFill>
                <a:latin typeface="Calibri"/>
                <a:ea typeface="Calibri"/>
                <a:cs typeface="Calibri"/>
              </a:rPr>
              <a:t>Absent by design</a:t>
            </a:r>
            <a:endParaRPr sz="1050"/>
          </a:p>
        </p:txBody>
      </p:sp>
      <p:sp>
        <p:nvSpPr>
          <p:cNvPr id="25" name="Text 22">
            <a:extLst xmlns:a="http://schemas.openxmlformats.org/drawingml/2006/main">
              <a:ext uri="{FF2B5EF4-FFF2-40B4-BE49-F238E27FC236}">
                <a16:creationId xmlns:a16="http://schemas.microsoft.com/office/drawing/2014/main" id="{EE0FD490-E5F7-4541-8975-74E81EDE5180}"/>
              </a:ext>
            </a:extLst>
          </p:cNvPr>
          <p:cNvSpPr>
            <a:spLocks xmlns:a="http://schemas.openxmlformats.org/drawingml/2006/main" noGrp="1"/>
          </p:cNvSpPr>
          <p:nvPr/>
        </p:nvSpPr>
        <p:spPr>
          <a:xfrm xmlns:a="http://schemas.openxmlformats.org/drawingml/2006/main">
            <a:off x="8485632" y="5310378"/>
            <a:ext cx="3063240" cy="56007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30">
                <a:solidFill>
                  <a:srgbClr val="5F6B7A"/>
                </a:solidFill>
                <a:latin typeface="Calibri"/>
                <a:ea typeface="Calibri"/>
                <a:cs typeface="Calibri"/>
              </a:rPr>
              <a:t>customer_id, amount and raw feature values are never logged — logs are personal-data processing under PDPL.</a:t>
            </a:r>
            <a:endParaRPr sz="930"/>
          </a:p>
        </p:txBody>
      </p:sp>
    </p:spTree>
    <p:extLst>
      <p:ext uri="{BB962C8B-B14F-4D97-AF65-F5344CB8AC3E}">
        <p14:creationId xmlns:p14="http://schemas.microsoft.com/office/powerpoint/2010/main" val="495161412"/>
      </p:ext>
    </p:extLst>
  </p:cSld>
</p:sld>
</file>

<file path=ppt/slides/slide13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5CB246D-85BB-4559-86CF-3CD3E57FD2A9}"/>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What to log — and what never to log</a:t>
            </a:r>
            <a:endParaRPr sz="2600"/>
          </a:p>
        </p:txBody>
      </p:sp>
      <p:sp>
        <p:nvSpPr>
          <p:cNvPr id="3" name="Text 1">
            <a:extLst xmlns:a="http://schemas.openxmlformats.org/drawingml/2006/main">
              <a:ext uri="{FF2B5EF4-FFF2-40B4-BE49-F238E27FC236}">
                <a16:creationId xmlns:a16="http://schemas.microsoft.com/office/drawing/2014/main" id="{5A116266-CC65-4230-BADC-0DDB7745E79C}"/>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ماذا نسجل — وماذا لا نسجل أبدًا</a:t>
            </a:r>
            <a:endParaRPr sz="1300"/>
          </a:p>
        </p:txBody>
      </p:sp>
      <p:pic>
        <p:nvPicPr>
          <p:cNvPr id="41" name="Image 0"/>
          <p:cNvPicPr>
            <a:picLocks xmlns:a="http://schemas.openxmlformats.org/drawingml/2006/main" noChangeAspect="1"/>
          </p:cNvPicPr>
          <p:nvPr/>
        </p:nvPicPr>
        <p:blipFill>
          <a:blip xmlns:r="http://schemas.openxmlformats.org/officeDocument/2006/relationships" xmlns:a="http://schemas.openxmlformats.org/drawingml/2006/main" r:embed="Rc16e75e28bba47a6"/>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02A7D23E-1F89-492C-AAD1-C78BEA463F57}"/>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593C16D3-AF70-43C3-BDD1-1E1D9CC61F73}"/>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6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FCB21CDA-7168-4D97-9D5D-BEFAD5B67398}"/>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137</a:t>
            </a:r>
            <a:endParaRPr sz="850"/>
          </a:p>
        </p:txBody>
      </p:sp>
      <p:sp>
        <p:nvSpPr>
          <p:cNvPr id="8" name="Shape 5">
            <a:extLst xmlns:a="http://schemas.openxmlformats.org/drawingml/2006/main">
              <a:ext uri="{FF2B5EF4-FFF2-40B4-BE49-F238E27FC236}">
                <a16:creationId xmlns:a16="http://schemas.microsoft.com/office/drawing/2014/main" id="{2B07551F-6448-4B0A-A6CC-3ED68B0C7DBC}"/>
              </a:ext>
            </a:extLst>
          </p:cNvPr>
          <p:cNvSpPr>
            <a:spLocks xmlns:a="http://schemas.openxmlformats.org/drawingml/2006/main" noGrp="1"/>
          </p:cNvSpPr>
          <p:nvPr/>
        </p:nvSpPr>
        <p:spPr>
          <a:xfrm xmlns:a="http://schemas.openxmlformats.org/drawingml/2006/main">
            <a:off x="502920" y="1517904"/>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C26AE6A8-DCCF-434A-A3CC-B602EEE1ECFD}"/>
              </a:ext>
            </a:extLst>
          </p:cNvPr>
          <p:cNvSpPr>
            <a:spLocks xmlns:a="http://schemas.openxmlformats.org/drawingml/2006/main" noGrp="1"/>
          </p:cNvSpPr>
          <p:nvPr/>
        </p:nvSpPr>
        <p:spPr>
          <a:xfrm xmlns:a="http://schemas.openxmlformats.org/drawingml/2006/main">
            <a:off x="502920" y="1517904"/>
            <a:ext cx="82296" cy="2272284"/>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A3148D12-36C6-4C17-8D49-7CAFEEA79A5B}"/>
              </a:ext>
            </a:extLst>
          </p:cNvPr>
          <p:cNvSpPr>
            <a:spLocks xmlns:a="http://schemas.openxmlformats.org/drawingml/2006/main" noGrp="1"/>
          </p:cNvSpPr>
          <p:nvPr/>
        </p:nvSpPr>
        <p:spPr>
          <a:xfrm xmlns:a="http://schemas.openxmlformats.org/drawingml/2006/main">
            <a:off x="722376" y="1636776"/>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00A79D"/>
                </a:solidFill>
                <a:latin typeface="Calibri"/>
                <a:ea typeface="Calibri"/>
                <a:cs typeface="Calibri"/>
              </a:rPr>
              <a:t>ALWAYS-ON</a:t>
            </a:r>
            <a:endParaRPr sz="900"/>
          </a:p>
        </p:txBody>
      </p:sp>
      <p:sp>
        <p:nvSpPr>
          <p:cNvPr id="11" name="Text 8">
            <a:extLst xmlns:a="http://schemas.openxmlformats.org/drawingml/2006/main">
              <a:ext uri="{FF2B5EF4-FFF2-40B4-BE49-F238E27FC236}">
                <a16:creationId xmlns:a16="http://schemas.microsoft.com/office/drawing/2014/main" id="{68F71938-6A3C-4898-B0F3-93FCE4F18E7D}"/>
              </a:ext>
            </a:extLst>
          </p:cNvPr>
          <p:cNvSpPr>
            <a:spLocks xmlns:a="http://schemas.openxmlformats.org/drawingml/2006/main" noGrp="1"/>
          </p:cNvSpPr>
          <p:nvPr/>
        </p:nvSpPr>
        <p:spPr>
          <a:xfrm xmlns:a="http://schemas.openxmlformats.org/drawingml/2006/main">
            <a:off x="722376" y="1883664"/>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Correlation fields</a:t>
            </a:r>
            <a:endParaRPr sz="1250"/>
          </a:p>
        </p:txBody>
      </p:sp>
      <p:sp>
        <p:nvSpPr>
          <p:cNvPr id="12" name="Text 9">
            <a:extLst xmlns:a="http://schemas.openxmlformats.org/drawingml/2006/main">
              <a:ext uri="{FF2B5EF4-FFF2-40B4-BE49-F238E27FC236}">
                <a16:creationId xmlns:a16="http://schemas.microsoft.com/office/drawing/2014/main" id="{C4407138-EAAB-474C-8F91-7FB167E1CE76}"/>
              </a:ext>
            </a:extLst>
          </p:cNvPr>
          <p:cNvSpPr>
            <a:spLocks xmlns:a="http://schemas.openxmlformats.org/drawingml/2006/main" noGrp="1"/>
          </p:cNvSpPr>
          <p:nvPr/>
        </p:nvSpPr>
        <p:spPr>
          <a:xfrm xmlns:a="http://schemas.openxmlformats.org/drawingml/2006/main">
            <a:off x="722376" y="2404872"/>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timestamp, level, event, trace_id, model_version, git_sha — on every single line.</a:t>
            </a:r>
            <a:endParaRPr sz="980"/>
          </a:p>
        </p:txBody>
      </p:sp>
      <p:sp>
        <p:nvSpPr>
          <p:cNvPr id="13" name="Shape 10">
            <a:extLst xmlns:a="http://schemas.openxmlformats.org/drawingml/2006/main">
              <a:ext uri="{FF2B5EF4-FFF2-40B4-BE49-F238E27FC236}">
                <a16:creationId xmlns:a16="http://schemas.microsoft.com/office/drawing/2014/main" id="{C91F74BC-A8A4-4865-AAA8-0D54A5E9D3B4}"/>
              </a:ext>
            </a:extLst>
          </p:cNvPr>
          <p:cNvSpPr>
            <a:spLocks xmlns:a="http://schemas.openxmlformats.org/drawingml/2006/main" noGrp="1"/>
          </p:cNvSpPr>
          <p:nvPr/>
        </p:nvSpPr>
        <p:spPr>
          <a:xfrm xmlns:a="http://schemas.openxmlformats.org/drawingml/2006/main">
            <a:off x="4322064" y="1517904"/>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14" name="Shape 11">
            <a:extLst xmlns:a="http://schemas.openxmlformats.org/drawingml/2006/main">
              <a:ext uri="{FF2B5EF4-FFF2-40B4-BE49-F238E27FC236}">
                <a16:creationId xmlns:a16="http://schemas.microsoft.com/office/drawing/2014/main" id="{3A21339D-4C20-4055-ABB4-0C44CDD9A8C3}"/>
              </a:ext>
            </a:extLst>
          </p:cNvPr>
          <p:cNvSpPr>
            <a:spLocks xmlns:a="http://schemas.openxmlformats.org/drawingml/2006/main" noGrp="1"/>
          </p:cNvSpPr>
          <p:nvPr/>
        </p:nvSpPr>
        <p:spPr>
          <a:xfrm xmlns:a="http://schemas.openxmlformats.org/drawingml/2006/main">
            <a:off x="4322064" y="1517904"/>
            <a:ext cx="82296" cy="2272284"/>
          </a:xfrm>
          <a:prstGeom xmlns:a="http://schemas.openxmlformats.org/drawingml/2006/main" prst="rect">
            <a:avLst/>
          </a:prstGeom>
          <a:solidFill xmlns:a="http://schemas.openxmlformats.org/drawingml/2006/main">
            <a:srgbClr val="29ABE2"/>
          </a:solidFill>
        </p:spPr>
      </p:sp>
      <p:sp>
        <p:nvSpPr>
          <p:cNvPr id="15" name="Text 12">
            <a:extLst xmlns:a="http://schemas.openxmlformats.org/drawingml/2006/main">
              <a:ext uri="{FF2B5EF4-FFF2-40B4-BE49-F238E27FC236}">
                <a16:creationId xmlns:a16="http://schemas.microsoft.com/office/drawing/2014/main" id="{3CCA5A8A-F660-403E-9C5D-871BDAB7B4F9}"/>
              </a:ext>
            </a:extLst>
          </p:cNvPr>
          <p:cNvSpPr>
            <a:spLocks xmlns:a="http://schemas.openxmlformats.org/drawingml/2006/main" noGrp="1"/>
          </p:cNvSpPr>
          <p:nvPr/>
        </p:nvSpPr>
        <p:spPr>
          <a:xfrm xmlns:a="http://schemas.openxmlformats.org/drawingml/2006/main">
            <a:off x="4541520" y="1636776"/>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29ABE2"/>
                </a:solidFill>
                <a:latin typeface="Calibri"/>
                <a:ea typeface="Calibri"/>
                <a:cs typeface="Calibri"/>
              </a:rPr>
              <a:t>LOG</a:t>
            </a:r>
            <a:endParaRPr sz="900"/>
          </a:p>
        </p:txBody>
      </p:sp>
      <p:sp>
        <p:nvSpPr>
          <p:cNvPr id="16" name="Text 13">
            <a:extLst xmlns:a="http://schemas.openxmlformats.org/drawingml/2006/main">
              <a:ext uri="{FF2B5EF4-FFF2-40B4-BE49-F238E27FC236}">
                <a16:creationId xmlns:a16="http://schemas.microsoft.com/office/drawing/2014/main" id="{F0EC39A5-9EA8-4EB1-9F66-B59C629CD46D}"/>
              </a:ext>
            </a:extLst>
          </p:cNvPr>
          <p:cNvSpPr>
            <a:spLocks xmlns:a="http://schemas.openxmlformats.org/drawingml/2006/main" noGrp="1"/>
          </p:cNvSpPr>
          <p:nvPr/>
        </p:nvSpPr>
        <p:spPr>
          <a:xfrm xmlns:a="http://schemas.openxmlformats.org/drawingml/2006/main">
            <a:off x="4541520" y="1883664"/>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Bucketed + operational</a:t>
            </a:r>
            <a:endParaRPr sz="1250"/>
          </a:p>
        </p:txBody>
      </p:sp>
      <p:sp>
        <p:nvSpPr>
          <p:cNvPr id="17" name="Text 14">
            <a:extLst xmlns:a="http://schemas.openxmlformats.org/drawingml/2006/main">
              <a:ext uri="{FF2B5EF4-FFF2-40B4-BE49-F238E27FC236}">
                <a16:creationId xmlns:a16="http://schemas.microsoft.com/office/drawing/2014/main" id="{E33BCC8D-6A84-4D8B-8B33-86CEE6218DEB}"/>
              </a:ext>
            </a:extLst>
          </p:cNvPr>
          <p:cNvSpPr>
            <a:spLocks xmlns:a="http://schemas.openxmlformats.org/drawingml/2006/main" noGrp="1"/>
          </p:cNvSpPr>
          <p:nvPr/>
        </p:nvSpPr>
        <p:spPr>
          <a:xfrm xmlns:a="http://schemas.openxmlformats.org/drawingml/2006/main">
            <a:off x="4541520" y="2404872"/>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decision, probability_bucket (0.1 steps), latency_ms, and the field NAMES that were rejected.</a:t>
            </a:r>
            <a:endParaRPr sz="980"/>
          </a:p>
        </p:txBody>
      </p:sp>
      <p:sp>
        <p:nvSpPr>
          <p:cNvPr id="18" name="Shape 15">
            <a:extLst xmlns:a="http://schemas.openxmlformats.org/drawingml/2006/main">
              <a:ext uri="{FF2B5EF4-FFF2-40B4-BE49-F238E27FC236}">
                <a16:creationId xmlns:a16="http://schemas.microsoft.com/office/drawing/2014/main" id="{2172DE5B-A65F-48C6-8827-E50667993D8A}"/>
              </a:ext>
            </a:extLst>
          </p:cNvPr>
          <p:cNvSpPr>
            <a:spLocks xmlns:a="http://schemas.openxmlformats.org/drawingml/2006/main" noGrp="1"/>
          </p:cNvSpPr>
          <p:nvPr/>
        </p:nvSpPr>
        <p:spPr>
          <a:xfrm xmlns:a="http://schemas.openxmlformats.org/drawingml/2006/main">
            <a:off x="8141208" y="1517904"/>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19" name="Shape 16">
            <a:extLst xmlns:a="http://schemas.openxmlformats.org/drawingml/2006/main">
              <a:ext uri="{FF2B5EF4-FFF2-40B4-BE49-F238E27FC236}">
                <a16:creationId xmlns:a16="http://schemas.microsoft.com/office/drawing/2014/main" id="{9FBFD16B-3535-44BA-A270-C82A0BFEAE03}"/>
              </a:ext>
            </a:extLst>
          </p:cNvPr>
          <p:cNvSpPr>
            <a:spLocks xmlns:a="http://schemas.openxmlformats.org/drawingml/2006/main" noGrp="1"/>
          </p:cNvSpPr>
          <p:nvPr/>
        </p:nvSpPr>
        <p:spPr>
          <a:xfrm xmlns:a="http://schemas.openxmlformats.org/drawingml/2006/main">
            <a:off x="8141208" y="1517904"/>
            <a:ext cx="82296" cy="2272284"/>
          </a:xfrm>
          <a:prstGeom xmlns:a="http://schemas.openxmlformats.org/drawingml/2006/main" prst="rect">
            <a:avLst/>
          </a:prstGeom>
          <a:solidFill xmlns:a="http://schemas.openxmlformats.org/drawingml/2006/main">
            <a:srgbClr val="F58220"/>
          </a:solidFill>
        </p:spPr>
      </p:sp>
      <p:sp>
        <p:nvSpPr>
          <p:cNvPr id="20" name="Text 17">
            <a:extLst xmlns:a="http://schemas.openxmlformats.org/drawingml/2006/main">
              <a:ext uri="{FF2B5EF4-FFF2-40B4-BE49-F238E27FC236}">
                <a16:creationId xmlns:a16="http://schemas.microsoft.com/office/drawing/2014/main" id="{D6FD23CA-EAF9-45EF-B844-918CEE00FA82}"/>
              </a:ext>
            </a:extLst>
          </p:cNvPr>
          <p:cNvSpPr>
            <a:spLocks xmlns:a="http://schemas.openxmlformats.org/drawingml/2006/main" noGrp="1"/>
          </p:cNvSpPr>
          <p:nvPr/>
        </p:nvSpPr>
        <p:spPr>
          <a:xfrm xmlns:a="http://schemas.openxmlformats.org/drawingml/2006/main">
            <a:off x="8360664" y="1636776"/>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F58220"/>
                </a:solidFill>
                <a:latin typeface="Calibri"/>
                <a:ea typeface="Calibri"/>
                <a:cs typeface="Calibri"/>
              </a:rPr>
              <a:t>NEVER</a:t>
            </a:r>
            <a:endParaRPr sz="900"/>
          </a:p>
        </p:txBody>
      </p:sp>
      <p:sp>
        <p:nvSpPr>
          <p:cNvPr id="21" name="Text 18">
            <a:extLst xmlns:a="http://schemas.openxmlformats.org/drawingml/2006/main">
              <a:ext uri="{FF2B5EF4-FFF2-40B4-BE49-F238E27FC236}">
                <a16:creationId xmlns:a16="http://schemas.microsoft.com/office/drawing/2014/main" id="{560FB019-58FD-4C17-B3D5-5CC2FB9F94BA}"/>
              </a:ext>
            </a:extLst>
          </p:cNvPr>
          <p:cNvSpPr>
            <a:spLocks xmlns:a="http://schemas.openxmlformats.org/drawingml/2006/main" noGrp="1"/>
          </p:cNvSpPr>
          <p:nvPr/>
        </p:nvSpPr>
        <p:spPr>
          <a:xfrm xmlns:a="http://schemas.openxmlformats.org/drawingml/2006/main">
            <a:off x="8360664" y="1883664"/>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PII &amp; secrets</a:t>
            </a:r>
            <a:endParaRPr sz="1250"/>
          </a:p>
        </p:txBody>
      </p:sp>
      <p:sp>
        <p:nvSpPr>
          <p:cNvPr id="22" name="Text 19">
            <a:extLst xmlns:a="http://schemas.openxmlformats.org/drawingml/2006/main">
              <a:ext uri="{FF2B5EF4-FFF2-40B4-BE49-F238E27FC236}">
                <a16:creationId xmlns:a16="http://schemas.microsoft.com/office/drawing/2014/main" id="{CB184C18-73E1-433E-A794-76BB50B282D3}"/>
              </a:ext>
            </a:extLst>
          </p:cNvPr>
          <p:cNvSpPr>
            <a:spLocks xmlns:a="http://schemas.openxmlformats.org/drawingml/2006/main" noGrp="1"/>
          </p:cNvSpPr>
          <p:nvPr/>
        </p:nvSpPr>
        <p:spPr>
          <a:xfrm xmlns:a="http://schemas.openxmlformats.org/drawingml/2006/main">
            <a:off x="8360664" y="2404872"/>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National IDs, card numbers, full request bodies, raw feature vectors, secrets. Under PDPL these are forbidden.</a:t>
            </a:r>
            <a:endParaRPr sz="980"/>
          </a:p>
        </p:txBody>
      </p:sp>
      <p:sp>
        <p:nvSpPr>
          <p:cNvPr id="23" name="Shape 20">
            <a:extLst xmlns:a="http://schemas.openxmlformats.org/drawingml/2006/main">
              <a:ext uri="{FF2B5EF4-FFF2-40B4-BE49-F238E27FC236}">
                <a16:creationId xmlns:a16="http://schemas.microsoft.com/office/drawing/2014/main" id="{FE1C9C90-01BF-42EE-8E9D-0AB66B46D2F3}"/>
              </a:ext>
            </a:extLst>
          </p:cNvPr>
          <p:cNvSpPr>
            <a:spLocks xmlns:a="http://schemas.openxmlformats.org/drawingml/2006/main" noGrp="1"/>
          </p:cNvSpPr>
          <p:nvPr/>
        </p:nvSpPr>
        <p:spPr>
          <a:xfrm xmlns:a="http://schemas.openxmlformats.org/drawingml/2006/main">
            <a:off x="502920" y="4046220"/>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24" name="Shape 21">
            <a:extLst xmlns:a="http://schemas.openxmlformats.org/drawingml/2006/main">
              <a:ext uri="{FF2B5EF4-FFF2-40B4-BE49-F238E27FC236}">
                <a16:creationId xmlns:a16="http://schemas.microsoft.com/office/drawing/2014/main" id="{8CE27A53-3B03-4BA6-90B5-E209085EDADA}"/>
              </a:ext>
            </a:extLst>
          </p:cNvPr>
          <p:cNvSpPr>
            <a:spLocks xmlns:a="http://schemas.openxmlformats.org/drawingml/2006/main" noGrp="1"/>
          </p:cNvSpPr>
          <p:nvPr/>
        </p:nvSpPr>
        <p:spPr>
          <a:xfrm xmlns:a="http://schemas.openxmlformats.org/drawingml/2006/main">
            <a:off x="502920" y="4046220"/>
            <a:ext cx="82296" cy="2272284"/>
          </a:xfrm>
          <a:prstGeom xmlns:a="http://schemas.openxmlformats.org/drawingml/2006/main" prst="rect">
            <a:avLst/>
          </a:prstGeom>
          <a:solidFill xmlns:a="http://schemas.openxmlformats.org/drawingml/2006/main">
            <a:srgbClr val="8DC63F"/>
          </a:solidFill>
        </p:spPr>
      </p:sp>
      <p:sp>
        <p:nvSpPr>
          <p:cNvPr id="25" name="Text 22">
            <a:extLst xmlns:a="http://schemas.openxmlformats.org/drawingml/2006/main">
              <a:ext uri="{FF2B5EF4-FFF2-40B4-BE49-F238E27FC236}">
                <a16:creationId xmlns:a16="http://schemas.microsoft.com/office/drawing/2014/main" id="{82CD6E41-94AF-46CC-9810-29376DD36F54}"/>
              </a:ext>
            </a:extLst>
          </p:cNvPr>
          <p:cNvSpPr>
            <a:spLocks xmlns:a="http://schemas.openxmlformats.org/drawingml/2006/main" noGrp="1"/>
          </p:cNvSpPr>
          <p:nvPr/>
        </p:nvSpPr>
        <p:spPr>
          <a:xfrm xmlns:a="http://schemas.openxmlformats.org/drawingml/2006/main">
            <a:off x="722376" y="4165092"/>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8DC63F"/>
                </a:solidFill>
                <a:latin typeface="Calibri"/>
                <a:ea typeface="Calibri"/>
                <a:cs typeface="Calibri"/>
              </a:rPr>
              <a:t>LEVELS</a:t>
            </a:r>
            <a:endParaRPr sz="900"/>
          </a:p>
        </p:txBody>
      </p:sp>
      <p:sp>
        <p:nvSpPr>
          <p:cNvPr id="26" name="Text 23">
            <a:extLst xmlns:a="http://schemas.openxmlformats.org/drawingml/2006/main">
              <a:ext uri="{FF2B5EF4-FFF2-40B4-BE49-F238E27FC236}">
                <a16:creationId xmlns:a16="http://schemas.microsoft.com/office/drawing/2014/main" id="{CFC4E771-A63A-4C7A-8A1A-16C9421E4185}"/>
              </a:ext>
            </a:extLst>
          </p:cNvPr>
          <p:cNvSpPr>
            <a:spLocks xmlns:a="http://schemas.openxmlformats.org/drawingml/2006/main" noGrp="1"/>
          </p:cNvSpPr>
          <p:nvPr/>
        </p:nvSpPr>
        <p:spPr>
          <a:xfrm xmlns:a="http://schemas.openxmlformats.org/drawingml/2006/main">
            <a:off x="722376" y="4411980"/>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Alert on WARNING+</a:t>
            </a:r>
            <a:endParaRPr sz="1250"/>
          </a:p>
        </p:txBody>
      </p:sp>
      <p:sp>
        <p:nvSpPr>
          <p:cNvPr id="27" name="Text 24">
            <a:extLst xmlns:a="http://schemas.openxmlformats.org/drawingml/2006/main">
              <a:ext uri="{FF2B5EF4-FFF2-40B4-BE49-F238E27FC236}">
                <a16:creationId xmlns:a16="http://schemas.microsoft.com/office/drawing/2014/main" id="{73369F76-9776-4F4A-89A5-FBD491B76F9F}"/>
              </a:ext>
            </a:extLst>
          </p:cNvPr>
          <p:cNvSpPr>
            <a:spLocks xmlns:a="http://schemas.openxmlformats.org/drawingml/2006/main" noGrp="1"/>
          </p:cNvSpPr>
          <p:nvPr/>
        </p:nvSpPr>
        <p:spPr>
          <a:xfrm xmlns:a="http://schemas.openxmlformats.org/drawingml/2006/main">
            <a:off x="722376" y="4933188"/>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If everything is INFO, nothing is monitorable. Levels carry intent, not volume.</a:t>
            </a:r>
            <a:endParaRPr sz="980"/>
          </a:p>
        </p:txBody>
      </p:sp>
      <p:sp>
        <p:nvSpPr>
          <p:cNvPr id="28" name="Shape 25">
            <a:extLst xmlns:a="http://schemas.openxmlformats.org/drawingml/2006/main">
              <a:ext uri="{FF2B5EF4-FFF2-40B4-BE49-F238E27FC236}">
                <a16:creationId xmlns:a16="http://schemas.microsoft.com/office/drawing/2014/main" id="{8A640479-0E2D-40EB-8765-845657301CB5}"/>
              </a:ext>
            </a:extLst>
          </p:cNvPr>
          <p:cNvSpPr>
            <a:spLocks xmlns:a="http://schemas.openxmlformats.org/drawingml/2006/main" noGrp="1"/>
          </p:cNvSpPr>
          <p:nvPr/>
        </p:nvSpPr>
        <p:spPr>
          <a:xfrm xmlns:a="http://schemas.openxmlformats.org/drawingml/2006/main">
            <a:off x="4322064" y="4046220"/>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29" name="Shape 26">
            <a:extLst xmlns:a="http://schemas.openxmlformats.org/drawingml/2006/main">
              <a:ext uri="{FF2B5EF4-FFF2-40B4-BE49-F238E27FC236}">
                <a16:creationId xmlns:a16="http://schemas.microsoft.com/office/drawing/2014/main" id="{90A0EA46-4B5C-42E8-B783-FADD29BA141A}"/>
              </a:ext>
            </a:extLst>
          </p:cNvPr>
          <p:cNvSpPr>
            <a:spLocks xmlns:a="http://schemas.openxmlformats.org/drawingml/2006/main" noGrp="1"/>
          </p:cNvSpPr>
          <p:nvPr/>
        </p:nvSpPr>
        <p:spPr>
          <a:xfrm xmlns:a="http://schemas.openxmlformats.org/drawingml/2006/main">
            <a:off x="4322064" y="4046220"/>
            <a:ext cx="82296" cy="2272284"/>
          </a:xfrm>
          <a:prstGeom xmlns:a="http://schemas.openxmlformats.org/drawingml/2006/main" prst="rect">
            <a:avLst/>
          </a:prstGeom>
          <a:solidFill xmlns:a="http://schemas.openxmlformats.org/drawingml/2006/main">
            <a:srgbClr val="E8503A"/>
          </a:solidFill>
        </p:spPr>
      </p:sp>
      <p:sp>
        <p:nvSpPr>
          <p:cNvPr id="30" name="Text 27">
            <a:extLst xmlns:a="http://schemas.openxmlformats.org/drawingml/2006/main">
              <a:ext uri="{FF2B5EF4-FFF2-40B4-BE49-F238E27FC236}">
                <a16:creationId xmlns:a16="http://schemas.microsoft.com/office/drawing/2014/main" id="{079109B2-98CC-4BBF-8748-98F080BC870E}"/>
              </a:ext>
            </a:extLst>
          </p:cNvPr>
          <p:cNvSpPr>
            <a:spLocks xmlns:a="http://schemas.openxmlformats.org/drawingml/2006/main" noGrp="1"/>
          </p:cNvSpPr>
          <p:nvPr/>
        </p:nvSpPr>
        <p:spPr>
          <a:xfrm xmlns:a="http://schemas.openxmlformats.org/drawingml/2006/main">
            <a:off x="4541520" y="4165092"/>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E8503A"/>
                </a:solidFill>
                <a:latin typeface="Calibri"/>
                <a:ea typeface="Calibri"/>
                <a:cs typeface="Calibri"/>
              </a:rPr>
              <a:t>UTC</a:t>
            </a:r>
            <a:endParaRPr sz="900"/>
          </a:p>
        </p:txBody>
      </p:sp>
      <p:sp>
        <p:nvSpPr>
          <p:cNvPr id="31" name="Text 28">
            <a:extLst xmlns:a="http://schemas.openxmlformats.org/drawingml/2006/main">
              <a:ext uri="{FF2B5EF4-FFF2-40B4-BE49-F238E27FC236}">
                <a16:creationId xmlns:a16="http://schemas.microsoft.com/office/drawing/2014/main" id="{5B4FF35C-3382-45BD-B9F2-375081BE2615}"/>
              </a:ext>
            </a:extLst>
          </p:cNvPr>
          <p:cNvSpPr>
            <a:spLocks xmlns:a="http://schemas.openxmlformats.org/drawingml/2006/main" noGrp="1"/>
          </p:cNvSpPr>
          <p:nvPr/>
        </p:nvSpPr>
        <p:spPr>
          <a:xfrm xmlns:a="http://schemas.openxmlformats.org/drawingml/2006/main">
            <a:off x="4541520" y="4411980"/>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Timezone-aware</a:t>
            </a:r>
            <a:endParaRPr sz="1250"/>
          </a:p>
        </p:txBody>
      </p:sp>
      <p:sp>
        <p:nvSpPr>
          <p:cNvPr id="32" name="Text 29">
            <a:extLst xmlns:a="http://schemas.openxmlformats.org/drawingml/2006/main">
              <a:ext uri="{FF2B5EF4-FFF2-40B4-BE49-F238E27FC236}">
                <a16:creationId xmlns:a16="http://schemas.microsoft.com/office/drawing/2014/main" id="{58B4DF05-3FB8-48EB-8D09-99E7EA4412E1}"/>
              </a:ext>
            </a:extLst>
          </p:cNvPr>
          <p:cNvSpPr>
            <a:spLocks xmlns:a="http://schemas.openxmlformats.org/drawingml/2006/main" noGrp="1"/>
          </p:cNvSpPr>
          <p:nvPr/>
        </p:nvSpPr>
        <p:spPr>
          <a:xfrm xmlns:a="http://schemas.openxmlformats.org/drawingml/2006/main">
            <a:off x="4541520" y="4933188"/>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Log in UTC, render locally — incidents cross midnight and naive timestamps mislead.</a:t>
            </a:r>
            <a:endParaRPr sz="980"/>
          </a:p>
        </p:txBody>
      </p:sp>
      <p:sp>
        <p:nvSpPr>
          <p:cNvPr id="33" name="Shape 30">
            <a:extLst xmlns:a="http://schemas.openxmlformats.org/drawingml/2006/main">
              <a:ext uri="{FF2B5EF4-FFF2-40B4-BE49-F238E27FC236}">
                <a16:creationId xmlns:a16="http://schemas.microsoft.com/office/drawing/2014/main" id="{CEFC6C78-7A5D-444E-9F2B-0D9D7F595686}"/>
              </a:ext>
            </a:extLst>
          </p:cNvPr>
          <p:cNvSpPr>
            <a:spLocks xmlns:a="http://schemas.openxmlformats.org/drawingml/2006/main" noGrp="1"/>
          </p:cNvSpPr>
          <p:nvPr/>
        </p:nvSpPr>
        <p:spPr>
          <a:xfrm xmlns:a="http://schemas.openxmlformats.org/drawingml/2006/main">
            <a:off x="8141208" y="4046220"/>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34" name="Shape 31">
            <a:extLst xmlns:a="http://schemas.openxmlformats.org/drawingml/2006/main">
              <a:ext uri="{FF2B5EF4-FFF2-40B4-BE49-F238E27FC236}">
                <a16:creationId xmlns:a16="http://schemas.microsoft.com/office/drawing/2014/main" id="{513D2C17-02BD-425A-AB22-11BA937BC8E2}"/>
              </a:ext>
            </a:extLst>
          </p:cNvPr>
          <p:cNvSpPr>
            <a:spLocks xmlns:a="http://schemas.openxmlformats.org/drawingml/2006/main" noGrp="1"/>
          </p:cNvSpPr>
          <p:nvPr/>
        </p:nvSpPr>
        <p:spPr>
          <a:xfrm xmlns:a="http://schemas.openxmlformats.org/drawingml/2006/main">
            <a:off x="8141208" y="4046220"/>
            <a:ext cx="82296" cy="2272284"/>
          </a:xfrm>
          <a:prstGeom xmlns:a="http://schemas.openxmlformats.org/drawingml/2006/main" prst="rect">
            <a:avLst/>
          </a:prstGeom>
          <a:solidFill xmlns:a="http://schemas.openxmlformats.org/drawingml/2006/main">
            <a:srgbClr val="7B61A6"/>
          </a:solidFill>
        </p:spPr>
      </p:sp>
      <p:sp>
        <p:nvSpPr>
          <p:cNvPr id="35" name="Text 32">
            <a:extLst xmlns:a="http://schemas.openxmlformats.org/drawingml/2006/main">
              <a:ext uri="{FF2B5EF4-FFF2-40B4-BE49-F238E27FC236}">
                <a16:creationId xmlns:a16="http://schemas.microsoft.com/office/drawing/2014/main" id="{2419D55D-CF40-41BD-B92B-36C8B0D6F938}"/>
              </a:ext>
            </a:extLst>
          </p:cNvPr>
          <p:cNvSpPr>
            <a:spLocks xmlns:a="http://schemas.openxmlformats.org/drawingml/2006/main" noGrp="1"/>
          </p:cNvSpPr>
          <p:nvPr/>
        </p:nvSpPr>
        <p:spPr>
          <a:xfrm xmlns:a="http://schemas.openxmlformats.org/drawingml/2006/main">
            <a:off x="8360664" y="4165092"/>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7B61A6"/>
                </a:solidFill>
                <a:latin typeface="Calibri"/>
                <a:ea typeface="Calibri"/>
                <a:cs typeface="Calibri"/>
              </a:rPr>
              <a:t>COST</a:t>
            </a:r>
            <a:endParaRPr sz="900"/>
          </a:p>
        </p:txBody>
      </p:sp>
      <p:sp>
        <p:nvSpPr>
          <p:cNvPr id="36" name="Text 33">
            <a:extLst xmlns:a="http://schemas.openxmlformats.org/drawingml/2006/main">
              <a:ext uri="{FF2B5EF4-FFF2-40B4-BE49-F238E27FC236}">
                <a16:creationId xmlns:a16="http://schemas.microsoft.com/office/drawing/2014/main" id="{CAF0C893-D307-4AD0-B8E9-682CEFB9D509}"/>
              </a:ext>
            </a:extLst>
          </p:cNvPr>
          <p:cNvSpPr>
            <a:spLocks xmlns:a="http://schemas.openxmlformats.org/drawingml/2006/main" noGrp="1"/>
          </p:cNvSpPr>
          <p:nvPr/>
        </p:nvSpPr>
        <p:spPr>
          <a:xfrm xmlns:a="http://schemas.openxmlformats.org/drawingml/2006/main">
            <a:off x="8360664" y="4411980"/>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Volume is money</a:t>
            </a:r>
            <a:endParaRPr sz="1250"/>
          </a:p>
        </p:txBody>
      </p:sp>
      <p:sp>
        <p:nvSpPr>
          <p:cNvPr id="37" name="Text 34">
            <a:extLst xmlns:a="http://schemas.openxmlformats.org/drawingml/2006/main">
              <a:ext uri="{FF2B5EF4-FFF2-40B4-BE49-F238E27FC236}">
                <a16:creationId xmlns:a16="http://schemas.microsoft.com/office/drawing/2014/main" id="{952A73CC-FD0D-4556-9D9B-6FF9D233F9AD}"/>
              </a:ext>
            </a:extLst>
          </p:cNvPr>
          <p:cNvSpPr>
            <a:spLocks xmlns:a="http://schemas.openxmlformats.org/drawingml/2006/main" noGrp="1"/>
          </p:cNvSpPr>
          <p:nvPr/>
        </p:nvSpPr>
        <p:spPr>
          <a:xfrm xmlns:a="http://schemas.openxmlformats.org/drawingml/2006/main">
            <a:off x="8360664" y="4933188"/>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Sample DEBUG/INFO under load; DEBUG left on in 'prod' was a 40x flood in the log-volume sim.</a:t>
            </a:r>
            <a:endParaRPr sz="980"/>
          </a:p>
        </p:txBody>
      </p:sp>
    </p:spTree>
    <p:extLst>
      <p:ext uri="{BB962C8B-B14F-4D97-AF65-F5344CB8AC3E}">
        <p14:creationId xmlns:p14="http://schemas.microsoft.com/office/powerpoint/2010/main" val="51594381"/>
      </p:ext>
    </p:extLst>
  </p:cSld>
</p:sld>
</file>

<file path=ppt/slides/slide13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D61C01E-4DE2-414E-B39E-5CAB9CB38632}"/>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Lab 6 — Harden Config, Secrets &amp; Logs</a:t>
            </a:r>
            <a:endParaRPr sz="2600"/>
          </a:p>
        </p:txBody>
      </p:sp>
      <p:sp>
        <p:nvSpPr>
          <p:cNvPr id="3" name="Text 1">
            <a:extLst xmlns:a="http://schemas.openxmlformats.org/drawingml/2006/main">
              <a:ext uri="{FF2B5EF4-FFF2-40B4-BE49-F238E27FC236}">
                <a16:creationId xmlns:a16="http://schemas.microsoft.com/office/drawing/2014/main" id="{ABC9FBB5-1232-4EB7-B144-B4BD3FEB1CA2}"/>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المعمل 6 — تحصين الإعداد والأسرار والسجلات</a:t>
            </a:r>
            <a:endParaRPr sz="1300"/>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093e79f945e04e70"/>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EC7E8226-1467-40DB-BB54-EC791A27C11D}"/>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225C676E-1A7F-479C-A348-139E73D234F5}"/>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6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315F5F41-5D31-41BE-9BEB-05D846C6EAEE}"/>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138</a:t>
            </a:r>
            <a:endParaRPr sz="850"/>
          </a:p>
        </p:txBody>
      </p:sp>
      <p:sp>
        <p:nvSpPr>
          <p:cNvPr id="8" name="Text 5">
            <a:extLst xmlns:a="http://schemas.openxmlformats.org/drawingml/2006/main">
              <a:ext uri="{FF2B5EF4-FFF2-40B4-BE49-F238E27FC236}">
                <a16:creationId xmlns:a16="http://schemas.microsoft.com/office/drawing/2014/main" id="{0E0373B7-D7DE-4C76-97D9-E2A8487BC3BE}"/>
              </a:ext>
            </a:extLst>
          </p:cNvPr>
          <p:cNvSpPr>
            <a:spLocks xmlns:a="http://schemas.openxmlformats.org/drawingml/2006/main" noGrp="1"/>
          </p:cNvSpPr>
          <p:nvPr/>
        </p:nvSpPr>
        <p:spPr>
          <a:xfrm xmlns:a="http://schemas.openxmlformats.org/drawingml/2006/main">
            <a:off x="502920" y="1481328"/>
            <a:ext cx="1188720" cy="310896"/>
          </a:xfrm>
          <a:prstGeom xmlns:a="http://schemas.openxmlformats.org/drawingml/2006/main" prst="roundRect">
            <a:avLst>
              <a:gd name="adj" fmla="val 17647"/>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LAB 6</a:t>
            </a:r>
            <a:endParaRPr sz="1100"/>
          </a:p>
        </p:txBody>
      </p:sp>
      <p:sp>
        <p:nvSpPr>
          <p:cNvPr id="9" name="Text 6">
            <a:extLst xmlns:a="http://schemas.openxmlformats.org/drawingml/2006/main">
              <a:ext uri="{FF2B5EF4-FFF2-40B4-BE49-F238E27FC236}">
                <a16:creationId xmlns:a16="http://schemas.microsoft.com/office/drawing/2014/main" id="{30977D23-D1AC-4A4D-BB18-D0E59B1D7401}"/>
              </a:ext>
            </a:extLst>
          </p:cNvPr>
          <p:cNvSpPr>
            <a:spLocks xmlns:a="http://schemas.openxmlformats.org/drawingml/2006/main" noGrp="1"/>
          </p:cNvSpPr>
          <p:nvPr/>
        </p:nvSpPr>
        <p:spPr>
          <a:xfrm xmlns:a="http://schemas.openxmlformats.org/drawingml/2006/main">
            <a:off x="1874520" y="1481328"/>
            <a:ext cx="594360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5F6B7A"/>
                </a:solidFill>
                <a:latin typeface="Calibri"/>
                <a:ea typeface="Calibri"/>
                <a:cs typeface="Calibri"/>
              </a:rPr>
              <a:t>⏱ 35 min</a:t>
            </a:r>
            <a:r>
              <a:rPr sz="1050">
                <a:solidFill>
                  <a:srgbClr val="5F6B7A"/>
                </a:solidFill>
                <a:latin typeface="Calibri"/>
                <a:ea typeface="Calibri"/>
                <a:cs typeface="Calibri"/>
              </a:rPr>
              <a:t>     Pairs</a:t>
            </a:r>
            <a:r>
              <a:rPr sz="1050">
                <a:solidFill>
                  <a:srgbClr val="5F6B7A"/>
                </a:solidFill>
                <a:latin typeface="Calibri"/>
                <a:ea typeface="Calibri"/>
                <a:cs typeface="Calibri"/>
              </a:rPr>
              <a:t>     Difficulty: </a:t>
            </a:r>
            <a:r>
              <a:rPr sz="1050">
                <a:solidFill>
                  <a:srgbClr val="F58220"/>
                </a:solidFill>
                <a:latin typeface="Calibri"/>
                <a:ea typeface="Calibri"/>
                <a:cs typeface="Calibri"/>
              </a:rPr>
              <a:t>●●○</a:t>
            </a:r>
            <a:endParaRPr sz="1050"/>
          </a:p>
        </p:txBody>
      </p:sp>
      <p:sp>
        <p:nvSpPr>
          <p:cNvPr id="10" name="Text 7">
            <a:extLst xmlns:a="http://schemas.openxmlformats.org/drawingml/2006/main">
              <a:ext uri="{FF2B5EF4-FFF2-40B4-BE49-F238E27FC236}">
                <a16:creationId xmlns:a16="http://schemas.microsoft.com/office/drawing/2014/main" id="{731028F4-FFCC-4161-8C21-26F507A3A996}"/>
              </a:ext>
            </a:extLst>
          </p:cNvPr>
          <p:cNvSpPr>
            <a:spLocks xmlns:a="http://schemas.openxmlformats.org/drawingml/2006/main" noGrp="1"/>
          </p:cNvSpPr>
          <p:nvPr/>
        </p:nvSpPr>
        <p:spPr>
          <a:xfrm xmlns:a="http://schemas.openxmlformats.org/drawingml/2006/main">
            <a:off x="502920" y="2029968"/>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1</a:t>
            </a:r>
            <a:endParaRPr sz="1050"/>
          </a:p>
        </p:txBody>
      </p:sp>
      <p:sp>
        <p:nvSpPr>
          <p:cNvPr id="11" name="Text 8">
            <a:extLst xmlns:a="http://schemas.openxmlformats.org/drawingml/2006/main">
              <a:ext uri="{FF2B5EF4-FFF2-40B4-BE49-F238E27FC236}">
                <a16:creationId xmlns:a16="http://schemas.microsoft.com/office/drawing/2014/main" id="{1C079BE1-D8BC-49E0-A790-D0C0A532CD36}"/>
              </a:ext>
            </a:extLst>
          </p:cNvPr>
          <p:cNvSpPr>
            <a:spLocks xmlns:a="http://schemas.openxmlformats.org/drawingml/2006/main" noGrp="1"/>
          </p:cNvSpPr>
          <p:nvPr/>
        </p:nvSpPr>
        <p:spPr>
          <a:xfrm xmlns:a="http://schemas.openxmlformats.org/drawingml/2006/main">
            <a:off x="914400" y="2011680"/>
            <a:ext cx="6035040" cy="8412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Typed Settings  </a:t>
            </a:r>
            <a:r>
              <a:rPr sz="1000">
                <a:solidFill>
                  <a:srgbClr val="5F6B7A"/>
                </a:solidFill>
                <a:latin typeface="Calibri"/>
                <a:ea typeface="Calibri"/>
                <a:cs typeface="Calibri"/>
              </a:rPr>
              <a:t>Implement Settings with validators; wire into lifespan; delete 3 planted os.environ reads (grep -rn os.environ src/)</a:t>
            </a:r>
            <a:endParaRPr sz="1050"/>
          </a:p>
        </p:txBody>
      </p:sp>
      <p:sp>
        <p:nvSpPr>
          <p:cNvPr id="12" name="Text 9">
            <a:extLst xmlns:a="http://schemas.openxmlformats.org/drawingml/2006/main">
              <a:ext uri="{FF2B5EF4-FFF2-40B4-BE49-F238E27FC236}">
                <a16:creationId xmlns:a16="http://schemas.microsoft.com/office/drawing/2014/main" id="{7CA6FDF5-8C2B-41D7-9B5C-4A1CAEA7494B}"/>
              </a:ext>
            </a:extLst>
          </p:cNvPr>
          <p:cNvSpPr>
            <a:spLocks xmlns:a="http://schemas.openxmlformats.org/drawingml/2006/main" noGrp="1"/>
          </p:cNvSpPr>
          <p:nvPr/>
        </p:nvSpPr>
        <p:spPr>
          <a:xfrm xmlns:a="http://schemas.openxmlformats.org/drawingml/2006/main">
            <a:off x="502920" y="2871216"/>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2</a:t>
            </a:r>
            <a:endParaRPr sz="1050"/>
          </a:p>
        </p:txBody>
      </p:sp>
      <p:sp>
        <p:nvSpPr>
          <p:cNvPr id="13" name="Text 10">
            <a:extLst xmlns:a="http://schemas.openxmlformats.org/drawingml/2006/main">
              <a:ext uri="{FF2B5EF4-FFF2-40B4-BE49-F238E27FC236}">
                <a16:creationId xmlns:a16="http://schemas.microsoft.com/office/drawing/2014/main" id="{2BEC2AF0-6375-4B02-86F2-38FD5E78DAB8}"/>
              </a:ext>
            </a:extLst>
          </p:cNvPr>
          <p:cNvSpPr>
            <a:spLocks xmlns:a="http://schemas.openxmlformats.org/drawingml/2006/main" noGrp="1"/>
          </p:cNvSpPr>
          <p:nvPr/>
        </p:nvSpPr>
        <p:spPr>
          <a:xfrm xmlns:a="http://schemas.openxmlformats.org/drawingml/2006/main">
            <a:off x="914400" y="2852928"/>
            <a:ext cx="6035040" cy="8412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Fail-fast demo  </a:t>
            </a:r>
            <a:r>
              <a:rPr sz="1000">
                <a:solidFill>
                  <a:srgbClr val="5F6B7A"/>
                </a:solidFill>
                <a:latin typeface="Calibri"/>
                <a:ea typeface="Calibri"/>
                <a:cs typeface="Calibri"/>
              </a:rPr>
              <a:t>FRAUD_MODEL_PATH=/nope docker compose up → capture the crisp startup error vs the old first-request 500</a:t>
            </a:r>
            <a:endParaRPr sz="1050"/>
          </a:p>
        </p:txBody>
      </p:sp>
      <p:sp>
        <p:nvSpPr>
          <p:cNvPr id="14" name="Text 11">
            <a:extLst xmlns:a="http://schemas.openxmlformats.org/drawingml/2006/main">
              <a:ext uri="{FF2B5EF4-FFF2-40B4-BE49-F238E27FC236}">
                <a16:creationId xmlns:a16="http://schemas.microsoft.com/office/drawing/2014/main" id="{2E13DEBB-02BE-4AEA-823F-83CAE8478537}"/>
              </a:ext>
            </a:extLst>
          </p:cNvPr>
          <p:cNvSpPr>
            <a:spLocks xmlns:a="http://schemas.openxmlformats.org/drawingml/2006/main" noGrp="1"/>
          </p:cNvSpPr>
          <p:nvPr/>
        </p:nvSpPr>
        <p:spPr>
          <a:xfrm xmlns:a="http://schemas.openxmlformats.org/drawingml/2006/main">
            <a:off x="502920" y="3712464"/>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3</a:t>
            </a:r>
            <a:endParaRPr sz="1050"/>
          </a:p>
        </p:txBody>
      </p:sp>
      <p:sp>
        <p:nvSpPr>
          <p:cNvPr id="15" name="Text 12">
            <a:extLst xmlns:a="http://schemas.openxmlformats.org/drawingml/2006/main">
              <a:ext uri="{FF2B5EF4-FFF2-40B4-BE49-F238E27FC236}">
                <a16:creationId xmlns:a16="http://schemas.microsoft.com/office/drawing/2014/main" id="{431CC9DE-319F-4E37-A545-2C529E6CBA6D}"/>
              </a:ext>
            </a:extLst>
          </p:cNvPr>
          <p:cNvSpPr>
            <a:spLocks xmlns:a="http://schemas.openxmlformats.org/drawingml/2006/main" noGrp="1"/>
          </p:cNvSpPr>
          <p:nvPr/>
        </p:nvSpPr>
        <p:spPr>
          <a:xfrm xmlns:a="http://schemas.openxmlformats.org/drawingml/2006/main">
            <a:off x="914400" y="3694176"/>
            <a:ext cx="6035040" cy="8412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Correlated JSON logs  </a:t>
            </a:r>
            <a:r>
              <a:rPr sz="1000">
                <a:solidFill>
                  <a:srgbClr val="5F6B7A"/>
                </a:solidFill>
                <a:latin typeface="Calibri"/>
                <a:ea typeface="Calibri"/>
                <a:cs typeface="Calibri"/>
              </a:rPr>
              <a:t>Wire logging_setup + middleware + prediction_served; jq the latency_ms to compute p50 from logs alone</a:t>
            </a:r>
            <a:endParaRPr sz="1050"/>
          </a:p>
        </p:txBody>
      </p:sp>
      <p:sp>
        <p:nvSpPr>
          <p:cNvPr id="16" name="Text 13">
            <a:extLst xmlns:a="http://schemas.openxmlformats.org/drawingml/2006/main">
              <a:ext uri="{FF2B5EF4-FFF2-40B4-BE49-F238E27FC236}">
                <a16:creationId xmlns:a16="http://schemas.microsoft.com/office/drawing/2014/main" id="{CACC3C1C-9530-475A-B86D-0B24D5510333}"/>
              </a:ext>
            </a:extLst>
          </p:cNvPr>
          <p:cNvSpPr>
            <a:spLocks xmlns:a="http://schemas.openxmlformats.org/drawingml/2006/main" noGrp="1"/>
          </p:cNvSpPr>
          <p:nvPr/>
        </p:nvSpPr>
        <p:spPr>
          <a:xfrm xmlns:a="http://schemas.openxmlformats.org/drawingml/2006/main">
            <a:off x="502920" y="4553712"/>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4</a:t>
            </a:r>
            <a:endParaRPr sz="1050"/>
          </a:p>
        </p:txBody>
      </p:sp>
      <p:sp>
        <p:nvSpPr>
          <p:cNvPr id="17" name="Text 14">
            <a:extLst xmlns:a="http://schemas.openxmlformats.org/drawingml/2006/main">
              <a:ext uri="{FF2B5EF4-FFF2-40B4-BE49-F238E27FC236}">
                <a16:creationId xmlns:a16="http://schemas.microsoft.com/office/drawing/2014/main" id="{50DFD326-9CCF-4D9D-A9A5-0859E05B739A}"/>
              </a:ext>
            </a:extLst>
          </p:cNvPr>
          <p:cNvSpPr>
            <a:spLocks xmlns:a="http://schemas.openxmlformats.org/drawingml/2006/main" noGrp="1"/>
          </p:cNvSpPr>
          <p:nvPr/>
        </p:nvSpPr>
        <p:spPr>
          <a:xfrm xmlns:a="http://schemas.openxmlformats.org/drawingml/2006/main">
            <a:off x="914400" y="4535424"/>
            <a:ext cx="6035040" cy="8412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Secret drill  </a:t>
            </a:r>
            <a:r>
              <a:rPr sz="1000">
                <a:solidFill>
                  <a:srgbClr val="5F6B7A"/>
                </a:solidFill>
                <a:latin typeface="Calibri"/>
                <a:ea typeface="Calibri"/>
                <a:cs typeface="Calibri"/>
              </a:rPr>
              <a:t>gitleaks detect the committed ghp_XXXX token; write INCIDENT.md (rotate first, then clean history); fix via env</a:t>
            </a:r>
            <a:endParaRPr sz="1050"/>
          </a:p>
        </p:txBody>
      </p:sp>
      <p:sp>
        <p:nvSpPr>
          <p:cNvPr id="18" name="Text 15">
            <a:extLst xmlns:a="http://schemas.openxmlformats.org/drawingml/2006/main">
              <a:ext uri="{FF2B5EF4-FFF2-40B4-BE49-F238E27FC236}">
                <a16:creationId xmlns:a16="http://schemas.microsoft.com/office/drawing/2014/main" id="{F1AB1160-4A28-476D-9E4C-FD81E72A7AB9}"/>
              </a:ext>
            </a:extLst>
          </p:cNvPr>
          <p:cNvSpPr>
            <a:spLocks xmlns:a="http://schemas.openxmlformats.org/drawingml/2006/main" noGrp="1"/>
          </p:cNvSpPr>
          <p:nvPr/>
        </p:nvSpPr>
        <p:spPr>
          <a:xfrm xmlns:a="http://schemas.openxmlformats.org/drawingml/2006/main">
            <a:off x="502920" y="5394960"/>
            <a:ext cx="274320" cy="274320"/>
          </a:xfrm>
          <a:prstGeom xmlns:a="http://schemas.openxmlformats.org/drawingml/2006/main" prst="ellipse">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5</a:t>
            </a:r>
            <a:endParaRPr sz="1050"/>
          </a:p>
        </p:txBody>
      </p:sp>
      <p:sp>
        <p:nvSpPr>
          <p:cNvPr id="19" name="Text 16">
            <a:extLst xmlns:a="http://schemas.openxmlformats.org/drawingml/2006/main">
              <a:ext uri="{FF2B5EF4-FFF2-40B4-BE49-F238E27FC236}">
                <a16:creationId xmlns:a16="http://schemas.microsoft.com/office/drawing/2014/main" id="{17047131-40F6-4EF4-AE05-565429D5E2B4}"/>
              </a:ext>
            </a:extLst>
          </p:cNvPr>
          <p:cNvSpPr>
            <a:spLocks xmlns:a="http://schemas.openxmlformats.org/drawingml/2006/main" noGrp="1"/>
          </p:cNvSpPr>
          <p:nvPr/>
        </p:nvSpPr>
        <p:spPr>
          <a:xfrm xmlns:a="http://schemas.openxmlformats.org/drawingml/2006/main">
            <a:off x="914400" y="5376672"/>
            <a:ext cx="6035040" cy="8412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23293B"/>
                </a:solidFill>
                <a:latin typeface="Calibri"/>
                <a:ea typeface="Calibri"/>
                <a:cs typeface="Calibri"/>
              </a:rPr>
              <a:t>Confirm masking  </a:t>
            </a:r>
            <a:r>
              <a:rPr sz="1000">
                <a:solidFill>
                  <a:srgbClr val="5F6B7A"/>
                </a:solidFill>
                <a:latin typeface="Calibri"/>
                <a:ea typeface="Calibri"/>
                <a:cs typeface="Calibri"/>
              </a:rPr>
              <a:t>Log the token intentionally → verify ***MASKED*** in output; remove the line; commit</a:t>
            </a:r>
            <a:endParaRPr sz="1050"/>
          </a:p>
        </p:txBody>
      </p:sp>
      <p:sp>
        <p:nvSpPr>
          <p:cNvPr id="20" name="Shape 17">
            <a:extLst xmlns:a="http://schemas.openxmlformats.org/drawingml/2006/main">
              <a:ext uri="{FF2B5EF4-FFF2-40B4-BE49-F238E27FC236}">
                <a16:creationId xmlns:a16="http://schemas.microsoft.com/office/drawing/2014/main" id="{AF7C700C-4664-44E6-AB33-0086CBB2B860}"/>
              </a:ext>
            </a:extLst>
          </p:cNvPr>
          <p:cNvSpPr>
            <a:spLocks xmlns:a="http://schemas.openxmlformats.org/drawingml/2006/main" noGrp="1"/>
          </p:cNvSpPr>
          <p:nvPr/>
        </p:nvSpPr>
        <p:spPr>
          <a:xfrm xmlns:a="http://schemas.openxmlformats.org/drawingml/2006/main">
            <a:off x="7269480" y="2011680"/>
            <a:ext cx="4416552" cy="1417320"/>
          </a:xfrm>
          <a:prstGeom xmlns:a="http://schemas.openxmlformats.org/drawingml/2006/main" prst="roundRect">
            <a:avLst>
              <a:gd name="adj" fmla="val 4516"/>
            </a:avLst>
          </a:prstGeom>
          <a:solidFill xmlns:a="http://schemas.openxmlformats.org/drawingml/2006/main">
            <a:srgbClr val="D4F1EE"/>
          </a:solidFill>
        </p:spPr>
      </p:sp>
      <p:sp>
        <p:nvSpPr>
          <p:cNvPr id="21" name="Text 18">
            <a:extLst xmlns:a="http://schemas.openxmlformats.org/drawingml/2006/main">
              <a:ext uri="{FF2B5EF4-FFF2-40B4-BE49-F238E27FC236}">
                <a16:creationId xmlns:a16="http://schemas.microsoft.com/office/drawing/2014/main" id="{377D2AB1-279D-43AC-80C4-ACCE9D3F1E2B}"/>
              </a:ext>
            </a:extLst>
          </p:cNvPr>
          <p:cNvSpPr>
            <a:spLocks xmlns:a="http://schemas.openxmlformats.org/drawingml/2006/main" noGrp="1"/>
          </p:cNvSpPr>
          <p:nvPr/>
        </p:nvSpPr>
        <p:spPr>
          <a:xfrm xmlns:a="http://schemas.openxmlformats.org/drawingml/2006/main">
            <a:off x="7452360" y="2139696"/>
            <a:ext cx="405079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056A63"/>
                </a:solidFill>
                <a:latin typeface="Calibri"/>
                <a:ea typeface="Calibri"/>
                <a:cs typeface="Calibri"/>
              </a:rPr>
              <a:t>DELIVERABLE</a:t>
            </a:r>
            <a:endParaRPr sz="900"/>
          </a:p>
        </p:txBody>
      </p:sp>
      <p:sp>
        <p:nvSpPr>
          <p:cNvPr id="22" name="Text 19">
            <a:extLst xmlns:a="http://schemas.openxmlformats.org/drawingml/2006/main">
              <a:ext uri="{FF2B5EF4-FFF2-40B4-BE49-F238E27FC236}">
                <a16:creationId xmlns:a16="http://schemas.microsoft.com/office/drawing/2014/main" id="{30BD0C18-F313-440C-B7BA-3FC7979BB3DA}"/>
              </a:ext>
            </a:extLst>
          </p:cNvPr>
          <p:cNvSpPr>
            <a:spLocks xmlns:a="http://schemas.openxmlformats.org/drawingml/2006/main" noGrp="1"/>
          </p:cNvSpPr>
          <p:nvPr/>
        </p:nvSpPr>
        <p:spPr>
          <a:xfrm xmlns:a="http://schemas.openxmlformats.org/drawingml/2006/main">
            <a:off x="7452360" y="2395728"/>
            <a:ext cx="4050792" cy="960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30">
                <a:solidFill>
                  <a:srgbClr val="056A63"/>
                </a:solidFill>
                <a:latin typeface="Calibri"/>
                <a:ea typeface="Calibri"/>
                <a:cs typeface="Calibri"/>
              </a:rPr>
              <a:t>Typed Settings wired in; fail-fast proven; JSON logs yielding p50 via jq; gitleaks clean; INCIDENT.md written; masking confirmed.</a:t>
            </a:r>
            <a:endParaRPr sz="1030"/>
          </a:p>
        </p:txBody>
      </p:sp>
      <p:sp>
        <p:nvSpPr>
          <p:cNvPr id="23" name="Shape 20">
            <a:extLst xmlns:a="http://schemas.openxmlformats.org/drawingml/2006/main">
              <a:ext uri="{FF2B5EF4-FFF2-40B4-BE49-F238E27FC236}">
                <a16:creationId xmlns:a16="http://schemas.microsoft.com/office/drawing/2014/main" id="{20CD0CA7-A5D8-4B11-B7E4-9FDBE862704A}"/>
              </a:ext>
            </a:extLst>
          </p:cNvPr>
          <p:cNvSpPr>
            <a:spLocks xmlns:a="http://schemas.openxmlformats.org/drawingml/2006/main" noGrp="1"/>
          </p:cNvSpPr>
          <p:nvPr/>
        </p:nvSpPr>
        <p:spPr>
          <a:xfrm xmlns:a="http://schemas.openxmlformats.org/drawingml/2006/main">
            <a:off x="7269480" y="3611880"/>
            <a:ext cx="4416552" cy="1371600"/>
          </a:xfrm>
          <a:prstGeom xmlns:a="http://schemas.openxmlformats.org/drawingml/2006/main" prst="roundRect">
            <a:avLst>
              <a:gd name="adj" fmla="val 4667"/>
            </a:avLst>
          </a:prstGeom>
          <a:solidFill xmlns:a="http://schemas.openxmlformats.org/drawingml/2006/main">
            <a:srgbClr val="EEF3FB"/>
          </a:solidFill>
          <a:ln xmlns:a="http://schemas.openxmlformats.org/drawingml/2006/main" w="9525">
            <a:solidFill>
              <a:srgbClr val="D9E4F5"/>
            </a:solidFill>
            <a:prstDash val="solid"/>
          </a:ln>
        </p:spPr>
      </p:sp>
      <p:sp>
        <p:nvSpPr>
          <p:cNvPr id="24" name="Text 21">
            <a:extLst xmlns:a="http://schemas.openxmlformats.org/drawingml/2006/main">
              <a:ext uri="{FF2B5EF4-FFF2-40B4-BE49-F238E27FC236}">
                <a16:creationId xmlns:a16="http://schemas.microsoft.com/office/drawing/2014/main" id="{9A85F29F-2D09-4316-B731-30DDC46216A1}"/>
              </a:ext>
            </a:extLst>
          </p:cNvPr>
          <p:cNvSpPr>
            <a:spLocks xmlns:a="http://schemas.openxmlformats.org/drawingml/2006/main" noGrp="1"/>
          </p:cNvSpPr>
          <p:nvPr/>
        </p:nvSpPr>
        <p:spPr>
          <a:xfrm xmlns:a="http://schemas.openxmlformats.org/drawingml/2006/main">
            <a:off x="7452360" y="3730752"/>
            <a:ext cx="405079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100">
                <a:solidFill>
                  <a:srgbClr val="1D2A5C"/>
                </a:solidFill>
                <a:latin typeface="Calibri"/>
                <a:ea typeface="Calibri"/>
                <a:cs typeface="Calibri"/>
              </a:rPr>
              <a:t>CHECKPOINT — how you know it worked</a:t>
            </a:r>
            <a:endParaRPr sz="900"/>
          </a:p>
        </p:txBody>
      </p:sp>
      <p:sp>
        <p:nvSpPr>
          <p:cNvPr id="25" name="Text 22">
            <a:extLst xmlns:a="http://schemas.openxmlformats.org/drawingml/2006/main">
              <a:ext uri="{FF2B5EF4-FFF2-40B4-BE49-F238E27FC236}">
                <a16:creationId xmlns:a16="http://schemas.microsoft.com/office/drawing/2014/main" id="{8790925A-71AE-4AAE-95AE-BBB419E3A42D}"/>
              </a:ext>
            </a:extLst>
          </p:cNvPr>
          <p:cNvSpPr>
            <a:spLocks xmlns:a="http://schemas.openxmlformats.org/drawingml/2006/main" noGrp="1"/>
          </p:cNvSpPr>
          <p:nvPr/>
        </p:nvSpPr>
        <p:spPr>
          <a:xfrm xmlns:a="http://schemas.openxmlformats.org/drawingml/2006/main">
            <a:off x="7452360" y="3986784"/>
            <a:ext cx="4050792"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5F6B7A"/>
                </a:solidFill>
                <a:latin typeface="Calibri"/>
                <a:ea typeface="Calibri"/>
                <a:cs typeface="Calibri"/>
              </a:rPr>
              <a:t>git checkout lab6-start. Middleware order matters: trace → logging → routes, or trace_id is missing from the scoring event.</a:t>
            </a:r>
            <a:endParaRPr sz="1000"/>
          </a:p>
        </p:txBody>
      </p:sp>
      <p:sp>
        <p:nvSpPr>
          <p:cNvPr id="26" name="Shape 23">
            <a:extLst xmlns:a="http://schemas.openxmlformats.org/drawingml/2006/main">
              <a:ext uri="{FF2B5EF4-FFF2-40B4-BE49-F238E27FC236}">
                <a16:creationId xmlns:a16="http://schemas.microsoft.com/office/drawing/2014/main" id="{E5318026-1760-48E5-A679-7F590A0C337B}"/>
              </a:ext>
            </a:extLst>
          </p:cNvPr>
          <p:cNvSpPr>
            <a:spLocks xmlns:a="http://schemas.openxmlformats.org/drawingml/2006/main" noGrp="1"/>
          </p:cNvSpPr>
          <p:nvPr/>
        </p:nvSpPr>
        <p:spPr>
          <a:xfrm xmlns:a="http://schemas.openxmlformats.org/drawingml/2006/main">
            <a:off x="7269480" y="5166360"/>
            <a:ext cx="4416552" cy="1051560"/>
          </a:xfrm>
          <a:prstGeom xmlns:a="http://schemas.openxmlformats.org/drawingml/2006/main" prst="roundRect">
            <a:avLst>
              <a:gd name="adj" fmla="val 6087"/>
            </a:avLst>
          </a:prstGeom>
          <a:solidFill xmlns:a="http://schemas.openxmlformats.org/drawingml/2006/main">
            <a:srgbClr val="FDEBD7"/>
          </a:solidFill>
        </p:spPr>
      </p:sp>
      <p:sp>
        <p:nvSpPr>
          <p:cNvPr id="27" name="Text 24">
            <a:extLst xmlns:a="http://schemas.openxmlformats.org/drawingml/2006/main">
              <a:ext uri="{FF2B5EF4-FFF2-40B4-BE49-F238E27FC236}">
                <a16:creationId xmlns:a16="http://schemas.microsoft.com/office/drawing/2014/main" id="{EC1E1EFE-FD71-416A-A12D-1CABC2397FC8}"/>
              </a:ext>
            </a:extLst>
          </p:cNvPr>
          <p:cNvSpPr>
            <a:spLocks xmlns:a="http://schemas.openxmlformats.org/drawingml/2006/main" noGrp="1"/>
          </p:cNvSpPr>
          <p:nvPr/>
        </p:nvSpPr>
        <p:spPr>
          <a:xfrm xmlns:a="http://schemas.openxmlformats.org/drawingml/2006/main">
            <a:off x="7452360" y="5230368"/>
            <a:ext cx="4050792"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850" b="1">
                <a:solidFill>
                  <a:srgbClr val="A6531C"/>
                </a:solidFill>
                <a:latin typeface="Calibri"/>
                <a:ea typeface="Calibri"/>
                <a:cs typeface="Calibri"/>
              </a:rPr>
              <a:t>INSTRUCTOR TIP  </a:t>
            </a:r>
            <a:r>
              <a:rPr sz="950">
                <a:solidFill>
                  <a:srgbClr val="A6531C"/>
                </a:solidFill>
                <a:latin typeface="Calibri"/>
                <a:ea typeface="Calibri"/>
                <a:cs typeface="Calibri"/>
              </a:rPr>
              <a:t>Do the fail-fast contrast and the jq-analytics moment on the projector even if pairs are ahead — they land hardest.</a:t>
            </a:r>
            <a:endParaRPr sz="850"/>
          </a:p>
        </p:txBody>
      </p:sp>
    </p:spTree>
    <p:extLst>
      <p:ext uri="{BB962C8B-B14F-4D97-AF65-F5344CB8AC3E}">
        <p14:creationId xmlns:p14="http://schemas.microsoft.com/office/powerpoint/2010/main" val="1110915256"/>
      </p:ext>
    </p:extLst>
  </p:cSld>
</p:sld>
</file>

<file path=ppt/slides/slide13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DE5F17D-659E-48CC-9D2F-EC1A655C4B18}"/>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Log forensics — trace one request without exposing PII</a:t>
            </a:r>
            <a:endParaRPr sz="2600"/>
          </a:p>
        </p:txBody>
      </p:sp>
      <p:sp>
        <p:nvSpPr>
          <p:cNvPr id="3" name="Text 1">
            <a:extLst xmlns:a="http://schemas.openxmlformats.org/drawingml/2006/main">
              <a:ext uri="{FF2B5EF4-FFF2-40B4-BE49-F238E27FC236}">
                <a16:creationId xmlns:a16="http://schemas.microsoft.com/office/drawing/2014/main" id="{16A3C7C4-974F-4731-AE67-C6A488FEC868}"/>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تمرين تحليل السجلات — تتبّع طلبًا دون كشف بيانات شخصية</a:t>
            </a:r>
            <a:endParaRPr sz="1300"/>
          </a:p>
        </p:txBody>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26498929d300437f"/>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D60A61EA-B363-4398-BC98-A84121CFAE1F}"/>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BB66A3E8-A99A-4AF4-B699-7DE7040FFBAF}"/>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LAB 6</a:t>
            </a:r>
            <a:r>
              <a:rPr sz="850" b="1" spc="100">
                <a:solidFill>
                  <a:srgbClr val="00A79D"/>
                </a:solidFill>
                <a:latin typeface="Calibri"/>
                <a:ea typeface="Calibri"/>
                <a:cs typeface="Calibri"/>
              </a:rPr>
              <a:t>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7667CF09-35EA-459F-AE5E-228548E764FA}"/>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139</a:t>
            </a:r>
            <a:endParaRPr sz="850"/>
          </a:p>
        </p:txBody>
      </p:sp>
      <p:sp>
        <p:nvSpPr>
          <p:cNvPr id="8" name="Text 5">
            <a:extLst xmlns:a="http://schemas.openxmlformats.org/drawingml/2006/main">
              <a:ext uri="{FF2B5EF4-FFF2-40B4-BE49-F238E27FC236}">
                <a16:creationId xmlns:a16="http://schemas.microsoft.com/office/drawing/2014/main" id="{AD1E06BF-FB27-40AC-9620-6A2C25D75C02}"/>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A85E1220-86F3-4C31-AB2B-F1DE3B7144CB}"/>
              </a:ext>
            </a:extLst>
          </p:cNvPr>
          <p:cNvSpPr>
            <a:spLocks xmlns:a="http://schemas.openxmlformats.org/drawingml/2006/main" noGrp="1"/>
          </p:cNvSpPr>
          <p:nvPr/>
        </p:nvSpPr>
        <p:spPr>
          <a:xfrm xmlns:a="http://schemas.openxmlformats.org/drawingml/2006/main">
            <a:off x="1005840" y="14996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Join by trace id</a:t>
            </a:r>
            <a:endParaRPr sz="1350"/>
          </a:p>
        </p:txBody>
      </p:sp>
      <p:sp>
        <p:nvSpPr>
          <p:cNvPr id="10" name="Text 7">
            <a:extLst xmlns:a="http://schemas.openxmlformats.org/drawingml/2006/main">
              <a:ext uri="{FF2B5EF4-FFF2-40B4-BE49-F238E27FC236}">
                <a16:creationId xmlns:a16="http://schemas.microsoft.com/office/drawing/2014/main" id="{A82ACBC5-1BFF-4AA9-B0B0-C3F7204F9481}"/>
              </a:ext>
            </a:extLst>
          </p:cNvPr>
          <p:cNvSpPr>
            <a:spLocks xmlns:a="http://schemas.openxmlformats.org/drawingml/2006/main" noGrp="1"/>
          </p:cNvSpPr>
          <p:nvPr/>
        </p:nvSpPr>
        <p:spPr>
          <a:xfrm xmlns:a="http://schemas.openxmlformats.org/drawingml/2006/main">
            <a:off x="1005840" y="180136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Follow gateway, middleware, scoring event, and response without using raw identifiers.</a:t>
            </a:r>
            <a:endParaRPr sz="1050"/>
          </a:p>
        </p:txBody>
      </p:sp>
      <p:sp>
        <p:nvSpPr>
          <p:cNvPr id="11" name="Text 8">
            <a:extLst xmlns:a="http://schemas.openxmlformats.org/drawingml/2006/main">
              <a:ext uri="{FF2B5EF4-FFF2-40B4-BE49-F238E27FC236}">
                <a16:creationId xmlns:a16="http://schemas.microsoft.com/office/drawing/2014/main" id="{6E412656-5263-45AE-82D5-31AA6B396614}"/>
              </a:ext>
            </a:extLst>
          </p:cNvPr>
          <p:cNvSpPr>
            <a:spLocks xmlns:a="http://schemas.openxmlformats.org/drawingml/2006/main" noGrp="1"/>
          </p:cNvSpPr>
          <p:nvPr/>
        </p:nvSpPr>
        <p:spPr>
          <a:xfrm xmlns:a="http://schemas.openxmlformats.org/drawingml/2006/main">
            <a:off x="502920" y="280035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0736F55E-3534-4AC1-B57C-0E7933249618}"/>
              </a:ext>
            </a:extLst>
          </p:cNvPr>
          <p:cNvSpPr>
            <a:spLocks xmlns:a="http://schemas.openxmlformats.org/drawingml/2006/main" noGrp="1"/>
          </p:cNvSpPr>
          <p:nvPr/>
        </p:nvSpPr>
        <p:spPr>
          <a:xfrm xmlns:a="http://schemas.openxmlformats.org/drawingml/2006/main">
            <a:off x="1005840" y="274548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Separate signal from sensitive data</a:t>
            </a:r>
            <a:endParaRPr sz="1350"/>
          </a:p>
        </p:txBody>
      </p:sp>
      <p:sp>
        <p:nvSpPr>
          <p:cNvPr id="13" name="Text 10">
            <a:extLst xmlns:a="http://schemas.openxmlformats.org/drawingml/2006/main">
              <a:ext uri="{FF2B5EF4-FFF2-40B4-BE49-F238E27FC236}">
                <a16:creationId xmlns:a16="http://schemas.microsoft.com/office/drawing/2014/main" id="{F1DBD095-EE3F-4C72-9CC1-5BAF1DF19F2D}"/>
              </a:ext>
            </a:extLst>
          </p:cNvPr>
          <p:cNvSpPr>
            <a:spLocks xmlns:a="http://schemas.openxmlformats.org/drawingml/2006/main" noGrp="1"/>
          </p:cNvSpPr>
          <p:nvPr/>
        </p:nvSpPr>
        <p:spPr>
          <a:xfrm xmlns:a="http://schemas.openxmlformats.org/drawingml/2006/main">
            <a:off x="1005840" y="304723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Keep decision, bucket, latency, model version; exclude payloads, IDs, and secrets.</a:t>
            </a:r>
            <a:endParaRPr sz="1050"/>
          </a:p>
        </p:txBody>
      </p:sp>
      <p:sp>
        <p:nvSpPr>
          <p:cNvPr id="14" name="Text 11">
            <a:extLst xmlns:a="http://schemas.openxmlformats.org/drawingml/2006/main">
              <a:ext uri="{FF2B5EF4-FFF2-40B4-BE49-F238E27FC236}">
                <a16:creationId xmlns:a16="http://schemas.microsoft.com/office/drawing/2014/main" id="{5E6EAE5C-12C5-47A9-9452-01DF822D6446}"/>
              </a:ext>
            </a:extLst>
          </p:cNvPr>
          <p:cNvSpPr>
            <a:spLocks xmlns:a="http://schemas.openxmlformats.org/drawingml/2006/main" noGrp="1"/>
          </p:cNvSpPr>
          <p:nvPr/>
        </p:nvSpPr>
        <p:spPr>
          <a:xfrm xmlns:a="http://schemas.openxmlformats.org/drawingml/2006/main">
            <a:off x="502920" y="404622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1328E8FC-72BC-4EB6-B1D4-913BBA056ED3}"/>
              </a:ext>
            </a:extLst>
          </p:cNvPr>
          <p:cNvSpPr>
            <a:spLocks xmlns:a="http://schemas.openxmlformats.org/drawingml/2006/main" noGrp="1"/>
          </p:cNvSpPr>
          <p:nvPr/>
        </p:nvSpPr>
        <p:spPr>
          <a:xfrm xmlns:a="http://schemas.openxmlformats.org/drawingml/2006/main">
            <a:off x="1005840" y="399135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Answer an operational question</a:t>
            </a:r>
            <a:endParaRPr sz="1350"/>
          </a:p>
        </p:txBody>
      </p:sp>
      <p:sp>
        <p:nvSpPr>
          <p:cNvPr id="16" name="Text 13">
            <a:extLst xmlns:a="http://schemas.openxmlformats.org/drawingml/2006/main">
              <a:ext uri="{FF2B5EF4-FFF2-40B4-BE49-F238E27FC236}">
                <a16:creationId xmlns:a16="http://schemas.microsoft.com/office/drawing/2014/main" id="{3F5D62A0-6DDC-4E90-A328-72310E4B2B4B}"/>
              </a:ext>
            </a:extLst>
          </p:cNvPr>
          <p:cNvSpPr>
            <a:spLocks xmlns:a="http://schemas.openxmlformats.org/drawingml/2006/main" noGrp="1"/>
          </p:cNvSpPr>
          <p:nvPr/>
        </p:nvSpPr>
        <p:spPr>
          <a:xfrm xmlns:a="http://schemas.openxmlformats.org/drawingml/2006/main">
            <a:off x="1005840" y="429310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Compute latency by decision or error rate by model version from JSON events.</a:t>
            </a:r>
            <a:endParaRPr sz="1050"/>
          </a:p>
        </p:txBody>
      </p:sp>
      <p:sp>
        <p:nvSpPr>
          <p:cNvPr id="17" name="Text 14">
            <a:extLst xmlns:a="http://schemas.openxmlformats.org/drawingml/2006/main">
              <a:ext uri="{FF2B5EF4-FFF2-40B4-BE49-F238E27FC236}">
                <a16:creationId xmlns:a16="http://schemas.microsoft.com/office/drawing/2014/main" id="{FB07FD8A-01E0-41A0-9EC7-11398930CF87}"/>
              </a:ext>
            </a:extLst>
          </p:cNvPr>
          <p:cNvSpPr>
            <a:spLocks xmlns:a="http://schemas.openxmlformats.org/drawingml/2006/main" noGrp="1"/>
          </p:cNvSpPr>
          <p:nvPr/>
        </p:nvSpPr>
        <p:spPr>
          <a:xfrm xmlns:a="http://schemas.openxmlformats.org/drawingml/2006/main">
            <a:off x="502920" y="5292090"/>
            <a:ext cx="329184" cy="329184"/>
          </a:xfrm>
          <a:prstGeom xmlns:a="http://schemas.openxmlformats.org/drawingml/2006/main" prst="ellipse">
            <a:avLst/>
          </a:prstGeom>
          <a:solidFill xmlns:a="http://schemas.openxmlformats.org/drawingml/2006/main">
            <a:srgbClr val="8DC63F"/>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4</a:t>
            </a:r>
            <a:endParaRPr sz="1300"/>
          </a:p>
        </p:txBody>
      </p:sp>
      <p:sp>
        <p:nvSpPr>
          <p:cNvPr id="18" name="Text 15">
            <a:extLst xmlns:a="http://schemas.openxmlformats.org/drawingml/2006/main">
              <a:ext uri="{FF2B5EF4-FFF2-40B4-BE49-F238E27FC236}">
                <a16:creationId xmlns:a16="http://schemas.microsoft.com/office/drawing/2014/main" id="{AEAF08CC-5E57-4839-B0C5-2220C8377B19}"/>
              </a:ext>
            </a:extLst>
          </p:cNvPr>
          <p:cNvSpPr>
            <a:spLocks xmlns:a="http://schemas.openxmlformats.org/drawingml/2006/main" noGrp="1"/>
          </p:cNvSpPr>
          <p:nvPr/>
        </p:nvSpPr>
        <p:spPr>
          <a:xfrm xmlns:a="http://schemas.openxmlformats.org/drawingml/2006/main">
            <a:off x="1005840" y="523722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Respond to a leak correctly</a:t>
            </a:r>
            <a:endParaRPr sz="1350"/>
          </a:p>
        </p:txBody>
      </p:sp>
      <p:sp>
        <p:nvSpPr>
          <p:cNvPr id="19" name="Text 16">
            <a:extLst xmlns:a="http://schemas.openxmlformats.org/drawingml/2006/main">
              <a:ext uri="{FF2B5EF4-FFF2-40B4-BE49-F238E27FC236}">
                <a16:creationId xmlns:a16="http://schemas.microsoft.com/office/drawing/2014/main" id="{7F216B22-A29B-4D51-8C78-03BE97EBA8C0}"/>
              </a:ext>
            </a:extLst>
          </p:cNvPr>
          <p:cNvSpPr>
            <a:spLocks xmlns:a="http://schemas.openxmlformats.org/drawingml/2006/main" noGrp="1"/>
          </p:cNvSpPr>
          <p:nvPr/>
        </p:nvSpPr>
        <p:spPr>
          <a:xfrm xmlns:a="http://schemas.openxmlformats.org/drawingml/2006/main">
            <a:off x="1005840" y="553897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Rotate first, preserve incident evidence, clean history, then add scanning and prevention.</a:t>
            </a:r>
            <a:endParaRPr sz="1050"/>
          </a:p>
        </p:txBody>
      </p:sp>
    </p:spTree>
    <p:extLst>
      <p:ext uri="{BB962C8B-B14F-4D97-AF65-F5344CB8AC3E}">
        <p14:creationId xmlns:p14="http://schemas.microsoft.com/office/powerpoint/2010/main" val="975794841"/>
      </p:ext>
    </p:extLst>
  </p:cSld>
</p:sld>
</file>

<file path=ppt/slides/slide14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CC9AA98-5C17-49DB-B592-4F099152B286}"/>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Mini exercises — Config, Secrets &amp; Logs</a:t>
            </a:r>
            <a:endParaRPr sz="2600"/>
          </a:p>
        </p:txBody>
      </p:sp>
      <p:sp>
        <p:nvSpPr>
          <p:cNvPr id="3" name="Text 1">
            <a:extLst xmlns:a="http://schemas.openxmlformats.org/drawingml/2006/main">
              <a:ext uri="{FF2B5EF4-FFF2-40B4-BE49-F238E27FC236}">
                <a16:creationId xmlns:a16="http://schemas.microsoft.com/office/drawing/2014/main" id="{D6E6F7C7-D0AE-484A-A99E-8E3DA751818A}"/>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تمارين قصيرة — الإعداد والأسرار والسجلات</a:t>
            </a:r>
            <a:endParaRPr sz="1300"/>
          </a:p>
        </p:txBody>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46f240b9d4f84e60"/>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1BA38990-E561-4CD6-801E-8380257394C6}"/>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5DB8F89A-A519-4624-8E5C-1784D5E827D8}"/>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6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204851F8-5F1F-44D2-8778-2642C7621215}"/>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140</a:t>
            </a:r>
            <a:endParaRPr sz="850"/>
          </a:p>
        </p:txBody>
      </p:sp>
      <p:sp>
        <p:nvSpPr>
          <p:cNvPr id="8" name="Text 5">
            <a:extLst xmlns:a="http://schemas.openxmlformats.org/drawingml/2006/main">
              <a:ext uri="{FF2B5EF4-FFF2-40B4-BE49-F238E27FC236}">
                <a16:creationId xmlns:a16="http://schemas.microsoft.com/office/drawing/2014/main" id="{D13D0529-CCB7-4C63-B4B7-958F34ABB6AB}"/>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A276E177-1626-4BE7-B37B-4717077981CA}"/>
              </a:ext>
            </a:extLst>
          </p:cNvPr>
          <p:cNvSpPr>
            <a:spLocks xmlns:a="http://schemas.openxmlformats.org/drawingml/2006/main" noGrp="1"/>
          </p:cNvSpPr>
          <p:nvPr/>
        </p:nvSpPr>
        <p:spPr>
          <a:xfrm xmlns:a="http://schemas.openxmlformats.org/drawingml/2006/main">
            <a:off x="1005840" y="14996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Quiz warm-ups</a:t>
            </a:r>
            <a:endParaRPr sz="1350"/>
          </a:p>
        </p:txBody>
      </p:sp>
      <p:sp>
        <p:nvSpPr>
          <p:cNvPr id="10" name="Text 7">
            <a:extLst xmlns:a="http://schemas.openxmlformats.org/drawingml/2006/main">
              <a:ext uri="{FF2B5EF4-FFF2-40B4-BE49-F238E27FC236}">
                <a16:creationId xmlns:a16="http://schemas.microsoft.com/office/drawing/2014/main" id="{2A0165A3-7042-4C91-AB3E-4FE61B37A70C}"/>
              </a:ext>
            </a:extLst>
          </p:cNvPr>
          <p:cNvSpPr>
            <a:spLocks xmlns:a="http://schemas.openxmlformats.org/drawingml/2006/main" noGrp="1"/>
          </p:cNvSpPr>
          <p:nvPr/>
        </p:nvSpPr>
        <p:spPr>
          <a:xfrm xmlns:a="http://schemas.openxmlformats.org/drawingml/2006/main">
            <a:off x="1005840" y="180136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Precedence order of config sources and why env wins. What does SecretStr actually protect against? Name three fields that must never appear in logs. Why stdout-only in containers?</a:t>
            </a:r>
            <a:endParaRPr sz="1050"/>
          </a:p>
        </p:txBody>
      </p:sp>
      <p:sp>
        <p:nvSpPr>
          <p:cNvPr id="11" name="Text 8">
            <a:extLst xmlns:a="http://schemas.openxmlformats.org/drawingml/2006/main">
              <a:ext uri="{FF2B5EF4-FFF2-40B4-BE49-F238E27FC236}">
                <a16:creationId xmlns:a16="http://schemas.microsoft.com/office/drawing/2014/main" id="{DD3D2572-2143-4E27-8D2F-BFBBDBDC978B}"/>
              </a:ext>
            </a:extLst>
          </p:cNvPr>
          <p:cNvSpPr>
            <a:spLocks xmlns:a="http://schemas.openxmlformats.org/drawingml/2006/main" noGrp="1"/>
          </p:cNvSpPr>
          <p:nvPr/>
        </p:nvSpPr>
        <p:spPr>
          <a:xfrm xmlns:a="http://schemas.openxmlformats.org/drawingml/2006/main">
            <a:off x="502920" y="280035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94793997-BFFF-4021-8990-78E979A4427E}"/>
              </a:ext>
            </a:extLst>
          </p:cNvPr>
          <p:cNvSpPr>
            <a:spLocks xmlns:a="http://schemas.openxmlformats.org/drawingml/2006/main" noGrp="1"/>
          </p:cNvSpPr>
          <p:nvPr/>
        </p:nvSpPr>
        <p:spPr>
          <a:xfrm xmlns:a="http://schemas.openxmlformats.org/drawingml/2006/main">
            <a:off x="1005840" y="274548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Debugging exercise</a:t>
            </a:r>
            <a:endParaRPr sz="1350"/>
          </a:p>
        </p:txBody>
      </p:sp>
      <p:sp>
        <p:nvSpPr>
          <p:cNvPr id="13" name="Text 10">
            <a:extLst xmlns:a="http://schemas.openxmlformats.org/drawingml/2006/main">
              <a:ext uri="{FF2B5EF4-FFF2-40B4-BE49-F238E27FC236}">
                <a16:creationId xmlns:a16="http://schemas.microsoft.com/office/drawing/2014/main" id="{D480A909-774D-43DD-909C-C17582724FF5}"/>
              </a:ext>
            </a:extLst>
          </p:cNvPr>
          <p:cNvSpPr>
            <a:spLocks xmlns:a="http://schemas.openxmlformats.org/drawingml/2006/main" noGrp="1"/>
          </p:cNvSpPr>
          <p:nvPr/>
        </p:nvSpPr>
        <p:spPr>
          <a:xfrm xmlns:a="http://schemas.openxmlformats.org/drawingml/2006/main">
            <a:off x="1005840" y="304723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Branch sim-config-drift: staging mis-scores because FRAUD_BLOCK_THRESHOLD=0.65 sits in a forgotten compose override. Find it via docker compose config; add the startup guard.</a:t>
            </a:r>
            <a:endParaRPr sz="1050"/>
          </a:p>
        </p:txBody>
      </p:sp>
      <p:sp>
        <p:nvSpPr>
          <p:cNvPr id="14" name="Text 11">
            <a:extLst xmlns:a="http://schemas.openxmlformats.org/drawingml/2006/main">
              <a:ext uri="{FF2B5EF4-FFF2-40B4-BE49-F238E27FC236}">
                <a16:creationId xmlns:a16="http://schemas.microsoft.com/office/drawing/2014/main" id="{FC0A7310-763F-4783-A700-1B4151F8E863}"/>
              </a:ext>
            </a:extLst>
          </p:cNvPr>
          <p:cNvSpPr>
            <a:spLocks xmlns:a="http://schemas.openxmlformats.org/drawingml/2006/main" noGrp="1"/>
          </p:cNvSpPr>
          <p:nvPr/>
        </p:nvSpPr>
        <p:spPr>
          <a:xfrm xmlns:a="http://schemas.openxmlformats.org/drawingml/2006/main">
            <a:off x="502920" y="404622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9585A595-809F-41CE-BE8D-70F72CDBF28B}"/>
              </a:ext>
            </a:extLst>
          </p:cNvPr>
          <p:cNvSpPr>
            <a:spLocks xmlns:a="http://schemas.openxmlformats.org/drawingml/2006/main" noGrp="1"/>
          </p:cNvSpPr>
          <p:nvPr/>
        </p:nvSpPr>
        <p:spPr>
          <a:xfrm xmlns:a="http://schemas.openxmlformats.org/drawingml/2006/main">
            <a:off x="1005840" y="399135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Code-review exercise</a:t>
            </a:r>
            <a:endParaRPr sz="1350"/>
          </a:p>
        </p:txBody>
      </p:sp>
      <p:sp>
        <p:nvSpPr>
          <p:cNvPr id="16" name="Text 13">
            <a:extLst xmlns:a="http://schemas.openxmlformats.org/drawingml/2006/main">
              <a:ext uri="{FF2B5EF4-FFF2-40B4-BE49-F238E27FC236}">
                <a16:creationId xmlns:a16="http://schemas.microsoft.com/office/drawing/2014/main" id="{35E811DC-F5B9-4E1F-9DDE-1A4A00E6C7FF}"/>
              </a:ext>
            </a:extLst>
          </p:cNvPr>
          <p:cNvSpPr>
            <a:spLocks xmlns:a="http://schemas.openxmlformats.org/drawingml/2006/main" noGrp="1"/>
          </p:cNvSpPr>
          <p:nvPr/>
        </p:nvSpPr>
        <p:spPr>
          <a:xfrm xmlns:a="http://schemas.openxmlformats.org/drawingml/2006/main">
            <a:off x="1005840" y="429310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A PR logs the full request body at INFO, reads os.environ['THRESHOLD'] inside the route, and prints the settings object. Three findings — articulate the PDPL angle.</a:t>
            </a:r>
            <a:endParaRPr sz="1050"/>
          </a:p>
        </p:txBody>
      </p:sp>
      <p:sp>
        <p:nvSpPr>
          <p:cNvPr id="17" name="Text 14">
            <a:extLst xmlns:a="http://schemas.openxmlformats.org/drawingml/2006/main">
              <a:ext uri="{FF2B5EF4-FFF2-40B4-BE49-F238E27FC236}">
                <a16:creationId xmlns:a16="http://schemas.microsoft.com/office/drawing/2014/main" id="{06DF4A9E-6CB6-487C-98F4-A2F1BBDEC4F8}"/>
              </a:ext>
            </a:extLst>
          </p:cNvPr>
          <p:cNvSpPr>
            <a:spLocks xmlns:a="http://schemas.openxmlformats.org/drawingml/2006/main" noGrp="1"/>
          </p:cNvSpPr>
          <p:nvPr/>
        </p:nvSpPr>
        <p:spPr>
          <a:xfrm xmlns:a="http://schemas.openxmlformats.org/drawingml/2006/main">
            <a:off x="502920" y="5292090"/>
            <a:ext cx="329184" cy="329184"/>
          </a:xfrm>
          <a:prstGeom xmlns:a="http://schemas.openxmlformats.org/drawingml/2006/main" prst="ellipse">
            <a:avLst/>
          </a:prstGeom>
          <a:solidFill xmlns:a="http://schemas.openxmlformats.org/drawingml/2006/main">
            <a:srgbClr val="8DC63F"/>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4</a:t>
            </a:r>
            <a:endParaRPr sz="1300"/>
          </a:p>
        </p:txBody>
      </p:sp>
      <p:sp>
        <p:nvSpPr>
          <p:cNvPr id="18" name="Text 15">
            <a:extLst xmlns:a="http://schemas.openxmlformats.org/drawingml/2006/main">
              <a:ext uri="{FF2B5EF4-FFF2-40B4-BE49-F238E27FC236}">
                <a16:creationId xmlns:a16="http://schemas.microsoft.com/office/drawing/2014/main" id="{17CA892D-2B66-47B5-84BA-AE84D7C46756}"/>
              </a:ext>
            </a:extLst>
          </p:cNvPr>
          <p:cNvSpPr>
            <a:spLocks xmlns:a="http://schemas.openxmlformats.org/drawingml/2006/main" noGrp="1"/>
          </p:cNvSpPr>
          <p:nvPr/>
        </p:nvSpPr>
        <p:spPr>
          <a:xfrm xmlns:a="http://schemas.openxmlformats.org/drawingml/2006/main">
            <a:off x="1005840" y="523722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"Log or not?" card game</a:t>
            </a:r>
            <a:endParaRPr sz="1350"/>
          </a:p>
        </p:txBody>
      </p:sp>
      <p:sp>
        <p:nvSpPr>
          <p:cNvPr id="19" name="Text 16">
            <a:extLst xmlns:a="http://schemas.openxmlformats.org/drawingml/2006/main">
              <a:ext uri="{FF2B5EF4-FFF2-40B4-BE49-F238E27FC236}">
                <a16:creationId xmlns:a16="http://schemas.microsoft.com/office/drawing/2014/main" id="{95AA9EF6-5E18-4FE9-8BA4-AA6FEF67B09C}"/>
              </a:ext>
            </a:extLst>
          </p:cNvPr>
          <p:cNvSpPr>
            <a:spLocks xmlns:a="http://schemas.openxmlformats.org/drawingml/2006/main" noGrp="1"/>
          </p:cNvSpPr>
          <p:nvPr/>
        </p:nvSpPr>
        <p:spPr>
          <a:xfrm xmlns:a="http://schemas.openxmlformats.org/drawingml/2006/main">
            <a:off x="1005840" y="553897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Sort 14 candidate fields (raw score, bucketed score, national id, latency, full prompt text...) into log / mask / never, defended against PDPL and debugging needs.</a:t>
            </a:r>
            <a:endParaRPr sz="1050"/>
          </a:p>
        </p:txBody>
      </p:sp>
    </p:spTree>
    <p:extLst>
      <p:ext uri="{BB962C8B-B14F-4D97-AF65-F5344CB8AC3E}">
        <p14:creationId xmlns:p14="http://schemas.microsoft.com/office/powerpoint/2010/main" val="1748108625"/>
      </p:ext>
    </p:extLst>
  </p:cSld>
</p:sld>
</file>

<file path=ppt/slides/slide14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2B25855-4CD8-4BC2-A867-7057DC693294}"/>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Case Study — LLM Gateway Key Leak</a:t>
            </a:r>
            <a:endParaRPr sz="2600"/>
          </a:p>
        </p:txBody>
      </p:sp>
      <p:sp>
        <p:nvSpPr>
          <p:cNvPr id="3" name="Text 1">
            <a:extLst xmlns:a="http://schemas.openxmlformats.org/drawingml/2006/main">
              <a:ext uri="{FF2B5EF4-FFF2-40B4-BE49-F238E27FC236}">
                <a16:creationId xmlns:a16="http://schemas.microsoft.com/office/drawing/2014/main" id="{834197A0-7F39-42D5-AAB4-B54F7819A131}"/>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دراسة حالة — تسريب مفتاح بوابة LLM</a:t>
            </a:r>
            <a:endParaRPr sz="1300"/>
          </a:p>
        </p:txBody>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48170ffd28ae405a"/>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D5D5973E-347C-410A-90D8-4D5E70C3CFC2}"/>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73020F39-7127-439A-8453-AB487BE02300}"/>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6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EB2AB260-E3CD-49DB-A976-A82CA48A3965}"/>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141</a:t>
            </a:r>
            <a:endParaRPr sz="850"/>
          </a:p>
        </p:txBody>
      </p:sp>
      <p:sp>
        <p:nvSpPr>
          <p:cNvPr id="8" name="Text 5">
            <a:extLst xmlns:a="http://schemas.openxmlformats.org/drawingml/2006/main">
              <a:ext uri="{FF2B5EF4-FFF2-40B4-BE49-F238E27FC236}">
                <a16:creationId xmlns:a16="http://schemas.microsoft.com/office/drawing/2014/main" id="{CDCD68BD-ACFD-4A71-B554-48437DA15F6B}"/>
              </a:ext>
            </a:extLst>
          </p:cNvPr>
          <p:cNvSpPr>
            <a:spLocks xmlns:a="http://schemas.openxmlformats.org/drawingml/2006/main" noGrp="1"/>
          </p:cNvSpPr>
          <p:nvPr/>
        </p:nvSpPr>
        <p:spPr>
          <a:xfrm xmlns:a="http://schemas.openxmlformats.org/drawingml/2006/main">
            <a:off x="502920" y="1444752"/>
            <a:ext cx="1554480" cy="310896"/>
          </a:xfrm>
          <a:prstGeom xmlns:a="http://schemas.openxmlformats.org/drawingml/2006/main" prst="roundRect">
            <a:avLst>
              <a:gd name="adj" fmla="val 17647"/>
            </a:avLst>
          </a:prstGeom>
          <a:solidFill xmlns:a="http://schemas.openxmlformats.org/drawingml/2006/main">
            <a:srgbClr val="1D2A5C"/>
          </a:solidFill>
        </p:spPr>
        <p:txBody>
          <a:bodyPr xmlns:a="http://schemas.openxmlformats.org/drawingml/2006/main" wrap="square"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CASE STUDY</a:t>
            </a:r>
            <a:endParaRPr sz="950"/>
          </a:p>
        </p:txBody>
      </p:sp>
      <p:sp>
        <p:nvSpPr>
          <p:cNvPr id="9" name="Text 6">
            <a:extLst xmlns:a="http://schemas.openxmlformats.org/drawingml/2006/main">
              <a:ext uri="{FF2B5EF4-FFF2-40B4-BE49-F238E27FC236}">
                <a16:creationId xmlns:a16="http://schemas.microsoft.com/office/drawing/2014/main" id="{2E51C153-D889-4BEF-A1CA-580274056DE4}"/>
              </a:ext>
            </a:extLst>
          </p:cNvPr>
          <p:cNvSpPr>
            <a:spLocks xmlns:a="http://schemas.openxmlformats.org/drawingml/2006/main" noGrp="1"/>
          </p:cNvSpPr>
          <p:nvPr/>
        </p:nvSpPr>
        <p:spPr>
          <a:xfrm xmlns:a="http://schemas.openxmlformats.org/drawingml/2006/main">
            <a:off x="2240280" y="1444752"/>
            <a:ext cx="2377440" cy="310896"/>
          </a:xfrm>
          <a:prstGeom xmlns:a="http://schemas.openxmlformats.org/drawingml/2006/main" prst="roundRect">
            <a:avLst>
              <a:gd name="adj" fmla="val 17647"/>
            </a:avLst>
          </a:prstGeom>
          <a:solidFill xmlns:a="http://schemas.openxmlformats.org/drawingml/2006/main">
            <a:srgbClr val="EEF3FB"/>
          </a:solidFill>
          <a:ln xmlns:a="http://schemas.openxmlformats.org/drawingml/2006/main" w="12700">
            <a:solidFill>
              <a:srgbClr val="D9E4F5"/>
            </a:solidFill>
          </a:ln>
        </p:spPr>
        <p:txBody>
          <a:bodyPr xmlns:a="http://schemas.openxmlformats.org/drawingml/2006/main" wrap="square" anchor="ctr"/>
          <a:lstStyle xmlns:a="http://schemas.openxmlformats.org/drawingml/2006/main"/>
          <a:p xmlns:a="http://schemas.openxmlformats.org/drawingml/2006/main">
            <a:pPr marL="0" indent="0" algn="ctr">
              <a:buNone/>
            </a:pPr>
            <a:r>
              <a:rPr sz="950" b="1">
                <a:solidFill>
                  <a:srgbClr val="1D2A5C"/>
                </a:solidFill>
                <a:latin typeface="Calibri"/>
                <a:ea typeface="Calibri"/>
                <a:cs typeface="Calibri"/>
              </a:rPr>
              <a:t>LLM Gateway · Enterprise · KSA</a:t>
            </a:r>
            <a:endParaRPr sz="950"/>
          </a:p>
        </p:txBody>
      </p:sp>
      <p:sp>
        <p:nvSpPr>
          <p:cNvPr id="10" name="Text 7">
            <a:extLst xmlns:a="http://schemas.openxmlformats.org/drawingml/2006/main">
              <a:ext uri="{FF2B5EF4-FFF2-40B4-BE49-F238E27FC236}">
                <a16:creationId xmlns:a16="http://schemas.microsoft.com/office/drawing/2014/main" id="{D2DAB1CD-AE97-4FF5-8EDA-D1C1F106487A}"/>
              </a:ext>
            </a:extLst>
          </p:cNvPr>
          <p:cNvSpPr>
            <a:spLocks xmlns:a="http://schemas.openxmlformats.org/drawingml/2006/main" noGrp="1"/>
          </p:cNvSpPr>
          <p:nvPr/>
        </p:nvSpPr>
        <p:spPr>
          <a:xfrm xmlns:a="http://schemas.openxmlformats.org/drawingml/2006/main">
            <a:off x="502920" y="1938528"/>
            <a:ext cx="658368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23293B"/>
                </a:solidFill>
                <a:latin typeface="Calibri"/>
                <a:ea typeface="Calibri"/>
                <a:cs typeface="Calibri"/>
              </a:rPr>
              <a:t>An internal LLM gateway commits its provider API key to a private repo. Months later the repo is open-sourced — a secrets sweep missed git history. The key is scraped within hours; six figures of fraud accrue over a weekend.</a:t>
            </a:r>
            <a:endParaRPr sz="1100"/>
          </a:p>
        </p:txBody>
      </p:sp>
      <p:sp>
        <p:nvSpPr>
          <p:cNvPr id="11" name="Shape 8">
            <a:extLst xmlns:a="http://schemas.openxmlformats.org/drawingml/2006/main">
              <a:ext uri="{FF2B5EF4-FFF2-40B4-BE49-F238E27FC236}">
                <a16:creationId xmlns:a16="http://schemas.microsoft.com/office/drawing/2014/main" id="{0A065515-BF9B-4438-8C30-090A5FA65C40}"/>
              </a:ext>
            </a:extLst>
          </p:cNvPr>
          <p:cNvSpPr>
            <a:spLocks xmlns:a="http://schemas.openxmlformats.org/drawingml/2006/main" noGrp="1"/>
          </p:cNvSpPr>
          <p:nvPr/>
        </p:nvSpPr>
        <p:spPr>
          <a:xfrm xmlns:a="http://schemas.openxmlformats.org/drawingml/2006/main">
            <a:off x="566928" y="3026664"/>
            <a:ext cx="182880" cy="182880"/>
          </a:xfrm>
          <a:prstGeom xmlns:a="http://schemas.openxmlformats.org/drawingml/2006/main" prst="ellipse">
            <a:avLst/>
          </a:prstGeom>
          <a:solidFill xmlns:a="http://schemas.openxmlformats.org/drawingml/2006/main">
            <a:srgbClr val="00A79D"/>
          </a:solidFill>
        </p:spPr>
      </p:sp>
      <p:sp>
        <p:nvSpPr>
          <p:cNvPr id="12" name="Shape 9">
            <a:extLst xmlns:a="http://schemas.openxmlformats.org/drawingml/2006/main">
              <a:ext uri="{FF2B5EF4-FFF2-40B4-BE49-F238E27FC236}">
                <a16:creationId xmlns:a16="http://schemas.microsoft.com/office/drawing/2014/main" id="{127A4042-3EB8-49F2-8F56-EAAB99401596}"/>
              </a:ext>
            </a:extLst>
          </p:cNvPr>
          <p:cNvSpPr>
            <a:spLocks xmlns:a="http://schemas.openxmlformats.org/drawingml/2006/main" noGrp="1"/>
          </p:cNvSpPr>
          <p:nvPr/>
        </p:nvSpPr>
        <p:spPr>
          <a:xfrm xmlns:a="http://schemas.openxmlformats.org/drawingml/2006/main">
            <a:off x="658368" y="3227832"/>
            <a:ext cx="0" cy="438912"/>
          </a:xfrm>
          <a:prstGeom xmlns:a="http://schemas.openxmlformats.org/drawingml/2006/main" prst="line">
            <a:avLst/>
          </a:prstGeom>
          <a:noFill xmlns:a="http://schemas.openxmlformats.org/drawingml/2006/main"/>
          <a:ln xmlns:a="http://schemas.openxmlformats.org/drawingml/2006/main" w="19050">
            <a:solidFill>
              <a:srgbClr val="D9E4F5"/>
            </a:solidFill>
            <a:prstDash val="solid"/>
          </a:ln>
        </p:spPr>
      </p:sp>
      <p:sp>
        <p:nvSpPr>
          <p:cNvPr id="13" name="Text 10">
            <a:extLst xmlns:a="http://schemas.openxmlformats.org/drawingml/2006/main">
              <a:ext uri="{FF2B5EF4-FFF2-40B4-BE49-F238E27FC236}">
                <a16:creationId xmlns:a16="http://schemas.microsoft.com/office/drawing/2014/main" id="{4002BF0A-4639-43E2-AC18-7BA3B20F9718}"/>
              </a:ext>
            </a:extLst>
          </p:cNvPr>
          <p:cNvSpPr>
            <a:spLocks xmlns:a="http://schemas.openxmlformats.org/drawingml/2006/main" noGrp="1"/>
          </p:cNvSpPr>
          <p:nvPr/>
        </p:nvSpPr>
        <p:spPr>
          <a:xfrm xmlns:a="http://schemas.openxmlformats.org/drawingml/2006/main">
            <a:off x="960120" y="2953512"/>
            <a:ext cx="6126480" cy="6583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1D2A5C"/>
                </a:solidFill>
                <a:latin typeface="Calibri"/>
                <a:ea typeface="Calibri"/>
                <a:cs typeface="Calibri"/>
              </a:rPr>
              <a:t>Key committed  </a:t>
            </a:r>
            <a:r>
              <a:rPr sz="1000">
                <a:solidFill>
                  <a:srgbClr val="5F6B7A"/>
                </a:solidFill>
                <a:latin typeface="Calibri"/>
                <a:ea typeface="Calibri"/>
                <a:cs typeface="Calibri"/>
              </a:rPr>
              <a:t>A provider API key lands in a private repo — "just for now"</a:t>
            </a:r>
            <a:endParaRPr sz="1050"/>
          </a:p>
        </p:txBody>
      </p:sp>
      <p:sp>
        <p:nvSpPr>
          <p:cNvPr id="14" name="Shape 11">
            <a:extLst xmlns:a="http://schemas.openxmlformats.org/drawingml/2006/main">
              <a:ext uri="{FF2B5EF4-FFF2-40B4-BE49-F238E27FC236}">
                <a16:creationId xmlns:a16="http://schemas.microsoft.com/office/drawing/2014/main" id="{870F3C8F-0D41-457B-A74F-9176C0C941CF}"/>
              </a:ext>
            </a:extLst>
          </p:cNvPr>
          <p:cNvSpPr>
            <a:spLocks xmlns:a="http://schemas.openxmlformats.org/drawingml/2006/main" noGrp="1"/>
          </p:cNvSpPr>
          <p:nvPr/>
        </p:nvSpPr>
        <p:spPr>
          <a:xfrm xmlns:a="http://schemas.openxmlformats.org/drawingml/2006/main">
            <a:off x="566928" y="3685032"/>
            <a:ext cx="182880" cy="182880"/>
          </a:xfrm>
          <a:prstGeom xmlns:a="http://schemas.openxmlformats.org/drawingml/2006/main" prst="ellipse">
            <a:avLst/>
          </a:prstGeom>
          <a:solidFill xmlns:a="http://schemas.openxmlformats.org/drawingml/2006/main">
            <a:srgbClr val="29ABE2"/>
          </a:solidFill>
        </p:spPr>
      </p:sp>
      <p:sp>
        <p:nvSpPr>
          <p:cNvPr id="15" name="Shape 12">
            <a:extLst xmlns:a="http://schemas.openxmlformats.org/drawingml/2006/main">
              <a:ext uri="{FF2B5EF4-FFF2-40B4-BE49-F238E27FC236}">
                <a16:creationId xmlns:a16="http://schemas.microsoft.com/office/drawing/2014/main" id="{E36D29F4-2AD6-4639-B82A-0F7033794997}"/>
              </a:ext>
            </a:extLst>
          </p:cNvPr>
          <p:cNvSpPr>
            <a:spLocks xmlns:a="http://schemas.openxmlformats.org/drawingml/2006/main" noGrp="1"/>
          </p:cNvSpPr>
          <p:nvPr/>
        </p:nvSpPr>
        <p:spPr>
          <a:xfrm xmlns:a="http://schemas.openxmlformats.org/drawingml/2006/main">
            <a:off x="658368" y="3886200"/>
            <a:ext cx="0" cy="438912"/>
          </a:xfrm>
          <a:prstGeom xmlns:a="http://schemas.openxmlformats.org/drawingml/2006/main" prst="line">
            <a:avLst/>
          </a:prstGeom>
          <a:noFill xmlns:a="http://schemas.openxmlformats.org/drawingml/2006/main"/>
          <a:ln xmlns:a="http://schemas.openxmlformats.org/drawingml/2006/main" w="19050">
            <a:solidFill>
              <a:srgbClr val="D9E4F5"/>
            </a:solidFill>
            <a:prstDash val="solid"/>
          </a:ln>
        </p:spPr>
      </p:sp>
      <p:sp>
        <p:nvSpPr>
          <p:cNvPr id="16" name="Text 13">
            <a:extLst xmlns:a="http://schemas.openxmlformats.org/drawingml/2006/main">
              <a:ext uri="{FF2B5EF4-FFF2-40B4-BE49-F238E27FC236}">
                <a16:creationId xmlns:a16="http://schemas.microsoft.com/office/drawing/2014/main" id="{77630507-6A61-4154-9FDB-D8253C6C179E}"/>
              </a:ext>
            </a:extLst>
          </p:cNvPr>
          <p:cNvSpPr>
            <a:spLocks xmlns:a="http://schemas.openxmlformats.org/drawingml/2006/main" noGrp="1"/>
          </p:cNvSpPr>
          <p:nvPr/>
        </p:nvSpPr>
        <p:spPr>
          <a:xfrm xmlns:a="http://schemas.openxmlformats.org/drawingml/2006/main">
            <a:off x="960120" y="3611880"/>
            <a:ext cx="6126480" cy="6583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1D2A5C"/>
                </a:solidFill>
                <a:latin typeface="Calibri"/>
                <a:ea typeface="Calibri"/>
                <a:cs typeface="Calibri"/>
              </a:rPr>
              <a:t>Repo open-sourced  </a:t>
            </a:r>
            <a:r>
              <a:rPr sz="1000">
                <a:solidFill>
                  <a:srgbClr val="5F6B7A"/>
                </a:solidFill>
                <a:latin typeface="Calibri"/>
                <a:ea typeface="Calibri"/>
                <a:cs typeface="Calibri"/>
              </a:rPr>
              <a:t>A secrets sweep misses git history eight months later</a:t>
            </a:r>
            <a:endParaRPr sz="1050"/>
          </a:p>
        </p:txBody>
      </p:sp>
      <p:sp>
        <p:nvSpPr>
          <p:cNvPr id="17" name="Shape 14">
            <a:extLst xmlns:a="http://schemas.openxmlformats.org/drawingml/2006/main">
              <a:ext uri="{FF2B5EF4-FFF2-40B4-BE49-F238E27FC236}">
                <a16:creationId xmlns:a16="http://schemas.microsoft.com/office/drawing/2014/main" id="{435A2B19-2303-49C4-824F-17B46F23FB55}"/>
              </a:ext>
            </a:extLst>
          </p:cNvPr>
          <p:cNvSpPr>
            <a:spLocks xmlns:a="http://schemas.openxmlformats.org/drawingml/2006/main" noGrp="1"/>
          </p:cNvSpPr>
          <p:nvPr/>
        </p:nvSpPr>
        <p:spPr>
          <a:xfrm xmlns:a="http://schemas.openxmlformats.org/drawingml/2006/main">
            <a:off x="566928" y="4343400"/>
            <a:ext cx="182880" cy="182880"/>
          </a:xfrm>
          <a:prstGeom xmlns:a="http://schemas.openxmlformats.org/drawingml/2006/main" prst="ellipse">
            <a:avLst/>
          </a:prstGeom>
          <a:solidFill xmlns:a="http://schemas.openxmlformats.org/drawingml/2006/main">
            <a:srgbClr val="F58220"/>
          </a:solidFill>
        </p:spPr>
      </p:sp>
      <p:sp>
        <p:nvSpPr>
          <p:cNvPr id="18" name="Shape 15">
            <a:extLst xmlns:a="http://schemas.openxmlformats.org/drawingml/2006/main">
              <a:ext uri="{FF2B5EF4-FFF2-40B4-BE49-F238E27FC236}">
                <a16:creationId xmlns:a16="http://schemas.microsoft.com/office/drawing/2014/main" id="{1ABE6B02-1E0E-4C4D-A1F1-F2FB2D625EB0}"/>
              </a:ext>
            </a:extLst>
          </p:cNvPr>
          <p:cNvSpPr>
            <a:spLocks xmlns:a="http://schemas.openxmlformats.org/drawingml/2006/main" noGrp="1"/>
          </p:cNvSpPr>
          <p:nvPr/>
        </p:nvSpPr>
        <p:spPr>
          <a:xfrm xmlns:a="http://schemas.openxmlformats.org/drawingml/2006/main">
            <a:off x="658368" y="4544568"/>
            <a:ext cx="0" cy="438912"/>
          </a:xfrm>
          <a:prstGeom xmlns:a="http://schemas.openxmlformats.org/drawingml/2006/main" prst="line">
            <a:avLst/>
          </a:prstGeom>
          <a:noFill xmlns:a="http://schemas.openxmlformats.org/drawingml/2006/main"/>
          <a:ln xmlns:a="http://schemas.openxmlformats.org/drawingml/2006/main" w="19050">
            <a:solidFill>
              <a:srgbClr val="D9E4F5"/>
            </a:solidFill>
            <a:prstDash val="solid"/>
          </a:ln>
        </p:spPr>
      </p:sp>
      <p:sp>
        <p:nvSpPr>
          <p:cNvPr id="19" name="Text 16">
            <a:extLst xmlns:a="http://schemas.openxmlformats.org/drawingml/2006/main">
              <a:ext uri="{FF2B5EF4-FFF2-40B4-BE49-F238E27FC236}">
                <a16:creationId xmlns:a16="http://schemas.microsoft.com/office/drawing/2014/main" id="{D692503C-1D61-4DD6-9EED-646B1F63FA8D}"/>
              </a:ext>
            </a:extLst>
          </p:cNvPr>
          <p:cNvSpPr>
            <a:spLocks xmlns:a="http://schemas.openxmlformats.org/drawingml/2006/main" noGrp="1"/>
          </p:cNvSpPr>
          <p:nvPr/>
        </p:nvSpPr>
        <p:spPr>
          <a:xfrm xmlns:a="http://schemas.openxmlformats.org/drawingml/2006/main">
            <a:off x="960120" y="4270248"/>
            <a:ext cx="6126480" cy="6583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1D2A5C"/>
                </a:solidFill>
                <a:latin typeface="Calibri"/>
                <a:ea typeface="Calibri"/>
                <a:cs typeface="Calibri"/>
              </a:rPr>
              <a:t>Scraped in hours  </a:t>
            </a:r>
            <a:r>
              <a:rPr sz="1000">
                <a:solidFill>
                  <a:srgbClr val="5F6B7A"/>
                </a:solidFill>
                <a:latin typeface="Calibri"/>
                <a:ea typeface="Calibri"/>
                <a:cs typeface="Calibri"/>
              </a:rPr>
              <a:t>Automated scanners find the key; fraudulent usage accrues over a weekend</a:t>
            </a:r>
            <a:endParaRPr sz="1050"/>
          </a:p>
        </p:txBody>
      </p:sp>
      <p:sp>
        <p:nvSpPr>
          <p:cNvPr id="20" name="Shape 17">
            <a:extLst xmlns:a="http://schemas.openxmlformats.org/drawingml/2006/main">
              <a:ext uri="{FF2B5EF4-FFF2-40B4-BE49-F238E27FC236}">
                <a16:creationId xmlns:a16="http://schemas.microsoft.com/office/drawing/2014/main" id="{E83BA85B-939A-4DB4-867D-780665C2C0C8}"/>
              </a:ext>
            </a:extLst>
          </p:cNvPr>
          <p:cNvSpPr>
            <a:spLocks xmlns:a="http://schemas.openxmlformats.org/drawingml/2006/main" noGrp="1"/>
          </p:cNvSpPr>
          <p:nvPr/>
        </p:nvSpPr>
        <p:spPr>
          <a:xfrm xmlns:a="http://schemas.openxmlformats.org/drawingml/2006/main">
            <a:off x="566928" y="5001768"/>
            <a:ext cx="182880" cy="182880"/>
          </a:xfrm>
          <a:prstGeom xmlns:a="http://schemas.openxmlformats.org/drawingml/2006/main" prst="ellipse">
            <a:avLst/>
          </a:prstGeom>
          <a:solidFill xmlns:a="http://schemas.openxmlformats.org/drawingml/2006/main">
            <a:srgbClr val="8DC63F"/>
          </a:solidFill>
        </p:spPr>
      </p:sp>
      <p:sp>
        <p:nvSpPr>
          <p:cNvPr id="21" name="Shape 18">
            <a:extLst xmlns:a="http://schemas.openxmlformats.org/drawingml/2006/main">
              <a:ext uri="{FF2B5EF4-FFF2-40B4-BE49-F238E27FC236}">
                <a16:creationId xmlns:a16="http://schemas.microsoft.com/office/drawing/2014/main" id="{BA402D4F-517C-4325-884F-D30A9E6EBB88}"/>
              </a:ext>
            </a:extLst>
          </p:cNvPr>
          <p:cNvSpPr>
            <a:spLocks xmlns:a="http://schemas.openxmlformats.org/drawingml/2006/main" noGrp="1"/>
          </p:cNvSpPr>
          <p:nvPr/>
        </p:nvSpPr>
        <p:spPr>
          <a:xfrm xmlns:a="http://schemas.openxmlformats.org/drawingml/2006/main">
            <a:off x="658368" y="5202936"/>
            <a:ext cx="0" cy="438912"/>
          </a:xfrm>
          <a:prstGeom xmlns:a="http://schemas.openxmlformats.org/drawingml/2006/main" prst="line">
            <a:avLst/>
          </a:prstGeom>
          <a:noFill xmlns:a="http://schemas.openxmlformats.org/drawingml/2006/main"/>
          <a:ln xmlns:a="http://schemas.openxmlformats.org/drawingml/2006/main" w="19050">
            <a:solidFill>
              <a:srgbClr val="D9E4F5"/>
            </a:solidFill>
            <a:prstDash val="solid"/>
          </a:ln>
        </p:spPr>
      </p:sp>
      <p:sp>
        <p:nvSpPr>
          <p:cNvPr id="22" name="Text 19">
            <a:extLst xmlns:a="http://schemas.openxmlformats.org/drawingml/2006/main">
              <a:ext uri="{FF2B5EF4-FFF2-40B4-BE49-F238E27FC236}">
                <a16:creationId xmlns:a16="http://schemas.microsoft.com/office/drawing/2014/main" id="{DDE7CC3C-4A05-49D3-809D-0A978775A65A}"/>
              </a:ext>
            </a:extLst>
          </p:cNvPr>
          <p:cNvSpPr>
            <a:spLocks xmlns:a="http://schemas.openxmlformats.org/drawingml/2006/main" noGrp="1"/>
          </p:cNvSpPr>
          <p:nvPr/>
        </p:nvSpPr>
        <p:spPr>
          <a:xfrm xmlns:a="http://schemas.openxmlformats.org/drawingml/2006/main">
            <a:off x="960120" y="4928616"/>
            <a:ext cx="6126480" cy="6583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1D2A5C"/>
                </a:solidFill>
                <a:latin typeface="Calibri"/>
                <a:ea typeface="Calibri"/>
                <a:cs typeface="Calibri"/>
              </a:rPr>
              <a:t>Contain  </a:t>
            </a:r>
            <a:r>
              <a:rPr sz="1000">
                <a:solidFill>
                  <a:srgbClr val="5F6B7A"/>
                </a:solidFill>
                <a:latin typeface="Calibri"/>
                <a:ea typeface="Calibri"/>
                <a:cs typeface="Calibri"/>
              </a:rPr>
              <a:t>Rotate ALL provider keys (assume lateral discovery); enable spend limits + IP allowlists</a:t>
            </a:r>
            <a:endParaRPr sz="1050"/>
          </a:p>
        </p:txBody>
      </p:sp>
      <p:sp>
        <p:nvSpPr>
          <p:cNvPr id="23" name="Shape 20">
            <a:extLst xmlns:a="http://schemas.openxmlformats.org/drawingml/2006/main">
              <a:ext uri="{FF2B5EF4-FFF2-40B4-BE49-F238E27FC236}">
                <a16:creationId xmlns:a16="http://schemas.microsoft.com/office/drawing/2014/main" id="{39670CD7-3391-4E31-9ECE-243E7651421E}"/>
              </a:ext>
            </a:extLst>
          </p:cNvPr>
          <p:cNvSpPr>
            <a:spLocks xmlns:a="http://schemas.openxmlformats.org/drawingml/2006/main" noGrp="1"/>
          </p:cNvSpPr>
          <p:nvPr/>
        </p:nvSpPr>
        <p:spPr>
          <a:xfrm xmlns:a="http://schemas.openxmlformats.org/drawingml/2006/main">
            <a:off x="566928" y="5660136"/>
            <a:ext cx="182880" cy="182880"/>
          </a:xfrm>
          <a:prstGeom xmlns:a="http://schemas.openxmlformats.org/drawingml/2006/main" prst="ellipse">
            <a:avLst/>
          </a:prstGeom>
          <a:solidFill xmlns:a="http://schemas.openxmlformats.org/drawingml/2006/main">
            <a:srgbClr val="E8503A"/>
          </a:solidFill>
        </p:spPr>
      </p:sp>
      <p:sp>
        <p:nvSpPr>
          <p:cNvPr id="24" name="Text 21">
            <a:extLst xmlns:a="http://schemas.openxmlformats.org/drawingml/2006/main">
              <a:ext uri="{FF2B5EF4-FFF2-40B4-BE49-F238E27FC236}">
                <a16:creationId xmlns:a16="http://schemas.microsoft.com/office/drawing/2014/main" id="{F7AE047F-FF6D-4EE1-9C0F-8309F992EEDA}"/>
              </a:ext>
            </a:extLst>
          </p:cNvPr>
          <p:cNvSpPr>
            <a:spLocks xmlns:a="http://schemas.openxmlformats.org/drawingml/2006/main" noGrp="1"/>
          </p:cNvSpPr>
          <p:nvPr/>
        </p:nvSpPr>
        <p:spPr>
          <a:xfrm xmlns:a="http://schemas.openxmlformats.org/drawingml/2006/main">
            <a:off x="960120" y="5586984"/>
            <a:ext cx="6126480" cy="65836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b="1">
                <a:solidFill>
                  <a:srgbClr val="1D2A5C"/>
                </a:solidFill>
                <a:latin typeface="Calibri"/>
                <a:ea typeface="Calibri"/>
                <a:cs typeface="Calibri"/>
              </a:rPr>
              <a:t>Re-architect  </a:t>
            </a:r>
            <a:r>
              <a:rPr sz="1000">
                <a:solidFill>
                  <a:srgbClr val="5F6B7A"/>
                </a:solidFill>
                <a:latin typeface="Calibri"/>
                <a:ea typeface="Calibri"/>
                <a:cs typeface="Calibri"/>
              </a:rPr>
              <a:t>Secrets to platform store; SecretStr + masking; gitleaks required check + org push protection</a:t>
            </a:r>
            <a:endParaRPr sz="1050"/>
          </a:p>
        </p:txBody>
      </p:sp>
      <p:sp>
        <p:nvSpPr>
          <p:cNvPr id="25" name="Shape 22">
            <a:extLst xmlns:a="http://schemas.openxmlformats.org/drawingml/2006/main">
              <a:ext uri="{FF2B5EF4-FFF2-40B4-BE49-F238E27FC236}">
                <a16:creationId xmlns:a16="http://schemas.microsoft.com/office/drawing/2014/main" id="{DF883F3E-57CD-4328-A164-DB8C9928A9FB}"/>
              </a:ext>
            </a:extLst>
          </p:cNvPr>
          <p:cNvSpPr>
            <a:spLocks xmlns:a="http://schemas.openxmlformats.org/drawingml/2006/main" noGrp="1"/>
          </p:cNvSpPr>
          <p:nvPr/>
        </p:nvSpPr>
        <p:spPr>
          <a:xfrm xmlns:a="http://schemas.openxmlformats.org/drawingml/2006/main">
            <a:off x="7406640" y="1938528"/>
            <a:ext cx="4279392" cy="4160520"/>
          </a:xfrm>
          <a:prstGeom xmlns:a="http://schemas.openxmlformats.org/drawingml/2006/main" prst="roundRect">
            <a:avLst>
              <a:gd name="adj" fmla="val 1538"/>
            </a:avLst>
          </a:prstGeom>
          <a:solidFill xmlns:a="http://schemas.openxmlformats.org/drawingml/2006/main">
            <a:srgbClr val="EAF4DC"/>
          </a:solidFill>
        </p:spPr>
      </p:sp>
      <p:sp>
        <p:nvSpPr>
          <p:cNvPr id="26" name="Text 23">
            <a:extLst xmlns:a="http://schemas.openxmlformats.org/drawingml/2006/main">
              <a:ext uri="{FF2B5EF4-FFF2-40B4-BE49-F238E27FC236}">
                <a16:creationId xmlns:a16="http://schemas.microsoft.com/office/drawing/2014/main" id="{9A7D0668-9C9F-4F0F-B980-1BD816CFF64E}"/>
              </a:ext>
            </a:extLst>
          </p:cNvPr>
          <p:cNvSpPr>
            <a:spLocks xmlns:a="http://schemas.openxmlformats.org/drawingml/2006/main" noGrp="1"/>
          </p:cNvSpPr>
          <p:nvPr/>
        </p:nvSpPr>
        <p:spPr>
          <a:xfrm xmlns:a="http://schemas.openxmlformats.org/drawingml/2006/main">
            <a:off x="7607808" y="2103120"/>
            <a:ext cx="3877056"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b="1" spc="150">
                <a:solidFill>
                  <a:srgbClr val="4A7A15"/>
                </a:solidFill>
                <a:latin typeface="Calibri"/>
                <a:ea typeface="Calibri"/>
                <a:cs typeface="Calibri"/>
              </a:rPr>
              <a:t>LESSONS FOR YOUR SERVICE</a:t>
            </a:r>
            <a:endParaRPr sz="950"/>
          </a:p>
        </p:txBody>
      </p:sp>
      <p:sp>
        <p:nvSpPr>
          <p:cNvPr id="27" name="Text 24">
            <a:extLst xmlns:a="http://schemas.openxmlformats.org/drawingml/2006/main">
              <a:ext uri="{FF2B5EF4-FFF2-40B4-BE49-F238E27FC236}">
                <a16:creationId xmlns:a16="http://schemas.microsoft.com/office/drawing/2014/main" id="{8059C617-BEBB-4FA1-9576-30A54D05B9E1}"/>
              </a:ext>
            </a:extLst>
          </p:cNvPr>
          <p:cNvSpPr>
            <a:spLocks xmlns:a="http://schemas.openxmlformats.org/drawingml/2006/main" noGrp="1"/>
          </p:cNvSpPr>
          <p:nvPr/>
        </p:nvSpPr>
        <p:spPr>
          <a:xfrm xmlns:a="http://schemas.openxmlformats.org/drawingml/2006/main">
            <a:off x="7607808" y="2487168"/>
            <a:ext cx="256032"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5A8F1F"/>
                </a:solidFill>
                <a:latin typeface="Calibri"/>
                <a:ea typeface="Calibri"/>
                <a:cs typeface="Calibri"/>
              </a:rPr>
              <a:t>✓</a:t>
            </a:r>
            <a:endParaRPr sz="1100"/>
          </a:p>
        </p:txBody>
      </p:sp>
      <p:sp>
        <p:nvSpPr>
          <p:cNvPr id="28" name="Text 25">
            <a:extLst xmlns:a="http://schemas.openxmlformats.org/drawingml/2006/main">
              <a:ext uri="{FF2B5EF4-FFF2-40B4-BE49-F238E27FC236}">
                <a16:creationId xmlns:a16="http://schemas.microsoft.com/office/drawing/2014/main" id="{8B359837-1182-46F4-B94A-8ABE29B4C417}"/>
              </a:ext>
            </a:extLst>
          </p:cNvPr>
          <p:cNvSpPr>
            <a:spLocks xmlns:a="http://schemas.openxmlformats.org/drawingml/2006/main" noGrp="1"/>
          </p:cNvSpPr>
          <p:nvPr/>
        </p:nvSpPr>
        <p:spPr>
          <a:xfrm xmlns:a="http://schemas.openxmlformats.org/drawingml/2006/main">
            <a:off x="7909560" y="2468880"/>
            <a:ext cx="3547872"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3F5A18"/>
                </a:solidFill>
                <a:latin typeface="Calibri"/>
                <a:ea typeface="Calibri"/>
                <a:cs typeface="Calibri"/>
              </a:rPr>
              <a:t>Rotate ALL keys, not just the leaked one — assume lateral discovery</a:t>
            </a:r>
            <a:endParaRPr sz="1000"/>
          </a:p>
        </p:txBody>
      </p:sp>
      <p:sp>
        <p:nvSpPr>
          <p:cNvPr id="29" name="Text 26">
            <a:extLst xmlns:a="http://schemas.openxmlformats.org/drawingml/2006/main">
              <a:ext uri="{FF2B5EF4-FFF2-40B4-BE49-F238E27FC236}">
                <a16:creationId xmlns:a16="http://schemas.microsoft.com/office/drawing/2014/main" id="{38949359-3D19-4E86-A16D-920FA1B8816A}"/>
              </a:ext>
            </a:extLst>
          </p:cNvPr>
          <p:cNvSpPr>
            <a:spLocks xmlns:a="http://schemas.openxmlformats.org/drawingml/2006/main" noGrp="1"/>
          </p:cNvSpPr>
          <p:nvPr/>
        </p:nvSpPr>
        <p:spPr>
          <a:xfrm xmlns:a="http://schemas.openxmlformats.org/drawingml/2006/main">
            <a:off x="7607808" y="3355848"/>
            <a:ext cx="256032"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5A8F1F"/>
                </a:solidFill>
                <a:latin typeface="Calibri"/>
                <a:ea typeface="Calibri"/>
                <a:cs typeface="Calibri"/>
              </a:rPr>
              <a:t>✓</a:t>
            </a:r>
            <a:endParaRPr sz="1100"/>
          </a:p>
        </p:txBody>
      </p:sp>
      <p:sp>
        <p:nvSpPr>
          <p:cNvPr id="30" name="Text 27">
            <a:extLst xmlns:a="http://schemas.openxmlformats.org/drawingml/2006/main">
              <a:ext uri="{FF2B5EF4-FFF2-40B4-BE49-F238E27FC236}">
                <a16:creationId xmlns:a16="http://schemas.microsoft.com/office/drawing/2014/main" id="{5BFBDC98-2683-4CE4-A259-7163C95925B4}"/>
              </a:ext>
            </a:extLst>
          </p:cNvPr>
          <p:cNvSpPr>
            <a:spLocks xmlns:a="http://schemas.openxmlformats.org/drawingml/2006/main" noGrp="1"/>
          </p:cNvSpPr>
          <p:nvPr/>
        </p:nvSpPr>
        <p:spPr>
          <a:xfrm xmlns:a="http://schemas.openxmlformats.org/drawingml/2006/main">
            <a:off x="7909560" y="3337560"/>
            <a:ext cx="3547872"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3F5A18"/>
                </a:solidFill>
                <a:latin typeface="Calibri"/>
                <a:ea typeface="Calibri"/>
                <a:cs typeface="Calibri"/>
              </a:rPr>
              <a:t>Masking was the one control that held: logs confirmed keys never entered them</a:t>
            </a:r>
            <a:endParaRPr sz="1000"/>
          </a:p>
        </p:txBody>
      </p:sp>
      <p:sp>
        <p:nvSpPr>
          <p:cNvPr id="31" name="Text 28">
            <a:extLst xmlns:a="http://schemas.openxmlformats.org/drawingml/2006/main">
              <a:ext uri="{FF2B5EF4-FFF2-40B4-BE49-F238E27FC236}">
                <a16:creationId xmlns:a16="http://schemas.microsoft.com/office/drawing/2014/main" id="{836D65B5-9D84-472A-98AA-150D7F46CD24}"/>
              </a:ext>
            </a:extLst>
          </p:cNvPr>
          <p:cNvSpPr>
            <a:spLocks xmlns:a="http://schemas.openxmlformats.org/drawingml/2006/main" noGrp="1"/>
          </p:cNvSpPr>
          <p:nvPr/>
        </p:nvSpPr>
        <p:spPr>
          <a:xfrm xmlns:a="http://schemas.openxmlformats.org/drawingml/2006/main">
            <a:off x="7607808" y="4224528"/>
            <a:ext cx="256032"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5A8F1F"/>
                </a:solidFill>
                <a:latin typeface="Calibri"/>
                <a:ea typeface="Calibri"/>
                <a:cs typeface="Calibri"/>
              </a:rPr>
              <a:t>✓</a:t>
            </a:r>
            <a:endParaRPr sz="1100"/>
          </a:p>
        </p:txBody>
      </p:sp>
      <p:sp>
        <p:nvSpPr>
          <p:cNvPr id="32" name="Text 29">
            <a:extLst xmlns:a="http://schemas.openxmlformats.org/drawingml/2006/main">
              <a:ext uri="{FF2B5EF4-FFF2-40B4-BE49-F238E27FC236}">
                <a16:creationId xmlns:a16="http://schemas.microsoft.com/office/drawing/2014/main" id="{4C00A204-B707-4648-95C3-F5FAE80A0300}"/>
              </a:ext>
            </a:extLst>
          </p:cNvPr>
          <p:cNvSpPr>
            <a:spLocks xmlns:a="http://schemas.openxmlformats.org/drawingml/2006/main" noGrp="1"/>
          </p:cNvSpPr>
          <p:nvPr/>
        </p:nvSpPr>
        <p:spPr>
          <a:xfrm xmlns:a="http://schemas.openxmlformats.org/drawingml/2006/main">
            <a:off x="7909560" y="4206240"/>
            <a:ext cx="3547872"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3F5A18"/>
                </a:solidFill>
                <a:latin typeface="Calibri"/>
                <a:ea typeface="Calibri"/>
                <a:cs typeface="Calibri"/>
              </a:rPr>
              <a:t>gitleaks + org push protection makes this CLASS of incident impossible, not just this instance</a:t>
            </a:r>
            <a:endParaRPr sz="1000"/>
          </a:p>
        </p:txBody>
      </p:sp>
      <p:sp>
        <p:nvSpPr>
          <p:cNvPr id="33" name="Text 30">
            <a:extLst xmlns:a="http://schemas.openxmlformats.org/drawingml/2006/main">
              <a:ext uri="{FF2B5EF4-FFF2-40B4-BE49-F238E27FC236}">
                <a16:creationId xmlns:a16="http://schemas.microsoft.com/office/drawing/2014/main" id="{BAD1D2A5-3BA0-4003-AB94-9C5DC57BD701}"/>
              </a:ext>
            </a:extLst>
          </p:cNvPr>
          <p:cNvSpPr>
            <a:spLocks xmlns:a="http://schemas.openxmlformats.org/drawingml/2006/main" noGrp="1"/>
          </p:cNvSpPr>
          <p:nvPr/>
        </p:nvSpPr>
        <p:spPr>
          <a:xfrm xmlns:a="http://schemas.openxmlformats.org/drawingml/2006/main">
            <a:off x="7607808" y="5093208"/>
            <a:ext cx="256032"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5A8F1F"/>
                </a:solidFill>
                <a:latin typeface="Calibri"/>
                <a:ea typeface="Calibri"/>
                <a:cs typeface="Calibri"/>
              </a:rPr>
              <a:t>✓</a:t>
            </a:r>
            <a:endParaRPr sz="1100"/>
          </a:p>
        </p:txBody>
      </p:sp>
      <p:sp>
        <p:nvSpPr>
          <p:cNvPr id="34" name="Text 31">
            <a:extLst xmlns:a="http://schemas.openxmlformats.org/drawingml/2006/main">
              <a:ext uri="{FF2B5EF4-FFF2-40B4-BE49-F238E27FC236}">
                <a16:creationId xmlns:a16="http://schemas.microsoft.com/office/drawing/2014/main" id="{F28AF5A6-ED71-4A95-9A2D-AC83B6CC1C88}"/>
              </a:ext>
            </a:extLst>
          </p:cNvPr>
          <p:cNvSpPr>
            <a:spLocks xmlns:a="http://schemas.openxmlformats.org/drawingml/2006/main" noGrp="1"/>
          </p:cNvSpPr>
          <p:nvPr/>
        </p:nvSpPr>
        <p:spPr>
          <a:xfrm xmlns:a="http://schemas.openxmlformats.org/drawingml/2006/main">
            <a:off x="7909560" y="5074920"/>
            <a:ext cx="3547872"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3F5A18"/>
                </a:solidFill>
                <a:latin typeface="Calibri"/>
                <a:ea typeface="Calibri"/>
                <a:cs typeface="Calibri"/>
              </a:rPr>
              <a:t>Client-side controls still matter even with provider spend limits and allowlists</a:t>
            </a:r>
            <a:endParaRPr sz="1000"/>
          </a:p>
        </p:txBody>
      </p:sp>
    </p:spTree>
    <p:extLst>
      <p:ext uri="{BB962C8B-B14F-4D97-AF65-F5344CB8AC3E}">
        <p14:creationId xmlns:p14="http://schemas.microsoft.com/office/powerpoint/2010/main" val="394522234"/>
      </p:ext>
    </p:extLst>
  </p:cSld>
</p:sld>
</file>

<file path=ppt/slides/slide14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E9A4D1F-C5CE-4946-8977-A52F03277584}"/>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Quick check — Module 6</a:t>
            </a:r>
            <a:endParaRPr sz="2600"/>
          </a:p>
        </p:txBody>
      </p:sp>
      <p:sp>
        <p:nvSpPr>
          <p:cNvPr id="3" name="Text 1">
            <a:extLst xmlns:a="http://schemas.openxmlformats.org/drawingml/2006/main">
              <a:ext uri="{FF2B5EF4-FFF2-40B4-BE49-F238E27FC236}">
                <a16:creationId xmlns:a16="http://schemas.microsoft.com/office/drawing/2014/main" id="{9272C2D3-92BE-4AEF-BA64-A8135823A103}"/>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فحص سريع — الوحدة 6</a:t>
            </a:r>
            <a:endParaRPr sz="1300"/>
          </a:p>
        </p:txBody>
      </p:sp>
      <p:pic>
        <p:nvPicPr>
          <p:cNvPr id="40" name="Image 0"/>
          <p:cNvPicPr>
            <a:picLocks xmlns:a="http://schemas.openxmlformats.org/drawingml/2006/main" noChangeAspect="1"/>
          </p:cNvPicPr>
          <p:nvPr/>
        </p:nvPicPr>
        <p:blipFill>
          <a:blip xmlns:r="http://schemas.openxmlformats.org/officeDocument/2006/relationships" xmlns:a="http://schemas.openxmlformats.org/drawingml/2006/main" r:embed="R8e6c1391d58e42a7"/>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473AF04D-1467-4979-9F11-3583C0A2C293}"/>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A09CFEE5-E0B6-4D20-A2D7-66C58C9DE6ED}"/>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6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7E9A8754-A1FA-4B55-9508-D34315523CEC}"/>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142</a:t>
            </a:r>
            <a:endParaRPr sz="850"/>
          </a:p>
        </p:txBody>
      </p:sp>
      <p:sp>
        <p:nvSpPr>
          <p:cNvPr id="8" name="Text 5">
            <a:extLst xmlns:a="http://schemas.openxmlformats.org/drawingml/2006/main">
              <a:ext uri="{FF2B5EF4-FFF2-40B4-BE49-F238E27FC236}">
                <a16:creationId xmlns:a16="http://schemas.microsoft.com/office/drawing/2014/main" id="{E8952FBF-10E3-4EB8-B3EC-50460B832B57}"/>
              </a:ext>
            </a:extLst>
          </p:cNvPr>
          <p:cNvSpPr>
            <a:spLocks xmlns:a="http://schemas.openxmlformats.org/drawingml/2006/main" noGrp="1"/>
          </p:cNvSpPr>
          <p:nvPr/>
        </p:nvSpPr>
        <p:spPr>
          <a:xfrm xmlns:a="http://schemas.openxmlformats.org/drawingml/2006/main">
            <a:off x="502920" y="1444752"/>
            <a:ext cx="1920240" cy="310896"/>
          </a:xfrm>
          <a:prstGeom xmlns:a="http://schemas.openxmlformats.org/drawingml/2006/main" prst="roundRect">
            <a:avLst>
              <a:gd name="adj" fmla="val 17647"/>
            </a:avLst>
          </a:prstGeom>
          <a:solidFill xmlns:a="http://schemas.openxmlformats.org/drawingml/2006/main">
            <a:srgbClr val="7B61A6"/>
          </a:solidFill>
        </p:spPr>
        <p:txBody>
          <a:bodyPr xmlns:a="http://schemas.openxmlformats.org/drawingml/2006/main" wrap="square"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KNOWLEDGE CHECK</a:t>
            </a:r>
            <a:endParaRPr sz="950"/>
          </a:p>
        </p:txBody>
      </p:sp>
      <p:sp>
        <p:nvSpPr>
          <p:cNvPr id="9" name="Text 6">
            <a:extLst xmlns:a="http://schemas.openxmlformats.org/drawingml/2006/main">
              <a:ext uri="{FF2B5EF4-FFF2-40B4-BE49-F238E27FC236}">
                <a16:creationId xmlns:a16="http://schemas.microsoft.com/office/drawing/2014/main" id="{E22CBC9E-19D7-43BB-BCFC-F5EF82F85B09}"/>
              </a:ext>
            </a:extLst>
          </p:cNvPr>
          <p:cNvSpPr>
            <a:spLocks xmlns:a="http://schemas.openxmlformats.org/drawingml/2006/main" noGrp="1"/>
          </p:cNvSpPr>
          <p:nvPr/>
        </p:nvSpPr>
        <p:spPr>
          <a:xfrm xmlns:a="http://schemas.openxmlformats.org/drawingml/2006/main">
            <a:off x="502920" y="1920240"/>
            <a:ext cx="544068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b="1">
                <a:solidFill>
                  <a:srgbClr val="1D2A5C"/>
                </a:solidFill>
                <a:latin typeface="Calibri"/>
                <a:ea typeface="Calibri"/>
                <a:cs typeface="Calibri"/>
              </a:rPr>
              <a:t>Q1. A secret was committed and force-push-removed from main. Is the incident over?</a:t>
            </a:r>
            <a:endParaRPr sz="1200"/>
          </a:p>
        </p:txBody>
      </p:sp>
      <p:sp>
        <p:nvSpPr>
          <p:cNvPr id="10" name="Shape 7">
            <a:extLst xmlns:a="http://schemas.openxmlformats.org/drawingml/2006/main">
              <a:ext uri="{FF2B5EF4-FFF2-40B4-BE49-F238E27FC236}">
                <a16:creationId xmlns:a16="http://schemas.microsoft.com/office/drawing/2014/main" id="{62BAE30A-BD69-4F43-8796-14D0F709CFC7}"/>
              </a:ext>
            </a:extLst>
          </p:cNvPr>
          <p:cNvSpPr>
            <a:spLocks xmlns:a="http://schemas.openxmlformats.org/drawingml/2006/main" noGrp="1"/>
          </p:cNvSpPr>
          <p:nvPr/>
        </p:nvSpPr>
        <p:spPr>
          <a:xfrm xmlns:a="http://schemas.openxmlformats.org/drawingml/2006/main">
            <a:off x="502920" y="2788920"/>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11" name="Text 8">
            <a:extLst xmlns:a="http://schemas.openxmlformats.org/drawingml/2006/main">
              <a:ext uri="{FF2B5EF4-FFF2-40B4-BE49-F238E27FC236}">
                <a16:creationId xmlns:a16="http://schemas.microsoft.com/office/drawing/2014/main" id="{D06536B7-91CC-46A0-A487-D2F2CDCFB701}"/>
              </a:ext>
            </a:extLst>
          </p:cNvPr>
          <p:cNvSpPr>
            <a:spLocks xmlns:a="http://schemas.openxmlformats.org/drawingml/2006/main" noGrp="1"/>
          </p:cNvSpPr>
          <p:nvPr/>
        </p:nvSpPr>
        <p:spPr>
          <a:xfrm xmlns:a="http://schemas.openxmlformats.org/drawingml/2006/main">
            <a:off x="612648" y="2907792"/>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A</a:t>
            </a:r>
            <a:endParaRPr sz="1100"/>
          </a:p>
        </p:txBody>
      </p:sp>
      <p:sp>
        <p:nvSpPr>
          <p:cNvPr id="12" name="Text 9">
            <a:extLst xmlns:a="http://schemas.openxmlformats.org/drawingml/2006/main">
              <a:ext uri="{FF2B5EF4-FFF2-40B4-BE49-F238E27FC236}">
                <a16:creationId xmlns:a16="http://schemas.microsoft.com/office/drawing/2014/main" id="{64E51515-0381-46C4-B751-9EEFD413BC55}"/>
              </a:ext>
            </a:extLst>
          </p:cNvPr>
          <p:cNvSpPr>
            <a:spLocks xmlns:a="http://schemas.openxmlformats.org/drawingml/2006/main" noGrp="1"/>
          </p:cNvSpPr>
          <p:nvPr/>
        </p:nvSpPr>
        <p:spPr>
          <a:xfrm xmlns:a="http://schemas.openxmlformats.org/drawingml/2006/main">
            <a:off x="1033272" y="2788920"/>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Yes — the commit is gone</a:t>
            </a:r>
            <a:endParaRPr sz="1050"/>
          </a:p>
        </p:txBody>
      </p:sp>
      <p:sp>
        <p:nvSpPr>
          <p:cNvPr id="13" name="Shape 10">
            <a:extLst xmlns:a="http://schemas.openxmlformats.org/drawingml/2006/main">
              <a:ext uri="{FF2B5EF4-FFF2-40B4-BE49-F238E27FC236}">
                <a16:creationId xmlns:a16="http://schemas.microsoft.com/office/drawing/2014/main" id="{2EE3E90C-10DC-4B53-AFCD-D9E0E6106AE4}"/>
              </a:ext>
            </a:extLst>
          </p:cNvPr>
          <p:cNvSpPr>
            <a:spLocks xmlns:a="http://schemas.openxmlformats.org/drawingml/2006/main" noGrp="1"/>
          </p:cNvSpPr>
          <p:nvPr/>
        </p:nvSpPr>
        <p:spPr>
          <a:xfrm xmlns:a="http://schemas.openxmlformats.org/drawingml/2006/main">
            <a:off x="502920" y="3447288"/>
            <a:ext cx="5440680" cy="548640"/>
          </a:xfrm>
          <a:prstGeom xmlns:a="http://schemas.openxmlformats.org/drawingml/2006/main" prst="roundRect">
            <a:avLst>
              <a:gd name="adj" fmla="val 10000"/>
            </a:avLst>
          </a:prstGeom>
          <a:solidFill xmlns:a="http://schemas.openxmlformats.org/drawingml/2006/main">
            <a:srgbClr val="D4F1EE"/>
          </a:solidFill>
          <a:ln xmlns:a="http://schemas.openxmlformats.org/drawingml/2006/main" w="19050">
            <a:solidFill>
              <a:srgbClr val="00A79D"/>
            </a:solidFill>
            <a:prstDash val="solid"/>
          </a:ln>
        </p:spPr>
      </p:sp>
      <p:sp>
        <p:nvSpPr>
          <p:cNvPr id="14" name="Text 11">
            <a:extLst xmlns:a="http://schemas.openxmlformats.org/drawingml/2006/main">
              <a:ext uri="{FF2B5EF4-FFF2-40B4-BE49-F238E27FC236}">
                <a16:creationId xmlns:a16="http://schemas.microsoft.com/office/drawing/2014/main" id="{FA170D44-ACCD-4F5E-9261-9C8624D395B2}"/>
              </a:ext>
            </a:extLst>
          </p:cNvPr>
          <p:cNvSpPr>
            <a:spLocks xmlns:a="http://schemas.openxmlformats.org/drawingml/2006/main" noGrp="1"/>
          </p:cNvSpPr>
          <p:nvPr/>
        </p:nvSpPr>
        <p:spPr>
          <a:xfrm xmlns:a="http://schemas.openxmlformats.org/drawingml/2006/main">
            <a:off x="612648" y="3566160"/>
            <a:ext cx="310896" cy="310896"/>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B</a:t>
            </a:r>
            <a:endParaRPr sz="1100"/>
          </a:p>
        </p:txBody>
      </p:sp>
      <p:sp>
        <p:nvSpPr>
          <p:cNvPr id="15" name="Text 12">
            <a:extLst xmlns:a="http://schemas.openxmlformats.org/drawingml/2006/main">
              <a:ext uri="{FF2B5EF4-FFF2-40B4-BE49-F238E27FC236}">
                <a16:creationId xmlns:a16="http://schemas.microsoft.com/office/drawing/2014/main" id="{C16CC43E-EC4C-4A91-8144-3DEBF6253AED}"/>
              </a:ext>
            </a:extLst>
          </p:cNvPr>
          <p:cNvSpPr>
            <a:spLocks xmlns:a="http://schemas.openxmlformats.org/drawingml/2006/main" noGrp="1"/>
          </p:cNvSpPr>
          <p:nvPr/>
        </p:nvSpPr>
        <p:spPr>
          <a:xfrm xmlns:a="http://schemas.openxmlformats.org/drawingml/2006/main">
            <a:off x="1033272" y="3447288"/>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056A63"/>
                </a:solidFill>
                <a:latin typeface="Calibri"/>
                <a:ea typeface="Calibri"/>
                <a:cs typeface="Calibri"/>
              </a:rPr>
              <a:t>No — rotate the secret; history lives in clones, forks, and reflog   ✓</a:t>
            </a:r>
            <a:endParaRPr sz="1050"/>
          </a:p>
        </p:txBody>
      </p:sp>
      <p:sp>
        <p:nvSpPr>
          <p:cNvPr id="16" name="Shape 13">
            <a:extLst xmlns:a="http://schemas.openxmlformats.org/drawingml/2006/main">
              <a:ext uri="{FF2B5EF4-FFF2-40B4-BE49-F238E27FC236}">
                <a16:creationId xmlns:a16="http://schemas.microsoft.com/office/drawing/2014/main" id="{CE8245E1-83F7-4A22-8BDA-96B6500C82FE}"/>
              </a:ext>
            </a:extLst>
          </p:cNvPr>
          <p:cNvSpPr>
            <a:spLocks xmlns:a="http://schemas.openxmlformats.org/drawingml/2006/main" noGrp="1"/>
          </p:cNvSpPr>
          <p:nvPr/>
        </p:nvSpPr>
        <p:spPr>
          <a:xfrm xmlns:a="http://schemas.openxmlformats.org/drawingml/2006/main">
            <a:off x="502920" y="4105656"/>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17" name="Text 14">
            <a:extLst xmlns:a="http://schemas.openxmlformats.org/drawingml/2006/main">
              <a:ext uri="{FF2B5EF4-FFF2-40B4-BE49-F238E27FC236}">
                <a16:creationId xmlns:a16="http://schemas.microsoft.com/office/drawing/2014/main" id="{0CFD1A62-B332-4997-9BC6-F4A5E702EC95}"/>
              </a:ext>
            </a:extLst>
          </p:cNvPr>
          <p:cNvSpPr>
            <a:spLocks xmlns:a="http://schemas.openxmlformats.org/drawingml/2006/main" noGrp="1"/>
          </p:cNvSpPr>
          <p:nvPr/>
        </p:nvSpPr>
        <p:spPr>
          <a:xfrm xmlns:a="http://schemas.openxmlformats.org/drawingml/2006/main">
            <a:off x="612648" y="4224528"/>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C</a:t>
            </a:r>
            <a:endParaRPr sz="1100"/>
          </a:p>
        </p:txBody>
      </p:sp>
      <p:sp>
        <p:nvSpPr>
          <p:cNvPr id="18" name="Text 15">
            <a:extLst xmlns:a="http://schemas.openxmlformats.org/drawingml/2006/main">
              <a:ext uri="{FF2B5EF4-FFF2-40B4-BE49-F238E27FC236}">
                <a16:creationId xmlns:a16="http://schemas.microsoft.com/office/drawing/2014/main" id="{27AA075B-BFD3-4A37-A243-49E31CCF9397}"/>
              </a:ext>
            </a:extLst>
          </p:cNvPr>
          <p:cNvSpPr>
            <a:spLocks xmlns:a="http://schemas.openxmlformats.org/drawingml/2006/main" noGrp="1"/>
          </p:cNvSpPr>
          <p:nvPr/>
        </p:nvSpPr>
        <p:spPr>
          <a:xfrm xmlns:a="http://schemas.openxmlformats.org/drawingml/2006/main">
            <a:off x="1033272" y="4105656"/>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Yes, once the branch is deleted</a:t>
            </a:r>
            <a:endParaRPr sz="1050"/>
          </a:p>
        </p:txBody>
      </p:sp>
      <p:sp>
        <p:nvSpPr>
          <p:cNvPr id="19" name="Shape 16">
            <a:extLst xmlns:a="http://schemas.openxmlformats.org/drawingml/2006/main">
              <a:ext uri="{FF2B5EF4-FFF2-40B4-BE49-F238E27FC236}">
                <a16:creationId xmlns:a16="http://schemas.microsoft.com/office/drawing/2014/main" id="{25A0D74C-00C1-4350-A42B-B2B3C267C6F2}"/>
              </a:ext>
            </a:extLst>
          </p:cNvPr>
          <p:cNvSpPr>
            <a:spLocks xmlns:a="http://schemas.openxmlformats.org/drawingml/2006/main" noGrp="1"/>
          </p:cNvSpPr>
          <p:nvPr/>
        </p:nvSpPr>
        <p:spPr>
          <a:xfrm xmlns:a="http://schemas.openxmlformats.org/drawingml/2006/main">
            <a:off x="502920" y="4764024"/>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20" name="Text 17">
            <a:extLst xmlns:a="http://schemas.openxmlformats.org/drawingml/2006/main">
              <a:ext uri="{FF2B5EF4-FFF2-40B4-BE49-F238E27FC236}">
                <a16:creationId xmlns:a16="http://schemas.microsoft.com/office/drawing/2014/main" id="{20B63B6C-1418-4BF1-BD8B-247F85BD0359}"/>
              </a:ext>
            </a:extLst>
          </p:cNvPr>
          <p:cNvSpPr>
            <a:spLocks xmlns:a="http://schemas.openxmlformats.org/drawingml/2006/main" noGrp="1"/>
          </p:cNvSpPr>
          <p:nvPr/>
        </p:nvSpPr>
        <p:spPr>
          <a:xfrm xmlns:a="http://schemas.openxmlformats.org/drawingml/2006/main">
            <a:off x="612648" y="4882896"/>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D</a:t>
            </a:r>
            <a:endParaRPr sz="1100"/>
          </a:p>
        </p:txBody>
      </p:sp>
      <p:sp>
        <p:nvSpPr>
          <p:cNvPr id="21" name="Text 18">
            <a:extLst xmlns:a="http://schemas.openxmlformats.org/drawingml/2006/main">
              <a:ext uri="{FF2B5EF4-FFF2-40B4-BE49-F238E27FC236}">
                <a16:creationId xmlns:a16="http://schemas.microsoft.com/office/drawing/2014/main" id="{18A93E8A-D138-41BE-B289-8F1CABDC923D}"/>
              </a:ext>
            </a:extLst>
          </p:cNvPr>
          <p:cNvSpPr>
            <a:spLocks xmlns:a="http://schemas.openxmlformats.org/drawingml/2006/main" noGrp="1"/>
          </p:cNvSpPr>
          <p:nvPr/>
        </p:nvSpPr>
        <p:spPr>
          <a:xfrm xmlns:a="http://schemas.openxmlformats.org/drawingml/2006/main">
            <a:off x="1033272" y="4764024"/>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Only if the repo is private</a:t>
            </a:r>
            <a:endParaRPr sz="1050"/>
          </a:p>
        </p:txBody>
      </p:sp>
      <p:sp>
        <p:nvSpPr>
          <p:cNvPr id="22" name="Text 19">
            <a:extLst xmlns:a="http://schemas.openxmlformats.org/drawingml/2006/main">
              <a:ext uri="{FF2B5EF4-FFF2-40B4-BE49-F238E27FC236}">
                <a16:creationId xmlns:a16="http://schemas.microsoft.com/office/drawing/2014/main" id="{9EE95232-E0C2-4CAA-81B2-E468FBF84263}"/>
              </a:ext>
            </a:extLst>
          </p:cNvPr>
          <p:cNvSpPr>
            <a:spLocks xmlns:a="http://schemas.openxmlformats.org/drawingml/2006/main" noGrp="1"/>
          </p:cNvSpPr>
          <p:nvPr/>
        </p:nvSpPr>
        <p:spPr>
          <a:xfrm xmlns:a="http://schemas.openxmlformats.org/drawingml/2006/main">
            <a:off x="502920" y="5513832"/>
            <a:ext cx="544068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b="1" i="1">
                <a:solidFill>
                  <a:srgbClr val="5F6B7A"/>
                </a:solidFill>
                <a:latin typeface="Calibri"/>
                <a:ea typeface="Calibri"/>
                <a:cs typeface="Calibri"/>
              </a:rPr>
              <a:t>Why: </a:t>
            </a:r>
            <a:r>
              <a:rPr sz="950" i="1">
                <a:solidFill>
                  <a:srgbClr val="5F6B7A"/>
                </a:solidFill>
                <a:latin typeface="Calibri"/>
                <a:ea typeface="Calibri"/>
                <a:cs typeface="Calibri"/>
              </a:rPr>
              <a:t>Deleting the commit does not un-leak the secret. Rotate first; the key is burned. History persists in clones, forks, backups and reflog.</a:t>
            </a:r>
            <a:endParaRPr sz="950"/>
          </a:p>
        </p:txBody>
      </p:sp>
      <p:sp>
        <p:nvSpPr>
          <p:cNvPr id="23" name="Text 20">
            <a:extLst xmlns:a="http://schemas.openxmlformats.org/drawingml/2006/main">
              <a:ext uri="{FF2B5EF4-FFF2-40B4-BE49-F238E27FC236}">
                <a16:creationId xmlns:a16="http://schemas.microsoft.com/office/drawing/2014/main" id="{7F0F2783-F6AD-427B-B542-00E6588AB579}"/>
              </a:ext>
            </a:extLst>
          </p:cNvPr>
          <p:cNvSpPr>
            <a:spLocks xmlns:a="http://schemas.openxmlformats.org/drawingml/2006/main" noGrp="1"/>
          </p:cNvSpPr>
          <p:nvPr/>
        </p:nvSpPr>
        <p:spPr>
          <a:xfrm xmlns:a="http://schemas.openxmlformats.org/drawingml/2006/main">
            <a:off x="6245352" y="1920240"/>
            <a:ext cx="544068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b="1">
                <a:solidFill>
                  <a:srgbClr val="1D2A5C"/>
                </a:solidFill>
                <a:latin typeface="Calibri"/>
                <a:ea typeface="Calibri"/>
                <a:cs typeface="Calibri"/>
              </a:rPr>
              <a:t>Q2. What does pydantic's SecretStr actually protect against?</a:t>
            </a:r>
            <a:endParaRPr sz="1200"/>
          </a:p>
        </p:txBody>
      </p:sp>
      <p:sp>
        <p:nvSpPr>
          <p:cNvPr id="24" name="Shape 21">
            <a:extLst xmlns:a="http://schemas.openxmlformats.org/drawingml/2006/main">
              <a:ext uri="{FF2B5EF4-FFF2-40B4-BE49-F238E27FC236}">
                <a16:creationId xmlns:a16="http://schemas.microsoft.com/office/drawing/2014/main" id="{5A567D28-089A-4185-B81F-6E8E452E0B9A}"/>
              </a:ext>
            </a:extLst>
          </p:cNvPr>
          <p:cNvSpPr>
            <a:spLocks xmlns:a="http://schemas.openxmlformats.org/drawingml/2006/main" noGrp="1"/>
          </p:cNvSpPr>
          <p:nvPr/>
        </p:nvSpPr>
        <p:spPr>
          <a:xfrm xmlns:a="http://schemas.openxmlformats.org/drawingml/2006/main">
            <a:off x="6245352" y="2788920"/>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25" name="Text 22">
            <a:extLst xmlns:a="http://schemas.openxmlformats.org/drawingml/2006/main">
              <a:ext uri="{FF2B5EF4-FFF2-40B4-BE49-F238E27FC236}">
                <a16:creationId xmlns:a16="http://schemas.microsoft.com/office/drawing/2014/main" id="{CB35DC5D-0CA2-486C-AC90-084FA19E51DB}"/>
              </a:ext>
            </a:extLst>
          </p:cNvPr>
          <p:cNvSpPr>
            <a:spLocks xmlns:a="http://schemas.openxmlformats.org/drawingml/2006/main" noGrp="1"/>
          </p:cNvSpPr>
          <p:nvPr/>
        </p:nvSpPr>
        <p:spPr>
          <a:xfrm xmlns:a="http://schemas.openxmlformats.org/drawingml/2006/main">
            <a:off x="6355080" y="2907792"/>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A</a:t>
            </a:r>
            <a:endParaRPr sz="1100"/>
          </a:p>
        </p:txBody>
      </p:sp>
      <p:sp>
        <p:nvSpPr>
          <p:cNvPr id="26" name="Text 23">
            <a:extLst xmlns:a="http://schemas.openxmlformats.org/drawingml/2006/main">
              <a:ext uri="{FF2B5EF4-FFF2-40B4-BE49-F238E27FC236}">
                <a16:creationId xmlns:a16="http://schemas.microsoft.com/office/drawing/2014/main" id="{7F5984B4-A553-4941-9633-9127C0A922D3}"/>
              </a:ext>
            </a:extLst>
          </p:cNvPr>
          <p:cNvSpPr>
            <a:spLocks xmlns:a="http://schemas.openxmlformats.org/drawingml/2006/main" noGrp="1"/>
          </p:cNvSpPr>
          <p:nvPr/>
        </p:nvSpPr>
        <p:spPr>
          <a:xfrm xmlns:a="http://schemas.openxmlformats.org/drawingml/2006/main">
            <a:off x="6775704" y="2788920"/>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Network interception</a:t>
            </a:r>
            <a:endParaRPr sz="1050"/>
          </a:p>
        </p:txBody>
      </p:sp>
      <p:sp>
        <p:nvSpPr>
          <p:cNvPr id="27" name="Shape 24">
            <a:extLst xmlns:a="http://schemas.openxmlformats.org/drawingml/2006/main">
              <a:ext uri="{FF2B5EF4-FFF2-40B4-BE49-F238E27FC236}">
                <a16:creationId xmlns:a16="http://schemas.microsoft.com/office/drawing/2014/main" id="{005349AB-8875-487A-A45E-74BB61B3DC4F}"/>
              </a:ext>
            </a:extLst>
          </p:cNvPr>
          <p:cNvSpPr>
            <a:spLocks xmlns:a="http://schemas.openxmlformats.org/drawingml/2006/main" noGrp="1"/>
          </p:cNvSpPr>
          <p:nvPr/>
        </p:nvSpPr>
        <p:spPr>
          <a:xfrm xmlns:a="http://schemas.openxmlformats.org/drawingml/2006/main">
            <a:off x="6245352" y="3447288"/>
            <a:ext cx="5440680" cy="548640"/>
          </a:xfrm>
          <a:prstGeom xmlns:a="http://schemas.openxmlformats.org/drawingml/2006/main" prst="roundRect">
            <a:avLst>
              <a:gd name="adj" fmla="val 10000"/>
            </a:avLst>
          </a:prstGeom>
          <a:solidFill xmlns:a="http://schemas.openxmlformats.org/drawingml/2006/main">
            <a:srgbClr val="D4F1EE"/>
          </a:solidFill>
          <a:ln xmlns:a="http://schemas.openxmlformats.org/drawingml/2006/main" w="19050">
            <a:solidFill>
              <a:srgbClr val="00A79D"/>
            </a:solidFill>
            <a:prstDash val="solid"/>
          </a:ln>
        </p:spPr>
      </p:sp>
      <p:sp>
        <p:nvSpPr>
          <p:cNvPr id="28" name="Text 25">
            <a:extLst xmlns:a="http://schemas.openxmlformats.org/drawingml/2006/main">
              <a:ext uri="{FF2B5EF4-FFF2-40B4-BE49-F238E27FC236}">
                <a16:creationId xmlns:a16="http://schemas.microsoft.com/office/drawing/2014/main" id="{BB1030D9-C49C-4221-938E-AE2088E90988}"/>
              </a:ext>
            </a:extLst>
          </p:cNvPr>
          <p:cNvSpPr>
            <a:spLocks xmlns:a="http://schemas.openxmlformats.org/drawingml/2006/main" noGrp="1"/>
          </p:cNvSpPr>
          <p:nvPr/>
        </p:nvSpPr>
        <p:spPr>
          <a:xfrm xmlns:a="http://schemas.openxmlformats.org/drawingml/2006/main">
            <a:off x="6355080" y="3566160"/>
            <a:ext cx="310896" cy="310896"/>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B</a:t>
            </a:r>
            <a:endParaRPr sz="1100"/>
          </a:p>
        </p:txBody>
      </p:sp>
      <p:sp>
        <p:nvSpPr>
          <p:cNvPr id="29" name="Text 26">
            <a:extLst xmlns:a="http://schemas.openxmlformats.org/drawingml/2006/main">
              <a:ext uri="{FF2B5EF4-FFF2-40B4-BE49-F238E27FC236}">
                <a16:creationId xmlns:a16="http://schemas.microsoft.com/office/drawing/2014/main" id="{8F105E45-97CC-4334-A09A-CCAD9FDAC58B}"/>
              </a:ext>
            </a:extLst>
          </p:cNvPr>
          <p:cNvSpPr>
            <a:spLocks xmlns:a="http://schemas.openxmlformats.org/drawingml/2006/main" noGrp="1"/>
          </p:cNvSpPr>
          <p:nvPr/>
        </p:nvSpPr>
        <p:spPr>
          <a:xfrm xmlns:a="http://schemas.openxmlformats.org/drawingml/2006/main">
            <a:off x="6775704" y="3447288"/>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056A63"/>
                </a:solidFill>
                <a:latin typeface="Calibri"/>
                <a:ea typeface="Calibri"/>
                <a:cs typeface="Calibri"/>
              </a:rPr>
              <a:t>Accidental disclosure in reprs, prints, and logs   ✓</a:t>
            </a:r>
            <a:endParaRPr sz="1050"/>
          </a:p>
        </p:txBody>
      </p:sp>
      <p:sp>
        <p:nvSpPr>
          <p:cNvPr id="30" name="Shape 27">
            <a:extLst xmlns:a="http://schemas.openxmlformats.org/drawingml/2006/main">
              <a:ext uri="{FF2B5EF4-FFF2-40B4-BE49-F238E27FC236}">
                <a16:creationId xmlns:a16="http://schemas.microsoft.com/office/drawing/2014/main" id="{78067203-3BBB-4990-B607-D4BFCD939E05}"/>
              </a:ext>
            </a:extLst>
          </p:cNvPr>
          <p:cNvSpPr>
            <a:spLocks xmlns:a="http://schemas.openxmlformats.org/drawingml/2006/main" noGrp="1"/>
          </p:cNvSpPr>
          <p:nvPr/>
        </p:nvSpPr>
        <p:spPr>
          <a:xfrm xmlns:a="http://schemas.openxmlformats.org/drawingml/2006/main">
            <a:off x="6245352" y="4105656"/>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31" name="Text 28">
            <a:extLst xmlns:a="http://schemas.openxmlformats.org/drawingml/2006/main">
              <a:ext uri="{FF2B5EF4-FFF2-40B4-BE49-F238E27FC236}">
                <a16:creationId xmlns:a16="http://schemas.microsoft.com/office/drawing/2014/main" id="{C1ECEE4B-03DA-49D1-A39D-5E326DBE392D}"/>
              </a:ext>
            </a:extLst>
          </p:cNvPr>
          <p:cNvSpPr>
            <a:spLocks xmlns:a="http://schemas.openxmlformats.org/drawingml/2006/main" noGrp="1"/>
          </p:cNvSpPr>
          <p:nvPr/>
        </p:nvSpPr>
        <p:spPr>
          <a:xfrm xmlns:a="http://schemas.openxmlformats.org/drawingml/2006/main">
            <a:off x="6355080" y="4224528"/>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C</a:t>
            </a:r>
            <a:endParaRPr sz="1100"/>
          </a:p>
        </p:txBody>
      </p:sp>
      <p:sp>
        <p:nvSpPr>
          <p:cNvPr id="32" name="Text 29">
            <a:extLst xmlns:a="http://schemas.openxmlformats.org/drawingml/2006/main">
              <a:ext uri="{FF2B5EF4-FFF2-40B4-BE49-F238E27FC236}">
                <a16:creationId xmlns:a16="http://schemas.microsoft.com/office/drawing/2014/main" id="{EC2BD09E-A6CF-4449-9B50-DB73279F325A}"/>
              </a:ext>
            </a:extLst>
          </p:cNvPr>
          <p:cNvSpPr>
            <a:spLocks xmlns:a="http://schemas.openxmlformats.org/drawingml/2006/main" noGrp="1"/>
          </p:cNvSpPr>
          <p:nvPr/>
        </p:nvSpPr>
        <p:spPr>
          <a:xfrm xmlns:a="http://schemas.openxmlformats.org/drawingml/2006/main">
            <a:off x="6775704" y="4105656"/>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Weak passwords</a:t>
            </a:r>
            <a:endParaRPr sz="1050"/>
          </a:p>
        </p:txBody>
      </p:sp>
      <p:sp>
        <p:nvSpPr>
          <p:cNvPr id="33" name="Shape 30">
            <a:extLst xmlns:a="http://schemas.openxmlformats.org/drawingml/2006/main">
              <a:ext uri="{FF2B5EF4-FFF2-40B4-BE49-F238E27FC236}">
                <a16:creationId xmlns:a16="http://schemas.microsoft.com/office/drawing/2014/main" id="{2FD2CD39-5D58-472E-8BE3-37924F73E3CA}"/>
              </a:ext>
            </a:extLst>
          </p:cNvPr>
          <p:cNvSpPr>
            <a:spLocks xmlns:a="http://schemas.openxmlformats.org/drawingml/2006/main" noGrp="1"/>
          </p:cNvSpPr>
          <p:nvPr/>
        </p:nvSpPr>
        <p:spPr>
          <a:xfrm xmlns:a="http://schemas.openxmlformats.org/drawingml/2006/main">
            <a:off x="6245352" y="4764024"/>
            <a:ext cx="544068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E4F5"/>
            </a:solidFill>
            <a:prstDash val="solid"/>
          </a:ln>
        </p:spPr>
      </p:sp>
      <p:sp>
        <p:nvSpPr>
          <p:cNvPr id="34" name="Text 31">
            <a:extLst xmlns:a="http://schemas.openxmlformats.org/drawingml/2006/main">
              <a:ext uri="{FF2B5EF4-FFF2-40B4-BE49-F238E27FC236}">
                <a16:creationId xmlns:a16="http://schemas.microsoft.com/office/drawing/2014/main" id="{DCFF0A21-3B37-4B61-B4B0-3B60D288782F}"/>
              </a:ext>
            </a:extLst>
          </p:cNvPr>
          <p:cNvSpPr>
            <a:spLocks xmlns:a="http://schemas.openxmlformats.org/drawingml/2006/main" noGrp="1"/>
          </p:cNvSpPr>
          <p:nvPr/>
        </p:nvSpPr>
        <p:spPr>
          <a:xfrm xmlns:a="http://schemas.openxmlformats.org/drawingml/2006/main">
            <a:off x="6355080" y="4882896"/>
            <a:ext cx="310896" cy="310896"/>
          </a:xfrm>
          <a:prstGeom xmlns:a="http://schemas.openxmlformats.org/drawingml/2006/main" prst="ellipse">
            <a:avLst/>
          </a:prstGeom>
          <a:solidFill xmlns:a="http://schemas.openxmlformats.org/drawingml/2006/main">
            <a:srgbClr val="DCE6F8"/>
          </a:solidFill>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1D2A5C"/>
                </a:solidFill>
                <a:latin typeface="Calibri"/>
                <a:ea typeface="Calibri"/>
                <a:cs typeface="Calibri"/>
              </a:rPr>
              <a:t>D</a:t>
            </a:r>
            <a:endParaRPr sz="1100"/>
          </a:p>
        </p:txBody>
      </p:sp>
      <p:sp>
        <p:nvSpPr>
          <p:cNvPr id="35" name="Text 32">
            <a:extLst xmlns:a="http://schemas.openxmlformats.org/drawingml/2006/main">
              <a:ext uri="{FF2B5EF4-FFF2-40B4-BE49-F238E27FC236}">
                <a16:creationId xmlns:a16="http://schemas.microsoft.com/office/drawing/2014/main" id="{EF0D6EB7-60C6-4265-9F2B-DB51FC4B1683}"/>
              </a:ext>
            </a:extLst>
          </p:cNvPr>
          <p:cNvSpPr>
            <a:spLocks xmlns:a="http://schemas.openxmlformats.org/drawingml/2006/main" noGrp="1"/>
          </p:cNvSpPr>
          <p:nvPr/>
        </p:nvSpPr>
        <p:spPr>
          <a:xfrm xmlns:a="http://schemas.openxmlformats.org/drawingml/2006/main">
            <a:off x="6775704" y="4764024"/>
            <a:ext cx="47548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23293B"/>
                </a:solidFill>
                <a:latin typeface="Calibri"/>
                <a:ea typeface="Calibri"/>
                <a:cs typeface="Calibri"/>
              </a:rPr>
              <a:t>Brute-force attacks</a:t>
            </a:r>
            <a:endParaRPr sz="1050"/>
          </a:p>
        </p:txBody>
      </p:sp>
      <p:sp>
        <p:nvSpPr>
          <p:cNvPr id="36" name="Text 33">
            <a:extLst xmlns:a="http://schemas.openxmlformats.org/drawingml/2006/main">
              <a:ext uri="{FF2B5EF4-FFF2-40B4-BE49-F238E27FC236}">
                <a16:creationId xmlns:a16="http://schemas.microsoft.com/office/drawing/2014/main" id="{96A6842C-5516-43F7-B05F-CD3EBB77CD63}"/>
              </a:ext>
            </a:extLst>
          </p:cNvPr>
          <p:cNvSpPr>
            <a:spLocks xmlns:a="http://schemas.openxmlformats.org/drawingml/2006/main" noGrp="1"/>
          </p:cNvSpPr>
          <p:nvPr/>
        </p:nvSpPr>
        <p:spPr>
          <a:xfrm xmlns:a="http://schemas.openxmlformats.org/drawingml/2006/main">
            <a:off x="6245352" y="5513832"/>
            <a:ext cx="5440680"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b="1" i="1">
                <a:solidFill>
                  <a:srgbClr val="5F6B7A"/>
                </a:solidFill>
                <a:latin typeface="Calibri"/>
                <a:ea typeface="Calibri"/>
                <a:cs typeface="Calibri"/>
              </a:rPr>
              <a:t>Why: </a:t>
            </a:r>
            <a:r>
              <a:rPr sz="950" i="1">
                <a:solidFill>
                  <a:srgbClr val="5F6B7A"/>
                </a:solidFill>
                <a:latin typeface="Calibri"/>
                <a:ea typeface="Calibri"/>
                <a:cs typeface="Calibri"/>
              </a:rPr>
              <a:t>SecretStr masks the value in reprs and accidental prints; .get_secret_value() makes every intentional read explicit and grep-able. It is not encryption.</a:t>
            </a:r>
            <a:endParaRPr sz="950"/>
          </a:p>
        </p:txBody>
      </p:sp>
    </p:spTree>
    <p:extLst>
      <p:ext uri="{BB962C8B-B14F-4D97-AF65-F5344CB8AC3E}">
        <p14:creationId xmlns:p14="http://schemas.microsoft.com/office/powerpoint/2010/main" val="1364503389"/>
      </p:ext>
    </p:extLst>
  </p:cSld>
</p:sld>
</file>

<file path=ppt/slides/slide1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2EAE791-FE38-4B6D-9D34-921E81B88047}"/>
              </a:ext>
            </a:extLst>
          </p:cNvPr>
          <p:cNvSpPr>
            <a:spLocks xmlns:a="http://schemas.openxmlformats.org/drawingml/2006/main" noGrp="1"/>
          </p:cNvSpPr>
          <p:nvPr/>
        </p:nvSpPr>
        <p:spPr>
          <a:xfrm xmlns:a="http://schemas.openxmlformats.org/drawingml/2006/main" rot="5400000" flipH="1">
            <a:off x="9692640" y="1124712"/>
            <a:ext cx="329184" cy="288036"/>
          </a:xfrm>
          <a:prstGeom xmlns:a="http://schemas.openxmlformats.org/drawingml/2006/main" prst="triangle">
            <a:avLst/>
          </a:prstGeom>
          <a:solidFill xmlns:a="http://schemas.openxmlformats.org/drawingml/2006/main">
            <a:srgbClr val="00A79D"/>
          </a:solidFill>
        </p:spPr>
      </p:sp>
      <p:sp>
        <p:nvSpPr>
          <p:cNvPr id="3" name="Shape 1">
            <a:extLst xmlns:a="http://schemas.openxmlformats.org/drawingml/2006/main">
              <a:ext uri="{FF2B5EF4-FFF2-40B4-BE49-F238E27FC236}">
                <a16:creationId xmlns:a16="http://schemas.microsoft.com/office/drawing/2014/main" id="{168C36A2-3A22-4BA2-9E36-B50766175014}"/>
              </a:ext>
            </a:extLst>
          </p:cNvPr>
          <p:cNvSpPr>
            <a:spLocks xmlns:a="http://schemas.openxmlformats.org/drawingml/2006/main" noGrp="1"/>
          </p:cNvSpPr>
          <p:nvPr/>
        </p:nvSpPr>
        <p:spPr>
          <a:xfrm xmlns:a="http://schemas.openxmlformats.org/drawingml/2006/main" rot="5400000">
            <a:off x="10041575" y="836676"/>
            <a:ext cx="329184" cy="288036"/>
          </a:xfrm>
          <a:prstGeom xmlns:a="http://schemas.openxmlformats.org/drawingml/2006/main" prst="triangle">
            <a:avLst/>
          </a:prstGeom>
          <a:solidFill xmlns:a="http://schemas.openxmlformats.org/drawingml/2006/main">
            <a:srgbClr val="29ABE2"/>
          </a:solidFill>
        </p:spPr>
      </p:sp>
      <p:sp>
        <p:nvSpPr>
          <p:cNvPr id="4" name="Shape 2">
            <a:extLst xmlns:a="http://schemas.openxmlformats.org/drawingml/2006/main">
              <a:ext uri="{FF2B5EF4-FFF2-40B4-BE49-F238E27FC236}">
                <a16:creationId xmlns:a16="http://schemas.microsoft.com/office/drawing/2014/main" id="{564E2EDD-99E8-488F-BBC6-0A3A294FEC05}"/>
              </a:ext>
            </a:extLst>
          </p:cNvPr>
          <p:cNvSpPr>
            <a:spLocks xmlns:a="http://schemas.openxmlformats.org/drawingml/2006/main" noGrp="1"/>
          </p:cNvSpPr>
          <p:nvPr/>
        </p:nvSpPr>
        <p:spPr>
          <a:xfrm xmlns:a="http://schemas.openxmlformats.org/drawingml/2006/main" rot="5400000">
            <a:off x="10041575" y="1412748"/>
            <a:ext cx="329184" cy="288036"/>
          </a:xfrm>
          <a:prstGeom xmlns:a="http://schemas.openxmlformats.org/drawingml/2006/main" prst="triangle">
            <a:avLst/>
          </a:prstGeom>
          <a:solidFill xmlns:a="http://schemas.openxmlformats.org/drawingml/2006/main">
            <a:srgbClr val="F58220"/>
          </a:solidFill>
        </p:spPr>
      </p:sp>
      <p:sp>
        <p:nvSpPr>
          <p:cNvPr id="5" name="Shape 3">
            <a:extLst xmlns:a="http://schemas.openxmlformats.org/drawingml/2006/main">
              <a:ext uri="{FF2B5EF4-FFF2-40B4-BE49-F238E27FC236}">
                <a16:creationId xmlns:a16="http://schemas.microsoft.com/office/drawing/2014/main" id="{984D88AD-0168-4A94-8BEF-F78FA03EF322}"/>
              </a:ext>
            </a:extLst>
          </p:cNvPr>
          <p:cNvSpPr>
            <a:spLocks xmlns:a="http://schemas.openxmlformats.org/drawingml/2006/main" noGrp="1"/>
          </p:cNvSpPr>
          <p:nvPr/>
        </p:nvSpPr>
        <p:spPr>
          <a:xfrm xmlns:a="http://schemas.openxmlformats.org/drawingml/2006/main" rot="5400000" flipH="1">
            <a:off x="10390510" y="548640"/>
            <a:ext cx="329184" cy="288036"/>
          </a:xfrm>
          <a:prstGeom xmlns:a="http://schemas.openxmlformats.org/drawingml/2006/main" prst="triangle">
            <a:avLst/>
          </a:prstGeom>
          <a:solidFill xmlns:a="http://schemas.openxmlformats.org/drawingml/2006/main">
            <a:srgbClr val="8DC63F"/>
          </a:solidFill>
        </p:spPr>
      </p:sp>
      <p:sp>
        <p:nvSpPr>
          <p:cNvPr id="6" name="Shape 4">
            <a:extLst xmlns:a="http://schemas.openxmlformats.org/drawingml/2006/main">
              <a:ext uri="{FF2B5EF4-FFF2-40B4-BE49-F238E27FC236}">
                <a16:creationId xmlns:a16="http://schemas.microsoft.com/office/drawing/2014/main" id="{BB292A9B-B98E-44CB-987A-91A26401DCAA}"/>
              </a:ext>
            </a:extLst>
          </p:cNvPr>
          <p:cNvSpPr>
            <a:spLocks xmlns:a="http://schemas.openxmlformats.org/drawingml/2006/main" noGrp="1"/>
          </p:cNvSpPr>
          <p:nvPr/>
        </p:nvSpPr>
        <p:spPr>
          <a:xfrm xmlns:a="http://schemas.openxmlformats.org/drawingml/2006/main" rot="5400000">
            <a:off x="10390510" y="1124712"/>
            <a:ext cx="329184" cy="288036"/>
          </a:xfrm>
          <a:prstGeom xmlns:a="http://schemas.openxmlformats.org/drawingml/2006/main" prst="triangle">
            <a:avLst/>
          </a:prstGeom>
          <a:solidFill xmlns:a="http://schemas.openxmlformats.org/drawingml/2006/main">
            <a:srgbClr val="B9C8E8"/>
          </a:solidFill>
        </p:spPr>
      </p:sp>
      <p:sp>
        <p:nvSpPr>
          <p:cNvPr id="7" name="Shape 5">
            <a:extLst xmlns:a="http://schemas.openxmlformats.org/drawingml/2006/main">
              <a:ext uri="{FF2B5EF4-FFF2-40B4-BE49-F238E27FC236}">
                <a16:creationId xmlns:a16="http://schemas.microsoft.com/office/drawing/2014/main" id="{CF0CA8FD-357C-4801-B64E-ACB0B0416F35}"/>
              </a:ext>
            </a:extLst>
          </p:cNvPr>
          <p:cNvSpPr>
            <a:spLocks xmlns:a="http://schemas.openxmlformats.org/drawingml/2006/main" noGrp="1"/>
          </p:cNvSpPr>
          <p:nvPr/>
        </p:nvSpPr>
        <p:spPr>
          <a:xfrm xmlns:a="http://schemas.openxmlformats.org/drawingml/2006/main" rot="5400000">
            <a:off x="10739445" y="836676"/>
            <a:ext cx="329184" cy="288036"/>
          </a:xfrm>
          <a:prstGeom xmlns:a="http://schemas.openxmlformats.org/drawingml/2006/main" prst="triangle">
            <a:avLst/>
          </a:prstGeom>
          <a:solidFill xmlns:a="http://schemas.openxmlformats.org/drawingml/2006/main">
            <a:srgbClr val="00A79D"/>
          </a:solidFill>
        </p:spPr>
      </p:sp>
      <p:sp>
        <p:nvSpPr>
          <p:cNvPr id="8" name="Shape 6">
            <a:extLst xmlns:a="http://schemas.openxmlformats.org/drawingml/2006/main">
              <a:ext uri="{FF2B5EF4-FFF2-40B4-BE49-F238E27FC236}">
                <a16:creationId xmlns:a16="http://schemas.microsoft.com/office/drawing/2014/main" id="{D613F35A-4C0A-4246-9162-9ABBD3E2FE3B}"/>
              </a:ext>
            </a:extLst>
          </p:cNvPr>
          <p:cNvSpPr>
            <a:spLocks xmlns:a="http://schemas.openxmlformats.org/drawingml/2006/main" noGrp="1"/>
          </p:cNvSpPr>
          <p:nvPr/>
        </p:nvSpPr>
        <p:spPr>
          <a:xfrm xmlns:a="http://schemas.openxmlformats.org/drawingml/2006/main" rot="5400000" flipH="1">
            <a:off x="10739445" y="1412748"/>
            <a:ext cx="329184" cy="288036"/>
          </a:xfrm>
          <a:prstGeom xmlns:a="http://schemas.openxmlformats.org/drawingml/2006/main" prst="triangle">
            <a:avLst/>
          </a:prstGeom>
          <a:solidFill xmlns:a="http://schemas.openxmlformats.org/drawingml/2006/main">
            <a:srgbClr val="29ABE2"/>
          </a:solidFill>
        </p:spPr>
      </p:sp>
      <p:sp>
        <p:nvSpPr>
          <p:cNvPr id="9" name="Shape 7">
            <a:extLst xmlns:a="http://schemas.openxmlformats.org/drawingml/2006/main">
              <a:ext uri="{FF2B5EF4-FFF2-40B4-BE49-F238E27FC236}">
                <a16:creationId xmlns:a16="http://schemas.microsoft.com/office/drawing/2014/main" id="{CEE543EC-FA98-437C-B905-02F57E8CBD55}"/>
              </a:ext>
            </a:extLst>
          </p:cNvPr>
          <p:cNvSpPr>
            <a:spLocks xmlns:a="http://schemas.openxmlformats.org/drawingml/2006/main" noGrp="1"/>
          </p:cNvSpPr>
          <p:nvPr/>
        </p:nvSpPr>
        <p:spPr>
          <a:xfrm xmlns:a="http://schemas.openxmlformats.org/drawingml/2006/main" rot="5400000">
            <a:off x="11088380" y="1124712"/>
            <a:ext cx="329184" cy="288036"/>
          </a:xfrm>
          <a:prstGeom xmlns:a="http://schemas.openxmlformats.org/drawingml/2006/main" prst="triangle">
            <a:avLst/>
          </a:prstGeom>
          <a:solidFill xmlns:a="http://schemas.openxmlformats.org/drawingml/2006/main">
            <a:srgbClr val="F58220"/>
          </a:solidFill>
        </p:spPr>
      </p:sp>
      <p:sp>
        <p:nvSpPr>
          <p:cNvPr id="10" name="Shape 8">
            <a:extLst xmlns:a="http://schemas.openxmlformats.org/drawingml/2006/main">
              <a:ext uri="{FF2B5EF4-FFF2-40B4-BE49-F238E27FC236}">
                <a16:creationId xmlns:a16="http://schemas.microsoft.com/office/drawing/2014/main" id="{F68ACD73-24CD-4AFE-8862-F6A57D87EE99}"/>
              </a:ext>
            </a:extLst>
          </p:cNvPr>
          <p:cNvSpPr>
            <a:spLocks xmlns:a="http://schemas.openxmlformats.org/drawingml/2006/main" noGrp="1"/>
          </p:cNvSpPr>
          <p:nvPr/>
        </p:nvSpPr>
        <p:spPr>
          <a:xfrm xmlns:a="http://schemas.openxmlformats.org/drawingml/2006/main" rot="5400000" flipH="1">
            <a:off x="640080" y="5875020"/>
            <a:ext cx="274320" cy="240030"/>
          </a:xfrm>
          <a:prstGeom xmlns:a="http://schemas.openxmlformats.org/drawingml/2006/main" prst="triangle">
            <a:avLst/>
          </a:prstGeom>
          <a:solidFill xmlns:a="http://schemas.openxmlformats.org/drawingml/2006/main">
            <a:srgbClr val="B9C8E8"/>
          </a:solidFill>
        </p:spPr>
      </p:sp>
      <p:sp>
        <p:nvSpPr>
          <p:cNvPr id="11" name="Shape 9">
            <a:extLst xmlns:a="http://schemas.openxmlformats.org/drawingml/2006/main">
              <a:ext uri="{FF2B5EF4-FFF2-40B4-BE49-F238E27FC236}">
                <a16:creationId xmlns:a16="http://schemas.microsoft.com/office/drawing/2014/main" id="{6C39D279-1FB7-49E0-B853-C8DB59E4F092}"/>
              </a:ext>
            </a:extLst>
          </p:cNvPr>
          <p:cNvSpPr>
            <a:spLocks xmlns:a="http://schemas.openxmlformats.org/drawingml/2006/main" noGrp="1"/>
          </p:cNvSpPr>
          <p:nvPr/>
        </p:nvSpPr>
        <p:spPr>
          <a:xfrm xmlns:a="http://schemas.openxmlformats.org/drawingml/2006/main" rot="5400000">
            <a:off x="930859" y="5634990"/>
            <a:ext cx="274320" cy="240030"/>
          </a:xfrm>
          <a:prstGeom xmlns:a="http://schemas.openxmlformats.org/drawingml/2006/main" prst="triangle">
            <a:avLst/>
          </a:prstGeom>
          <a:solidFill xmlns:a="http://schemas.openxmlformats.org/drawingml/2006/main">
            <a:srgbClr val="DCE6F8"/>
          </a:solidFill>
        </p:spPr>
      </p:sp>
      <p:sp>
        <p:nvSpPr>
          <p:cNvPr id="12" name="Shape 10">
            <a:extLst xmlns:a="http://schemas.openxmlformats.org/drawingml/2006/main">
              <a:ext uri="{FF2B5EF4-FFF2-40B4-BE49-F238E27FC236}">
                <a16:creationId xmlns:a16="http://schemas.microsoft.com/office/drawing/2014/main" id="{975B6D70-3033-4D4A-98DE-D9A552C64B3C}"/>
              </a:ext>
            </a:extLst>
          </p:cNvPr>
          <p:cNvSpPr>
            <a:spLocks xmlns:a="http://schemas.openxmlformats.org/drawingml/2006/main" noGrp="1"/>
          </p:cNvSpPr>
          <p:nvPr/>
        </p:nvSpPr>
        <p:spPr>
          <a:xfrm xmlns:a="http://schemas.openxmlformats.org/drawingml/2006/main" rot="5400000">
            <a:off x="930859" y="6115050"/>
            <a:ext cx="274320" cy="240030"/>
          </a:xfrm>
          <a:prstGeom xmlns:a="http://schemas.openxmlformats.org/drawingml/2006/main" prst="triangle">
            <a:avLst/>
          </a:prstGeom>
          <a:solidFill xmlns:a="http://schemas.openxmlformats.org/drawingml/2006/main">
            <a:srgbClr val="00A79D"/>
          </a:solidFill>
        </p:spPr>
      </p:sp>
      <p:sp>
        <p:nvSpPr>
          <p:cNvPr id="13" name="Shape 11">
            <a:extLst xmlns:a="http://schemas.openxmlformats.org/drawingml/2006/main">
              <a:ext uri="{FF2B5EF4-FFF2-40B4-BE49-F238E27FC236}">
                <a16:creationId xmlns:a16="http://schemas.microsoft.com/office/drawing/2014/main" id="{52C20810-CC5A-468C-9148-077531B618D2}"/>
              </a:ext>
            </a:extLst>
          </p:cNvPr>
          <p:cNvSpPr>
            <a:spLocks xmlns:a="http://schemas.openxmlformats.org/drawingml/2006/main" noGrp="1"/>
          </p:cNvSpPr>
          <p:nvPr/>
        </p:nvSpPr>
        <p:spPr>
          <a:xfrm xmlns:a="http://schemas.openxmlformats.org/drawingml/2006/main" rot="5400000" flipH="1">
            <a:off x="1221638" y="5394960"/>
            <a:ext cx="274320" cy="240030"/>
          </a:xfrm>
          <a:prstGeom xmlns:a="http://schemas.openxmlformats.org/drawingml/2006/main" prst="triangle">
            <a:avLst/>
          </a:prstGeom>
          <a:solidFill xmlns:a="http://schemas.openxmlformats.org/drawingml/2006/main">
            <a:srgbClr val="29ABE2"/>
          </a:solidFill>
        </p:spPr>
      </p:sp>
      <p:sp>
        <p:nvSpPr>
          <p:cNvPr id="14" name="Shape 12">
            <a:extLst xmlns:a="http://schemas.openxmlformats.org/drawingml/2006/main">
              <a:ext uri="{FF2B5EF4-FFF2-40B4-BE49-F238E27FC236}">
                <a16:creationId xmlns:a16="http://schemas.microsoft.com/office/drawing/2014/main" id="{C74DB940-72F2-4B68-9C50-7CE9062FB606}"/>
              </a:ext>
            </a:extLst>
          </p:cNvPr>
          <p:cNvSpPr>
            <a:spLocks xmlns:a="http://schemas.openxmlformats.org/drawingml/2006/main" noGrp="1"/>
          </p:cNvSpPr>
          <p:nvPr/>
        </p:nvSpPr>
        <p:spPr>
          <a:xfrm xmlns:a="http://schemas.openxmlformats.org/drawingml/2006/main" rot="5400000">
            <a:off x="1221638" y="5875020"/>
            <a:ext cx="274320" cy="240030"/>
          </a:xfrm>
          <a:prstGeom xmlns:a="http://schemas.openxmlformats.org/drawingml/2006/main" prst="triangle">
            <a:avLst/>
          </a:prstGeom>
          <a:solidFill xmlns:a="http://schemas.openxmlformats.org/drawingml/2006/main">
            <a:srgbClr val="B9C8E8"/>
          </a:solidFill>
        </p:spPr>
      </p:sp>
      <p:sp>
        <p:nvSpPr>
          <p:cNvPr id="15" name="Shape 13">
            <a:extLst xmlns:a="http://schemas.openxmlformats.org/drawingml/2006/main">
              <a:ext uri="{FF2B5EF4-FFF2-40B4-BE49-F238E27FC236}">
                <a16:creationId xmlns:a16="http://schemas.microsoft.com/office/drawing/2014/main" id="{BC986C29-8EC7-47CE-BF18-B4102FD3DC95}"/>
              </a:ext>
            </a:extLst>
          </p:cNvPr>
          <p:cNvSpPr>
            <a:spLocks xmlns:a="http://schemas.openxmlformats.org/drawingml/2006/main" noGrp="1"/>
          </p:cNvSpPr>
          <p:nvPr/>
        </p:nvSpPr>
        <p:spPr>
          <a:xfrm xmlns:a="http://schemas.openxmlformats.org/drawingml/2006/main" rot="5400000">
            <a:off x="1512418" y="5634990"/>
            <a:ext cx="274320" cy="240030"/>
          </a:xfrm>
          <a:prstGeom xmlns:a="http://schemas.openxmlformats.org/drawingml/2006/main" prst="triangle">
            <a:avLst/>
          </a:prstGeom>
          <a:solidFill xmlns:a="http://schemas.openxmlformats.org/drawingml/2006/main">
            <a:srgbClr val="DCE6F8"/>
          </a:solidFill>
        </p:spPr>
      </p:sp>
      <p:sp>
        <p:nvSpPr>
          <p:cNvPr id="16" name="Shape 14">
            <a:extLst xmlns:a="http://schemas.openxmlformats.org/drawingml/2006/main">
              <a:ext uri="{FF2B5EF4-FFF2-40B4-BE49-F238E27FC236}">
                <a16:creationId xmlns:a16="http://schemas.microsoft.com/office/drawing/2014/main" id="{9AF7F309-9D1F-432D-993B-EE4BBD9472E0}"/>
              </a:ext>
            </a:extLst>
          </p:cNvPr>
          <p:cNvSpPr>
            <a:spLocks xmlns:a="http://schemas.openxmlformats.org/drawingml/2006/main" noGrp="1"/>
          </p:cNvSpPr>
          <p:nvPr/>
        </p:nvSpPr>
        <p:spPr>
          <a:xfrm xmlns:a="http://schemas.openxmlformats.org/drawingml/2006/main" rot="5400000" flipH="1">
            <a:off x="1512418" y="6115050"/>
            <a:ext cx="274320" cy="240030"/>
          </a:xfrm>
          <a:prstGeom xmlns:a="http://schemas.openxmlformats.org/drawingml/2006/main" prst="triangle">
            <a:avLst/>
          </a:prstGeom>
          <a:solidFill xmlns:a="http://schemas.openxmlformats.org/drawingml/2006/main">
            <a:srgbClr val="00A79D"/>
          </a:solidFill>
        </p:spPr>
      </p:sp>
      <p:sp>
        <p:nvSpPr>
          <p:cNvPr id="17" name="Shape 15">
            <a:extLst xmlns:a="http://schemas.openxmlformats.org/drawingml/2006/main">
              <a:ext uri="{FF2B5EF4-FFF2-40B4-BE49-F238E27FC236}">
                <a16:creationId xmlns:a16="http://schemas.microsoft.com/office/drawing/2014/main" id="{4DF9F3A8-3318-46F3-BE52-8D3884E305A8}"/>
              </a:ext>
            </a:extLst>
          </p:cNvPr>
          <p:cNvSpPr>
            <a:spLocks xmlns:a="http://schemas.openxmlformats.org/drawingml/2006/main" noGrp="1"/>
          </p:cNvSpPr>
          <p:nvPr/>
        </p:nvSpPr>
        <p:spPr>
          <a:xfrm xmlns:a="http://schemas.openxmlformats.org/drawingml/2006/main" rot="5400000">
            <a:off x="1803197" y="5875020"/>
            <a:ext cx="274320" cy="240030"/>
          </a:xfrm>
          <a:prstGeom xmlns:a="http://schemas.openxmlformats.org/drawingml/2006/main" prst="triangle">
            <a:avLst/>
          </a:prstGeom>
          <a:solidFill xmlns:a="http://schemas.openxmlformats.org/drawingml/2006/main">
            <a:srgbClr val="29ABE2"/>
          </a:solidFill>
        </p:spPr>
      </p:sp>
      <p:sp>
        <p:nvSpPr>
          <p:cNvPr id="18" name="Text 16">
            <a:extLst xmlns:a="http://schemas.openxmlformats.org/drawingml/2006/main">
              <a:ext uri="{FF2B5EF4-FFF2-40B4-BE49-F238E27FC236}">
                <a16:creationId xmlns:a16="http://schemas.microsoft.com/office/drawing/2014/main" id="{13B60037-1819-4B5A-A25F-3ACADA52B7CE}"/>
              </a:ext>
            </a:extLst>
          </p:cNvPr>
          <p:cNvSpPr>
            <a:spLocks xmlns:a="http://schemas.openxmlformats.org/drawingml/2006/main" noGrp="1"/>
          </p:cNvSpPr>
          <p:nvPr/>
        </p:nvSpPr>
        <p:spPr>
          <a:xfrm xmlns:a="http://schemas.openxmlformats.org/drawingml/2006/main">
            <a:off x="1097280" y="192024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spc="300">
                <a:solidFill>
                  <a:srgbClr val="00A79D"/>
                </a:solidFill>
                <a:latin typeface="Calibri"/>
                <a:ea typeface="Calibri"/>
                <a:cs typeface="Calibri"/>
              </a:rPr>
              <a:t>MODULE 6 TAKEAWAY</a:t>
            </a:r>
            <a:endParaRPr sz="1300"/>
          </a:p>
        </p:txBody>
      </p:sp>
      <p:sp>
        <p:nvSpPr>
          <p:cNvPr id="19" name="Text 17">
            <a:extLst xmlns:a="http://schemas.openxmlformats.org/drawingml/2006/main">
              <a:ext uri="{FF2B5EF4-FFF2-40B4-BE49-F238E27FC236}">
                <a16:creationId xmlns:a16="http://schemas.microsoft.com/office/drawing/2014/main" id="{53F3DFA5-CA2D-47BA-A020-D2F106244453}"/>
              </a:ext>
            </a:extLst>
          </p:cNvPr>
          <p:cNvSpPr>
            <a:spLocks xmlns:a="http://schemas.openxmlformats.org/drawingml/2006/main" noGrp="1"/>
          </p:cNvSpPr>
          <p:nvPr/>
        </p:nvSpPr>
        <p:spPr>
          <a:xfrm xmlns:a="http://schemas.openxmlformats.org/drawingml/2006/main">
            <a:off x="1097280" y="2377440"/>
            <a:ext cx="9994392" cy="1737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3000" b="1">
                <a:solidFill>
                  <a:srgbClr val="1D2A5C"/>
                </a:solidFill>
                <a:latin typeface="Calibri"/>
                <a:ea typeface="Calibri"/>
                <a:cs typeface="Calibri"/>
              </a:rPr>
              <a:t>Typed config. Secrets that never touch git. Logs a machine can query.</a:t>
            </a:r>
            <a:endParaRPr sz="3000"/>
          </a:p>
        </p:txBody>
      </p:sp>
      <p:sp>
        <p:nvSpPr>
          <p:cNvPr id="20" name="Text 18">
            <a:extLst xmlns:a="http://schemas.openxmlformats.org/drawingml/2006/main">
              <a:ext uri="{FF2B5EF4-FFF2-40B4-BE49-F238E27FC236}">
                <a16:creationId xmlns:a16="http://schemas.microsoft.com/office/drawing/2014/main" id="{72F9CD1D-20F5-43CD-A2A2-D39F97BB4F46}"/>
              </a:ext>
            </a:extLst>
          </p:cNvPr>
          <p:cNvSpPr>
            <a:spLocks xmlns:a="http://schemas.openxmlformats.org/drawingml/2006/main" noGrp="1"/>
          </p:cNvSpPr>
          <p:nvPr/>
        </p:nvSpPr>
        <p:spPr>
          <a:xfrm xmlns:a="http://schemas.openxmlformats.org/drawingml/2006/main">
            <a:off x="2011680" y="4251960"/>
            <a:ext cx="8165592"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350">
                <a:solidFill>
                  <a:srgbClr val="5F6B7A"/>
                </a:solidFill>
                <a:latin typeface="Calibri"/>
                <a:ea typeface="Calibri"/>
                <a:cs typeface="Calibri"/>
              </a:rPr>
              <a:t>Three quiet disciplines separate operable services from mysterious ones. The fraud service is now hardened in all three — ready for the capstone.</a:t>
            </a:r>
            <a:endParaRPr sz="1350"/>
          </a:p>
        </p:txBody>
      </p:sp>
      <p:pic>
        <p:nvPicPr>
          <p:cNvPr id="44" name="Image 0"/>
          <p:cNvPicPr>
            <a:picLocks xmlns:a="http://schemas.openxmlformats.org/drawingml/2006/main" noChangeAspect="1"/>
          </p:cNvPicPr>
          <p:nvPr/>
        </p:nvPicPr>
        <p:blipFill>
          <a:blip xmlns:r="http://schemas.openxmlformats.org/officeDocument/2006/relationships" xmlns:a="http://schemas.openxmlformats.org/drawingml/2006/main" r:embed="R482b9822f2a54080"/>
          <a:stretch xmlns:a="http://schemas.openxmlformats.org/drawingml/2006/main">
            <a:fillRect l="0" t="0" r="0" b="0"/>
          </a:stretch>
        </p:blipFill>
        <p:spPr>
          <a:xfrm xmlns:a="http://schemas.openxmlformats.org/drawingml/2006/main">
            <a:off x="5559552" y="6172200"/>
            <a:ext cx="1078992" cy="265176"/>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1C00366B-8BA3-41C2-A934-D821216FE489}"/>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 MODULE 6   </a:t>
            </a:r>
            <a:r>
              <a:rPr sz="850" spc="100">
                <a:solidFill>
                  <a:srgbClr val="8A96A6"/>
                </a:solidFill>
                <a:latin typeface="Calibri"/>
                <a:ea typeface="Calibri"/>
                <a:cs typeface="Calibri"/>
              </a:rPr>
              <a:t>SDA-AIE-113 · Software Engineering Practices for AI Systems</a:t>
            </a:r>
            <a:endParaRPr sz="850"/>
          </a:p>
        </p:txBody>
      </p:sp>
      <p:sp>
        <p:nvSpPr>
          <p:cNvPr id="23" name="Text 20">
            <a:extLst xmlns:a="http://schemas.openxmlformats.org/drawingml/2006/main">
              <a:ext uri="{FF2B5EF4-FFF2-40B4-BE49-F238E27FC236}">
                <a16:creationId xmlns:a16="http://schemas.microsoft.com/office/drawing/2014/main" id="{2BE1A3D6-F9DB-41C1-AB98-C9201274989B}"/>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143</a:t>
            </a:r>
            <a:endParaRPr sz="850"/>
          </a:p>
        </p:txBody>
      </p:sp>
    </p:spTree>
    <p:extLst>
      <p:ext uri="{BB962C8B-B14F-4D97-AF65-F5344CB8AC3E}">
        <p14:creationId xmlns:p14="http://schemas.microsoft.com/office/powerpoint/2010/main" val="1799248986"/>
      </p:ext>
    </p:extLst>
  </p:cSld>
</p:sld>
</file>

<file path=ppt/slides/slide1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38B2C3C-3D86-4778-A4AA-F198B7833BB0}"/>
              </a:ext>
            </a:extLst>
          </p:cNvPr>
          <p:cNvSpPr>
            <a:spLocks xmlns:a="http://schemas.openxmlformats.org/drawingml/2006/main" noGrp="1"/>
          </p:cNvSpPr>
          <p:nvPr/>
        </p:nvSpPr>
        <p:spPr>
          <a:xfrm xmlns:a="http://schemas.openxmlformats.org/drawingml/2006/main" rot="5400000" flipH="1">
            <a:off x="9692640" y="1124712"/>
            <a:ext cx="329184" cy="288036"/>
          </a:xfrm>
          <a:prstGeom xmlns:a="http://schemas.openxmlformats.org/drawingml/2006/main" prst="triangle">
            <a:avLst/>
          </a:prstGeom>
          <a:solidFill xmlns:a="http://schemas.openxmlformats.org/drawingml/2006/main">
            <a:srgbClr val="00A79D"/>
          </a:solidFill>
        </p:spPr>
      </p:sp>
      <p:sp>
        <p:nvSpPr>
          <p:cNvPr id="3" name="Shape 1">
            <a:extLst xmlns:a="http://schemas.openxmlformats.org/drawingml/2006/main">
              <a:ext uri="{FF2B5EF4-FFF2-40B4-BE49-F238E27FC236}">
                <a16:creationId xmlns:a16="http://schemas.microsoft.com/office/drawing/2014/main" id="{7AE06478-BB31-4F27-BA91-C65216D346B0}"/>
              </a:ext>
            </a:extLst>
          </p:cNvPr>
          <p:cNvSpPr>
            <a:spLocks xmlns:a="http://schemas.openxmlformats.org/drawingml/2006/main" noGrp="1"/>
          </p:cNvSpPr>
          <p:nvPr/>
        </p:nvSpPr>
        <p:spPr>
          <a:xfrm xmlns:a="http://schemas.openxmlformats.org/drawingml/2006/main" rot="5400000">
            <a:off x="10041575" y="836676"/>
            <a:ext cx="329184" cy="288036"/>
          </a:xfrm>
          <a:prstGeom xmlns:a="http://schemas.openxmlformats.org/drawingml/2006/main" prst="triangle">
            <a:avLst/>
          </a:prstGeom>
          <a:solidFill xmlns:a="http://schemas.openxmlformats.org/drawingml/2006/main">
            <a:srgbClr val="29ABE2"/>
          </a:solidFill>
        </p:spPr>
      </p:sp>
      <p:sp>
        <p:nvSpPr>
          <p:cNvPr id="4" name="Shape 2">
            <a:extLst xmlns:a="http://schemas.openxmlformats.org/drawingml/2006/main">
              <a:ext uri="{FF2B5EF4-FFF2-40B4-BE49-F238E27FC236}">
                <a16:creationId xmlns:a16="http://schemas.microsoft.com/office/drawing/2014/main" id="{C6E25A21-256F-4E9D-9D80-06E9305A39BA}"/>
              </a:ext>
            </a:extLst>
          </p:cNvPr>
          <p:cNvSpPr>
            <a:spLocks xmlns:a="http://schemas.openxmlformats.org/drawingml/2006/main" noGrp="1"/>
          </p:cNvSpPr>
          <p:nvPr/>
        </p:nvSpPr>
        <p:spPr>
          <a:xfrm xmlns:a="http://schemas.openxmlformats.org/drawingml/2006/main" rot="5400000">
            <a:off x="10041575" y="1412748"/>
            <a:ext cx="329184" cy="288036"/>
          </a:xfrm>
          <a:prstGeom xmlns:a="http://schemas.openxmlformats.org/drawingml/2006/main" prst="triangle">
            <a:avLst/>
          </a:prstGeom>
          <a:solidFill xmlns:a="http://schemas.openxmlformats.org/drawingml/2006/main">
            <a:srgbClr val="F58220"/>
          </a:solidFill>
        </p:spPr>
      </p:sp>
      <p:sp>
        <p:nvSpPr>
          <p:cNvPr id="5" name="Shape 3">
            <a:extLst xmlns:a="http://schemas.openxmlformats.org/drawingml/2006/main">
              <a:ext uri="{FF2B5EF4-FFF2-40B4-BE49-F238E27FC236}">
                <a16:creationId xmlns:a16="http://schemas.microsoft.com/office/drawing/2014/main" id="{727D9577-9F6F-4ABE-859B-95DB8FDEA343}"/>
              </a:ext>
            </a:extLst>
          </p:cNvPr>
          <p:cNvSpPr>
            <a:spLocks xmlns:a="http://schemas.openxmlformats.org/drawingml/2006/main" noGrp="1"/>
          </p:cNvSpPr>
          <p:nvPr/>
        </p:nvSpPr>
        <p:spPr>
          <a:xfrm xmlns:a="http://schemas.openxmlformats.org/drawingml/2006/main" rot="5400000" flipH="1">
            <a:off x="10390510" y="548640"/>
            <a:ext cx="329184" cy="288036"/>
          </a:xfrm>
          <a:prstGeom xmlns:a="http://schemas.openxmlformats.org/drawingml/2006/main" prst="triangle">
            <a:avLst/>
          </a:prstGeom>
          <a:solidFill xmlns:a="http://schemas.openxmlformats.org/drawingml/2006/main">
            <a:srgbClr val="8DC63F"/>
          </a:solidFill>
        </p:spPr>
      </p:sp>
      <p:sp>
        <p:nvSpPr>
          <p:cNvPr id="6" name="Shape 4">
            <a:extLst xmlns:a="http://schemas.openxmlformats.org/drawingml/2006/main">
              <a:ext uri="{FF2B5EF4-FFF2-40B4-BE49-F238E27FC236}">
                <a16:creationId xmlns:a16="http://schemas.microsoft.com/office/drawing/2014/main" id="{2BCA3EA4-E2EC-49B0-9008-AACAE016FABD}"/>
              </a:ext>
            </a:extLst>
          </p:cNvPr>
          <p:cNvSpPr>
            <a:spLocks xmlns:a="http://schemas.openxmlformats.org/drawingml/2006/main" noGrp="1"/>
          </p:cNvSpPr>
          <p:nvPr/>
        </p:nvSpPr>
        <p:spPr>
          <a:xfrm xmlns:a="http://schemas.openxmlformats.org/drawingml/2006/main" rot="5400000">
            <a:off x="10390510" y="1124712"/>
            <a:ext cx="329184" cy="288036"/>
          </a:xfrm>
          <a:prstGeom xmlns:a="http://schemas.openxmlformats.org/drawingml/2006/main" prst="triangle">
            <a:avLst/>
          </a:prstGeom>
          <a:solidFill xmlns:a="http://schemas.openxmlformats.org/drawingml/2006/main">
            <a:srgbClr val="B9C8E8"/>
          </a:solidFill>
        </p:spPr>
      </p:sp>
      <p:sp>
        <p:nvSpPr>
          <p:cNvPr id="7" name="Shape 5">
            <a:extLst xmlns:a="http://schemas.openxmlformats.org/drawingml/2006/main">
              <a:ext uri="{FF2B5EF4-FFF2-40B4-BE49-F238E27FC236}">
                <a16:creationId xmlns:a16="http://schemas.microsoft.com/office/drawing/2014/main" id="{36FE4DD6-181D-49AB-9664-DCD9CF3CF6D8}"/>
              </a:ext>
            </a:extLst>
          </p:cNvPr>
          <p:cNvSpPr>
            <a:spLocks xmlns:a="http://schemas.openxmlformats.org/drawingml/2006/main" noGrp="1"/>
          </p:cNvSpPr>
          <p:nvPr/>
        </p:nvSpPr>
        <p:spPr>
          <a:xfrm xmlns:a="http://schemas.openxmlformats.org/drawingml/2006/main" rot="5400000">
            <a:off x="10739445" y="836676"/>
            <a:ext cx="329184" cy="288036"/>
          </a:xfrm>
          <a:prstGeom xmlns:a="http://schemas.openxmlformats.org/drawingml/2006/main" prst="triangle">
            <a:avLst/>
          </a:prstGeom>
          <a:solidFill xmlns:a="http://schemas.openxmlformats.org/drawingml/2006/main">
            <a:srgbClr val="00A79D"/>
          </a:solidFill>
        </p:spPr>
      </p:sp>
      <p:sp>
        <p:nvSpPr>
          <p:cNvPr id="8" name="Shape 6">
            <a:extLst xmlns:a="http://schemas.openxmlformats.org/drawingml/2006/main">
              <a:ext uri="{FF2B5EF4-FFF2-40B4-BE49-F238E27FC236}">
                <a16:creationId xmlns:a16="http://schemas.microsoft.com/office/drawing/2014/main" id="{1CDFCED0-87D4-4578-BB36-70BF25DE0FED}"/>
              </a:ext>
            </a:extLst>
          </p:cNvPr>
          <p:cNvSpPr>
            <a:spLocks xmlns:a="http://schemas.openxmlformats.org/drawingml/2006/main" noGrp="1"/>
          </p:cNvSpPr>
          <p:nvPr/>
        </p:nvSpPr>
        <p:spPr>
          <a:xfrm xmlns:a="http://schemas.openxmlformats.org/drawingml/2006/main" rot="5400000" flipH="1">
            <a:off x="10739445" y="1412748"/>
            <a:ext cx="329184" cy="288036"/>
          </a:xfrm>
          <a:prstGeom xmlns:a="http://schemas.openxmlformats.org/drawingml/2006/main" prst="triangle">
            <a:avLst/>
          </a:prstGeom>
          <a:solidFill xmlns:a="http://schemas.openxmlformats.org/drawingml/2006/main">
            <a:srgbClr val="29ABE2"/>
          </a:solidFill>
        </p:spPr>
      </p:sp>
      <p:sp>
        <p:nvSpPr>
          <p:cNvPr id="9" name="Shape 7">
            <a:extLst xmlns:a="http://schemas.openxmlformats.org/drawingml/2006/main">
              <a:ext uri="{FF2B5EF4-FFF2-40B4-BE49-F238E27FC236}">
                <a16:creationId xmlns:a16="http://schemas.microsoft.com/office/drawing/2014/main" id="{26F86F0C-E7AA-4188-A7A2-5577259570DB}"/>
              </a:ext>
            </a:extLst>
          </p:cNvPr>
          <p:cNvSpPr>
            <a:spLocks xmlns:a="http://schemas.openxmlformats.org/drawingml/2006/main" noGrp="1"/>
          </p:cNvSpPr>
          <p:nvPr/>
        </p:nvSpPr>
        <p:spPr>
          <a:xfrm xmlns:a="http://schemas.openxmlformats.org/drawingml/2006/main" rot="5400000">
            <a:off x="11088380" y="1124712"/>
            <a:ext cx="329184" cy="288036"/>
          </a:xfrm>
          <a:prstGeom xmlns:a="http://schemas.openxmlformats.org/drawingml/2006/main" prst="triangle">
            <a:avLst/>
          </a:prstGeom>
          <a:solidFill xmlns:a="http://schemas.openxmlformats.org/drawingml/2006/main">
            <a:srgbClr val="F58220"/>
          </a:solidFill>
        </p:spPr>
      </p:sp>
      <p:sp>
        <p:nvSpPr>
          <p:cNvPr id="10" name="Shape 8">
            <a:extLst xmlns:a="http://schemas.openxmlformats.org/drawingml/2006/main">
              <a:ext uri="{FF2B5EF4-FFF2-40B4-BE49-F238E27FC236}">
                <a16:creationId xmlns:a16="http://schemas.microsoft.com/office/drawing/2014/main" id="{2213D85E-E931-47DF-94CF-FBCC552E1AF6}"/>
              </a:ext>
            </a:extLst>
          </p:cNvPr>
          <p:cNvSpPr>
            <a:spLocks xmlns:a="http://schemas.openxmlformats.org/drawingml/2006/main" noGrp="1"/>
          </p:cNvSpPr>
          <p:nvPr/>
        </p:nvSpPr>
        <p:spPr>
          <a:xfrm xmlns:a="http://schemas.openxmlformats.org/drawingml/2006/main" rot="5400000" flipH="1">
            <a:off x="640080" y="5875020"/>
            <a:ext cx="274320" cy="240030"/>
          </a:xfrm>
          <a:prstGeom xmlns:a="http://schemas.openxmlformats.org/drawingml/2006/main" prst="triangle">
            <a:avLst/>
          </a:prstGeom>
          <a:solidFill xmlns:a="http://schemas.openxmlformats.org/drawingml/2006/main">
            <a:srgbClr val="B9C8E8"/>
          </a:solidFill>
        </p:spPr>
      </p:sp>
      <p:sp>
        <p:nvSpPr>
          <p:cNvPr id="11" name="Shape 9">
            <a:extLst xmlns:a="http://schemas.openxmlformats.org/drawingml/2006/main">
              <a:ext uri="{FF2B5EF4-FFF2-40B4-BE49-F238E27FC236}">
                <a16:creationId xmlns:a16="http://schemas.microsoft.com/office/drawing/2014/main" id="{0CF43EEB-AC99-401B-A8DF-BE8996920043}"/>
              </a:ext>
            </a:extLst>
          </p:cNvPr>
          <p:cNvSpPr>
            <a:spLocks xmlns:a="http://schemas.openxmlformats.org/drawingml/2006/main" noGrp="1"/>
          </p:cNvSpPr>
          <p:nvPr/>
        </p:nvSpPr>
        <p:spPr>
          <a:xfrm xmlns:a="http://schemas.openxmlformats.org/drawingml/2006/main" rot="5400000">
            <a:off x="930859" y="5634990"/>
            <a:ext cx="274320" cy="240030"/>
          </a:xfrm>
          <a:prstGeom xmlns:a="http://schemas.openxmlformats.org/drawingml/2006/main" prst="triangle">
            <a:avLst/>
          </a:prstGeom>
          <a:solidFill xmlns:a="http://schemas.openxmlformats.org/drawingml/2006/main">
            <a:srgbClr val="DCE6F8"/>
          </a:solidFill>
        </p:spPr>
      </p:sp>
      <p:sp>
        <p:nvSpPr>
          <p:cNvPr id="12" name="Shape 10">
            <a:extLst xmlns:a="http://schemas.openxmlformats.org/drawingml/2006/main">
              <a:ext uri="{FF2B5EF4-FFF2-40B4-BE49-F238E27FC236}">
                <a16:creationId xmlns:a16="http://schemas.microsoft.com/office/drawing/2014/main" id="{358A2685-9F98-4F0B-9898-E728D7D96EAC}"/>
              </a:ext>
            </a:extLst>
          </p:cNvPr>
          <p:cNvSpPr>
            <a:spLocks xmlns:a="http://schemas.openxmlformats.org/drawingml/2006/main" noGrp="1"/>
          </p:cNvSpPr>
          <p:nvPr/>
        </p:nvSpPr>
        <p:spPr>
          <a:xfrm xmlns:a="http://schemas.openxmlformats.org/drawingml/2006/main" rot="5400000">
            <a:off x="930859" y="6115050"/>
            <a:ext cx="274320" cy="240030"/>
          </a:xfrm>
          <a:prstGeom xmlns:a="http://schemas.openxmlformats.org/drawingml/2006/main" prst="triangle">
            <a:avLst/>
          </a:prstGeom>
          <a:solidFill xmlns:a="http://schemas.openxmlformats.org/drawingml/2006/main">
            <a:srgbClr val="00A79D"/>
          </a:solidFill>
        </p:spPr>
      </p:sp>
      <p:sp>
        <p:nvSpPr>
          <p:cNvPr id="13" name="Shape 11">
            <a:extLst xmlns:a="http://schemas.openxmlformats.org/drawingml/2006/main">
              <a:ext uri="{FF2B5EF4-FFF2-40B4-BE49-F238E27FC236}">
                <a16:creationId xmlns:a16="http://schemas.microsoft.com/office/drawing/2014/main" id="{5F26F8EB-FFC0-4A96-BEF9-9EE6D6876DBD}"/>
              </a:ext>
            </a:extLst>
          </p:cNvPr>
          <p:cNvSpPr>
            <a:spLocks xmlns:a="http://schemas.openxmlformats.org/drawingml/2006/main" noGrp="1"/>
          </p:cNvSpPr>
          <p:nvPr/>
        </p:nvSpPr>
        <p:spPr>
          <a:xfrm xmlns:a="http://schemas.openxmlformats.org/drawingml/2006/main" rot="5400000" flipH="1">
            <a:off x="1221638" y="5394960"/>
            <a:ext cx="274320" cy="240030"/>
          </a:xfrm>
          <a:prstGeom xmlns:a="http://schemas.openxmlformats.org/drawingml/2006/main" prst="triangle">
            <a:avLst/>
          </a:prstGeom>
          <a:solidFill xmlns:a="http://schemas.openxmlformats.org/drawingml/2006/main">
            <a:srgbClr val="29ABE2"/>
          </a:solidFill>
        </p:spPr>
      </p:sp>
      <p:sp>
        <p:nvSpPr>
          <p:cNvPr id="14" name="Shape 12">
            <a:extLst xmlns:a="http://schemas.openxmlformats.org/drawingml/2006/main">
              <a:ext uri="{FF2B5EF4-FFF2-40B4-BE49-F238E27FC236}">
                <a16:creationId xmlns:a16="http://schemas.microsoft.com/office/drawing/2014/main" id="{1FBA6A66-F192-4BFB-ABC3-3975CCF927E3}"/>
              </a:ext>
            </a:extLst>
          </p:cNvPr>
          <p:cNvSpPr>
            <a:spLocks xmlns:a="http://schemas.openxmlformats.org/drawingml/2006/main" noGrp="1"/>
          </p:cNvSpPr>
          <p:nvPr/>
        </p:nvSpPr>
        <p:spPr>
          <a:xfrm xmlns:a="http://schemas.openxmlformats.org/drawingml/2006/main" rot="5400000">
            <a:off x="1221638" y="5875020"/>
            <a:ext cx="274320" cy="240030"/>
          </a:xfrm>
          <a:prstGeom xmlns:a="http://schemas.openxmlformats.org/drawingml/2006/main" prst="triangle">
            <a:avLst/>
          </a:prstGeom>
          <a:solidFill xmlns:a="http://schemas.openxmlformats.org/drawingml/2006/main">
            <a:srgbClr val="B9C8E8"/>
          </a:solidFill>
        </p:spPr>
      </p:sp>
      <p:sp>
        <p:nvSpPr>
          <p:cNvPr id="15" name="Shape 13">
            <a:extLst xmlns:a="http://schemas.openxmlformats.org/drawingml/2006/main">
              <a:ext uri="{FF2B5EF4-FFF2-40B4-BE49-F238E27FC236}">
                <a16:creationId xmlns:a16="http://schemas.microsoft.com/office/drawing/2014/main" id="{1CD1916A-8F1F-47A4-8B36-C933DFD7DC78}"/>
              </a:ext>
            </a:extLst>
          </p:cNvPr>
          <p:cNvSpPr>
            <a:spLocks xmlns:a="http://schemas.openxmlformats.org/drawingml/2006/main" noGrp="1"/>
          </p:cNvSpPr>
          <p:nvPr/>
        </p:nvSpPr>
        <p:spPr>
          <a:xfrm xmlns:a="http://schemas.openxmlformats.org/drawingml/2006/main" rot="5400000">
            <a:off x="1512418" y="5634990"/>
            <a:ext cx="274320" cy="240030"/>
          </a:xfrm>
          <a:prstGeom xmlns:a="http://schemas.openxmlformats.org/drawingml/2006/main" prst="triangle">
            <a:avLst/>
          </a:prstGeom>
          <a:solidFill xmlns:a="http://schemas.openxmlformats.org/drawingml/2006/main">
            <a:srgbClr val="DCE6F8"/>
          </a:solidFill>
        </p:spPr>
      </p:sp>
      <p:sp>
        <p:nvSpPr>
          <p:cNvPr id="16" name="Shape 14">
            <a:extLst xmlns:a="http://schemas.openxmlformats.org/drawingml/2006/main">
              <a:ext uri="{FF2B5EF4-FFF2-40B4-BE49-F238E27FC236}">
                <a16:creationId xmlns:a16="http://schemas.microsoft.com/office/drawing/2014/main" id="{25E3CA82-CF21-4552-B929-3D69121441B0}"/>
              </a:ext>
            </a:extLst>
          </p:cNvPr>
          <p:cNvSpPr>
            <a:spLocks xmlns:a="http://schemas.openxmlformats.org/drawingml/2006/main" noGrp="1"/>
          </p:cNvSpPr>
          <p:nvPr/>
        </p:nvSpPr>
        <p:spPr>
          <a:xfrm xmlns:a="http://schemas.openxmlformats.org/drawingml/2006/main" rot="5400000" flipH="1">
            <a:off x="1512418" y="6115050"/>
            <a:ext cx="274320" cy="240030"/>
          </a:xfrm>
          <a:prstGeom xmlns:a="http://schemas.openxmlformats.org/drawingml/2006/main" prst="triangle">
            <a:avLst/>
          </a:prstGeom>
          <a:solidFill xmlns:a="http://schemas.openxmlformats.org/drawingml/2006/main">
            <a:srgbClr val="00A79D"/>
          </a:solidFill>
        </p:spPr>
      </p:sp>
      <p:sp>
        <p:nvSpPr>
          <p:cNvPr id="17" name="Shape 15">
            <a:extLst xmlns:a="http://schemas.openxmlformats.org/drawingml/2006/main">
              <a:ext uri="{FF2B5EF4-FFF2-40B4-BE49-F238E27FC236}">
                <a16:creationId xmlns:a16="http://schemas.microsoft.com/office/drawing/2014/main" id="{47B66D6E-8339-4178-8739-8E0725942D37}"/>
              </a:ext>
            </a:extLst>
          </p:cNvPr>
          <p:cNvSpPr>
            <a:spLocks xmlns:a="http://schemas.openxmlformats.org/drawingml/2006/main" noGrp="1"/>
          </p:cNvSpPr>
          <p:nvPr/>
        </p:nvSpPr>
        <p:spPr>
          <a:xfrm xmlns:a="http://schemas.openxmlformats.org/drawingml/2006/main" rot="5400000">
            <a:off x="1803197" y="5875020"/>
            <a:ext cx="274320" cy="240030"/>
          </a:xfrm>
          <a:prstGeom xmlns:a="http://schemas.openxmlformats.org/drawingml/2006/main" prst="triangle">
            <a:avLst/>
          </a:prstGeom>
          <a:solidFill xmlns:a="http://schemas.openxmlformats.org/drawingml/2006/main">
            <a:srgbClr val="29ABE2"/>
          </a:solidFill>
        </p:spPr>
      </p:sp>
      <p:sp>
        <p:nvSpPr>
          <p:cNvPr id="18" name="Text 16">
            <a:extLst xmlns:a="http://schemas.openxmlformats.org/drawingml/2006/main">
              <a:ext uri="{FF2B5EF4-FFF2-40B4-BE49-F238E27FC236}">
                <a16:creationId xmlns:a16="http://schemas.microsoft.com/office/drawing/2014/main" id="{4C5B1EA6-5BF0-4EF0-8CD5-F69D20E1EDB7}"/>
              </a:ext>
            </a:extLst>
          </p:cNvPr>
          <p:cNvSpPr>
            <a:spLocks xmlns:a="http://schemas.openxmlformats.org/drawingml/2006/main" noGrp="1"/>
          </p:cNvSpPr>
          <p:nvPr/>
        </p:nvSpPr>
        <p:spPr>
          <a:xfrm xmlns:a="http://schemas.openxmlformats.org/drawingml/2006/main">
            <a:off x="1097280" y="192024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spc="300">
                <a:solidFill>
                  <a:srgbClr val="00A79D"/>
                </a:solidFill>
                <a:latin typeface="Calibri"/>
                <a:ea typeface="Calibri"/>
                <a:cs typeface="Calibri"/>
              </a:rPr>
              <a:t>DAY 3 — MODULE WORK COMPLETE</a:t>
            </a:r>
            <a:endParaRPr sz="1300"/>
          </a:p>
        </p:txBody>
      </p:sp>
      <p:sp>
        <p:nvSpPr>
          <p:cNvPr id="19" name="Text 17">
            <a:extLst xmlns:a="http://schemas.openxmlformats.org/drawingml/2006/main">
              <a:ext uri="{FF2B5EF4-FFF2-40B4-BE49-F238E27FC236}">
                <a16:creationId xmlns:a16="http://schemas.microsoft.com/office/drawing/2014/main" id="{19801D13-FD3C-4AA6-8698-2D4EA638F9C6}"/>
              </a:ext>
            </a:extLst>
          </p:cNvPr>
          <p:cNvSpPr>
            <a:spLocks xmlns:a="http://schemas.openxmlformats.org/drawingml/2006/main" noGrp="1"/>
          </p:cNvSpPr>
          <p:nvPr/>
        </p:nvSpPr>
        <p:spPr>
          <a:xfrm xmlns:a="http://schemas.openxmlformats.org/drawingml/2006/main">
            <a:off x="1097280" y="2377440"/>
            <a:ext cx="9994392" cy="1737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3000" b="1">
                <a:solidFill>
                  <a:srgbClr val="1D2A5C"/>
                </a:solidFill>
                <a:latin typeface="Calibri"/>
                <a:ea typeface="Calibri"/>
                <a:cs typeface="Calibri"/>
              </a:rPr>
              <a:t>Pipeline green. Service hardened. Capstone next.</a:t>
            </a:r>
            <a:endParaRPr sz="3000"/>
          </a:p>
        </p:txBody>
      </p:sp>
      <p:sp>
        <p:nvSpPr>
          <p:cNvPr id="20" name="Text 18">
            <a:extLst xmlns:a="http://schemas.openxmlformats.org/drawingml/2006/main">
              <a:ext uri="{FF2B5EF4-FFF2-40B4-BE49-F238E27FC236}">
                <a16:creationId xmlns:a16="http://schemas.microsoft.com/office/drawing/2014/main" id="{23D04CFA-A813-485E-A0CE-6BE733C65614}"/>
              </a:ext>
            </a:extLst>
          </p:cNvPr>
          <p:cNvSpPr>
            <a:spLocks xmlns:a="http://schemas.openxmlformats.org/drawingml/2006/main" noGrp="1"/>
          </p:cNvSpPr>
          <p:nvPr/>
        </p:nvSpPr>
        <p:spPr>
          <a:xfrm xmlns:a="http://schemas.openxmlformats.org/drawingml/2006/main">
            <a:off x="2011680" y="4251960"/>
            <a:ext cx="8165592"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350">
                <a:solidFill>
                  <a:srgbClr val="5F6B7A"/>
                </a:solidFill>
                <a:latin typeface="Calibri"/>
                <a:ea typeface="Calibri"/>
                <a:cs typeface="Calibri"/>
              </a:rPr>
              <a:t>One fraud service — refactored, served, containerised, tested, automated, and hardened. Now assemble it, complete the checklist, and demo it.</a:t>
            </a:r>
            <a:endParaRPr sz="1350"/>
          </a:p>
        </p:txBody>
      </p:sp>
      <p:pic>
        <p:nvPicPr>
          <p:cNvPr id="44" name="Image 0"/>
          <p:cNvPicPr>
            <a:picLocks xmlns:a="http://schemas.openxmlformats.org/drawingml/2006/main" noChangeAspect="1"/>
          </p:cNvPicPr>
          <p:nvPr/>
        </p:nvPicPr>
        <p:blipFill>
          <a:blip xmlns:r="http://schemas.openxmlformats.org/officeDocument/2006/relationships" xmlns:a="http://schemas.openxmlformats.org/drawingml/2006/main" r:embed="R4fd50942e7064149"/>
          <a:stretch xmlns:a="http://schemas.openxmlformats.org/drawingml/2006/main">
            <a:fillRect l="0" t="0" r="0" b="0"/>
          </a:stretch>
        </p:blipFill>
        <p:spPr>
          <a:xfrm xmlns:a="http://schemas.openxmlformats.org/drawingml/2006/main">
            <a:off x="5559552" y="6172200"/>
            <a:ext cx="1078992" cy="265176"/>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4584A57A-06BF-41CE-BA7A-170E281225BC}"/>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DAY 3   </a:t>
            </a:r>
            <a:r>
              <a:rPr sz="850" spc="100">
                <a:solidFill>
                  <a:srgbClr val="8A96A6"/>
                </a:solidFill>
                <a:latin typeface="Calibri"/>
                <a:ea typeface="Calibri"/>
                <a:cs typeface="Calibri"/>
              </a:rPr>
              <a:t>SDA-AIE-113 · Software Engineering Practices for AI Systems</a:t>
            </a:r>
            <a:endParaRPr sz="850"/>
          </a:p>
        </p:txBody>
      </p:sp>
      <p:sp>
        <p:nvSpPr>
          <p:cNvPr id="23" name="Text 20">
            <a:extLst xmlns:a="http://schemas.openxmlformats.org/drawingml/2006/main">
              <a:ext uri="{FF2B5EF4-FFF2-40B4-BE49-F238E27FC236}">
                <a16:creationId xmlns:a16="http://schemas.microsoft.com/office/drawing/2014/main" id="{D8BA3E44-2D05-4F49-AD7D-34801350B34C}"/>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144</a:t>
            </a:r>
            <a:endParaRPr sz="850"/>
          </a:p>
        </p:txBody>
      </p:sp>
    </p:spTree>
    <p:extLst>
      <p:ext uri="{BB962C8B-B14F-4D97-AF65-F5344CB8AC3E}">
        <p14:creationId xmlns:p14="http://schemas.microsoft.com/office/powerpoint/2010/main" val="181333601"/>
      </p:ext>
    </p:extLst>
  </p:cSld>
</p:sld>
</file>

<file path=ppt/slides/slide145.xml><?xml version="1.0" encoding="utf-8"?>
<p:sld xmlns:p="http://schemas.openxmlformats.org/presentationml/2006/main">
  <p:cSld>
    <p:bg>
      <p:bgPr>
        <a:solidFill xmlns:a="http://schemas.openxmlformats.org/drawingml/2006/main">
          <a:srgbClr val="1D2A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2C55515-4444-4331-81A8-FFBB478459DC}"/>
              </a:ext>
            </a:extLst>
          </p:cNvPr>
          <p:cNvSpPr>
            <a:spLocks xmlns:a="http://schemas.openxmlformats.org/drawingml/2006/main" noGrp="1"/>
          </p:cNvSpPr>
          <p:nvPr/>
        </p:nvSpPr>
        <p:spPr>
          <a:xfrm xmlns:a="http://schemas.openxmlformats.org/drawingml/2006/main" rot="5400000" flipH="1">
            <a:off x="9235440" y="1298448"/>
            <a:ext cx="402336" cy="352044"/>
          </a:xfrm>
          <a:prstGeom xmlns:a="http://schemas.openxmlformats.org/drawingml/2006/main" prst="triangle">
            <a:avLst/>
          </a:prstGeom>
          <a:solidFill xmlns:a="http://schemas.openxmlformats.org/drawingml/2006/main">
            <a:srgbClr val="00A79D"/>
          </a:solidFill>
        </p:spPr>
      </p:sp>
      <p:sp>
        <p:nvSpPr>
          <p:cNvPr id="3" name="Shape 1">
            <a:extLst xmlns:a="http://schemas.openxmlformats.org/drawingml/2006/main">
              <a:ext uri="{FF2B5EF4-FFF2-40B4-BE49-F238E27FC236}">
                <a16:creationId xmlns:a16="http://schemas.microsoft.com/office/drawing/2014/main" id="{934CE20D-0AAD-45ED-9A24-EF418F93E7E8}"/>
              </a:ext>
            </a:extLst>
          </p:cNvPr>
          <p:cNvSpPr>
            <a:spLocks xmlns:a="http://schemas.openxmlformats.org/drawingml/2006/main" noGrp="1"/>
          </p:cNvSpPr>
          <p:nvPr/>
        </p:nvSpPr>
        <p:spPr>
          <a:xfrm xmlns:a="http://schemas.openxmlformats.org/drawingml/2006/main" rot="5400000">
            <a:off x="9661916" y="946404"/>
            <a:ext cx="402336" cy="352044"/>
          </a:xfrm>
          <a:prstGeom xmlns:a="http://schemas.openxmlformats.org/drawingml/2006/main" prst="triangle">
            <a:avLst/>
          </a:prstGeom>
          <a:solidFill xmlns:a="http://schemas.openxmlformats.org/drawingml/2006/main">
            <a:srgbClr val="29ABE2"/>
          </a:solidFill>
        </p:spPr>
      </p:sp>
      <p:sp>
        <p:nvSpPr>
          <p:cNvPr id="4" name="Shape 2">
            <a:extLst xmlns:a="http://schemas.openxmlformats.org/drawingml/2006/main">
              <a:ext uri="{FF2B5EF4-FFF2-40B4-BE49-F238E27FC236}">
                <a16:creationId xmlns:a16="http://schemas.microsoft.com/office/drawing/2014/main" id="{9F374750-CC83-4D05-BBC7-8F5B063C31D7}"/>
              </a:ext>
            </a:extLst>
          </p:cNvPr>
          <p:cNvSpPr>
            <a:spLocks xmlns:a="http://schemas.openxmlformats.org/drawingml/2006/main" noGrp="1"/>
          </p:cNvSpPr>
          <p:nvPr/>
        </p:nvSpPr>
        <p:spPr>
          <a:xfrm xmlns:a="http://schemas.openxmlformats.org/drawingml/2006/main" rot="5400000">
            <a:off x="9661916" y="1650492"/>
            <a:ext cx="402336" cy="352044"/>
          </a:xfrm>
          <a:prstGeom xmlns:a="http://schemas.openxmlformats.org/drawingml/2006/main" prst="triangle">
            <a:avLst/>
          </a:prstGeom>
          <a:solidFill xmlns:a="http://schemas.openxmlformats.org/drawingml/2006/main">
            <a:srgbClr val="F58220"/>
          </a:solidFill>
        </p:spPr>
      </p:sp>
      <p:sp>
        <p:nvSpPr>
          <p:cNvPr id="5" name="Shape 3">
            <a:extLst xmlns:a="http://schemas.openxmlformats.org/drawingml/2006/main">
              <a:ext uri="{FF2B5EF4-FFF2-40B4-BE49-F238E27FC236}">
                <a16:creationId xmlns:a16="http://schemas.microsoft.com/office/drawing/2014/main" id="{119C9E13-7D9C-4387-9EF0-D46E8939554E}"/>
              </a:ext>
            </a:extLst>
          </p:cNvPr>
          <p:cNvSpPr>
            <a:spLocks xmlns:a="http://schemas.openxmlformats.org/drawingml/2006/main" noGrp="1"/>
          </p:cNvSpPr>
          <p:nvPr/>
        </p:nvSpPr>
        <p:spPr>
          <a:xfrm xmlns:a="http://schemas.openxmlformats.org/drawingml/2006/main" rot="5400000" flipH="1">
            <a:off x="10088392" y="594360"/>
            <a:ext cx="402336" cy="352044"/>
          </a:xfrm>
          <a:prstGeom xmlns:a="http://schemas.openxmlformats.org/drawingml/2006/main" prst="triangle">
            <a:avLst/>
          </a:prstGeom>
          <a:solidFill xmlns:a="http://schemas.openxmlformats.org/drawingml/2006/main">
            <a:srgbClr val="8DC63F"/>
          </a:solidFill>
        </p:spPr>
      </p:sp>
      <p:sp>
        <p:nvSpPr>
          <p:cNvPr id="6" name="Shape 4">
            <a:extLst xmlns:a="http://schemas.openxmlformats.org/drawingml/2006/main">
              <a:ext uri="{FF2B5EF4-FFF2-40B4-BE49-F238E27FC236}">
                <a16:creationId xmlns:a16="http://schemas.microsoft.com/office/drawing/2014/main" id="{02B2293A-6CD6-4C67-8F6A-BED01703061F}"/>
              </a:ext>
            </a:extLst>
          </p:cNvPr>
          <p:cNvSpPr>
            <a:spLocks xmlns:a="http://schemas.openxmlformats.org/drawingml/2006/main" noGrp="1"/>
          </p:cNvSpPr>
          <p:nvPr/>
        </p:nvSpPr>
        <p:spPr>
          <a:xfrm xmlns:a="http://schemas.openxmlformats.org/drawingml/2006/main" rot="5400000">
            <a:off x="10088392" y="1298448"/>
            <a:ext cx="402336" cy="352044"/>
          </a:xfrm>
          <a:prstGeom xmlns:a="http://schemas.openxmlformats.org/drawingml/2006/main" prst="triangle">
            <a:avLst/>
          </a:prstGeom>
          <a:solidFill xmlns:a="http://schemas.openxmlformats.org/drawingml/2006/main">
            <a:srgbClr val="00A79D"/>
          </a:solidFill>
        </p:spPr>
      </p:sp>
      <p:sp>
        <p:nvSpPr>
          <p:cNvPr id="7" name="Shape 5">
            <a:extLst xmlns:a="http://schemas.openxmlformats.org/drawingml/2006/main">
              <a:ext uri="{FF2B5EF4-FFF2-40B4-BE49-F238E27FC236}">
                <a16:creationId xmlns:a16="http://schemas.microsoft.com/office/drawing/2014/main" id="{9CC47CC4-629F-4A95-99F4-D7293744FFAC}"/>
              </a:ext>
            </a:extLst>
          </p:cNvPr>
          <p:cNvSpPr>
            <a:spLocks xmlns:a="http://schemas.openxmlformats.org/drawingml/2006/main" noGrp="1"/>
          </p:cNvSpPr>
          <p:nvPr/>
        </p:nvSpPr>
        <p:spPr>
          <a:xfrm xmlns:a="http://schemas.openxmlformats.org/drawingml/2006/main" rot="5400000">
            <a:off x="10514868" y="946404"/>
            <a:ext cx="402336" cy="352044"/>
          </a:xfrm>
          <a:prstGeom xmlns:a="http://schemas.openxmlformats.org/drawingml/2006/main" prst="triangle">
            <a:avLst/>
          </a:prstGeom>
          <a:solidFill xmlns:a="http://schemas.openxmlformats.org/drawingml/2006/main">
            <a:srgbClr val="29ABE2"/>
          </a:solidFill>
        </p:spPr>
      </p:sp>
      <p:sp>
        <p:nvSpPr>
          <p:cNvPr id="8" name="Shape 6">
            <a:extLst xmlns:a="http://schemas.openxmlformats.org/drawingml/2006/main">
              <a:ext uri="{FF2B5EF4-FFF2-40B4-BE49-F238E27FC236}">
                <a16:creationId xmlns:a16="http://schemas.microsoft.com/office/drawing/2014/main" id="{5F86351B-FEC4-4590-B3B9-115CC652A9D6}"/>
              </a:ext>
            </a:extLst>
          </p:cNvPr>
          <p:cNvSpPr>
            <a:spLocks xmlns:a="http://schemas.openxmlformats.org/drawingml/2006/main" noGrp="1"/>
          </p:cNvSpPr>
          <p:nvPr/>
        </p:nvSpPr>
        <p:spPr>
          <a:xfrm xmlns:a="http://schemas.openxmlformats.org/drawingml/2006/main" rot="5400000" flipH="1">
            <a:off x="10514868" y="1650492"/>
            <a:ext cx="402336" cy="352044"/>
          </a:xfrm>
          <a:prstGeom xmlns:a="http://schemas.openxmlformats.org/drawingml/2006/main" prst="triangle">
            <a:avLst/>
          </a:prstGeom>
          <a:solidFill xmlns:a="http://schemas.openxmlformats.org/drawingml/2006/main">
            <a:srgbClr val="F58220"/>
          </a:solidFill>
        </p:spPr>
      </p:sp>
      <p:sp>
        <p:nvSpPr>
          <p:cNvPr id="9" name="Shape 7">
            <a:extLst xmlns:a="http://schemas.openxmlformats.org/drawingml/2006/main">
              <a:ext uri="{FF2B5EF4-FFF2-40B4-BE49-F238E27FC236}">
                <a16:creationId xmlns:a16="http://schemas.microsoft.com/office/drawing/2014/main" id="{440C59B5-A5D0-40B3-B95F-6576394DD4AA}"/>
              </a:ext>
            </a:extLst>
          </p:cNvPr>
          <p:cNvSpPr>
            <a:spLocks xmlns:a="http://schemas.openxmlformats.org/drawingml/2006/main" noGrp="1"/>
          </p:cNvSpPr>
          <p:nvPr/>
        </p:nvSpPr>
        <p:spPr>
          <a:xfrm xmlns:a="http://schemas.openxmlformats.org/drawingml/2006/main" rot="5400000">
            <a:off x="10941345" y="1298448"/>
            <a:ext cx="402336" cy="352044"/>
          </a:xfrm>
          <a:prstGeom xmlns:a="http://schemas.openxmlformats.org/drawingml/2006/main" prst="triangle">
            <a:avLst/>
          </a:prstGeom>
          <a:solidFill xmlns:a="http://schemas.openxmlformats.org/drawingml/2006/main">
            <a:srgbClr val="8DC63F"/>
          </a:solidFill>
        </p:spPr>
      </p:sp>
      <p:sp>
        <p:nvSpPr>
          <p:cNvPr id="10" name="Text 8">
            <a:extLst xmlns:a="http://schemas.openxmlformats.org/drawingml/2006/main">
              <a:ext uri="{FF2B5EF4-FFF2-40B4-BE49-F238E27FC236}">
                <a16:creationId xmlns:a16="http://schemas.microsoft.com/office/drawing/2014/main" id="{CA2EECD7-903B-4920-B91F-0277D0859686}"/>
              </a:ext>
            </a:extLst>
          </p:cNvPr>
          <p:cNvSpPr>
            <a:spLocks xmlns:a="http://schemas.openxmlformats.org/drawingml/2006/main" noGrp="1"/>
          </p:cNvSpPr>
          <p:nvPr/>
        </p:nvSpPr>
        <p:spPr>
          <a:xfrm xmlns:a="http://schemas.openxmlformats.org/drawingml/2006/main">
            <a:off x="777240" y="1417320"/>
            <a:ext cx="731520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spc="400">
                <a:solidFill>
                  <a:srgbClr val="00A79D"/>
                </a:solidFill>
                <a:latin typeface="Calibri"/>
                <a:ea typeface="Calibri"/>
                <a:cs typeface="Calibri"/>
              </a:rPr>
              <a:t>CAPSTONE — DAY 3</a:t>
            </a:r>
            <a:endParaRPr sz="1500"/>
          </a:p>
        </p:txBody>
      </p:sp>
      <p:sp>
        <p:nvSpPr>
          <p:cNvPr id="11" name="Text 9">
            <a:extLst xmlns:a="http://schemas.openxmlformats.org/drawingml/2006/main">
              <a:ext uri="{FF2B5EF4-FFF2-40B4-BE49-F238E27FC236}">
                <a16:creationId xmlns:a16="http://schemas.microsoft.com/office/drawing/2014/main" id="{3021A2AA-FC28-4C2A-9A98-B03EAAD61D07}"/>
              </a:ext>
            </a:extLst>
          </p:cNvPr>
          <p:cNvSpPr>
            <a:spLocks xmlns:a="http://schemas.openxmlformats.org/drawingml/2006/main" noGrp="1"/>
          </p:cNvSpPr>
          <p:nvPr/>
        </p:nvSpPr>
        <p:spPr>
          <a:xfrm xmlns:a="http://schemas.openxmlformats.org/drawingml/2006/main">
            <a:off x="749808" y="1874520"/>
            <a:ext cx="106070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600" b="1">
                <a:solidFill>
                  <a:srgbClr val="FFFFFF"/>
                </a:solidFill>
                <a:latin typeface="Calibri"/>
                <a:ea typeface="Calibri"/>
                <a:cs typeface="Calibri"/>
              </a:rPr>
              <a:t>Containerised AI Model Service Production Pipeline</a:t>
            </a:r>
            <a:endParaRPr sz="3600"/>
          </a:p>
        </p:txBody>
      </p:sp>
      <p:sp>
        <p:nvSpPr>
          <p:cNvPr id="12" name="Text 10">
            <a:extLst xmlns:a="http://schemas.openxmlformats.org/drawingml/2006/main">
              <a:ext uri="{FF2B5EF4-FFF2-40B4-BE49-F238E27FC236}">
                <a16:creationId xmlns:a16="http://schemas.microsoft.com/office/drawing/2014/main" id="{C299E5E3-16F0-4EEB-A421-CCF734CD9D1E}"/>
              </a:ext>
            </a:extLst>
          </p:cNvPr>
          <p:cNvSpPr>
            <a:spLocks xmlns:a="http://schemas.openxmlformats.org/drawingml/2006/main" noGrp="1"/>
          </p:cNvSpPr>
          <p:nvPr/>
        </p:nvSpPr>
        <p:spPr>
          <a:xfrm xmlns:a="http://schemas.openxmlformats.org/drawingml/2006/main">
            <a:off x="777240" y="2761488"/>
            <a:ext cx="100584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a:solidFill>
                  <a:srgbClr val="B9C8E8"/>
                </a:solidFill>
                <a:latin typeface="Calibri"/>
                <a:ea typeface="Calibri"/>
                <a:cs typeface="Calibri"/>
              </a:rPr>
              <a:t>خط إنتاج خدمة نموذج ذكاء اصطناعي في حاويات</a:t>
            </a:r>
            <a:endParaRPr sz="1700"/>
          </a:p>
        </p:txBody>
      </p:sp>
      <p:sp>
        <p:nvSpPr>
          <p:cNvPr id="13" name="Shape 11">
            <a:extLst xmlns:a="http://schemas.openxmlformats.org/drawingml/2006/main">
              <a:ext uri="{FF2B5EF4-FFF2-40B4-BE49-F238E27FC236}">
                <a16:creationId xmlns:a16="http://schemas.microsoft.com/office/drawing/2014/main" id="{EDAC7B4C-AFBD-484F-9F9C-F5DBEED2C014}"/>
              </a:ext>
            </a:extLst>
          </p:cNvPr>
          <p:cNvSpPr>
            <a:spLocks xmlns:a="http://schemas.openxmlformats.org/drawingml/2006/main" noGrp="1"/>
          </p:cNvSpPr>
          <p:nvPr/>
        </p:nvSpPr>
        <p:spPr>
          <a:xfrm xmlns:a="http://schemas.openxmlformats.org/drawingml/2006/main">
            <a:off x="777240"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14" name="Text 12">
            <a:extLst xmlns:a="http://schemas.openxmlformats.org/drawingml/2006/main">
              <a:ext uri="{FF2B5EF4-FFF2-40B4-BE49-F238E27FC236}">
                <a16:creationId xmlns:a16="http://schemas.microsoft.com/office/drawing/2014/main" id="{461304E1-A776-4552-B144-9C2C52D37BF1}"/>
              </a:ext>
            </a:extLst>
          </p:cNvPr>
          <p:cNvSpPr>
            <a:spLocks xmlns:a="http://schemas.openxmlformats.org/drawingml/2006/main" noGrp="1"/>
          </p:cNvSpPr>
          <p:nvPr/>
        </p:nvSpPr>
        <p:spPr>
          <a:xfrm xmlns:a="http://schemas.openxmlformats.org/drawingml/2006/main">
            <a:off x="923544"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A79D"/>
                </a:solidFill>
                <a:latin typeface="Calibri"/>
                <a:ea typeface="Calibri"/>
                <a:cs typeface="Calibri"/>
              </a:rPr>
              <a:t>01</a:t>
            </a:r>
            <a:endParaRPr sz="1400"/>
          </a:p>
        </p:txBody>
      </p:sp>
      <p:sp>
        <p:nvSpPr>
          <p:cNvPr id="15" name="Text 13">
            <a:extLst xmlns:a="http://schemas.openxmlformats.org/drawingml/2006/main">
              <a:ext uri="{FF2B5EF4-FFF2-40B4-BE49-F238E27FC236}">
                <a16:creationId xmlns:a16="http://schemas.microsoft.com/office/drawing/2014/main" id="{986A710C-A0C1-46BA-B235-A4651E85A9B2}"/>
              </a:ext>
            </a:extLst>
          </p:cNvPr>
          <p:cNvSpPr>
            <a:spLocks xmlns:a="http://schemas.openxmlformats.org/drawingml/2006/main" noGrp="1"/>
          </p:cNvSpPr>
          <p:nvPr/>
        </p:nvSpPr>
        <p:spPr>
          <a:xfrm xmlns:a="http://schemas.openxmlformats.org/drawingml/2006/main">
            <a:off x="923544"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H4 — Capstone assembly</a:t>
            </a:r>
            <a:endParaRPr sz="1200"/>
          </a:p>
        </p:txBody>
      </p:sp>
      <p:sp>
        <p:nvSpPr>
          <p:cNvPr id="16" name="Text 14">
            <a:extLst xmlns:a="http://schemas.openxmlformats.org/drawingml/2006/main">
              <a:ext uri="{FF2B5EF4-FFF2-40B4-BE49-F238E27FC236}">
                <a16:creationId xmlns:a16="http://schemas.microsoft.com/office/drawing/2014/main" id="{5790B5A0-CC1B-4513-BFEA-78974267D831}"/>
              </a:ext>
            </a:extLst>
          </p:cNvPr>
          <p:cNvSpPr>
            <a:spLocks xmlns:a="http://schemas.openxmlformats.org/drawingml/2006/main" noGrp="1"/>
          </p:cNvSpPr>
          <p:nvPr/>
        </p:nvSpPr>
        <p:spPr>
          <a:xfrm xmlns:a="http://schemas.openxmlformats.org/drawingml/2006/main">
            <a:off x="923544"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Integrate all lab components; checklist self-audit; peer review</a:t>
            </a:r>
            <a:endParaRPr sz="950"/>
          </a:p>
        </p:txBody>
      </p:sp>
      <p:sp>
        <p:nvSpPr>
          <p:cNvPr id="17" name="Shape 15">
            <a:extLst xmlns:a="http://schemas.openxmlformats.org/drawingml/2006/main">
              <a:ext uri="{FF2B5EF4-FFF2-40B4-BE49-F238E27FC236}">
                <a16:creationId xmlns:a16="http://schemas.microsoft.com/office/drawing/2014/main" id="{97FE7067-47EC-48F6-8C2B-63E7D01B7278}"/>
              </a:ext>
            </a:extLst>
          </p:cNvPr>
          <p:cNvSpPr>
            <a:spLocks xmlns:a="http://schemas.openxmlformats.org/drawingml/2006/main" noGrp="1"/>
          </p:cNvSpPr>
          <p:nvPr/>
        </p:nvSpPr>
        <p:spPr>
          <a:xfrm xmlns:a="http://schemas.openxmlformats.org/drawingml/2006/main">
            <a:off x="3493008"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18" name="Text 16">
            <a:extLst xmlns:a="http://schemas.openxmlformats.org/drawingml/2006/main">
              <a:ext uri="{FF2B5EF4-FFF2-40B4-BE49-F238E27FC236}">
                <a16:creationId xmlns:a16="http://schemas.microsoft.com/office/drawing/2014/main" id="{0251B605-2165-40DE-B843-7194D7D803B8}"/>
              </a:ext>
            </a:extLst>
          </p:cNvPr>
          <p:cNvSpPr>
            <a:spLocks xmlns:a="http://schemas.openxmlformats.org/drawingml/2006/main" noGrp="1"/>
          </p:cNvSpPr>
          <p:nvPr/>
        </p:nvSpPr>
        <p:spPr>
          <a:xfrm xmlns:a="http://schemas.openxmlformats.org/drawingml/2006/main">
            <a:off x="3639312"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29ABE2"/>
                </a:solidFill>
                <a:latin typeface="Calibri"/>
                <a:ea typeface="Calibri"/>
                <a:cs typeface="Calibri"/>
              </a:rPr>
              <a:t>02</a:t>
            </a:r>
            <a:endParaRPr sz="1400"/>
          </a:p>
        </p:txBody>
      </p:sp>
      <p:sp>
        <p:nvSpPr>
          <p:cNvPr id="19" name="Text 17">
            <a:extLst xmlns:a="http://schemas.openxmlformats.org/drawingml/2006/main">
              <a:ext uri="{FF2B5EF4-FFF2-40B4-BE49-F238E27FC236}">
                <a16:creationId xmlns:a16="http://schemas.microsoft.com/office/drawing/2014/main" id="{32E72FE6-C75D-4C4E-81A3-84199D602C44}"/>
              </a:ext>
            </a:extLst>
          </p:cNvPr>
          <p:cNvSpPr>
            <a:spLocks xmlns:a="http://schemas.openxmlformats.org/drawingml/2006/main" noGrp="1"/>
          </p:cNvSpPr>
          <p:nvPr/>
        </p:nvSpPr>
        <p:spPr>
          <a:xfrm xmlns:a="http://schemas.openxmlformats.org/drawingml/2006/main">
            <a:off x="3639312"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H5 — Demos + assessment</a:t>
            </a:r>
            <a:endParaRPr sz="1200"/>
          </a:p>
        </p:txBody>
      </p:sp>
      <p:sp>
        <p:nvSpPr>
          <p:cNvPr id="20" name="Text 18">
            <a:extLst xmlns:a="http://schemas.openxmlformats.org/drawingml/2006/main">
              <a:ext uri="{FF2B5EF4-FFF2-40B4-BE49-F238E27FC236}">
                <a16:creationId xmlns:a16="http://schemas.microsoft.com/office/drawing/2014/main" id="{85F1C895-DEAA-466A-97FB-02AD2E40EF06}"/>
              </a:ext>
            </a:extLst>
          </p:cNvPr>
          <p:cNvSpPr>
            <a:spLocks xmlns:a="http://schemas.openxmlformats.org/drawingml/2006/main" noGrp="1"/>
          </p:cNvSpPr>
          <p:nvPr/>
        </p:nvSpPr>
        <p:spPr>
          <a:xfrm xmlns:a="http://schemas.openxmlformats.org/drawingml/2006/main">
            <a:off x="3639312"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Five-minute demos; rubric-based peer + instructor scoring</a:t>
            </a:r>
            <a:endParaRPr sz="950"/>
          </a:p>
        </p:txBody>
      </p:sp>
      <p:sp>
        <p:nvSpPr>
          <p:cNvPr id="21" name="Shape 19">
            <a:extLst xmlns:a="http://schemas.openxmlformats.org/drawingml/2006/main">
              <a:ext uri="{FF2B5EF4-FFF2-40B4-BE49-F238E27FC236}">
                <a16:creationId xmlns:a16="http://schemas.microsoft.com/office/drawing/2014/main" id="{2E82FE66-ED8A-4B59-B875-D0D03DB98605}"/>
              </a:ext>
            </a:extLst>
          </p:cNvPr>
          <p:cNvSpPr>
            <a:spLocks xmlns:a="http://schemas.openxmlformats.org/drawingml/2006/main" noGrp="1"/>
          </p:cNvSpPr>
          <p:nvPr/>
        </p:nvSpPr>
        <p:spPr>
          <a:xfrm xmlns:a="http://schemas.openxmlformats.org/drawingml/2006/main">
            <a:off x="6208776" y="3794760"/>
            <a:ext cx="2514600" cy="1600200"/>
          </a:xfrm>
          <a:prstGeom xmlns:a="http://schemas.openxmlformats.org/drawingml/2006/main" prst="roundRect">
            <a:avLst>
              <a:gd name="adj" fmla="val 4000"/>
            </a:avLst>
          </a:prstGeom>
          <a:solidFill xmlns:a="http://schemas.openxmlformats.org/drawingml/2006/main">
            <a:srgbClr val="26355F"/>
          </a:solidFill>
          <a:ln xmlns:a="http://schemas.openxmlformats.org/drawingml/2006/main" w="9525">
            <a:solidFill>
              <a:srgbClr val="3A4A7A"/>
            </a:solidFill>
            <a:prstDash val="solid"/>
          </a:ln>
        </p:spPr>
      </p:sp>
      <p:sp>
        <p:nvSpPr>
          <p:cNvPr id="22" name="Text 20">
            <a:extLst xmlns:a="http://schemas.openxmlformats.org/drawingml/2006/main">
              <a:ext uri="{FF2B5EF4-FFF2-40B4-BE49-F238E27FC236}">
                <a16:creationId xmlns:a16="http://schemas.microsoft.com/office/drawing/2014/main" id="{6D655551-5BDF-4F1A-AC04-868C964CECDD}"/>
              </a:ext>
            </a:extLst>
          </p:cNvPr>
          <p:cNvSpPr>
            <a:spLocks xmlns:a="http://schemas.openxmlformats.org/drawingml/2006/main" noGrp="1"/>
          </p:cNvSpPr>
          <p:nvPr/>
        </p:nvSpPr>
        <p:spPr>
          <a:xfrm xmlns:a="http://schemas.openxmlformats.org/drawingml/2006/main">
            <a:off x="6355080" y="3950208"/>
            <a:ext cx="82296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F58220"/>
                </a:solidFill>
                <a:latin typeface="Calibri"/>
                <a:ea typeface="Calibri"/>
                <a:cs typeface="Calibri"/>
              </a:rPr>
              <a:t>03</a:t>
            </a:r>
            <a:endParaRPr sz="1400"/>
          </a:p>
        </p:txBody>
      </p:sp>
      <p:sp>
        <p:nvSpPr>
          <p:cNvPr id="23" name="Text 21">
            <a:extLst xmlns:a="http://schemas.openxmlformats.org/drawingml/2006/main">
              <a:ext uri="{FF2B5EF4-FFF2-40B4-BE49-F238E27FC236}">
                <a16:creationId xmlns:a16="http://schemas.microsoft.com/office/drawing/2014/main" id="{A3AEA09B-DD67-4738-9765-97EE1226F740}"/>
              </a:ext>
            </a:extLst>
          </p:cNvPr>
          <p:cNvSpPr>
            <a:spLocks xmlns:a="http://schemas.openxmlformats.org/drawingml/2006/main" noGrp="1"/>
          </p:cNvSpPr>
          <p:nvPr/>
        </p:nvSpPr>
        <p:spPr>
          <a:xfrm xmlns:a="http://schemas.openxmlformats.org/drawingml/2006/main">
            <a:off x="6355080" y="4297680"/>
            <a:ext cx="2221992" cy="47548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Milestones M-A → M-E</a:t>
            </a:r>
            <a:endParaRPr sz="1200"/>
          </a:p>
        </p:txBody>
      </p:sp>
      <p:sp>
        <p:nvSpPr>
          <p:cNvPr id="24" name="Text 22">
            <a:extLst xmlns:a="http://schemas.openxmlformats.org/drawingml/2006/main">
              <a:ext uri="{FF2B5EF4-FFF2-40B4-BE49-F238E27FC236}">
                <a16:creationId xmlns:a16="http://schemas.microsoft.com/office/drawing/2014/main" id="{7B52FD4D-21AE-4953-9B75-165A6461AE5B}"/>
              </a:ext>
            </a:extLst>
          </p:cNvPr>
          <p:cNvSpPr>
            <a:spLocks xmlns:a="http://schemas.openxmlformats.org/drawingml/2006/main" noGrp="1"/>
          </p:cNvSpPr>
          <p:nvPr/>
        </p:nvSpPr>
        <p:spPr>
          <a:xfrm xmlns:a="http://schemas.openxmlformats.org/drawingml/2006/main">
            <a:off x="6355080" y="4773168"/>
            <a:ext cx="222199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a:solidFill>
                  <a:srgbClr val="B9C8E8"/>
                </a:solidFill>
                <a:latin typeface="Calibri"/>
                <a:ea typeface="Calibri"/>
                <a:cs typeface="Calibri"/>
              </a:rPr>
              <a:t>From API green locally (end Day 2 H1) to demo + submission (H5)</a:t>
            </a:r>
            <a:endParaRPr sz="950"/>
          </a:p>
        </p:txBody>
      </p:sp>
      <p:sp>
        <p:nvSpPr>
          <p:cNvPr id="25" name="Text 23">
            <a:extLst xmlns:a="http://schemas.openxmlformats.org/drawingml/2006/main">
              <a:ext uri="{FF2B5EF4-FFF2-40B4-BE49-F238E27FC236}">
                <a16:creationId xmlns:a16="http://schemas.microsoft.com/office/drawing/2014/main" id="{A58F8AC9-E86B-48B0-B789-9FEE7FA4F3F7}"/>
              </a:ext>
            </a:extLst>
          </p:cNvPr>
          <p:cNvSpPr>
            <a:spLocks xmlns:a="http://schemas.openxmlformats.org/drawingml/2006/main" noGrp="1"/>
          </p:cNvSpPr>
          <p:nvPr/>
        </p:nvSpPr>
        <p:spPr>
          <a:xfrm xmlns:a="http://schemas.openxmlformats.org/drawingml/2006/main">
            <a:off x="777240" y="5806440"/>
            <a:ext cx="100584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8A96C8"/>
                </a:solidFill>
                <a:latin typeface="Calibri"/>
                <a:ea typeface="Calibri"/>
                <a:cs typeface="Calibri"/>
              </a:rPr>
              <a:t>Day 3 · Hours 4-5 · 0/100 then 20/80 theory/lab</a:t>
            </a:r>
            <a:endParaRPr sz="1100"/>
          </a:p>
        </p:txBody>
      </p:sp>
      <p:pic>
        <p:nvPicPr>
          <p:cNvPr id="51" name="Image 0"/>
          <p:cNvPicPr>
            <a:picLocks xmlns:a="http://schemas.openxmlformats.org/drawingml/2006/main" noChangeAspect="1"/>
          </p:cNvPicPr>
          <p:nvPr/>
        </p:nvPicPr>
        <p:blipFill>
          <a:blip xmlns:r="http://schemas.openxmlformats.org/officeDocument/2006/relationships" xmlns:a="http://schemas.openxmlformats.org/drawingml/2006/main" r:embed="R9a2608f2ef11462f"/>
          <a:stretch xmlns:a="http://schemas.openxmlformats.org/drawingml/2006/main">
            <a:fillRect l="0" t="0" r="0" b="0"/>
          </a:stretch>
        </p:blipFill>
        <p:spPr>
          <a:xfrm xmlns:a="http://schemas.openxmlformats.org/drawingml/2006/main">
            <a:off x="777240" y="6309360"/>
            <a:ext cx="1078992" cy="265176"/>
          </a:xfrm>
          <a:prstGeom xmlns:a="http://schemas.openxmlformats.org/drawingml/2006/main" prst="rect">
            <a:avLst/>
          </a:prstGeom>
        </p:spPr>
      </p:pic>
    </p:spTree>
    <p:extLst>
      <p:ext uri="{BB962C8B-B14F-4D97-AF65-F5344CB8AC3E}">
        <p14:creationId xmlns:p14="http://schemas.microsoft.com/office/powerpoint/2010/main" val="1338519899"/>
      </p:ext>
    </p:extLst>
  </p:cSld>
</p:sld>
</file>

<file path=ppt/slides/slide14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40938FB-72D6-44F9-8EEC-E8522534D56B}"/>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The scenario: Raqib fraud scoring</a:t>
            </a:r>
            <a:endParaRPr sz="2600"/>
          </a:p>
        </p:txBody>
      </p:sp>
      <p:sp>
        <p:nvSpPr>
          <p:cNvPr id="3" name="Text 1">
            <a:extLst xmlns:a="http://schemas.openxmlformats.org/drawingml/2006/main">
              <a:ext uri="{FF2B5EF4-FFF2-40B4-BE49-F238E27FC236}">
                <a16:creationId xmlns:a16="http://schemas.microsoft.com/office/drawing/2014/main" id="{935BA067-CE0F-475A-8904-75EAADA766DB}"/>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السيناريو: خدمة رقيب لرصد الاحتيال</a:t>
            </a:r>
            <a:endParaRPr sz="1300"/>
          </a:p>
        </p:txBody>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36be02e1968e4326"/>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08DBB8CB-B9CC-46EE-AF1D-25119F35486B}"/>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57F28187-5E18-4A45-8FF8-08704DBA2E07}"/>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CAPSTONE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79649861-38A2-4057-B2A4-88CBC834B89F}"/>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146</a:t>
            </a:r>
            <a:endParaRPr sz="850"/>
          </a:p>
        </p:txBody>
      </p:sp>
      <p:sp>
        <p:nvSpPr>
          <p:cNvPr id="8" name="Text 5">
            <a:extLst xmlns:a="http://schemas.openxmlformats.org/drawingml/2006/main">
              <a:ext uri="{FF2B5EF4-FFF2-40B4-BE49-F238E27FC236}">
                <a16:creationId xmlns:a16="http://schemas.microsoft.com/office/drawing/2014/main" id="{6C83AF55-0EB6-4C80-8DBF-F9CFC76217DE}"/>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D28FABC6-4B2E-49BA-8305-5E5ADE15E6D6}"/>
              </a:ext>
            </a:extLst>
          </p:cNvPr>
          <p:cNvSpPr>
            <a:spLocks xmlns:a="http://schemas.openxmlformats.org/drawingml/2006/main" noGrp="1"/>
          </p:cNvSpPr>
          <p:nvPr/>
        </p:nvSpPr>
        <p:spPr>
          <a:xfrm xmlns:a="http://schemas.openxmlformats.org/drawingml/2006/main">
            <a:off x="1005840" y="14996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You are the production engineer</a:t>
            </a:r>
            <a:endParaRPr sz="1350"/>
          </a:p>
        </p:txBody>
      </p:sp>
      <p:sp>
        <p:nvSpPr>
          <p:cNvPr id="10" name="Text 7">
            <a:extLst xmlns:a="http://schemas.openxmlformats.org/drawingml/2006/main">
              <a:ext uri="{FF2B5EF4-FFF2-40B4-BE49-F238E27FC236}">
                <a16:creationId xmlns:a16="http://schemas.microsoft.com/office/drawing/2014/main" id="{49FE8CCA-3CDF-4796-8381-32809E6A5C20}"/>
              </a:ext>
            </a:extLst>
          </p:cNvPr>
          <p:cNvSpPr>
            <a:spLocks xmlns:a="http://schemas.openxmlformats.org/drawingml/2006/main" noGrp="1"/>
          </p:cNvSpPr>
          <p:nvPr/>
        </p:nvSpPr>
        <p:spPr>
          <a:xfrm xmlns:a="http://schemas.openxmlformats.org/drawingml/2006/main">
            <a:off x="1005840" y="18013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"Raqib" (رقيب) is the fraud-scoring capability of a Saudi digital-payments provider. The data-science team hands you a trained model artefact and a feature specification.</a:t>
            </a:r>
            <a:endParaRPr sz="1050"/>
          </a:p>
        </p:txBody>
      </p:sp>
      <p:sp>
        <p:nvSpPr>
          <p:cNvPr id="11" name="Text 8">
            <a:extLst xmlns:a="http://schemas.openxmlformats.org/drawingml/2006/main">
              <a:ext uri="{FF2B5EF4-FFF2-40B4-BE49-F238E27FC236}">
                <a16:creationId xmlns:a16="http://schemas.microsoft.com/office/drawing/2014/main" id="{2DCCC900-7DFF-4E4F-9CA1-F77A0C7B749E}"/>
              </a:ext>
            </a:extLst>
          </p:cNvPr>
          <p:cNvSpPr>
            <a:spLocks xmlns:a="http://schemas.openxmlformats.org/drawingml/2006/main" noGrp="1"/>
          </p:cNvSpPr>
          <p:nvPr/>
        </p:nvSpPr>
        <p:spPr>
          <a:xfrm xmlns:a="http://schemas.openxmlformats.org/drawingml/2006/main">
            <a:off x="502920" y="292608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4E1F72D6-5F32-450D-86C2-AAB5A90CA312}"/>
              </a:ext>
            </a:extLst>
          </p:cNvPr>
          <p:cNvSpPr>
            <a:spLocks xmlns:a="http://schemas.openxmlformats.org/drawingml/2006/main" noGrp="1"/>
          </p:cNvSpPr>
          <p:nvPr/>
        </p:nvSpPr>
        <p:spPr>
          <a:xfrm xmlns:a="http://schemas.openxmlformats.org/drawingml/2006/main">
            <a:off x="1005840" y="28712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The mandate</a:t>
            </a:r>
            <a:endParaRPr sz="1350"/>
          </a:p>
        </p:txBody>
      </p:sp>
      <p:sp>
        <p:nvSpPr>
          <p:cNvPr id="13" name="Text 10">
            <a:extLst xmlns:a="http://schemas.openxmlformats.org/drawingml/2006/main">
              <a:ext uri="{FF2B5EF4-FFF2-40B4-BE49-F238E27FC236}">
                <a16:creationId xmlns:a16="http://schemas.microsoft.com/office/drawing/2014/main" id="{47657E6C-E91C-4DE8-B31C-165A8B5F7B26}"/>
              </a:ext>
            </a:extLst>
          </p:cNvPr>
          <p:cNvSpPr>
            <a:spLocks xmlns:a="http://schemas.openxmlformats.org/drawingml/2006/main" noGrp="1"/>
          </p:cNvSpPr>
          <p:nvPr/>
        </p:nvSpPr>
        <p:spPr>
          <a:xfrm xmlns:a="http://schemas.openxmlformats.org/drawingml/2006/main">
            <a:off x="1005840" y="31729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Deliver a production-grade scoring service the platform team can deploy — one they can trust because its repository proves its own quality.</a:t>
            </a:r>
            <a:endParaRPr sz="1050"/>
          </a:p>
        </p:txBody>
      </p:sp>
      <p:sp>
        <p:nvSpPr>
          <p:cNvPr id="14" name="Text 11">
            <a:extLst xmlns:a="http://schemas.openxmlformats.org/drawingml/2006/main">
              <a:ext uri="{FF2B5EF4-FFF2-40B4-BE49-F238E27FC236}">
                <a16:creationId xmlns:a16="http://schemas.microsoft.com/office/drawing/2014/main" id="{120794BF-EBA2-4B01-9228-1CA52FF0CB3C}"/>
              </a:ext>
            </a:extLst>
          </p:cNvPr>
          <p:cNvSpPr>
            <a:spLocks xmlns:a="http://schemas.openxmlformats.org/drawingml/2006/main" noGrp="1"/>
          </p:cNvSpPr>
          <p:nvPr/>
        </p:nvSpPr>
        <p:spPr>
          <a:xfrm xmlns:a="http://schemas.openxmlformats.org/drawingml/2006/main">
            <a:off x="502920" y="429768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13675578-AD96-4B2A-AE39-6C3C729D99DA}"/>
              </a:ext>
            </a:extLst>
          </p:cNvPr>
          <p:cNvSpPr>
            <a:spLocks xmlns:a="http://schemas.openxmlformats.org/drawingml/2006/main" noGrp="1"/>
          </p:cNvSpPr>
          <p:nvPr/>
        </p:nvSpPr>
        <p:spPr>
          <a:xfrm xmlns:a="http://schemas.openxmlformats.org/drawingml/2006/main">
            <a:off x="1005840" y="4242816"/>
            <a:ext cx="49834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Integration, not invention</a:t>
            </a:r>
            <a:endParaRPr sz="1350"/>
          </a:p>
        </p:txBody>
      </p:sp>
      <p:sp>
        <p:nvSpPr>
          <p:cNvPr id="16" name="Text 13">
            <a:extLst xmlns:a="http://schemas.openxmlformats.org/drawingml/2006/main">
              <a:ext uri="{FF2B5EF4-FFF2-40B4-BE49-F238E27FC236}">
                <a16:creationId xmlns:a16="http://schemas.microsoft.com/office/drawing/2014/main" id="{632D806D-2966-451C-8279-4E480F31C5E2}"/>
              </a:ext>
            </a:extLst>
          </p:cNvPr>
          <p:cNvSpPr>
            <a:spLocks xmlns:a="http://schemas.openxmlformats.org/drawingml/2006/main" noGrp="1"/>
          </p:cNvSpPr>
          <p:nvPr/>
        </p:nvSpPr>
        <p:spPr>
          <a:xfrm xmlns:a="http://schemas.openxmlformats.org/drawingml/2006/main">
            <a:off x="1005840" y="4544568"/>
            <a:ext cx="4983480"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Everything built in Labs 1-6 is a component; the capstone is the integration plus at least one extension of your choice.</a:t>
            </a:r>
            <a:endParaRPr sz="1050"/>
          </a:p>
        </p:txBody>
      </p:sp>
      <p:sp>
        <p:nvSpPr>
          <p:cNvPr id="17" name="Shape 14">
            <a:extLst xmlns:a="http://schemas.openxmlformats.org/drawingml/2006/main">
              <a:ext uri="{FF2B5EF4-FFF2-40B4-BE49-F238E27FC236}">
                <a16:creationId xmlns:a16="http://schemas.microsoft.com/office/drawing/2014/main" id="{4D617EFD-E8B3-44A5-B54C-B356833EDD1F}"/>
              </a:ext>
            </a:extLst>
          </p:cNvPr>
          <p:cNvSpPr>
            <a:spLocks xmlns:a="http://schemas.openxmlformats.org/drawingml/2006/main" noGrp="1"/>
          </p:cNvSpPr>
          <p:nvPr/>
        </p:nvSpPr>
        <p:spPr>
          <a:xfrm xmlns:a="http://schemas.openxmlformats.org/drawingml/2006/main">
            <a:off x="6355080" y="1481328"/>
            <a:ext cx="5330952" cy="4663440"/>
          </a:xfrm>
          <a:prstGeom xmlns:a="http://schemas.openxmlformats.org/drawingml/2006/main" prst="roundRect">
            <a:avLst>
              <a:gd name="adj" fmla="val 1373"/>
            </a:avLst>
          </a:prstGeom>
          <a:solidFill xmlns:a="http://schemas.openxmlformats.org/drawingml/2006/main">
            <a:srgbClr val="EEF3FB"/>
          </a:solidFill>
          <a:ln xmlns:a="http://schemas.openxmlformats.org/drawingml/2006/main" w="9525">
            <a:solidFill>
              <a:srgbClr val="D9E4F5"/>
            </a:solidFill>
            <a:prstDash val="solid"/>
          </a:ln>
        </p:spPr>
      </p:sp>
      <p:sp>
        <p:nvSpPr>
          <p:cNvPr id="18" name="Text 15">
            <a:extLst xmlns:a="http://schemas.openxmlformats.org/drawingml/2006/main">
              <a:ext uri="{FF2B5EF4-FFF2-40B4-BE49-F238E27FC236}">
                <a16:creationId xmlns:a16="http://schemas.microsoft.com/office/drawing/2014/main" id="{CA2E0565-133C-4545-AD30-18F4AC477EBB}"/>
              </a:ext>
            </a:extLst>
          </p:cNvPr>
          <p:cNvSpPr>
            <a:spLocks xmlns:a="http://schemas.openxmlformats.org/drawingml/2006/main" noGrp="1"/>
          </p:cNvSpPr>
          <p:nvPr/>
        </p:nvSpPr>
        <p:spPr>
          <a:xfrm xmlns:a="http://schemas.openxmlformats.org/drawingml/2006/main">
            <a:off x="6556248" y="1645920"/>
            <a:ext cx="492861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D2A5C"/>
                </a:solidFill>
                <a:latin typeface="Calibri"/>
                <a:ea typeface="Calibri"/>
                <a:cs typeface="Calibri"/>
              </a:rPr>
              <a:t>Extensions (choose ≥ 1)</a:t>
            </a:r>
            <a:endParaRPr sz="1300"/>
          </a:p>
        </p:txBody>
      </p:sp>
      <p:sp>
        <p:nvSpPr>
          <p:cNvPr id="19" name="Shape 16">
            <a:extLst xmlns:a="http://schemas.openxmlformats.org/drawingml/2006/main">
              <a:ext uri="{FF2B5EF4-FFF2-40B4-BE49-F238E27FC236}">
                <a16:creationId xmlns:a16="http://schemas.microsoft.com/office/drawing/2014/main" id="{5A5B5000-3734-4403-9F5C-3EAB6ADD6713}"/>
              </a:ext>
            </a:extLst>
          </p:cNvPr>
          <p:cNvSpPr>
            <a:spLocks xmlns:a="http://schemas.openxmlformats.org/drawingml/2006/main" noGrp="1"/>
          </p:cNvSpPr>
          <p:nvPr/>
        </p:nvSpPr>
        <p:spPr>
          <a:xfrm xmlns:a="http://schemas.openxmlformats.org/drawingml/2006/main" rot="2700000">
            <a:off x="6556248" y="2130552"/>
            <a:ext cx="128016" cy="128016"/>
          </a:xfrm>
          <a:prstGeom xmlns:a="http://schemas.openxmlformats.org/drawingml/2006/main" prst="rect">
            <a:avLst/>
          </a:prstGeom>
          <a:solidFill xmlns:a="http://schemas.openxmlformats.org/drawingml/2006/main">
            <a:srgbClr val="00A79D"/>
          </a:solidFill>
        </p:spPr>
      </p:sp>
      <p:sp>
        <p:nvSpPr>
          <p:cNvPr id="20" name="Text 17">
            <a:extLst xmlns:a="http://schemas.openxmlformats.org/drawingml/2006/main">
              <a:ext uri="{FF2B5EF4-FFF2-40B4-BE49-F238E27FC236}">
                <a16:creationId xmlns:a16="http://schemas.microsoft.com/office/drawing/2014/main" id="{46C9784D-B04E-4864-A094-4DA65ED70EC7}"/>
              </a:ext>
            </a:extLst>
          </p:cNvPr>
          <p:cNvSpPr>
            <a:spLocks xmlns:a="http://schemas.openxmlformats.org/drawingml/2006/main" noGrp="1"/>
          </p:cNvSpPr>
          <p:nvPr/>
        </p:nvSpPr>
        <p:spPr>
          <a:xfrm xmlns:a="http://schemas.openxmlformats.org/drawingml/2006/main">
            <a:off x="6812280" y="2039112"/>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Batch endpoint</a:t>
            </a:r>
            <a:endParaRPr sz="1100"/>
          </a:p>
        </p:txBody>
      </p:sp>
      <p:sp>
        <p:nvSpPr>
          <p:cNvPr id="21" name="Text 18">
            <a:extLst xmlns:a="http://schemas.openxmlformats.org/drawingml/2006/main">
              <a:ext uri="{FF2B5EF4-FFF2-40B4-BE49-F238E27FC236}">
                <a16:creationId xmlns:a16="http://schemas.microsoft.com/office/drawing/2014/main" id="{676B54D4-0290-4365-9D32-29BED0AA5ECB}"/>
              </a:ext>
            </a:extLst>
          </p:cNvPr>
          <p:cNvSpPr>
            <a:spLocks xmlns:a="http://schemas.openxmlformats.org/drawingml/2006/main" noGrp="1"/>
          </p:cNvSpPr>
          <p:nvPr/>
        </p:nvSpPr>
        <p:spPr>
          <a:xfrm xmlns:a="http://schemas.openxmlformats.org/drawingml/2006/main">
            <a:off x="6812280" y="2304288"/>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POST /v1/predict:batch — ≤ 256 items, partial-failure semantics, tested</a:t>
            </a:r>
            <a:endParaRPr sz="950"/>
          </a:p>
        </p:txBody>
      </p:sp>
      <p:sp>
        <p:nvSpPr>
          <p:cNvPr id="22" name="Shape 19">
            <a:extLst xmlns:a="http://schemas.openxmlformats.org/drawingml/2006/main">
              <a:ext uri="{FF2B5EF4-FFF2-40B4-BE49-F238E27FC236}">
                <a16:creationId xmlns:a16="http://schemas.microsoft.com/office/drawing/2014/main" id="{1C132544-2FE9-4D53-A90C-640B58BC23BE}"/>
              </a:ext>
            </a:extLst>
          </p:cNvPr>
          <p:cNvSpPr>
            <a:spLocks xmlns:a="http://schemas.openxmlformats.org/drawingml/2006/main" noGrp="1"/>
          </p:cNvSpPr>
          <p:nvPr/>
        </p:nvSpPr>
        <p:spPr>
          <a:xfrm xmlns:a="http://schemas.openxmlformats.org/drawingml/2006/main" rot="2700000">
            <a:off x="6556248" y="2916936"/>
            <a:ext cx="128016" cy="128016"/>
          </a:xfrm>
          <a:prstGeom xmlns:a="http://schemas.openxmlformats.org/drawingml/2006/main" prst="rect">
            <a:avLst/>
          </a:prstGeom>
          <a:solidFill xmlns:a="http://schemas.openxmlformats.org/drawingml/2006/main">
            <a:srgbClr val="29ABE2"/>
          </a:solidFill>
        </p:spPr>
      </p:sp>
      <p:sp>
        <p:nvSpPr>
          <p:cNvPr id="23" name="Text 20">
            <a:extLst xmlns:a="http://schemas.openxmlformats.org/drawingml/2006/main">
              <a:ext uri="{FF2B5EF4-FFF2-40B4-BE49-F238E27FC236}">
                <a16:creationId xmlns:a16="http://schemas.microsoft.com/office/drawing/2014/main" id="{F59D6217-DDD7-4E3D-9857-B5DCA89F2CBD}"/>
              </a:ext>
            </a:extLst>
          </p:cNvPr>
          <p:cNvSpPr>
            <a:spLocks xmlns:a="http://schemas.openxmlformats.org/drawingml/2006/main" noGrp="1"/>
          </p:cNvSpPr>
          <p:nvPr/>
        </p:nvSpPr>
        <p:spPr>
          <a:xfrm xmlns:a="http://schemas.openxmlformats.org/drawingml/2006/main">
            <a:off x="6812280" y="2825496"/>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Model hot-reload</a:t>
            </a:r>
            <a:endParaRPr sz="1100"/>
          </a:p>
        </p:txBody>
      </p:sp>
      <p:sp>
        <p:nvSpPr>
          <p:cNvPr id="24" name="Text 21">
            <a:extLst xmlns:a="http://schemas.openxmlformats.org/drawingml/2006/main">
              <a:ext uri="{FF2B5EF4-FFF2-40B4-BE49-F238E27FC236}">
                <a16:creationId xmlns:a16="http://schemas.microsoft.com/office/drawing/2014/main" id="{9639A22E-ECF9-4063-88CF-8D81598EE9FA}"/>
              </a:ext>
            </a:extLst>
          </p:cNvPr>
          <p:cNvSpPr>
            <a:spLocks xmlns:a="http://schemas.openxmlformats.org/drawingml/2006/main" noGrp="1"/>
          </p:cNvSpPr>
          <p:nvPr/>
        </p:nvSpPr>
        <p:spPr>
          <a:xfrm xmlns:a="http://schemas.openxmlformats.org/drawingml/2006/main">
            <a:off x="6812280" y="3090672"/>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POST /admin/reload gated by admin token; readiness handling + a test</a:t>
            </a:r>
            <a:endParaRPr sz="950"/>
          </a:p>
        </p:txBody>
      </p:sp>
      <p:sp>
        <p:nvSpPr>
          <p:cNvPr id="25" name="Shape 22">
            <a:extLst xmlns:a="http://schemas.openxmlformats.org/drawingml/2006/main">
              <a:ext uri="{FF2B5EF4-FFF2-40B4-BE49-F238E27FC236}">
                <a16:creationId xmlns:a16="http://schemas.microsoft.com/office/drawing/2014/main" id="{4F486632-53CE-42B5-8DFA-3074149291CB}"/>
              </a:ext>
            </a:extLst>
          </p:cNvPr>
          <p:cNvSpPr>
            <a:spLocks xmlns:a="http://schemas.openxmlformats.org/drawingml/2006/main" noGrp="1"/>
          </p:cNvSpPr>
          <p:nvPr/>
        </p:nvSpPr>
        <p:spPr>
          <a:xfrm xmlns:a="http://schemas.openxmlformats.org/drawingml/2006/main" rot="2700000">
            <a:off x="6556248" y="3703320"/>
            <a:ext cx="128016" cy="128016"/>
          </a:xfrm>
          <a:prstGeom xmlns:a="http://schemas.openxmlformats.org/drawingml/2006/main" prst="rect">
            <a:avLst/>
          </a:prstGeom>
          <a:solidFill xmlns:a="http://schemas.openxmlformats.org/drawingml/2006/main">
            <a:srgbClr val="F58220"/>
          </a:solidFill>
        </p:spPr>
      </p:sp>
      <p:sp>
        <p:nvSpPr>
          <p:cNvPr id="26" name="Text 23">
            <a:extLst xmlns:a="http://schemas.openxmlformats.org/drawingml/2006/main">
              <a:ext uri="{FF2B5EF4-FFF2-40B4-BE49-F238E27FC236}">
                <a16:creationId xmlns:a16="http://schemas.microsoft.com/office/drawing/2014/main" id="{B05DDA87-6D82-404C-955C-8C7554B870E0}"/>
              </a:ext>
            </a:extLst>
          </p:cNvPr>
          <p:cNvSpPr>
            <a:spLocks xmlns:a="http://schemas.openxmlformats.org/drawingml/2006/main" noGrp="1"/>
          </p:cNvSpPr>
          <p:nvPr/>
        </p:nvSpPr>
        <p:spPr>
          <a:xfrm xmlns:a="http://schemas.openxmlformats.org/drawingml/2006/main">
            <a:off x="6812280" y="3611880"/>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trivy gate in CI</a:t>
            </a:r>
            <a:endParaRPr sz="1100"/>
          </a:p>
        </p:txBody>
      </p:sp>
      <p:sp>
        <p:nvSpPr>
          <p:cNvPr id="27" name="Text 24">
            <a:extLst xmlns:a="http://schemas.openxmlformats.org/drawingml/2006/main">
              <a:ext uri="{FF2B5EF4-FFF2-40B4-BE49-F238E27FC236}">
                <a16:creationId xmlns:a16="http://schemas.microsoft.com/office/drawing/2014/main" id="{C7965746-36A9-4678-8463-DBA1FBCA41E5}"/>
              </a:ext>
            </a:extLst>
          </p:cNvPr>
          <p:cNvSpPr>
            <a:spLocks xmlns:a="http://schemas.openxmlformats.org/drawingml/2006/main" noGrp="1"/>
          </p:cNvSpPr>
          <p:nvPr/>
        </p:nvSpPr>
        <p:spPr>
          <a:xfrm xmlns:a="http://schemas.openxmlformats.org/drawingml/2006/main">
            <a:off x="6812280" y="3877056"/>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With a triaged .trivyignore</a:t>
            </a:r>
            <a:endParaRPr sz="950"/>
          </a:p>
        </p:txBody>
      </p:sp>
      <p:sp>
        <p:nvSpPr>
          <p:cNvPr id="28" name="Shape 25">
            <a:extLst xmlns:a="http://schemas.openxmlformats.org/drawingml/2006/main">
              <a:ext uri="{FF2B5EF4-FFF2-40B4-BE49-F238E27FC236}">
                <a16:creationId xmlns:a16="http://schemas.microsoft.com/office/drawing/2014/main" id="{45555DF1-5550-4E2C-B250-1ECD148747DA}"/>
              </a:ext>
            </a:extLst>
          </p:cNvPr>
          <p:cNvSpPr>
            <a:spLocks xmlns:a="http://schemas.openxmlformats.org/drawingml/2006/main" noGrp="1"/>
          </p:cNvSpPr>
          <p:nvPr/>
        </p:nvSpPr>
        <p:spPr>
          <a:xfrm xmlns:a="http://schemas.openxmlformats.org/drawingml/2006/main" rot="2700000">
            <a:off x="6556248" y="4489704"/>
            <a:ext cx="128016" cy="128016"/>
          </a:xfrm>
          <a:prstGeom xmlns:a="http://schemas.openxmlformats.org/drawingml/2006/main" prst="rect">
            <a:avLst/>
          </a:prstGeom>
          <a:solidFill xmlns:a="http://schemas.openxmlformats.org/drawingml/2006/main">
            <a:srgbClr val="8DC63F"/>
          </a:solidFill>
        </p:spPr>
      </p:sp>
      <p:sp>
        <p:nvSpPr>
          <p:cNvPr id="29" name="Text 26">
            <a:extLst xmlns:a="http://schemas.openxmlformats.org/drawingml/2006/main">
              <a:ext uri="{FF2B5EF4-FFF2-40B4-BE49-F238E27FC236}">
                <a16:creationId xmlns:a16="http://schemas.microsoft.com/office/drawing/2014/main" id="{92830AAE-51D1-4745-A46F-37F1C541925C}"/>
              </a:ext>
            </a:extLst>
          </p:cNvPr>
          <p:cNvSpPr>
            <a:spLocks xmlns:a="http://schemas.openxmlformats.org/drawingml/2006/main" noGrp="1"/>
          </p:cNvSpPr>
          <p:nvPr/>
        </p:nvSpPr>
        <p:spPr>
          <a:xfrm xmlns:a="http://schemas.openxmlformats.org/drawingml/2006/main">
            <a:off x="6812280" y="4398264"/>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/metrics endpoint</a:t>
            </a:r>
            <a:endParaRPr sz="1100"/>
          </a:p>
        </p:txBody>
      </p:sp>
      <p:sp>
        <p:nvSpPr>
          <p:cNvPr id="30" name="Text 27">
            <a:extLst xmlns:a="http://schemas.openxmlformats.org/drawingml/2006/main">
              <a:ext uri="{FF2B5EF4-FFF2-40B4-BE49-F238E27FC236}">
                <a16:creationId xmlns:a16="http://schemas.microsoft.com/office/drawing/2014/main" id="{9816BC26-877F-4D4C-9352-BE8D46074CEE}"/>
              </a:ext>
            </a:extLst>
          </p:cNvPr>
          <p:cNvSpPr>
            <a:spLocks xmlns:a="http://schemas.openxmlformats.org/drawingml/2006/main" noGrp="1"/>
          </p:cNvSpPr>
          <p:nvPr/>
        </p:nvSpPr>
        <p:spPr>
          <a:xfrm xmlns:a="http://schemas.openxmlformats.org/drawingml/2006/main">
            <a:off x="6812280" y="4663440"/>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Prometheus-style: request count, latency histogram</a:t>
            </a:r>
            <a:endParaRPr sz="950"/>
          </a:p>
        </p:txBody>
      </p:sp>
      <p:sp>
        <p:nvSpPr>
          <p:cNvPr id="31" name="Shape 28">
            <a:extLst xmlns:a="http://schemas.openxmlformats.org/drawingml/2006/main">
              <a:ext uri="{FF2B5EF4-FFF2-40B4-BE49-F238E27FC236}">
                <a16:creationId xmlns:a16="http://schemas.microsoft.com/office/drawing/2014/main" id="{80C4935A-E07E-4326-BD12-922119D60A32}"/>
              </a:ext>
            </a:extLst>
          </p:cNvPr>
          <p:cNvSpPr>
            <a:spLocks xmlns:a="http://schemas.openxmlformats.org/drawingml/2006/main" noGrp="1"/>
          </p:cNvSpPr>
          <p:nvPr/>
        </p:nvSpPr>
        <p:spPr>
          <a:xfrm xmlns:a="http://schemas.openxmlformats.org/drawingml/2006/main" rot="2700000">
            <a:off x="6556248" y="5276088"/>
            <a:ext cx="128016" cy="128016"/>
          </a:xfrm>
          <a:prstGeom xmlns:a="http://schemas.openxmlformats.org/drawingml/2006/main" prst="rect">
            <a:avLst/>
          </a:prstGeom>
          <a:solidFill xmlns:a="http://schemas.openxmlformats.org/drawingml/2006/main">
            <a:srgbClr val="E8503A"/>
          </a:solidFill>
        </p:spPr>
      </p:sp>
      <p:sp>
        <p:nvSpPr>
          <p:cNvPr id="32" name="Text 29">
            <a:extLst xmlns:a="http://schemas.openxmlformats.org/drawingml/2006/main">
              <a:ext uri="{FF2B5EF4-FFF2-40B4-BE49-F238E27FC236}">
                <a16:creationId xmlns:a16="http://schemas.microsoft.com/office/drawing/2014/main" id="{75BEDADE-7612-4CF5-B18D-51FDE7B73635}"/>
              </a:ext>
            </a:extLst>
          </p:cNvPr>
          <p:cNvSpPr>
            <a:spLocks xmlns:a="http://schemas.openxmlformats.org/drawingml/2006/main" noGrp="1"/>
          </p:cNvSpPr>
          <p:nvPr/>
        </p:nvSpPr>
        <p:spPr>
          <a:xfrm xmlns:a="http://schemas.openxmlformats.org/drawingml/2006/main">
            <a:off x="6812280" y="5184648"/>
            <a:ext cx="46451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23293B"/>
                </a:solidFill>
                <a:latin typeface="Calibri"/>
                <a:ea typeface="Calibri"/>
                <a:cs typeface="Calibri"/>
              </a:rPr>
              <a:t>Golden regeneration</a:t>
            </a:r>
            <a:endParaRPr sz="1100"/>
          </a:p>
        </p:txBody>
      </p:sp>
      <p:sp>
        <p:nvSpPr>
          <p:cNvPr id="33" name="Text 30">
            <a:extLst xmlns:a="http://schemas.openxmlformats.org/drawingml/2006/main">
              <a:ext uri="{FF2B5EF4-FFF2-40B4-BE49-F238E27FC236}">
                <a16:creationId xmlns:a16="http://schemas.microsoft.com/office/drawing/2014/main" id="{A5BAAF91-97DF-466E-B6A8-59F8C7942C94}"/>
              </a:ext>
            </a:extLst>
          </p:cNvPr>
          <p:cNvSpPr>
            <a:spLocks xmlns:a="http://schemas.openxmlformats.org/drawingml/2006/main" noGrp="1"/>
          </p:cNvSpPr>
          <p:nvPr/>
        </p:nvSpPr>
        <p:spPr>
          <a:xfrm xmlns:a="http://schemas.openxmlformats.org/drawingml/2006/main">
            <a:off x="6812280" y="5449824"/>
            <a:ext cx="4645152"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make regen-golden + PR template with evidence checklist</a:t>
            </a:r>
            <a:endParaRPr sz="950"/>
          </a:p>
        </p:txBody>
      </p:sp>
    </p:spTree>
    <p:extLst>
      <p:ext uri="{BB962C8B-B14F-4D97-AF65-F5344CB8AC3E}">
        <p14:creationId xmlns:p14="http://schemas.microsoft.com/office/powerpoint/2010/main" val="1523869502"/>
      </p:ext>
    </p:extLst>
  </p:cSld>
</p:sld>
</file>

<file path=ppt/slides/slide14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DE5F17D-659E-48CC-9D2F-EC1A655C4B18}"/>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Production readiness scorecard — evidence before confidence</a:t>
            </a:r>
            <a:endParaRPr sz="2600"/>
          </a:p>
        </p:txBody>
      </p:sp>
      <p:sp>
        <p:nvSpPr>
          <p:cNvPr id="3" name="Text 1">
            <a:extLst xmlns:a="http://schemas.openxmlformats.org/drawingml/2006/main">
              <a:ext uri="{FF2B5EF4-FFF2-40B4-BE49-F238E27FC236}">
                <a16:creationId xmlns:a16="http://schemas.microsoft.com/office/drawing/2014/main" id="{16A3C7C4-974F-4731-AE67-C6A488FEC868}"/>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بطاقة جاهزية الإنتاج — الأدلة قبل الثقة</a:t>
            </a:r>
            <a:endParaRPr sz="1300"/>
          </a:p>
        </p:txBody>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f48600bd5d9a4986"/>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D60A61EA-B363-4398-BC98-A84121CFAE1F}"/>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BB66A3E8-A99A-4AF4-B699-7DE7040FFBAF}"/>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CAPSTONE</a:t>
            </a:r>
            <a:r>
              <a:rPr sz="850" b="1" spc="100">
                <a:solidFill>
                  <a:srgbClr val="00A79D"/>
                </a:solidFill>
                <a:latin typeface="Calibri"/>
                <a:ea typeface="Calibri"/>
                <a:cs typeface="Calibri"/>
              </a:rPr>
              <a:t>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7667CF09-35EA-459F-AE5E-228548E764FA}"/>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147</a:t>
            </a:r>
            <a:endParaRPr sz="850"/>
          </a:p>
        </p:txBody>
      </p:sp>
      <p:sp>
        <p:nvSpPr>
          <p:cNvPr id="8" name="Text 5">
            <a:extLst xmlns:a="http://schemas.openxmlformats.org/drawingml/2006/main">
              <a:ext uri="{FF2B5EF4-FFF2-40B4-BE49-F238E27FC236}">
                <a16:creationId xmlns:a16="http://schemas.microsoft.com/office/drawing/2014/main" id="{AD1E06BF-FB27-40AC-9620-6A2C25D75C02}"/>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A85E1220-86F3-4C31-AB2B-F1DE3B7144CB}"/>
              </a:ext>
            </a:extLst>
          </p:cNvPr>
          <p:cNvSpPr>
            <a:spLocks xmlns:a="http://schemas.openxmlformats.org/drawingml/2006/main" noGrp="1"/>
          </p:cNvSpPr>
          <p:nvPr/>
        </p:nvSpPr>
        <p:spPr>
          <a:xfrm xmlns:a="http://schemas.openxmlformats.org/drawingml/2006/main">
            <a:off x="1005840" y="14996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Architecture and API</a:t>
            </a:r>
            <a:endParaRPr sz="1350"/>
          </a:p>
        </p:txBody>
      </p:sp>
      <p:sp>
        <p:nvSpPr>
          <p:cNvPr id="10" name="Text 7">
            <a:extLst xmlns:a="http://schemas.openxmlformats.org/drawingml/2006/main">
              <a:ext uri="{FF2B5EF4-FFF2-40B4-BE49-F238E27FC236}">
                <a16:creationId xmlns:a16="http://schemas.microsoft.com/office/drawing/2014/main" id="{A82ACBC5-1BFF-4AA9-B0B0-C3F7204F9481}"/>
              </a:ext>
            </a:extLst>
          </p:cNvPr>
          <p:cNvSpPr>
            <a:spLocks xmlns:a="http://schemas.openxmlformats.org/drawingml/2006/main" noGrp="1"/>
          </p:cNvSpPr>
          <p:nvPr/>
        </p:nvSpPr>
        <p:spPr>
          <a:xfrm xmlns:a="http://schemas.openxmlformats.org/drawingml/2006/main">
            <a:off x="1005840" y="180136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Layer contract green; strict schema, stable errors, health/readiness, trace and model headers.</a:t>
            </a:r>
            <a:endParaRPr sz="1050"/>
          </a:p>
        </p:txBody>
      </p:sp>
      <p:sp>
        <p:nvSpPr>
          <p:cNvPr id="11" name="Text 8">
            <a:extLst xmlns:a="http://schemas.openxmlformats.org/drawingml/2006/main">
              <a:ext uri="{FF2B5EF4-FFF2-40B4-BE49-F238E27FC236}">
                <a16:creationId xmlns:a16="http://schemas.microsoft.com/office/drawing/2014/main" id="{6E412656-5263-45AE-82D5-31AA6B396614}"/>
              </a:ext>
            </a:extLst>
          </p:cNvPr>
          <p:cNvSpPr>
            <a:spLocks xmlns:a="http://schemas.openxmlformats.org/drawingml/2006/main" noGrp="1"/>
          </p:cNvSpPr>
          <p:nvPr/>
        </p:nvSpPr>
        <p:spPr>
          <a:xfrm xmlns:a="http://schemas.openxmlformats.org/drawingml/2006/main">
            <a:off x="502920" y="280035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0736F55E-3534-4AC1-B57C-0E7933249618}"/>
              </a:ext>
            </a:extLst>
          </p:cNvPr>
          <p:cNvSpPr>
            <a:spLocks xmlns:a="http://schemas.openxmlformats.org/drawingml/2006/main" noGrp="1"/>
          </p:cNvSpPr>
          <p:nvPr/>
        </p:nvSpPr>
        <p:spPr>
          <a:xfrm xmlns:a="http://schemas.openxmlformats.org/drawingml/2006/main">
            <a:off x="1005840" y="274548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Image and tests</a:t>
            </a:r>
            <a:endParaRPr sz="1350"/>
          </a:p>
        </p:txBody>
      </p:sp>
      <p:sp>
        <p:nvSpPr>
          <p:cNvPr id="13" name="Text 10">
            <a:extLst xmlns:a="http://schemas.openxmlformats.org/drawingml/2006/main">
              <a:ext uri="{FF2B5EF4-FFF2-40B4-BE49-F238E27FC236}">
                <a16:creationId xmlns:a16="http://schemas.microsoft.com/office/drawing/2014/main" id="{F1DBD095-EE3F-4C72-9CC1-5BAF1DF19F2D}"/>
              </a:ext>
            </a:extLst>
          </p:cNvPr>
          <p:cNvSpPr>
            <a:spLocks xmlns:a="http://schemas.openxmlformats.org/drawingml/2006/main" noGrp="1"/>
          </p:cNvSpPr>
          <p:nvPr/>
        </p:nvSpPr>
        <p:spPr>
          <a:xfrm xmlns:a="http://schemas.openxmlformats.org/drawingml/2006/main">
            <a:off x="1005840" y="304723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Slim non-root image; healthy compose; three test levels and 40/40 malformed rejection.</a:t>
            </a:r>
            <a:endParaRPr sz="1050"/>
          </a:p>
        </p:txBody>
      </p:sp>
      <p:sp>
        <p:nvSpPr>
          <p:cNvPr id="14" name="Text 11">
            <a:extLst xmlns:a="http://schemas.openxmlformats.org/drawingml/2006/main">
              <a:ext uri="{FF2B5EF4-FFF2-40B4-BE49-F238E27FC236}">
                <a16:creationId xmlns:a16="http://schemas.microsoft.com/office/drawing/2014/main" id="{5E6EAE5C-12C5-47A9-9452-01DF822D6446}"/>
              </a:ext>
            </a:extLst>
          </p:cNvPr>
          <p:cNvSpPr>
            <a:spLocks xmlns:a="http://schemas.openxmlformats.org/drawingml/2006/main" noGrp="1"/>
          </p:cNvSpPr>
          <p:nvPr/>
        </p:nvSpPr>
        <p:spPr>
          <a:xfrm xmlns:a="http://schemas.openxmlformats.org/drawingml/2006/main">
            <a:off x="502920" y="404622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1328E8FC-72BC-4EB6-B1D4-913BBA056ED3}"/>
              </a:ext>
            </a:extLst>
          </p:cNvPr>
          <p:cNvSpPr>
            <a:spLocks xmlns:a="http://schemas.openxmlformats.org/drawingml/2006/main" noGrp="1"/>
          </p:cNvSpPr>
          <p:nvPr/>
        </p:nvSpPr>
        <p:spPr>
          <a:xfrm xmlns:a="http://schemas.openxmlformats.org/drawingml/2006/main">
            <a:off x="1005840" y="399135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Pipeline and security</a:t>
            </a:r>
            <a:endParaRPr sz="1350"/>
          </a:p>
        </p:txBody>
      </p:sp>
      <p:sp>
        <p:nvSpPr>
          <p:cNvPr id="16" name="Text 13">
            <a:extLst xmlns:a="http://schemas.openxmlformats.org/drawingml/2006/main">
              <a:ext uri="{FF2B5EF4-FFF2-40B4-BE49-F238E27FC236}">
                <a16:creationId xmlns:a16="http://schemas.microsoft.com/office/drawing/2014/main" id="{3F5D62A0-6DDC-4E90-A328-72310E4B2B4B}"/>
              </a:ext>
            </a:extLst>
          </p:cNvPr>
          <p:cNvSpPr>
            <a:spLocks xmlns:a="http://schemas.openxmlformats.org/drawingml/2006/main" noGrp="1"/>
          </p:cNvSpPr>
          <p:nvPr/>
        </p:nvSpPr>
        <p:spPr>
          <a:xfrm xmlns:a="http://schemas.openxmlformats.org/drawingml/2006/main">
            <a:off x="1005840" y="429310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Required checks, smoke-tested digest, clean scan, no secrets in git, image, or logs.</a:t>
            </a:r>
            <a:endParaRPr sz="1050"/>
          </a:p>
        </p:txBody>
      </p:sp>
      <p:sp>
        <p:nvSpPr>
          <p:cNvPr id="17" name="Text 14">
            <a:extLst xmlns:a="http://schemas.openxmlformats.org/drawingml/2006/main">
              <a:ext uri="{FF2B5EF4-FFF2-40B4-BE49-F238E27FC236}">
                <a16:creationId xmlns:a16="http://schemas.microsoft.com/office/drawing/2014/main" id="{FB07FD8A-01E0-41A0-9EC7-11398930CF87}"/>
              </a:ext>
            </a:extLst>
          </p:cNvPr>
          <p:cNvSpPr>
            <a:spLocks xmlns:a="http://schemas.openxmlformats.org/drawingml/2006/main" noGrp="1"/>
          </p:cNvSpPr>
          <p:nvPr/>
        </p:nvSpPr>
        <p:spPr>
          <a:xfrm xmlns:a="http://schemas.openxmlformats.org/drawingml/2006/main">
            <a:off x="502920" y="5292090"/>
            <a:ext cx="329184" cy="329184"/>
          </a:xfrm>
          <a:prstGeom xmlns:a="http://schemas.openxmlformats.org/drawingml/2006/main" prst="ellipse">
            <a:avLst/>
          </a:prstGeom>
          <a:solidFill xmlns:a="http://schemas.openxmlformats.org/drawingml/2006/main">
            <a:srgbClr val="8DC63F"/>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4</a:t>
            </a:r>
            <a:endParaRPr sz="1300"/>
          </a:p>
        </p:txBody>
      </p:sp>
      <p:sp>
        <p:nvSpPr>
          <p:cNvPr id="18" name="Text 15">
            <a:extLst xmlns:a="http://schemas.openxmlformats.org/drawingml/2006/main">
              <a:ext uri="{FF2B5EF4-FFF2-40B4-BE49-F238E27FC236}">
                <a16:creationId xmlns:a16="http://schemas.microsoft.com/office/drawing/2014/main" id="{AEAF08CC-5E57-4839-B0C5-2220C8377B19}"/>
              </a:ext>
            </a:extLst>
          </p:cNvPr>
          <p:cNvSpPr>
            <a:spLocks xmlns:a="http://schemas.openxmlformats.org/drawingml/2006/main" noGrp="1"/>
          </p:cNvSpPr>
          <p:nvPr/>
        </p:nvSpPr>
        <p:spPr>
          <a:xfrm xmlns:a="http://schemas.openxmlformats.org/drawingml/2006/main">
            <a:off x="1005840" y="523722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Operability and handover</a:t>
            </a:r>
            <a:endParaRPr sz="1350"/>
          </a:p>
        </p:txBody>
      </p:sp>
      <p:sp>
        <p:nvSpPr>
          <p:cNvPr id="19" name="Text 16">
            <a:extLst xmlns:a="http://schemas.openxmlformats.org/drawingml/2006/main">
              <a:ext uri="{FF2B5EF4-FFF2-40B4-BE49-F238E27FC236}">
                <a16:creationId xmlns:a16="http://schemas.microsoft.com/office/drawing/2014/main" id="{7F216B22-A29B-4D51-8C78-03BE97EBA8C0}"/>
              </a:ext>
            </a:extLst>
          </p:cNvPr>
          <p:cNvSpPr>
            <a:spLocks xmlns:a="http://schemas.openxmlformats.org/drawingml/2006/main" noGrp="1"/>
          </p:cNvSpPr>
          <p:nvPr/>
        </p:nvSpPr>
        <p:spPr>
          <a:xfrm xmlns:a="http://schemas.openxmlformats.org/drawingml/2006/main">
            <a:off x="1005840" y="553897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Typed config, correlated JSON logs, measured benchmarks, runbook, and five decisions.</a:t>
            </a:r>
            <a:endParaRPr sz="1050"/>
          </a:p>
        </p:txBody>
      </p:sp>
    </p:spTree>
    <p:extLst>
      <p:ext uri="{BB962C8B-B14F-4D97-AF65-F5344CB8AC3E}">
        <p14:creationId xmlns:p14="http://schemas.microsoft.com/office/powerpoint/2010/main" val="975794841"/>
      </p:ext>
    </p:extLst>
  </p:cSld>
</p:sld>
</file>

<file path=ppt/slides/slide14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974D3D-0987-4AB9-92FE-5B1AE2C7D174}"/>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Mandatory scope: what the rubric grades</a:t>
            </a:r>
            <a:endParaRPr sz="2600"/>
          </a:p>
        </p:txBody>
      </p:sp>
      <p:sp>
        <p:nvSpPr>
          <p:cNvPr id="3" name="Text 1">
            <a:extLst xmlns:a="http://schemas.openxmlformats.org/drawingml/2006/main">
              <a:ext uri="{FF2B5EF4-FFF2-40B4-BE49-F238E27FC236}">
                <a16:creationId xmlns:a16="http://schemas.microsoft.com/office/drawing/2014/main" id="{2FE9ED3E-19A9-4D55-9ADA-F57E4BD71C87}"/>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النطاق الإلزامي: ما يقيسه سلّم الدرجات</a:t>
            </a:r>
            <a:endParaRPr sz="1300"/>
          </a:p>
        </p:txBody>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ef1e8f667a094460"/>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7690947D-F522-4684-A87C-C350A1D6A3B4}"/>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1928F2BE-FA90-4A86-9455-24B314DD0AED}"/>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CAPSTONE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D9481C2A-8B01-4B23-A329-56B45895F52F}"/>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148</a:t>
            </a:r>
            <a:endParaRPr sz="850"/>
          </a:p>
        </p:txBody>
      </p:sp>
      <p:sp>
        <p:nvSpPr>
          <p:cNvPr id="8" name="Shape 5">
            <a:extLst xmlns:a="http://schemas.openxmlformats.org/drawingml/2006/main">
              <a:ext uri="{FF2B5EF4-FFF2-40B4-BE49-F238E27FC236}">
                <a16:creationId xmlns:a16="http://schemas.microsoft.com/office/drawing/2014/main" id="{1FF1DE93-F117-4E69-AEE7-E3F5562F365C}"/>
              </a:ext>
            </a:extLst>
          </p:cNvPr>
          <p:cNvSpPr>
            <a:spLocks xmlns:a="http://schemas.openxmlformats.org/drawingml/2006/main" noGrp="1"/>
          </p:cNvSpPr>
          <p:nvPr/>
        </p:nvSpPr>
        <p:spPr>
          <a:xfrm xmlns:a="http://schemas.openxmlformats.org/drawingml/2006/main">
            <a:off x="3886200" y="2217420"/>
            <a:ext cx="1435608" cy="0"/>
          </a:xfrm>
          <a:prstGeom xmlns:a="http://schemas.openxmlformats.org/drawingml/2006/main" prst="line">
            <a:avLst/>
          </a:prstGeom>
          <a:noFill xmlns:a="http://schemas.openxmlformats.org/drawingml/2006/main"/>
          <a:ln xmlns:a="http://schemas.openxmlformats.org/drawingml/2006/main" w="19050">
            <a:solidFill>
              <a:srgbClr val="D9E4F5"/>
            </a:solidFill>
            <a:prstDash val="dash"/>
          </a:ln>
        </p:spPr>
      </p:sp>
      <p:sp>
        <p:nvSpPr>
          <p:cNvPr id="9" name="Shape 6">
            <a:extLst xmlns:a="http://schemas.openxmlformats.org/drawingml/2006/main">
              <a:ext uri="{FF2B5EF4-FFF2-40B4-BE49-F238E27FC236}">
                <a16:creationId xmlns:a16="http://schemas.microsoft.com/office/drawing/2014/main" id="{FEE8230E-B22A-41CE-B5B3-1BAB74435F2C}"/>
              </a:ext>
            </a:extLst>
          </p:cNvPr>
          <p:cNvSpPr>
            <a:spLocks xmlns:a="http://schemas.openxmlformats.org/drawingml/2006/main" noGrp="1"/>
          </p:cNvSpPr>
          <p:nvPr/>
        </p:nvSpPr>
        <p:spPr>
          <a:xfrm xmlns:a="http://schemas.openxmlformats.org/drawingml/2006/main">
            <a:off x="594360" y="1600200"/>
            <a:ext cx="3291840" cy="1234440"/>
          </a:xfrm>
          <a:prstGeom xmlns:a="http://schemas.openxmlformats.org/drawingml/2006/main" prst="roundRect">
            <a:avLst>
              <a:gd name="adj" fmla="val 5185"/>
            </a:avLst>
          </a:prstGeom>
          <a:solidFill xmlns:a="http://schemas.openxmlformats.org/drawingml/2006/main">
            <a:srgbClr val="D4F1EE"/>
          </a:solidFill>
        </p:spPr>
      </p:sp>
      <p:sp>
        <p:nvSpPr>
          <p:cNvPr id="10" name="Text 7">
            <a:extLst xmlns:a="http://schemas.openxmlformats.org/drawingml/2006/main">
              <a:ext uri="{FF2B5EF4-FFF2-40B4-BE49-F238E27FC236}">
                <a16:creationId xmlns:a16="http://schemas.microsoft.com/office/drawing/2014/main" id="{5FFD7E72-E3FD-472B-965B-D5B4A8520C4E}"/>
              </a:ext>
            </a:extLst>
          </p:cNvPr>
          <p:cNvSpPr>
            <a:spLocks xmlns:a="http://schemas.openxmlformats.org/drawingml/2006/main" noGrp="1"/>
          </p:cNvSpPr>
          <p:nvPr/>
        </p:nvSpPr>
        <p:spPr>
          <a:xfrm xmlns:a="http://schemas.openxmlformats.org/drawingml/2006/main">
            <a:off x="740664" y="1691640"/>
            <a:ext cx="2999232"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Clean architecture · LO5</a:t>
            </a:r>
            <a:endParaRPr sz="1200"/>
          </a:p>
        </p:txBody>
      </p:sp>
      <p:sp>
        <p:nvSpPr>
          <p:cNvPr id="11" name="Text 8">
            <a:extLst xmlns:a="http://schemas.openxmlformats.org/drawingml/2006/main">
              <a:ext uri="{FF2B5EF4-FFF2-40B4-BE49-F238E27FC236}">
                <a16:creationId xmlns:a16="http://schemas.microsoft.com/office/drawing/2014/main" id="{192EBCD7-133E-4719-8A58-2E2885885F18}"/>
              </a:ext>
            </a:extLst>
          </p:cNvPr>
          <p:cNvSpPr>
            <a:spLocks xmlns:a="http://schemas.openxmlformats.org/drawingml/2006/main" noGrp="1"/>
          </p:cNvSpPr>
          <p:nvPr/>
        </p:nvSpPr>
        <p:spPr>
          <a:xfrm xmlns:a="http://schemas.openxmlformats.org/drawingml/2006/main">
            <a:off x="740664" y="2002536"/>
            <a:ext cx="2999232"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src-layout; domain/service/adapters/api layers; import-linter green; model behind a protocol</a:t>
            </a:r>
            <a:endParaRPr sz="950"/>
          </a:p>
        </p:txBody>
      </p:sp>
      <p:sp>
        <p:nvSpPr>
          <p:cNvPr id="12" name="Shape 9">
            <a:extLst xmlns:a="http://schemas.openxmlformats.org/drawingml/2006/main">
              <a:ext uri="{FF2B5EF4-FFF2-40B4-BE49-F238E27FC236}">
                <a16:creationId xmlns:a16="http://schemas.microsoft.com/office/drawing/2014/main" id="{1F0E4FE1-2203-448B-9C6C-EF07D10D45FE}"/>
              </a:ext>
            </a:extLst>
          </p:cNvPr>
          <p:cNvSpPr>
            <a:spLocks xmlns:a="http://schemas.openxmlformats.org/drawingml/2006/main" noGrp="1"/>
          </p:cNvSpPr>
          <p:nvPr/>
        </p:nvSpPr>
        <p:spPr>
          <a:xfrm xmlns:a="http://schemas.openxmlformats.org/drawingml/2006/main">
            <a:off x="3886200" y="4320540"/>
            <a:ext cx="1435608" cy="0"/>
          </a:xfrm>
          <a:prstGeom xmlns:a="http://schemas.openxmlformats.org/drawingml/2006/main" prst="line">
            <a:avLst/>
          </a:prstGeom>
          <a:noFill xmlns:a="http://schemas.openxmlformats.org/drawingml/2006/main"/>
          <a:ln xmlns:a="http://schemas.openxmlformats.org/drawingml/2006/main" w="19050">
            <a:solidFill>
              <a:srgbClr val="D9E4F5"/>
            </a:solidFill>
            <a:prstDash val="dash"/>
          </a:ln>
        </p:spPr>
      </p:sp>
      <p:sp>
        <p:nvSpPr>
          <p:cNvPr id="13" name="Shape 10">
            <a:extLst xmlns:a="http://schemas.openxmlformats.org/drawingml/2006/main">
              <a:ext uri="{FF2B5EF4-FFF2-40B4-BE49-F238E27FC236}">
                <a16:creationId xmlns:a16="http://schemas.microsoft.com/office/drawing/2014/main" id="{F1535577-C384-43F5-AA0E-93AFB954BADB}"/>
              </a:ext>
            </a:extLst>
          </p:cNvPr>
          <p:cNvSpPr>
            <a:spLocks xmlns:a="http://schemas.openxmlformats.org/drawingml/2006/main" noGrp="1"/>
          </p:cNvSpPr>
          <p:nvPr/>
        </p:nvSpPr>
        <p:spPr>
          <a:xfrm xmlns:a="http://schemas.openxmlformats.org/drawingml/2006/main">
            <a:off x="594360" y="3703320"/>
            <a:ext cx="3291840" cy="1234440"/>
          </a:xfrm>
          <a:prstGeom xmlns:a="http://schemas.openxmlformats.org/drawingml/2006/main" prst="roundRect">
            <a:avLst>
              <a:gd name="adj" fmla="val 5185"/>
            </a:avLst>
          </a:prstGeom>
          <a:solidFill xmlns:a="http://schemas.openxmlformats.org/drawingml/2006/main">
            <a:srgbClr val="D9F0FA"/>
          </a:solidFill>
        </p:spPr>
      </p:sp>
      <p:sp>
        <p:nvSpPr>
          <p:cNvPr id="14" name="Text 11">
            <a:extLst xmlns:a="http://schemas.openxmlformats.org/drawingml/2006/main">
              <a:ext uri="{FF2B5EF4-FFF2-40B4-BE49-F238E27FC236}">
                <a16:creationId xmlns:a16="http://schemas.microsoft.com/office/drawing/2014/main" id="{F896BCB3-D05D-4171-B9A2-248155B0FE31}"/>
              </a:ext>
            </a:extLst>
          </p:cNvPr>
          <p:cNvSpPr>
            <a:spLocks xmlns:a="http://schemas.openxmlformats.org/drawingml/2006/main" noGrp="1"/>
          </p:cNvSpPr>
          <p:nvPr/>
        </p:nvSpPr>
        <p:spPr>
          <a:xfrm xmlns:a="http://schemas.openxmlformats.org/drawingml/2006/main">
            <a:off x="740664" y="3794760"/>
            <a:ext cx="2999232"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FastAPI service · LO1</a:t>
            </a:r>
            <a:endParaRPr sz="1200"/>
          </a:p>
        </p:txBody>
      </p:sp>
      <p:sp>
        <p:nvSpPr>
          <p:cNvPr id="15" name="Text 12">
            <a:extLst xmlns:a="http://schemas.openxmlformats.org/drawingml/2006/main">
              <a:ext uri="{FF2B5EF4-FFF2-40B4-BE49-F238E27FC236}">
                <a16:creationId xmlns:a16="http://schemas.microsoft.com/office/drawing/2014/main" id="{3C31395C-4F38-4E07-91BE-766C67FDB46C}"/>
              </a:ext>
            </a:extLst>
          </p:cNvPr>
          <p:cNvSpPr>
            <a:spLocks xmlns:a="http://schemas.openxmlformats.org/drawingml/2006/main" noGrp="1"/>
          </p:cNvSpPr>
          <p:nvPr/>
        </p:nvSpPr>
        <p:spPr>
          <a:xfrm xmlns:a="http://schemas.openxmlformats.org/drawingml/2006/main">
            <a:off x="740664" y="4105656"/>
            <a:ext cx="2999232"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POST /v1/predict, strict pydantic (extra="forbid"); error envelope; /health + /ready; warm-up</a:t>
            </a:r>
            <a:endParaRPr sz="950"/>
          </a:p>
        </p:txBody>
      </p:sp>
      <p:sp>
        <p:nvSpPr>
          <p:cNvPr id="16" name="Shape 13">
            <a:extLst xmlns:a="http://schemas.openxmlformats.org/drawingml/2006/main">
              <a:ext uri="{FF2B5EF4-FFF2-40B4-BE49-F238E27FC236}">
                <a16:creationId xmlns:a16="http://schemas.microsoft.com/office/drawing/2014/main" id="{BC1D6C6A-A9EA-4A53-8780-5156CE4F031A}"/>
              </a:ext>
            </a:extLst>
          </p:cNvPr>
          <p:cNvSpPr>
            <a:spLocks xmlns:a="http://schemas.openxmlformats.org/drawingml/2006/main" noGrp="1"/>
          </p:cNvSpPr>
          <p:nvPr/>
        </p:nvSpPr>
        <p:spPr>
          <a:xfrm xmlns:a="http://schemas.openxmlformats.org/drawingml/2006/main">
            <a:off x="3886200" y="5737860"/>
            <a:ext cx="1435608" cy="0"/>
          </a:xfrm>
          <a:prstGeom xmlns:a="http://schemas.openxmlformats.org/drawingml/2006/main" prst="line">
            <a:avLst/>
          </a:prstGeom>
          <a:noFill xmlns:a="http://schemas.openxmlformats.org/drawingml/2006/main"/>
          <a:ln xmlns:a="http://schemas.openxmlformats.org/drawingml/2006/main" w="19050">
            <a:solidFill>
              <a:srgbClr val="D9E4F5"/>
            </a:solidFill>
            <a:prstDash val="dash"/>
          </a:ln>
        </p:spPr>
      </p:sp>
      <p:sp>
        <p:nvSpPr>
          <p:cNvPr id="17" name="Shape 14">
            <a:extLst xmlns:a="http://schemas.openxmlformats.org/drawingml/2006/main">
              <a:ext uri="{FF2B5EF4-FFF2-40B4-BE49-F238E27FC236}">
                <a16:creationId xmlns:a16="http://schemas.microsoft.com/office/drawing/2014/main" id="{4DB59F8A-2004-4F83-83A5-0B53FE56AC18}"/>
              </a:ext>
            </a:extLst>
          </p:cNvPr>
          <p:cNvSpPr>
            <a:spLocks xmlns:a="http://schemas.openxmlformats.org/drawingml/2006/main" noGrp="1"/>
          </p:cNvSpPr>
          <p:nvPr/>
        </p:nvSpPr>
        <p:spPr>
          <a:xfrm xmlns:a="http://schemas.openxmlformats.org/drawingml/2006/main">
            <a:off x="594360" y="5120640"/>
            <a:ext cx="3291840" cy="1234440"/>
          </a:xfrm>
          <a:prstGeom xmlns:a="http://schemas.openxmlformats.org/drawingml/2006/main" prst="roundRect">
            <a:avLst>
              <a:gd name="adj" fmla="val 5185"/>
            </a:avLst>
          </a:prstGeom>
          <a:solidFill xmlns:a="http://schemas.openxmlformats.org/drawingml/2006/main">
            <a:srgbClr val="FDEBD7"/>
          </a:solidFill>
        </p:spPr>
      </p:sp>
      <p:sp>
        <p:nvSpPr>
          <p:cNvPr id="18" name="Text 15">
            <a:extLst xmlns:a="http://schemas.openxmlformats.org/drawingml/2006/main">
              <a:ext uri="{FF2B5EF4-FFF2-40B4-BE49-F238E27FC236}">
                <a16:creationId xmlns:a16="http://schemas.microsoft.com/office/drawing/2014/main" id="{1D839A5A-8A71-4CF1-9674-BFE2A3BF077F}"/>
              </a:ext>
            </a:extLst>
          </p:cNvPr>
          <p:cNvSpPr>
            <a:spLocks xmlns:a="http://schemas.openxmlformats.org/drawingml/2006/main" noGrp="1"/>
          </p:cNvSpPr>
          <p:nvPr/>
        </p:nvSpPr>
        <p:spPr>
          <a:xfrm xmlns:a="http://schemas.openxmlformats.org/drawingml/2006/main">
            <a:off x="740664" y="5212080"/>
            <a:ext cx="2999232"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Containerisation · LO2</a:t>
            </a:r>
            <a:endParaRPr sz="1200"/>
          </a:p>
        </p:txBody>
      </p:sp>
      <p:sp>
        <p:nvSpPr>
          <p:cNvPr id="19" name="Text 16">
            <a:extLst xmlns:a="http://schemas.openxmlformats.org/drawingml/2006/main">
              <a:ext uri="{FF2B5EF4-FFF2-40B4-BE49-F238E27FC236}">
                <a16:creationId xmlns:a16="http://schemas.microsoft.com/office/drawing/2014/main" id="{6D69EB24-9F2F-48AA-A8C6-90B48FC45E60}"/>
              </a:ext>
            </a:extLst>
          </p:cNvPr>
          <p:cNvSpPr>
            <a:spLocks xmlns:a="http://schemas.openxmlformats.org/drawingml/2006/main" noGrp="1"/>
          </p:cNvSpPr>
          <p:nvPr/>
        </p:nvSpPr>
        <p:spPr>
          <a:xfrm xmlns:a="http://schemas.openxmlformats.org/drawingml/2006/main">
            <a:off x="740664" y="5522976"/>
            <a:ext cx="2999232"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Multi-stage ≤ 500 MB; non-root; healthcheck on /ready; compose with Redis; warm rebuild ≤ 30 s</a:t>
            </a:r>
            <a:endParaRPr sz="950"/>
          </a:p>
        </p:txBody>
      </p:sp>
      <p:sp>
        <p:nvSpPr>
          <p:cNvPr id="20" name="Shape 17">
            <a:extLst xmlns:a="http://schemas.openxmlformats.org/drawingml/2006/main">
              <a:ext uri="{FF2B5EF4-FFF2-40B4-BE49-F238E27FC236}">
                <a16:creationId xmlns:a16="http://schemas.microsoft.com/office/drawing/2014/main" id="{A70106C6-832B-45BE-965A-BF4253196A49}"/>
              </a:ext>
            </a:extLst>
          </p:cNvPr>
          <p:cNvSpPr>
            <a:spLocks xmlns:a="http://schemas.openxmlformats.org/drawingml/2006/main" noGrp="1"/>
          </p:cNvSpPr>
          <p:nvPr/>
        </p:nvSpPr>
        <p:spPr>
          <a:xfrm xmlns:a="http://schemas.openxmlformats.org/drawingml/2006/main">
            <a:off x="6858000" y="2217420"/>
            <a:ext cx="1463040" cy="0"/>
          </a:xfrm>
          <a:prstGeom xmlns:a="http://schemas.openxmlformats.org/drawingml/2006/main" prst="line">
            <a:avLst/>
          </a:prstGeom>
          <a:noFill xmlns:a="http://schemas.openxmlformats.org/drawingml/2006/main"/>
          <a:ln xmlns:a="http://schemas.openxmlformats.org/drawingml/2006/main" w="19050">
            <a:solidFill>
              <a:srgbClr val="D9E4F5"/>
            </a:solidFill>
            <a:prstDash val="dash"/>
          </a:ln>
        </p:spPr>
      </p:sp>
      <p:sp>
        <p:nvSpPr>
          <p:cNvPr id="21" name="Shape 18">
            <a:extLst xmlns:a="http://schemas.openxmlformats.org/drawingml/2006/main">
              <a:ext uri="{FF2B5EF4-FFF2-40B4-BE49-F238E27FC236}">
                <a16:creationId xmlns:a16="http://schemas.microsoft.com/office/drawing/2014/main" id="{CFC73299-12F8-4B01-A80E-16622BDB75B2}"/>
              </a:ext>
            </a:extLst>
          </p:cNvPr>
          <p:cNvSpPr>
            <a:spLocks xmlns:a="http://schemas.openxmlformats.org/drawingml/2006/main" noGrp="1"/>
          </p:cNvSpPr>
          <p:nvPr/>
        </p:nvSpPr>
        <p:spPr>
          <a:xfrm xmlns:a="http://schemas.openxmlformats.org/drawingml/2006/main">
            <a:off x="8321040" y="1600200"/>
            <a:ext cx="3291840" cy="1234440"/>
          </a:xfrm>
          <a:prstGeom xmlns:a="http://schemas.openxmlformats.org/drawingml/2006/main" prst="roundRect">
            <a:avLst>
              <a:gd name="adj" fmla="val 5185"/>
            </a:avLst>
          </a:prstGeom>
          <a:solidFill xmlns:a="http://schemas.openxmlformats.org/drawingml/2006/main">
            <a:srgbClr val="EAF4DC"/>
          </a:solidFill>
        </p:spPr>
      </p:sp>
      <p:sp>
        <p:nvSpPr>
          <p:cNvPr id="22" name="Text 19">
            <a:extLst xmlns:a="http://schemas.openxmlformats.org/drawingml/2006/main">
              <a:ext uri="{FF2B5EF4-FFF2-40B4-BE49-F238E27FC236}">
                <a16:creationId xmlns:a16="http://schemas.microsoft.com/office/drawing/2014/main" id="{177D14A7-9A3F-49E4-91C0-9258AB9F5DBF}"/>
              </a:ext>
            </a:extLst>
          </p:cNvPr>
          <p:cNvSpPr>
            <a:spLocks xmlns:a="http://schemas.openxmlformats.org/drawingml/2006/main" noGrp="1"/>
          </p:cNvSpPr>
          <p:nvPr/>
        </p:nvSpPr>
        <p:spPr>
          <a:xfrm xmlns:a="http://schemas.openxmlformats.org/drawingml/2006/main">
            <a:off x="8467344" y="1691640"/>
            <a:ext cx="2999232"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Testing · LO3</a:t>
            </a:r>
            <a:endParaRPr sz="1200"/>
          </a:p>
        </p:txBody>
      </p:sp>
      <p:sp>
        <p:nvSpPr>
          <p:cNvPr id="23" name="Text 20">
            <a:extLst xmlns:a="http://schemas.openxmlformats.org/drawingml/2006/main">
              <a:ext uri="{FF2B5EF4-FFF2-40B4-BE49-F238E27FC236}">
                <a16:creationId xmlns:a16="http://schemas.microsoft.com/office/drawing/2014/main" id="{875D0E62-A3CF-49A5-9246-DBA434DF3705}"/>
              </a:ext>
            </a:extLst>
          </p:cNvPr>
          <p:cNvSpPr>
            <a:spLocks xmlns:a="http://schemas.openxmlformats.org/drawingml/2006/main" noGrp="1"/>
          </p:cNvSpPr>
          <p:nvPr/>
        </p:nvSpPr>
        <p:spPr>
          <a:xfrm xmlns:a="http://schemas.openxmlformats.org/drawingml/2006/main">
            <a:off x="8467344" y="2002536"/>
            <a:ext cx="2999232"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Unit + integration + behavioural; ≥ 80% branch coverage; malformed corpus 40/40; fast ≤ 60 s</a:t>
            </a:r>
            <a:endParaRPr sz="950"/>
          </a:p>
        </p:txBody>
      </p:sp>
      <p:sp>
        <p:nvSpPr>
          <p:cNvPr id="24" name="Shape 21">
            <a:extLst xmlns:a="http://schemas.openxmlformats.org/drawingml/2006/main">
              <a:ext uri="{FF2B5EF4-FFF2-40B4-BE49-F238E27FC236}">
                <a16:creationId xmlns:a16="http://schemas.microsoft.com/office/drawing/2014/main" id="{2E20E58F-D49A-4477-86BB-430265468FA1}"/>
              </a:ext>
            </a:extLst>
          </p:cNvPr>
          <p:cNvSpPr>
            <a:spLocks xmlns:a="http://schemas.openxmlformats.org/drawingml/2006/main" noGrp="1"/>
          </p:cNvSpPr>
          <p:nvPr/>
        </p:nvSpPr>
        <p:spPr>
          <a:xfrm xmlns:a="http://schemas.openxmlformats.org/drawingml/2006/main">
            <a:off x="6858000" y="4320540"/>
            <a:ext cx="1463040" cy="0"/>
          </a:xfrm>
          <a:prstGeom xmlns:a="http://schemas.openxmlformats.org/drawingml/2006/main" prst="line">
            <a:avLst/>
          </a:prstGeom>
          <a:noFill xmlns:a="http://schemas.openxmlformats.org/drawingml/2006/main"/>
          <a:ln xmlns:a="http://schemas.openxmlformats.org/drawingml/2006/main" w="19050">
            <a:solidFill>
              <a:srgbClr val="D9E4F5"/>
            </a:solidFill>
            <a:prstDash val="dash"/>
          </a:ln>
        </p:spPr>
      </p:sp>
      <p:sp>
        <p:nvSpPr>
          <p:cNvPr id="25" name="Shape 22">
            <a:extLst xmlns:a="http://schemas.openxmlformats.org/drawingml/2006/main">
              <a:ext uri="{FF2B5EF4-FFF2-40B4-BE49-F238E27FC236}">
                <a16:creationId xmlns:a16="http://schemas.microsoft.com/office/drawing/2014/main" id="{EEAA6AB2-0E1F-42DB-9A97-392913778F8F}"/>
              </a:ext>
            </a:extLst>
          </p:cNvPr>
          <p:cNvSpPr>
            <a:spLocks xmlns:a="http://schemas.openxmlformats.org/drawingml/2006/main" noGrp="1"/>
          </p:cNvSpPr>
          <p:nvPr/>
        </p:nvSpPr>
        <p:spPr>
          <a:xfrm xmlns:a="http://schemas.openxmlformats.org/drawingml/2006/main">
            <a:off x="8321040" y="3703320"/>
            <a:ext cx="3291840" cy="1234440"/>
          </a:xfrm>
          <a:prstGeom xmlns:a="http://schemas.openxmlformats.org/drawingml/2006/main" prst="roundRect">
            <a:avLst>
              <a:gd name="adj" fmla="val 5185"/>
            </a:avLst>
          </a:prstGeom>
          <a:solidFill xmlns:a="http://schemas.openxmlformats.org/drawingml/2006/main">
            <a:srgbClr val="FADDD8"/>
          </a:solidFill>
        </p:spPr>
      </p:sp>
      <p:sp>
        <p:nvSpPr>
          <p:cNvPr id="26" name="Text 23">
            <a:extLst xmlns:a="http://schemas.openxmlformats.org/drawingml/2006/main">
              <a:ext uri="{FF2B5EF4-FFF2-40B4-BE49-F238E27FC236}">
                <a16:creationId xmlns:a16="http://schemas.microsoft.com/office/drawing/2014/main" id="{98792D7B-C39A-4B76-B7D8-08755EF4C557}"/>
              </a:ext>
            </a:extLst>
          </p:cNvPr>
          <p:cNvSpPr>
            <a:spLocks xmlns:a="http://schemas.openxmlformats.org/drawingml/2006/main" noGrp="1"/>
          </p:cNvSpPr>
          <p:nvPr/>
        </p:nvSpPr>
        <p:spPr>
          <a:xfrm xmlns:a="http://schemas.openxmlformats.org/drawingml/2006/main">
            <a:off x="8467344" y="3794760"/>
            <a:ext cx="2999232"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CI/CD · LO4</a:t>
            </a:r>
            <a:endParaRPr sz="1200"/>
          </a:p>
        </p:txBody>
      </p:sp>
      <p:sp>
        <p:nvSpPr>
          <p:cNvPr id="27" name="Text 24">
            <a:extLst xmlns:a="http://schemas.openxmlformats.org/drawingml/2006/main">
              <a:ext uri="{FF2B5EF4-FFF2-40B4-BE49-F238E27FC236}">
                <a16:creationId xmlns:a16="http://schemas.microsoft.com/office/drawing/2014/main" id="{84AB5104-D5F2-4C00-83B4-74B6C14BDD47}"/>
              </a:ext>
            </a:extLst>
          </p:cNvPr>
          <p:cNvSpPr>
            <a:spLocks xmlns:a="http://schemas.openxmlformats.org/drawingml/2006/main" noGrp="1"/>
          </p:cNvSpPr>
          <p:nvPr/>
        </p:nvSpPr>
        <p:spPr>
          <a:xfrm xmlns:a="http://schemas.openxmlformats.org/drawingml/2006/main">
            <a:off x="8467344" y="4105656"/>
            <a:ext cx="2999232"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Actions: parallel lint/test, image build + smoke, GHCR publish on main; branch protection</a:t>
            </a:r>
            <a:endParaRPr sz="950"/>
          </a:p>
        </p:txBody>
      </p:sp>
      <p:sp>
        <p:nvSpPr>
          <p:cNvPr id="28" name="Shape 25">
            <a:extLst xmlns:a="http://schemas.openxmlformats.org/drawingml/2006/main">
              <a:ext uri="{FF2B5EF4-FFF2-40B4-BE49-F238E27FC236}">
                <a16:creationId xmlns:a16="http://schemas.microsoft.com/office/drawing/2014/main" id="{ABE53B0C-7DC0-4411-A60B-6CC99A4CDB30}"/>
              </a:ext>
            </a:extLst>
          </p:cNvPr>
          <p:cNvSpPr>
            <a:spLocks xmlns:a="http://schemas.openxmlformats.org/drawingml/2006/main" noGrp="1"/>
          </p:cNvSpPr>
          <p:nvPr/>
        </p:nvSpPr>
        <p:spPr>
          <a:xfrm xmlns:a="http://schemas.openxmlformats.org/drawingml/2006/main">
            <a:off x="6858000" y="5737860"/>
            <a:ext cx="1463040" cy="0"/>
          </a:xfrm>
          <a:prstGeom xmlns:a="http://schemas.openxmlformats.org/drawingml/2006/main" prst="line">
            <a:avLst/>
          </a:prstGeom>
          <a:noFill xmlns:a="http://schemas.openxmlformats.org/drawingml/2006/main"/>
          <a:ln xmlns:a="http://schemas.openxmlformats.org/drawingml/2006/main" w="19050">
            <a:solidFill>
              <a:srgbClr val="D9E4F5"/>
            </a:solidFill>
            <a:prstDash val="dash"/>
          </a:ln>
        </p:spPr>
      </p:sp>
      <p:sp>
        <p:nvSpPr>
          <p:cNvPr id="29" name="Shape 26">
            <a:extLst xmlns:a="http://schemas.openxmlformats.org/drawingml/2006/main">
              <a:ext uri="{FF2B5EF4-FFF2-40B4-BE49-F238E27FC236}">
                <a16:creationId xmlns:a16="http://schemas.microsoft.com/office/drawing/2014/main" id="{A253C5F7-1856-4338-A44E-E17FA2060301}"/>
              </a:ext>
            </a:extLst>
          </p:cNvPr>
          <p:cNvSpPr>
            <a:spLocks xmlns:a="http://schemas.openxmlformats.org/drawingml/2006/main" noGrp="1"/>
          </p:cNvSpPr>
          <p:nvPr/>
        </p:nvSpPr>
        <p:spPr>
          <a:xfrm xmlns:a="http://schemas.openxmlformats.org/drawingml/2006/main">
            <a:off x="8321040" y="5120640"/>
            <a:ext cx="3291840" cy="1234440"/>
          </a:xfrm>
          <a:prstGeom xmlns:a="http://schemas.openxmlformats.org/drawingml/2006/main" prst="roundRect">
            <a:avLst>
              <a:gd name="adj" fmla="val 5185"/>
            </a:avLst>
          </a:prstGeom>
          <a:solidFill xmlns:a="http://schemas.openxmlformats.org/drawingml/2006/main">
            <a:srgbClr val="E9E2F2"/>
          </a:solidFill>
        </p:spPr>
      </p:sp>
      <p:sp>
        <p:nvSpPr>
          <p:cNvPr id="30" name="Text 27">
            <a:extLst xmlns:a="http://schemas.openxmlformats.org/drawingml/2006/main">
              <a:ext uri="{FF2B5EF4-FFF2-40B4-BE49-F238E27FC236}">
                <a16:creationId xmlns:a16="http://schemas.microsoft.com/office/drawing/2014/main" id="{34BE2B41-663A-479A-880B-2016A0CE9AC1}"/>
              </a:ext>
            </a:extLst>
          </p:cNvPr>
          <p:cNvSpPr>
            <a:spLocks xmlns:a="http://schemas.openxmlformats.org/drawingml/2006/main" noGrp="1"/>
          </p:cNvSpPr>
          <p:nvPr/>
        </p:nvSpPr>
        <p:spPr>
          <a:xfrm xmlns:a="http://schemas.openxmlformats.org/drawingml/2006/main">
            <a:off x="8467344" y="5212080"/>
            <a:ext cx="2999232"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1D2A5C"/>
                </a:solidFill>
                <a:latin typeface="Calibri"/>
                <a:ea typeface="Calibri"/>
                <a:cs typeface="Calibri"/>
              </a:rPr>
              <a:t>Config &amp; quality · LO5/LO6</a:t>
            </a:r>
            <a:endParaRPr sz="1200"/>
          </a:p>
        </p:txBody>
      </p:sp>
      <p:sp>
        <p:nvSpPr>
          <p:cNvPr id="31" name="Text 28">
            <a:extLst xmlns:a="http://schemas.openxmlformats.org/drawingml/2006/main">
              <a:ext uri="{FF2B5EF4-FFF2-40B4-BE49-F238E27FC236}">
                <a16:creationId xmlns:a16="http://schemas.microsoft.com/office/drawing/2014/main" id="{EF81709B-7925-4D5A-8D21-2DC7F84D4649}"/>
              </a:ext>
            </a:extLst>
          </p:cNvPr>
          <p:cNvSpPr>
            <a:spLocks xmlns:a="http://schemas.openxmlformats.org/drawingml/2006/main" noGrp="1"/>
          </p:cNvSpPr>
          <p:nvPr/>
        </p:nvSpPr>
        <p:spPr>
          <a:xfrm xmlns:a="http://schemas.openxmlformats.org/drawingml/2006/main">
            <a:off x="8467344" y="5522976"/>
            <a:ext cx="2999232"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pydantic-settings fail-fast; gitleaks clean; JSON logs with trace_id; ruff + mypy; runbook</a:t>
            </a:r>
            <a:endParaRPr sz="950"/>
          </a:p>
        </p:txBody>
      </p:sp>
      <p:sp>
        <p:nvSpPr>
          <p:cNvPr id="32" name="Shape 29">
            <a:extLst xmlns:a="http://schemas.openxmlformats.org/drawingml/2006/main">
              <a:ext uri="{FF2B5EF4-FFF2-40B4-BE49-F238E27FC236}">
                <a16:creationId xmlns:a16="http://schemas.microsoft.com/office/drawing/2014/main" id="{0CE2BE49-83C7-41B6-9171-326C47CD5FD0}"/>
              </a:ext>
            </a:extLst>
          </p:cNvPr>
          <p:cNvSpPr>
            <a:spLocks xmlns:a="http://schemas.openxmlformats.org/drawingml/2006/main" noGrp="1"/>
          </p:cNvSpPr>
          <p:nvPr/>
        </p:nvSpPr>
        <p:spPr>
          <a:xfrm xmlns:a="http://schemas.openxmlformats.org/drawingml/2006/main">
            <a:off x="5129784" y="2953512"/>
            <a:ext cx="1920240" cy="1920240"/>
          </a:xfrm>
          <a:prstGeom xmlns:a="http://schemas.openxmlformats.org/drawingml/2006/main" prst="ellipse">
            <a:avLst/>
          </a:prstGeom>
          <a:solidFill xmlns:a="http://schemas.openxmlformats.org/drawingml/2006/main">
            <a:srgbClr val="1D2A5C"/>
          </a:solidFill>
          <a:ln xmlns:a="http://schemas.openxmlformats.org/drawingml/2006/main" w="31750">
            <a:solidFill>
              <a:srgbClr val="00A79D"/>
            </a:solidFill>
            <a:prstDash val="solid"/>
          </a:ln>
        </p:spPr>
      </p:sp>
      <p:sp>
        <p:nvSpPr>
          <p:cNvPr id="33" name="Text 30">
            <a:extLst xmlns:a="http://schemas.openxmlformats.org/drawingml/2006/main">
              <a:ext uri="{FF2B5EF4-FFF2-40B4-BE49-F238E27FC236}">
                <a16:creationId xmlns:a16="http://schemas.microsoft.com/office/drawing/2014/main" id="{AA5B3715-8C51-4E12-8C4E-EA358C2F5D8C}"/>
              </a:ext>
            </a:extLst>
          </p:cNvPr>
          <p:cNvSpPr>
            <a:spLocks xmlns:a="http://schemas.openxmlformats.org/drawingml/2006/main" noGrp="1"/>
          </p:cNvSpPr>
          <p:nvPr/>
        </p:nvSpPr>
        <p:spPr>
          <a:xfrm xmlns:a="http://schemas.openxmlformats.org/drawingml/2006/main">
            <a:off x="5221224" y="3044952"/>
            <a:ext cx="1737360" cy="1737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Raqib service</a:t>
            </a:r>
            <a:endParaRPr sz="1400"/>
          </a:p>
        </p:txBody>
      </p:sp>
    </p:spTree>
    <p:extLst>
      <p:ext uri="{BB962C8B-B14F-4D97-AF65-F5344CB8AC3E}">
        <p14:creationId xmlns:p14="http://schemas.microsoft.com/office/powerpoint/2010/main" val="1973675968"/>
      </p:ext>
    </p:extLst>
  </p:cSld>
</p:sld>
</file>

<file path=ppt/slides/slide14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4B4B908-88FF-4AFF-A71F-7DFCD0BCCB4C}"/>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Capstone deliverables checklist</a:t>
            </a:r>
            <a:endParaRPr sz="2600"/>
          </a:p>
        </p:txBody>
      </p:sp>
      <p:sp>
        <p:nvSpPr>
          <p:cNvPr id="3" name="Text 1">
            <a:extLst xmlns:a="http://schemas.openxmlformats.org/drawingml/2006/main">
              <a:ext uri="{FF2B5EF4-FFF2-40B4-BE49-F238E27FC236}">
                <a16:creationId xmlns:a16="http://schemas.microsoft.com/office/drawing/2014/main" id="{2F4A447A-29D9-491B-9E79-FA593921910C}"/>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قائمة تسليمات المشروع الختامي</a:t>
            </a:r>
            <a:endParaRPr sz="13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2ef83aaca5b6478b"/>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A79057F8-0B1B-4232-BB1C-C96A93CE63E1}"/>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14C6149E-CB4C-40B5-B337-08B6DEF8D178}"/>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CAPSTONE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E96E6498-8F2E-43C9-B1CE-C548377850CD}"/>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149</a:t>
            </a:r>
            <a:endParaRPr sz="850"/>
          </a:p>
        </p:txBody>
      </p:sp>
      <p:graphicFrame>
        <p:nvGraphicFramePr>
          <p:cNvPr id="16" name="Table 0"/>
          <p:cNvGraphicFramePr/>
          <p:nvPr/>
        </p:nvGraphicFramePr>
        <p:xfrm>
          <a:off xmlns:a="http://schemas.openxmlformats.org/drawingml/2006/main" x="502920" y="1554480"/>
          <a:ext xmlns:a="http://schemas.openxmlformats.org/drawingml/2006/main" cx="11183112" cy="914400"/>
        </p:xfrm>
        <a:graphic xmlns:a="http://schemas.openxmlformats.org/drawingml/2006/main">
          <a:graphicData uri="http://schemas.openxmlformats.org/drawingml/2006/table">
            <a:tbl>
              <a:tblPr/>
              <a:tblGrid>
                <a:gridCol w="3727704"/>
                <a:gridCol w="3727704"/>
                <a:gridCol w="3727704"/>
              </a:tblGrid>
              <a:tr h="384048">
                <a:tc>
                  <a:txBody>
                    <a:bodyPr/>
                    <a:lstStyle/>
                    <a:p>
                      <a:pPr marL="0" indent="0">
                        <a:buNone/>
                      </a:pPr>
                      <a:r>
                        <a:rPr sz="1100" b="1">
                          <a:solidFill>
                            <a:srgbClr val="FFFFFF"/>
                          </a:solidFill>
                          <a:latin typeface="Calibri"/>
                          <a:ea typeface="Calibri"/>
                          <a:cs typeface="Calibri"/>
                        </a:rPr>
                        <a:t>#</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c>
                  <a:txBody>
                    <a:bodyPr/>
                    <a:lstStyle/>
                    <a:p>
                      <a:pPr marL="0" indent="0">
                        <a:buNone/>
                      </a:pPr>
                      <a:r>
                        <a:rPr sz="1100" b="1">
                          <a:solidFill>
                            <a:srgbClr val="FFFFFF"/>
                          </a:solidFill>
                          <a:latin typeface="Calibri"/>
                          <a:ea typeface="Calibri"/>
                          <a:cs typeface="Calibri"/>
                        </a:rPr>
                        <a:t>Deliverable</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c>
                  <a:txBody>
                    <a:bodyPr/>
                    <a:lstStyle/>
                    <a:p>
                      <a:pPr marL="0" indent="0">
                        <a:buNone/>
                      </a:pPr>
                      <a:r>
                        <a:rPr sz="1100" b="1">
                          <a:solidFill>
                            <a:srgbClr val="FFFFFF"/>
                          </a:solidFill>
                          <a:latin typeface="Calibri"/>
                          <a:ea typeface="Calibri"/>
                          <a:cs typeface="Calibri"/>
                        </a:rPr>
                        <a:t>What good looks like</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r>
              <a:tr h="384048">
                <a:tc>
                  <a:txBody>
                    <a:bodyPr/>
                    <a:lstStyle/>
                    <a:p>
                      <a:pPr marL="0" indent="0">
                        <a:buNone/>
                      </a:pPr>
                      <a:r>
                        <a:rPr sz="1050" b="1">
                          <a:solidFill>
                            <a:srgbClr val="1D2A5C"/>
                          </a:solidFill>
                          <a:latin typeface="Calibri"/>
                          <a:ea typeface="Calibri"/>
                          <a:cs typeface="Calibri"/>
                        </a:rPr>
                        <a:t>1</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GitHub repository URL, full history</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Public or instructor-shared; ≥ 5 meaningful commits through the pipeline</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r>
              <a:tr h="384048">
                <a:tc>
                  <a:txBody>
                    <a:bodyPr/>
                    <a:lstStyle/>
                    <a:p>
                      <a:pPr marL="0" indent="0">
                        <a:buNone/>
                      </a:pPr>
                      <a:r>
                        <a:rPr sz="1050" b="1">
                          <a:solidFill>
                            <a:srgbClr val="1D2A5C"/>
                          </a:solidFill>
                          <a:latin typeface="Calibri"/>
                          <a:ea typeface="Calibri"/>
                          <a:cs typeface="Calibri"/>
                        </a:rPr>
                        <a:t>2</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Green CI run on main</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GHCR image pullable by digest</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r>
              <a:tr h="384048">
                <a:tc>
                  <a:txBody>
                    <a:bodyPr/>
                    <a:lstStyle/>
                    <a:p>
                      <a:pPr marL="0" indent="0">
                        <a:buNone/>
                      </a:pPr>
                      <a:r>
                        <a:rPr sz="1050" b="1">
                          <a:solidFill>
                            <a:srgbClr val="1D2A5C"/>
                          </a:solidFill>
                          <a:latin typeface="Calibri"/>
                          <a:ea typeface="Calibri"/>
                          <a:cs typeface="Calibri"/>
                        </a:rPr>
                        <a:t>3</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README.md runbook</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Run, test, build, configure — a stranger succeeds in 10 minutes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r>
              <a:tr h="384048">
                <a:tc>
                  <a:txBody>
                    <a:bodyPr/>
                    <a:lstStyle/>
                    <a:p>
                      <a:pPr marL="0" indent="0">
                        <a:buNone/>
                      </a:pPr>
                      <a:r>
                        <a:rPr sz="1050" b="1">
                          <a:solidFill>
                            <a:srgbClr val="1D2A5C"/>
                          </a:solidFill>
                          <a:latin typeface="Calibri"/>
                          <a:ea typeface="Calibri"/>
                          <a:cs typeface="Calibri"/>
                        </a:rPr>
                        <a:t>4</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BENCHMARKS.md</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The five course benchmark tables filled from your own runs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r>
              <a:tr h="384048">
                <a:tc>
                  <a:txBody>
                    <a:bodyPr/>
                    <a:lstStyle/>
                    <a:p>
                      <a:pPr marL="0" indent="0">
                        <a:buNone/>
                      </a:pPr>
                      <a:r>
                        <a:rPr sz="1050" b="1">
                          <a:solidFill>
                            <a:srgbClr val="1D2A5C"/>
                          </a:solidFill>
                          <a:latin typeface="Calibri"/>
                          <a:ea typeface="Calibri"/>
                          <a:cs typeface="Calibri"/>
                        </a:rPr>
                        <a:t>5</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5-minute demo</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Clone-to-running via compose · valid + malformed request · behavioural test · CI story</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r>
              <a:tr h="384048">
                <a:tc>
                  <a:txBody>
                    <a:bodyPr/>
                    <a:lstStyle/>
                    <a:p>
                      <a:pPr marL="0" indent="0">
                        <a:buNone/>
                      </a:pPr>
                      <a:r>
                        <a:rPr sz="1050" b="1">
                          <a:solidFill>
                            <a:srgbClr val="1D2A5C"/>
                          </a:solidFill>
                          <a:latin typeface="Calibri"/>
                          <a:ea typeface="Calibri"/>
                          <a:cs typeface="Calibri"/>
                        </a:rPr>
                        <a:t>6</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DECISIONS.md</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Five one-paragraph engineering decisions with rationale (e.g. bake-vs-pull model)</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r>
            </a:tbl>
          </a:graphicData>
        </a:graphic>
      </p:graphicFrame>
    </p:spTree>
    <p:extLst>
      <p:ext uri="{BB962C8B-B14F-4D97-AF65-F5344CB8AC3E}">
        <p14:creationId xmlns:p14="http://schemas.microsoft.com/office/powerpoint/2010/main" val="611212309"/>
      </p:ext>
    </p:extLst>
  </p:cSld>
</p:sld>
</file>

<file path=ppt/slides/slide15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DE5F17D-659E-48CC-9D2F-EC1A655C4B18}"/>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Capstone decision record — make trade-offs reviewable</a:t>
            </a:r>
            <a:endParaRPr sz="2600"/>
          </a:p>
        </p:txBody>
      </p:sp>
      <p:sp>
        <p:nvSpPr>
          <p:cNvPr id="3" name="Text 1">
            <a:extLst xmlns:a="http://schemas.openxmlformats.org/drawingml/2006/main">
              <a:ext uri="{FF2B5EF4-FFF2-40B4-BE49-F238E27FC236}">
                <a16:creationId xmlns:a16="http://schemas.microsoft.com/office/drawing/2014/main" id="{16A3C7C4-974F-4731-AE67-C6A488FEC868}"/>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سجل قرارات المشروع الختامي — اجعل المفاضلات قابلة للمراجعة</a:t>
            </a:r>
            <a:endParaRPr sz="1300"/>
          </a:p>
        </p:txBody>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4c5b3636779e4916"/>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D60A61EA-B363-4398-BC98-A84121CFAE1F}"/>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BB66A3E8-A99A-4AF4-B699-7DE7040FFBAF}"/>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CAPSTONE</a:t>
            </a:r>
            <a:r>
              <a:rPr sz="850" b="1" spc="100">
                <a:solidFill>
                  <a:srgbClr val="00A79D"/>
                </a:solidFill>
                <a:latin typeface="Calibri"/>
                <a:ea typeface="Calibri"/>
                <a:cs typeface="Calibri"/>
              </a:rPr>
              <a:t>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7667CF09-35EA-459F-AE5E-228548E764FA}"/>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150</a:t>
            </a:r>
            <a:endParaRPr sz="850"/>
          </a:p>
        </p:txBody>
      </p:sp>
      <p:sp>
        <p:nvSpPr>
          <p:cNvPr id="8" name="Text 5">
            <a:extLst xmlns:a="http://schemas.openxmlformats.org/drawingml/2006/main">
              <a:ext uri="{FF2B5EF4-FFF2-40B4-BE49-F238E27FC236}">
                <a16:creationId xmlns:a16="http://schemas.microsoft.com/office/drawing/2014/main" id="{AD1E06BF-FB27-40AC-9620-6A2C25D75C02}"/>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A85E1220-86F3-4C31-AB2B-F1DE3B7144CB}"/>
              </a:ext>
            </a:extLst>
          </p:cNvPr>
          <p:cNvSpPr>
            <a:spLocks xmlns:a="http://schemas.openxmlformats.org/drawingml/2006/main" noGrp="1"/>
          </p:cNvSpPr>
          <p:nvPr/>
        </p:nvSpPr>
        <p:spPr>
          <a:xfrm xmlns:a="http://schemas.openxmlformats.org/drawingml/2006/main">
            <a:off x="1005840" y="14996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Threshold ownership and placement</a:t>
            </a:r>
            <a:endParaRPr sz="1350"/>
          </a:p>
        </p:txBody>
      </p:sp>
      <p:sp>
        <p:nvSpPr>
          <p:cNvPr id="10" name="Text 7">
            <a:extLst xmlns:a="http://schemas.openxmlformats.org/drawingml/2006/main">
              <a:ext uri="{FF2B5EF4-FFF2-40B4-BE49-F238E27FC236}">
                <a16:creationId xmlns:a16="http://schemas.microsoft.com/office/drawing/2014/main" id="{A82ACBC5-1BFF-4AA9-B0B0-C3F7204F9481}"/>
              </a:ext>
            </a:extLst>
          </p:cNvPr>
          <p:cNvSpPr>
            <a:spLocks xmlns:a="http://schemas.openxmlformats.org/drawingml/2006/main" noGrp="1"/>
          </p:cNvSpPr>
          <p:nvPr/>
        </p:nvSpPr>
        <p:spPr>
          <a:xfrm xmlns:a="http://schemas.openxmlformats.org/drawingml/2006/main">
            <a:off x="1005840" y="180136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Name the owner, change path, audit trail, and tests that protect the decision.</a:t>
            </a:r>
            <a:endParaRPr sz="1050"/>
          </a:p>
        </p:txBody>
      </p:sp>
      <p:sp>
        <p:nvSpPr>
          <p:cNvPr id="11" name="Text 8">
            <a:extLst xmlns:a="http://schemas.openxmlformats.org/drawingml/2006/main">
              <a:ext uri="{FF2B5EF4-FFF2-40B4-BE49-F238E27FC236}">
                <a16:creationId xmlns:a16="http://schemas.microsoft.com/office/drawing/2014/main" id="{6E412656-5263-45AE-82D5-31AA6B396614}"/>
              </a:ext>
            </a:extLst>
          </p:cNvPr>
          <p:cNvSpPr>
            <a:spLocks xmlns:a="http://schemas.openxmlformats.org/drawingml/2006/main" noGrp="1"/>
          </p:cNvSpPr>
          <p:nvPr/>
        </p:nvSpPr>
        <p:spPr>
          <a:xfrm xmlns:a="http://schemas.openxmlformats.org/drawingml/2006/main">
            <a:off x="502920" y="280035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0736F55E-3534-4AC1-B57C-0E7933249618}"/>
              </a:ext>
            </a:extLst>
          </p:cNvPr>
          <p:cNvSpPr>
            <a:spLocks xmlns:a="http://schemas.openxmlformats.org/drawingml/2006/main" noGrp="1"/>
          </p:cNvSpPr>
          <p:nvPr/>
        </p:nvSpPr>
        <p:spPr>
          <a:xfrm xmlns:a="http://schemas.openxmlformats.org/drawingml/2006/main">
            <a:off x="1005840" y="274548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Model artefact delivery</a:t>
            </a:r>
            <a:endParaRPr sz="1350"/>
          </a:p>
        </p:txBody>
      </p:sp>
      <p:sp>
        <p:nvSpPr>
          <p:cNvPr id="13" name="Text 10">
            <a:extLst xmlns:a="http://schemas.openxmlformats.org/drawingml/2006/main">
              <a:ext uri="{FF2B5EF4-FFF2-40B4-BE49-F238E27FC236}">
                <a16:creationId xmlns:a16="http://schemas.microsoft.com/office/drawing/2014/main" id="{F1DBD095-EE3F-4C72-9CC1-5BAF1DF19F2D}"/>
              </a:ext>
            </a:extLst>
          </p:cNvPr>
          <p:cNvSpPr>
            <a:spLocks xmlns:a="http://schemas.openxmlformats.org/drawingml/2006/main" noGrp="1"/>
          </p:cNvSpPr>
          <p:nvPr/>
        </p:nvSpPr>
        <p:spPr>
          <a:xfrm xmlns:a="http://schemas.openxmlformats.org/drawingml/2006/main">
            <a:off x="1005840" y="304723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Choose bake, mount, or pull-at-start against size, rollback, and readiness constraints.</a:t>
            </a:r>
            <a:endParaRPr sz="1050"/>
          </a:p>
        </p:txBody>
      </p:sp>
      <p:sp>
        <p:nvSpPr>
          <p:cNvPr id="14" name="Text 11">
            <a:extLst xmlns:a="http://schemas.openxmlformats.org/drawingml/2006/main">
              <a:ext uri="{FF2B5EF4-FFF2-40B4-BE49-F238E27FC236}">
                <a16:creationId xmlns:a16="http://schemas.microsoft.com/office/drawing/2014/main" id="{5E6EAE5C-12C5-47A9-9452-01DF822D6446}"/>
              </a:ext>
            </a:extLst>
          </p:cNvPr>
          <p:cNvSpPr>
            <a:spLocks xmlns:a="http://schemas.openxmlformats.org/drawingml/2006/main" noGrp="1"/>
          </p:cNvSpPr>
          <p:nvPr/>
        </p:nvSpPr>
        <p:spPr>
          <a:xfrm xmlns:a="http://schemas.openxmlformats.org/drawingml/2006/main">
            <a:off x="502920" y="404622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1328E8FC-72BC-4EB6-B1D4-913BBA056ED3}"/>
              </a:ext>
            </a:extLst>
          </p:cNvPr>
          <p:cNvSpPr>
            <a:spLocks xmlns:a="http://schemas.openxmlformats.org/drawingml/2006/main" noGrp="1"/>
          </p:cNvSpPr>
          <p:nvPr/>
        </p:nvSpPr>
        <p:spPr>
          <a:xfrm xmlns:a="http://schemas.openxmlformats.org/drawingml/2006/main">
            <a:off x="1005840" y="399135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Golden regeneration authority</a:t>
            </a:r>
            <a:endParaRPr sz="1350"/>
          </a:p>
        </p:txBody>
      </p:sp>
      <p:sp>
        <p:nvSpPr>
          <p:cNvPr id="16" name="Text 13">
            <a:extLst xmlns:a="http://schemas.openxmlformats.org/drawingml/2006/main">
              <a:ext uri="{FF2B5EF4-FFF2-40B4-BE49-F238E27FC236}">
                <a16:creationId xmlns:a16="http://schemas.microsoft.com/office/drawing/2014/main" id="{3F5D62A0-6DDC-4E90-A328-72310E4B2B4B}"/>
              </a:ext>
            </a:extLst>
          </p:cNvPr>
          <p:cNvSpPr>
            <a:spLocks xmlns:a="http://schemas.openxmlformats.org/drawingml/2006/main" noGrp="1"/>
          </p:cNvSpPr>
          <p:nvPr/>
        </p:nvSpPr>
        <p:spPr>
          <a:xfrm xmlns:a="http://schemas.openxmlformats.org/drawingml/2006/main">
            <a:off x="1005840" y="429310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Define who approves, which diff evidence is required, and how the version changes.</a:t>
            </a:r>
            <a:endParaRPr sz="1050"/>
          </a:p>
        </p:txBody>
      </p:sp>
      <p:sp>
        <p:nvSpPr>
          <p:cNvPr id="17" name="Text 14">
            <a:extLst xmlns:a="http://schemas.openxmlformats.org/drawingml/2006/main">
              <a:ext uri="{FF2B5EF4-FFF2-40B4-BE49-F238E27FC236}">
                <a16:creationId xmlns:a16="http://schemas.microsoft.com/office/drawing/2014/main" id="{FB07FD8A-01E0-41A0-9EC7-11398930CF87}"/>
              </a:ext>
            </a:extLst>
          </p:cNvPr>
          <p:cNvSpPr>
            <a:spLocks xmlns:a="http://schemas.openxmlformats.org/drawingml/2006/main" noGrp="1"/>
          </p:cNvSpPr>
          <p:nvPr/>
        </p:nvSpPr>
        <p:spPr>
          <a:xfrm xmlns:a="http://schemas.openxmlformats.org/drawingml/2006/main">
            <a:off x="502920" y="5292090"/>
            <a:ext cx="329184" cy="329184"/>
          </a:xfrm>
          <a:prstGeom xmlns:a="http://schemas.openxmlformats.org/drawingml/2006/main" prst="ellipse">
            <a:avLst/>
          </a:prstGeom>
          <a:solidFill xmlns:a="http://schemas.openxmlformats.org/drawingml/2006/main">
            <a:srgbClr val="8DC63F"/>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4</a:t>
            </a:r>
            <a:endParaRPr sz="1300"/>
          </a:p>
        </p:txBody>
      </p:sp>
      <p:sp>
        <p:nvSpPr>
          <p:cNvPr id="18" name="Text 15">
            <a:extLst xmlns:a="http://schemas.openxmlformats.org/drawingml/2006/main">
              <a:ext uri="{FF2B5EF4-FFF2-40B4-BE49-F238E27FC236}">
                <a16:creationId xmlns:a16="http://schemas.microsoft.com/office/drawing/2014/main" id="{AEAF08CC-5E57-4839-B0C5-2220C8377B19}"/>
              </a:ext>
            </a:extLst>
          </p:cNvPr>
          <p:cNvSpPr>
            <a:spLocks xmlns:a="http://schemas.openxmlformats.org/drawingml/2006/main" noGrp="1"/>
          </p:cNvSpPr>
          <p:nvPr/>
        </p:nvSpPr>
        <p:spPr>
          <a:xfrm xmlns:a="http://schemas.openxmlformats.org/drawingml/2006/main">
            <a:off x="1005840" y="523722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Extension contract</a:t>
            </a:r>
            <a:endParaRPr sz="1350"/>
          </a:p>
        </p:txBody>
      </p:sp>
      <p:sp>
        <p:nvSpPr>
          <p:cNvPr id="19" name="Text 16">
            <a:extLst xmlns:a="http://schemas.openxmlformats.org/drawingml/2006/main">
              <a:ext uri="{FF2B5EF4-FFF2-40B4-BE49-F238E27FC236}">
                <a16:creationId xmlns:a16="http://schemas.microsoft.com/office/drawing/2014/main" id="{7F216B22-A29B-4D51-8C78-03BE97EBA8C0}"/>
              </a:ext>
            </a:extLst>
          </p:cNvPr>
          <p:cNvSpPr>
            <a:spLocks xmlns:a="http://schemas.openxmlformats.org/drawingml/2006/main" noGrp="1"/>
          </p:cNvSpPr>
          <p:nvPr/>
        </p:nvSpPr>
        <p:spPr>
          <a:xfrm xmlns:a="http://schemas.openxmlformats.org/drawingml/2006/main">
            <a:off x="1005840" y="553897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Document limits, failure semantics, security boundary, and one measurable acceptance check.</a:t>
            </a:r>
            <a:endParaRPr sz="1050"/>
          </a:p>
        </p:txBody>
      </p:sp>
    </p:spTree>
    <p:extLst>
      <p:ext uri="{BB962C8B-B14F-4D97-AF65-F5344CB8AC3E}">
        <p14:creationId xmlns:p14="http://schemas.microsoft.com/office/powerpoint/2010/main" val="975794841"/>
      </p:ext>
    </p:extLst>
  </p:cSld>
</p:sld>
</file>

<file path=ppt/slides/slide15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7438E9C-6615-4FD6-9DFC-307A36BEAEA3}"/>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Grading rubric — 100 points</a:t>
            </a:r>
            <a:endParaRPr sz="2600"/>
          </a:p>
        </p:txBody>
      </p:sp>
      <p:sp>
        <p:nvSpPr>
          <p:cNvPr id="3" name="Text 1">
            <a:extLst xmlns:a="http://schemas.openxmlformats.org/drawingml/2006/main">
              <a:ext uri="{FF2B5EF4-FFF2-40B4-BE49-F238E27FC236}">
                <a16:creationId xmlns:a16="http://schemas.microsoft.com/office/drawing/2014/main" id="{FF4F7B7D-419C-4A95-9097-6716205C9FF3}"/>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سلّم التقييم — ١٠٠ نقطة</a:t>
            </a:r>
            <a:endParaRPr sz="1300"/>
          </a:p>
        </p:txBody>
      </p:sp>
      <p:pic>
        <p:nvPicPr>
          <p:cNvPr id="14" name="Image 0"/>
          <p:cNvPicPr>
            <a:picLocks xmlns:a="http://schemas.openxmlformats.org/drawingml/2006/main" noChangeAspect="1"/>
          </p:cNvPicPr>
          <p:nvPr/>
        </p:nvPicPr>
        <p:blipFill>
          <a:blip xmlns:r="http://schemas.openxmlformats.org/officeDocument/2006/relationships" xmlns:a="http://schemas.openxmlformats.org/drawingml/2006/main" r:embed="Rd124945aa7a84fb7"/>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74DD075E-0AF1-462C-8C64-270F04C2FFA9}"/>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87C0956D-50F3-4305-9D8C-348A2E380BF7}"/>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CAPSTONE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EAE31BA0-2310-46A5-8A7C-84CA99320972}"/>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151</a:t>
            </a:r>
            <a:endParaRPr sz="850"/>
          </a:p>
        </p:txBody>
      </p:sp>
      <p:graphicFrame>
        <p:nvGraphicFramePr>
          <p:cNvPr id="18" name="Table 0"/>
          <p:cNvGraphicFramePr/>
          <p:nvPr/>
        </p:nvGraphicFramePr>
        <p:xfrm>
          <a:off xmlns:a="http://schemas.openxmlformats.org/drawingml/2006/main" x="502920" y="1554480"/>
          <a:ext xmlns:a="http://schemas.openxmlformats.org/drawingml/2006/main" cx="11183112" cy="914400"/>
        </p:xfrm>
        <a:graphic xmlns:a="http://schemas.openxmlformats.org/drawingml/2006/main">
          <a:graphicData uri="http://schemas.openxmlformats.org/drawingml/2006/table">
            <a:tbl>
              <a:tblPr/>
              <a:tblGrid>
                <a:gridCol w="3727704"/>
                <a:gridCol w="3727704"/>
                <a:gridCol w="3727704"/>
              </a:tblGrid>
              <a:tr h="384048">
                <a:tc>
                  <a:txBody>
                    <a:bodyPr/>
                    <a:lstStyle/>
                    <a:p>
                      <a:pPr marL="0" indent="0">
                        <a:buNone/>
                      </a:pPr>
                      <a:r>
                        <a:rPr sz="1100" b="1">
                          <a:solidFill>
                            <a:srgbClr val="FFFFFF"/>
                          </a:solidFill>
                          <a:latin typeface="Calibri"/>
                          <a:ea typeface="Calibri"/>
                          <a:cs typeface="Calibri"/>
                        </a:rPr>
                        <a:t>Criterion</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c>
                  <a:txBody>
                    <a:bodyPr/>
                    <a:lstStyle/>
                    <a:p>
                      <a:pPr marL="0" indent="0">
                        <a:buNone/>
                      </a:pPr>
                      <a:r>
                        <a:rPr sz="1100" b="1">
                          <a:solidFill>
                            <a:srgbClr val="FFFFFF"/>
                          </a:solidFill>
                          <a:latin typeface="Calibri"/>
                          <a:ea typeface="Calibri"/>
                          <a:cs typeface="Calibri"/>
                        </a:rPr>
                        <a:t>Wt</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c>
                  <a:txBody>
                    <a:bodyPr/>
                    <a:lstStyle/>
                    <a:p>
                      <a:pPr marL="0" indent="0">
                        <a:buNone/>
                      </a:pPr>
                      <a:r>
                        <a:rPr sz="1100" b="1">
                          <a:solidFill>
                            <a:srgbClr val="FFFFFF"/>
                          </a:solidFill>
                          <a:latin typeface="Calibri"/>
                          <a:ea typeface="Calibri"/>
                          <a:cs typeface="Calibri"/>
                        </a:rPr>
                        <a:t>Top band (90-100%)</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r>
              <a:tr h="384048">
                <a:tc>
                  <a:txBody>
                    <a:bodyPr/>
                    <a:lstStyle/>
                    <a:p>
                      <a:pPr marL="0" indent="0">
                        <a:buNone/>
                      </a:pPr>
                      <a:r>
                        <a:rPr sz="1050" b="1">
                          <a:solidFill>
                            <a:srgbClr val="1D2A5C"/>
                          </a:solidFill>
                          <a:latin typeface="Calibri"/>
                          <a:ea typeface="Calibri"/>
                          <a:cs typeface="Calibri"/>
                        </a:rPr>
                        <a:t>Architecture &amp; code quality</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20</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Layers clean, contract enforced in CI, idiomatic — nothing structural to find</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r>
              <a:tr h="384048">
                <a:tc>
                  <a:txBody>
                    <a:bodyPr/>
                    <a:lstStyle/>
                    <a:p>
                      <a:pPr marL="0" indent="0">
                        <a:buNone/>
                      </a:pPr>
                      <a:r>
                        <a:rPr sz="1050" b="1">
                          <a:solidFill>
                            <a:srgbClr val="1D2A5C"/>
                          </a:solidFill>
                          <a:latin typeface="Calibri"/>
                          <a:ea typeface="Calibri"/>
                          <a:cs typeface="Calibri"/>
                        </a:rPr>
                        <a:t>API design &amp; correctness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15</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Full contract incl. error envelope, readiness semantics; malformed corpus 40/40</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r>
              <a:tr h="384048">
                <a:tc>
                  <a:txBody>
                    <a:bodyPr/>
                    <a:lstStyle/>
                    <a:p>
                      <a:pPr marL="0" indent="0">
                        <a:buNone/>
                      </a:pPr>
                      <a:r>
                        <a:rPr sz="1050" b="1">
                          <a:solidFill>
                            <a:srgbClr val="1D2A5C"/>
                          </a:solidFill>
                          <a:latin typeface="Calibri"/>
                          <a:ea typeface="Calibri"/>
                          <a:cs typeface="Calibri"/>
                        </a:rPr>
                        <a:t>Containerisation</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15</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 500 MB, non-root, healthcheck, cache-disciplined, compose healthy-gated</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r>
              <a:tr h="384048">
                <a:tc>
                  <a:txBody>
                    <a:bodyPr/>
                    <a:lstStyle/>
                    <a:p>
                      <a:pPr marL="0" indent="0">
                        <a:buNone/>
                      </a:pPr>
                      <a:r>
                        <a:rPr sz="1050" b="1">
                          <a:solidFill>
                            <a:srgbClr val="1D2A5C"/>
                          </a:solidFill>
                          <a:latin typeface="Calibri"/>
                          <a:ea typeface="Calibri"/>
                          <a:cs typeface="Calibri"/>
                        </a:rPr>
                        <a:t>Testing</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20</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Three levels meaningful; coverage ≥ 80%; golden + invariance + directional; ≤ 60 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r>
              <a:tr h="384048">
                <a:tc>
                  <a:txBody>
                    <a:bodyPr/>
                    <a:lstStyle/>
                    <a:p>
                      <a:pPr marL="0" indent="0">
                        <a:buNone/>
                      </a:pPr>
                      <a:r>
                        <a:rPr sz="1050" b="1">
                          <a:solidFill>
                            <a:srgbClr val="1D2A5C"/>
                          </a:solidFill>
                          <a:latin typeface="Calibri"/>
                          <a:ea typeface="Calibri"/>
                          <a:cs typeface="Calibri"/>
                        </a:rPr>
                        <a:t>CI/CD</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15</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Parallel gates, smoke, publish, protection on; green history; failure artefacts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r>
              <a:tr h="384048">
                <a:tc>
                  <a:txBody>
                    <a:bodyPr/>
                    <a:lstStyle/>
                    <a:p>
                      <a:pPr marL="0" indent="0">
                        <a:buNone/>
                      </a:pPr>
                      <a:r>
                        <a:rPr sz="1050" b="1">
                          <a:solidFill>
                            <a:srgbClr val="1D2A5C"/>
                          </a:solidFill>
                          <a:latin typeface="Calibri"/>
                          <a:ea typeface="Calibri"/>
                          <a:cs typeface="Calibri"/>
                        </a:rPr>
                        <a:t>Config, secrets, logging</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10</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Fail-fast settings; gitleaks clean; correlated JSON logs; PDPL-clean fields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r>
              <a:tr h="384048">
                <a:tc>
                  <a:txBody>
                    <a:bodyPr/>
                    <a:lstStyle/>
                    <a:p>
                      <a:pPr marL="0" indent="0">
                        <a:buNone/>
                      </a:pPr>
                      <a:r>
                        <a:rPr sz="1050" b="1">
                          <a:solidFill>
                            <a:srgbClr val="1D2A5C"/>
                          </a:solidFill>
                          <a:latin typeface="Calibri"/>
                          <a:ea typeface="Calibri"/>
                          <a:cs typeface="Calibri"/>
                        </a:rPr>
                        <a:t>Demo &amp; decisions doc</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5</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Crisp demo; DECISIONS.md shows trade-off literacy</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r>
            </a:tbl>
          </a:graphicData>
        </a:graphic>
      </p:graphicFrame>
      <p:sp>
        <p:nvSpPr>
          <p:cNvPr id="9" name="Text 5">
            <a:extLst xmlns:a="http://schemas.openxmlformats.org/drawingml/2006/main">
              <a:ext uri="{FF2B5EF4-FFF2-40B4-BE49-F238E27FC236}">
                <a16:creationId xmlns:a16="http://schemas.microsoft.com/office/drawing/2014/main" id="{B47C5F2A-4D68-42EE-811A-37D565CB4C86}"/>
              </a:ext>
            </a:extLst>
          </p:cNvPr>
          <p:cNvSpPr>
            <a:spLocks xmlns:a="http://schemas.openxmlformats.org/drawingml/2006/main" noGrp="1"/>
          </p:cNvSpPr>
          <p:nvPr/>
        </p:nvSpPr>
        <p:spPr>
          <a:xfrm xmlns:a="http://schemas.openxmlformats.org/drawingml/2006/main">
            <a:off x="502920" y="6035040"/>
            <a:ext cx="11155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5F6B7A"/>
                </a:solidFill>
                <a:latin typeface="Calibri"/>
                <a:ea typeface="Calibri"/>
                <a:cs typeface="Calibri"/>
              </a:rPr>
              <a:t>Pass ≥ 70 · Distinction ≥ 90 · Extensions add up to +5 bonus (capped at 100) only if mandatory scope ≥ 80</a:t>
            </a:r>
            <a:endParaRPr sz="950"/>
          </a:p>
        </p:txBody>
      </p:sp>
    </p:spTree>
    <p:extLst>
      <p:ext uri="{BB962C8B-B14F-4D97-AF65-F5344CB8AC3E}">
        <p14:creationId xmlns:p14="http://schemas.microsoft.com/office/powerpoint/2010/main" val="620873449"/>
      </p:ext>
    </p:extLst>
  </p:cSld>
</p:sld>
</file>

<file path=ppt/slides/slide15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DA3DA59-D71C-44D6-BD90-B0004895673E}"/>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Demo day: how Hours 4-5 run</a:t>
            </a:r>
            <a:endParaRPr sz="2600"/>
          </a:p>
        </p:txBody>
      </p:sp>
      <p:sp>
        <p:nvSpPr>
          <p:cNvPr id="3" name="Text 1">
            <a:extLst xmlns:a="http://schemas.openxmlformats.org/drawingml/2006/main">
              <a:ext uri="{FF2B5EF4-FFF2-40B4-BE49-F238E27FC236}">
                <a16:creationId xmlns:a16="http://schemas.microsoft.com/office/drawing/2014/main" id="{A66A6C20-18F5-46F9-83BF-6C62911540D3}"/>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يوم العرض: سير الساعتين الرابعة والخامسة</a:t>
            </a:r>
            <a:endParaRPr sz="1300"/>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092adf41d44c4583"/>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8B74E44D-DCA2-4FA6-BF5C-750EA11FCD10}"/>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8DB7E398-4615-44F8-A573-3D2849D53A37}"/>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CAPSTONE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F8B08843-B5B8-44CA-9577-0C11D7F77F8E}"/>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152</a:t>
            </a:r>
            <a:endParaRPr sz="850"/>
          </a:p>
        </p:txBody>
      </p:sp>
      <p:sp>
        <p:nvSpPr>
          <p:cNvPr id="8" name="Shape 5">
            <a:extLst xmlns:a="http://schemas.openxmlformats.org/drawingml/2006/main">
              <a:ext uri="{FF2B5EF4-FFF2-40B4-BE49-F238E27FC236}">
                <a16:creationId xmlns:a16="http://schemas.microsoft.com/office/drawing/2014/main" id="{31814BC3-3B55-4BD5-AC1E-4F2795223DB0}"/>
              </a:ext>
            </a:extLst>
          </p:cNvPr>
          <p:cNvSpPr>
            <a:spLocks xmlns:a="http://schemas.openxmlformats.org/drawingml/2006/main" noGrp="1"/>
          </p:cNvSpPr>
          <p:nvPr/>
        </p:nvSpPr>
        <p:spPr>
          <a:xfrm xmlns:a="http://schemas.openxmlformats.org/drawingml/2006/main">
            <a:off x="502920"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CE65D1B4-BD84-44A1-BF3B-0BC26A2F8FE8}"/>
              </a:ext>
            </a:extLst>
          </p:cNvPr>
          <p:cNvSpPr>
            <a:spLocks xmlns:a="http://schemas.openxmlformats.org/drawingml/2006/main" noGrp="1"/>
          </p:cNvSpPr>
          <p:nvPr/>
        </p:nvSpPr>
        <p:spPr>
          <a:xfrm xmlns:a="http://schemas.openxmlformats.org/drawingml/2006/main">
            <a:off x="502920" y="1965960"/>
            <a:ext cx="1929384" cy="82296"/>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E945ACF0-C5E7-40C3-B297-46EFB19B7008}"/>
              </a:ext>
            </a:extLst>
          </p:cNvPr>
          <p:cNvSpPr>
            <a:spLocks xmlns:a="http://schemas.openxmlformats.org/drawingml/2006/main" noGrp="1"/>
          </p:cNvSpPr>
          <p:nvPr/>
        </p:nvSpPr>
        <p:spPr>
          <a:xfrm xmlns:a="http://schemas.openxmlformats.org/drawingml/2006/main">
            <a:off x="640080"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00A79D"/>
                </a:solidFill>
                <a:latin typeface="Calibri"/>
                <a:ea typeface="Calibri"/>
                <a:cs typeface="Calibri"/>
              </a:rPr>
              <a:t>STEP 1</a:t>
            </a:r>
            <a:endParaRPr sz="900"/>
          </a:p>
        </p:txBody>
      </p:sp>
      <p:sp>
        <p:nvSpPr>
          <p:cNvPr id="11" name="Text 8">
            <a:extLst xmlns:a="http://schemas.openxmlformats.org/drawingml/2006/main">
              <a:ext uri="{FF2B5EF4-FFF2-40B4-BE49-F238E27FC236}">
                <a16:creationId xmlns:a16="http://schemas.microsoft.com/office/drawing/2014/main" id="{44A7E164-F043-4ACB-B3CB-0984385E871D}"/>
              </a:ext>
            </a:extLst>
          </p:cNvPr>
          <p:cNvSpPr>
            <a:spLocks xmlns:a="http://schemas.openxmlformats.org/drawingml/2006/main" noGrp="1"/>
          </p:cNvSpPr>
          <p:nvPr/>
        </p:nvSpPr>
        <p:spPr>
          <a:xfrm xmlns:a="http://schemas.openxmlformats.org/drawingml/2006/main">
            <a:off x="640080"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Assembly (H4)</a:t>
            </a:r>
            <a:endParaRPr sz="1250"/>
          </a:p>
        </p:txBody>
      </p:sp>
      <p:sp>
        <p:nvSpPr>
          <p:cNvPr id="12" name="Text 9">
            <a:extLst xmlns:a="http://schemas.openxmlformats.org/drawingml/2006/main">
              <a:ext uri="{FF2B5EF4-FFF2-40B4-BE49-F238E27FC236}">
                <a16:creationId xmlns:a16="http://schemas.microsoft.com/office/drawing/2014/main" id="{F49855C2-5150-46F8-B5CF-195BCA6CCF92}"/>
              </a:ext>
            </a:extLst>
          </p:cNvPr>
          <p:cNvSpPr>
            <a:spLocks xmlns:a="http://schemas.openxmlformats.org/drawingml/2006/main" noGrp="1"/>
          </p:cNvSpPr>
          <p:nvPr/>
        </p:nvSpPr>
        <p:spPr>
          <a:xfrm xmlns:a="http://schemas.openxmlformats.org/drawingml/2006/main">
            <a:off x="640080"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Integrate components, complete the capstone checklist self-audit, run a peer code review round</a:t>
            </a:r>
            <a:endParaRPr sz="950"/>
          </a:p>
        </p:txBody>
      </p:sp>
      <p:sp>
        <p:nvSpPr>
          <p:cNvPr id="13" name="Shape 10">
            <a:extLst xmlns:a="http://schemas.openxmlformats.org/drawingml/2006/main">
              <a:ext uri="{FF2B5EF4-FFF2-40B4-BE49-F238E27FC236}">
                <a16:creationId xmlns:a16="http://schemas.microsoft.com/office/drawing/2014/main" id="{8B20F90C-EC9D-4BBF-BB4A-F2170B77952B}"/>
              </a:ext>
            </a:extLst>
          </p:cNvPr>
          <p:cNvSpPr>
            <a:spLocks xmlns:a="http://schemas.openxmlformats.org/drawingml/2006/main" noGrp="1"/>
          </p:cNvSpPr>
          <p:nvPr/>
        </p:nvSpPr>
        <p:spPr>
          <a:xfrm xmlns:a="http://schemas.openxmlformats.org/drawingml/2006/main">
            <a:off x="2487168" y="3026664"/>
            <a:ext cx="274320" cy="256032"/>
          </a:xfrm>
          <a:prstGeom xmlns:a="http://schemas.openxmlformats.org/drawingml/2006/main" prst="chevron">
            <a:avLst/>
          </a:prstGeom>
          <a:solidFill xmlns:a="http://schemas.openxmlformats.org/drawingml/2006/main">
            <a:srgbClr val="00A79D"/>
          </a:solidFill>
        </p:spPr>
      </p:sp>
      <p:sp>
        <p:nvSpPr>
          <p:cNvPr id="14" name="Shape 11">
            <a:extLst xmlns:a="http://schemas.openxmlformats.org/drawingml/2006/main">
              <a:ext uri="{FF2B5EF4-FFF2-40B4-BE49-F238E27FC236}">
                <a16:creationId xmlns:a16="http://schemas.microsoft.com/office/drawing/2014/main" id="{5D64A350-8833-41C5-98DC-F4F1C60ABED9}"/>
              </a:ext>
            </a:extLst>
          </p:cNvPr>
          <p:cNvSpPr>
            <a:spLocks xmlns:a="http://schemas.openxmlformats.org/drawingml/2006/main" noGrp="1"/>
          </p:cNvSpPr>
          <p:nvPr/>
        </p:nvSpPr>
        <p:spPr>
          <a:xfrm xmlns:a="http://schemas.openxmlformats.org/drawingml/2006/main">
            <a:off x="2816352"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15" name="Shape 12">
            <a:extLst xmlns:a="http://schemas.openxmlformats.org/drawingml/2006/main">
              <a:ext uri="{FF2B5EF4-FFF2-40B4-BE49-F238E27FC236}">
                <a16:creationId xmlns:a16="http://schemas.microsoft.com/office/drawing/2014/main" id="{41722E09-7575-4DC4-8D21-1B41F4B289F6}"/>
              </a:ext>
            </a:extLst>
          </p:cNvPr>
          <p:cNvSpPr>
            <a:spLocks xmlns:a="http://schemas.openxmlformats.org/drawingml/2006/main" noGrp="1"/>
          </p:cNvSpPr>
          <p:nvPr/>
        </p:nvSpPr>
        <p:spPr>
          <a:xfrm xmlns:a="http://schemas.openxmlformats.org/drawingml/2006/main">
            <a:off x="2816352" y="1965960"/>
            <a:ext cx="1929384" cy="82296"/>
          </a:xfrm>
          <a:prstGeom xmlns:a="http://schemas.openxmlformats.org/drawingml/2006/main" prst="rect">
            <a:avLst/>
          </a:prstGeom>
          <a:solidFill xmlns:a="http://schemas.openxmlformats.org/drawingml/2006/main">
            <a:srgbClr val="29ABE2"/>
          </a:solidFill>
        </p:spPr>
      </p:sp>
      <p:sp>
        <p:nvSpPr>
          <p:cNvPr id="16" name="Text 13">
            <a:extLst xmlns:a="http://schemas.openxmlformats.org/drawingml/2006/main">
              <a:ext uri="{FF2B5EF4-FFF2-40B4-BE49-F238E27FC236}">
                <a16:creationId xmlns:a16="http://schemas.microsoft.com/office/drawing/2014/main" id="{740590FD-A046-4FE1-BF68-C11A364C4823}"/>
              </a:ext>
            </a:extLst>
          </p:cNvPr>
          <p:cNvSpPr>
            <a:spLocks xmlns:a="http://schemas.openxmlformats.org/drawingml/2006/main" noGrp="1"/>
          </p:cNvSpPr>
          <p:nvPr/>
        </p:nvSpPr>
        <p:spPr>
          <a:xfrm xmlns:a="http://schemas.openxmlformats.org/drawingml/2006/main">
            <a:off x="2953512"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29ABE2"/>
                </a:solidFill>
                <a:latin typeface="Calibri"/>
                <a:ea typeface="Calibri"/>
                <a:cs typeface="Calibri"/>
              </a:rPr>
              <a:t>STEP 2</a:t>
            </a:r>
            <a:endParaRPr sz="900"/>
          </a:p>
        </p:txBody>
      </p:sp>
      <p:sp>
        <p:nvSpPr>
          <p:cNvPr id="17" name="Text 14">
            <a:extLst xmlns:a="http://schemas.openxmlformats.org/drawingml/2006/main">
              <a:ext uri="{FF2B5EF4-FFF2-40B4-BE49-F238E27FC236}">
                <a16:creationId xmlns:a16="http://schemas.microsoft.com/office/drawing/2014/main" id="{56801B1F-558F-4D8A-ACC3-A7BEB50B52E1}"/>
              </a:ext>
            </a:extLst>
          </p:cNvPr>
          <p:cNvSpPr>
            <a:spLocks xmlns:a="http://schemas.openxmlformats.org/drawingml/2006/main" noGrp="1"/>
          </p:cNvSpPr>
          <p:nvPr/>
        </p:nvSpPr>
        <p:spPr>
          <a:xfrm xmlns:a="http://schemas.openxmlformats.org/drawingml/2006/main">
            <a:off x="2953512"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Collect repo URLs</a:t>
            </a:r>
            <a:endParaRPr sz="1250"/>
          </a:p>
        </p:txBody>
      </p:sp>
      <p:sp>
        <p:nvSpPr>
          <p:cNvPr id="18" name="Text 15">
            <a:extLst xmlns:a="http://schemas.openxmlformats.org/drawingml/2006/main">
              <a:ext uri="{FF2B5EF4-FFF2-40B4-BE49-F238E27FC236}">
                <a16:creationId xmlns:a16="http://schemas.microsoft.com/office/drawing/2014/main" id="{CA5AD4FE-D69F-400C-9770-415F2AAA5765}"/>
              </a:ext>
            </a:extLst>
          </p:cNvPr>
          <p:cNvSpPr>
            <a:spLocks xmlns:a="http://schemas.openxmlformats.org/drawingml/2006/main" noGrp="1"/>
          </p:cNvSpPr>
          <p:nvPr/>
        </p:nvSpPr>
        <p:spPr>
          <a:xfrm xmlns:a="http://schemas.openxmlformats.org/drawingml/2006/main">
            <a:off x="2953512"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At the end of Hour 4, so CI status can be verified before demos begin</a:t>
            </a:r>
            <a:endParaRPr sz="950"/>
          </a:p>
        </p:txBody>
      </p:sp>
      <p:sp>
        <p:nvSpPr>
          <p:cNvPr id="19" name="Shape 16">
            <a:extLst xmlns:a="http://schemas.openxmlformats.org/drawingml/2006/main">
              <a:ext uri="{FF2B5EF4-FFF2-40B4-BE49-F238E27FC236}">
                <a16:creationId xmlns:a16="http://schemas.microsoft.com/office/drawing/2014/main" id="{C5B55AA0-805F-46E5-836E-D767FFC43195}"/>
              </a:ext>
            </a:extLst>
          </p:cNvPr>
          <p:cNvSpPr>
            <a:spLocks xmlns:a="http://schemas.openxmlformats.org/drawingml/2006/main" noGrp="1"/>
          </p:cNvSpPr>
          <p:nvPr/>
        </p:nvSpPr>
        <p:spPr>
          <a:xfrm xmlns:a="http://schemas.openxmlformats.org/drawingml/2006/main">
            <a:off x="4800600" y="3026664"/>
            <a:ext cx="274320" cy="256032"/>
          </a:xfrm>
          <a:prstGeom xmlns:a="http://schemas.openxmlformats.org/drawingml/2006/main" prst="chevron">
            <a:avLst/>
          </a:prstGeom>
          <a:solidFill xmlns:a="http://schemas.openxmlformats.org/drawingml/2006/main">
            <a:srgbClr val="00A79D"/>
          </a:solidFill>
        </p:spPr>
      </p:sp>
      <p:sp>
        <p:nvSpPr>
          <p:cNvPr id="20" name="Shape 17">
            <a:extLst xmlns:a="http://schemas.openxmlformats.org/drawingml/2006/main">
              <a:ext uri="{FF2B5EF4-FFF2-40B4-BE49-F238E27FC236}">
                <a16:creationId xmlns:a16="http://schemas.microsoft.com/office/drawing/2014/main" id="{D3BBFC14-4B6D-4BA3-87B3-C4C48820E7EE}"/>
              </a:ext>
            </a:extLst>
          </p:cNvPr>
          <p:cNvSpPr>
            <a:spLocks xmlns:a="http://schemas.openxmlformats.org/drawingml/2006/main" noGrp="1"/>
          </p:cNvSpPr>
          <p:nvPr/>
        </p:nvSpPr>
        <p:spPr>
          <a:xfrm xmlns:a="http://schemas.openxmlformats.org/drawingml/2006/main">
            <a:off x="5129784"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21" name="Shape 18">
            <a:extLst xmlns:a="http://schemas.openxmlformats.org/drawingml/2006/main">
              <a:ext uri="{FF2B5EF4-FFF2-40B4-BE49-F238E27FC236}">
                <a16:creationId xmlns:a16="http://schemas.microsoft.com/office/drawing/2014/main" id="{03A4ACDB-FB3D-4FB4-BC55-368F2A606591}"/>
              </a:ext>
            </a:extLst>
          </p:cNvPr>
          <p:cNvSpPr>
            <a:spLocks xmlns:a="http://schemas.openxmlformats.org/drawingml/2006/main" noGrp="1"/>
          </p:cNvSpPr>
          <p:nvPr/>
        </p:nvSpPr>
        <p:spPr>
          <a:xfrm xmlns:a="http://schemas.openxmlformats.org/drawingml/2006/main">
            <a:off x="5129784" y="1965960"/>
            <a:ext cx="1929384" cy="82296"/>
          </a:xfrm>
          <a:prstGeom xmlns:a="http://schemas.openxmlformats.org/drawingml/2006/main" prst="rect">
            <a:avLst/>
          </a:prstGeom>
          <a:solidFill xmlns:a="http://schemas.openxmlformats.org/drawingml/2006/main">
            <a:srgbClr val="F58220"/>
          </a:solidFill>
        </p:spPr>
      </p:sp>
      <p:sp>
        <p:nvSpPr>
          <p:cNvPr id="22" name="Text 19">
            <a:extLst xmlns:a="http://schemas.openxmlformats.org/drawingml/2006/main">
              <a:ext uri="{FF2B5EF4-FFF2-40B4-BE49-F238E27FC236}">
                <a16:creationId xmlns:a16="http://schemas.microsoft.com/office/drawing/2014/main" id="{7C0C5FD1-F505-4BCA-B2EE-637391A4AFB6}"/>
              </a:ext>
            </a:extLst>
          </p:cNvPr>
          <p:cNvSpPr>
            <a:spLocks xmlns:a="http://schemas.openxmlformats.org/drawingml/2006/main" noGrp="1"/>
          </p:cNvSpPr>
          <p:nvPr/>
        </p:nvSpPr>
        <p:spPr>
          <a:xfrm xmlns:a="http://schemas.openxmlformats.org/drawingml/2006/main">
            <a:off x="5266944"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F58220"/>
                </a:solidFill>
                <a:latin typeface="Calibri"/>
                <a:ea typeface="Calibri"/>
                <a:cs typeface="Calibri"/>
              </a:rPr>
              <a:t>STEP 3</a:t>
            </a:r>
            <a:endParaRPr sz="900"/>
          </a:p>
        </p:txBody>
      </p:sp>
      <p:sp>
        <p:nvSpPr>
          <p:cNvPr id="23" name="Text 20">
            <a:extLst xmlns:a="http://schemas.openxmlformats.org/drawingml/2006/main">
              <a:ext uri="{FF2B5EF4-FFF2-40B4-BE49-F238E27FC236}">
                <a16:creationId xmlns:a16="http://schemas.microsoft.com/office/drawing/2014/main" id="{C137B797-AD18-494E-B50F-91781C467980}"/>
              </a:ext>
            </a:extLst>
          </p:cNvPr>
          <p:cNvSpPr>
            <a:spLocks xmlns:a="http://schemas.openxmlformats.org/drawingml/2006/main" noGrp="1"/>
          </p:cNvSpPr>
          <p:nvPr/>
        </p:nvSpPr>
        <p:spPr>
          <a:xfrm xmlns:a="http://schemas.openxmlformats.org/drawingml/2006/main">
            <a:off x="5266944"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5-minute demos</a:t>
            </a:r>
            <a:endParaRPr sz="1250"/>
          </a:p>
        </p:txBody>
      </p:sp>
      <p:sp>
        <p:nvSpPr>
          <p:cNvPr id="24" name="Text 21">
            <a:extLst xmlns:a="http://schemas.openxmlformats.org/drawingml/2006/main">
              <a:ext uri="{FF2B5EF4-FFF2-40B4-BE49-F238E27FC236}">
                <a16:creationId xmlns:a16="http://schemas.microsoft.com/office/drawing/2014/main" id="{7BB9F9F9-1826-4A0A-81A6-6BE8DD037620}"/>
              </a:ext>
            </a:extLst>
          </p:cNvPr>
          <p:cNvSpPr>
            <a:spLocks xmlns:a="http://schemas.openxmlformats.org/drawingml/2006/main" noGrp="1"/>
          </p:cNvSpPr>
          <p:nvPr/>
        </p:nvSpPr>
        <p:spPr>
          <a:xfrm xmlns:a="http://schemas.openxmlformats.org/drawingml/2006/main">
            <a:off x="5266944"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Clone-to-running via compose; one valid + one malformed request; one behavioural test explained; CI walkthrough</a:t>
            </a:r>
            <a:endParaRPr sz="950"/>
          </a:p>
        </p:txBody>
      </p:sp>
      <p:sp>
        <p:nvSpPr>
          <p:cNvPr id="25" name="Shape 22">
            <a:extLst xmlns:a="http://schemas.openxmlformats.org/drawingml/2006/main">
              <a:ext uri="{FF2B5EF4-FFF2-40B4-BE49-F238E27FC236}">
                <a16:creationId xmlns:a16="http://schemas.microsoft.com/office/drawing/2014/main" id="{8CCCDE65-303D-41B2-B457-FEB1967500AD}"/>
              </a:ext>
            </a:extLst>
          </p:cNvPr>
          <p:cNvSpPr>
            <a:spLocks xmlns:a="http://schemas.openxmlformats.org/drawingml/2006/main" noGrp="1"/>
          </p:cNvSpPr>
          <p:nvPr/>
        </p:nvSpPr>
        <p:spPr>
          <a:xfrm xmlns:a="http://schemas.openxmlformats.org/drawingml/2006/main">
            <a:off x="7114032" y="3026664"/>
            <a:ext cx="274320" cy="256032"/>
          </a:xfrm>
          <a:prstGeom xmlns:a="http://schemas.openxmlformats.org/drawingml/2006/main" prst="chevron">
            <a:avLst/>
          </a:prstGeom>
          <a:solidFill xmlns:a="http://schemas.openxmlformats.org/drawingml/2006/main">
            <a:srgbClr val="00A79D"/>
          </a:solidFill>
        </p:spPr>
      </p:sp>
      <p:sp>
        <p:nvSpPr>
          <p:cNvPr id="26" name="Shape 23">
            <a:extLst xmlns:a="http://schemas.openxmlformats.org/drawingml/2006/main">
              <a:ext uri="{FF2B5EF4-FFF2-40B4-BE49-F238E27FC236}">
                <a16:creationId xmlns:a16="http://schemas.microsoft.com/office/drawing/2014/main" id="{75356971-A8C8-4FD3-BCD3-40DC16830DEB}"/>
              </a:ext>
            </a:extLst>
          </p:cNvPr>
          <p:cNvSpPr>
            <a:spLocks xmlns:a="http://schemas.openxmlformats.org/drawingml/2006/main" noGrp="1"/>
          </p:cNvSpPr>
          <p:nvPr/>
        </p:nvSpPr>
        <p:spPr>
          <a:xfrm xmlns:a="http://schemas.openxmlformats.org/drawingml/2006/main">
            <a:off x="7443216"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27" name="Shape 24">
            <a:extLst xmlns:a="http://schemas.openxmlformats.org/drawingml/2006/main">
              <a:ext uri="{FF2B5EF4-FFF2-40B4-BE49-F238E27FC236}">
                <a16:creationId xmlns:a16="http://schemas.microsoft.com/office/drawing/2014/main" id="{899C1916-AE79-4388-8A1C-29EEBAC3A2C5}"/>
              </a:ext>
            </a:extLst>
          </p:cNvPr>
          <p:cNvSpPr>
            <a:spLocks xmlns:a="http://schemas.openxmlformats.org/drawingml/2006/main" noGrp="1"/>
          </p:cNvSpPr>
          <p:nvPr/>
        </p:nvSpPr>
        <p:spPr>
          <a:xfrm xmlns:a="http://schemas.openxmlformats.org/drawingml/2006/main">
            <a:off x="7443216" y="1965960"/>
            <a:ext cx="1929384" cy="82296"/>
          </a:xfrm>
          <a:prstGeom xmlns:a="http://schemas.openxmlformats.org/drawingml/2006/main" prst="rect">
            <a:avLst/>
          </a:prstGeom>
          <a:solidFill xmlns:a="http://schemas.openxmlformats.org/drawingml/2006/main">
            <a:srgbClr val="8DC63F"/>
          </a:solidFill>
        </p:spPr>
      </p:sp>
      <p:sp>
        <p:nvSpPr>
          <p:cNvPr id="28" name="Text 25">
            <a:extLst xmlns:a="http://schemas.openxmlformats.org/drawingml/2006/main">
              <a:ext uri="{FF2B5EF4-FFF2-40B4-BE49-F238E27FC236}">
                <a16:creationId xmlns:a16="http://schemas.microsoft.com/office/drawing/2014/main" id="{0B5AB04A-C69B-440A-B179-76E85E6E7C59}"/>
              </a:ext>
            </a:extLst>
          </p:cNvPr>
          <p:cNvSpPr>
            <a:spLocks xmlns:a="http://schemas.openxmlformats.org/drawingml/2006/main" noGrp="1"/>
          </p:cNvSpPr>
          <p:nvPr/>
        </p:nvSpPr>
        <p:spPr>
          <a:xfrm xmlns:a="http://schemas.openxmlformats.org/drawingml/2006/main">
            <a:off x="7580376"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8DC63F"/>
                </a:solidFill>
                <a:latin typeface="Calibri"/>
                <a:ea typeface="Calibri"/>
                <a:cs typeface="Calibri"/>
              </a:rPr>
              <a:t>STEP 4</a:t>
            </a:r>
            <a:endParaRPr sz="900"/>
          </a:p>
        </p:txBody>
      </p:sp>
      <p:sp>
        <p:nvSpPr>
          <p:cNvPr id="29" name="Text 26">
            <a:extLst xmlns:a="http://schemas.openxmlformats.org/drawingml/2006/main">
              <a:ext uri="{FF2B5EF4-FFF2-40B4-BE49-F238E27FC236}">
                <a16:creationId xmlns:a16="http://schemas.microsoft.com/office/drawing/2014/main" id="{E2C22780-AB9F-4FAC-9F59-D771EBC882CB}"/>
              </a:ext>
            </a:extLst>
          </p:cNvPr>
          <p:cNvSpPr>
            <a:spLocks xmlns:a="http://schemas.openxmlformats.org/drawingml/2006/main" noGrp="1"/>
          </p:cNvSpPr>
          <p:nvPr/>
        </p:nvSpPr>
        <p:spPr>
          <a:xfrm xmlns:a="http://schemas.openxmlformats.org/drawingml/2006/main">
            <a:off x="7580376"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Rubric scoring</a:t>
            </a:r>
            <a:endParaRPr sz="1250"/>
          </a:p>
        </p:txBody>
      </p:sp>
      <p:sp>
        <p:nvSpPr>
          <p:cNvPr id="30" name="Text 27">
            <a:extLst xmlns:a="http://schemas.openxmlformats.org/drawingml/2006/main">
              <a:ext uri="{FF2B5EF4-FFF2-40B4-BE49-F238E27FC236}">
                <a16:creationId xmlns:a16="http://schemas.microsoft.com/office/drawing/2014/main" id="{D530E961-FBA7-4009-A6A1-D362284A9044}"/>
              </a:ext>
            </a:extLst>
          </p:cNvPr>
          <p:cNvSpPr>
            <a:spLocks xmlns:a="http://schemas.openxmlformats.org/drawingml/2006/main" noGrp="1"/>
          </p:cNvSpPr>
          <p:nvPr/>
        </p:nvSpPr>
        <p:spPr>
          <a:xfrm xmlns:a="http://schemas.openxmlformats.org/drawingml/2006/main">
            <a:off x="7580376"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Live peer + instructor scoring during demos; repo evidence first, demo second</a:t>
            </a:r>
            <a:endParaRPr sz="950"/>
          </a:p>
        </p:txBody>
      </p:sp>
      <p:sp>
        <p:nvSpPr>
          <p:cNvPr id="31" name="Shape 28">
            <a:extLst xmlns:a="http://schemas.openxmlformats.org/drawingml/2006/main">
              <a:ext uri="{FF2B5EF4-FFF2-40B4-BE49-F238E27FC236}">
                <a16:creationId xmlns:a16="http://schemas.microsoft.com/office/drawing/2014/main" id="{7227931A-24A0-4D40-B6D5-AE4200C6EC5D}"/>
              </a:ext>
            </a:extLst>
          </p:cNvPr>
          <p:cNvSpPr>
            <a:spLocks xmlns:a="http://schemas.openxmlformats.org/drawingml/2006/main" noGrp="1"/>
          </p:cNvSpPr>
          <p:nvPr/>
        </p:nvSpPr>
        <p:spPr>
          <a:xfrm xmlns:a="http://schemas.openxmlformats.org/drawingml/2006/main">
            <a:off x="9427464" y="3026664"/>
            <a:ext cx="274320" cy="256032"/>
          </a:xfrm>
          <a:prstGeom xmlns:a="http://schemas.openxmlformats.org/drawingml/2006/main" prst="chevron">
            <a:avLst/>
          </a:prstGeom>
          <a:solidFill xmlns:a="http://schemas.openxmlformats.org/drawingml/2006/main">
            <a:srgbClr val="00A79D"/>
          </a:solidFill>
        </p:spPr>
      </p:sp>
      <p:sp>
        <p:nvSpPr>
          <p:cNvPr id="32" name="Shape 29">
            <a:extLst xmlns:a="http://schemas.openxmlformats.org/drawingml/2006/main">
              <a:ext uri="{FF2B5EF4-FFF2-40B4-BE49-F238E27FC236}">
                <a16:creationId xmlns:a16="http://schemas.microsoft.com/office/drawing/2014/main" id="{2F8B182A-AA14-4C56-AB88-31DC6736ECCA}"/>
              </a:ext>
            </a:extLst>
          </p:cNvPr>
          <p:cNvSpPr>
            <a:spLocks xmlns:a="http://schemas.openxmlformats.org/drawingml/2006/main" noGrp="1"/>
          </p:cNvSpPr>
          <p:nvPr/>
        </p:nvSpPr>
        <p:spPr>
          <a:xfrm xmlns:a="http://schemas.openxmlformats.org/drawingml/2006/main">
            <a:off x="9756648" y="1965960"/>
            <a:ext cx="1929384" cy="237744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12700">
            <a:solidFill>
              <a:srgbClr val="D9E4F5"/>
            </a:solidFill>
            <a:prstDash val="solid"/>
          </a:ln>
        </p:spPr>
      </p:sp>
      <p:sp>
        <p:nvSpPr>
          <p:cNvPr id="33" name="Shape 30">
            <a:extLst xmlns:a="http://schemas.openxmlformats.org/drawingml/2006/main">
              <a:ext uri="{FF2B5EF4-FFF2-40B4-BE49-F238E27FC236}">
                <a16:creationId xmlns:a16="http://schemas.microsoft.com/office/drawing/2014/main" id="{ED18A910-4E44-4A32-8E21-0F86ABEFA35B}"/>
              </a:ext>
            </a:extLst>
          </p:cNvPr>
          <p:cNvSpPr>
            <a:spLocks xmlns:a="http://schemas.openxmlformats.org/drawingml/2006/main" noGrp="1"/>
          </p:cNvSpPr>
          <p:nvPr/>
        </p:nvSpPr>
        <p:spPr>
          <a:xfrm xmlns:a="http://schemas.openxmlformats.org/drawingml/2006/main">
            <a:off x="9756648" y="1965960"/>
            <a:ext cx="1929384" cy="82296"/>
          </a:xfrm>
          <a:prstGeom xmlns:a="http://schemas.openxmlformats.org/drawingml/2006/main" prst="rect">
            <a:avLst/>
          </a:prstGeom>
          <a:solidFill xmlns:a="http://schemas.openxmlformats.org/drawingml/2006/main">
            <a:srgbClr val="E8503A"/>
          </a:solidFill>
        </p:spPr>
      </p:sp>
      <p:sp>
        <p:nvSpPr>
          <p:cNvPr id="34" name="Text 31">
            <a:extLst xmlns:a="http://schemas.openxmlformats.org/drawingml/2006/main">
              <a:ext uri="{FF2B5EF4-FFF2-40B4-BE49-F238E27FC236}">
                <a16:creationId xmlns:a16="http://schemas.microsoft.com/office/drawing/2014/main" id="{4E3AF740-E86C-4F30-854A-071393277D7E}"/>
              </a:ext>
            </a:extLst>
          </p:cNvPr>
          <p:cNvSpPr>
            <a:spLocks xmlns:a="http://schemas.openxmlformats.org/drawingml/2006/main" noGrp="1"/>
          </p:cNvSpPr>
          <p:nvPr/>
        </p:nvSpPr>
        <p:spPr>
          <a:xfrm xmlns:a="http://schemas.openxmlformats.org/drawingml/2006/main">
            <a:off x="9893808" y="2148840"/>
            <a:ext cx="165506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E8503A"/>
                </a:solidFill>
                <a:latin typeface="Calibri"/>
                <a:ea typeface="Calibri"/>
                <a:cs typeface="Calibri"/>
              </a:rPr>
              <a:t>STEP 5</a:t>
            </a:r>
            <a:endParaRPr sz="900"/>
          </a:p>
        </p:txBody>
      </p:sp>
      <p:sp>
        <p:nvSpPr>
          <p:cNvPr id="35" name="Text 32">
            <a:extLst xmlns:a="http://schemas.openxmlformats.org/drawingml/2006/main">
              <a:ext uri="{FF2B5EF4-FFF2-40B4-BE49-F238E27FC236}">
                <a16:creationId xmlns:a16="http://schemas.microsoft.com/office/drawing/2014/main" id="{3ABF3E19-B234-4EC8-9C9E-B8A285077186}"/>
              </a:ext>
            </a:extLst>
          </p:cNvPr>
          <p:cNvSpPr>
            <a:spLocks xmlns:a="http://schemas.openxmlformats.org/drawingml/2006/main" noGrp="1"/>
          </p:cNvSpPr>
          <p:nvPr/>
        </p:nvSpPr>
        <p:spPr>
          <a:xfrm xmlns:a="http://schemas.openxmlformats.org/drawingml/2006/main">
            <a:off x="9893808" y="2404872"/>
            <a:ext cx="16550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Wrap-up</a:t>
            </a:r>
            <a:endParaRPr sz="1250"/>
          </a:p>
        </p:txBody>
      </p:sp>
      <p:sp>
        <p:nvSpPr>
          <p:cNvPr id="36" name="Text 33">
            <a:extLst xmlns:a="http://schemas.openxmlformats.org/drawingml/2006/main">
              <a:ext uri="{FF2B5EF4-FFF2-40B4-BE49-F238E27FC236}">
                <a16:creationId xmlns:a16="http://schemas.microsoft.com/office/drawing/2014/main" id="{45BADB48-D8B3-474F-A1DE-9021A7077D5D}"/>
              </a:ext>
            </a:extLst>
          </p:cNvPr>
          <p:cNvSpPr>
            <a:spLocks xmlns:a="http://schemas.openxmlformats.org/drawingml/2006/main" noGrp="1"/>
          </p:cNvSpPr>
          <p:nvPr/>
        </p:nvSpPr>
        <p:spPr>
          <a:xfrm xmlns:a="http://schemas.openxmlformats.org/drawingml/2006/main">
            <a:off x="9893808" y="2971800"/>
            <a:ext cx="1655064" cy="12070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a:solidFill>
                  <a:srgbClr val="5F6B7A"/>
                </a:solidFill>
                <a:latin typeface="Calibri"/>
                <a:ea typeface="Calibri"/>
                <a:cs typeface="Calibri"/>
              </a:rPr>
              <a:t>Map capstone requirements to modules; point forward to SDA-AIE-211/216; collect artefacts</a:t>
            </a:r>
            <a:endParaRPr sz="950"/>
          </a:p>
        </p:txBody>
      </p:sp>
      <p:sp>
        <p:nvSpPr>
          <p:cNvPr id="37" name="Shape 34">
            <a:extLst xmlns:a="http://schemas.openxmlformats.org/drawingml/2006/main">
              <a:ext uri="{FF2B5EF4-FFF2-40B4-BE49-F238E27FC236}">
                <a16:creationId xmlns:a16="http://schemas.microsoft.com/office/drawing/2014/main" id="{A36B7AE0-6A15-4A77-B9BC-27DCA63DE955}"/>
              </a:ext>
            </a:extLst>
          </p:cNvPr>
          <p:cNvSpPr>
            <a:spLocks xmlns:a="http://schemas.openxmlformats.org/drawingml/2006/main" noGrp="1"/>
          </p:cNvSpPr>
          <p:nvPr/>
        </p:nvSpPr>
        <p:spPr>
          <a:xfrm xmlns:a="http://schemas.openxmlformats.org/drawingml/2006/main">
            <a:off x="502920" y="4892040"/>
            <a:ext cx="11183112" cy="1051560"/>
          </a:xfrm>
          <a:prstGeom xmlns:a="http://schemas.openxmlformats.org/drawingml/2006/main" prst="roundRect">
            <a:avLst>
              <a:gd name="adj" fmla="val 6087"/>
            </a:avLst>
          </a:prstGeom>
          <a:solidFill xmlns:a="http://schemas.openxmlformats.org/drawingml/2006/main">
            <a:srgbClr val="D4F1EE"/>
          </a:solidFill>
        </p:spPr>
      </p:sp>
      <p:sp>
        <p:nvSpPr>
          <p:cNvPr id="38" name="Text 35">
            <a:extLst xmlns:a="http://schemas.openxmlformats.org/drawingml/2006/main">
              <a:ext uri="{FF2B5EF4-FFF2-40B4-BE49-F238E27FC236}">
                <a16:creationId xmlns:a16="http://schemas.microsoft.com/office/drawing/2014/main" id="{C86072FA-291F-4199-8593-FADA692CAFBD}"/>
              </a:ext>
            </a:extLst>
          </p:cNvPr>
          <p:cNvSpPr>
            <a:spLocks xmlns:a="http://schemas.openxmlformats.org/drawingml/2006/main" noGrp="1"/>
          </p:cNvSpPr>
          <p:nvPr/>
        </p:nvSpPr>
        <p:spPr>
          <a:xfrm xmlns:a="http://schemas.openxmlformats.org/drawingml/2006/main">
            <a:off x="731520" y="4892040"/>
            <a:ext cx="10789920" cy="10515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b="1">
                <a:solidFill>
                  <a:srgbClr val="056A63"/>
                </a:solidFill>
                <a:latin typeface="Calibri"/>
                <a:ea typeface="Calibri"/>
                <a:cs typeface="Calibri"/>
              </a:rPr>
              <a:t>WHY IT MATTERS   </a:t>
            </a:r>
            <a:r>
              <a:rPr sz="1100">
                <a:solidFill>
                  <a:srgbClr val="056A63"/>
                </a:solidFill>
                <a:latin typeface="Calibri"/>
                <a:ea typeface="Calibri"/>
                <a:cs typeface="Calibri"/>
              </a:rPr>
              <a:t>Hard rule from the instructor guide: capstone assembly (Day 3 H4) must start on time — cut discussion, not build time.</a:t>
            </a:r>
            <a:endParaRPr sz="950"/>
          </a:p>
        </p:txBody>
      </p:sp>
    </p:spTree>
    <p:extLst>
      <p:ext uri="{BB962C8B-B14F-4D97-AF65-F5344CB8AC3E}">
        <p14:creationId xmlns:p14="http://schemas.microsoft.com/office/powerpoint/2010/main" val="604949578"/>
      </p:ext>
    </p:extLst>
  </p:cSld>
</p:sld>
</file>

<file path=ppt/slides/slide15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DE5F17D-659E-48CC-9D2F-EC1A655C4B18}"/>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Peer review protocol — inspect evidence, then challenge one claim</a:t>
            </a:r>
            <a:endParaRPr sz="2600"/>
          </a:p>
        </p:txBody>
      </p:sp>
      <p:sp>
        <p:nvSpPr>
          <p:cNvPr id="3" name="Text 1">
            <a:extLst xmlns:a="http://schemas.openxmlformats.org/drawingml/2006/main">
              <a:ext uri="{FF2B5EF4-FFF2-40B4-BE49-F238E27FC236}">
                <a16:creationId xmlns:a16="http://schemas.microsoft.com/office/drawing/2014/main" id="{16A3C7C4-974F-4731-AE67-C6A488FEC868}"/>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بروتوكول مراجعة الأقران — افحص الأدلة ثم اختبر ادعاءً</a:t>
            </a:r>
            <a:endParaRPr sz="1300"/>
          </a:p>
        </p:txBody>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ca6df1e4d5974585"/>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D60A61EA-B363-4398-BC98-A84121CFAE1F}"/>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BB66A3E8-A99A-4AF4-B699-7DE7040FFBAF}"/>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ASSESSMENT</a:t>
            </a:r>
            <a:r>
              <a:rPr sz="850" b="1" spc="100">
                <a:solidFill>
                  <a:srgbClr val="00A79D"/>
                </a:solidFill>
                <a:latin typeface="Calibri"/>
                <a:ea typeface="Calibri"/>
                <a:cs typeface="Calibri"/>
              </a:rPr>
              <a:t>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7667CF09-35EA-459F-AE5E-228548E764FA}"/>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153</a:t>
            </a:r>
            <a:endParaRPr sz="850"/>
          </a:p>
        </p:txBody>
      </p:sp>
      <p:sp>
        <p:nvSpPr>
          <p:cNvPr id="8" name="Text 5">
            <a:extLst xmlns:a="http://schemas.openxmlformats.org/drawingml/2006/main">
              <a:ext uri="{FF2B5EF4-FFF2-40B4-BE49-F238E27FC236}">
                <a16:creationId xmlns:a16="http://schemas.microsoft.com/office/drawing/2014/main" id="{AD1E06BF-FB27-40AC-9620-6A2C25D75C02}"/>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A85E1220-86F3-4C31-AB2B-F1DE3B7144CB}"/>
              </a:ext>
            </a:extLst>
          </p:cNvPr>
          <p:cNvSpPr>
            <a:spLocks xmlns:a="http://schemas.openxmlformats.org/drawingml/2006/main" noGrp="1"/>
          </p:cNvSpPr>
          <p:nvPr/>
        </p:nvSpPr>
        <p:spPr>
          <a:xfrm xmlns:a="http://schemas.openxmlformats.org/drawingml/2006/main">
            <a:off x="1005840" y="14996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Start from repository evidence</a:t>
            </a:r>
            <a:endParaRPr sz="1350"/>
          </a:p>
        </p:txBody>
      </p:sp>
      <p:sp>
        <p:nvSpPr>
          <p:cNvPr id="10" name="Text 7">
            <a:extLst xmlns:a="http://schemas.openxmlformats.org/drawingml/2006/main">
              <a:ext uri="{FF2B5EF4-FFF2-40B4-BE49-F238E27FC236}">
                <a16:creationId xmlns:a16="http://schemas.microsoft.com/office/drawing/2014/main" id="{A82ACBC5-1BFF-4AA9-B0B0-C3F7204F9481}"/>
              </a:ext>
            </a:extLst>
          </p:cNvPr>
          <p:cNvSpPr>
            <a:spLocks xmlns:a="http://schemas.openxmlformats.org/drawingml/2006/main" noGrp="1"/>
          </p:cNvSpPr>
          <p:nvPr/>
        </p:nvSpPr>
        <p:spPr>
          <a:xfrm xmlns:a="http://schemas.openxmlformats.org/drawingml/2006/main">
            <a:off x="1005840" y="180136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Read CI history, required checks, benchmark tables, and decision records before the demo.</a:t>
            </a:r>
            <a:endParaRPr sz="1050"/>
          </a:p>
        </p:txBody>
      </p:sp>
      <p:sp>
        <p:nvSpPr>
          <p:cNvPr id="11" name="Text 8">
            <a:extLst xmlns:a="http://schemas.openxmlformats.org/drawingml/2006/main">
              <a:ext uri="{FF2B5EF4-FFF2-40B4-BE49-F238E27FC236}">
                <a16:creationId xmlns:a16="http://schemas.microsoft.com/office/drawing/2014/main" id="{6E412656-5263-45AE-82D5-31AA6B396614}"/>
              </a:ext>
            </a:extLst>
          </p:cNvPr>
          <p:cNvSpPr>
            <a:spLocks xmlns:a="http://schemas.openxmlformats.org/drawingml/2006/main" noGrp="1"/>
          </p:cNvSpPr>
          <p:nvPr/>
        </p:nvSpPr>
        <p:spPr>
          <a:xfrm xmlns:a="http://schemas.openxmlformats.org/drawingml/2006/main">
            <a:off x="502920" y="280035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0736F55E-3534-4AC1-B57C-0E7933249618}"/>
              </a:ext>
            </a:extLst>
          </p:cNvPr>
          <p:cNvSpPr>
            <a:spLocks xmlns:a="http://schemas.openxmlformats.org/drawingml/2006/main" noGrp="1"/>
          </p:cNvSpPr>
          <p:nvPr/>
        </p:nvSpPr>
        <p:spPr>
          <a:xfrm xmlns:a="http://schemas.openxmlformats.org/drawingml/2006/main">
            <a:off x="1005840" y="274548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Reproduce the cold path</a:t>
            </a:r>
            <a:endParaRPr sz="1350"/>
          </a:p>
        </p:txBody>
      </p:sp>
      <p:sp>
        <p:nvSpPr>
          <p:cNvPr id="13" name="Text 10">
            <a:extLst xmlns:a="http://schemas.openxmlformats.org/drawingml/2006/main">
              <a:ext uri="{FF2B5EF4-FFF2-40B4-BE49-F238E27FC236}">
                <a16:creationId xmlns:a16="http://schemas.microsoft.com/office/drawing/2014/main" id="{F1DBD095-EE3F-4C72-9CC1-5BAF1DF19F2D}"/>
              </a:ext>
            </a:extLst>
          </p:cNvPr>
          <p:cNvSpPr>
            <a:spLocks xmlns:a="http://schemas.openxmlformats.org/drawingml/2006/main" noGrp="1"/>
          </p:cNvSpPr>
          <p:nvPr/>
        </p:nvSpPr>
        <p:spPr>
          <a:xfrm xmlns:a="http://schemas.openxmlformats.org/drawingml/2006/main">
            <a:off x="1005840" y="304723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Clone, configure, compose up, and smoke-test using only the runbook.</a:t>
            </a:r>
            <a:endParaRPr sz="1050"/>
          </a:p>
        </p:txBody>
      </p:sp>
      <p:sp>
        <p:nvSpPr>
          <p:cNvPr id="14" name="Text 11">
            <a:extLst xmlns:a="http://schemas.openxmlformats.org/drawingml/2006/main">
              <a:ext uri="{FF2B5EF4-FFF2-40B4-BE49-F238E27FC236}">
                <a16:creationId xmlns:a16="http://schemas.microsoft.com/office/drawing/2014/main" id="{5E6EAE5C-12C5-47A9-9452-01DF822D6446}"/>
              </a:ext>
            </a:extLst>
          </p:cNvPr>
          <p:cNvSpPr>
            <a:spLocks xmlns:a="http://schemas.openxmlformats.org/drawingml/2006/main" noGrp="1"/>
          </p:cNvSpPr>
          <p:nvPr/>
        </p:nvSpPr>
        <p:spPr>
          <a:xfrm xmlns:a="http://schemas.openxmlformats.org/drawingml/2006/main">
            <a:off x="502920" y="404622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1328E8FC-72BC-4EB6-B1D4-913BBA056ED3}"/>
              </a:ext>
            </a:extLst>
          </p:cNvPr>
          <p:cNvSpPr>
            <a:spLocks xmlns:a="http://schemas.openxmlformats.org/drawingml/2006/main" noGrp="1"/>
          </p:cNvSpPr>
          <p:nvPr/>
        </p:nvSpPr>
        <p:spPr>
          <a:xfrm xmlns:a="http://schemas.openxmlformats.org/drawingml/2006/main">
            <a:off x="1005840" y="399135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Challenge one behavioural claim</a:t>
            </a:r>
            <a:endParaRPr sz="1350"/>
          </a:p>
        </p:txBody>
      </p:sp>
      <p:sp>
        <p:nvSpPr>
          <p:cNvPr id="16" name="Text 13">
            <a:extLst xmlns:a="http://schemas.openxmlformats.org/drawingml/2006/main">
              <a:ext uri="{FF2B5EF4-FFF2-40B4-BE49-F238E27FC236}">
                <a16:creationId xmlns:a16="http://schemas.microsoft.com/office/drawing/2014/main" id="{3F5D62A0-6DDC-4E90-A328-72310E4B2B4B}"/>
              </a:ext>
            </a:extLst>
          </p:cNvPr>
          <p:cNvSpPr>
            <a:spLocks xmlns:a="http://schemas.openxmlformats.org/drawingml/2006/main" noGrp="1"/>
          </p:cNvSpPr>
          <p:nvPr/>
        </p:nvSpPr>
        <p:spPr>
          <a:xfrm xmlns:a="http://schemas.openxmlformats.org/drawingml/2006/main">
            <a:off x="1005840" y="429310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Change casing or amount and show the intended test fail for the intended reason.</a:t>
            </a:r>
            <a:endParaRPr sz="1050"/>
          </a:p>
        </p:txBody>
      </p:sp>
      <p:sp>
        <p:nvSpPr>
          <p:cNvPr id="17" name="Text 14">
            <a:extLst xmlns:a="http://schemas.openxmlformats.org/drawingml/2006/main">
              <a:ext uri="{FF2B5EF4-FFF2-40B4-BE49-F238E27FC236}">
                <a16:creationId xmlns:a16="http://schemas.microsoft.com/office/drawing/2014/main" id="{FB07FD8A-01E0-41A0-9EC7-11398930CF87}"/>
              </a:ext>
            </a:extLst>
          </p:cNvPr>
          <p:cNvSpPr>
            <a:spLocks xmlns:a="http://schemas.openxmlformats.org/drawingml/2006/main" noGrp="1"/>
          </p:cNvSpPr>
          <p:nvPr/>
        </p:nvSpPr>
        <p:spPr>
          <a:xfrm xmlns:a="http://schemas.openxmlformats.org/drawingml/2006/main">
            <a:off x="502920" y="5292090"/>
            <a:ext cx="329184" cy="329184"/>
          </a:xfrm>
          <a:prstGeom xmlns:a="http://schemas.openxmlformats.org/drawingml/2006/main" prst="ellipse">
            <a:avLst/>
          </a:prstGeom>
          <a:solidFill xmlns:a="http://schemas.openxmlformats.org/drawingml/2006/main">
            <a:srgbClr val="8DC63F"/>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4</a:t>
            </a:r>
            <a:endParaRPr sz="1300"/>
          </a:p>
        </p:txBody>
      </p:sp>
      <p:sp>
        <p:nvSpPr>
          <p:cNvPr id="18" name="Text 15">
            <a:extLst xmlns:a="http://schemas.openxmlformats.org/drawingml/2006/main">
              <a:ext uri="{FF2B5EF4-FFF2-40B4-BE49-F238E27FC236}">
                <a16:creationId xmlns:a16="http://schemas.microsoft.com/office/drawing/2014/main" id="{AEAF08CC-5E57-4839-B0C5-2220C8377B19}"/>
              </a:ext>
            </a:extLst>
          </p:cNvPr>
          <p:cNvSpPr>
            <a:spLocks xmlns:a="http://schemas.openxmlformats.org/drawingml/2006/main" noGrp="1"/>
          </p:cNvSpPr>
          <p:nvPr/>
        </p:nvSpPr>
        <p:spPr>
          <a:xfrm xmlns:a="http://schemas.openxmlformats.org/drawingml/2006/main">
            <a:off x="1005840" y="523722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Score independently, discuss second</a:t>
            </a:r>
            <a:endParaRPr sz="1350"/>
          </a:p>
        </p:txBody>
      </p:sp>
      <p:sp>
        <p:nvSpPr>
          <p:cNvPr id="19" name="Text 16">
            <a:extLst xmlns:a="http://schemas.openxmlformats.org/drawingml/2006/main">
              <a:ext uri="{FF2B5EF4-FFF2-40B4-BE49-F238E27FC236}">
                <a16:creationId xmlns:a16="http://schemas.microsoft.com/office/drawing/2014/main" id="{7F216B22-A29B-4D51-8C78-03BE97EBA8C0}"/>
              </a:ext>
            </a:extLst>
          </p:cNvPr>
          <p:cNvSpPr>
            <a:spLocks xmlns:a="http://schemas.openxmlformats.org/drawingml/2006/main" noGrp="1"/>
          </p:cNvSpPr>
          <p:nvPr/>
        </p:nvSpPr>
        <p:spPr>
          <a:xfrm xmlns:a="http://schemas.openxmlformats.org/drawingml/2006/main">
            <a:off x="1005840" y="553897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Record criterion evidence first; calibrate differences after both reviewers commit.</a:t>
            </a:r>
            <a:endParaRPr sz="1050"/>
          </a:p>
        </p:txBody>
      </p:sp>
    </p:spTree>
    <p:extLst>
      <p:ext uri="{BB962C8B-B14F-4D97-AF65-F5344CB8AC3E}">
        <p14:creationId xmlns:p14="http://schemas.microsoft.com/office/powerpoint/2010/main" val="975794841"/>
      </p:ext>
    </p:extLst>
  </p:cSld>
</p:sld>
</file>

<file path=ppt/slides/slide15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EFDAFC2-784B-4A77-B1F7-38FE540C4754}"/>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How the course grade is built</a:t>
            </a:r>
            <a:endParaRPr sz="2600"/>
          </a:p>
        </p:txBody>
      </p:sp>
      <p:sp>
        <p:nvSpPr>
          <p:cNvPr id="3" name="Text 1">
            <a:extLst xmlns:a="http://schemas.openxmlformats.org/drawingml/2006/main">
              <a:ext uri="{FF2B5EF4-FFF2-40B4-BE49-F238E27FC236}">
                <a16:creationId xmlns:a16="http://schemas.microsoft.com/office/drawing/2014/main" id="{793244CE-0A76-44B2-8758-188E3BE8B6D2}"/>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كيف تُحتسب درجة الدورة</a:t>
            </a:r>
            <a:endParaRPr sz="1300"/>
          </a:p>
        </p:txBody>
      </p:sp>
      <p:pic>
        <p:nvPicPr>
          <p:cNvPr id="14" name="Image 0"/>
          <p:cNvPicPr>
            <a:picLocks xmlns:a="http://schemas.openxmlformats.org/drawingml/2006/main" noChangeAspect="1"/>
          </p:cNvPicPr>
          <p:nvPr/>
        </p:nvPicPr>
        <p:blipFill>
          <a:blip xmlns:r="http://schemas.openxmlformats.org/officeDocument/2006/relationships" xmlns:a="http://schemas.openxmlformats.org/drawingml/2006/main" r:embed="R537c7c3cde394846"/>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A2417E1A-5D73-4B7E-BD69-5162E8ECD5F9}"/>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4A88FC62-4F2D-4E10-8C7B-810D46C6F4BA}"/>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ASSESSMENT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28389257-0605-40C9-A40D-D9F645231287}"/>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154</a:t>
            </a:r>
            <a:endParaRPr sz="850"/>
          </a:p>
        </p:txBody>
      </p:sp>
      <p:graphicFrame>
        <p:nvGraphicFramePr>
          <p:cNvPr id="18" name="Table 0"/>
          <p:cNvGraphicFramePr/>
          <p:nvPr/>
        </p:nvGraphicFramePr>
        <p:xfrm>
          <a:off xmlns:a="http://schemas.openxmlformats.org/drawingml/2006/main" x="502920" y="1554480"/>
          <a:ext xmlns:a="http://schemas.openxmlformats.org/drawingml/2006/main" cx="11183112" cy="914400"/>
        </p:xfrm>
        <a:graphic xmlns:a="http://schemas.openxmlformats.org/drawingml/2006/main">
          <a:graphicData uri="http://schemas.openxmlformats.org/drawingml/2006/table">
            <a:tbl>
              <a:tblPr/>
              <a:tblGrid>
                <a:gridCol w="3727704"/>
                <a:gridCol w="3727704"/>
                <a:gridCol w="3727704"/>
              </a:tblGrid>
              <a:tr h="384048">
                <a:tc>
                  <a:txBody>
                    <a:bodyPr/>
                    <a:lstStyle/>
                    <a:p>
                      <a:pPr marL="0" indent="0">
                        <a:buNone/>
                      </a:pPr>
                      <a:r>
                        <a:rPr sz="1100" b="1">
                          <a:solidFill>
                            <a:srgbClr val="FFFFFF"/>
                          </a:solidFill>
                          <a:latin typeface="Calibri"/>
                          <a:ea typeface="Calibri"/>
                          <a:cs typeface="Calibri"/>
                        </a:rPr>
                        <a:t>Component</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c>
                  <a:txBody>
                    <a:bodyPr/>
                    <a:lstStyle/>
                    <a:p>
                      <a:pPr marL="0" indent="0">
                        <a:buNone/>
                      </a:pPr>
                      <a:r>
                        <a:rPr sz="1100" b="1">
                          <a:solidFill>
                            <a:srgbClr val="FFFFFF"/>
                          </a:solidFill>
                          <a:latin typeface="Calibri"/>
                          <a:ea typeface="Calibri"/>
                          <a:cs typeface="Calibri"/>
                        </a:rPr>
                        <a:t>Weight</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c>
                  <a:txBody>
                    <a:bodyPr/>
                    <a:lstStyle/>
                    <a:p>
                      <a:pPr marL="0" indent="0">
                        <a:buNone/>
                      </a:pPr>
                      <a:r>
                        <a:rPr sz="1100" b="1">
                          <a:solidFill>
                            <a:srgbClr val="FFFFFF"/>
                          </a:solidFill>
                          <a:latin typeface="Calibri"/>
                          <a:ea typeface="Calibri"/>
                          <a:cs typeface="Calibri"/>
                        </a:rPr>
                        <a:t>Evidence</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r>
              <a:tr h="384048">
                <a:tc>
                  <a:txBody>
                    <a:bodyPr/>
                    <a:lstStyle/>
                    <a:p>
                      <a:pPr marL="0" indent="0">
                        <a:buNone/>
                      </a:pPr>
                      <a:r>
                        <a:rPr sz="1050" b="1">
                          <a:solidFill>
                            <a:srgbClr val="1D2A5C"/>
                          </a:solidFill>
                          <a:latin typeface="Calibri"/>
                          <a:ea typeface="Calibri"/>
                          <a:cs typeface="Calibri"/>
                        </a:rPr>
                        <a:t>Lab completion (6 labs)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30%</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Checkpoint commits + expected outputs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r>
              <a:tr h="384048">
                <a:tc>
                  <a:txBody>
                    <a:bodyPr/>
                    <a:lstStyle/>
                    <a:p>
                      <a:pPr marL="0" indent="0">
                        <a:buNone/>
                      </a:pPr>
                      <a:r>
                        <a:rPr sz="1050" b="1">
                          <a:solidFill>
                            <a:srgbClr val="1D2A5C"/>
                          </a:solidFill>
                          <a:latin typeface="Calibri"/>
                          <a:ea typeface="Calibri"/>
                          <a:cs typeface="Calibri"/>
                        </a:rPr>
                        <a:t>PA-1 + PA-2 practical assessments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20%</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Artefacts + diagnosis notes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r>
              <a:tr h="384048">
                <a:tc>
                  <a:txBody>
                    <a:bodyPr/>
                    <a:lstStyle/>
                    <a:p>
                      <a:pPr marL="0" indent="0">
                        <a:buNone/>
                      </a:pPr>
                      <a:r>
                        <a:rPr sz="1050" b="1">
                          <a:solidFill>
                            <a:srgbClr val="1D2A5C"/>
                          </a:solidFill>
                          <a:latin typeface="Calibri"/>
                          <a:ea typeface="Calibri"/>
                          <a:cs typeface="Calibri"/>
                        </a:rPr>
                        <a:t>Quiz</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10%</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10 questions from the 20-question bank; 15 min, closed book</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r>
              <a:tr h="384048">
                <a:tc>
                  <a:txBody>
                    <a:bodyPr/>
                    <a:lstStyle/>
                    <a:p>
                      <a:pPr marL="0" indent="0">
                        <a:buNone/>
                      </a:pPr>
                      <a:r>
                        <a:rPr sz="1050" b="1">
                          <a:solidFill>
                            <a:srgbClr val="1D2A5C"/>
                          </a:solidFill>
                          <a:latin typeface="Calibri"/>
                          <a:ea typeface="Calibri"/>
                          <a:cs typeface="Calibri"/>
                        </a:rPr>
                        <a:t>Capstone</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40%</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Grading rubric, repo-first</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r>
            </a:tbl>
          </a:graphicData>
        </a:graphic>
      </p:graphicFrame>
      <p:sp>
        <p:nvSpPr>
          <p:cNvPr id="9" name="Text 5">
            <a:extLst xmlns:a="http://schemas.openxmlformats.org/drawingml/2006/main">
              <a:ext uri="{FF2B5EF4-FFF2-40B4-BE49-F238E27FC236}">
                <a16:creationId xmlns:a16="http://schemas.microsoft.com/office/drawing/2014/main" id="{C5EFF482-5400-406A-8CC6-506478978BC7}"/>
              </a:ext>
            </a:extLst>
          </p:cNvPr>
          <p:cNvSpPr>
            <a:spLocks xmlns:a="http://schemas.openxmlformats.org/drawingml/2006/main" noGrp="1"/>
          </p:cNvSpPr>
          <p:nvPr/>
        </p:nvSpPr>
        <p:spPr>
          <a:xfrm xmlns:a="http://schemas.openxmlformats.org/drawingml/2006/main">
            <a:off x="502920" y="6035040"/>
            <a:ext cx="11155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5F6B7A"/>
                </a:solidFill>
                <a:latin typeface="Calibri"/>
                <a:ea typeface="Calibri"/>
                <a:cs typeface="Calibri"/>
              </a:rPr>
              <a:t>Engineering badge requires ≥ 70 overall AND capstone ≥ 70 AND zero academic-integrity flags</a:t>
            </a:r>
            <a:endParaRPr sz="950"/>
          </a:p>
        </p:txBody>
      </p:sp>
    </p:spTree>
    <p:extLst>
      <p:ext uri="{BB962C8B-B14F-4D97-AF65-F5344CB8AC3E}">
        <p14:creationId xmlns:p14="http://schemas.microsoft.com/office/powerpoint/2010/main" val="94927625"/>
      </p:ext>
    </p:extLst>
  </p:cSld>
</p:sld>
</file>

<file path=ppt/slides/slide15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EE7E939-5856-4FD6-A8D5-B7B10BF6D858}"/>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Practical assessments PA-1 and PA-2</a:t>
            </a:r>
            <a:endParaRPr sz="2600"/>
          </a:p>
        </p:txBody>
      </p:sp>
      <p:sp>
        <p:nvSpPr>
          <p:cNvPr id="3" name="Text 1">
            <a:extLst xmlns:a="http://schemas.openxmlformats.org/drawingml/2006/main">
              <a:ext uri="{FF2B5EF4-FFF2-40B4-BE49-F238E27FC236}">
                <a16:creationId xmlns:a16="http://schemas.microsoft.com/office/drawing/2014/main" id="{40F2DFA1-B8E5-4317-965F-B12C560AB492}"/>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التقييمان العمليان الأول والثاني</a:t>
            </a:r>
            <a:endParaRPr sz="1300"/>
          </a:p>
        </p:txBody>
      </p:sp>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9626ca5c61be44a1"/>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0E5CE00B-5DA5-42D0-8F78-AC6541F43F2E}"/>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05BA63A8-BA64-49BE-B2C7-4F053766E543}"/>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ASSESSMENT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7BC31541-3902-4CEA-B8F9-CEB8FF51D7CB}"/>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155</a:t>
            </a:r>
            <a:endParaRPr sz="850"/>
          </a:p>
        </p:txBody>
      </p:sp>
      <p:sp>
        <p:nvSpPr>
          <p:cNvPr id="8" name="Text 5">
            <a:extLst xmlns:a="http://schemas.openxmlformats.org/drawingml/2006/main">
              <a:ext uri="{FF2B5EF4-FFF2-40B4-BE49-F238E27FC236}">
                <a16:creationId xmlns:a16="http://schemas.microsoft.com/office/drawing/2014/main" id="{21C66168-AF31-4A4D-9E1C-F3D2C1C235D5}"/>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49A742F8-1618-4F26-8B9C-94401641E8C3}"/>
              </a:ext>
            </a:extLst>
          </p:cNvPr>
          <p:cNvSpPr>
            <a:spLocks xmlns:a="http://schemas.openxmlformats.org/drawingml/2006/main" noGrp="1"/>
          </p:cNvSpPr>
          <p:nvPr/>
        </p:nvSpPr>
        <p:spPr>
          <a:xfrm xmlns:a="http://schemas.openxmlformats.org/drawingml/2006/main">
            <a:off x="1005840" y="14996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PA-1 — Fix the broken repo (Day 2)</a:t>
            </a:r>
            <a:endParaRPr sz="1350"/>
          </a:p>
        </p:txBody>
      </p:sp>
      <p:sp>
        <p:nvSpPr>
          <p:cNvPr id="10" name="Text 7">
            <a:extLst xmlns:a="http://schemas.openxmlformats.org/drawingml/2006/main">
              <a:ext uri="{FF2B5EF4-FFF2-40B4-BE49-F238E27FC236}">
                <a16:creationId xmlns:a16="http://schemas.microsoft.com/office/drawing/2014/main" id="{35405F86-0351-48D0-BA68-792896E182A6}"/>
              </a:ext>
            </a:extLst>
          </p:cNvPr>
          <p:cNvSpPr>
            <a:spLocks xmlns:a="http://schemas.openxmlformats.org/drawingml/2006/main" noGrp="1"/>
          </p:cNvSpPr>
          <p:nvPr/>
        </p:nvSpPr>
        <p:spPr>
          <a:xfrm xmlns:a="http://schemas.openxmlformats.org/drawingml/2006/main">
            <a:off x="1005840" y="1801368"/>
            <a:ext cx="10680192"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30 min. Failing healthcheck, async-blocked route, missing .dockerignore → produce a green make smoke. Scored: diagnosis notes 40%, fixes 40%, verification evidence 20%.</a:t>
            </a:r>
            <a:endParaRPr sz="1050"/>
          </a:p>
        </p:txBody>
      </p:sp>
      <p:sp>
        <p:nvSpPr>
          <p:cNvPr id="11" name="Text 8">
            <a:extLst xmlns:a="http://schemas.openxmlformats.org/drawingml/2006/main">
              <a:ext uri="{FF2B5EF4-FFF2-40B4-BE49-F238E27FC236}">
                <a16:creationId xmlns:a16="http://schemas.microsoft.com/office/drawing/2014/main" id="{CD00E29C-BC6A-404B-8AEF-603B2AAAA6B9}"/>
              </a:ext>
            </a:extLst>
          </p:cNvPr>
          <p:cNvSpPr>
            <a:spLocks xmlns:a="http://schemas.openxmlformats.org/drawingml/2006/main" noGrp="1"/>
          </p:cNvSpPr>
          <p:nvPr/>
        </p:nvSpPr>
        <p:spPr>
          <a:xfrm xmlns:a="http://schemas.openxmlformats.org/drawingml/2006/main">
            <a:off x="502920" y="292608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E7E11311-32B3-4C03-9AB9-1B2061417F75}"/>
              </a:ext>
            </a:extLst>
          </p:cNvPr>
          <p:cNvSpPr>
            <a:spLocks xmlns:a="http://schemas.openxmlformats.org/drawingml/2006/main" noGrp="1"/>
          </p:cNvSpPr>
          <p:nvPr/>
        </p:nvSpPr>
        <p:spPr>
          <a:xfrm xmlns:a="http://schemas.openxmlformats.org/drawingml/2006/main">
            <a:off x="1005840" y="28712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PA-2 — Triage the PR (Day 3)</a:t>
            </a:r>
            <a:endParaRPr sz="1350"/>
          </a:p>
        </p:txBody>
      </p:sp>
      <p:sp>
        <p:nvSpPr>
          <p:cNvPr id="13" name="Text 10">
            <a:extLst xmlns:a="http://schemas.openxmlformats.org/drawingml/2006/main">
              <a:ext uri="{FF2B5EF4-FFF2-40B4-BE49-F238E27FC236}">
                <a16:creationId xmlns:a16="http://schemas.microsoft.com/office/drawing/2014/main" id="{9B1DAC65-BBF7-4C13-A9B3-5F3126E03346}"/>
              </a:ext>
            </a:extLst>
          </p:cNvPr>
          <p:cNvSpPr>
            <a:spLocks xmlns:a="http://schemas.openxmlformats.org/drawingml/2006/main" noGrp="1"/>
          </p:cNvSpPr>
          <p:nvPr/>
        </p:nvSpPr>
        <p:spPr>
          <a:xfrm xmlns:a="http://schemas.openxmlformats.org/drawingml/2006/main">
            <a:off x="1005840" y="3172968"/>
            <a:ext cx="10680192"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30 min. A PR with a golden-file failure and a layer violation: decide what may merge, what must change, write the review. Scored: triage 50%, tone/actionability 30%, governance 20%.</a:t>
            </a:r>
            <a:endParaRPr sz="1050"/>
          </a:p>
        </p:txBody>
      </p:sp>
      <p:sp>
        <p:nvSpPr>
          <p:cNvPr id="14" name="Text 11">
            <a:extLst xmlns:a="http://schemas.openxmlformats.org/drawingml/2006/main">
              <a:ext uri="{FF2B5EF4-FFF2-40B4-BE49-F238E27FC236}">
                <a16:creationId xmlns:a16="http://schemas.microsoft.com/office/drawing/2014/main" id="{DA3B8520-5D10-4C4A-88B1-F349CD53F7F2}"/>
              </a:ext>
            </a:extLst>
          </p:cNvPr>
          <p:cNvSpPr>
            <a:spLocks xmlns:a="http://schemas.openxmlformats.org/drawingml/2006/main" noGrp="1"/>
          </p:cNvSpPr>
          <p:nvPr/>
        </p:nvSpPr>
        <p:spPr>
          <a:xfrm xmlns:a="http://schemas.openxmlformats.org/drawingml/2006/main">
            <a:off x="502920" y="429768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DE5FFD8B-8789-4D59-BD0F-7F044A71038E}"/>
              </a:ext>
            </a:extLst>
          </p:cNvPr>
          <p:cNvSpPr>
            <a:spLocks xmlns:a="http://schemas.openxmlformats.org/drawingml/2006/main" noGrp="1"/>
          </p:cNvSpPr>
          <p:nvPr/>
        </p:nvSpPr>
        <p:spPr>
          <a:xfrm xmlns:a="http://schemas.openxmlformats.org/drawingml/2006/main">
            <a:off x="1005840" y="42428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Quiz bank</a:t>
            </a:r>
            <a:endParaRPr sz="1350"/>
          </a:p>
        </p:txBody>
      </p:sp>
      <p:sp>
        <p:nvSpPr>
          <p:cNvPr id="16" name="Text 13">
            <a:extLst xmlns:a="http://schemas.openxmlformats.org/drawingml/2006/main">
              <a:ext uri="{FF2B5EF4-FFF2-40B4-BE49-F238E27FC236}">
                <a16:creationId xmlns:a16="http://schemas.microsoft.com/office/drawing/2014/main" id="{1ADD8C26-7BD5-4435-BA16-07CD49068AF1}"/>
              </a:ext>
            </a:extLst>
          </p:cNvPr>
          <p:cNvSpPr>
            <a:spLocks xmlns:a="http://schemas.openxmlformats.org/drawingml/2006/main" noGrp="1"/>
          </p:cNvSpPr>
          <p:nvPr/>
        </p:nvSpPr>
        <p:spPr>
          <a:xfrm xmlns:a="http://schemas.openxmlformats.org/drawingml/2006/main">
            <a:off x="1005840" y="4544568"/>
            <a:ext cx="10680192" cy="95097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20 questions across all six modules — use 10 per cohort, 15 minutes, closed book. Rotate selections between cohorts.</a:t>
            </a:r>
            <a:endParaRPr sz="1050"/>
          </a:p>
        </p:txBody>
      </p:sp>
    </p:spTree>
    <p:extLst>
      <p:ext uri="{BB962C8B-B14F-4D97-AF65-F5344CB8AC3E}">
        <p14:creationId xmlns:p14="http://schemas.microsoft.com/office/powerpoint/2010/main" val="945792161"/>
      </p:ext>
    </p:extLst>
  </p:cSld>
</p:sld>
</file>

<file path=ppt/slides/slide15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D67441B-6804-4EE5-B74A-A226CDAE695C}"/>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What instructors verify</a:t>
            </a:r>
            <a:endParaRPr sz="2600"/>
          </a:p>
        </p:txBody>
      </p:sp>
      <p:sp>
        <p:nvSpPr>
          <p:cNvPr id="3" name="Text 1">
            <a:extLst xmlns:a="http://schemas.openxmlformats.org/drawingml/2006/main">
              <a:ext uri="{FF2B5EF4-FFF2-40B4-BE49-F238E27FC236}">
                <a16:creationId xmlns:a16="http://schemas.microsoft.com/office/drawing/2014/main" id="{E9F38E41-BC42-49E9-A61D-AC8F70CFC98D}"/>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ما يتحقق منه المدرب</a:t>
            </a:r>
            <a:endParaRPr sz="1300"/>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536227bc78e64c05"/>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2A4B87FB-E92B-4B45-BDE4-05B283BAAE5E}"/>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8EF884C5-47E2-4EE8-B8F5-E1ABEF75A34A}"/>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ASSESSMENT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F41578B2-592E-428E-B6CA-808EB4A45784}"/>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156</a:t>
            </a:r>
            <a:endParaRPr sz="850"/>
          </a:p>
        </p:txBody>
      </p:sp>
      <p:sp>
        <p:nvSpPr>
          <p:cNvPr id="8" name="Shape 5">
            <a:extLst xmlns:a="http://schemas.openxmlformats.org/drawingml/2006/main">
              <a:ext uri="{FF2B5EF4-FFF2-40B4-BE49-F238E27FC236}">
                <a16:creationId xmlns:a16="http://schemas.microsoft.com/office/drawing/2014/main" id="{81470E17-D1E0-4160-8668-25EFA2C3636E}"/>
              </a:ext>
            </a:extLst>
          </p:cNvPr>
          <p:cNvSpPr>
            <a:spLocks xmlns:a="http://schemas.openxmlformats.org/drawingml/2006/main" noGrp="1"/>
          </p:cNvSpPr>
          <p:nvPr/>
        </p:nvSpPr>
        <p:spPr>
          <a:xfrm xmlns:a="http://schemas.openxmlformats.org/drawingml/2006/main">
            <a:off x="502920" y="1517904"/>
            <a:ext cx="5454396"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3B95A4AE-F9E3-45B4-AC07-EC996E6A804C}"/>
              </a:ext>
            </a:extLst>
          </p:cNvPr>
          <p:cNvSpPr>
            <a:spLocks xmlns:a="http://schemas.openxmlformats.org/drawingml/2006/main" noGrp="1"/>
          </p:cNvSpPr>
          <p:nvPr/>
        </p:nvSpPr>
        <p:spPr>
          <a:xfrm xmlns:a="http://schemas.openxmlformats.org/drawingml/2006/main">
            <a:off x="502920" y="1517904"/>
            <a:ext cx="82296" cy="2272284"/>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3FF80619-E1AE-4C57-A5ED-E7D5DE25BAEE}"/>
              </a:ext>
            </a:extLst>
          </p:cNvPr>
          <p:cNvSpPr>
            <a:spLocks xmlns:a="http://schemas.openxmlformats.org/drawingml/2006/main" noGrp="1"/>
          </p:cNvSpPr>
          <p:nvPr/>
        </p:nvSpPr>
        <p:spPr>
          <a:xfrm xmlns:a="http://schemas.openxmlformats.org/drawingml/2006/main">
            <a:off x="722376" y="1636776"/>
            <a:ext cx="501548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00A79D"/>
                </a:solidFill>
                <a:latin typeface="Calibri"/>
                <a:ea typeface="Calibri"/>
                <a:cs typeface="Calibri"/>
              </a:rPr>
              <a:t>REPO FIRST</a:t>
            </a:r>
            <a:endParaRPr sz="900"/>
          </a:p>
        </p:txBody>
      </p:sp>
      <p:sp>
        <p:nvSpPr>
          <p:cNvPr id="11" name="Text 8">
            <a:extLst xmlns:a="http://schemas.openxmlformats.org/drawingml/2006/main">
              <a:ext uri="{FF2B5EF4-FFF2-40B4-BE49-F238E27FC236}">
                <a16:creationId xmlns:a16="http://schemas.microsoft.com/office/drawing/2014/main" id="{A67B45A2-542D-4F4D-AB78-A58ED2431495}"/>
              </a:ext>
            </a:extLst>
          </p:cNvPr>
          <p:cNvSpPr>
            <a:spLocks xmlns:a="http://schemas.openxmlformats.org/drawingml/2006/main" noGrp="1"/>
          </p:cNvSpPr>
          <p:nvPr/>
        </p:nvSpPr>
        <p:spPr>
          <a:xfrm xmlns:a="http://schemas.openxmlformats.org/drawingml/2006/main">
            <a:off x="722376" y="1883664"/>
            <a:ext cx="501548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Grade from repository evidence</a:t>
            </a:r>
            <a:endParaRPr sz="1250"/>
          </a:p>
        </p:txBody>
      </p:sp>
      <p:sp>
        <p:nvSpPr>
          <p:cNvPr id="12" name="Text 9">
            <a:extLst xmlns:a="http://schemas.openxmlformats.org/drawingml/2006/main">
              <a:ext uri="{FF2B5EF4-FFF2-40B4-BE49-F238E27FC236}">
                <a16:creationId xmlns:a16="http://schemas.microsoft.com/office/drawing/2014/main" id="{7EC536FA-5DB2-43EF-A786-DB7C5AC7BC11}"/>
              </a:ext>
            </a:extLst>
          </p:cNvPr>
          <p:cNvSpPr>
            <a:spLocks xmlns:a="http://schemas.openxmlformats.org/drawingml/2006/main" noGrp="1"/>
          </p:cNvSpPr>
          <p:nvPr/>
        </p:nvSpPr>
        <p:spPr>
          <a:xfrm xmlns:a="http://schemas.openxmlformats.org/drawingml/2006/main">
            <a:off x="722376" y="2404872"/>
            <a:ext cx="5015484"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CI history, branch-protection settings, commit hygiene — then the demo. The point of the course is that the repo speaks.</a:t>
            </a:r>
            <a:endParaRPr sz="980"/>
          </a:p>
        </p:txBody>
      </p:sp>
      <p:sp>
        <p:nvSpPr>
          <p:cNvPr id="13" name="Shape 10">
            <a:extLst xmlns:a="http://schemas.openxmlformats.org/drawingml/2006/main">
              <a:ext uri="{FF2B5EF4-FFF2-40B4-BE49-F238E27FC236}">
                <a16:creationId xmlns:a16="http://schemas.microsoft.com/office/drawing/2014/main" id="{9E2CEFAC-AAAF-43D9-A99D-6C12769A37F2}"/>
              </a:ext>
            </a:extLst>
          </p:cNvPr>
          <p:cNvSpPr>
            <a:spLocks xmlns:a="http://schemas.openxmlformats.org/drawingml/2006/main" noGrp="1"/>
          </p:cNvSpPr>
          <p:nvPr/>
        </p:nvSpPr>
        <p:spPr>
          <a:xfrm xmlns:a="http://schemas.openxmlformats.org/drawingml/2006/main">
            <a:off x="6231636" y="1517904"/>
            <a:ext cx="5454396"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14" name="Shape 11">
            <a:extLst xmlns:a="http://schemas.openxmlformats.org/drawingml/2006/main">
              <a:ext uri="{FF2B5EF4-FFF2-40B4-BE49-F238E27FC236}">
                <a16:creationId xmlns:a16="http://schemas.microsoft.com/office/drawing/2014/main" id="{C2DAFE67-2201-4E76-AFBA-A0558B4948EA}"/>
              </a:ext>
            </a:extLst>
          </p:cNvPr>
          <p:cNvSpPr>
            <a:spLocks xmlns:a="http://schemas.openxmlformats.org/drawingml/2006/main" noGrp="1"/>
          </p:cNvSpPr>
          <p:nvPr/>
        </p:nvSpPr>
        <p:spPr>
          <a:xfrm xmlns:a="http://schemas.openxmlformats.org/drawingml/2006/main">
            <a:off x="6231636" y="1517904"/>
            <a:ext cx="82296" cy="2272284"/>
          </a:xfrm>
          <a:prstGeom xmlns:a="http://schemas.openxmlformats.org/drawingml/2006/main" prst="rect">
            <a:avLst/>
          </a:prstGeom>
          <a:solidFill xmlns:a="http://schemas.openxmlformats.org/drawingml/2006/main">
            <a:srgbClr val="29ABE2"/>
          </a:solidFill>
        </p:spPr>
      </p:sp>
      <p:sp>
        <p:nvSpPr>
          <p:cNvPr id="15" name="Text 12">
            <a:extLst xmlns:a="http://schemas.openxmlformats.org/drawingml/2006/main">
              <a:ext uri="{FF2B5EF4-FFF2-40B4-BE49-F238E27FC236}">
                <a16:creationId xmlns:a16="http://schemas.microsoft.com/office/drawing/2014/main" id="{8559B018-569B-43DD-9999-AA10CD1BF9E7}"/>
              </a:ext>
            </a:extLst>
          </p:cNvPr>
          <p:cNvSpPr>
            <a:spLocks xmlns:a="http://schemas.openxmlformats.org/drawingml/2006/main" noGrp="1"/>
          </p:cNvSpPr>
          <p:nvPr/>
        </p:nvSpPr>
        <p:spPr>
          <a:xfrm xmlns:a="http://schemas.openxmlformats.org/drawingml/2006/main">
            <a:off x="6451092" y="1636776"/>
            <a:ext cx="501548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29ABE2"/>
                </a:solidFill>
                <a:latin typeface="Calibri"/>
                <a:ea typeface="Calibri"/>
                <a:cs typeface="Calibri"/>
              </a:rPr>
              <a:t>ANTI-PATTERNS</a:t>
            </a:r>
            <a:endParaRPr sz="900"/>
          </a:p>
        </p:txBody>
      </p:sp>
      <p:sp>
        <p:nvSpPr>
          <p:cNvPr id="16" name="Text 13">
            <a:extLst xmlns:a="http://schemas.openxmlformats.org/drawingml/2006/main">
              <a:ext uri="{FF2B5EF4-FFF2-40B4-BE49-F238E27FC236}">
                <a16:creationId xmlns:a16="http://schemas.microsoft.com/office/drawing/2014/main" id="{3081F54E-D436-4D07-90D2-73C86C3791FD}"/>
              </a:ext>
            </a:extLst>
          </p:cNvPr>
          <p:cNvSpPr>
            <a:spLocks xmlns:a="http://schemas.openxmlformats.org/drawingml/2006/main" noGrp="1"/>
          </p:cNvSpPr>
          <p:nvPr/>
        </p:nvSpPr>
        <p:spPr>
          <a:xfrm xmlns:a="http://schemas.openxmlformats.org/drawingml/2006/main">
            <a:off x="6451092" y="1883664"/>
            <a:ext cx="501548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Flags that cap a criterion at 70%</a:t>
            </a:r>
            <a:endParaRPr sz="1250"/>
          </a:p>
        </p:txBody>
      </p:sp>
      <p:sp>
        <p:nvSpPr>
          <p:cNvPr id="17" name="Text 14">
            <a:extLst xmlns:a="http://schemas.openxmlformats.org/drawingml/2006/main">
              <a:ext uri="{FF2B5EF4-FFF2-40B4-BE49-F238E27FC236}">
                <a16:creationId xmlns:a16="http://schemas.microsoft.com/office/drawing/2014/main" id="{860D05B7-A699-4051-ABF4-5A03E717885F}"/>
              </a:ext>
            </a:extLst>
          </p:cNvPr>
          <p:cNvSpPr>
            <a:spLocks xmlns:a="http://schemas.openxmlformats.org/drawingml/2006/main" noGrp="1"/>
          </p:cNvSpPr>
          <p:nvPr/>
        </p:nvSpPr>
        <p:spPr>
          <a:xfrm xmlns:a="http://schemas.openxmlformats.org/drawingml/2006/main">
            <a:off x="6451092" y="2404872"/>
            <a:ext cx="5015484"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Regenerated goldens without justification; coverage inflated by asserting nothing; :latest deploy tags; force-pushed green history.</a:t>
            </a:r>
            <a:endParaRPr sz="980"/>
          </a:p>
        </p:txBody>
      </p:sp>
      <p:sp>
        <p:nvSpPr>
          <p:cNvPr id="18" name="Shape 15">
            <a:extLst xmlns:a="http://schemas.openxmlformats.org/drawingml/2006/main">
              <a:ext uri="{FF2B5EF4-FFF2-40B4-BE49-F238E27FC236}">
                <a16:creationId xmlns:a16="http://schemas.microsoft.com/office/drawing/2014/main" id="{D75ED31D-001B-4474-ACD5-ADFF2F7ABE01}"/>
              </a:ext>
            </a:extLst>
          </p:cNvPr>
          <p:cNvSpPr>
            <a:spLocks xmlns:a="http://schemas.openxmlformats.org/drawingml/2006/main" noGrp="1"/>
          </p:cNvSpPr>
          <p:nvPr/>
        </p:nvSpPr>
        <p:spPr>
          <a:xfrm xmlns:a="http://schemas.openxmlformats.org/drawingml/2006/main">
            <a:off x="502920" y="4046220"/>
            <a:ext cx="5454396"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19" name="Shape 16">
            <a:extLst xmlns:a="http://schemas.openxmlformats.org/drawingml/2006/main">
              <a:ext uri="{FF2B5EF4-FFF2-40B4-BE49-F238E27FC236}">
                <a16:creationId xmlns:a16="http://schemas.microsoft.com/office/drawing/2014/main" id="{59B8C39E-2ACC-4564-B46C-E7D7701453D9}"/>
              </a:ext>
            </a:extLst>
          </p:cNvPr>
          <p:cNvSpPr>
            <a:spLocks xmlns:a="http://schemas.openxmlformats.org/drawingml/2006/main" noGrp="1"/>
          </p:cNvSpPr>
          <p:nvPr/>
        </p:nvSpPr>
        <p:spPr>
          <a:xfrm xmlns:a="http://schemas.openxmlformats.org/drawingml/2006/main">
            <a:off x="502920" y="4046220"/>
            <a:ext cx="82296" cy="2272284"/>
          </a:xfrm>
          <a:prstGeom xmlns:a="http://schemas.openxmlformats.org/drawingml/2006/main" prst="rect">
            <a:avLst/>
          </a:prstGeom>
          <a:solidFill xmlns:a="http://schemas.openxmlformats.org/drawingml/2006/main">
            <a:srgbClr val="F58220"/>
          </a:solidFill>
        </p:spPr>
      </p:sp>
      <p:sp>
        <p:nvSpPr>
          <p:cNvPr id="20" name="Text 17">
            <a:extLst xmlns:a="http://schemas.openxmlformats.org/drawingml/2006/main">
              <a:ext uri="{FF2B5EF4-FFF2-40B4-BE49-F238E27FC236}">
                <a16:creationId xmlns:a16="http://schemas.microsoft.com/office/drawing/2014/main" id="{FF99933F-FA62-4FA8-B32E-B6CA105C7F66}"/>
              </a:ext>
            </a:extLst>
          </p:cNvPr>
          <p:cNvSpPr>
            <a:spLocks xmlns:a="http://schemas.openxmlformats.org/drawingml/2006/main" noGrp="1"/>
          </p:cNvSpPr>
          <p:nvPr/>
        </p:nvSpPr>
        <p:spPr>
          <a:xfrm xmlns:a="http://schemas.openxmlformats.org/drawingml/2006/main">
            <a:off x="722376" y="4165092"/>
            <a:ext cx="501548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F58220"/>
                </a:solidFill>
                <a:latin typeface="Calibri"/>
                <a:ea typeface="Calibri"/>
                <a:cs typeface="Calibri"/>
              </a:rPr>
              <a:t>LIVE CHECK</a:t>
            </a:r>
            <a:endParaRPr sz="900"/>
          </a:p>
        </p:txBody>
      </p:sp>
      <p:sp>
        <p:nvSpPr>
          <p:cNvPr id="21" name="Text 18">
            <a:extLst xmlns:a="http://schemas.openxmlformats.org/drawingml/2006/main">
              <a:ext uri="{FF2B5EF4-FFF2-40B4-BE49-F238E27FC236}">
                <a16:creationId xmlns:a16="http://schemas.microsoft.com/office/drawing/2014/main" id="{89AB4861-197E-44E1-8D65-F373E7D635C4}"/>
              </a:ext>
            </a:extLst>
          </p:cNvPr>
          <p:cNvSpPr>
            <a:spLocks xmlns:a="http://schemas.openxmlformats.org/drawingml/2006/main" noGrp="1"/>
          </p:cNvSpPr>
          <p:nvPr/>
        </p:nvSpPr>
        <p:spPr>
          <a:xfrm xmlns:a="http://schemas.openxmlformats.org/drawingml/2006/main">
            <a:off x="722376" y="4411980"/>
            <a:ext cx="501548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Verify one behavioural claim</a:t>
            </a:r>
            <a:endParaRPr sz="1250"/>
          </a:p>
        </p:txBody>
      </p:sp>
      <p:sp>
        <p:nvSpPr>
          <p:cNvPr id="22" name="Text 19">
            <a:extLst xmlns:a="http://schemas.openxmlformats.org/drawingml/2006/main">
              <a:ext uri="{FF2B5EF4-FFF2-40B4-BE49-F238E27FC236}">
                <a16:creationId xmlns:a16="http://schemas.microsoft.com/office/drawing/2014/main" id="{977294DE-A4D2-4987-AD93-D12EF626A481}"/>
              </a:ext>
            </a:extLst>
          </p:cNvPr>
          <p:cNvSpPr>
            <a:spLocks xmlns:a="http://schemas.openxmlformats.org/drawingml/2006/main" noGrp="1"/>
          </p:cNvSpPr>
          <p:nvPr/>
        </p:nvSpPr>
        <p:spPr>
          <a:xfrm xmlns:a="http://schemas.openxmlformats.org/drawingml/2006/main">
            <a:off x="722376" y="4933188"/>
            <a:ext cx="5015484"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Ask the participant to break casing invariance and show the red — one minute that separates understanding from copy-paste.</a:t>
            </a:r>
            <a:endParaRPr sz="980"/>
          </a:p>
        </p:txBody>
      </p:sp>
      <p:sp>
        <p:nvSpPr>
          <p:cNvPr id="23" name="Shape 20">
            <a:extLst xmlns:a="http://schemas.openxmlformats.org/drawingml/2006/main">
              <a:ext uri="{FF2B5EF4-FFF2-40B4-BE49-F238E27FC236}">
                <a16:creationId xmlns:a16="http://schemas.microsoft.com/office/drawing/2014/main" id="{9B58D579-040C-4CFB-A482-AF92006DD2FC}"/>
              </a:ext>
            </a:extLst>
          </p:cNvPr>
          <p:cNvSpPr>
            <a:spLocks xmlns:a="http://schemas.openxmlformats.org/drawingml/2006/main" noGrp="1"/>
          </p:cNvSpPr>
          <p:nvPr/>
        </p:nvSpPr>
        <p:spPr>
          <a:xfrm xmlns:a="http://schemas.openxmlformats.org/drawingml/2006/main">
            <a:off x="6231636" y="4046220"/>
            <a:ext cx="5454396"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24" name="Shape 21">
            <a:extLst xmlns:a="http://schemas.openxmlformats.org/drawingml/2006/main">
              <a:ext uri="{FF2B5EF4-FFF2-40B4-BE49-F238E27FC236}">
                <a16:creationId xmlns:a16="http://schemas.microsoft.com/office/drawing/2014/main" id="{7BDB57D3-D881-43C8-B5C3-EF126153F029}"/>
              </a:ext>
            </a:extLst>
          </p:cNvPr>
          <p:cNvSpPr>
            <a:spLocks xmlns:a="http://schemas.openxmlformats.org/drawingml/2006/main" noGrp="1"/>
          </p:cNvSpPr>
          <p:nvPr/>
        </p:nvSpPr>
        <p:spPr>
          <a:xfrm xmlns:a="http://schemas.openxmlformats.org/drawingml/2006/main">
            <a:off x="6231636" y="4046220"/>
            <a:ext cx="82296" cy="2272284"/>
          </a:xfrm>
          <a:prstGeom xmlns:a="http://schemas.openxmlformats.org/drawingml/2006/main" prst="rect">
            <a:avLst/>
          </a:prstGeom>
          <a:solidFill xmlns:a="http://schemas.openxmlformats.org/drawingml/2006/main">
            <a:srgbClr val="8DC63F"/>
          </a:solidFill>
        </p:spPr>
      </p:sp>
      <p:sp>
        <p:nvSpPr>
          <p:cNvPr id="25" name="Text 22">
            <a:extLst xmlns:a="http://schemas.openxmlformats.org/drawingml/2006/main">
              <a:ext uri="{FF2B5EF4-FFF2-40B4-BE49-F238E27FC236}">
                <a16:creationId xmlns:a16="http://schemas.microsoft.com/office/drawing/2014/main" id="{B4D5ADA2-AE49-4E92-88BE-9DA250790A68}"/>
              </a:ext>
            </a:extLst>
          </p:cNvPr>
          <p:cNvSpPr>
            <a:spLocks xmlns:a="http://schemas.openxmlformats.org/drawingml/2006/main" noGrp="1"/>
          </p:cNvSpPr>
          <p:nvPr/>
        </p:nvSpPr>
        <p:spPr>
          <a:xfrm xmlns:a="http://schemas.openxmlformats.org/drawingml/2006/main">
            <a:off x="6451092" y="4165092"/>
            <a:ext cx="501548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8DC63F"/>
                </a:solidFill>
                <a:latin typeface="Calibri"/>
                <a:ea typeface="Calibri"/>
                <a:cs typeface="Calibri"/>
              </a:rPr>
              <a:t>INTEGRITY</a:t>
            </a:r>
            <a:endParaRPr sz="900"/>
          </a:p>
        </p:txBody>
      </p:sp>
      <p:sp>
        <p:nvSpPr>
          <p:cNvPr id="26" name="Text 23">
            <a:extLst xmlns:a="http://schemas.openxmlformats.org/drawingml/2006/main">
              <a:ext uri="{FF2B5EF4-FFF2-40B4-BE49-F238E27FC236}">
                <a16:creationId xmlns:a16="http://schemas.microsoft.com/office/drawing/2014/main" id="{933571AA-2F8C-431D-9B09-3068B976199B}"/>
              </a:ext>
            </a:extLst>
          </p:cNvPr>
          <p:cNvSpPr>
            <a:spLocks xmlns:a="http://schemas.openxmlformats.org/drawingml/2006/main" noGrp="1"/>
          </p:cNvSpPr>
          <p:nvPr/>
        </p:nvSpPr>
        <p:spPr>
          <a:xfrm xmlns:a="http://schemas.openxmlformats.org/drawingml/2006/main">
            <a:off x="6451092" y="4411980"/>
            <a:ext cx="501548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Cross-repo checks</a:t>
            </a:r>
            <a:endParaRPr sz="1250"/>
          </a:p>
        </p:txBody>
      </p:sp>
      <p:sp>
        <p:nvSpPr>
          <p:cNvPr id="27" name="Text 24">
            <a:extLst xmlns:a="http://schemas.openxmlformats.org/drawingml/2006/main">
              <a:ext uri="{FF2B5EF4-FFF2-40B4-BE49-F238E27FC236}">
                <a16:creationId xmlns:a16="http://schemas.microsoft.com/office/drawing/2014/main" id="{FD70E465-B369-44EE-81B3-129F2BA12522}"/>
              </a:ext>
            </a:extLst>
          </p:cNvPr>
          <p:cNvSpPr>
            <a:spLocks xmlns:a="http://schemas.openxmlformats.org/drawingml/2006/main" noGrp="1"/>
          </p:cNvSpPr>
          <p:nvPr/>
        </p:nvSpPr>
        <p:spPr>
          <a:xfrm xmlns:a="http://schemas.openxmlformats.org/drawingml/2006/main">
            <a:off x="6451092" y="4933188"/>
            <a:ext cx="5015484"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Identical golden diffs across repos are checked; zero integrity flags is a badge condition alongside ≥ 70 overall and capstone ≥ 70.</a:t>
            </a:r>
            <a:endParaRPr sz="980"/>
          </a:p>
        </p:txBody>
      </p:sp>
    </p:spTree>
    <p:extLst>
      <p:ext uri="{BB962C8B-B14F-4D97-AF65-F5344CB8AC3E}">
        <p14:creationId xmlns:p14="http://schemas.microsoft.com/office/powerpoint/2010/main" val="1415115796"/>
      </p:ext>
    </p:extLst>
  </p:cSld>
</p:sld>
</file>

<file path=ppt/slides/slide15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B200800-D810-498D-A56E-8D1A52F66C55}"/>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Pacing: where cohorts derail</a:t>
            </a:r>
            <a:endParaRPr sz="2600"/>
          </a:p>
        </p:txBody>
      </p:sp>
      <p:sp>
        <p:nvSpPr>
          <p:cNvPr id="3" name="Text 1">
            <a:extLst xmlns:a="http://schemas.openxmlformats.org/drawingml/2006/main">
              <a:ext uri="{FF2B5EF4-FFF2-40B4-BE49-F238E27FC236}">
                <a16:creationId xmlns:a16="http://schemas.microsoft.com/office/drawing/2014/main" id="{574D534E-E125-46E1-AA42-BF95470CAD1C}"/>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ضبط الإيقاع: أين تتعثر المجموعات</a:t>
            </a:r>
            <a:endParaRPr sz="1300"/>
          </a:p>
        </p:txBody>
      </p:sp>
      <p:pic>
        <p:nvPicPr>
          <p:cNvPr id="36" name="Image 0"/>
          <p:cNvPicPr>
            <a:picLocks xmlns:a="http://schemas.openxmlformats.org/drawingml/2006/main" noChangeAspect="1"/>
          </p:cNvPicPr>
          <p:nvPr/>
        </p:nvPicPr>
        <p:blipFill>
          <a:blip xmlns:r="http://schemas.openxmlformats.org/officeDocument/2006/relationships" xmlns:a="http://schemas.openxmlformats.org/drawingml/2006/main" r:embed="R21a378a32bf441e8"/>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F29999FB-46C7-43DA-B4A3-3443AFD477FE}"/>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C89B5791-F609-4917-930F-419C64FFF7A7}"/>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INSTRUCTOR GUIDE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5DECDEA3-891D-4EC2-8AB9-AE3CE32EAE36}"/>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157</a:t>
            </a:r>
            <a:endParaRPr sz="850"/>
          </a:p>
        </p:txBody>
      </p:sp>
      <p:sp>
        <p:nvSpPr>
          <p:cNvPr id="8" name="Shape 5">
            <a:extLst xmlns:a="http://schemas.openxmlformats.org/drawingml/2006/main">
              <a:ext uri="{FF2B5EF4-FFF2-40B4-BE49-F238E27FC236}">
                <a16:creationId xmlns:a16="http://schemas.microsoft.com/office/drawing/2014/main" id="{23162362-CF8E-45C5-99C7-099DF32C7A4C}"/>
              </a:ext>
            </a:extLst>
          </p:cNvPr>
          <p:cNvSpPr>
            <a:spLocks xmlns:a="http://schemas.openxmlformats.org/drawingml/2006/main" noGrp="1"/>
          </p:cNvSpPr>
          <p:nvPr/>
        </p:nvSpPr>
        <p:spPr>
          <a:xfrm xmlns:a="http://schemas.openxmlformats.org/drawingml/2006/main">
            <a:off x="502920" y="1517904"/>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99808D6A-463B-4F3F-94FE-2E6EEE759992}"/>
              </a:ext>
            </a:extLst>
          </p:cNvPr>
          <p:cNvSpPr>
            <a:spLocks xmlns:a="http://schemas.openxmlformats.org/drawingml/2006/main" noGrp="1"/>
          </p:cNvSpPr>
          <p:nvPr/>
        </p:nvSpPr>
        <p:spPr>
          <a:xfrm xmlns:a="http://schemas.openxmlformats.org/drawingml/2006/main">
            <a:off x="502920" y="1517904"/>
            <a:ext cx="82296" cy="2272284"/>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556EA167-5F89-4DF5-9C27-D579F2A56273}"/>
              </a:ext>
            </a:extLst>
          </p:cNvPr>
          <p:cNvSpPr>
            <a:spLocks xmlns:a="http://schemas.openxmlformats.org/drawingml/2006/main" noGrp="1"/>
          </p:cNvSpPr>
          <p:nvPr/>
        </p:nvSpPr>
        <p:spPr>
          <a:xfrm xmlns:a="http://schemas.openxmlformats.org/drawingml/2006/main">
            <a:off x="722376" y="1636776"/>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00A79D"/>
                </a:solidFill>
                <a:latin typeface="Calibri"/>
                <a:ea typeface="Calibri"/>
                <a:cs typeface="Calibri"/>
              </a:rPr>
              <a:t>PROTECT</a:t>
            </a:r>
            <a:endParaRPr sz="900"/>
          </a:p>
        </p:txBody>
      </p:sp>
      <p:sp>
        <p:nvSpPr>
          <p:cNvPr id="11" name="Text 8">
            <a:extLst xmlns:a="http://schemas.openxmlformats.org/drawingml/2006/main">
              <a:ext uri="{FF2B5EF4-FFF2-40B4-BE49-F238E27FC236}">
                <a16:creationId xmlns:a16="http://schemas.microsoft.com/office/drawing/2014/main" id="{6D17E531-FDEA-4879-8A81-D32762C313F7}"/>
              </a:ext>
            </a:extLst>
          </p:cNvPr>
          <p:cNvSpPr>
            <a:spLocks xmlns:a="http://schemas.openxmlformats.org/drawingml/2006/main" noGrp="1"/>
          </p:cNvSpPr>
          <p:nvPr/>
        </p:nvSpPr>
        <p:spPr>
          <a:xfrm xmlns:a="http://schemas.openxmlformats.org/drawingml/2006/main">
            <a:off x="722376" y="1883664"/>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Labs 3 and 5 at full length</a:t>
            </a:r>
            <a:endParaRPr sz="1250"/>
          </a:p>
        </p:txBody>
      </p:sp>
      <p:sp>
        <p:nvSpPr>
          <p:cNvPr id="12" name="Text 9">
            <a:extLst xmlns:a="http://schemas.openxmlformats.org/drawingml/2006/main">
              <a:ext uri="{FF2B5EF4-FFF2-40B4-BE49-F238E27FC236}">
                <a16:creationId xmlns:a16="http://schemas.microsoft.com/office/drawing/2014/main" id="{DC746BE5-9C79-4BE8-AA82-1697F2C14264}"/>
              </a:ext>
            </a:extLst>
          </p:cNvPr>
          <p:cNvSpPr>
            <a:spLocks xmlns:a="http://schemas.openxmlformats.org/drawingml/2006/main" noGrp="1"/>
          </p:cNvSpPr>
          <p:nvPr/>
        </p:nvSpPr>
        <p:spPr>
          <a:xfrm xmlns:a="http://schemas.openxmlformats.org/drawingml/2006/main">
            <a:off x="722376" y="2404872"/>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Labs 2a and 3 are the most overrun-prone; rescue stragglers with checkpoint tags, never by cutting the protected labs</a:t>
            </a:r>
            <a:endParaRPr sz="980"/>
          </a:p>
        </p:txBody>
      </p:sp>
      <p:sp>
        <p:nvSpPr>
          <p:cNvPr id="13" name="Shape 10">
            <a:extLst xmlns:a="http://schemas.openxmlformats.org/drawingml/2006/main">
              <a:ext uri="{FF2B5EF4-FFF2-40B4-BE49-F238E27FC236}">
                <a16:creationId xmlns:a16="http://schemas.microsoft.com/office/drawing/2014/main" id="{30F3399F-B3B2-42C9-A151-02CE03398CD9}"/>
              </a:ext>
            </a:extLst>
          </p:cNvPr>
          <p:cNvSpPr>
            <a:spLocks xmlns:a="http://schemas.openxmlformats.org/drawingml/2006/main" noGrp="1"/>
          </p:cNvSpPr>
          <p:nvPr/>
        </p:nvSpPr>
        <p:spPr>
          <a:xfrm xmlns:a="http://schemas.openxmlformats.org/drawingml/2006/main">
            <a:off x="4322064" y="1517904"/>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14" name="Shape 11">
            <a:extLst xmlns:a="http://schemas.openxmlformats.org/drawingml/2006/main">
              <a:ext uri="{FF2B5EF4-FFF2-40B4-BE49-F238E27FC236}">
                <a16:creationId xmlns:a16="http://schemas.microsoft.com/office/drawing/2014/main" id="{BC30A8C3-C5A8-4F83-8309-ECF44CBD7EBC}"/>
              </a:ext>
            </a:extLst>
          </p:cNvPr>
          <p:cNvSpPr>
            <a:spLocks xmlns:a="http://schemas.openxmlformats.org/drawingml/2006/main" noGrp="1"/>
          </p:cNvSpPr>
          <p:nvPr/>
        </p:nvSpPr>
        <p:spPr>
          <a:xfrm xmlns:a="http://schemas.openxmlformats.org/drawingml/2006/main">
            <a:off x="4322064" y="1517904"/>
            <a:ext cx="82296" cy="2272284"/>
          </a:xfrm>
          <a:prstGeom xmlns:a="http://schemas.openxmlformats.org/drawingml/2006/main" prst="rect">
            <a:avLst/>
          </a:prstGeom>
          <a:solidFill xmlns:a="http://schemas.openxmlformats.org/drawingml/2006/main">
            <a:srgbClr val="29ABE2"/>
          </a:solidFill>
        </p:spPr>
      </p:sp>
      <p:sp>
        <p:nvSpPr>
          <p:cNvPr id="15" name="Text 12">
            <a:extLst xmlns:a="http://schemas.openxmlformats.org/drawingml/2006/main">
              <a:ext uri="{FF2B5EF4-FFF2-40B4-BE49-F238E27FC236}">
                <a16:creationId xmlns:a16="http://schemas.microsoft.com/office/drawing/2014/main" id="{1E65F09F-E725-4431-9172-5DCC9A14B155}"/>
              </a:ext>
            </a:extLst>
          </p:cNvPr>
          <p:cNvSpPr>
            <a:spLocks xmlns:a="http://schemas.openxmlformats.org/drawingml/2006/main" noGrp="1"/>
          </p:cNvSpPr>
          <p:nvPr/>
        </p:nvSpPr>
        <p:spPr>
          <a:xfrm xmlns:a="http://schemas.openxmlformats.org/drawingml/2006/main">
            <a:off x="4541520" y="1636776"/>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29ABE2"/>
                </a:solidFill>
                <a:latin typeface="Calibri"/>
                <a:ea typeface="Calibri"/>
                <a:cs typeface="Calibri"/>
              </a:rPr>
              <a:t>COMPRESS</a:t>
            </a:r>
            <a:endParaRPr sz="900"/>
          </a:p>
        </p:txBody>
      </p:sp>
      <p:sp>
        <p:nvSpPr>
          <p:cNvPr id="16" name="Text 13">
            <a:extLst xmlns:a="http://schemas.openxmlformats.org/drawingml/2006/main">
              <a:ext uri="{FF2B5EF4-FFF2-40B4-BE49-F238E27FC236}">
                <a16:creationId xmlns:a16="http://schemas.microsoft.com/office/drawing/2014/main" id="{75C232BE-AE99-49B3-AD64-BDA94EB3A701}"/>
              </a:ext>
            </a:extLst>
          </p:cNvPr>
          <p:cNvSpPr>
            <a:spLocks xmlns:a="http://schemas.openxmlformats.org/drawingml/2006/main" noGrp="1"/>
          </p:cNvSpPr>
          <p:nvPr/>
        </p:nvSpPr>
        <p:spPr>
          <a:xfrm xmlns:a="http://schemas.openxmlformats.org/drawingml/2006/main">
            <a:off x="4541520" y="1883664"/>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M6 theory if behind</a:t>
            </a:r>
            <a:endParaRPr sz="1250"/>
          </a:p>
        </p:txBody>
      </p:sp>
      <p:sp>
        <p:nvSpPr>
          <p:cNvPr id="17" name="Text 14">
            <a:extLst xmlns:a="http://schemas.openxmlformats.org/drawingml/2006/main">
              <a:ext uri="{FF2B5EF4-FFF2-40B4-BE49-F238E27FC236}">
                <a16:creationId xmlns:a16="http://schemas.microsoft.com/office/drawing/2014/main" id="{F7071FCF-45FA-42D3-A5FC-412D986BDFDC}"/>
              </a:ext>
            </a:extLst>
          </p:cNvPr>
          <p:cNvSpPr>
            <a:spLocks xmlns:a="http://schemas.openxmlformats.org/drawingml/2006/main" noGrp="1"/>
          </p:cNvSpPr>
          <p:nvPr/>
        </p:nvSpPr>
        <p:spPr>
          <a:xfrm xmlns:a="http://schemas.openxmlformats.org/drawingml/2006/main">
            <a:off x="4541520" y="2404872"/>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It lands through the lab anyway; the Day-3 afternoon is deliberately lighter on theory</a:t>
            </a:r>
            <a:endParaRPr sz="980"/>
          </a:p>
        </p:txBody>
      </p:sp>
      <p:sp>
        <p:nvSpPr>
          <p:cNvPr id="18" name="Shape 15">
            <a:extLst xmlns:a="http://schemas.openxmlformats.org/drawingml/2006/main">
              <a:ext uri="{FF2B5EF4-FFF2-40B4-BE49-F238E27FC236}">
                <a16:creationId xmlns:a16="http://schemas.microsoft.com/office/drawing/2014/main" id="{8E47CE2A-822B-46B5-B8D3-A61EECA9C541}"/>
              </a:ext>
            </a:extLst>
          </p:cNvPr>
          <p:cNvSpPr>
            <a:spLocks xmlns:a="http://schemas.openxmlformats.org/drawingml/2006/main" noGrp="1"/>
          </p:cNvSpPr>
          <p:nvPr/>
        </p:nvSpPr>
        <p:spPr>
          <a:xfrm xmlns:a="http://schemas.openxmlformats.org/drawingml/2006/main">
            <a:off x="8141208" y="1517904"/>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19" name="Shape 16">
            <a:extLst xmlns:a="http://schemas.openxmlformats.org/drawingml/2006/main">
              <a:ext uri="{FF2B5EF4-FFF2-40B4-BE49-F238E27FC236}">
                <a16:creationId xmlns:a16="http://schemas.microsoft.com/office/drawing/2014/main" id="{680C32D1-0805-49C4-8967-CB2556E312E8}"/>
              </a:ext>
            </a:extLst>
          </p:cNvPr>
          <p:cNvSpPr>
            <a:spLocks xmlns:a="http://schemas.openxmlformats.org/drawingml/2006/main" noGrp="1"/>
          </p:cNvSpPr>
          <p:nvPr/>
        </p:nvSpPr>
        <p:spPr>
          <a:xfrm xmlns:a="http://schemas.openxmlformats.org/drawingml/2006/main">
            <a:off x="8141208" y="1517904"/>
            <a:ext cx="82296" cy="2272284"/>
          </a:xfrm>
          <a:prstGeom xmlns:a="http://schemas.openxmlformats.org/drawingml/2006/main" prst="rect">
            <a:avLst/>
          </a:prstGeom>
          <a:solidFill xmlns:a="http://schemas.openxmlformats.org/drawingml/2006/main">
            <a:srgbClr val="F58220"/>
          </a:solidFill>
        </p:spPr>
      </p:sp>
      <p:sp>
        <p:nvSpPr>
          <p:cNvPr id="20" name="Text 17">
            <a:extLst xmlns:a="http://schemas.openxmlformats.org/drawingml/2006/main">
              <a:ext uri="{FF2B5EF4-FFF2-40B4-BE49-F238E27FC236}">
                <a16:creationId xmlns:a16="http://schemas.microsoft.com/office/drawing/2014/main" id="{B7D9A058-DDEA-4C7B-B4B3-1153AD6F8A5D}"/>
              </a:ext>
            </a:extLst>
          </p:cNvPr>
          <p:cNvSpPr>
            <a:spLocks xmlns:a="http://schemas.openxmlformats.org/drawingml/2006/main" noGrp="1"/>
          </p:cNvSpPr>
          <p:nvPr/>
        </p:nvSpPr>
        <p:spPr>
          <a:xfrm xmlns:a="http://schemas.openxmlformats.org/drawingml/2006/main">
            <a:off x="8360664" y="1636776"/>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F58220"/>
                </a:solidFill>
                <a:latin typeface="Calibri"/>
                <a:ea typeface="Calibri"/>
                <a:cs typeface="Calibri"/>
              </a:rPr>
              <a:t>STRONG COHORT</a:t>
            </a:r>
            <a:endParaRPr sz="900"/>
          </a:p>
        </p:txBody>
      </p:sp>
      <p:sp>
        <p:nvSpPr>
          <p:cNvPr id="21" name="Text 18">
            <a:extLst xmlns:a="http://schemas.openxmlformats.org/drawingml/2006/main">
              <a:ext uri="{FF2B5EF4-FFF2-40B4-BE49-F238E27FC236}">
                <a16:creationId xmlns:a16="http://schemas.microsoft.com/office/drawing/2014/main" id="{D2F5AB44-5499-42C1-B234-F0EAB908FAA9}"/>
              </a:ext>
            </a:extLst>
          </p:cNvPr>
          <p:cNvSpPr>
            <a:spLocks xmlns:a="http://schemas.openxmlformats.org/drawingml/2006/main" noGrp="1"/>
          </p:cNvSpPr>
          <p:nvPr/>
        </p:nvSpPr>
        <p:spPr>
          <a:xfrm xmlns:a="http://schemas.openxmlformats.org/drawingml/2006/main">
            <a:off x="8360664" y="1883664"/>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Pull bonus tasks into scope</a:t>
            </a:r>
            <a:endParaRPr sz="1250"/>
          </a:p>
        </p:txBody>
      </p:sp>
      <p:sp>
        <p:nvSpPr>
          <p:cNvPr id="22" name="Text 19">
            <a:extLst xmlns:a="http://schemas.openxmlformats.org/drawingml/2006/main">
              <a:ext uri="{FF2B5EF4-FFF2-40B4-BE49-F238E27FC236}">
                <a16:creationId xmlns:a16="http://schemas.microsoft.com/office/drawing/2014/main" id="{13B449FD-5FA6-425D-8DA2-858ABBFCDAA0}"/>
              </a:ext>
            </a:extLst>
          </p:cNvPr>
          <p:cNvSpPr>
            <a:spLocks xmlns:a="http://schemas.openxmlformats.org/drawingml/2006/main" noGrp="1"/>
          </p:cNvSpPr>
          <p:nvPr/>
        </p:nvSpPr>
        <p:spPr>
          <a:xfrm xmlns:a="http://schemas.openxmlformats.org/drawingml/2006/main">
            <a:off x="8360664" y="2404872"/>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The trivy gate and batch endpoint become main scope on Day 3</a:t>
            </a:r>
            <a:endParaRPr sz="980"/>
          </a:p>
        </p:txBody>
      </p:sp>
      <p:sp>
        <p:nvSpPr>
          <p:cNvPr id="23" name="Shape 20">
            <a:extLst xmlns:a="http://schemas.openxmlformats.org/drawingml/2006/main">
              <a:ext uri="{FF2B5EF4-FFF2-40B4-BE49-F238E27FC236}">
                <a16:creationId xmlns:a16="http://schemas.microsoft.com/office/drawing/2014/main" id="{E1CE2E69-49ED-4A95-8062-52C4E4577802}"/>
              </a:ext>
            </a:extLst>
          </p:cNvPr>
          <p:cNvSpPr>
            <a:spLocks xmlns:a="http://schemas.openxmlformats.org/drawingml/2006/main" noGrp="1"/>
          </p:cNvSpPr>
          <p:nvPr/>
        </p:nvSpPr>
        <p:spPr>
          <a:xfrm xmlns:a="http://schemas.openxmlformats.org/drawingml/2006/main">
            <a:off x="502920" y="4046220"/>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24" name="Shape 21">
            <a:extLst xmlns:a="http://schemas.openxmlformats.org/drawingml/2006/main">
              <a:ext uri="{FF2B5EF4-FFF2-40B4-BE49-F238E27FC236}">
                <a16:creationId xmlns:a16="http://schemas.microsoft.com/office/drawing/2014/main" id="{F0131832-C87F-4EDE-912B-FAC384BF9FD8}"/>
              </a:ext>
            </a:extLst>
          </p:cNvPr>
          <p:cNvSpPr>
            <a:spLocks xmlns:a="http://schemas.openxmlformats.org/drawingml/2006/main" noGrp="1"/>
          </p:cNvSpPr>
          <p:nvPr/>
        </p:nvSpPr>
        <p:spPr>
          <a:xfrm xmlns:a="http://schemas.openxmlformats.org/drawingml/2006/main">
            <a:off x="502920" y="4046220"/>
            <a:ext cx="82296" cy="2272284"/>
          </a:xfrm>
          <a:prstGeom xmlns:a="http://schemas.openxmlformats.org/drawingml/2006/main" prst="rect">
            <a:avLst/>
          </a:prstGeom>
          <a:solidFill xmlns:a="http://schemas.openxmlformats.org/drawingml/2006/main">
            <a:srgbClr val="8DC63F"/>
          </a:solidFill>
        </p:spPr>
      </p:sp>
      <p:sp>
        <p:nvSpPr>
          <p:cNvPr id="25" name="Text 22">
            <a:extLst xmlns:a="http://schemas.openxmlformats.org/drawingml/2006/main">
              <a:ext uri="{FF2B5EF4-FFF2-40B4-BE49-F238E27FC236}">
                <a16:creationId xmlns:a16="http://schemas.microsoft.com/office/drawing/2014/main" id="{AF85B5FD-C7F0-4A77-B684-FCB975AD862A}"/>
              </a:ext>
            </a:extLst>
          </p:cNvPr>
          <p:cNvSpPr>
            <a:spLocks xmlns:a="http://schemas.openxmlformats.org/drawingml/2006/main" noGrp="1"/>
          </p:cNvSpPr>
          <p:nvPr/>
        </p:nvSpPr>
        <p:spPr>
          <a:xfrm xmlns:a="http://schemas.openxmlformats.org/drawingml/2006/main">
            <a:off x="722376" y="4165092"/>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8DC63F"/>
                </a:solidFill>
                <a:latin typeface="Calibri"/>
                <a:ea typeface="Calibri"/>
                <a:cs typeface="Calibri"/>
              </a:rPr>
              <a:t>WEAK COHORT</a:t>
            </a:r>
            <a:endParaRPr sz="900"/>
          </a:p>
        </p:txBody>
      </p:sp>
      <p:sp>
        <p:nvSpPr>
          <p:cNvPr id="26" name="Text 23">
            <a:extLst xmlns:a="http://schemas.openxmlformats.org/drawingml/2006/main">
              <a:ext uri="{FF2B5EF4-FFF2-40B4-BE49-F238E27FC236}">
                <a16:creationId xmlns:a16="http://schemas.microsoft.com/office/drawing/2014/main" id="{883F78F8-4731-4839-B289-4A73C09CEEAE}"/>
              </a:ext>
            </a:extLst>
          </p:cNvPr>
          <p:cNvSpPr>
            <a:spLocks xmlns:a="http://schemas.openxmlformats.org/drawingml/2006/main" noGrp="1"/>
          </p:cNvSpPr>
          <p:nvPr/>
        </p:nvSpPr>
        <p:spPr>
          <a:xfrm xmlns:a="http://schemas.openxmlformats.org/drawingml/2006/main">
            <a:off x="722376" y="4411980"/>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Demo it, don't drop it</a:t>
            </a:r>
            <a:endParaRPr sz="1250"/>
          </a:p>
        </p:txBody>
      </p:sp>
      <p:sp>
        <p:nvSpPr>
          <p:cNvPr id="27" name="Text 24">
            <a:extLst xmlns:a="http://schemas.openxmlformats.org/drawingml/2006/main">
              <a:ext uri="{FF2B5EF4-FFF2-40B4-BE49-F238E27FC236}">
                <a16:creationId xmlns:a16="http://schemas.microsoft.com/office/drawing/2014/main" id="{2E6101DF-D439-46DC-B48B-4C4F5EE14497}"/>
              </a:ext>
            </a:extLst>
          </p:cNvPr>
          <p:cNvSpPr>
            <a:spLocks xmlns:a="http://schemas.openxmlformats.org/drawingml/2006/main" noGrp="1"/>
          </p:cNvSpPr>
          <p:nvPr/>
        </p:nvSpPr>
        <p:spPr>
          <a:xfrm xmlns:a="http://schemas.openxmlformats.org/drawingml/2006/main">
            <a:off x="722376" y="4933188"/>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Lab 5 task 4 fix-the-PR becomes a guided demo; never drop the blocked-PR observation — the course's thesis made visible</a:t>
            </a:r>
            <a:endParaRPr sz="980"/>
          </a:p>
        </p:txBody>
      </p:sp>
      <p:sp>
        <p:nvSpPr>
          <p:cNvPr id="28" name="Shape 25">
            <a:extLst xmlns:a="http://schemas.openxmlformats.org/drawingml/2006/main">
              <a:ext uri="{FF2B5EF4-FFF2-40B4-BE49-F238E27FC236}">
                <a16:creationId xmlns:a16="http://schemas.microsoft.com/office/drawing/2014/main" id="{ED9E0C7D-9A2D-4A8C-A1D8-4B0E78B0A238}"/>
              </a:ext>
            </a:extLst>
          </p:cNvPr>
          <p:cNvSpPr>
            <a:spLocks xmlns:a="http://schemas.openxmlformats.org/drawingml/2006/main" noGrp="1"/>
          </p:cNvSpPr>
          <p:nvPr/>
        </p:nvSpPr>
        <p:spPr>
          <a:xfrm xmlns:a="http://schemas.openxmlformats.org/drawingml/2006/main">
            <a:off x="4322064" y="4046220"/>
            <a:ext cx="3544824"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29" name="Shape 26">
            <a:extLst xmlns:a="http://schemas.openxmlformats.org/drawingml/2006/main">
              <a:ext uri="{FF2B5EF4-FFF2-40B4-BE49-F238E27FC236}">
                <a16:creationId xmlns:a16="http://schemas.microsoft.com/office/drawing/2014/main" id="{9B846765-3F96-4FAF-B09A-0F2629474D30}"/>
              </a:ext>
            </a:extLst>
          </p:cNvPr>
          <p:cNvSpPr>
            <a:spLocks xmlns:a="http://schemas.openxmlformats.org/drawingml/2006/main" noGrp="1"/>
          </p:cNvSpPr>
          <p:nvPr/>
        </p:nvSpPr>
        <p:spPr>
          <a:xfrm xmlns:a="http://schemas.openxmlformats.org/drawingml/2006/main">
            <a:off x="4322064" y="4046220"/>
            <a:ext cx="82296" cy="2272284"/>
          </a:xfrm>
          <a:prstGeom xmlns:a="http://schemas.openxmlformats.org/drawingml/2006/main" prst="rect">
            <a:avLst/>
          </a:prstGeom>
          <a:solidFill xmlns:a="http://schemas.openxmlformats.org/drawingml/2006/main">
            <a:srgbClr val="E8503A"/>
          </a:solidFill>
        </p:spPr>
      </p:sp>
      <p:sp>
        <p:nvSpPr>
          <p:cNvPr id="30" name="Text 27">
            <a:extLst xmlns:a="http://schemas.openxmlformats.org/drawingml/2006/main">
              <a:ext uri="{FF2B5EF4-FFF2-40B4-BE49-F238E27FC236}">
                <a16:creationId xmlns:a16="http://schemas.microsoft.com/office/drawing/2014/main" id="{54C28063-67FB-44D5-9885-13E422B1F264}"/>
              </a:ext>
            </a:extLst>
          </p:cNvPr>
          <p:cNvSpPr>
            <a:spLocks xmlns:a="http://schemas.openxmlformats.org/drawingml/2006/main" noGrp="1"/>
          </p:cNvSpPr>
          <p:nvPr/>
        </p:nvSpPr>
        <p:spPr>
          <a:xfrm xmlns:a="http://schemas.openxmlformats.org/drawingml/2006/main">
            <a:off x="4541520" y="4165092"/>
            <a:ext cx="3105912"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E8503A"/>
                </a:solidFill>
                <a:latin typeface="Calibri"/>
                <a:ea typeface="Calibri"/>
                <a:cs typeface="Calibri"/>
              </a:rPr>
              <a:t>HARD RULE</a:t>
            </a:r>
            <a:endParaRPr sz="900"/>
          </a:p>
        </p:txBody>
      </p:sp>
      <p:sp>
        <p:nvSpPr>
          <p:cNvPr id="31" name="Text 28">
            <a:extLst xmlns:a="http://schemas.openxmlformats.org/drawingml/2006/main">
              <a:ext uri="{FF2B5EF4-FFF2-40B4-BE49-F238E27FC236}">
                <a16:creationId xmlns:a16="http://schemas.microsoft.com/office/drawing/2014/main" id="{C1D6B233-8DA6-49CB-AE47-39B9A094BC07}"/>
              </a:ext>
            </a:extLst>
          </p:cNvPr>
          <p:cNvSpPr>
            <a:spLocks xmlns:a="http://schemas.openxmlformats.org/drawingml/2006/main" noGrp="1"/>
          </p:cNvSpPr>
          <p:nvPr/>
        </p:nvSpPr>
        <p:spPr>
          <a:xfrm xmlns:a="http://schemas.openxmlformats.org/drawingml/2006/main">
            <a:off x="4541520" y="4411980"/>
            <a:ext cx="310591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Capstone assembly starts on time</a:t>
            </a:r>
            <a:endParaRPr sz="1250"/>
          </a:p>
        </p:txBody>
      </p:sp>
      <p:sp>
        <p:nvSpPr>
          <p:cNvPr id="32" name="Text 29">
            <a:extLst xmlns:a="http://schemas.openxmlformats.org/drawingml/2006/main">
              <a:ext uri="{FF2B5EF4-FFF2-40B4-BE49-F238E27FC236}">
                <a16:creationId xmlns:a16="http://schemas.microsoft.com/office/drawing/2014/main" id="{EA32ED66-AF4C-475D-90AC-E7C5A87BBC3C}"/>
              </a:ext>
            </a:extLst>
          </p:cNvPr>
          <p:cNvSpPr>
            <a:spLocks xmlns:a="http://schemas.openxmlformats.org/drawingml/2006/main" noGrp="1"/>
          </p:cNvSpPr>
          <p:nvPr/>
        </p:nvSpPr>
        <p:spPr>
          <a:xfrm xmlns:a="http://schemas.openxmlformats.org/drawingml/2006/main">
            <a:off x="4541520" y="4933188"/>
            <a:ext cx="3105912"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Day 3 Hour 4 must start on time; cut discussion, not build time</a:t>
            </a:r>
            <a:endParaRPr sz="980"/>
          </a:p>
        </p:txBody>
      </p:sp>
    </p:spTree>
    <p:extLst>
      <p:ext uri="{BB962C8B-B14F-4D97-AF65-F5344CB8AC3E}">
        <p14:creationId xmlns:p14="http://schemas.microsoft.com/office/powerpoint/2010/main" val="1055564709"/>
      </p:ext>
    </p:extLst>
  </p:cSld>
</p:sld>
</file>

<file path=ppt/slides/slide15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B5388FB-347C-4182-B812-559697E05AA6}"/>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Environment prep: T-minus 1 week</a:t>
            </a:r>
            <a:endParaRPr sz="2600"/>
          </a:p>
        </p:txBody>
      </p:sp>
      <p:sp>
        <p:nvSpPr>
          <p:cNvPr id="3" name="Text 1">
            <a:extLst xmlns:a="http://schemas.openxmlformats.org/drawingml/2006/main">
              <a:ext uri="{FF2B5EF4-FFF2-40B4-BE49-F238E27FC236}">
                <a16:creationId xmlns:a16="http://schemas.microsoft.com/office/drawing/2014/main" id="{2ACEF283-80FC-4CA5-A637-AF51DDAB0DDB}"/>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تجهيز البيئة: قبل أسبوع من التنفيذ</a:t>
            </a:r>
            <a:endParaRPr sz="1300"/>
          </a:p>
        </p:txBody>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3733b733272b40fe"/>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E371FBE8-4045-4A89-9B9F-CC53B6BE2529}"/>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AD467AD6-7B9F-4877-BFD2-5D5C455F50EC}"/>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INSTRUCTOR GUIDE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02396A00-E00F-4D41-8E55-70E49136B01C}"/>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158</a:t>
            </a:r>
            <a:endParaRPr sz="850"/>
          </a:p>
        </p:txBody>
      </p:sp>
      <p:sp>
        <p:nvSpPr>
          <p:cNvPr id="8" name="Text 5">
            <a:extLst xmlns:a="http://schemas.openxmlformats.org/drawingml/2006/main">
              <a:ext uri="{FF2B5EF4-FFF2-40B4-BE49-F238E27FC236}">
                <a16:creationId xmlns:a16="http://schemas.microsoft.com/office/drawing/2014/main" id="{3F2470B5-468C-47E0-BF54-3C7549401824}"/>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058C8BC3-3C69-48A7-8492-5B8C8035E38B}"/>
              </a:ext>
            </a:extLst>
          </p:cNvPr>
          <p:cNvSpPr>
            <a:spLocks xmlns:a="http://schemas.openxmlformats.org/drawingml/2006/main" noGrp="1"/>
          </p:cNvSpPr>
          <p:nvPr/>
        </p:nvSpPr>
        <p:spPr>
          <a:xfrm xmlns:a="http://schemas.openxmlformats.org/drawingml/2006/main">
            <a:off x="1005840" y="14996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Repos and checkpoint tags</a:t>
            </a:r>
            <a:endParaRPr sz="1350"/>
          </a:p>
        </p:txBody>
      </p:sp>
      <p:sp>
        <p:nvSpPr>
          <p:cNvPr id="10" name="Text 7">
            <a:extLst xmlns:a="http://schemas.openxmlformats.org/drawingml/2006/main">
              <a:ext uri="{FF2B5EF4-FFF2-40B4-BE49-F238E27FC236}">
                <a16:creationId xmlns:a16="http://schemas.microsoft.com/office/drawing/2014/main" id="{CE8D6713-878F-40C7-8665-90C283B000AD}"/>
              </a:ext>
            </a:extLst>
          </p:cNvPr>
          <p:cNvSpPr>
            <a:spLocks xmlns:a="http://schemas.openxmlformats.org/drawingml/2006/main" noGrp="1"/>
          </p:cNvSpPr>
          <p:nvPr/>
        </p:nvSpPr>
        <p:spPr>
          <a:xfrm xmlns:a="http://schemas.openxmlformats.org/drawingml/2006/main">
            <a:off x="1005840" y="180136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Fork course org repos; push lab1-start … lab6-start, bad-pr, sim-* branches. Regenerate fraud_xgb_v3.joblib + golden_scores_v3.csv on the pinned sklearn; behavioural suite green.</a:t>
            </a:r>
            <a:endParaRPr sz="1050"/>
          </a:p>
        </p:txBody>
      </p:sp>
      <p:sp>
        <p:nvSpPr>
          <p:cNvPr id="11" name="Text 8">
            <a:extLst xmlns:a="http://schemas.openxmlformats.org/drawingml/2006/main">
              <a:ext uri="{FF2B5EF4-FFF2-40B4-BE49-F238E27FC236}">
                <a16:creationId xmlns:a16="http://schemas.microsoft.com/office/drawing/2014/main" id="{7EF91FC1-A76C-46D7-B2C0-3CFC7880F4CA}"/>
              </a:ext>
            </a:extLst>
          </p:cNvPr>
          <p:cNvSpPr>
            <a:spLocks xmlns:a="http://schemas.openxmlformats.org/drawingml/2006/main" noGrp="1"/>
          </p:cNvSpPr>
          <p:nvPr/>
        </p:nvSpPr>
        <p:spPr>
          <a:xfrm xmlns:a="http://schemas.openxmlformats.org/drawingml/2006/main">
            <a:off x="502920" y="280035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9A003C3A-A4AE-4252-AE40-33D40EE7AC51}"/>
              </a:ext>
            </a:extLst>
          </p:cNvPr>
          <p:cNvSpPr>
            <a:spLocks xmlns:a="http://schemas.openxmlformats.org/drawingml/2006/main" noGrp="1"/>
          </p:cNvSpPr>
          <p:nvPr/>
        </p:nvSpPr>
        <p:spPr>
          <a:xfrm xmlns:a="http://schemas.openxmlformats.org/drawingml/2006/main">
            <a:off x="1005840" y="274548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Dry-run everything</a:t>
            </a:r>
            <a:endParaRPr sz="1350"/>
          </a:p>
        </p:txBody>
      </p:sp>
      <p:sp>
        <p:nvSpPr>
          <p:cNvPr id="13" name="Text 10">
            <a:extLst xmlns:a="http://schemas.openxmlformats.org/drawingml/2006/main">
              <a:ext uri="{FF2B5EF4-FFF2-40B4-BE49-F238E27FC236}">
                <a16:creationId xmlns:a16="http://schemas.microsoft.com/office/drawing/2014/main" id="{7CA3F906-83E9-4B18-B729-B56B333CDE9F}"/>
              </a:ext>
            </a:extLst>
          </p:cNvPr>
          <p:cNvSpPr>
            <a:spLocks xmlns:a="http://schemas.openxmlformats.org/drawingml/2006/main" noGrp="1"/>
          </p:cNvSpPr>
          <p:nvPr/>
        </p:nvSpPr>
        <p:spPr>
          <a:xfrm xmlns:a="http://schemas.openxmlformats.org/drawingml/2006/main">
            <a:off x="1005840" y="304723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All 6 labs end-to-end on a clean machine AND on the Codespaces fallback. Verify GHCR pushes work under the classroom org with a test account.</a:t>
            </a:r>
            <a:endParaRPr sz="1050"/>
          </a:p>
        </p:txBody>
      </p:sp>
      <p:sp>
        <p:nvSpPr>
          <p:cNvPr id="14" name="Text 11">
            <a:extLst xmlns:a="http://schemas.openxmlformats.org/drawingml/2006/main">
              <a:ext uri="{FF2B5EF4-FFF2-40B4-BE49-F238E27FC236}">
                <a16:creationId xmlns:a16="http://schemas.microsoft.com/office/drawing/2014/main" id="{7F0B8405-8ECC-420A-8FEE-DFCCB06A2944}"/>
              </a:ext>
            </a:extLst>
          </p:cNvPr>
          <p:cNvSpPr>
            <a:spLocks xmlns:a="http://schemas.openxmlformats.org/drawingml/2006/main" noGrp="1"/>
          </p:cNvSpPr>
          <p:nvPr/>
        </p:nvSpPr>
        <p:spPr>
          <a:xfrm xmlns:a="http://schemas.openxmlformats.org/drawingml/2006/main">
            <a:off x="502920" y="404622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5B36D49B-BE26-4429-BE26-054B88C39AF6}"/>
              </a:ext>
            </a:extLst>
          </p:cNvPr>
          <p:cNvSpPr>
            <a:spLocks xmlns:a="http://schemas.openxmlformats.org/drawingml/2006/main" noGrp="1"/>
          </p:cNvSpPr>
          <p:nvPr/>
        </p:nvSpPr>
        <p:spPr>
          <a:xfrm xmlns:a="http://schemas.openxmlformats.org/drawingml/2006/main">
            <a:off x="1005840" y="399135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Classroom and network</a:t>
            </a:r>
            <a:endParaRPr sz="1350"/>
          </a:p>
        </p:txBody>
      </p:sp>
      <p:sp>
        <p:nvSpPr>
          <p:cNvPr id="16" name="Text 13">
            <a:extLst xmlns:a="http://schemas.openxmlformats.org/drawingml/2006/main">
              <a:ext uri="{FF2B5EF4-FFF2-40B4-BE49-F238E27FC236}">
                <a16:creationId xmlns:a16="http://schemas.microsoft.com/office/drawing/2014/main" id="{85BA2BFB-87E6-4E62-B224-AB6C31C0BA3D}"/>
              </a:ext>
            </a:extLst>
          </p:cNvPr>
          <p:cNvSpPr>
            <a:spLocks xmlns:a="http://schemas.openxmlformats.org/drawingml/2006/main" noGrp="1"/>
          </p:cNvSpPr>
          <p:nvPr/>
        </p:nvSpPr>
        <p:spPr>
          <a:xfrm xmlns:a="http://schemas.openxmlformats.org/drawingml/2006/main">
            <a:off x="1005840" y="429310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Print the A4 posters; load the malformed corpus + logs_sample.jsonl to the shared drive; confirm access to github.com, ghcr.io, pypi — or pre-pull base images to a local registry.</a:t>
            </a:r>
            <a:endParaRPr sz="1050"/>
          </a:p>
        </p:txBody>
      </p:sp>
      <p:sp>
        <p:nvSpPr>
          <p:cNvPr id="17" name="Text 14">
            <a:extLst xmlns:a="http://schemas.openxmlformats.org/drawingml/2006/main">
              <a:ext uri="{FF2B5EF4-FFF2-40B4-BE49-F238E27FC236}">
                <a16:creationId xmlns:a16="http://schemas.microsoft.com/office/drawing/2014/main" id="{F92150AE-2092-47B8-8CC8-C7EBBD14CB65}"/>
              </a:ext>
            </a:extLst>
          </p:cNvPr>
          <p:cNvSpPr>
            <a:spLocks xmlns:a="http://schemas.openxmlformats.org/drawingml/2006/main" noGrp="1"/>
          </p:cNvSpPr>
          <p:nvPr/>
        </p:nvSpPr>
        <p:spPr>
          <a:xfrm xmlns:a="http://schemas.openxmlformats.org/drawingml/2006/main">
            <a:off x="502920" y="5292090"/>
            <a:ext cx="329184" cy="329184"/>
          </a:xfrm>
          <a:prstGeom xmlns:a="http://schemas.openxmlformats.org/drawingml/2006/main" prst="ellipse">
            <a:avLst/>
          </a:prstGeom>
          <a:solidFill xmlns:a="http://schemas.openxmlformats.org/drawingml/2006/main">
            <a:srgbClr val="8DC63F"/>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4</a:t>
            </a:r>
            <a:endParaRPr sz="1300"/>
          </a:p>
        </p:txBody>
      </p:sp>
      <p:sp>
        <p:nvSpPr>
          <p:cNvPr id="18" name="Text 15">
            <a:extLst xmlns:a="http://schemas.openxmlformats.org/drawingml/2006/main">
              <a:ext uri="{FF2B5EF4-FFF2-40B4-BE49-F238E27FC236}">
                <a16:creationId xmlns:a16="http://schemas.microsoft.com/office/drawing/2014/main" id="{0FFD7900-1AC2-41D3-B12E-FE39D2DA65C0}"/>
              </a:ext>
            </a:extLst>
          </p:cNvPr>
          <p:cNvSpPr>
            <a:spLocks xmlns:a="http://schemas.openxmlformats.org/drawingml/2006/main" noGrp="1"/>
          </p:cNvSpPr>
          <p:nvPr/>
        </p:nvSpPr>
        <p:spPr>
          <a:xfrm xmlns:a="http://schemas.openxmlformats.org/drawingml/2006/main">
            <a:off x="1005840" y="523722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Participants (T-minus 2 days)</a:t>
            </a:r>
            <a:endParaRPr sz="1350"/>
          </a:p>
        </p:txBody>
      </p:sp>
      <p:sp>
        <p:nvSpPr>
          <p:cNvPr id="19" name="Text 16">
            <a:extLst xmlns:a="http://schemas.openxmlformats.org/drawingml/2006/main">
              <a:ext uri="{FF2B5EF4-FFF2-40B4-BE49-F238E27FC236}">
                <a16:creationId xmlns:a16="http://schemas.microsoft.com/office/drawing/2014/main" id="{2BFC6951-258F-4DD7-A5F1-E1E7B4E307B3}"/>
              </a:ext>
            </a:extLst>
          </p:cNvPr>
          <p:cNvSpPr>
            <a:spLocks xmlns:a="http://schemas.openxmlformats.org/drawingml/2006/main" noGrp="1"/>
          </p:cNvSpPr>
          <p:nvPr/>
        </p:nvSpPr>
        <p:spPr>
          <a:xfrm xmlns:a="http://schemas.openxmlformats.org/drawingml/2006/main">
            <a:off x="1005840" y="553897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Install email: Python 3.12, git, Docker Desktop (WSL2) or Colima, VS Code, the pip bundle, hey/jq/gitleaks. Everyone runs make doctor — it prints ✓/✗ per item.</a:t>
            </a:r>
            <a:endParaRPr sz="1050"/>
          </a:p>
        </p:txBody>
      </p:sp>
    </p:spTree>
    <p:extLst>
      <p:ext uri="{BB962C8B-B14F-4D97-AF65-F5344CB8AC3E}">
        <p14:creationId xmlns:p14="http://schemas.microsoft.com/office/powerpoint/2010/main" val="1747066628"/>
      </p:ext>
    </p:extLst>
  </p:cSld>
</p:sld>
</file>

<file path=ppt/slides/slide15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DE5F17D-659E-48CC-9D2F-EC1A655C4B18}"/>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Cohort recovery — preserve learning and the critical path</a:t>
            </a:r>
            <a:endParaRPr sz="2600"/>
          </a:p>
        </p:txBody>
      </p:sp>
      <p:sp>
        <p:nvSpPr>
          <p:cNvPr id="3" name="Text 1">
            <a:extLst xmlns:a="http://schemas.openxmlformats.org/drawingml/2006/main">
              <a:ext uri="{FF2B5EF4-FFF2-40B4-BE49-F238E27FC236}">
                <a16:creationId xmlns:a16="http://schemas.microsoft.com/office/drawing/2014/main" id="{16A3C7C4-974F-4731-AE67-C6A488FEC868}"/>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خطة استعادة تقدم المجموعة — حافظ على التعلّم والإنجاز</a:t>
            </a:r>
            <a:endParaRPr sz="1300"/>
          </a:p>
        </p:txBody>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812b71e9fb6144eb"/>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D60A61EA-B363-4398-BC98-A84121CFAE1F}"/>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BB66A3E8-A99A-4AF4-B699-7DE7040FFBAF}"/>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INSTRUCTOR GUIDE</a:t>
            </a:r>
            <a:r>
              <a:rPr sz="850" b="1" spc="100">
                <a:solidFill>
                  <a:srgbClr val="00A79D"/>
                </a:solidFill>
                <a:latin typeface="Calibri"/>
                <a:ea typeface="Calibri"/>
                <a:cs typeface="Calibri"/>
              </a:rPr>
              <a:t>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7667CF09-35EA-459F-AE5E-228548E764FA}"/>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159</a:t>
            </a:r>
            <a:endParaRPr sz="850"/>
          </a:p>
        </p:txBody>
      </p:sp>
      <p:sp>
        <p:nvSpPr>
          <p:cNvPr id="8" name="Text 5">
            <a:extLst xmlns:a="http://schemas.openxmlformats.org/drawingml/2006/main">
              <a:ext uri="{FF2B5EF4-FFF2-40B4-BE49-F238E27FC236}">
                <a16:creationId xmlns:a16="http://schemas.microsoft.com/office/drawing/2014/main" id="{AD1E06BF-FB27-40AC-9620-6A2C25D75C02}"/>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A85E1220-86F3-4C31-AB2B-F1DE3B7144CB}"/>
              </a:ext>
            </a:extLst>
          </p:cNvPr>
          <p:cNvSpPr>
            <a:spLocks xmlns:a="http://schemas.openxmlformats.org/drawingml/2006/main" noGrp="1"/>
          </p:cNvSpPr>
          <p:nvPr/>
        </p:nvSpPr>
        <p:spPr>
          <a:xfrm xmlns:a="http://schemas.openxmlformats.org/drawingml/2006/main">
            <a:off x="1005840" y="14996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Ten-minute diagnosis limit</a:t>
            </a:r>
            <a:endParaRPr sz="1350"/>
          </a:p>
        </p:txBody>
      </p:sp>
      <p:sp>
        <p:nvSpPr>
          <p:cNvPr id="10" name="Text 7">
            <a:extLst xmlns:a="http://schemas.openxmlformats.org/drawingml/2006/main">
              <a:ext uri="{FF2B5EF4-FFF2-40B4-BE49-F238E27FC236}">
                <a16:creationId xmlns:a16="http://schemas.microsoft.com/office/drawing/2014/main" id="{A82ACBC5-1BFF-4AA9-B0B0-C3F7204F9481}"/>
              </a:ext>
            </a:extLst>
          </p:cNvPr>
          <p:cNvSpPr>
            <a:spLocks xmlns:a="http://schemas.openxmlformats.org/drawingml/2006/main" noGrp="1"/>
          </p:cNvSpPr>
          <p:nvPr/>
        </p:nvSpPr>
        <p:spPr>
          <a:xfrm xmlns:a="http://schemas.openxmlformats.org/drawingml/2006/main">
            <a:off x="1005840" y="180136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Capture evidence, then move to the checkpoint so the next concept remains reachable.</a:t>
            </a:r>
            <a:endParaRPr sz="1050"/>
          </a:p>
        </p:txBody>
      </p:sp>
      <p:sp>
        <p:nvSpPr>
          <p:cNvPr id="11" name="Text 8">
            <a:extLst xmlns:a="http://schemas.openxmlformats.org/drawingml/2006/main">
              <a:ext uri="{FF2B5EF4-FFF2-40B4-BE49-F238E27FC236}">
                <a16:creationId xmlns:a16="http://schemas.microsoft.com/office/drawing/2014/main" id="{6E412656-5263-45AE-82D5-31AA6B396614}"/>
              </a:ext>
            </a:extLst>
          </p:cNvPr>
          <p:cNvSpPr>
            <a:spLocks xmlns:a="http://schemas.openxmlformats.org/drawingml/2006/main" noGrp="1"/>
          </p:cNvSpPr>
          <p:nvPr/>
        </p:nvSpPr>
        <p:spPr>
          <a:xfrm xmlns:a="http://schemas.openxmlformats.org/drawingml/2006/main">
            <a:off x="502920" y="280035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0736F55E-3534-4AC1-B57C-0E7933249618}"/>
              </a:ext>
            </a:extLst>
          </p:cNvPr>
          <p:cNvSpPr>
            <a:spLocks xmlns:a="http://schemas.openxmlformats.org/drawingml/2006/main" noGrp="1"/>
          </p:cNvSpPr>
          <p:nvPr/>
        </p:nvSpPr>
        <p:spPr>
          <a:xfrm xmlns:a="http://schemas.openxmlformats.org/drawingml/2006/main">
            <a:off x="1005840" y="274548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Switch the environment, not the objective</a:t>
            </a:r>
            <a:endParaRPr sz="1350"/>
          </a:p>
        </p:txBody>
      </p:sp>
      <p:sp>
        <p:nvSpPr>
          <p:cNvPr id="13" name="Text 10">
            <a:extLst xmlns:a="http://schemas.openxmlformats.org/drawingml/2006/main">
              <a:ext uri="{FF2B5EF4-FFF2-40B4-BE49-F238E27FC236}">
                <a16:creationId xmlns:a16="http://schemas.microsoft.com/office/drawing/2014/main" id="{F1DBD095-EE3F-4C72-9CC1-5BAF1DF19F2D}"/>
              </a:ext>
            </a:extLst>
          </p:cNvPr>
          <p:cNvSpPr>
            <a:spLocks xmlns:a="http://schemas.openxmlformats.org/drawingml/2006/main" noGrp="1"/>
          </p:cNvSpPr>
          <p:nvPr/>
        </p:nvSpPr>
        <p:spPr>
          <a:xfrm xmlns:a="http://schemas.openxmlformats.org/drawingml/2006/main">
            <a:off x="1005840" y="304723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Use Codespaces or a stronger pair machine when local tooling blocks progress.</a:t>
            </a:r>
            <a:endParaRPr sz="1050"/>
          </a:p>
        </p:txBody>
      </p:sp>
      <p:sp>
        <p:nvSpPr>
          <p:cNvPr id="14" name="Text 11">
            <a:extLst xmlns:a="http://schemas.openxmlformats.org/drawingml/2006/main">
              <a:ext uri="{FF2B5EF4-FFF2-40B4-BE49-F238E27FC236}">
                <a16:creationId xmlns:a16="http://schemas.microsoft.com/office/drawing/2014/main" id="{5E6EAE5C-12C5-47A9-9452-01DF822D6446}"/>
              </a:ext>
            </a:extLst>
          </p:cNvPr>
          <p:cNvSpPr>
            <a:spLocks xmlns:a="http://schemas.openxmlformats.org/drawingml/2006/main" noGrp="1"/>
          </p:cNvSpPr>
          <p:nvPr/>
        </p:nvSpPr>
        <p:spPr>
          <a:xfrm xmlns:a="http://schemas.openxmlformats.org/drawingml/2006/main">
            <a:off x="502920" y="404622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1328E8FC-72BC-4EB6-B1D4-913BBA056ED3}"/>
              </a:ext>
            </a:extLst>
          </p:cNvPr>
          <p:cNvSpPr>
            <a:spLocks xmlns:a="http://schemas.openxmlformats.org/drawingml/2006/main" noGrp="1"/>
          </p:cNvSpPr>
          <p:nvPr/>
        </p:nvSpPr>
        <p:spPr>
          <a:xfrm xmlns:a="http://schemas.openxmlformats.org/drawingml/2006/main">
            <a:off x="1005840" y="399135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Rebalance pair roles</a:t>
            </a:r>
            <a:endParaRPr sz="1350"/>
          </a:p>
        </p:txBody>
      </p:sp>
      <p:sp>
        <p:nvSpPr>
          <p:cNvPr id="16" name="Text 13">
            <a:extLst xmlns:a="http://schemas.openxmlformats.org/drawingml/2006/main">
              <a:ext uri="{FF2B5EF4-FFF2-40B4-BE49-F238E27FC236}">
                <a16:creationId xmlns:a16="http://schemas.microsoft.com/office/drawing/2014/main" id="{3F5D62A0-6DDC-4E90-A328-72310E4B2B4B}"/>
              </a:ext>
            </a:extLst>
          </p:cNvPr>
          <p:cNvSpPr>
            <a:spLocks xmlns:a="http://schemas.openxmlformats.org/drawingml/2006/main" noGrp="1"/>
          </p:cNvSpPr>
          <p:nvPr/>
        </p:nvSpPr>
        <p:spPr>
          <a:xfrm xmlns:a="http://schemas.openxmlformats.org/drawingml/2006/main">
            <a:off x="1005840" y="429310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Match Python and ML strengths; rotate driver and reviewer so support becomes learning.</a:t>
            </a:r>
            <a:endParaRPr sz="1050"/>
          </a:p>
        </p:txBody>
      </p:sp>
      <p:sp>
        <p:nvSpPr>
          <p:cNvPr id="17" name="Text 14">
            <a:extLst xmlns:a="http://schemas.openxmlformats.org/drawingml/2006/main">
              <a:ext uri="{FF2B5EF4-FFF2-40B4-BE49-F238E27FC236}">
                <a16:creationId xmlns:a16="http://schemas.microsoft.com/office/drawing/2014/main" id="{FB07FD8A-01E0-41A0-9EC7-11398930CF87}"/>
              </a:ext>
            </a:extLst>
          </p:cNvPr>
          <p:cNvSpPr>
            <a:spLocks xmlns:a="http://schemas.openxmlformats.org/drawingml/2006/main" noGrp="1"/>
          </p:cNvSpPr>
          <p:nvPr/>
        </p:nvSpPr>
        <p:spPr>
          <a:xfrm xmlns:a="http://schemas.openxmlformats.org/drawingml/2006/main">
            <a:off x="502920" y="5292090"/>
            <a:ext cx="329184" cy="329184"/>
          </a:xfrm>
          <a:prstGeom xmlns:a="http://schemas.openxmlformats.org/drawingml/2006/main" prst="ellipse">
            <a:avLst/>
          </a:prstGeom>
          <a:solidFill xmlns:a="http://schemas.openxmlformats.org/drawingml/2006/main">
            <a:srgbClr val="8DC63F"/>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4</a:t>
            </a:r>
            <a:endParaRPr sz="1300"/>
          </a:p>
        </p:txBody>
      </p:sp>
      <p:sp>
        <p:nvSpPr>
          <p:cNvPr id="18" name="Text 15">
            <a:extLst xmlns:a="http://schemas.openxmlformats.org/drawingml/2006/main">
              <a:ext uri="{FF2B5EF4-FFF2-40B4-BE49-F238E27FC236}">
                <a16:creationId xmlns:a16="http://schemas.microsoft.com/office/drawing/2014/main" id="{AEAF08CC-5E57-4839-B0C5-2220C8377B19}"/>
              </a:ext>
            </a:extLst>
          </p:cNvPr>
          <p:cNvSpPr>
            <a:spLocks xmlns:a="http://schemas.openxmlformats.org/drawingml/2006/main" noGrp="1"/>
          </p:cNvSpPr>
          <p:nvPr/>
        </p:nvSpPr>
        <p:spPr>
          <a:xfrm xmlns:a="http://schemas.openxmlformats.org/drawingml/2006/main">
            <a:off x="1005840" y="523722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Protect the critical path</a:t>
            </a:r>
            <a:endParaRPr sz="1350"/>
          </a:p>
        </p:txBody>
      </p:sp>
      <p:sp>
        <p:nvSpPr>
          <p:cNvPr id="19" name="Text 16">
            <a:extLst xmlns:a="http://schemas.openxmlformats.org/drawingml/2006/main">
              <a:ext uri="{FF2B5EF4-FFF2-40B4-BE49-F238E27FC236}">
                <a16:creationId xmlns:a16="http://schemas.microsoft.com/office/drawing/2014/main" id="{7F216B22-A29B-4D51-8C78-03BE97EBA8C0}"/>
              </a:ext>
            </a:extLst>
          </p:cNvPr>
          <p:cNvSpPr>
            <a:spLocks xmlns:a="http://schemas.openxmlformats.org/drawingml/2006/main" noGrp="1"/>
          </p:cNvSpPr>
          <p:nvPr/>
        </p:nvSpPr>
        <p:spPr>
          <a:xfrm xmlns:a="http://schemas.openxmlformats.org/drawingml/2006/main">
            <a:off x="1005840" y="553897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Keep Labs 3 and 5 intact, compress discussion, and start capstone assembly on time.</a:t>
            </a:r>
            <a:endParaRPr sz="1050"/>
          </a:p>
        </p:txBody>
      </p:sp>
    </p:spTree>
    <p:extLst>
      <p:ext uri="{BB962C8B-B14F-4D97-AF65-F5344CB8AC3E}">
        <p14:creationId xmlns:p14="http://schemas.microsoft.com/office/powerpoint/2010/main" val="975794841"/>
      </p:ext>
    </p:extLst>
  </p:cSld>
</p:sld>
</file>

<file path=ppt/slides/slide16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34C4124-639C-4C75-A8ED-2250D428D901}"/>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Common issues and differentiation</a:t>
            </a:r>
            <a:endParaRPr sz="2600"/>
          </a:p>
        </p:txBody>
      </p:sp>
      <p:sp>
        <p:nvSpPr>
          <p:cNvPr id="3" name="Text 1">
            <a:extLst xmlns:a="http://schemas.openxmlformats.org/drawingml/2006/main">
              <a:ext uri="{FF2B5EF4-FFF2-40B4-BE49-F238E27FC236}">
                <a16:creationId xmlns:a16="http://schemas.microsoft.com/office/drawing/2014/main" id="{C63C171D-DC6F-4C49-B056-1C591F4CA9FC}"/>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المشكلات الشائعة وكيفية التمايز</a:t>
            </a:r>
            <a:endParaRPr sz="1300"/>
          </a:p>
        </p:txBody>
      </p:sp>
      <p:pic>
        <p:nvPicPr>
          <p:cNvPr id="14" name="Image 0"/>
          <p:cNvPicPr>
            <a:picLocks xmlns:a="http://schemas.openxmlformats.org/drawingml/2006/main" noChangeAspect="1"/>
          </p:cNvPicPr>
          <p:nvPr/>
        </p:nvPicPr>
        <p:blipFill>
          <a:blip xmlns:r="http://schemas.openxmlformats.org/officeDocument/2006/relationships" xmlns:a="http://schemas.openxmlformats.org/drawingml/2006/main" r:embed="R4088b822534e4940"/>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53A27D0B-5BC4-4F07-B379-4E3685422529}"/>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C80977DF-7EE6-4D95-9011-96682AFC41B3}"/>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INSTRUCTOR GUIDE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15A35EB6-5476-44DC-B1D9-93420D86E917}"/>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160</a:t>
            </a:r>
            <a:endParaRPr sz="850"/>
          </a:p>
        </p:txBody>
      </p:sp>
      <p:graphicFrame>
        <p:nvGraphicFramePr>
          <p:cNvPr id="18" name="Table 0"/>
          <p:cNvGraphicFramePr/>
          <p:nvPr/>
        </p:nvGraphicFramePr>
        <p:xfrm>
          <a:off xmlns:a="http://schemas.openxmlformats.org/drawingml/2006/main" x="502920" y="1554480"/>
          <a:ext xmlns:a="http://schemas.openxmlformats.org/drawingml/2006/main" cx="11183112" cy="914400"/>
        </p:xfrm>
        <a:graphic xmlns:a="http://schemas.openxmlformats.org/drawingml/2006/main">
          <a:graphicData uri="http://schemas.openxmlformats.org/drawingml/2006/table">
            <a:tbl>
              <a:tblPr/>
              <a:tblGrid>
                <a:gridCol w="3727704"/>
                <a:gridCol w="3727704"/>
                <a:gridCol w="3727704"/>
              </a:tblGrid>
              <a:tr h="384048">
                <a:tc>
                  <a:txBody>
                    <a:bodyPr/>
                    <a:lstStyle/>
                    <a:p>
                      <a:pPr marL="0" indent="0">
                        <a:buNone/>
                      </a:pPr>
                      <a:r>
                        <a:rPr sz="1100" b="1">
                          <a:solidFill>
                            <a:srgbClr val="FFFFFF"/>
                          </a:solidFill>
                          <a:latin typeface="Calibri"/>
                          <a:ea typeface="Calibri"/>
                          <a:cs typeface="Calibri"/>
                        </a:rPr>
                        <a:t>Issue</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c>
                  <a:txBody>
                    <a:bodyPr/>
                    <a:lstStyle/>
                    <a:p>
                      <a:pPr marL="0" indent="0">
                        <a:buNone/>
                      </a:pPr>
                      <a:r>
                        <a:rPr sz="1100" b="1">
                          <a:solidFill>
                            <a:srgbClr val="FFFFFF"/>
                          </a:solidFill>
                          <a:latin typeface="Calibri"/>
                          <a:ea typeface="Calibri"/>
                          <a:cs typeface="Calibri"/>
                        </a:rPr>
                        <a:t>Freq</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c>
                  <a:txBody>
                    <a:bodyPr/>
                    <a:lstStyle/>
                    <a:p>
                      <a:pPr marL="0" indent="0">
                        <a:buNone/>
                      </a:pPr>
                      <a:r>
                        <a:rPr sz="1100" b="1">
                          <a:solidFill>
                            <a:srgbClr val="FFFFFF"/>
                          </a:solidFill>
                          <a:latin typeface="Calibri"/>
                          <a:ea typeface="Calibri"/>
                          <a:cs typeface="Calibri"/>
                        </a:rPr>
                        <a:t>Resolution</a:t>
                      </a:r>
                      <a:endParaRPr sz="110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1D2A5C"/>
                    </a:solidFill>
                  </a:tcPr>
                </a:tc>
              </a:tr>
              <a:tr h="384048">
                <a:tc>
                  <a:txBody>
                    <a:bodyPr/>
                    <a:lstStyle/>
                    <a:p>
                      <a:pPr marL="0" indent="0">
                        <a:buNone/>
                      </a:pPr>
                      <a:r>
                        <a:rPr sz="1050" b="1">
                          <a:solidFill>
                            <a:srgbClr val="1D2A5C"/>
                          </a:solidFill>
                          <a:latin typeface="Calibri"/>
                          <a:ea typeface="Calibri"/>
                          <a:cs typeface="Calibri"/>
                        </a:rPr>
                        <a:t>WSL2/Docker not enabled on Windows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High</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Pre-session email + first-hour floater support; Codespaces fallback</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r>
              <a:tr h="384048">
                <a:tc>
                  <a:txBody>
                    <a:bodyPr/>
                    <a:lstStyle/>
                    <a:p>
                      <a:pPr marL="0" indent="0">
                        <a:buNone/>
                      </a:pPr>
                      <a:r>
                        <a:rPr sz="1050" b="1">
                          <a:solidFill>
                            <a:srgbClr val="1D2A5C"/>
                          </a:solidFill>
                          <a:latin typeface="Calibri"/>
                          <a:ea typeface="Calibri"/>
                          <a:cs typeface="Calibri"/>
                        </a:rPr>
                        <a:t>Apple Silicon vs amd64 images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High</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Teach --platform early in M3; multi-arch stays a bonus topic</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r>
              <a:tr h="384048">
                <a:tc>
                  <a:txBody>
                    <a:bodyPr/>
                    <a:lstStyle/>
                    <a:p>
                      <a:pPr marL="0" indent="0">
                        <a:buNone/>
                      </a:pPr>
                      <a:r>
                        <a:rPr sz="1050" b="1">
                          <a:solidFill>
                            <a:srgbClr val="1D2A5C"/>
                          </a:solidFill>
                          <a:latin typeface="Calibri"/>
                          <a:ea typeface="Calibri"/>
                          <a:cs typeface="Calibri"/>
                        </a:rPr>
                        <a:t>Corporate proxy blocks pip/GHCR</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Med</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Local PyPI mirror + pre-pulled base images; document proxy envs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r>
              <a:tr h="384048">
                <a:tc>
                  <a:txBody>
                    <a:bodyPr/>
                    <a:lstStyle/>
                    <a:p>
                      <a:pPr marL="0" indent="0">
                        <a:buNone/>
                      </a:pPr>
                      <a:r>
                        <a:rPr sz="1050" b="1">
                          <a:solidFill>
                            <a:srgbClr val="1D2A5C"/>
                          </a:solidFill>
                          <a:latin typeface="Calibri"/>
                          <a:ea typeface="Calibri"/>
                          <a:cs typeface="Calibri"/>
                        </a:rPr>
                        <a:t>pytest import errors (src-layout)</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Med</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pip install -e . — the M1 lesson, revisited deliberately</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r>
              <a:tr h="384048">
                <a:tc>
                  <a:txBody>
                    <a:bodyPr/>
                    <a:lstStyle/>
                    <a:p>
                      <a:pPr marL="0" indent="0">
                        <a:buNone/>
                      </a:pPr>
                      <a:r>
                        <a:rPr sz="1050" b="1">
                          <a:solidFill>
                            <a:srgbClr val="1D2A5C"/>
                          </a:solidFill>
                          <a:latin typeface="Calibri"/>
                          <a:ea typeface="Calibri"/>
                          <a:cs typeface="Calibri"/>
                        </a:rPr>
                        <a:t>Goldens broken by mid-course "improvements"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Med</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It's a feature — route to the skew lesson; solution tags rescue</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r>
              <a:tr h="384048">
                <a:tc>
                  <a:txBody>
                    <a:bodyPr/>
                    <a:lstStyle/>
                    <a:p>
                      <a:pPr marL="0" indent="0">
                        <a:buNone/>
                      </a:pPr>
                      <a:r>
                        <a:rPr sz="1050" b="1">
                          <a:solidFill>
                            <a:srgbClr val="1D2A5C"/>
                          </a:solidFill>
                          <a:latin typeface="Calibri"/>
                          <a:ea typeface="Calibri"/>
                          <a:cs typeface="Calibri"/>
                        </a:rPr>
                        <a:t>Fear of Docker/YAML (DS background)</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Med</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c>
                  <a:txBody>
                    <a:bodyPr/>
                    <a:lstStyle/>
                    <a:p>
                      <a:pPr marL="0" indent="0">
                        <a:buNone/>
                      </a:pPr>
                      <a:r>
                        <a:rPr sz="1050">
                          <a:solidFill>
                            <a:srgbClr val="5F6B7A"/>
                          </a:solidFill>
                          <a:latin typeface="Calibri"/>
                          <a:ea typeface="Calibri"/>
                          <a:cs typeface="Calibri"/>
                        </a:rPr>
                        <a:t>Pairing strategy; templates-then-understanding sequencing</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EEF3FB"/>
                    </a:solidFill>
                  </a:tcPr>
                </a:tc>
              </a:tr>
              <a:tr h="384048">
                <a:tc>
                  <a:txBody>
                    <a:bodyPr/>
                    <a:lstStyle/>
                    <a:p>
                      <a:pPr marL="0" indent="0">
                        <a:buNone/>
                      </a:pPr>
                      <a:r>
                        <a:rPr sz="1050" b="1">
                          <a:solidFill>
                            <a:srgbClr val="1D2A5C"/>
                          </a:solidFill>
                          <a:latin typeface="Calibri"/>
                          <a:ea typeface="Calibri"/>
                          <a:cs typeface="Calibri"/>
                        </a:rPr>
                        <a:t>Slow laptops on docker build</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Low</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c>
                  <a:txBody>
                    <a:bodyPr/>
                    <a:lstStyle/>
                    <a:p>
                      <a:pPr marL="0" indent="0">
                        <a:buNone/>
                      </a:pPr>
                      <a:r>
                        <a:rPr sz="1050">
                          <a:solidFill>
                            <a:srgbClr val="5F6B7A"/>
                          </a:solidFill>
                          <a:latin typeface="Calibri"/>
                          <a:ea typeface="Calibri"/>
                          <a:cs typeface="Calibri"/>
                        </a:rPr>
                        <a:t>Buildx cache; pair on the stronger machine; Codespaces</a:t>
                      </a:r>
                      <a:endParaRPr sz="1050">
                        <a:latin typeface="Calibri"/>
                        <a:ea typeface="Calibri"/>
                        <a:cs typeface="Calibri"/>
                      </a:endParaRPr>
                    </a:p>
                  </a:txBody>
                  <a:tcPr marL="73152" marR="73152" marT="73152" marB="73152" anchor="ctr">
                    <a:lnL w="9525" cmpd="sng">
                      <a:solidFill>
                        <a:srgbClr val="D9E4F5"/>
                      </a:solidFill>
                      <a:prstDash val="solid"/>
                    </a:lnL>
                    <a:lnR w="9525" cmpd="sng">
                      <a:solidFill>
                        <a:srgbClr val="D9E4F5"/>
                      </a:solidFill>
                      <a:prstDash val="solid"/>
                    </a:lnR>
                    <a:lnT w="9525" cmpd="sng">
                      <a:solidFill>
                        <a:srgbClr val="D9E4F5"/>
                      </a:solidFill>
                      <a:prstDash val="solid"/>
                    </a:lnT>
                    <a:lnB w="9525" cmpd="sng">
                      <a:solidFill>
                        <a:srgbClr val="D9E4F5"/>
                      </a:solidFill>
                      <a:prstDash val="solid"/>
                    </a:lnB>
                    <a:solidFill>
                      <a:srgbClr val="FFFFFF"/>
                    </a:solidFill>
                  </a:tcPr>
                </a:tc>
              </a:tr>
            </a:tbl>
          </a:graphicData>
        </a:graphic>
      </p:graphicFrame>
      <p:sp>
        <p:nvSpPr>
          <p:cNvPr id="9" name="Text 5">
            <a:extLst xmlns:a="http://schemas.openxmlformats.org/drawingml/2006/main">
              <a:ext uri="{FF2B5EF4-FFF2-40B4-BE49-F238E27FC236}">
                <a16:creationId xmlns:a16="http://schemas.microsoft.com/office/drawing/2014/main" id="{D63BCB39-FBC8-43A1-9003-C17B6908C271}"/>
              </a:ext>
            </a:extLst>
          </p:cNvPr>
          <p:cNvSpPr>
            <a:spLocks xmlns:a="http://schemas.openxmlformats.org/drawingml/2006/main" noGrp="1"/>
          </p:cNvSpPr>
          <p:nvPr/>
        </p:nvSpPr>
        <p:spPr>
          <a:xfrm xmlns:a="http://schemas.openxmlformats.org/drawingml/2006/main">
            <a:off x="502920" y="6035040"/>
            <a:ext cx="11155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5F6B7A"/>
                </a:solidFill>
                <a:latin typeface="Calibri"/>
                <a:ea typeface="Calibri"/>
                <a:cs typeface="Calibri"/>
              </a:rPr>
              <a:t>Early finishers: bonus tasks — multi-arch buildx in CI, sim-skew postmortem, error taxonomy, CI load test</a:t>
            </a:r>
            <a:endParaRPr sz="950"/>
          </a:p>
        </p:txBody>
      </p:sp>
    </p:spTree>
    <p:extLst>
      <p:ext uri="{BB962C8B-B14F-4D97-AF65-F5344CB8AC3E}">
        <p14:creationId xmlns:p14="http://schemas.microsoft.com/office/powerpoint/2010/main" val="1822890868"/>
      </p:ext>
    </p:extLst>
  </p:cSld>
</p:sld>
</file>

<file path=ppt/slides/slide16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0DD3A31-0FBA-46AE-886C-47CB722AA12E}"/>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Where next: the track continues</a:t>
            </a:r>
            <a:endParaRPr sz="2600"/>
          </a:p>
        </p:txBody>
      </p:sp>
      <p:sp>
        <p:nvSpPr>
          <p:cNvPr id="3" name="Text 1">
            <a:extLst xmlns:a="http://schemas.openxmlformats.org/drawingml/2006/main">
              <a:ext uri="{FF2B5EF4-FFF2-40B4-BE49-F238E27FC236}">
                <a16:creationId xmlns:a16="http://schemas.microsoft.com/office/drawing/2014/main" id="{A6491A6F-E676-4C83-B847-96E7AE6B648A}"/>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الوجهة التالية: المسار يتواصل</a:t>
            </a:r>
            <a:endParaRPr sz="1300"/>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b1b602d8e73b45cb"/>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68AE97BD-1892-4F77-A3E8-178D892E8270}"/>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1D4C8C93-839A-499C-B8B2-12660F92226B}"/>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WRAP-UP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0EB58456-A3FC-4F09-A373-37B68C8D28F0}"/>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161</a:t>
            </a:r>
            <a:endParaRPr sz="850"/>
          </a:p>
        </p:txBody>
      </p:sp>
      <p:sp>
        <p:nvSpPr>
          <p:cNvPr id="8" name="Shape 5">
            <a:extLst xmlns:a="http://schemas.openxmlformats.org/drawingml/2006/main">
              <a:ext uri="{FF2B5EF4-FFF2-40B4-BE49-F238E27FC236}">
                <a16:creationId xmlns:a16="http://schemas.microsoft.com/office/drawing/2014/main" id="{BF6555F9-FB1A-4987-AA6A-3102B202588C}"/>
              </a:ext>
            </a:extLst>
          </p:cNvPr>
          <p:cNvSpPr>
            <a:spLocks xmlns:a="http://schemas.openxmlformats.org/drawingml/2006/main" noGrp="1"/>
          </p:cNvSpPr>
          <p:nvPr/>
        </p:nvSpPr>
        <p:spPr>
          <a:xfrm xmlns:a="http://schemas.openxmlformats.org/drawingml/2006/main">
            <a:off x="502920" y="1517904"/>
            <a:ext cx="5454396"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9" name="Shape 6">
            <a:extLst xmlns:a="http://schemas.openxmlformats.org/drawingml/2006/main">
              <a:ext uri="{FF2B5EF4-FFF2-40B4-BE49-F238E27FC236}">
                <a16:creationId xmlns:a16="http://schemas.microsoft.com/office/drawing/2014/main" id="{0D14B387-DA5E-4E8E-A1B0-C28C493195CF}"/>
              </a:ext>
            </a:extLst>
          </p:cNvPr>
          <p:cNvSpPr>
            <a:spLocks xmlns:a="http://schemas.openxmlformats.org/drawingml/2006/main" noGrp="1"/>
          </p:cNvSpPr>
          <p:nvPr/>
        </p:nvSpPr>
        <p:spPr>
          <a:xfrm xmlns:a="http://schemas.openxmlformats.org/drawingml/2006/main">
            <a:off x="502920" y="1517904"/>
            <a:ext cx="82296" cy="2272284"/>
          </a:xfrm>
          <a:prstGeom xmlns:a="http://schemas.openxmlformats.org/drawingml/2006/main" prst="rect">
            <a:avLst/>
          </a:prstGeom>
          <a:solidFill xmlns:a="http://schemas.openxmlformats.org/drawingml/2006/main">
            <a:srgbClr val="00A79D"/>
          </a:solidFill>
        </p:spPr>
      </p:sp>
      <p:sp>
        <p:nvSpPr>
          <p:cNvPr id="10" name="Text 7">
            <a:extLst xmlns:a="http://schemas.openxmlformats.org/drawingml/2006/main">
              <a:ext uri="{FF2B5EF4-FFF2-40B4-BE49-F238E27FC236}">
                <a16:creationId xmlns:a16="http://schemas.microsoft.com/office/drawing/2014/main" id="{44F55AE6-C600-4176-8C4C-B1A6B5AF144C}"/>
              </a:ext>
            </a:extLst>
          </p:cNvPr>
          <p:cNvSpPr>
            <a:spLocks xmlns:a="http://schemas.openxmlformats.org/drawingml/2006/main" noGrp="1"/>
          </p:cNvSpPr>
          <p:nvPr/>
        </p:nvSpPr>
        <p:spPr>
          <a:xfrm xmlns:a="http://schemas.openxmlformats.org/drawingml/2006/main">
            <a:off x="722376" y="1636776"/>
            <a:ext cx="501548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00A79D"/>
                </a:solidFill>
                <a:latin typeface="Calibri"/>
                <a:ea typeface="Calibri"/>
                <a:cs typeface="Calibri"/>
              </a:rPr>
              <a:t>SDA-AIE-211 · MLOPS</a:t>
            </a:r>
            <a:endParaRPr sz="900"/>
          </a:p>
        </p:txBody>
      </p:sp>
      <p:sp>
        <p:nvSpPr>
          <p:cNvPr id="11" name="Text 8">
            <a:extLst xmlns:a="http://schemas.openxmlformats.org/drawingml/2006/main">
              <a:ext uri="{FF2B5EF4-FFF2-40B4-BE49-F238E27FC236}">
                <a16:creationId xmlns:a16="http://schemas.microsoft.com/office/drawing/2014/main" id="{BEAE9A4A-5EA5-423A-BB63-4AACDABF06BE}"/>
              </a:ext>
            </a:extLst>
          </p:cNvPr>
          <p:cNvSpPr>
            <a:spLocks xmlns:a="http://schemas.openxmlformats.org/drawingml/2006/main" noGrp="1"/>
          </p:cNvSpPr>
          <p:nvPr/>
        </p:nvSpPr>
        <p:spPr>
          <a:xfrm xmlns:a="http://schemas.openxmlformats.org/drawingml/2006/main">
            <a:off x="722376" y="1883664"/>
            <a:ext cx="501548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Deploy what you built</a:t>
            </a:r>
            <a:endParaRPr sz="1250"/>
          </a:p>
        </p:txBody>
      </p:sp>
      <p:sp>
        <p:nvSpPr>
          <p:cNvPr id="12" name="Text 9">
            <a:extLst xmlns:a="http://schemas.openxmlformats.org/drawingml/2006/main">
              <a:ext uri="{FF2B5EF4-FFF2-40B4-BE49-F238E27FC236}">
                <a16:creationId xmlns:a16="http://schemas.microsoft.com/office/drawing/2014/main" id="{5540F13A-B523-4FEA-B99C-962D697AF784}"/>
              </a:ext>
            </a:extLst>
          </p:cNvPr>
          <p:cNvSpPr>
            <a:spLocks xmlns:a="http://schemas.openxmlformats.org/drawingml/2006/main" noGrp="1"/>
          </p:cNvSpPr>
          <p:nvPr/>
        </p:nvSpPr>
        <p:spPr>
          <a:xfrm xmlns:a="http://schemas.openxmlformats.org/drawingml/2006/main">
            <a:off x="722376" y="2404872"/>
            <a:ext cx="5015484"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Consumes exactly the GHCR digest produced today — deployment, canary, monitoring. This course is required for the MLOps and production modules.</a:t>
            </a:r>
            <a:endParaRPr sz="980"/>
          </a:p>
        </p:txBody>
      </p:sp>
      <p:sp>
        <p:nvSpPr>
          <p:cNvPr id="13" name="Shape 10">
            <a:extLst xmlns:a="http://schemas.openxmlformats.org/drawingml/2006/main">
              <a:ext uri="{FF2B5EF4-FFF2-40B4-BE49-F238E27FC236}">
                <a16:creationId xmlns:a16="http://schemas.microsoft.com/office/drawing/2014/main" id="{863D0170-D73E-453E-9A01-4B2669284344}"/>
              </a:ext>
            </a:extLst>
          </p:cNvPr>
          <p:cNvSpPr>
            <a:spLocks xmlns:a="http://schemas.openxmlformats.org/drawingml/2006/main" noGrp="1"/>
          </p:cNvSpPr>
          <p:nvPr/>
        </p:nvSpPr>
        <p:spPr>
          <a:xfrm xmlns:a="http://schemas.openxmlformats.org/drawingml/2006/main">
            <a:off x="6231636" y="1517904"/>
            <a:ext cx="5454396"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14" name="Shape 11">
            <a:extLst xmlns:a="http://schemas.openxmlformats.org/drawingml/2006/main">
              <a:ext uri="{FF2B5EF4-FFF2-40B4-BE49-F238E27FC236}">
                <a16:creationId xmlns:a16="http://schemas.microsoft.com/office/drawing/2014/main" id="{25F77BED-B965-4F08-B5AF-FF83CA02CC36}"/>
              </a:ext>
            </a:extLst>
          </p:cNvPr>
          <p:cNvSpPr>
            <a:spLocks xmlns:a="http://schemas.openxmlformats.org/drawingml/2006/main" noGrp="1"/>
          </p:cNvSpPr>
          <p:nvPr/>
        </p:nvSpPr>
        <p:spPr>
          <a:xfrm xmlns:a="http://schemas.openxmlformats.org/drawingml/2006/main">
            <a:off x="6231636" y="1517904"/>
            <a:ext cx="82296" cy="2272284"/>
          </a:xfrm>
          <a:prstGeom xmlns:a="http://schemas.openxmlformats.org/drawingml/2006/main" prst="rect">
            <a:avLst/>
          </a:prstGeom>
          <a:solidFill xmlns:a="http://schemas.openxmlformats.org/drawingml/2006/main">
            <a:srgbClr val="29ABE2"/>
          </a:solidFill>
        </p:spPr>
      </p:sp>
      <p:sp>
        <p:nvSpPr>
          <p:cNvPr id="15" name="Text 12">
            <a:extLst xmlns:a="http://schemas.openxmlformats.org/drawingml/2006/main">
              <a:ext uri="{FF2B5EF4-FFF2-40B4-BE49-F238E27FC236}">
                <a16:creationId xmlns:a16="http://schemas.microsoft.com/office/drawing/2014/main" id="{3B6A83A0-1CD4-445C-9BEF-59FDC8AD61DD}"/>
              </a:ext>
            </a:extLst>
          </p:cNvPr>
          <p:cNvSpPr>
            <a:spLocks xmlns:a="http://schemas.openxmlformats.org/drawingml/2006/main" noGrp="1"/>
          </p:cNvSpPr>
          <p:nvPr/>
        </p:nvSpPr>
        <p:spPr>
          <a:xfrm xmlns:a="http://schemas.openxmlformats.org/drawingml/2006/main">
            <a:off x="6451092" y="1636776"/>
            <a:ext cx="501548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29ABE2"/>
                </a:solidFill>
                <a:latin typeface="Calibri"/>
                <a:ea typeface="Calibri"/>
                <a:cs typeface="Calibri"/>
              </a:rPr>
              <a:t>SDA-AIE-216</a:t>
            </a:r>
            <a:endParaRPr sz="900"/>
          </a:p>
        </p:txBody>
      </p:sp>
      <p:sp>
        <p:nvSpPr>
          <p:cNvPr id="16" name="Text 13">
            <a:extLst xmlns:a="http://schemas.openxmlformats.org/drawingml/2006/main">
              <a:ext uri="{FF2B5EF4-FFF2-40B4-BE49-F238E27FC236}">
                <a16:creationId xmlns:a16="http://schemas.microsoft.com/office/drawing/2014/main" id="{B6C9DBBF-F90C-488E-936B-395E05696527}"/>
              </a:ext>
            </a:extLst>
          </p:cNvPr>
          <p:cNvSpPr>
            <a:spLocks xmlns:a="http://schemas.openxmlformats.org/drawingml/2006/main" noGrp="1"/>
          </p:cNvSpPr>
          <p:nvPr/>
        </p:nvSpPr>
        <p:spPr>
          <a:xfrm xmlns:a="http://schemas.openxmlformats.org/drawingml/2006/main">
            <a:off x="6451092" y="1883664"/>
            <a:ext cx="501548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Observability next</a:t>
            </a:r>
            <a:endParaRPr sz="1250"/>
          </a:p>
        </p:txBody>
      </p:sp>
      <p:sp>
        <p:nvSpPr>
          <p:cNvPr id="17" name="Text 14">
            <a:extLst xmlns:a="http://schemas.openxmlformats.org/drawingml/2006/main">
              <a:ext uri="{FF2B5EF4-FFF2-40B4-BE49-F238E27FC236}">
                <a16:creationId xmlns:a16="http://schemas.microsoft.com/office/drawing/2014/main" id="{B8CCA016-7DCD-4CB2-B12B-5CE709D01C30}"/>
              </a:ext>
            </a:extLst>
          </p:cNvPr>
          <p:cNvSpPr>
            <a:spLocks xmlns:a="http://schemas.openxmlformats.org/drawingml/2006/main" noGrp="1"/>
          </p:cNvSpPr>
          <p:nvPr/>
        </p:nvSpPr>
        <p:spPr>
          <a:xfrm xmlns:a="http://schemas.openxmlformats.org/drawingml/2006/main">
            <a:off x="6451092" y="2404872"/>
            <a:ext cx="5015484"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Builds on the logging and config substrate: structured JSON logs with trace_id and model_version become the raw material for observability.</a:t>
            </a:r>
            <a:endParaRPr sz="980"/>
          </a:p>
        </p:txBody>
      </p:sp>
      <p:sp>
        <p:nvSpPr>
          <p:cNvPr id="18" name="Shape 15">
            <a:extLst xmlns:a="http://schemas.openxmlformats.org/drawingml/2006/main">
              <a:ext uri="{FF2B5EF4-FFF2-40B4-BE49-F238E27FC236}">
                <a16:creationId xmlns:a16="http://schemas.microsoft.com/office/drawing/2014/main" id="{497BC577-2628-4084-8B87-F841EC3C8629}"/>
              </a:ext>
            </a:extLst>
          </p:cNvPr>
          <p:cNvSpPr>
            <a:spLocks xmlns:a="http://schemas.openxmlformats.org/drawingml/2006/main" noGrp="1"/>
          </p:cNvSpPr>
          <p:nvPr/>
        </p:nvSpPr>
        <p:spPr>
          <a:xfrm xmlns:a="http://schemas.openxmlformats.org/drawingml/2006/main">
            <a:off x="502920" y="4046220"/>
            <a:ext cx="5454396"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19" name="Shape 16">
            <a:extLst xmlns:a="http://schemas.openxmlformats.org/drawingml/2006/main">
              <a:ext uri="{FF2B5EF4-FFF2-40B4-BE49-F238E27FC236}">
                <a16:creationId xmlns:a16="http://schemas.microsoft.com/office/drawing/2014/main" id="{FB17816C-C4D5-4046-AC51-CE69F244C2EC}"/>
              </a:ext>
            </a:extLst>
          </p:cNvPr>
          <p:cNvSpPr>
            <a:spLocks xmlns:a="http://schemas.openxmlformats.org/drawingml/2006/main" noGrp="1"/>
          </p:cNvSpPr>
          <p:nvPr/>
        </p:nvSpPr>
        <p:spPr>
          <a:xfrm xmlns:a="http://schemas.openxmlformats.org/drawingml/2006/main">
            <a:off x="502920" y="4046220"/>
            <a:ext cx="82296" cy="2272284"/>
          </a:xfrm>
          <a:prstGeom xmlns:a="http://schemas.openxmlformats.org/drawingml/2006/main" prst="rect">
            <a:avLst/>
          </a:prstGeom>
          <a:solidFill xmlns:a="http://schemas.openxmlformats.org/drawingml/2006/main">
            <a:srgbClr val="F58220"/>
          </a:solidFill>
        </p:spPr>
      </p:sp>
      <p:sp>
        <p:nvSpPr>
          <p:cNvPr id="20" name="Text 17">
            <a:extLst xmlns:a="http://schemas.openxmlformats.org/drawingml/2006/main">
              <a:ext uri="{FF2B5EF4-FFF2-40B4-BE49-F238E27FC236}">
                <a16:creationId xmlns:a16="http://schemas.microsoft.com/office/drawing/2014/main" id="{3B234D8D-93A0-405A-B1DC-FC8F5D13D522}"/>
              </a:ext>
            </a:extLst>
          </p:cNvPr>
          <p:cNvSpPr>
            <a:spLocks xmlns:a="http://schemas.openxmlformats.org/drawingml/2006/main" noGrp="1"/>
          </p:cNvSpPr>
          <p:nvPr/>
        </p:nvSpPr>
        <p:spPr>
          <a:xfrm xmlns:a="http://schemas.openxmlformats.org/drawingml/2006/main">
            <a:off x="722376" y="4165092"/>
            <a:ext cx="501548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F58220"/>
                </a:solidFill>
                <a:latin typeface="Calibri"/>
                <a:ea typeface="Calibri"/>
                <a:cs typeface="Calibri"/>
              </a:rPr>
              <a:t>ENGINEERING BADGE</a:t>
            </a:r>
            <a:endParaRPr sz="900"/>
          </a:p>
        </p:txBody>
      </p:sp>
      <p:sp>
        <p:nvSpPr>
          <p:cNvPr id="21" name="Text 18">
            <a:extLst xmlns:a="http://schemas.openxmlformats.org/drawingml/2006/main">
              <a:ext uri="{FF2B5EF4-FFF2-40B4-BE49-F238E27FC236}">
                <a16:creationId xmlns:a16="http://schemas.microsoft.com/office/drawing/2014/main" id="{18610009-747F-4F43-8D74-7B67941BFAF4}"/>
              </a:ext>
            </a:extLst>
          </p:cNvPr>
          <p:cNvSpPr>
            <a:spLocks xmlns:a="http://schemas.openxmlformats.org/drawingml/2006/main" noGrp="1"/>
          </p:cNvSpPr>
          <p:nvPr/>
        </p:nvSpPr>
        <p:spPr>
          <a:xfrm xmlns:a="http://schemas.openxmlformats.org/drawingml/2006/main">
            <a:off x="722376" y="4411980"/>
            <a:ext cx="501548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What it takes</a:t>
            </a:r>
            <a:endParaRPr sz="1250"/>
          </a:p>
        </p:txBody>
      </p:sp>
      <p:sp>
        <p:nvSpPr>
          <p:cNvPr id="22" name="Text 19">
            <a:extLst xmlns:a="http://schemas.openxmlformats.org/drawingml/2006/main">
              <a:ext uri="{FF2B5EF4-FFF2-40B4-BE49-F238E27FC236}">
                <a16:creationId xmlns:a16="http://schemas.microsoft.com/office/drawing/2014/main" id="{67F10430-A627-4D5F-AC87-6AD32C5CF9FF}"/>
              </a:ext>
            </a:extLst>
          </p:cNvPr>
          <p:cNvSpPr>
            <a:spLocks xmlns:a="http://schemas.openxmlformats.org/drawingml/2006/main" noGrp="1"/>
          </p:cNvSpPr>
          <p:nvPr/>
        </p:nvSpPr>
        <p:spPr>
          <a:xfrm xmlns:a="http://schemas.openxmlformats.org/drawingml/2006/main">
            <a:off x="722376" y="4933188"/>
            <a:ext cx="5015484"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 70 overall AND capstone ≥ 70 AND zero academic-integrity flags. Badge recommendations issued within 5 working days.</a:t>
            </a:r>
            <a:endParaRPr sz="980"/>
          </a:p>
        </p:txBody>
      </p:sp>
      <p:sp>
        <p:nvSpPr>
          <p:cNvPr id="23" name="Shape 20">
            <a:extLst xmlns:a="http://schemas.openxmlformats.org/drawingml/2006/main">
              <a:ext uri="{FF2B5EF4-FFF2-40B4-BE49-F238E27FC236}">
                <a16:creationId xmlns:a16="http://schemas.microsoft.com/office/drawing/2014/main" id="{CFF8DDA1-C976-48B7-987A-5D7BF12C929A}"/>
              </a:ext>
            </a:extLst>
          </p:cNvPr>
          <p:cNvSpPr>
            <a:spLocks xmlns:a="http://schemas.openxmlformats.org/drawingml/2006/main" noGrp="1"/>
          </p:cNvSpPr>
          <p:nvPr/>
        </p:nvSpPr>
        <p:spPr>
          <a:xfrm xmlns:a="http://schemas.openxmlformats.org/drawingml/2006/main">
            <a:off x="6231636" y="4046220"/>
            <a:ext cx="5454396" cy="2272284"/>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a:solidFill>
              <a:srgbClr val="D9E4F5"/>
            </a:solidFill>
            <a:prstDash val="solid"/>
          </a:ln>
        </p:spPr>
      </p:sp>
      <p:sp>
        <p:nvSpPr>
          <p:cNvPr id="24" name="Shape 21">
            <a:extLst xmlns:a="http://schemas.openxmlformats.org/drawingml/2006/main">
              <a:ext uri="{FF2B5EF4-FFF2-40B4-BE49-F238E27FC236}">
                <a16:creationId xmlns:a16="http://schemas.microsoft.com/office/drawing/2014/main" id="{B6C38852-C52D-43C7-9371-2F977A24BB38}"/>
              </a:ext>
            </a:extLst>
          </p:cNvPr>
          <p:cNvSpPr>
            <a:spLocks xmlns:a="http://schemas.openxmlformats.org/drawingml/2006/main" noGrp="1"/>
          </p:cNvSpPr>
          <p:nvPr/>
        </p:nvSpPr>
        <p:spPr>
          <a:xfrm xmlns:a="http://schemas.openxmlformats.org/drawingml/2006/main">
            <a:off x="6231636" y="4046220"/>
            <a:ext cx="82296" cy="2272284"/>
          </a:xfrm>
          <a:prstGeom xmlns:a="http://schemas.openxmlformats.org/drawingml/2006/main" prst="rect">
            <a:avLst/>
          </a:prstGeom>
          <a:solidFill xmlns:a="http://schemas.openxmlformats.org/drawingml/2006/main">
            <a:srgbClr val="8DC63F"/>
          </a:solidFill>
        </p:spPr>
      </p:sp>
      <p:sp>
        <p:nvSpPr>
          <p:cNvPr id="25" name="Text 22">
            <a:extLst xmlns:a="http://schemas.openxmlformats.org/drawingml/2006/main">
              <a:ext uri="{FF2B5EF4-FFF2-40B4-BE49-F238E27FC236}">
                <a16:creationId xmlns:a16="http://schemas.microsoft.com/office/drawing/2014/main" id="{C236A0BB-1959-4597-9891-B7470F914B15}"/>
              </a:ext>
            </a:extLst>
          </p:cNvPr>
          <p:cNvSpPr>
            <a:spLocks xmlns:a="http://schemas.openxmlformats.org/drawingml/2006/main" noGrp="1"/>
          </p:cNvSpPr>
          <p:nvPr/>
        </p:nvSpPr>
        <p:spPr>
          <a:xfrm xmlns:a="http://schemas.openxmlformats.org/drawingml/2006/main">
            <a:off x="6451092" y="4165092"/>
            <a:ext cx="5015484"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spc="200">
                <a:solidFill>
                  <a:srgbClr val="8DC63F"/>
                </a:solidFill>
                <a:latin typeface="Calibri"/>
                <a:ea typeface="Calibri"/>
                <a:cs typeface="Calibri"/>
              </a:rPr>
              <a:t>FINAL 15 MINUTES</a:t>
            </a:r>
            <a:endParaRPr sz="900"/>
          </a:p>
        </p:txBody>
      </p:sp>
      <p:sp>
        <p:nvSpPr>
          <p:cNvPr id="26" name="Text 23">
            <a:extLst xmlns:a="http://schemas.openxmlformats.org/drawingml/2006/main">
              <a:ext uri="{FF2B5EF4-FFF2-40B4-BE49-F238E27FC236}">
                <a16:creationId xmlns:a16="http://schemas.microsoft.com/office/drawing/2014/main" id="{F4D37B16-E503-406D-8064-51778DFE0D2A}"/>
              </a:ext>
            </a:extLst>
          </p:cNvPr>
          <p:cNvSpPr>
            <a:spLocks xmlns:a="http://schemas.openxmlformats.org/drawingml/2006/main" noGrp="1"/>
          </p:cNvSpPr>
          <p:nvPr/>
        </p:nvSpPr>
        <p:spPr>
          <a:xfrm xmlns:a="http://schemas.openxmlformats.org/drawingml/2006/main">
            <a:off x="6451092" y="4411980"/>
            <a:ext cx="501548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D2A5C"/>
                </a:solidFill>
                <a:latin typeface="Calibri"/>
                <a:ea typeface="Calibri"/>
                <a:cs typeface="Calibri"/>
              </a:rPr>
              <a:t>Close the loop</a:t>
            </a:r>
            <a:endParaRPr sz="1250"/>
          </a:p>
        </p:txBody>
      </p:sp>
      <p:sp>
        <p:nvSpPr>
          <p:cNvPr id="27" name="Text 24">
            <a:extLst xmlns:a="http://schemas.openxmlformats.org/drawingml/2006/main">
              <a:ext uri="{FF2B5EF4-FFF2-40B4-BE49-F238E27FC236}">
                <a16:creationId xmlns:a16="http://schemas.microsoft.com/office/drawing/2014/main" id="{36F1163D-26C2-42FA-B995-839DA13AB37C}"/>
              </a:ext>
            </a:extLst>
          </p:cNvPr>
          <p:cNvSpPr>
            <a:spLocks xmlns:a="http://schemas.openxmlformats.org/drawingml/2006/main" noGrp="1"/>
          </p:cNvSpPr>
          <p:nvPr/>
        </p:nvSpPr>
        <p:spPr>
          <a:xfrm xmlns:a="http://schemas.openxmlformats.org/drawingml/2006/main">
            <a:off x="6451092" y="4933188"/>
            <a:ext cx="5015484" cy="126644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80">
                <a:solidFill>
                  <a:srgbClr val="5F6B7A"/>
                </a:solidFill>
                <a:latin typeface="Calibri"/>
                <a:ea typeface="Calibri"/>
                <a:cs typeface="Calibri"/>
              </a:rPr>
              <a:t>Map each mandatory capstone requirement to the module that taught it; collect repo URLs, BENCHMARKS.md and DECISIONS.md before the room leaves.</a:t>
            </a:r>
            <a:endParaRPr sz="980"/>
          </a:p>
        </p:txBody>
      </p:sp>
    </p:spTree>
    <p:extLst>
      <p:ext uri="{BB962C8B-B14F-4D97-AF65-F5344CB8AC3E}">
        <p14:creationId xmlns:p14="http://schemas.microsoft.com/office/powerpoint/2010/main" val="154607131"/>
      </p:ext>
    </p:extLst>
  </p:cSld>
</p:sld>
</file>

<file path=ppt/slides/slide16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DE5F17D-659E-48CC-9D2F-EC1A655C4B18}"/>
              </a:ext>
            </a:extLst>
          </p:cNvPr>
          <p:cNvSpPr>
            <a:spLocks xmlns:a="http://schemas.openxmlformats.org/drawingml/2006/main" noGrp="1"/>
          </p:cNvSpPr>
          <p:nvPr/>
        </p:nvSpPr>
        <p:spPr>
          <a:xfrm xmlns:a="http://schemas.openxmlformats.org/drawingml/2006/main">
            <a:off x="502920" y="274320"/>
            <a:ext cx="9646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600" b="1">
                <a:solidFill>
                  <a:srgbClr val="1D2A5C"/>
                </a:solidFill>
                <a:latin typeface="Calibri"/>
                <a:ea typeface="Calibri"/>
                <a:cs typeface="Calibri"/>
              </a:rPr>
              <a:t>30 / 60 / 90 days — transfer the engineering system to your team</a:t>
            </a:r>
            <a:endParaRPr sz="2600"/>
          </a:p>
        </p:txBody>
      </p:sp>
      <p:sp>
        <p:nvSpPr>
          <p:cNvPr id="3" name="Text 1">
            <a:extLst xmlns:a="http://schemas.openxmlformats.org/drawingml/2006/main">
              <a:ext uri="{FF2B5EF4-FFF2-40B4-BE49-F238E27FC236}">
                <a16:creationId xmlns:a16="http://schemas.microsoft.com/office/drawing/2014/main" id="{16A3C7C4-974F-4731-AE67-C6A488FEC868}"/>
              </a:ext>
            </a:extLst>
          </p:cNvPr>
          <p:cNvSpPr>
            <a:spLocks xmlns:a="http://schemas.openxmlformats.org/drawingml/2006/main" noGrp="1"/>
          </p:cNvSpPr>
          <p:nvPr/>
        </p:nvSpPr>
        <p:spPr>
          <a:xfrm xmlns:a="http://schemas.openxmlformats.org/drawingml/2006/main">
            <a:off x="502920" y="859536"/>
            <a:ext cx="9646920"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00A79D"/>
                </a:solidFill>
                <a:latin typeface="Calibri"/>
                <a:ea typeface="Calibri"/>
                <a:cs typeface="Calibri"/>
              </a:rPr>
              <a:t>خطة 30 / 60 / 90 يومًا — انقل النظام الهندسي إلى فريقك</a:t>
            </a:r>
            <a:endParaRPr sz="1300"/>
          </a:p>
        </p:txBody>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794f77ddfff2477b"/>
          <a:stretch xmlns:a="http://schemas.openxmlformats.org/drawingml/2006/main">
            <a:fillRect l="0" t="0" r="0" b="0"/>
          </a:stretch>
        </p:blipFill>
        <p:spPr>
          <a:xfrm xmlns:a="http://schemas.openxmlformats.org/drawingml/2006/main">
            <a:off x="10625328" y="310896"/>
            <a:ext cx="1078992" cy="2651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D60A61EA-B363-4398-BC98-A84121CFAE1F}"/>
              </a:ext>
            </a:extLst>
          </p:cNvPr>
          <p:cNvSpPr>
            <a:spLocks xmlns:a="http://schemas.openxmlformats.org/drawingml/2006/main" noGrp="1"/>
          </p:cNvSpPr>
          <p:nvPr/>
        </p:nvSpPr>
        <p:spPr>
          <a:xfrm xmlns:a="http://schemas.openxmlformats.org/drawingml/2006/main">
            <a:off x="502920" y="1243584"/>
            <a:ext cx="777240" cy="41148"/>
          </a:xfrm>
          <a:prstGeom xmlns:a="http://schemas.openxmlformats.org/drawingml/2006/main" prst="rect">
            <a:avLst/>
          </a:prstGeom>
          <a:solidFill xmlns:a="http://schemas.openxmlformats.org/drawingml/2006/main">
            <a:srgbClr val="00A79D"/>
          </a:solidFill>
        </p:spPr>
      </p:sp>
      <p:sp>
        <p:nvSpPr>
          <p:cNvPr id="6" name="Text 3">
            <a:extLst xmlns:a="http://schemas.openxmlformats.org/drawingml/2006/main">
              <a:ext uri="{FF2B5EF4-FFF2-40B4-BE49-F238E27FC236}">
                <a16:creationId xmlns:a16="http://schemas.microsoft.com/office/drawing/2014/main" id="{BB66A3E8-A99A-4AF4-B699-7DE7040FFBAF}"/>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WRAP-UP</a:t>
            </a:r>
            <a:r>
              <a:rPr sz="850" b="1" spc="100">
                <a:solidFill>
                  <a:srgbClr val="00A79D"/>
                </a:solidFill>
                <a:latin typeface="Calibri"/>
                <a:ea typeface="Calibri"/>
                <a:cs typeface="Calibri"/>
              </a:rPr>
              <a:t>   </a:t>
            </a:r>
            <a:r>
              <a:rPr sz="850" spc="100">
                <a:solidFill>
                  <a:srgbClr val="8A96A6"/>
                </a:solidFill>
                <a:latin typeface="Calibri"/>
                <a:ea typeface="Calibri"/>
                <a:cs typeface="Calibri"/>
              </a:rPr>
              <a:t>SDA-AIE-113 · Software Engineering Practices for AI Systems</a:t>
            </a:r>
            <a:endParaRPr sz="850"/>
          </a:p>
        </p:txBody>
      </p:sp>
      <p:sp>
        <p:nvSpPr>
          <p:cNvPr id="7" name="Text 4">
            <a:extLst xmlns:a="http://schemas.openxmlformats.org/drawingml/2006/main">
              <a:ext uri="{FF2B5EF4-FFF2-40B4-BE49-F238E27FC236}">
                <a16:creationId xmlns:a16="http://schemas.microsoft.com/office/drawing/2014/main" id="{7667CF09-35EA-459F-AE5E-228548E764FA}"/>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162</a:t>
            </a:r>
            <a:endParaRPr sz="850"/>
          </a:p>
        </p:txBody>
      </p:sp>
      <p:sp>
        <p:nvSpPr>
          <p:cNvPr id="8" name="Text 5">
            <a:extLst xmlns:a="http://schemas.openxmlformats.org/drawingml/2006/main">
              <a:ext uri="{FF2B5EF4-FFF2-40B4-BE49-F238E27FC236}">
                <a16:creationId xmlns:a16="http://schemas.microsoft.com/office/drawing/2014/main" id="{AD1E06BF-FB27-40AC-9620-6A2C25D75C02}"/>
              </a:ext>
            </a:extLst>
          </p:cNvPr>
          <p:cNvSpPr>
            <a:spLocks xmlns:a="http://schemas.openxmlformats.org/drawingml/2006/main" noGrp="1"/>
          </p:cNvSpPr>
          <p:nvPr/>
        </p:nvSpPr>
        <p:spPr>
          <a:xfrm xmlns:a="http://schemas.openxmlformats.org/drawingml/2006/main">
            <a:off x="502920" y="1554480"/>
            <a:ext cx="329184" cy="329184"/>
          </a:xfrm>
          <a:prstGeom xmlns:a="http://schemas.openxmlformats.org/drawingml/2006/main" prst="ellipse">
            <a:avLst/>
          </a:prstGeom>
          <a:solidFill xmlns:a="http://schemas.openxmlformats.org/drawingml/2006/main">
            <a:srgbClr val="00A79D"/>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A85E1220-86F3-4C31-AB2B-F1DE3B7144CB}"/>
              </a:ext>
            </a:extLst>
          </p:cNvPr>
          <p:cNvSpPr>
            <a:spLocks xmlns:a="http://schemas.openxmlformats.org/drawingml/2006/main" noGrp="1"/>
          </p:cNvSpPr>
          <p:nvPr/>
        </p:nvSpPr>
        <p:spPr>
          <a:xfrm xmlns:a="http://schemas.openxmlformats.org/drawingml/2006/main">
            <a:off x="1005840" y="149961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30 days — audit one service</a:t>
            </a:r>
            <a:endParaRPr sz="1350"/>
          </a:p>
        </p:txBody>
      </p:sp>
      <p:sp>
        <p:nvSpPr>
          <p:cNvPr id="10" name="Text 7">
            <a:extLst xmlns:a="http://schemas.openxmlformats.org/drawingml/2006/main">
              <a:ext uri="{FF2B5EF4-FFF2-40B4-BE49-F238E27FC236}">
                <a16:creationId xmlns:a16="http://schemas.microsoft.com/office/drawing/2014/main" id="{A82ACBC5-1BFF-4AA9-B0B0-C3F7204F9481}"/>
              </a:ext>
            </a:extLst>
          </p:cNvPr>
          <p:cNvSpPr>
            <a:spLocks xmlns:a="http://schemas.openxmlformats.org/drawingml/2006/main" noGrp="1"/>
          </p:cNvSpPr>
          <p:nvPr/>
        </p:nvSpPr>
        <p:spPr>
          <a:xfrm xmlns:a="http://schemas.openxmlformats.org/drawingml/2006/main">
            <a:off x="1005840" y="180136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Map boundaries, contracts, tests, image, pipeline, config, secrets, logs, and evidence gaps.</a:t>
            </a:r>
            <a:endParaRPr sz="1050"/>
          </a:p>
        </p:txBody>
      </p:sp>
      <p:sp>
        <p:nvSpPr>
          <p:cNvPr id="11" name="Text 8">
            <a:extLst xmlns:a="http://schemas.openxmlformats.org/drawingml/2006/main">
              <a:ext uri="{FF2B5EF4-FFF2-40B4-BE49-F238E27FC236}">
                <a16:creationId xmlns:a16="http://schemas.microsoft.com/office/drawing/2014/main" id="{6E412656-5263-45AE-82D5-31AA6B396614}"/>
              </a:ext>
            </a:extLst>
          </p:cNvPr>
          <p:cNvSpPr>
            <a:spLocks xmlns:a="http://schemas.openxmlformats.org/drawingml/2006/main" noGrp="1"/>
          </p:cNvSpPr>
          <p:nvPr/>
        </p:nvSpPr>
        <p:spPr>
          <a:xfrm xmlns:a="http://schemas.openxmlformats.org/drawingml/2006/main">
            <a:off x="502920" y="2800350"/>
            <a:ext cx="329184" cy="329184"/>
          </a:xfrm>
          <a:prstGeom xmlns:a="http://schemas.openxmlformats.org/drawingml/2006/main" prst="ellipse">
            <a:avLst/>
          </a:prstGeom>
          <a:solidFill xmlns:a="http://schemas.openxmlformats.org/drawingml/2006/main">
            <a:srgbClr val="29ABE2"/>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2" name="Text 9">
            <a:extLst xmlns:a="http://schemas.openxmlformats.org/drawingml/2006/main">
              <a:ext uri="{FF2B5EF4-FFF2-40B4-BE49-F238E27FC236}">
                <a16:creationId xmlns:a16="http://schemas.microsoft.com/office/drawing/2014/main" id="{0736F55E-3534-4AC1-B57C-0E7933249618}"/>
              </a:ext>
            </a:extLst>
          </p:cNvPr>
          <p:cNvSpPr>
            <a:spLocks xmlns:a="http://schemas.openxmlformats.org/drawingml/2006/main" noGrp="1"/>
          </p:cNvSpPr>
          <p:nvPr/>
        </p:nvSpPr>
        <p:spPr>
          <a:xfrm xmlns:a="http://schemas.openxmlformats.org/drawingml/2006/main">
            <a:off x="1005840" y="274548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60 days — enforce the definition of done</a:t>
            </a:r>
            <a:endParaRPr sz="1350"/>
          </a:p>
        </p:txBody>
      </p:sp>
      <p:sp>
        <p:nvSpPr>
          <p:cNvPr id="13" name="Text 10">
            <a:extLst xmlns:a="http://schemas.openxmlformats.org/drawingml/2006/main">
              <a:ext uri="{FF2B5EF4-FFF2-40B4-BE49-F238E27FC236}">
                <a16:creationId xmlns:a16="http://schemas.microsoft.com/office/drawing/2014/main" id="{F1DBD095-EE3F-4C72-9CC1-5BAF1DF19F2D}"/>
              </a:ext>
            </a:extLst>
          </p:cNvPr>
          <p:cNvSpPr>
            <a:spLocks xmlns:a="http://schemas.openxmlformats.org/drawingml/2006/main" noGrp="1"/>
          </p:cNvSpPr>
          <p:nvPr/>
        </p:nvSpPr>
        <p:spPr>
          <a:xfrm xmlns:a="http://schemas.openxmlformats.org/drawingml/2006/main">
            <a:off x="1005840" y="304723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Add fast gates, branch protection, smoke tests, and an owned exception process.</a:t>
            </a:r>
            <a:endParaRPr sz="1050"/>
          </a:p>
        </p:txBody>
      </p:sp>
      <p:sp>
        <p:nvSpPr>
          <p:cNvPr id="14" name="Text 11">
            <a:extLst xmlns:a="http://schemas.openxmlformats.org/drawingml/2006/main">
              <a:ext uri="{FF2B5EF4-FFF2-40B4-BE49-F238E27FC236}">
                <a16:creationId xmlns:a16="http://schemas.microsoft.com/office/drawing/2014/main" id="{5E6EAE5C-12C5-47A9-9452-01DF822D6446}"/>
              </a:ext>
            </a:extLst>
          </p:cNvPr>
          <p:cNvSpPr>
            <a:spLocks xmlns:a="http://schemas.openxmlformats.org/drawingml/2006/main" noGrp="1"/>
          </p:cNvSpPr>
          <p:nvPr/>
        </p:nvSpPr>
        <p:spPr>
          <a:xfrm xmlns:a="http://schemas.openxmlformats.org/drawingml/2006/main">
            <a:off x="502920" y="4046220"/>
            <a:ext cx="329184" cy="329184"/>
          </a:xfrm>
          <a:prstGeom xmlns:a="http://schemas.openxmlformats.org/drawingml/2006/main" prst="ellipse">
            <a:avLst/>
          </a:prstGeom>
          <a:solidFill xmlns:a="http://schemas.openxmlformats.org/drawingml/2006/main">
            <a:srgbClr val="F58220"/>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5" name="Text 12">
            <a:extLst xmlns:a="http://schemas.openxmlformats.org/drawingml/2006/main">
              <a:ext uri="{FF2B5EF4-FFF2-40B4-BE49-F238E27FC236}">
                <a16:creationId xmlns:a16="http://schemas.microsoft.com/office/drawing/2014/main" id="{1328E8FC-72BC-4EB6-B1D4-913BBA056ED3}"/>
              </a:ext>
            </a:extLst>
          </p:cNvPr>
          <p:cNvSpPr>
            <a:spLocks xmlns:a="http://schemas.openxmlformats.org/drawingml/2006/main" noGrp="1"/>
          </p:cNvSpPr>
          <p:nvPr/>
        </p:nvSpPr>
        <p:spPr>
          <a:xfrm xmlns:a="http://schemas.openxmlformats.org/drawingml/2006/main">
            <a:off x="1005840" y="399135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90 days — ship and measure</a:t>
            </a:r>
            <a:endParaRPr sz="1350"/>
          </a:p>
        </p:txBody>
      </p:sp>
      <p:sp>
        <p:nvSpPr>
          <p:cNvPr id="16" name="Text 13">
            <a:extLst xmlns:a="http://schemas.openxmlformats.org/drawingml/2006/main">
              <a:ext uri="{FF2B5EF4-FFF2-40B4-BE49-F238E27FC236}">
                <a16:creationId xmlns:a16="http://schemas.microsoft.com/office/drawing/2014/main" id="{3F5D62A0-6DDC-4E90-A328-72310E4B2B4B}"/>
              </a:ext>
            </a:extLst>
          </p:cNvPr>
          <p:cNvSpPr>
            <a:spLocks xmlns:a="http://schemas.openxmlformats.org/drawingml/2006/main" noGrp="1"/>
          </p:cNvSpPr>
          <p:nvPr/>
        </p:nvSpPr>
        <p:spPr>
          <a:xfrm xmlns:a="http://schemas.openxmlformats.org/drawingml/2006/main">
            <a:off x="1005840" y="429310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Release a digest-pinned service; track latency, failure rate, change lead time, and recovery.</a:t>
            </a:r>
            <a:endParaRPr sz="1050"/>
          </a:p>
        </p:txBody>
      </p:sp>
      <p:sp>
        <p:nvSpPr>
          <p:cNvPr id="17" name="Text 14">
            <a:extLst xmlns:a="http://schemas.openxmlformats.org/drawingml/2006/main">
              <a:ext uri="{FF2B5EF4-FFF2-40B4-BE49-F238E27FC236}">
                <a16:creationId xmlns:a16="http://schemas.microsoft.com/office/drawing/2014/main" id="{FB07FD8A-01E0-41A0-9EC7-11398930CF87}"/>
              </a:ext>
            </a:extLst>
          </p:cNvPr>
          <p:cNvSpPr>
            <a:spLocks xmlns:a="http://schemas.openxmlformats.org/drawingml/2006/main" noGrp="1"/>
          </p:cNvSpPr>
          <p:nvPr/>
        </p:nvSpPr>
        <p:spPr>
          <a:xfrm xmlns:a="http://schemas.openxmlformats.org/drawingml/2006/main">
            <a:off x="502920" y="5292090"/>
            <a:ext cx="329184" cy="329184"/>
          </a:xfrm>
          <a:prstGeom xmlns:a="http://schemas.openxmlformats.org/drawingml/2006/main" prst="ellipse">
            <a:avLst/>
          </a:prstGeom>
          <a:solidFill xmlns:a="http://schemas.openxmlformats.org/drawingml/2006/main">
            <a:srgbClr val="8DC63F"/>
          </a:solidFill>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4</a:t>
            </a:r>
            <a:endParaRPr sz="1300"/>
          </a:p>
        </p:txBody>
      </p:sp>
      <p:sp>
        <p:nvSpPr>
          <p:cNvPr id="18" name="Text 15">
            <a:extLst xmlns:a="http://schemas.openxmlformats.org/drawingml/2006/main">
              <a:ext uri="{FF2B5EF4-FFF2-40B4-BE49-F238E27FC236}">
                <a16:creationId xmlns:a16="http://schemas.microsoft.com/office/drawing/2014/main" id="{AEAF08CC-5E57-4839-B0C5-2220C8377B19}"/>
              </a:ext>
            </a:extLst>
          </p:cNvPr>
          <p:cNvSpPr>
            <a:spLocks xmlns:a="http://schemas.openxmlformats.org/drawingml/2006/main" noGrp="1"/>
          </p:cNvSpPr>
          <p:nvPr/>
        </p:nvSpPr>
        <p:spPr>
          <a:xfrm xmlns:a="http://schemas.openxmlformats.org/drawingml/2006/main">
            <a:off x="1005840" y="5237226"/>
            <a:ext cx="10680192"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D2A5C"/>
                </a:solidFill>
                <a:latin typeface="Calibri"/>
                <a:ea typeface="Calibri"/>
                <a:cs typeface="Calibri"/>
              </a:rPr>
              <a:t>Continue the track</a:t>
            </a:r>
            <a:endParaRPr sz="1350"/>
          </a:p>
        </p:txBody>
      </p:sp>
      <p:sp>
        <p:nvSpPr>
          <p:cNvPr id="19" name="Text 16">
            <a:extLst xmlns:a="http://schemas.openxmlformats.org/drawingml/2006/main">
              <a:ext uri="{FF2B5EF4-FFF2-40B4-BE49-F238E27FC236}">
                <a16:creationId xmlns:a16="http://schemas.microsoft.com/office/drawing/2014/main" id="{7F216B22-A29B-4D51-8C78-03BE97EBA8C0}"/>
              </a:ext>
            </a:extLst>
          </p:cNvPr>
          <p:cNvSpPr>
            <a:spLocks xmlns:a="http://schemas.openxmlformats.org/drawingml/2006/main" noGrp="1"/>
          </p:cNvSpPr>
          <p:nvPr/>
        </p:nvSpPr>
        <p:spPr>
          <a:xfrm xmlns:a="http://schemas.openxmlformats.org/drawingml/2006/main">
            <a:off x="1005840" y="5538978"/>
            <a:ext cx="10680192" cy="82524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5F6B7A"/>
                </a:solidFill>
                <a:latin typeface="Calibri"/>
                <a:ea typeface="Calibri"/>
                <a:cs typeface="Calibri"/>
              </a:rPr>
              <a:t>Carry today’s digest into SDA-AIE-211 and the logging/config substrate into SDA-AIE-216.</a:t>
            </a:r>
            <a:endParaRPr sz="1050"/>
          </a:p>
        </p:txBody>
      </p:sp>
    </p:spTree>
    <p:extLst>
      <p:ext uri="{BB962C8B-B14F-4D97-AF65-F5344CB8AC3E}">
        <p14:creationId xmlns:p14="http://schemas.microsoft.com/office/powerpoint/2010/main" val="975794841"/>
      </p:ext>
    </p:extLst>
  </p:cSld>
</p:sld>
</file>

<file path=ppt/slides/slide1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F2A1171-0138-4186-AA06-09AFBEE66694}"/>
              </a:ext>
            </a:extLst>
          </p:cNvPr>
          <p:cNvSpPr>
            <a:spLocks xmlns:a="http://schemas.openxmlformats.org/drawingml/2006/main" noGrp="1"/>
          </p:cNvSpPr>
          <p:nvPr/>
        </p:nvSpPr>
        <p:spPr>
          <a:xfrm xmlns:a="http://schemas.openxmlformats.org/drawingml/2006/main" rot="5400000" flipH="1">
            <a:off x="9692640" y="1124712"/>
            <a:ext cx="329184" cy="288036"/>
          </a:xfrm>
          <a:prstGeom xmlns:a="http://schemas.openxmlformats.org/drawingml/2006/main" prst="triangle">
            <a:avLst/>
          </a:prstGeom>
          <a:solidFill xmlns:a="http://schemas.openxmlformats.org/drawingml/2006/main">
            <a:srgbClr val="00A79D"/>
          </a:solidFill>
        </p:spPr>
      </p:sp>
      <p:sp>
        <p:nvSpPr>
          <p:cNvPr id="3" name="Shape 1">
            <a:extLst xmlns:a="http://schemas.openxmlformats.org/drawingml/2006/main">
              <a:ext uri="{FF2B5EF4-FFF2-40B4-BE49-F238E27FC236}">
                <a16:creationId xmlns:a16="http://schemas.microsoft.com/office/drawing/2014/main" id="{C722BC05-14A5-4346-8696-9B528DC1FA64}"/>
              </a:ext>
            </a:extLst>
          </p:cNvPr>
          <p:cNvSpPr>
            <a:spLocks xmlns:a="http://schemas.openxmlformats.org/drawingml/2006/main" noGrp="1"/>
          </p:cNvSpPr>
          <p:nvPr/>
        </p:nvSpPr>
        <p:spPr>
          <a:xfrm xmlns:a="http://schemas.openxmlformats.org/drawingml/2006/main" rot="5400000">
            <a:off x="10041575" y="836676"/>
            <a:ext cx="329184" cy="288036"/>
          </a:xfrm>
          <a:prstGeom xmlns:a="http://schemas.openxmlformats.org/drawingml/2006/main" prst="triangle">
            <a:avLst/>
          </a:prstGeom>
          <a:solidFill xmlns:a="http://schemas.openxmlformats.org/drawingml/2006/main">
            <a:srgbClr val="29ABE2"/>
          </a:solidFill>
        </p:spPr>
      </p:sp>
      <p:sp>
        <p:nvSpPr>
          <p:cNvPr id="4" name="Shape 2">
            <a:extLst xmlns:a="http://schemas.openxmlformats.org/drawingml/2006/main">
              <a:ext uri="{FF2B5EF4-FFF2-40B4-BE49-F238E27FC236}">
                <a16:creationId xmlns:a16="http://schemas.microsoft.com/office/drawing/2014/main" id="{9B347986-E74B-49A4-BDC9-734BFD9B0890}"/>
              </a:ext>
            </a:extLst>
          </p:cNvPr>
          <p:cNvSpPr>
            <a:spLocks xmlns:a="http://schemas.openxmlformats.org/drawingml/2006/main" noGrp="1"/>
          </p:cNvSpPr>
          <p:nvPr/>
        </p:nvSpPr>
        <p:spPr>
          <a:xfrm xmlns:a="http://schemas.openxmlformats.org/drawingml/2006/main" rot="5400000">
            <a:off x="10041575" y="1412748"/>
            <a:ext cx="329184" cy="288036"/>
          </a:xfrm>
          <a:prstGeom xmlns:a="http://schemas.openxmlformats.org/drawingml/2006/main" prst="triangle">
            <a:avLst/>
          </a:prstGeom>
          <a:solidFill xmlns:a="http://schemas.openxmlformats.org/drawingml/2006/main">
            <a:srgbClr val="F58220"/>
          </a:solidFill>
        </p:spPr>
      </p:sp>
      <p:sp>
        <p:nvSpPr>
          <p:cNvPr id="5" name="Shape 3">
            <a:extLst xmlns:a="http://schemas.openxmlformats.org/drawingml/2006/main">
              <a:ext uri="{FF2B5EF4-FFF2-40B4-BE49-F238E27FC236}">
                <a16:creationId xmlns:a16="http://schemas.microsoft.com/office/drawing/2014/main" id="{372BE9E0-4278-4ED1-A5B3-4F064AB9D27A}"/>
              </a:ext>
            </a:extLst>
          </p:cNvPr>
          <p:cNvSpPr>
            <a:spLocks xmlns:a="http://schemas.openxmlformats.org/drawingml/2006/main" noGrp="1"/>
          </p:cNvSpPr>
          <p:nvPr/>
        </p:nvSpPr>
        <p:spPr>
          <a:xfrm xmlns:a="http://schemas.openxmlformats.org/drawingml/2006/main" rot="5400000" flipH="1">
            <a:off x="10390510" y="548640"/>
            <a:ext cx="329184" cy="288036"/>
          </a:xfrm>
          <a:prstGeom xmlns:a="http://schemas.openxmlformats.org/drawingml/2006/main" prst="triangle">
            <a:avLst/>
          </a:prstGeom>
          <a:solidFill xmlns:a="http://schemas.openxmlformats.org/drawingml/2006/main">
            <a:srgbClr val="8DC63F"/>
          </a:solidFill>
        </p:spPr>
      </p:sp>
      <p:sp>
        <p:nvSpPr>
          <p:cNvPr id="6" name="Shape 4">
            <a:extLst xmlns:a="http://schemas.openxmlformats.org/drawingml/2006/main">
              <a:ext uri="{FF2B5EF4-FFF2-40B4-BE49-F238E27FC236}">
                <a16:creationId xmlns:a16="http://schemas.microsoft.com/office/drawing/2014/main" id="{22E38C42-3969-498F-9CBD-CE0C84223400}"/>
              </a:ext>
            </a:extLst>
          </p:cNvPr>
          <p:cNvSpPr>
            <a:spLocks xmlns:a="http://schemas.openxmlformats.org/drawingml/2006/main" noGrp="1"/>
          </p:cNvSpPr>
          <p:nvPr/>
        </p:nvSpPr>
        <p:spPr>
          <a:xfrm xmlns:a="http://schemas.openxmlformats.org/drawingml/2006/main" rot="5400000">
            <a:off x="10390510" y="1124712"/>
            <a:ext cx="329184" cy="288036"/>
          </a:xfrm>
          <a:prstGeom xmlns:a="http://schemas.openxmlformats.org/drawingml/2006/main" prst="triangle">
            <a:avLst/>
          </a:prstGeom>
          <a:solidFill xmlns:a="http://schemas.openxmlformats.org/drawingml/2006/main">
            <a:srgbClr val="B9C8E8"/>
          </a:solidFill>
        </p:spPr>
      </p:sp>
      <p:sp>
        <p:nvSpPr>
          <p:cNvPr id="7" name="Shape 5">
            <a:extLst xmlns:a="http://schemas.openxmlformats.org/drawingml/2006/main">
              <a:ext uri="{FF2B5EF4-FFF2-40B4-BE49-F238E27FC236}">
                <a16:creationId xmlns:a16="http://schemas.microsoft.com/office/drawing/2014/main" id="{1AB0EC6D-6416-417A-B320-E6E068DA713D}"/>
              </a:ext>
            </a:extLst>
          </p:cNvPr>
          <p:cNvSpPr>
            <a:spLocks xmlns:a="http://schemas.openxmlformats.org/drawingml/2006/main" noGrp="1"/>
          </p:cNvSpPr>
          <p:nvPr/>
        </p:nvSpPr>
        <p:spPr>
          <a:xfrm xmlns:a="http://schemas.openxmlformats.org/drawingml/2006/main" rot="5400000">
            <a:off x="10739445" y="836676"/>
            <a:ext cx="329184" cy="288036"/>
          </a:xfrm>
          <a:prstGeom xmlns:a="http://schemas.openxmlformats.org/drawingml/2006/main" prst="triangle">
            <a:avLst/>
          </a:prstGeom>
          <a:solidFill xmlns:a="http://schemas.openxmlformats.org/drawingml/2006/main">
            <a:srgbClr val="00A79D"/>
          </a:solidFill>
        </p:spPr>
      </p:sp>
      <p:sp>
        <p:nvSpPr>
          <p:cNvPr id="8" name="Shape 6">
            <a:extLst xmlns:a="http://schemas.openxmlformats.org/drawingml/2006/main">
              <a:ext uri="{FF2B5EF4-FFF2-40B4-BE49-F238E27FC236}">
                <a16:creationId xmlns:a16="http://schemas.microsoft.com/office/drawing/2014/main" id="{69397FB0-EF2B-41D0-99C7-7C88A48D012C}"/>
              </a:ext>
            </a:extLst>
          </p:cNvPr>
          <p:cNvSpPr>
            <a:spLocks xmlns:a="http://schemas.openxmlformats.org/drawingml/2006/main" noGrp="1"/>
          </p:cNvSpPr>
          <p:nvPr/>
        </p:nvSpPr>
        <p:spPr>
          <a:xfrm xmlns:a="http://schemas.openxmlformats.org/drawingml/2006/main" rot="5400000" flipH="1">
            <a:off x="10739445" y="1412748"/>
            <a:ext cx="329184" cy="288036"/>
          </a:xfrm>
          <a:prstGeom xmlns:a="http://schemas.openxmlformats.org/drawingml/2006/main" prst="triangle">
            <a:avLst/>
          </a:prstGeom>
          <a:solidFill xmlns:a="http://schemas.openxmlformats.org/drawingml/2006/main">
            <a:srgbClr val="29ABE2"/>
          </a:solidFill>
        </p:spPr>
      </p:sp>
      <p:sp>
        <p:nvSpPr>
          <p:cNvPr id="9" name="Shape 7">
            <a:extLst xmlns:a="http://schemas.openxmlformats.org/drawingml/2006/main">
              <a:ext uri="{FF2B5EF4-FFF2-40B4-BE49-F238E27FC236}">
                <a16:creationId xmlns:a16="http://schemas.microsoft.com/office/drawing/2014/main" id="{7503091E-49C4-4239-9470-012CBFE23DA4}"/>
              </a:ext>
            </a:extLst>
          </p:cNvPr>
          <p:cNvSpPr>
            <a:spLocks xmlns:a="http://schemas.openxmlformats.org/drawingml/2006/main" noGrp="1"/>
          </p:cNvSpPr>
          <p:nvPr/>
        </p:nvSpPr>
        <p:spPr>
          <a:xfrm xmlns:a="http://schemas.openxmlformats.org/drawingml/2006/main" rot="5400000">
            <a:off x="11088380" y="1124712"/>
            <a:ext cx="329184" cy="288036"/>
          </a:xfrm>
          <a:prstGeom xmlns:a="http://schemas.openxmlformats.org/drawingml/2006/main" prst="triangle">
            <a:avLst/>
          </a:prstGeom>
          <a:solidFill xmlns:a="http://schemas.openxmlformats.org/drawingml/2006/main">
            <a:srgbClr val="F58220"/>
          </a:solidFill>
        </p:spPr>
      </p:sp>
      <p:sp>
        <p:nvSpPr>
          <p:cNvPr id="10" name="Shape 8">
            <a:extLst xmlns:a="http://schemas.openxmlformats.org/drawingml/2006/main">
              <a:ext uri="{FF2B5EF4-FFF2-40B4-BE49-F238E27FC236}">
                <a16:creationId xmlns:a16="http://schemas.microsoft.com/office/drawing/2014/main" id="{0734B566-879F-482E-BFCE-BDBA56D3DED8}"/>
              </a:ext>
            </a:extLst>
          </p:cNvPr>
          <p:cNvSpPr>
            <a:spLocks xmlns:a="http://schemas.openxmlformats.org/drawingml/2006/main" noGrp="1"/>
          </p:cNvSpPr>
          <p:nvPr/>
        </p:nvSpPr>
        <p:spPr>
          <a:xfrm xmlns:a="http://schemas.openxmlformats.org/drawingml/2006/main" rot="5400000" flipH="1">
            <a:off x="640080" y="5875020"/>
            <a:ext cx="274320" cy="240030"/>
          </a:xfrm>
          <a:prstGeom xmlns:a="http://schemas.openxmlformats.org/drawingml/2006/main" prst="triangle">
            <a:avLst/>
          </a:prstGeom>
          <a:solidFill xmlns:a="http://schemas.openxmlformats.org/drawingml/2006/main">
            <a:srgbClr val="B9C8E8"/>
          </a:solidFill>
        </p:spPr>
      </p:sp>
      <p:sp>
        <p:nvSpPr>
          <p:cNvPr id="11" name="Shape 9">
            <a:extLst xmlns:a="http://schemas.openxmlformats.org/drawingml/2006/main">
              <a:ext uri="{FF2B5EF4-FFF2-40B4-BE49-F238E27FC236}">
                <a16:creationId xmlns:a16="http://schemas.microsoft.com/office/drawing/2014/main" id="{56876E3C-0300-474D-B225-4E20AE312B07}"/>
              </a:ext>
            </a:extLst>
          </p:cNvPr>
          <p:cNvSpPr>
            <a:spLocks xmlns:a="http://schemas.openxmlformats.org/drawingml/2006/main" noGrp="1"/>
          </p:cNvSpPr>
          <p:nvPr/>
        </p:nvSpPr>
        <p:spPr>
          <a:xfrm xmlns:a="http://schemas.openxmlformats.org/drawingml/2006/main" rot="5400000">
            <a:off x="930859" y="5634990"/>
            <a:ext cx="274320" cy="240030"/>
          </a:xfrm>
          <a:prstGeom xmlns:a="http://schemas.openxmlformats.org/drawingml/2006/main" prst="triangle">
            <a:avLst/>
          </a:prstGeom>
          <a:solidFill xmlns:a="http://schemas.openxmlformats.org/drawingml/2006/main">
            <a:srgbClr val="DCE6F8"/>
          </a:solidFill>
        </p:spPr>
      </p:sp>
      <p:sp>
        <p:nvSpPr>
          <p:cNvPr id="12" name="Shape 10">
            <a:extLst xmlns:a="http://schemas.openxmlformats.org/drawingml/2006/main">
              <a:ext uri="{FF2B5EF4-FFF2-40B4-BE49-F238E27FC236}">
                <a16:creationId xmlns:a16="http://schemas.microsoft.com/office/drawing/2014/main" id="{D1161475-38A1-4556-A41D-91A49A1D3B4F}"/>
              </a:ext>
            </a:extLst>
          </p:cNvPr>
          <p:cNvSpPr>
            <a:spLocks xmlns:a="http://schemas.openxmlformats.org/drawingml/2006/main" noGrp="1"/>
          </p:cNvSpPr>
          <p:nvPr/>
        </p:nvSpPr>
        <p:spPr>
          <a:xfrm xmlns:a="http://schemas.openxmlformats.org/drawingml/2006/main" rot="5400000">
            <a:off x="930859" y="6115050"/>
            <a:ext cx="274320" cy="240030"/>
          </a:xfrm>
          <a:prstGeom xmlns:a="http://schemas.openxmlformats.org/drawingml/2006/main" prst="triangle">
            <a:avLst/>
          </a:prstGeom>
          <a:solidFill xmlns:a="http://schemas.openxmlformats.org/drawingml/2006/main">
            <a:srgbClr val="00A79D"/>
          </a:solidFill>
        </p:spPr>
      </p:sp>
      <p:sp>
        <p:nvSpPr>
          <p:cNvPr id="13" name="Shape 11">
            <a:extLst xmlns:a="http://schemas.openxmlformats.org/drawingml/2006/main">
              <a:ext uri="{FF2B5EF4-FFF2-40B4-BE49-F238E27FC236}">
                <a16:creationId xmlns:a16="http://schemas.microsoft.com/office/drawing/2014/main" id="{B779EEB7-E57C-4FFE-A184-411404A3F0A5}"/>
              </a:ext>
            </a:extLst>
          </p:cNvPr>
          <p:cNvSpPr>
            <a:spLocks xmlns:a="http://schemas.openxmlformats.org/drawingml/2006/main" noGrp="1"/>
          </p:cNvSpPr>
          <p:nvPr/>
        </p:nvSpPr>
        <p:spPr>
          <a:xfrm xmlns:a="http://schemas.openxmlformats.org/drawingml/2006/main" rot="5400000" flipH="1">
            <a:off x="1221638" y="5394960"/>
            <a:ext cx="274320" cy="240030"/>
          </a:xfrm>
          <a:prstGeom xmlns:a="http://schemas.openxmlformats.org/drawingml/2006/main" prst="triangle">
            <a:avLst/>
          </a:prstGeom>
          <a:solidFill xmlns:a="http://schemas.openxmlformats.org/drawingml/2006/main">
            <a:srgbClr val="29ABE2"/>
          </a:solidFill>
        </p:spPr>
      </p:sp>
      <p:sp>
        <p:nvSpPr>
          <p:cNvPr id="14" name="Shape 12">
            <a:extLst xmlns:a="http://schemas.openxmlformats.org/drawingml/2006/main">
              <a:ext uri="{FF2B5EF4-FFF2-40B4-BE49-F238E27FC236}">
                <a16:creationId xmlns:a16="http://schemas.microsoft.com/office/drawing/2014/main" id="{D5D6BB47-9147-4798-856D-B12D0D02A371}"/>
              </a:ext>
            </a:extLst>
          </p:cNvPr>
          <p:cNvSpPr>
            <a:spLocks xmlns:a="http://schemas.openxmlformats.org/drawingml/2006/main" noGrp="1"/>
          </p:cNvSpPr>
          <p:nvPr/>
        </p:nvSpPr>
        <p:spPr>
          <a:xfrm xmlns:a="http://schemas.openxmlformats.org/drawingml/2006/main" rot="5400000">
            <a:off x="1221638" y="5875020"/>
            <a:ext cx="274320" cy="240030"/>
          </a:xfrm>
          <a:prstGeom xmlns:a="http://schemas.openxmlformats.org/drawingml/2006/main" prst="triangle">
            <a:avLst/>
          </a:prstGeom>
          <a:solidFill xmlns:a="http://schemas.openxmlformats.org/drawingml/2006/main">
            <a:srgbClr val="B9C8E8"/>
          </a:solidFill>
        </p:spPr>
      </p:sp>
      <p:sp>
        <p:nvSpPr>
          <p:cNvPr id="15" name="Shape 13">
            <a:extLst xmlns:a="http://schemas.openxmlformats.org/drawingml/2006/main">
              <a:ext uri="{FF2B5EF4-FFF2-40B4-BE49-F238E27FC236}">
                <a16:creationId xmlns:a16="http://schemas.microsoft.com/office/drawing/2014/main" id="{4E57BAFF-6258-4DDA-AA93-A37CC1260019}"/>
              </a:ext>
            </a:extLst>
          </p:cNvPr>
          <p:cNvSpPr>
            <a:spLocks xmlns:a="http://schemas.openxmlformats.org/drawingml/2006/main" noGrp="1"/>
          </p:cNvSpPr>
          <p:nvPr/>
        </p:nvSpPr>
        <p:spPr>
          <a:xfrm xmlns:a="http://schemas.openxmlformats.org/drawingml/2006/main" rot="5400000">
            <a:off x="1512418" y="5634990"/>
            <a:ext cx="274320" cy="240030"/>
          </a:xfrm>
          <a:prstGeom xmlns:a="http://schemas.openxmlformats.org/drawingml/2006/main" prst="triangle">
            <a:avLst/>
          </a:prstGeom>
          <a:solidFill xmlns:a="http://schemas.openxmlformats.org/drawingml/2006/main">
            <a:srgbClr val="DCE6F8"/>
          </a:solidFill>
        </p:spPr>
      </p:sp>
      <p:sp>
        <p:nvSpPr>
          <p:cNvPr id="16" name="Shape 14">
            <a:extLst xmlns:a="http://schemas.openxmlformats.org/drawingml/2006/main">
              <a:ext uri="{FF2B5EF4-FFF2-40B4-BE49-F238E27FC236}">
                <a16:creationId xmlns:a16="http://schemas.microsoft.com/office/drawing/2014/main" id="{38A6FC71-DB7E-43A5-A33B-9BB11A629560}"/>
              </a:ext>
            </a:extLst>
          </p:cNvPr>
          <p:cNvSpPr>
            <a:spLocks xmlns:a="http://schemas.openxmlformats.org/drawingml/2006/main" noGrp="1"/>
          </p:cNvSpPr>
          <p:nvPr/>
        </p:nvSpPr>
        <p:spPr>
          <a:xfrm xmlns:a="http://schemas.openxmlformats.org/drawingml/2006/main" rot="5400000" flipH="1">
            <a:off x="1512418" y="6115050"/>
            <a:ext cx="274320" cy="240030"/>
          </a:xfrm>
          <a:prstGeom xmlns:a="http://schemas.openxmlformats.org/drawingml/2006/main" prst="triangle">
            <a:avLst/>
          </a:prstGeom>
          <a:solidFill xmlns:a="http://schemas.openxmlformats.org/drawingml/2006/main">
            <a:srgbClr val="00A79D"/>
          </a:solidFill>
        </p:spPr>
      </p:sp>
      <p:sp>
        <p:nvSpPr>
          <p:cNvPr id="17" name="Shape 15">
            <a:extLst xmlns:a="http://schemas.openxmlformats.org/drawingml/2006/main">
              <a:ext uri="{FF2B5EF4-FFF2-40B4-BE49-F238E27FC236}">
                <a16:creationId xmlns:a16="http://schemas.microsoft.com/office/drawing/2014/main" id="{3636F544-CD6E-438C-9EE9-AA603ADB9E23}"/>
              </a:ext>
            </a:extLst>
          </p:cNvPr>
          <p:cNvSpPr>
            <a:spLocks xmlns:a="http://schemas.openxmlformats.org/drawingml/2006/main" noGrp="1"/>
          </p:cNvSpPr>
          <p:nvPr/>
        </p:nvSpPr>
        <p:spPr>
          <a:xfrm xmlns:a="http://schemas.openxmlformats.org/drawingml/2006/main" rot="5400000">
            <a:off x="1803197" y="5875020"/>
            <a:ext cx="274320" cy="240030"/>
          </a:xfrm>
          <a:prstGeom xmlns:a="http://schemas.openxmlformats.org/drawingml/2006/main" prst="triangle">
            <a:avLst/>
          </a:prstGeom>
          <a:solidFill xmlns:a="http://schemas.openxmlformats.org/drawingml/2006/main">
            <a:srgbClr val="29ABE2"/>
          </a:solidFill>
        </p:spPr>
      </p:sp>
      <p:sp>
        <p:nvSpPr>
          <p:cNvPr id="18" name="Text 16">
            <a:extLst xmlns:a="http://schemas.openxmlformats.org/drawingml/2006/main">
              <a:ext uri="{FF2B5EF4-FFF2-40B4-BE49-F238E27FC236}">
                <a16:creationId xmlns:a16="http://schemas.microsoft.com/office/drawing/2014/main" id="{A517A807-8A53-4175-B3BB-9DB380D5B723}"/>
              </a:ext>
            </a:extLst>
          </p:cNvPr>
          <p:cNvSpPr>
            <a:spLocks xmlns:a="http://schemas.openxmlformats.org/drawingml/2006/main" noGrp="1"/>
          </p:cNvSpPr>
          <p:nvPr/>
        </p:nvSpPr>
        <p:spPr>
          <a:xfrm xmlns:a="http://schemas.openxmlformats.org/drawingml/2006/main">
            <a:off x="1097280" y="192024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spc="300">
                <a:solidFill>
                  <a:srgbClr val="00A79D"/>
                </a:solidFill>
                <a:latin typeface="Calibri"/>
                <a:ea typeface="Calibri"/>
                <a:cs typeface="Calibri"/>
              </a:rPr>
              <a:t>CLOSING</a:t>
            </a:r>
            <a:endParaRPr sz="1300"/>
          </a:p>
        </p:txBody>
      </p:sp>
      <p:sp>
        <p:nvSpPr>
          <p:cNvPr id="19" name="Text 17">
            <a:extLst xmlns:a="http://schemas.openxmlformats.org/drawingml/2006/main">
              <a:ext uri="{FF2B5EF4-FFF2-40B4-BE49-F238E27FC236}">
                <a16:creationId xmlns:a16="http://schemas.microsoft.com/office/drawing/2014/main" id="{1219C6A3-8061-45A3-9274-1DFA9EBBF5A9}"/>
              </a:ext>
            </a:extLst>
          </p:cNvPr>
          <p:cNvSpPr>
            <a:spLocks xmlns:a="http://schemas.openxmlformats.org/drawingml/2006/main" noGrp="1"/>
          </p:cNvSpPr>
          <p:nvPr/>
        </p:nvSpPr>
        <p:spPr>
          <a:xfrm xmlns:a="http://schemas.openxmlformats.org/drawingml/2006/main">
            <a:off x="1097280" y="2377440"/>
            <a:ext cx="9994392" cy="1737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3000" b="1">
                <a:solidFill>
                  <a:srgbClr val="1D2A5C"/>
                </a:solidFill>
                <a:latin typeface="Calibri"/>
                <a:ea typeface="Calibri"/>
                <a:cs typeface="Calibri"/>
              </a:rPr>
              <a:t>The repository is the audit evidence — ship services that prove their own quality.</a:t>
            </a:r>
            <a:endParaRPr sz="3000"/>
          </a:p>
        </p:txBody>
      </p:sp>
      <p:sp>
        <p:nvSpPr>
          <p:cNvPr id="20" name="Text 18">
            <a:extLst xmlns:a="http://schemas.openxmlformats.org/drawingml/2006/main">
              <a:ext uri="{FF2B5EF4-FFF2-40B4-BE49-F238E27FC236}">
                <a16:creationId xmlns:a16="http://schemas.microsoft.com/office/drawing/2014/main" id="{7B37E1AD-D6DE-42A3-9905-E9920E79D7C1}"/>
              </a:ext>
            </a:extLst>
          </p:cNvPr>
          <p:cNvSpPr>
            <a:spLocks xmlns:a="http://schemas.openxmlformats.org/drawingml/2006/main" noGrp="1"/>
          </p:cNvSpPr>
          <p:nvPr/>
        </p:nvSpPr>
        <p:spPr>
          <a:xfrm xmlns:a="http://schemas.openxmlformats.org/drawingml/2006/main">
            <a:off x="2011680" y="4251960"/>
            <a:ext cx="8165592"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350">
                <a:solidFill>
                  <a:srgbClr val="5F6B7A"/>
                </a:solidFill>
                <a:latin typeface="Calibri"/>
                <a:ea typeface="Calibri"/>
                <a:cs typeface="Calibri"/>
              </a:rPr>
              <a:t>Three days ago this was a notebook. Today it is a tested, containerised, pipeline-validated service — the exact artefact SDA-AIE-211 deploys.</a:t>
            </a:r>
            <a:endParaRPr sz="1350"/>
          </a:p>
        </p:txBody>
      </p:sp>
      <p:pic>
        <p:nvPicPr>
          <p:cNvPr id="44" name="Image 0"/>
          <p:cNvPicPr>
            <a:picLocks xmlns:a="http://schemas.openxmlformats.org/drawingml/2006/main" noChangeAspect="1"/>
          </p:cNvPicPr>
          <p:nvPr/>
        </p:nvPicPr>
        <p:blipFill>
          <a:blip xmlns:r="http://schemas.openxmlformats.org/officeDocument/2006/relationships" xmlns:a="http://schemas.openxmlformats.org/drawingml/2006/main" r:embed="R4f8a9d67e4d44117"/>
          <a:stretch xmlns:a="http://schemas.openxmlformats.org/drawingml/2006/main">
            <a:fillRect l="0" t="0" r="0" b="0"/>
          </a:stretch>
        </p:blipFill>
        <p:spPr>
          <a:xfrm xmlns:a="http://schemas.openxmlformats.org/drawingml/2006/main">
            <a:off x="5559552" y="6172200"/>
            <a:ext cx="1078992" cy="265176"/>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7DE8EF14-7177-40E4-8167-2BCD7AE90411}"/>
              </a:ext>
            </a:extLst>
          </p:cNvPr>
          <p:cNvSpPr>
            <a:spLocks xmlns:a="http://schemas.openxmlformats.org/drawingml/2006/main" noGrp="1"/>
          </p:cNvSpPr>
          <p:nvPr/>
        </p:nvSpPr>
        <p:spPr>
          <a:xfrm xmlns:a="http://schemas.openxmlformats.org/drawingml/2006/main">
            <a:off x="502920" y="6528816"/>
            <a:ext cx="868680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50" b="1" spc="100">
                <a:solidFill>
                  <a:srgbClr val="00A79D"/>
                </a:solidFill>
                <a:latin typeface="Calibri"/>
                <a:ea typeface="Calibri"/>
                <a:cs typeface="Calibri"/>
              </a:rPr>
              <a:t>WRAP-UP   </a:t>
            </a:r>
            <a:r>
              <a:rPr sz="850" spc="100">
                <a:solidFill>
                  <a:srgbClr val="8A96A6"/>
                </a:solidFill>
                <a:latin typeface="Calibri"/>
                <a:ea typeface="Calibri"/>
                <a:cs typeface="Calibri"/>
              </a:rPr>
              <a:t>SDA-AIE-113 · Software Engineering Practices for AI Systems</a:t>
            </a:r>
            <a:endParaRPr sz="850"/>
          </a:p>
        </p:txBody>
      </p:sp>
      <p:sp>
        <p:nvSpPr>
          <p:cNvPr id="23" name="Text 20">
            <a:extLst xmlns:a="http://schemas.openxmlformats.org/drawingml/2006/main">
              <a:ext uri="{FF2B5EF4-FFF2-40B4-BE49-F238E27FC236}">
                <a16:creationId xmlns:a16="http://schemas.microsoft.com/office/drawing/2014/main" id="{1C4103C6-BC73-4705-87E4-62D475D51B2D}"/>
              </a:ext>
            </a:extLst>
          </p:cNvPr>
          <p:cNvSpPr>
            <a:spLocks xmlns:a="http://schemas.openxmlformats.org/drawingml/2006/main" noGrp="1"/>
          </p:cNvSpPr>
          <p:nvPr/>
        </p:nvSpPr>
        <p:spPr>
          <a:xfrm xmlns:a="http://schemas.openxmlformats.org/drawingml/2006/main">
            <a:off x="11292840" y="6528816"/>
            <a:ext cx="411480"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850">
                <a:solidFill>
                  <a:srgbClr val="8A96A6"/>
                </a:solidFill>
                <a:latin typeface="Calibri"/>
                <a:ea typeface="Calibri"/>
                <a:cs typeface="Calibri"/>
              </a:rPr>
              <a:t>163</a:t>
            </a:r>
            <a:endParaRPr sz="850"/>
          </a:p>
        </p:txBody>
      </p:sp>
    </p:spTree>
    <p:extLst>
      <p:ext uri="{BB962C8B-B14F-4D97-AF65-F5344CB8AC3E}">
        <p14:creationId xmlns:p14="http://schemas.microsoft.com/office/powerpoint/2010/main" val="66875635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2026-08-28T12:07:21.1080000Z</dcterms:created>
  <dcterms:modified xsi:type="dcterms:W3CDTF">2026-08-28T12:07:21.1080000Z</dcterms:modified>
</coreProperties>
</file>