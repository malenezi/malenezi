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2" roundtripDataSignature="AMtx7miap9Ot97cs5lXBBEyDEdVE4wRE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CDE1C1-62A7-44C6-83CE-F4AE5E7467F2}">
  <a:tblStyle styleId="{E0CDE1C1-62A7-44C6-83CE-F4AE5E7467F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2" Type="http://customschemas.google.com/relationships/presentationmetadata" Target="meta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2262E"/>
                </a:solidFill>
                <a:latin typeface="Arial"/>
              </a:rPr>
              <a:t>The overfitting exhibit — Lab 2b, generated by every pair (tree depth 1→20)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PR-AUC</c:v>
                </c:pt>
              </c:strCache>
            </c:strRef>
          </c:tx>
          <c:spPr>
            <a:solidFill>
              <a:srgbClr val="E8A33B"/>
            </a:solidFill>
            <a:ln w="38100" cap="flat">
              <a:solidFill>
                <a:srgbClr val="E8A3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33B"/>
              </a:solidFill>
              <a:ln w="9525" cap="flat">
                <a:solidFill>
                  <a:srgbClr val="E8A3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0.2</c:v>
                </c:pt>
                <c:pt idx="1">
                  <c:v>0.26</c:v>
                </c:pt>
                <c:pt idx="2">
                  <c:v>0.32</c:v>
                </c:pt>
                <c:pt idx="3">
                  <c:v>0.38</c:v>
                </c:pt>
                <c:pt idx="4">
                  <c:v>0.44</c:v>
                </c:pt>
                <c:pt idx="5">
                  <c:v>0.5</c:v>
                </c:pt>
                <c:pt idx="6">
                  <c:v>0.57</c:v>
                </c:pt>
                <c:pt idx="7">
                  <c:v>0.64</c:v>
                </c:pt>
                <c:pt idx="8">
                  <c:v>0.71</c:v>
                </c:pt>
                <c:pt idx="9">
                  <c:v>0.78</c:v>
                </c:pt>
                <c:pt idx="10">
                  <c:v>0.84</c:v>
                </c:pt>
                <c:pt idx="11">
                  <c:v>0.89</c:v>
                </c:pt>
                <c:pt idx="12">
                  <c:v>0.93</c:v>
                </c:pt>
                <c:pt idx="13">
                  <c:v>0.96</c:v>
                </c:pt>
                <c:pt idx="14">
                  <c:v>0.98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PR-AUC</c:v>
                </c:pt>
              </c:strCache>
            </c:strRef>
          </c:tx>
          <c:spPr>
            <a:solidFill>
              <a:srgbClr val="0B6B5D"/>
            </a:solidFill>
            <a:ln w="38100" cap="flat">
              <a:solidFill>
                <a:srgbClr val="0B6B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6B5D"/>
              </a:solidFill>
              <a:ln w="9525" cap="flat">
                <a:solidFill>
                  <a:srgbClr val="0B6B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0.24</c:v>
                </c:pt>
                <c:pt idx="1">
                  <c:v>0.3</c:v>
                </c:pt>
                <c:pt idx="2">
                  <c:v>0.36</c:v>
                </c:pt>
                <c:pt idx="3">
                  <c:v>0.41</c:v>
                </c:pt>
                <c:pt idx="4">
                  <c:v>0.44</c:v>
                </c:pt>
                <c:pt idx="5">
                  <c:v>0.46</c:v>
                </c:pt>
                <c:pt idx="6">
                  <c:v>0.45</c:v>
                </c:pt>
                <c:pt idx="7">
                  <c:v>0.44</c:v>
                </c:pt>
                <c:pt idx="8">
                  <c:v>0.42</c:v>
                </c:pt>
                <c:pt idx="9">
                  <c:v>0.4</c:v>
                </c:pt>
                <c:pt idx="10">
                  <c:v>0.38</c:v>
                </c:pt>
                <c:pt idx="11">
                  <c:v>0.36</c:v>
                </c:pt>
                <c:pt idx="12">
                  <c:v>0.35</c:v>
                </c:pt>
                <c:pt idx="13">
                  <c:v>0.34</c:v>
                </c:pt>
                <c:pt idx="14">
                  <c:v>0.33</c:v>
                </c:pt>
                <c:pt idx="15">
                  <c:v>0.32</c:v>
                </c:pt>
                <c:pt idx="16">
                  <c:v>0.32</c:v>
                </c:pt>
                <c:pt idx="17">
                  <c:v>0.31</c:v>
                </c:pt>
                <c:pt idx="18">
                  <c:v>0.31</c:v>
                </c:pt>
                <c:pt idx="19">
                  <c:v>0.31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max_depth (model capacity)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0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3EA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PR-AUC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0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2262E"/>
                </a:solidFill>
                <a:latin typeface="Arial"/>
              </a:defRPr>
            </a:pPr>
            <a:r>
              <a:rPr sz="1250" b="0" i="0" u="none" strike="noStrike">
                <a:solidFill>
                  <a:srgbClr val="12262E"/>
                </a:solidFill>
                <a:latin typeface="Arial"/>
              </a:rPr>
              <a:t>Grade composition (%) — daily labs 60 + project 40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0B6B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6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Lab completion &amp; checkpoints (Labs 1–7)</c:v>
                  </c:pt>
                  <c:pt idx="1">
                    <c:v>PA-1 + PA-2 practical assessments</c:v>
                  </c:pt>
                  <c:pt idx="2">
                    <c:v>Quiz (10 of 20, closed book, 15 min)</c:v>
                  </c:pt>
                  <c:pt idx="3">
                    <c:v>End-to-end ML project (capstone)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12</c:v>
                </c:pt>
                <c:pt idx="2">
                  <c:v>8</c:v>
                </c:pt>
                <c:pt idx="3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226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2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b"/>
        <c:majorGridlines>
          <c:spPr>
            <a:ln w="12700" cap="flat">
              <a:solidFill>
                <a:srgbClr val="E3E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0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recall@top-20%</c:v>
                </c:pt>
              </c:strCache>
            </c:strRef>
          </c:tx>
          <c:spPr>
            <a:solidFill>
              <a:srgbClr val="0B6B5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6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Dummy
(Day 1)</c:v>
                  </c:pt>
                  <c:pt idx="1">
                    <c:v>21-day heuristic
(Day 1)</c:v>
                  </c:pt>
                  <c:pt idx="2">
                    <c:v>Logistic + features
(Day 2–3)</c:v>
                  </c:pt>
                  <c:pt idx="3">
                    <c:v>XGBoost champion
(Day 3)</c:v>
                  </c:pt>
                  <c:pt idx="4">
                    <c:v>+ segments
(Day 4)</c:v>
                  </c:pt>
                  <c:pt idx="5">
                    <c:v>Tuned champion — TEST
(Day 4)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</c:v>
                </c:pt>
                <c:pt idx="1">
                  <c:v>0.41</c:v>
                </c:pt>
                <c:pt idx="2">
                  <c:v>0.66</c:v>
                </c:pt>
                <c:pt idx="3">
                  <c:v>0.73</c:v>
                </c:pt>
                <c:pt idx="4">
                  <c:v>0.73</c:v>
                </c:pt>
                <c:pt idx="5">
                  <c:v>0.74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226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2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</c:scaling>
        <c:delete val="0"/>
        <c:axPos val="l"/>
        <c:majorGridlines>
          <c:spPr>
            <a:ln w="12700" cap="flat">
              <a:solidFill>
                <a:srgbClr val="E3E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0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slide. Establish the course promise: by Day 5, every participant has personally executed the end-to-end ML workflow twice — once on Manafeth with guidance, once on real data unassisted.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question: which active customers should receive the retention voucher, given a budget covering 20% of the base? Manafeth loses money acquiring customers who lapse after Ramadan.</a:t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map hangs on the wall all five days (A4 poster, padlock loud). Every module adds one stage; the capstone walks the whole map unassisted.</a:t>
            </a:r>
            <a:endParaRPr/>
          </a:p>
        </p:txBody>
      </p:sp>
      <p:sp>
        <p:nvSpPr>
          <p:cNvPr id="162" name="Google Shape;16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 ML failures are decided before a single model is trained: wrong task type, a target that leaks, a split that flatters, a metric nobody recognises.</a:t>
            </a:r>
            <a:endParaRPr/>
          </a:p>
        </p:txBody>
      </p:sp>
      <p:sp>
        <p:nvSpPr>
          <p:cNvPr id="213" name="Google Shape;2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experienced practitioner in the room has one of these stories — collect two or three before moving on.</a:t>
            </a:r>
            <a:endParaRPr/>
          </a:p>
        </p:txBody>
      </p:sp>
      <p:sp>
        <p:nvSpPr>
          <p:cNvPr id="227" name="Google Shape;2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Vague targets produce unreproducible labels. Question 5 exists to prevent teams from picking the metric their model happens to win.</a:t>
            </a:r>
            <a:endParaRPr/>
          </a:p>
        </p:txBody>
      </p:sp>
      <p:sp>
        <p:nvSpPr>
          <p:cNvPr id="274" name="Google Shape;2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 the planted leak forward: Module 3 shows leakage inside preprocessing, Module 7 shows leakage inside tuning.</a:t>
            </a:r>
            <a:endParaRPr/>
          </a:p>
        </p:txBody>
      </p:sp>
      <p:sp>
        <p:nvSpPr>
          <p:cNvPr id="418" name="Google Shape;41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goal is not a zoo of algorithms but a working mental model of each: what it optimises, where its boundary comes from, how it fails.</a:t>
            </a:r>
            <a:endParaRPr/>
          </a:p>
        </p:txBody>
      </p:sp>
      <p:sp>
        <p:nvSpPr>
          <p:cNvPr id="437" name="Google Shape;43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recall@20% ≈ 0.20 despite good PR-AUC almost always means the pair ranked by predict labels, not predict_proba[:, 1].</a:t>
            </a:r>
            <a:endParaRPr/>
          </a:p>
        </p:txBody>
      </p:sp>
      <p:sp>
        <p:nvSpPr>
          <p:cNvPr id="524" name="Google Shape;52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depth-sweep plot is the module's money shot — every pair posts theirs; identical shapes with identical seeds reinforce the deterministic-workflow message.</a:t>
            </a:r>
            <a:endParaRPr/>
          </a:p>
        </p:txBody>
      </p:sp>
      <p:sp>
        <p:nvSpPr>
          <p:cNvPr id="574" name="Google Shape;57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Models are only as good as the matrix they see. The pipeline is simultaneously the anti-leakage weapon and the deployable artefact. On tabular enterprise problems, a well-engineered feature routinely outperforms a model upgrade.</a:t>
            </a:r>
            <a:endParaRPr/>
          </a:p>
        </p:txBody>
      </p:sp>
      <p:sp>
        <p:nvSpPr>
          <p:cNvPr id="629" name="Google Shape;62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Manafeth order volume roughly doubles in Ramadan evenings; a days_to_ramadan feature captures what no generic component can.</a:t>
            </a:r>
            <a:endParaRPr/>
          </a:p>
        </p:txBody>
      </p:sp>
      <p:sp>
        <p:nvSpPr>
          <p:cNvPr id="713" name="Google Shape;71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5" name="Google Shape;73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6" name="Google Shape;78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Mantra: fit transforms on training data only. The sim-scale-leak branch (scaler fit on train+val) barely moves scores — participants must explain why it is STILL wrong.</a:t>
            </a:r>
            <a:endParaRPr/>
          </a:p>
        </p:txBody>
      </p:sp>
      <p:sp>
        <p:nvSpPr>
          <p:cNvPr id="787" name="Google Shape;787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5" name="Google Shape;80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Theme of the day: Trust, but verify.</a:t>
            </a:r>
            <a:endParaRPr/>
          </a:p>
        </p:txBody>
      </p:sp>
      <p:sp>
        <p:nvSpPr>
          <p:cNvPr id="806" name="Google Shape;80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GroupKFold is mandatory when the same entity contributes many rows (Jubail: same compressor across folds = leak). TimeSeriesSplit when predicting forward in time.</a:t>
            </a:r>
            <a:endParaRPr/>
          </a:p>
        </p:txBody>
      </p:sp>
      <p:sp>
        <p:nvSpPr>
          <p:cNvPr id="860" name="Google Shape;86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1" name="Google Shape;88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0" name="Google Shape;90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2" name="Google Shape;92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 enterprise tabular problems, gradient boosting remains the production benchmark to beat — frequently outperforming deep learning at a fraction of the cost.</a:t>
            </a:r>
            <a:endParaRPr/>
          </a:p>
        </p:txBody>
      </p:sp>
      <p:sp>
        <p:nvSpPr>
          <p:cNvPr id="923" name="Google Shape;923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6" name="Google Shape;93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Failure modes worth naming: forests cannot extrapolate beyond training feature ranges (the Markabat old-car problem returns) and are memory-hungrier at serving time than a boosted model of equal skill.</a:t>
            </a:r>
            <a:endParaRPr/>
          </a:p>
        </p:txBody>
      </p:sp>
      <p:sp>
        <p:nvSpPr>
          <p:cNvPr id="937" name="Google Shape;937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4" name="Google Shape;95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Trees don't need scaling — but keep the pipeline anyway: encoding, imputation, and leakage guarantees still apply; only the scaler becomes optional.</a:t>
            </a:r>
            <a:endParaRPr/>
          </a:p>
        </p:txBody>
      </p:sp>
      <p:sp>
        <p:nvSpPr>
          <p:cNvPr id="955" name="Google Shape;955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9" name="Google Shape;96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7" name="Google Shape;99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Champion tribunal (15 min): three groups argue for logistic / forest / XGBoost using only the closing table plus operational facts; the winning argument goes into CHAMPION.md verbatim.</a:t>
            </a:r>
            <a:endParaRPr/>
          </a:p>
        </p:txBody>
      </p:sp>
      <p:sp>
        <p:nvSpPr>
          <p:cNvPr id="998" name="Google Shape;998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5" name="Google Shape;1015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4" name="Google Shape;103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Unsupervised results are uniquely easy to oversell — colourful cluster plots command belief they haven't earned. The module trains sceptical evaluation as hard as the algorithms.</a:t>
            </a:r>
            <a:endParaRPr/>
          </a:p>
        </p:txBody>
      </p:sp>
      <p:sp>
        <p:nvSpPr>
          <p:cNvPr id="1035" name="Google Shape;1035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8" name="Google Shape;104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8" name="Google Shape;1068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Instructor demo: run the noise-null FIRST, unrevealed, and harvest confident cluster names from the room before the reveal — the module's most memorable three minutes.</a:t>
            </a:r>
            <a:endParaRPr/>
          </a:p>
        </p:txBody>
      </p:sp>
      <p:sp>
        <p:nvSpPr>
          <p:cNvPr id="1069" name="Google Shape;1069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6" name="Google Shape;1096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6" name="Google Shape;1116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Jeddah case: the resolution-time check (clusters predict overruns ×2.3 they weren't built from) is the level-3 test; the stability gate (ARI 0.81 across quarters) blocks schedule changes until passed.</a:t>
            </a:r>
            <a:endParaRPr/>
          </a:p>
        </p:txBody>
      </p:sp>
      <p:sp>
        <p:nvSpPr>
          <p:cNvPr id="1117" name="Google Shape;1117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1" name="Google Shape;114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0" name="Google Shape;1160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capstone's dress rehearsal: after this module, participants have executed the complete workflow end to end. Tuning is where teams burn compute and integrity in equal measure.</a:t>
            </a:r>
            <a:endParaRPr/>
          </a:p>
        </p:txBody>
      </p:sp>
      <p:sp>
        <p:nvSpPr>
          <p:cNvPr id="1161" name="Google Shape;1161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4" name="Google Shape;1174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7" name="Google Shape;1197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Tuning optimises whatever you gave it, fiction included: the amplified-leak simulation shows a search converging hard onto configurations that exploit a stale leaky feature.</a:t>
            </a:r>
            <a:endParaRPr/>
          </a:p>
        </p:txBody>
      </p:sp>
      <p:sp>
        <p:nvSpPr>
          <p:cNvPr id="1198" name="Google Shape;1198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9" name="Google Shape;1229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2" name="Google Shape;1252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Discussion: sequence the roadmap and defend it to a manager who says 'just tune it harder.' The Makkah case: n_iter sized from measured fit cost to fill 3 of 4 hours with 25% headroom; after six weeks of knob-importance tracking, three knobs freeze and the window shortens to 90 minutes.</a:t>
            </a:r>
            <a:endParaRPr/>
          </a:p>
        </p:txBody>
      </p:sp>
      <p:sp>
        <p:nvSpPr>
          <p:cNvPr id="1253" name="Google Shape;1253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4" name="Google Shape;128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3" name="Google Shape;1303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7" name="Google Shape;1317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trap is diagnostic, not punitive: a team that finds duration in bank marketing and QUANTIFIES the inflation it caused demonstrates LO6 more convincingly than a team whose dataset hid it from them.</a:t>
            </a:r>
            <a:endParaRPr/>
          </a:p>
        </p:txBody>
      </p:sp>
      <p:sp>
        <p:nvSpPr>
          <p:cNvPr id="1318" name="Google Shape;1318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1" name="Google Shape;1351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1" name="Google Shape;1381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Verify one claim live per team during the demo: re-run the shuffled-label cell, or state what the CV std permits them to claim about champion vs challenger.</a:t>
            </a:r>
            <a:endParaRPr/>
          </a:p>
        </p:txBody>
      </p:sp>
      <p:sp>
        <p:nvSpPr>
          <p:cNvPr id="1382" name="Google Shape;1382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4" name="Google Shape;1394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1" name="Google Shape;1411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Collect capstone repositories, model cards, scoreboards at wrap-up.</a:t>
            </a:r>
            <a:endParaRPr/>
          </a:p>
        </p:txBody>
      </p:sp>
      <p:sp>
        <p:nvSpPr>
          <p:cNvPr id="1412" name="Google Shape;1412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6" name="Google Shape;1426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0" name="Google Shape;1480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9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24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Relationship Id="rId5" Type="http://schemas.openxmlformats.org/officeDocument/2006/relationships/image" Target="../media/image6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1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5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9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7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png"/><Relationship Id="rId4" Type="http://schemas.openxmlformats.org/officeDocument/2006/relationships/image" Target="../media/image63.png"/><Relationship Id="rId5" Type="http://schemas.openxmlformats.org/officeDocument/2006/relationships/image" Target="../media/image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1.png"/><Relationship Id="rId4" Type="http://schemas.openxmlformats.org/officeDocument/2006/relationships/image" Target="../media/image1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.png"/><Relationship Id="rId4" Type="http://schemas.openxmlformats.org/officeDocument/2006/relationships/image" Target="../media/image67.png"/><Relationship Id="rId5" Type="http://schemas.openxmlformats.org/officeDocument/2006/relationships/image" Target="../media/image18.png"/><Relationship Id="rId6" Type="http://schemas.openxmlformats.org/officeDocument/2006/relationships/image" Target="../media/image2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chart" Target="../charts/chart2.xml"/><Relationship Id="rId4" Type="http://schemas.openxmlformats.org/officeDocument/2006/relationships/image" Target="../media/image7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chart" Target="../charts/chart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1.png"/><Relationship Id="rId4" Type="http://schemas.openxmlformats.org/officeDocument/2006/relationships/image" Target="../media/image70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Relationship Id="rId7" Type="http://schemas.openxmlformats.org/officeDocument/2006/relationships/image" Target="../media/image2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6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SDAIA ACADEMY  ·  AI ENGINEERING TRACK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822960" y="1417320"/>
            <a:ext cx="10607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Applied Machine Learning Foundations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22960" y="28346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5BD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9FC5BD"/>
                </a:solidFill>
                <a:latin typeface="Calibri"/>
                <a:ea typeface="Calibri"/>
                <a:cs typeface="Calibri"/>
                <a:sym typeface="Calibri"/>
              </a:rPr>
              <a:t>أسس تعلم الآلة التطبيقي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886200"/>
            <a:ext cx="1513332" cy="402336"/>
          </a:xfrm>
          <a:prstGeom prst="roundRect">
            <a:avLst>
              <a:gd fmla="val 50000" name="adj"/>
            </a:avLst>
          </a:prstGeom>
          <a:solidFill>
            <a:srgbClr val="1B3A46"/>
          </a:solidFill>
          <a:ln cap="flat" cmpd="sng" w="12700">
            <a:solidFill>
              <a:srgbClr val="0FA3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 txBox="1"/>
          <p:nvPr/>
        </p:nvSpPr>
        <p:spPr>
          <a:xfrm>
            <a:off x="822960" y="3886200"/>
            <a:ext cx="15133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SDA-AIE-111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564892" y="3886200"/>
            <a:ext cx="2185416" cy="402336"/>
          </a:xfrm>
          <a:prstGeom prst="roundRect">
            <a:avLst>
              <a:gd fmla="val 50000" name="adj"/>
            </a:avLst>
          </a:prstGeom>
          <a:solidFill>
            <a:srgbClr val="1B3A46"/>
          </a:solidFill>
          <a:ln cap="flat" cmpd="sng" w="12700">
            <a:solidFill>
              <a:srgbClr val="0FA3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2564892" y="3886200"/>
            <a:ext cx="21854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Practitioner Level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978908" y="3886200"/>
            <a:ext cx="3049524" cy="402336"/>
          </a:xfrm>
          <a:prstGeom prst="roundRect">
            <a:avLst>
              <a:gd fmla="val 50000" name="adj"/>
            </a:avLst>
          </a:prstGeom>
          <a:solidFill>
            <a:srgbClr val="1B3A46"/>
          </a:solidFill>
          <a:ln cap="flat" cmpd="sng" w="12700">
            <a:solidFill>
              <a:srgbClr val="0FA3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 txBox="1"/>
          <p:nvPr/>
        </p:nvSpPr>
        <p:spPr>
          <a:xfrm>
            <a:off x="4978908" y="3886200"/>
            <a:ext cx="30495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days × 5 hours = 25 hours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257032" y="3886200"/>
            <a:ext cx="1705356" cy="402336"/>
          </a:xfrm>
          <a:prstGeom prst="roundRect">
            <a:avLst>
              <a:gd fmla="val 50000" name="adj"/>
            </a:avLst>
          </a:prstGeom>
          <a:solidFill>
            <a:srgbClr val="1B3A46"/>
          </a:solidFill>
          <a:ln cap="flat" cmpd="sng" w="12700">
            <a:solidFill>
              <a:srgbClr val="0FA3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 txBox="1"/>
          <p:nvPr/>
        </p:nvSpPr>
        <p:spPr>
          <a:xfrm>
            <a:off x="8257032" y="3886200"/>
            <a:ext cx="17053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ML Badge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Instructor Training Presentation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FC6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FC6C0"/>
                </a:solidFill>
                <a:latin typeface="Calibri"/>
                <a:ea typeface="Calibri"/>
                <a:cs typeface="Calibri"/>
                <a:sym typeface="Calibri"/>
              </a:rPr>
              <a:t>Frame the problem · split first · baseline always · evaluate honestly · ship the model card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Golden thread: the Manafeth (منافذ) customer-analytics workbench — one dataset, one repository, five days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566928" y="329184"/>
            <a:ext cx="1025957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 txBox="1"/>
          <p:nvPr/>
        </p:nvSpPr>
        <p:spPr>
          <a:xfrm>
            <a:off x="566928" y="329184"/>
            <a:ext cx="102595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SDA-AIE-111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Course at a Glance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66928" y="1417320"/>
            <a:ext cx="3611880" cy="1490472"/>
          </a:xfrm>
          <a:prstGeom prst="roundRect">
            <a:avLst>
              <a:gd fmla="val 4294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31520" y="1581912"/>
            <a:ext cx="475488" cy="475488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users_w.png" id="40" name="Google Shape;4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637" y="1696029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 txBox="1"/>
          <p:nvPr/>
        </p:nvSpPr>
        <p:spPr>
          <a:xfrm>
            <a:off x="1344168" y="165506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Audience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749808" y="2075688"/>
            <a:ext cx="3246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Developers, engineers, and analysts entering AI engineering; cross-listed to the Data Scientist track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352544" y="1417320"/>
            <a:ext cx="3611880" cy="1490472"/>
          </a:xfrm>
          <a:prstGeom prst="roundRect">
            <a:avLst>
              <a:gd fmla="val 4294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517136" y="1581912"/>
            <a:ext cx="475488" cy="475488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lock_w.png" id="45" name="Google Shape;4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1253" y="1696029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 txBox="1"/>
          <p:nvPr/>
        </p:nvSpPr>
        <p:spPr>
          <a:xfrm>
            <a:off x="5129784" y="165506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Duration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4535424" y="2075688"/>
            <a:ext cx="3246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5 days × 5 learning hours (50 min + 10 min buffer each); long break scheduled around Dhuhr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138160" y="1417320"/>
            <a:ext cx="3611880" cy="1490472"/>
          </a:xfrm>
          <a:prstGeom prst="roundRect">
            <a:avLst>
              <a:gd fmla="val 4294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302752" y="1581912"/>
            <a:ext cx="475488" cy="475488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rad_w.png" id="50" name="Google Shape;5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16869" y="1696029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 txBox="1"/>
          <p:nvPr/>
        </p:nvSpPr>
        <p:spPr>
          <a:xfrm>
            <a:off x="8915400" y="165506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Prerequisites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8321040" y="2075688"/>
            <a:ext cx="3246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SDA-FND-103 required; SDA-FND-104 recommended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66928" y="3127248"/>
            <a:ext cx="3611880" cy="1490472"/>
          </a:xfrm>
          <a:prstGeom prst="roundRect">
            <a:avLst>
              <a:gd fmla="val 4294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31520" y="3291840"/>
            <a:ext cx="475488" cy="475488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cale_w.png" id="55" name="Google Shape;5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637" y="340595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 txBox="1"/>
          <p:nvPr/>
        </p:nvSpPr>
        <p:spPr>
          <a:xfrm>
            <a:off x="1344168" y="336499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749808" y="3785616"/>
            <a:ext cx="3246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Daily labs 60% + end-to-end ML project 40%; Core ML badge at ≥ 70 overall and capstone ≥ 70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352544" y="3127248"/>
            <a:ext cx="3611880" cy="1490472"/>
          </a:xfrm>
          <a:prstGeom prst="roundRect">
            <a:avLst>
              <a:gd fmla="val 4294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517136" y="3291840"/>
            <a:ext cx="475488" cy="475488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g_w.png" id="60" name="Google Shape;60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1253" y="340595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 txBox="1"/>
          <p:nvPr/>
        </p:nvSpPr>
        <p:spPr>
          <a:xfrm>
            <a:off x="5129784" y="336499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Tools &amp; platforms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4535424" y="3785616"/>
            <a:ext cx="3246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scikit-learn · pandas · Jupyter · XGBoost · Matplotlib — Python 3.12, pinned requirements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138160" y="3127248"/>
            <a:ext cx="3611880" cy="1490472"/>
          </a:xfrm>
          <a:prstGeom prst="roundRect">
            <a:avLst>
              <a:gd fmla="val 4294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8302752" y="3291840"/>
            <a:ext cx="475488" cy="475488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rocket_w.png" id="65" name="Google Shape;6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6869" y="340595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 txBox="1"/>
          <p:nvPr/>
        </p:nvSpPr>
        <p:spPr>
          <a:xfrm>
            <a:off x="8915400" y="336499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Stackability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8321040" y="3785616"/>
            <a:ext cx="3246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Core ML badge — required for all Specialist AI Engineer modules and DSC-211; next: SDA-AIE-112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66928" y="4956048"/>
            <a:ext cx="11055096" cy="1325880"/>
          </a:xfrm>
          <a:prstGeom prst="roundRect">
            <a:avLst>
              <a:gd fmla="val 4828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ook_t.png" id="69" name="Google Shape;69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805" y="540593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"/>
          <p:cNvSpPr txBox="1"/>
          <p:nvPr/>
        </p:nvSpPr>
        <p:spPr>
          <a:xfrm>
            <a:off x="1645920" y="5138928"/>
            <a:ext cx="9784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course promise. </a:t>
            </a:r>
            <a:r>
              <a:rPr b="0" i="0" lang="en-US" sz="12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 hands-on foundation in supervised and unsupervised learning covering the complete modelling workflow: frame business problems as ML tasks, train and tune models with scikit-learn, evaluate with the right metrics — and finish with an end-to-end modelling project on real data.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/>
          <p:nvPr/>
        </p:nvSpPr>
        <p:spPr>
          <a:xfrm>
            <a:off x="566928" y="329184"/>
            <a:ext cx="1025957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 txBox="1"/>
          <p:nvPr/>
        </p:nvSpPr>
        <p:spPr>
          <a:xfrm>
            <a:off x="566928" y="329184"/>
            <a:ext cx="102595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SDA-AIE-111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Learning Outcomes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By the end of this course, participants will be able to: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66928" y="1691640"/>
            <a:ext cx="5486400" cy="877824"/>
          </a:xfrm>
          <a:prstGeom prst="roundRect">
            <a:avLst>
              <a:gd fmla="val 729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731520" y="1874520"/>
            <a:ext cx="512064" cy="512064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731520" y="187452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1408176" y="1801368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Frame business problems as supervised or unsupervised learning tasks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66928" y="2724912"/>
            <a:ext cx="5486400" cy="877824"/>
          </a:xfrm>
          <a:prstGeom prst="roundRect">
            <a:avLst>
              <a:gd fmla="val 7292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731520" y="2907792"/>
            <a:ext cx="512064" cy="512064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 txBox="1"/>
          <p:nvPr/>
        </p:nvSpPr>
        <p:spPr>
          <a:xfrm>
            <a:off x="731520" y="290779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1408176" y="283464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Implement the end-to-end ML workflow from data splitting to model selection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66928" y="3758184"/>
            <a:ext cx="5486400" cy="877824"/>
          </a:xfrm>
          <a:prstGeom prst="roundRect">
            <a:avLst>
              <a:gd fmla="val 729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731520" y="3941064"/>
            <a:ext cx="512064" cy="512064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 txBox="1"/>
          <p:nvPr/>
        </p:nvSpPr>
        <p:spPr>
          <a:xfrm>
            <a:off x="731520" y="3941064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1408176" y="3867912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Develop classification and regression models using scikit-learn pipelines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66928" y="4791456"/>
            <a:ext cx="5486400" cy="877824"/>
          </a:xfrm>
          <a:prstGeom prst="roundRect">
            <a:avLst>
              <a:gd fmla="val 7292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731520" y="4974336"/>
            <a:ext cx="512064" cy="512064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731520" y="497433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1408176" y="4901184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Apply feature engineering, scaling, and encoding techniques appropriately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236208" y="1691640"/>
            <a:ext cx="5486400" cy="877824"/>
          </a:xfrm>
          <a:prstGeom prst="roundRect">
            <a:avLst>
              <a:gd fmla="val 729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6400800" y="1874520"/>
            <a:ext cx="512064" cy="512064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6400800" y="187452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7077456" y="1801368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Evaluate models using suitable metrics, cross-validation, and error analysis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236208" y="2724912"/>
            <a:ext cx="5486400" cy="877824"/>
          </a:xfrm>
          <a:prstGeom prst="roundRect">
            <a:avLst>
              <a:gd fmla="val 7292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6400800" y="2907792"/>
            <a:ext cx="512064" cy="512064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6400800" y="290779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7077456" y="283464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Diagnose and mitigate overfitting, underfitting, and data leakage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236208" y="3758184"/>
            <a:ext cx="5486400" cy="877824"/>
          </a:xfrm>
          <a:prstGeom prst="roundRect">
            <a:avLst>
              <a:gd fmla="val 729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6400800" y="3941064"/>
            <a:ext cx="512064" cy="512064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6400800" y="3941064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7077456" y="3867912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Optimize model performance through systematic hyperparameter tuning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236208" y="4791456"/>
            <a:ext cx="5394960" cy="1033272"/>
          </a:xfrm>
          <a:prstGeom prst="roundRect">
            <a:avLst>
              <a:gd fmla="val 6195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6446520" y="5029200"/>
            <a:ext cx="548640" cy="548640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ock_w.png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8194" y="516087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7178040" y="4956048"/>
            <a:ext cx="4343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lab, quiz, and rubric line maps to these seven outcomes — the capstone assesses all of them at once, unassisted.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566928" y="329184"/>
            <a:ext cx="1175918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566928" y="329184"/>
            <a:ext cx="117591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COURSE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Golden Thread — Manafeth (منافذ)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One evolving artefact: a customer-analytics workbench for a fictional Saudi quick-commerce grocery platform (Riyadh · Jeddah · Dammam)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66928" y="1691640"/>
            <a:ext cx="2688336" cy="1554480"/>
          </a:xfrm>
          <a:prstGeom prst="roundRect">
            <a:avLst>
              <a:gd fmla="val 4118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658368" y="1810512"/>
            <a:ext cx="25054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B5D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B6B5D"/>
                </a:solidFill>
                <a:latin typeface="Calibri"/>
                <a:ea typeface="Calibri"/>
                <a:cs typeface="Calibri"/>
                <a:sym typeface="Calibri"/>
              </a:rPr>
              <a:t>48,000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676656" y="2487168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customers × 19 columns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676656" y="278892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monthly snapshot 2025-11-01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429000" y="1691640"/>
            <a:ext cx="2688336" cy="1554480"/>
          </a:xfrm>
          <a:prstGeom prst="roundRect">
            <a:avLst>
              <a:gd fmla="val 4118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3520440" y="1810512"/>
            <a:ext cx="25054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B5D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B6B5D"/>
                </a:solidFill>
                <a:latin typeface="Calibri"/>
                <a:ea typeface="Calibri"/>
                <a:cs typeface="Calibri"/>
                <a:sym typeface="Calibri"/>
              </a:rPr>
              <a:t>610,000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3538728" y="2487168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orders × 11 columns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3538728" y="278892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Ramadan volume ≈ 2× baseline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291072" y="1691640"/>
            <a:ext cx="2688336" cy="1554480"/>
          </a:xfrm>
          <a:prstGeom prst="roundRect">
            <a:avLst>
              <a:gd fmla="val 4118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6382512" y="1810512"/>
            <a:ext cx="25054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B5D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B6B5D"/>
                </a:solidFill>
                <a:latin typeface="Calibri"/>
                <a:ea typeface="Calibri"/>
                <a:cs typeface="Calibri"/>
                <a:sym typeface="Calibri"/>
              </a:rPr>
              <a:t>14.0%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6400800" y="2487168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churn rate (target)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6400800" y="278892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no order in the next 30 days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9153144" y="1691640"/>
            <a:ext cx="2688336" cy="1554480"/>
          </a:xfrm>
          <a:prstGeom prst="roundRect">
            <a:avLst>
              <a:gd fmla="val 4118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9244584" y="1810512"/>
            <a:ext cx="25054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B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E8A33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9262872" y="2487168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planted leaky columns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9262872" y="278892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the Lab 1 leakage hunt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66928" y="3520440"/>
            <a:ext cx="6858000" cy="2743200"/>
          </a:xfrm>
          <a:prstGeom prst="roundRect">
            <a:avLst>
              <a:gd fmla="val 2333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777240" y="367588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One repository, five days, every lab compounds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777240" y="4069080"/>
            <a:ext cx="64922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Day 1: frame the churn &amp; basket-value problems, split correctly, beat the dummy baselines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Day 2: interpretable models + a leakage-proof preprocessing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Day 3: defensible metrics, cross-validation, error analysis, tree ensembles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Day 4: customer segments, PCA, systematic tuning — one test-set evaluation, ever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Day 5: prove the workflow transfers — repeat everything, unassisted, on real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635240" y="3520440"/>
            <a:ext cx="3986784" cy="2743200"/>
          </a:xfrm>
          <a:prstGeom prst="roundRect">
            <a:avLst>
              <a:gd fmla="val 2333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7845552" y="3703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Never a throwaway toy dataset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7845552" y="4114800"/>
            <a:ext cx="36118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Every technique is demonstrated on Manafeth so pipelines, splits, and baselines built in earlier labs keep paying off. The capstone is the one deliberate change of data — and that is the point: participants prove the workflow transfers, not the dataset.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/>
          <p:nvPr/>
        </p:nvSpPr>
        <p:spPr>
          <a:xfrm>
            <a:off x="566928" y="329184"/>
            <a:ext cx="1175918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566928" y="329184"/>
            <a:ext cx="117591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DELIVERY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Five-Day Delivery Roadmap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" name="Google Shape;154;p5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{E0CDE1C1-62A7-44C6-83CE-F4AE5E7467F2}</a:tableStyleId>
              </a:tblPr>
              <a:tblGrid>
                <a:gridCol w="685800"/>
                <a:gridCol w="2743200"/>
                <a:gridCol w="3063250"/>
                <a:gridCol w="777250"/>
                <a:gridCol w="3785625"/>
              </a:tblGrid>
              <a:tr h="658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Theme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Lab 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Deliverable at end of day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business question to first model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M1 framing &amp; workflow · M2 regression (part 1)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Framing canvas + stratified split + beaten baseline + first regression model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Models and pipelines that don't lie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M2 classification · M3 features &amp; pipelines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Churn classifiers + leakage-proof ColumnTransformer pipeline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Trust, but verify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M4 evaluation, metrics &amp; CV · M5 tree ensembles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 evaluation harness + error analysis + tuned-by-default ensemble beating linear models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Structure without labels, performance by design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M6 unsupervised · M7 tuning · capstone kickoff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 segments + PCA views + systematically tuned final model + capstone dataset selected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end-to-end project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 capstone — nothing new is taught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 modelling project on real data: notebook, model card, 5-minute demo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5"/>
          <p:cNvSpPr/>
          <p:nvPr/>
        </p:nvSpPr>
        <p:spPr>
          <a:xfrm>
            <a:off x="566928" y="5577840"/>
            <a:ext cx="11055096" cy="749808"/>
          </a:xfrm>
          <a:prstGeom prst="roundRect">
            <a:avLst>
              <a:gd fmla="val 8537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lock_t.png" id="156" name="Google Shape;1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" y="583387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1371600" y="566928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Pace control: Labs 3 and 7 are the overrun-prone hours — protect them at full length. Checkpoint solution notebooks (lab1…lab7) let stragglers fast-forward. Rotate pairs daily: strong-Python with strong-domain.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/>
          <p:nvPr/>
        </p:nvSpPr>
        <p:spPr>
          <a:xfrm>
            <a:off x="566928" y="329184"/>
            <a:ext cx="1175918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566928" y="329184"/>
            <a:ext cx="117591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FIVE DAYS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Canonical Workflow — The Map on the Wall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66928" y="1600200"/>
            <a:ext cx="1965960" cy="777240"/>
          </a:xfrm>
          <a:prstGeom prst="roundRect">
            <a:avLst>
              <a:gd fmla="val 8235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621792" y="1600200"/>
            <a:ext cx="18562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Business question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2569464" y="1865376"/>
            <a:ext cx="256032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2862072" y="1600200"/>
            <a:ext cx="1965960" cy="777240"/>
          </a:xfrm>
          <a:prstGeom prst="roundRect">
            <a:avLst>
              <a:gd fmla="val 8235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2916936" y="1600200"/>
            <a:ext cx="18562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Framing canvas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864608" y="1865376"/>
            <a:ext cx="256032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5157216" y="1600200"/>
            <a:ext cx="1965960" cy="777240"/>
          </a:xfrm>
          <a:prstGeom prst="roundRect">
            <a:avLst>
              <a:gd fmla="val 8235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5212080" y="1600200"/>
            <a:ext cx="18562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Data audit &amp; EDA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7159752" y="1865376"/>
            <a:ext cx="256032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7452360" y="1600200"/>
            <a:ext cx="1965960" cy="777240"/>
          </a:xfrm>
          <a:prstGeom prst="roundRect">
            <a:avLst>
              <a:gd fmla="val 8235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7507224" y="1600200"/>
            <a:ext cx="18562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SPLIT 🔒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9454896" y="1865376"/>
            <a:ext cx="256032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9747504" y="1600200"/>
            <a:ext cx="1965960" cy="777240"/>
          </a:xfrm>
          <a:prstGeom prst="roundRect">
            <a:avLst>
              <a:gd fmla="val 8235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9802368" y="1600200"/>
            <a:ext cx="18562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Baselines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0424160" y="2468880"/>
            <a:ext cx="237744" cy="3200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210312" y="2907792"/>
            <a:ext cx="2606040" cy="777240"/>
          </a:xfrm>
          <a:prstGeom prst="roundRect">
            <a:avLst>
              <a:gd fmla="val 8235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283464" y="2907792"/>
            <a:ext cx="24597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Iterate: features → model → CV → error analysis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2852928" y="3172968"/>
            <a:ext cx="256032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3145536" y="2907792"/>
            <a:ext cx="2606040" cy="777240"/>
          </a:xfrm>
          <a:prstGeom prst="roundRect">
            <a:avLst>
              <a:gd fmla="val 8235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3218688" y="2907792"/>
            <a:ext cx="24597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Tune the best candidate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5788152" y="3172968"/>
            <a:ext cx="256032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6080760" y="2907792"/>
            <a:ext cx="2606040" cy="777240"/>
          </a:xfrm>
          <a:prstGeom prst="roundRect">
            <a:avLst>
              <a:gd fmla="val 8235" name="adj"/>
            </a:avLst>
          </a:prstGeom>
          <a:solidFill>
            <a:srgbClr val="E8A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6153912" y="2907792"/>
            <a:ext cx="24597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set — once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8723376" y="3172968"/>
            <a:ext cx="256032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9015984" y="2907792"/>
            <a:ext cx="2606040" cy="777240"/>
          </a:xfrm>
          <a:prstGeom prst="roundRect">
            <a:avLst>
              <a:gd fmla="val 8235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9089136" y="2907792"/>
            <a:ext cx="24597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card → ship / iterate / stop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566928" y="4114800"/>
            <a:ext cx="3602736" cy="1965960"/>
          </a:xfrm>
          <a:prstGeom prst="roundRect">
            <a:avLst>
              <a:gd fmla="val 3256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731520" y="4279392"/>
            <a:ext cx="457200" cy="457200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ock_w.png" id="195" name="Google Shape;1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43891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 txBox="1"/>
          <p:nvPr/>
        </p:nvSpPr>
        <p:spPr>
          <a:xfrm>
            <a:off x="1316736" y="435254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Split first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749808" y="4828032"/>
            <a:ext cx="3246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The test set is quarantined the moment the target is defined. train_test_split happens in cell 3, not cell 30 — every decision made after looking at test data contaminates it.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343400" y="4114800"/>
            <a:ext cx="3602736" cy="1965960"/>
          </a:xfrm>
          <a:prstGeom prst="roundRect">
            <a:avLst>
              <a:gd fmla="val 3256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4507992" y="4279392"/>
            <a:ext cx="457200" cy="457200"/>
          </a:xfrm>
          <a:prstGeom prst="ellipse">
            <a:avLst/>
          </a:prstGeom>
          <a:solidFill>
            <a:srgbClr val="B850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an_w.png" id="200" name="Google Shape;20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43891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6"/>
          <p:cNvSpPr txBox="1"/>
          <p:nvPr/>
        </p:nvSpPr>
        <p:spPr>
          <a:xfrm>
            <a:off x="5093208" y="435254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test set is spent once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4526280" y="4828032"/>
            <a:ext cx="3246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Validation and CV absorb all iteration; the test set answers only “what should we expect in production?” A test set consulted ten times is a validation set with a misleading name.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8119872" y="4114800"/>
            <a:ext cx="3602736" cy="1965960"/>
          </a:xfrm>
          <a:prstGeom prst="roundRect">
            <a:avLst>
              <a:gd fmla="val 3256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8284464" y="4279392"/>
            <a:ext cx="457200" cy="457200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plit_w.png" id="205" name="Google Shape;20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4192" y="43891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"/>
          <p:cNvSpPr txBox="1"/>
          <p:nvPr/>
        </p:nvSpPr>
        <p:spPr>
          <a:xfrm>
            <a:off x="8869680" y="435254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Stratify or respect time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8302752" y="4828032"/>
            <a:ext cx="3246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For imbalanced targets, stratify=y preserves the class ratio. When the model predicts the future, split by time — random splits let it train on tomorrow to predict yesterday.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566928" y="37856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Three rules give the workflow its integrity: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62E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3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 txBox="1"/>
          <p:nvPr/>
        </p:nvSpPr>
        <p:spPr>
          <a:xfrm>
            <a:off x="640080" y="105156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000"/>
              <a:buFont typeface="Calibri"/>
              <a:buNone/>
            </a:pPr>
            <a:r>
              <a:rPr b="1" i="0" lang="en-US" sz="120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676656" y="29718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33B"/>
                </a:solidFill>
                <a:latin typeface="Calibri"/>
                <a:ea typeface="Calibri"/>
                <a:cs typeface="Calibri"/>
                <a:sym typeface="Calibri"/>
              </a:rPr>
              <a:t>DAY 1 · HOURS 1–3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76656" y="5120640"/>
            <a:ext cx="777240" cy="777240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arget_w.png" id="219" name="Google Shape;2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194" y="530717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7"/>
          <p:cNvSpPr txBox="1"/>
          <p:nvPr/>
        </p:nvSpPr>
        <p:spPr>
          <a:xfrm>
            <a:off x="4526280" y="1371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4480560" y="1737360"/>
            <a:ext cx="7132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Problem Framing &amp; Workflow Design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4480560" y="3127248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5BD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9FC5BD"/>
                </a:solidFill>
                <a:latin typeface="Calibri"/>
                <a:ea typeface="Calibri"/>
                <a:cs typeface="Calibri"/>
                <a:sym typeface="Calibri"/>
              </a:rPr>
              <a:t>تأطير مشكلات تعلم الآلة وتصميم منهجية العمل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4526280" y="3886200"/>
            <a:ext cx="70408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Decide whether a problem needs ML, rules, or analytics — and defend it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Classify problems into regression, classification, or unsupervised tasks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Execute stratified and temporal splits before any test-set exploration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Establish dummy + heuristic baselines as the acceptance bar for every model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When ML Is the Wrong Answer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Machine learning learns a function from examples — that sentence is a three-item checklist, and the first gate of the workflow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566928" y="1691640"/>
            <a:ext cx="3602736" cy="1783080"/>
          </a:xfrm>
          <a:prstGeom prst="roundRect">
            <a:avLst>
              <a:gd fmla="val 3590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731520" y="1856232"/>
            <a:ext cx="502920" cy="50292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b_w.png" id="235" name="Google Shape;2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221" y="1976933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8"/>
          <p:cNvSpPr txBox="1"/>
          <p:nvPr/>
        </p:nvSpPr>
        <p:spPr>
          <a:xfrm>
            <a:off x="1371600" y="194767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749808" y="2450592"/>
            <a:ext cx="3246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Historical data with outcomes must exist. A “demand forecast” for a product with four data points is not a forecast.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343400" y="1691640"/>
            <a:ext cx="3602736" cy="1783080"/>
          </a:xfrm>
          <a:prstGeom prst="roundRect">
            <a:avLst>
              <a:gd fmla="val 3590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4507992" y="1856232"/>
            <a:ext cx="502920" cy="50292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art_w.png" id="240" name="Google Shape;24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8693" y="1976933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8"/>
          <p:cNvSpPr txBox="1"/>
          <p:nvPr/>
        </p:nvSpPr>
        <p:spPr>
          <a:xfrm>
            <a:off x="5148072" y="194767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Pattern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4526280" y="2450592"/>
            <a:ext cx="3246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The outcome must be at least partly predictable from the inputs. If it is dominated by information you will never have, no model rescues it.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8119872" y="1691640"/>
            <a:ext cx="3602736" cy="1783080"/>
          </a:xfrm>
          <a:prstGeom prst="roundRect">
            <a:avLst>
              <a:gd fmla="val 3590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8284464" y="1856232"/>
            <a:ext cx="502920" cy="50292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oney_w.png" id="245" name="Google Shape;24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05165" y="1976933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8"/>
          <p:cNvSpPr txBox="1"/>
          <p:nvPr/>
        </p:nvSpPr>
        <p:spPr>
          <a:xfrm>
            <a:off x="8924544" y="194767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Payoff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8302752" y="2450592"/>
            <a:ext cx="3246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Someone must act on the prediction. A churn model whose predictions nobody is staffed to act on saves no one.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566928" y="3749040"/>
            <a:ext cx="5486400" cy="2331720"/>
          </a:xfrm>
          <a:prstGeom prst="roundRect">
            <a:avLst>
              <a:gd fmla="val 2745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 txBox="1"/>
          <p:nvPr/>
        </p:nvSpPr>
        <p:spPr>
          <a:xfrm>
            <a:off x="777240" y="389534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If not ML, then what?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777240" y="4279392"/>
            <a:ext cx="5074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80"/>
              <a:buFont typeface="Calibri"/>
              <a:buChar char="•"/>
            </a:pPr>
            <a:r>
              <a:rPr b="0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 deterministic rule already exists (“block transactions over the card limit”) → write the rule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800"/>
              </a:spcBef>
              <a:spcAft>
                <a:spcPts val="0"/>
              </a:spcAft>
              <a:buClr>
                <a:srgbClr val="12262E"/>
              </a:buClr>
              <a:buSzPts val="1180"/>
              <a:buFont typeface="Calibri"/>
              <a:buChar char="•"/>
            </a:pPr>
            <a:r>
              <a:rPr b="0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 one-off insight (“which city grew fastest last quarter?”) → that is analytics, not ML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800"/>
              </a:spcBef>
              <a:spcAft>
                <a:spcPts val="0"/>
              </a:spcAft>
              <a:buClr>
                <a:srgbClr val="12262E"/>
              </a:buClr>
              <a:buSzPts val="1180"/>
              <a:buFont typeface="Calibri"/>
              <a:buChar char="•"/>
            </a:pPr>
            <a:r>
              <a:rPr b="1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 correctly framed project fails fast and cheap in week one — or succeeds. A mis-framed project burns a quarter and erodes trust in the whole AI programme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263640" y="3749040"/>
            <a:ext cx="5358384" cy="2331720"/>
          </a:xfrm>
          <a:prstGeom prst="roundRect">
            <a:avLst>
              <a:gd fmla="val 2745" name="adj"/>
            </a:avLst>
          </a:prstGeom>
          <a:solidFill>
            <a:srgbClr val="F7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_r.png" id="252" name="Google Shape;25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45275" y="4012387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8"/>
          <p:cNvSpPr txBox="1"/>
          <p:nvPr/>
        </p:nvSpPr>
        <p:spPr>
          <a:xfrm>
            <a:off x="6967728" y="396849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2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B8502F"/>
                </a:solidFill>
                <a:latin typeface="Calibri"/>
                <a:ea typeface="Calibri"/>
                <a:cs typeface="Calibri"/>
                <a:sym typeface="Calibri"/>
              </a:rPr>
              <a:t>Failure stories to collect from the room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6473952" y="443484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80"/>
              <a:buFont typeface="Calibri"/>
              <a:buChar char="•"/>
            </a:pPr>
            <a:r>
              <a:rPr b="0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 “fraud model” that reimplemented three business rules with 40 hours of training compute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800"/>
              </a:spcBef>
              <a:spcAft>
                <a:spcPts val="0"/>
              </a:spcAft>
              <a:buClr>
                <a:srgbClr val="12262E"/>
              </a:buClr>
              <a:buSzPts val="1180"/>
              <a:buFont typeface="Calibri"/>
              <a:buChar char="•"/>
            </a:pPr>
            <a:r>
              <a:rPr b="0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 demand forecast built on four historical data points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800"/>
              </a:spcBef>
              <a:spcAft>
                <a:spcPts val="0"/>
              </a:spcAft>
              <a:buClr>
                <a:srgbClr val="12262E"/>
              </a:buClr>
              <a:buSzPts val="1180"/>
              <a:buFont typeface="Calibri"/>
              <a:buChar char="•"/>
            </a:pPr>
            <a:r>
              <a:rPr b="0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 churn model nobody was staffed to act on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Task Taxonomy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The practical taxonomy for this course — every framing decision starts 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5" name="Google Shape;265;p9"/>
          <p:cNvGraphicFramePr/>
          <p:nvPr/>
        </p:nvGraphicFramePr>
        <p:xfrm>
          <a:off x="566928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{E0CDE1C1-62A7-44C6-83CE-F4AE5E7467F2}</a:tableStyleId>
              </a:tblPr>
              <a:tblGrid>
                <a:gridCol w="2743200"/>
                <a:gridCol w="2286000"/>
                <a:gridCol w="2560325"/>
                <a:gridCol w="3465575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Manafeth example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Regression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Continuous number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quantity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Next-month basket value in SAR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Binary classification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Yes/no label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Probability + decision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Will this customer churn in 30 days?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Multiclass classification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of k labels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Probability per class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Which delivery slot will they pick?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Clustering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 (unsupervised)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Group assignments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 behavioural segments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Dimensionality reduction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Compressed representation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2-D map of 30 usage features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6" name="Google Shape;266;p9"/>
          <p:cNvSpPr/>
          <p:nvPr/>
        </p:nvSpPr>
        <p:spPr>
          <a:xfrm>
            <a:off x="566928" y="5166360"/>
            <a:ext cx="11055096" cy="1143000"/>
          </a:xfrm>
          <a:prstGeom prst="roundRect">
            <a:avLst>
              <a:gd fmla="val 5600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777240" y="5440680"/>
            <a:ext cx="566928" cy="566928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question_w.png" id="268" name="Google Shape;26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303" y="55767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9"/>
          <p:cNvSpPr txBox="1"/>
          <p:nvPr/>
        </p:nvSpPr>
        <p:spPr>
          <a:xfrm>
            <a:off x="1554480" y="5303520"/>
            <a:ext cx="9921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alibri"/>
              <a:buNone/>
            </a:pPr>
            <a:r>
              <a:rPr b="1" i="0" lang="en-US" sz="11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Framing decides economics.  </a:t>
            </a:r>
            <a:r>
              <a:rPr b="0" i="0" lang="en-US" sz="118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“Reduce card churn” can be churn classification (act per customer), survival analysis (when), or uplift modelling (who is persuadable) — each needs different data and carries different economics. “Better delivery promises” is a regression on a business-set quantile, not a mean, because a late promise costs more than an early one.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Framing Canvas — Six Questions That Force Precision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Completed in Lab 1 and again in the capstone; committed as FRAMING.md before the first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566928" y="1691640"/>
            <a:ext cx="5486400" cy="1325880"/>
          </a:xfrm>
          <a:prstGeom prst="roundRect">
            <a:avLst>
              <a:gd fmla="val 4828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713232" y="1837944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 txBox="1"/>
          <p:nvPr/>
        </p:nvSpPr>
        <p:spPr>
          <a:xfrm>
            <a:off x="713232" y="18379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1298448" y="1874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Business question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1298448" y="2203704"/>
            <a:ext cx="4617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What decision will change because of this model?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6236208" y="1691640"/>
            <a:ext cx="5486400" cy="1325880"/>
          </a:xfrm>
          <a:prstGeom prst="roundRect">
            <a:avLst>
              <a:gd fmla="val 4828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6382512" y="1837944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 txBox="1"/>
          <p:nvPr/>
        </p:nvSpPr>
        <p:spPr>
          <a:xfrm>
            <a:off x="6382512" y="18379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6967728" y="1874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Unit of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 txBox="1"/>
          <p:nvPr/>
        </p:nvSpPr>
        <p:spPr>
          <a:xfrm>
            <a:off x="6967728" y="2203704"/>
            <a:ext cx="4617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One row = one what? (customer-month, order, sensor-hour) — the most common silent error in real projects.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566928" y="3172968"/>
            <a:ext cx="5486400" cy="1325880"/>
          </a:xfrm>
          <a:prstGeom prst="roundRect">
            <a:avLst>
              <a:gd fmla="val 4828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713232" y="3319272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 txBox="1"/>
          <p:nvPr/>
        </p:nvSpPr>
        <p:spPr>
          <a:xfrm>
            <a:off x="713232" y="33192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 txBox="1"/>
          <p:nvPr/>
        </p:nvSpPr>
        <p:spPr>
          <a:xfrm>
            <a:off x="1298448" y="335584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Target definition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 txBox="1"/>
          <p:nvPr/>
        </p:nvSpPr>
        <p:spPr>
          <a:xfrm>
            <a:off x="1298448" y="3685032"/>
            <a:ext cx="4617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Precisely, mechanically computable from data. “Churn = no completed order in the 30 days after the observation date.”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6236208" y="3172968"/>
            <a:ext cx="5486400" cy="1325880"/>
          </a:xfrm>
          <a:prstGeom prst="roundRect">
            <a:avLst>
              <a:gd fmla="val 4828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6382512" y="3319272"/>
            <a:ext cx="457200" cy="457200"/>
          </a:xfrm>
          <a:prstGeom prst="ellipse">
            <a:avLst/>
          </a:prstGeom>
          <a:solidFill>
            <a:srgbClr val="E8A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 txBox="1"/>
          <p:nvPr/>
        </p:nvSpPr>
        <p:spPr>
          <a:xfrm>
            <a:off x="6382512" y="33192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 txBox="1"/>
          <p:nvPr/>
        </p:nvSpPr>
        <p:spPr>
          <a:xfrm>
            <a:off x="6967728" y="335584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Features at prediction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 txBox="1"/>
          <p:nvPr/>
        </p:nvSpPr>
        <p:spPr>
          <a:xfrm>
            <a:off x="6967728" y="3685032"/>
            <a:ext cx="4617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The timestamp discipline: anything recorded after the prediction moment is leakage by construction.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566928" y="4654296"/>
            <a:ext cx="5486400" cy="1325880"/>
          </a:xfrm>
          <a:prstGeom prst="roundRect">
            <a:avLst>
              <a:gd fmla="val 4828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713232" y="4800600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 txBox="1"/>
          <p:nvPr/>
        </p:nvSpPr>
        <p:spPr>
          <a:xfrm>
            <a:off x="713232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 txBox="1"/>
          <p:nvPr/>
        </p:nvSpPr>
        <p:spPr>
          <a:xfrm>
            <a:off x="1298448" y="48371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Metric &amp; threshold of success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1298448" y="5166360"/>
            <a:ext cx="4617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Chosen with the business, in business terms, before modelling: “catch ≥ 60% of churners while contacting ≤ 20% of the base.”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6236208" y="4654296"/>
            <a:ext cx="5486400" cy="1325880"/>
          </a:xfrm>
          <a:prstGeom prst="roundRect">
            <a:avLst>
              <a:gd fmla="val 4828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6382512" y="4800600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 txBox="1"/>
          <p:nvPr/>
        </p:nvSpPr>
        <p:spPr>
          <a:xfrm>
            <a:off x="6382512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 txBox="1"/>
          <p:nvPr/>
        </p:nvSpPr>
        <p:spPr>
          <a:xfrm>
            <a:off x="6967728" y="48371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Baseline &amp; current practice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 txBox="1"/>
          <p:nvPr/>
        </p:nvSpPr>
        <p:spPr>
          <a:xfrm>
            <a:off x="6967728" y="5166360"/>
            <a:ext cx="4617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What does the business do today, and what does a naive model score? Both are acceptance bars.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Baselines — The Cheapest Insurance in ML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A baseline is a model so simple it cannot be wrong about its own honesty. The course mandates two per task.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566928" y="1737360"/>
            <a:ext cx="5440680" cy="2286000"/>
          </a:xfrm>
          <a:prstGeom prst="roundRect">
            <a:avLst>
              <a:gd fmla="val 2800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auge_w.png" id="322" name="Google Shape;32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204094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1"/>
          <p:cNvSpPr txBox="1"/>
          <p:nvPr/>
        </p:nvSpPr>
        <p:spPr>
          <a:xfrm>
            <a:off x="1417320" y="201168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Dummy baseline — the floor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804672" y="2542032"/>
            <a:ext cx="50292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DummyRegressor(strategy=“mean”) · DummyClassifier(“most_frequent” / “stratified”)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Defines the floor: any model that fails to beat it clearly is worse than no model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Char char="•"/>
            </a:pPr>
            <a:r>
              <a:rPr b="1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Manafeth: dummy MAE 34.2 SAR · stratified dummy PR-AUC 0.14 (= the churn rate — what “no skill” looks like)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6199632" y="1737360"/>
            <a:ext cx="5440680" cy="2286000"/>
          </a:xfrm>
          <a:prstGeom prst="roundRect">
            <a:avLst>
              <a:gd fmla="val 2800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6400800" y="1920240"/>
            <a:ext cx="502920" cy="50292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users_w.png" id="327" name="Google Shape;32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1501" y="204094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1"/>
          <p:cNvSpPr txBox="1"/>
          <p:nvPr/>
        </p:nvSpPr>
        <p:spPr>
          <a:xfrm>
            <a:off x="7040880" y="201168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Heuristic baseline — the business bar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6428232" y="2542032"/>
            <a:ext cx="50292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One line of domain logic: “predict churn if no order in 21 days” — deployable this afternoon, for free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model must beat this, not just the dummy, to justify its existence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Char char="•"/>
            </a:pPr>
            <a:r>
              <a:rPr b="1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Manafeth: the CRM team's 21-day-silence rule catches 41% of churners at the 20% budget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566928" y="4279392"/>
            <a:ext cx="11055096" cy="1828800"/>
          </a:xfrm>
          <a:prstGeom prst="roundRect">
            <a:avLst>
              <a:gd fmla="val 3500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 txBox="1"/>
          <p:nvPr/>
        </p:nvSpPr>
        <p:spPr>
          <a:xfrm>
            <a:off x="868680" y="452628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B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E8A33B"/>
                </a:solidFill>
                <a:latin typeface="Calibri"/>
                <a:ea typeface="Calibri"/>
                <a:cs typeface="Calibri"/>
                <a:sym typeface="Calibri"/>
              </a:rPr>
              <a:t>86%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 txBox="1"/>
          <p:nvPr/>
        </p:nvSpPr>
        <p:spPr>
          <a:xfrm>
            <a:off x="868680" y="54406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accuracy — while catching zero churners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3200400" y="4498848"/>
            <a:ext cx="8183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most effective demonstration in the course.  </a:t>
            </a:r>
            <a:r>
              <a:rPr b="0" i="0" lang="en-US" sz="12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At Manafeth's 14% churn rate, the most-frequent classifier scores 86% accuracy and catches nobody. That number restates the class balance — it is the floor, not an achievement. This lands three hours before Module 4 formalises why accuracy is the wrong metric here.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Manafeth, Framed Live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Close the theory by filling the canvas on the projector with class input — then run split + baselines end-to-end in under 10 minutes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4" name="Google Shape;344;p12"/>
          <p:cNvGraphicFramePr/>
          <p:nvPr/>
        </p:nvGraphicFramePr>
        <p:xfrm>
          <a:off x="566928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{E0CDE1C1-62A7-44C6-83CE-F4AE5E7467F2}</a:tableStyleId>
              </a:tblPr>
              <a:tblGrid>
                <a:gridCol w="2468875"/>
                <a:gridCol w="53035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Canvas question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Answer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decision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Allocate retention vouchers to top-20% risk customers, monthly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 of analysis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 × monthly snapshot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churned_30d = no completed order in (snapshot, snapshot+30d]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Prediction-time features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RFM aggregates, city, device, payment method, tenure — all computable at snapshot time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502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850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Excluded as leakage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502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850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refund_issued · support_ticket_after_snapshot · next_month_orders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Success metric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recall@top-20% ≥ 0.60; PR-AUC for model comparison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Stratified dummy (PR-AUC 0.14) · 21-day-silence heuristic (recall@20% 0.41)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Stop condition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 best model &lt; heuristic + 5 pts after Day 3, revisit features — not models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Google Shape;345;p12"/>
          <p:cNvSpPr/>
          <p:nvPr/>
        </p:nvSpPr>
        <p:spPr>
          <a:xfrm>
            <a:off x="8595360" y="1691640"/>
            <a:ext cx="3017520" cy="4206240"/>
          </a:xfrm>
          <a:prstGeom prst="roundRect">
            <a:avLst>
              <a:gd fmla="val 2121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8778240" y="1874520"/>
            <a:ext cx="457200" cy="457200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eye_w.png" id="347" name="Google Shape;34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9842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2"/>
          <p:cNvSpPr txBox="1"/>
          <p:nvPr/>
        </p:nvSpPr>
        <p:spPr>
          <a:xfrm>
            <a:off x="9372600" y="194767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Secondary thread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 txBox="1"/>
          <p:nvPr/>
        </p:nvSpPr>
        <p:spPr>
          <a:xfrm>
            <a:off x="8805672" y="2423160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Regression: predict next-month basket value to size the voucher amounts.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 txBox="1"/>
          <p:nvPr/>
        </p:nvSpPr>
        <p:spPr>
          <a:xfrm>
            <a:off x="8805672" y="338328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6B5D"/>
                </a:solidFill>
                <a:latin typeface="Calibri"/>
                <a:ea typeface="Calibri"/>
                <a:cs typeface="Calibri"/>
                <a:sym typeface="Calibri"/>
              </a:rPr>
              <a:t>The speed IS the message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 txBox="1"/>
          <p:nvPr/>
        </p:nvSpPr>
        <p:spPr>
          <a:xfrm>
            <a:off x="8805672" y="3749040"/>
            <a:ext cx="2606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Rehearse the live demo: the disciplined path is also the fast path — framing to committed baselines in under ten minutes.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3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Framing Mistakes That Decide Projects Early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566928" y="1481328"/>
            <a:ext cx="5486400" cy="1280160"/>
          </a:xfrm>
          <a:prstGeom prst="roundRect">
            <a:avLst>
              <a:gd fmla="val 5000" name="adj"/>
            </a:avLst>
          </a:prstGeom>
          <a:solidFill>
            <a:srgbClr val="F7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713232" y="1627632"/>
            <a:ext cx="365760" cy="365760"/>
          </a:xfrm>
          <a:prstGeom prst="ellipse">
            <a:avLst/>
          </a:prstGeom>
          <a:solidFill>
            <a:srgbClr val="B850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x_w.png" id="363" name="Google Shape;3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014" y="171541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3"/>
          <p:cNvSpPr txBox="1"/>
          <p:nvPr/>
        </p:nvSpPr>
        <p:spPr>
          <a:xfrm>
            <a:off x="1188720" y="1645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2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8502F"/>
                </a:solidFill>
                <a:latin typeface="Calibri"/>
                <a:ea typeface="Calibri"/>
                <a:cs typeface="Calibri"/>
                <a:sym typeface="Calibri"/>
              </a:rPr>
              <a:t>Framing the proxy, not the problem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 txBox="1"/>
          <p:nvPr/>
        </p:nvSpPr>
        <p:spPr>
          <a:xfrm>
            <a:off x="1188720" y="1975104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40"/>
              <a:buFont typeface="Calibri"/>
              <a:buNone/>
            </a:pPr>
            <a:r>
              <a:rPr b="0" i="0" lang="en-US" sz="104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Predicting “customer called support” because churn labels were hard to build — then acting on it as if it were churn.</a:t>
            </a:r>
            <a:endParaRPr b="0" i="0" sz="10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6236208" y="1481328"/>
            <a:ext cx="5486400" cy="1280160"/>
          </a:xfrm>
          <a:prstGeom prst="roundRect">
            <a:avLst>
              <a:gd fmla="val 5000" name="adj"/>
            </a:avLst>
          </a:prstGeom>
          <a:solidFill>
            <a:srgbClr val="F7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6382512" y="1627632"/>
            <a:ext cx="365760" cy="365760"/>
          </a:xfrm>
          <a:prstGeom prst="ellipse">
            <a:avLst/>
          </a:prstGeom>
          <a:solidFill>
            <a:srgbClr val="B850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x_w.png" id="368" name="Google Shape;3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0294" y="171541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3"/>
          <p:cNvSpPr txBox="1"/>
          <p:nvPr/>
        </p:nvSpPr>
        <p:spPr>
          <a:xfrm>
            <a:off x="6858000" y="1645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2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8502F"/>
                </a:solidFill>
                <a:latin typeface="Calibri"/>
                <a:ea typeface="Calibri"/>
                <a:cs typeface="Calibri"/>
                <a:sym typeface="Calibri"/>
              </a:rPr>
              <a:t>Unit-of-analysis drift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 txBox="1"/>
          <p:nvPr/>
        </p:nvSpPr>
        <p:spPr>
          <a:xfrm>
            <a:off x="6858000" y="1975104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40"/>
              <a:buFont typeface="Calibri"/>
              <a:buNone/>
            </a:pPr>
            <a:r>
              <a:rPr b="0" i="0" lang="en-US" sz="104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Features per-customer, labels per-order: the join silently duplicates rows and the model trains on the same customer 40 times, inflating every score.</a:t>
            </a:r>
            <a:endParaRPr b="0" i="0" sz="10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566928" y="2898648"/>
            <a:ext cx="5486400" cy="1280160"/>
          </a:xfrm>
          <a:prstGeom prst="roundRect">
            <a:avLst>
              <a:gd fmla="val 5000" name="adj"/>
            </a:avLst>
          </a:prstGeom>
          <a:solidFill>
            <a:srgbClr val="F7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713232" y="3044952"/>
            <a:ext cx="365760" cy="365760"/>
          </a:xfrm>
          <a:prstGeom prst="ellipse">
            <a:avLst/>
          </a:prstGeom>
          <a:solidFill>
            <a:srgbClr val="B850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x_w.png" id="373" name="Google Shape;3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014" y="313273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3"/>
          <p:cNvSpPr txBox="1"/>
          <p:nvPr/>
        </p:nvSpPr>
        <p:spPr>
          <a:xfrm>
            <a:off x="1188720" y="306324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2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8502F"/>
                </a:solidFill>
                <a:latin typeface="Calibri"/>
                <a:ea typeface="Calibri"/>
                <a:cs typeface="Calibri"/>
                <a:sym typeface="Calibri"/>
              </a:rPr>
              <a:t>Target leakage at framing time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1188720" y="3392424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40"/>
              <a:buFont typeface="Calibri"/>
              <a:buNone/>
            </a:pPr>
            <a:r>
              <a:rPr b="0" i="0" lang="en-US" sz="104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refund_issued as a churn feature — refunds happen mostly after the churn decision. The timestamp test catches it.</a:t>
            </a:r>
            <a:endParaRPr b="0" i="0" sz="10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6236208" y="2898648"/>
            <a:ext cx="5486400" cy="1280160"/>
          </a:xfrm>
          <a:prstGeom prst="roundRect">
            <a:avLst>
              <a:gd fmla="val 5000" name="adj"/>
            </a:avLst>
          </a:prstGeom>
          <a:solidFill>
            <a:srgbClr val="F7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6382512" y="3044952"/>
            <a:ext cx="365760" cy="365760"/>
          </a:xfrm>
          <a:prstGeom prst="ellipse">
            <a:avLst/>
          </a:prstGeom>
          <a:solidFill>
            <a:srgbClr val="B850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x_w.png" id="378" name="Google Shape;3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0294" y="313273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3"/>
          <p:cNvSpPr txBox="1"/>
          <p:nvPr/>
        </p:nvSpPr>
        <p:spPr>
          <a:xfrm>
            <a:off x="6858000" y="306324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2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8502F"/>
                </a:solidFill>
                <a:latin typeface="Calibri"/>
                <a:ea typeface="Calibri"/>
                <a:cs typeface="Calibri"/>
                <a:sym typeface="Calibri"/>
              </a:rPr>
              <a:t>Test-set peeking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 txBox="1"/>
          <p:nvPr/>
        </p:nvSpPr>
        <p:spPr>
          <a:xfrm>
            <a:off x="6858000" y="3392424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40"/>
              <a:buFont typeface="Calibri"/>
              <a:buNone/>
            </a:pPr>
            <a:r>
              <a:rPr b="0" i="0" lang="en-US" sz="104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Choosing features by correlation with the target computed on all data; EDA on the full dataset including test rows. Split first.</a:t>
            </a:r>
            <a:endParaRPr b="0" i="0" sz="10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566928" y="4315968"/>
            <a:ext cx="5486400" cy="1280160"/>
          </a:xfrm>
          <a:prstGeom prst="roundRect">
            <a:avLst>
              <a:gd fmla="val 5000" name="adj"/>
            </a:avLst>
          </a:prstGeom>
          <a:solidFill>
            <a:srgbClr val="F7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713232" y="4462272"/>
            <a:ext cx="365760" cy="365760"/>
          </a:xfrm>
          <a:prstGeom prst="ellipse">
            <a:avLst/>
          </a:prstGeom>
          <a:solidFill>
            <a:srgbClr val="B850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x_w.png" id="383" name="Google Shape;38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014" y="455005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3"/>
          <p:cNvSpPr txBox="1"/>
          <p:nvPr/>
        </p:nvSpPr>
        <p:spPr>
          <a:xfrm>
            <a:off x="1188720" y="448056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2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8502F"/>
                </a:solidFill>
                <a:latin typeface="Calibri"/>
                <a:ea typeface="Calibri"/>
                <a:cs typeface="Calibri"/>
                <a:sym typeface="Calibri"/>
              </a:rPr>
              <a:t>Metric chosen after the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 txBox="1"/>
          <p:nvPr/>
        </p:nvSpPr>
        <p:spPr>
          <a:xfrm>
            <a:off x="1188720" y="4809744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40"/>
              <a:buFont typeface="Calibri"/>
              <a:buNone/>
            </a:pPr>
            <a:r>
              <a:rPr b="0" i="0" lang="en-US" sz="104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Teams pick the metric their model happens to win — canvas question 5 exists to prevent exactly this.</a:t>
            </a:r>
            <a:endParaRPr b="0" i="0" sz="10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6236208" y="4315968"/>
            <a:ext cx="5486400" cy="1280160"/>
          </a:xfrm>
          <a:prstGeom prst="roundRect">
            <a:avLst>
              <a:gd fmla="val 5000" name="adj"/>
            </a:avLst>
          </a:prstGeom>
          <a:solidFill>
            <a:srgbClr val="F7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3"/>
          <p:cNvSpPr/>
          <p:nvPr/>
        </p:nvSpPr>
        <p:spPr>
          <a:xfrm>
            <a:off x="6382512" y="4462272"/>
            <a:ext cx="365760" cy="365760"/>
          </a:xfrm>
          <a:prstGeom prst="ellipse">
            <a:avLst/>
          </a:prstGeom>
          <a:solidFill>
            <a:srgbClr val="B850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x_w.png" id="388" name="Google Shape;3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0294" y="455005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3"/>
          <p:cNvSpPr txBox="1"/>
          <p:nvPr/>
        </p:nvSpPr>
        <p:spPr>
          <a:xfrm>
            <a:off x="6858000" y="448056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2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8502F"/>
                </a:solidFill>
                <a:latin typeface="Calibri"/>
                <a:ea typeface="Calibri"/>
                <a:cs typeface="Calibri"/>
                <a:sym typeface="Calibri"/>
              </a:rPr>
              <a:t>No stop condition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 txBox="1"/>
          <p:nvPr/>
        </p:nvSpPr>
        <p:spPr>
          <a:xfrm>
            <a:off x="6858000" y="4809744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40"/>
              <a:buFont typeface="Calibri"/>
              <a:buNone/>
            </a:pPr>
            <a:r>
              <a:rPr b="0" i="0" lang="en-US" sz="104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Workflows without a pre-agreed success threshold iterate forever. “Ship / iterate / stop” is a framing decision.</a:t>
            </a:r>
            <a:endParaRPr b="0" i="0" sz="10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566928" y="5806440"/>
            <a:ext cx="11055096" cy="566928"/>
          </a:xfrm>
          <a:prstGeom prst="roundRect">
            <a:avLst>
              <a:gd fmla="val 11290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3"/>
          <p:cNvSpPr txBox="1"/>
          <p:nvPr/>
        </p:nvSpPr>
        <p:spPr>
          <a:xfrm>
            <a:off x="777240" y="5852160"/>
            <a:ext cx="10607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30"/>
              <a:buFont typeface="Calibri"/>
              <a:buNone/>
            </a:pPr>
            <a:r>
              <a:rPr b="1" i="0" lang="en-US" sz="113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Production note: </a:t>
            </a:r>
            <a:r>
              <a:rPr b="0" i="0" lang="en-US" sz="113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framed problems become contracts — write the canvas as if it will be audited, because in regulated Saudi sectors (SAMA-supervised finance, health) it will be.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4"/>
          <p:cNvSpPr/>
          <p:nvPr/>
        </p:nvSpPr>
        <p:spPr>
          <a:xfrm>
            <a:off x="566928" y="329184"/>
            <a:ext cx="1325880" cy="292608"/>
          </a:xfrm>
          <a:prstGeom prst="roundRect">
            <a:avLst>
              <a:gd fmla="val 50000" name="adj"/>
            </a:avLst>
          </a:prstGeom>
          <a:solidFill>
            <a:srgbClr val="1B3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4"/>
          <p:cNvSpPr txBox="1"/>
          <p:nvPr/>
        </p:nvSpPr>
        <p:spPr>
          <a:xfrm>
            <a:off x="566928" y="329184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1 ·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Case Study — The Delivery Promise at talabat (Delivery Hero)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566928" y="1463040"/>
            <a:ext cx="11055096" cy="1170432"/>
          </a:xfrm>
          <a:prstGeom prst="roundRect">
            <a:avLst>
              <a:gd fmla="val 5469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777240" y="1627632"/>
            <a:ext cx="475488" cy="475488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tore_w.png" id="403" name="Google Shape;4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357" y="1741749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4"/>
          <p:cNvSpPr txBox="1"/>
          <p:nvPr/>
        </p:nvSpPr>
        <p:spPr>
          <a:xfrm>
            <a:off x="1417320" y="155448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60"/>
              <a:buFont typeface="Calibri"/>
              <a:buNone/>
            </a:pPr>
            <a:r>
              <a:rPr b="0" i="0" lang="en-US" sz="11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Delivery Hero's talabat runs quick-commerce dark stores across Gulf cities — Manafeth at industrial scale. The app promises “your groceries in 22 minutes” before checkout; promises are missed post-Iftar, and the 15-minute zone's baskets don't cover delivery economics. “Fix the promises and the order values” is not a task — frame it. (Teaching reconstruction inspired by publicly reported practice; specifics fictionalised.)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566928" y="2816352"/>
            <a:ext cx="5440680" cy="3246120"/>
          </a:xfrm>
          <a:prstGeom prst="roundRect">
            <a:avLst>
              <a:gd fmla="val 197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"/>
          <p:cNvSpPr txBox="1"/>
          <p:nvPr/>
        </p:nvSpPr>
        <p:spPr>
          <a:xfrm>
            <a:off x="804672" y="296265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Candidate framings — one canvas each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 txBox="1"/>
          <p:nvPr/>
        </p:nvSpPr>
        <p:spPr>
          <a:xfrm>
            <a:off x="804672" y="3346704"/>
            <a:ext cx="50292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(a) Regression: delivery minutes per order at checkout — promise the 80th percentile, not the mean (a late promise costs the next three orders)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(b) Regression: basket value per session at app-open — Manafeth's secondary thread, at 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(c) Classification: promise-miss risk — a threshold on a calibrated (a), not a separate build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(d) Clustering: zone-hour demand patterns — feeds shift planning; insight, medium lever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Split: temporal, always — Ramadan and weekend structure make random splits fiction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6199632" y="2816352"/>
            <a:ext cx="5440680" cy="1828800"/>
          </a:xfrm>
          <a:prstGeom prst="roundRect">
            <a:avLst>
              <a:gd fmla="val 3500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 txBox="1"/>
          <p:nvPr/>
        </p:nvSpPr>
        <p:spPr>
          <a:xfrm>
            <a:off x="6437376" y="296265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Solution approach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 txBox="1"/>
          <p:nvPr/>
        </p:nvSpPr>
        <p:spPr>
          <a:xfrm>
            <a:off x="6437376" y="3328416"/>
            <a:ext cx="5029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Vote with the levers in hand: (a) ships first with a quantile target and temporal split; (b) reuses its features; (c) is calibration; (d) has its own cadence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Full case: case_studies/…_Talabat_QuickCommerce.md (Part 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6199632" y="4828032"/>
            <a:ext cx="5440680" cy="1234440"/>
          </a:xfrm>
          <a:prstGeom prst="roundRect">
            <a:avLst>
              <a:gd fmla="val 5185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 txBox="1"/>
          <p:nvPr/>
        </p:nvSpPr>
        <p:spPr>
          <a:xfrm>
            <a:off x="6437376" y="49377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 txBox="1"/>
          <p:nvPr/>
        </p:nvSpPr>
        <p:spPr>
          <a:xfrm>
            <a:off x="6437376" y="5266944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The 15-minute zone's low baskets: ML problem or pricing rule? Apply the three-precondition checklist — examples, pattern, payoff.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5"/>
          <p:cNvSpPr/>
          <p:nvPr/>
        </p:nvSpPr>
        <p:spPr>
          <a:xfrm>
            <a:off x="566928" y="329184"/>
            <a:ext cx="1625803" cy="292608"/>
          </a:xfrm>
          <a:prstGeom prst="roundRect">
            <a:avLst>
              <a:gd fmla="val 50000" name="adj"/>
            </a:avLst>
          </a:prstGeom>
          <a:solidFill>
            <a:srgbClr val="E8A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 txBox="1"/>
          <p:nvPr/>
        </p:nvSpPr>
        <p:spPr>
          <a:xfrm>
            <a:off x="566928" y="329184"/>
            <a:ext cx="1625803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HANDS-ON · DAY 1 H3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Lab 1 — Frame, Split, Baseline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566928" y="1417320"/>
            <a:ext cx="11055096" cy="658368"/>
          </a:xfrm>
          <a:prstGeom prst="roundRect">
            <a:avLst>
              <a:gd fmla="val 972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5"/>
          <p:cNvSpPr txBox="1"/>
          <p:nvPr/>
        </p:nvSpPr>
        <p:spPr>
          <a:xfrm>
            <a:off x="777240" y="1463040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80"/>
              <a:buFont typeface="Calibri"/>
              <a:buNone/>
            </a:pPr>
            <a:r>
              <a:rPr b="0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50 minutes · pairs · notebooks/day1/lab1_framing.ipynb — produce the framing canvas, a verified stratified split, and committed dummy + heuristic baselines for both Manafeth tasks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 txBox="1"/>
          <p:nvPr/>
        </p:nvSpPr>
        <p:spPr>
          <a:xfrm>
            <a:off x="566928" y="2286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Tasks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 txBox="1"/>
          <p:nvPr/>
        </p:nvSpPr>
        <p:spPr>
          <a:xfrm>
            <a:off x="566928" y="2651760"/>
            <a:ext cx="62636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Data audit (10 min): shape, dtypes, uniqueness of customer_id, target balance, missingness table — answer the three audit questions in markdown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Complete FRAMING.md in pairs (10 min): flag at least two leaky columns from the data dictionary — there are three planted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Stratified split with random_state=42 (10 min): verify the churn rate matches in both halves; save the test partition with a “do not open” cell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Fit DummyClassifier + DummyRegressor and the 21-day-silence heuristic (10 min); record PR-AUC, recall@top-20%, MAE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Post to the class scoreboard (5 min) — numbers must match neighbouring pairs to two decimals: same seed, same data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Commit: feat(lab1): framing canvas, quarantined split, baselines (5 min)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7040880" y="2286000"/>
            <a:ext cx="4572000" cy="2514600"/>
          </a:xfrm>
          <a:prstGeom prst="roundRect">
            <a:avLst>
              <a:gd fmla="val 2545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5"/>
          <p:cNvSpPr txBox="1"/>
          <p:nvPr/>
        </p:nvSpPr>
        <p:spPr>
          <a:xfrm>
            <a:off x="7251192" y="243230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Expected output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 txBox="1"/>
          <p:nvPr/>
        </p:nvSpPr>
        <p:spPr>
          <a:xfrm>
            <a:off x="7251192" y="2788920"/>
            <a:ext cx="416052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Split verified: train 14.0% | test 14.0%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(n = 38,400 / 9,600)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Dummy (stratified):  PR-AUC 0.141  r@20% 0.20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Heuristic (21-day):  recall@20%  0.41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DummyRegressor:      MAE 34.2 SAR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Leaks found: refund_issued,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support_ticket_after_snapshot,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next_month_orders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7040880" y="4983480"/>
            <a:ext cx="4572000" cy="1106424"/>
          </a:xfrm>
          <a:prstGeom prst="roundRect">
            <a:avLst>
              <a:gd fmla="val 5785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_a.png" id="431" name="Google Shape;4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4476" y="5181356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5"/>
          <p:cNvSpPr txBox="1"/>
          <p:nvPr/>
        </p:nvSpPr>
        <p:spPr>
          <a:xfrm>
            <a:off x="7635240" y="5093208"/>
            <a:ext cx="3886200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4413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5A4413"/>
                </a:solidFill>
                <a:latin typeface="Calibri"/>
                <a:ea typeface="Calibri"/>
                <a:cs typeface="Calibri"/>
                <a:sym typeface="Calibri"/>
              </a:rPr>
              <a:t>next_month_orders is the heart of this lab — half the room misses it because it “looks like a feature.” Apply the timestamp test: computable at snapshot time? No → leakage. Divergent scoreboard numbers always mean a workflow bug — debug publicly; it is the lesson.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62E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6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3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6"/>
          <p:cNvSpPr txBox="1"/>
          <p:nvPr/>
        </p:nvSpPr>
        <p:spPr>
          <a:xfrm>
            <a:off x="640080" y="105156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000"/>
              <a:buFont typeface="Calibri"/>
              <a:buNone/>
            </a:pPr>
            <a:r>
              <a:rPr b="1" i="0" lang="en-US" sz="120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 txBox="1"/>
          <p:nvPr/>
        </p:nvSpPr>
        <p:spPr>
          <a:xfrm>
            <a:off x="676656" y="29718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33B"/>
                </a:solidFill>
                <a:latin typeface="Calibri"/>
                <a:ea typeface="Calibri"/>
                <a:cs typeface="Calibri"/>
                <a:sym typeface="Calibri"/>
              </a:rPr>
              <a:t>DAY 1 H4–5 · DAY 2 H1–2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676656" y="5120640"/>
            <a:ext cx="777240" cy="777240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art_w.png" id="443" name="Google Shape;4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194" y="530717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6"/>
          <p:cNvSpPr txBox="1"/>
          <p:nvPr/>
        </p:nvSpPr>
        <p:spPr>
          <a:xfrm>
            <a:off x="4526280" y="1371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 txBox="1"/>
          <p:nvPr/>
        </p:nvSpPr>
        <p:spPr>
          <a:xfrm>
            <a:off x="4480560" y="1737360"/>
            <a:ext cx="7132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Supervised Learning: Regression &amp; Classification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 txBox="1"/>
          <p:nvPr/>
        </p:nvSpPr>
        <p:spPr>
          <a:xfrm>
            <a:off x="4480560" y="3127248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5BD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9FC5BD"/>
                </a:solidFill>
                <a:latin typeface="Calibri"/>
                <a:ea typeface="Calibri"/>
                <a:cs typeface="Calibri"/>
                <a:sym typeface="Calibri"/>
              </a:rPr>
              <a:t>التعلّم الموجّه: الانحدار والتصنيف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 txBox="1"/>
          <p:nvPr/>
        </p:nvSpPr>
        <p:spPr>
          <a:xfrm>
            <a:off x="4526280" y="3886200"/>
            <a:ext cx="70408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Fit and interpret linear, ridge, and lasso regression; read residual plots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Fit logistic regression; interpret coefficients as odds multipliers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Train decision trees and k-NN; control capacity via depth and 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Produce train-vs-validation evidence of overfitting on demand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7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7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Linear Regression as Loss Minimisation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7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The template for ALL supervised learning: a function family (ŷ = Xw + b), a loss (MSE), and an algorithm minimising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7"/>
          <p:cNvSpPr/>
          <p:nvPr/>
        </p:nvSpPr>
        <p:spPr>
          <a:xfrm>
            <a:off x="566928" y="1737360"/>
            <a:ext cx="5486400" cy="4297680"/>
          </a:xfrm>
          <a:prstGeom prst="roundRect">
            <a:avLst>
              <a:gd fmla="val 1489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7"/>
          <p:cNvSpPr txBox="1"/>
          <p:nvPr/>
        </p:nvSpPr>
        <p:spPr>
          <a:xfrm>
            <a:off x="777240" y="1901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Practical reading skills &gt; derivations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 txBox="1"/>
          <p:nvPr/>
        </p:nvSpPr>
        <p:spPr>
          <a:xfrm>
            <a:off x="777240" y="2331720"/>
            <a:ext cx="5120640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Coefficients are marginal effects in the feature's units: “each additional order per month adds 11.3 SAR to predicted basket value, holding the rest fixed”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10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…and the holding-fixed clause breaks under correlated features: multicollinearity makes coefficients unstable while predictions stay fine — teach the distinction, it defuses stakeholder arguments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10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R² is relative to the mean baseline — literally “fraction of variance explained vs DummyRegressor.” The Module 1 baseline discipline makes R² intuitive rather than mystical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10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Show the gradient-descent view: every later model in the track — through deep learning in SDA-AIE-112 — is this same picture with a different function family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6263640" y="1737360"/>
            <a:ext cx="5367528" cy="4297680"/>
          </a:xfrm>
          <a:prstGeom prst="roundRect">
            <a:avLst>
              <a:gd fmla="val 1489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7"/>
          <p:cNvSpPr txBox="1"/>
          <p:nvPr/>
        </p:nvSpPr>
        <p:spPr>
          <a:xfrm>
            <a:off x="6473952" y="190195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Manafeth, Lab 2a — honest from the start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 txBox="1"/>
          <p:nvPr/>
        </p:nvSpPr>
        <p:spPr>
          <a:xfrm>
            <a:off x="6473952" y="2331720"/>
            <a:ext cx="49377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lin = LinearRegression().fit(X_tr, y_tr)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D8E6E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MAE:  22.4 SAR      # vs dummy 34.2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D8E6E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R²:   0.58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D8E6E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# coefficients in business units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D8E6E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orders_per_month   +11.30 SAR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D8E6E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tenure_months       +2.10 SAR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D8E6E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promo_usage_rate    -8.40 SAR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6473952" y="4709160"/>
            <a:ext cx="4937760" cy="1097280"/>
          </a:xfrm>
          <a:prstGeom prst="roundRect">
            <a:avLst>
              <a:gd fmla="val 5833" name="adj"/>
            </a:avLst>
          </a:prstGeom>
          <a:solidFill>
            <a:srgbClr val="1B3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7"/>
          <p:cNvSpPr txBox="1"/>
          <p:nvPr/>
        </p:nvSpPr>
        <p:spPr>
          <a:xfrm>
            <a:off x="6656832" y="4828032"/>
            <a:ext cx="4572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The model earns its keep — now we ask HOW it fails. </a:t>
            </a:r>
            <a:r>
              <a:rPr b="0" i="0" lang="en-US" sz="120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That question belongs to the residual plot 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8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8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Residual Plots Are the Model's Confession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The four-pattern field guide — printable card, reused in every regression the participants ever build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566928" y="1737360"/>
            <a:ext cx="5486400" cy="1965960"/>
          </a:xfrm>
          <a:prstGeom prst="roundRect">
            <a:avLst>
              <a:gd fmla="val 3256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8"/>
          <p:cNvSpPr/>
          <p:nvPr/>
        </p:nvSpPr>
        <p:spPr>
          <a:xfrm>
            <a:off x="731520" y="1901952"/>
            <a:ext cx="411480" cy="41148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_w.png" id="477" name="Google Shape;4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275" y="2000707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8"/>
          <p:cNvSpPr txBox="1"/>
          <p:nvPr/>
        </p:nvSpPr>
        <p:spPr>
          <a:xfrm>
            <a:off x="1261872" y="195681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Healthy cloud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8"/>
          <p:cNvSpPr txBox="1"/>
          <p:nvPr/>
        </p:nvSpPr>
        <p:spPr>
          <a:xfrm>
            <a:off x="1261872" y="2304288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Random scatter around zero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 txBox="1"/>
          <p:nvPr/>
        </p:nvSpPr>
        <p:spPr>
          <a:xfrm>
            <a:off x="749808" y="2743200"/>
            <a:ext cx="5120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30"/>
              <a:buFont typeface="Calibri"/>
              <a:buNone/>
            </a:pPr>
            <a:r>
              <a:rPr b="1" i="0" lang="en-US" sz="113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Diagnosis &amp; fix: </a:t>
            </a:r>
            <a:r>
              <a:rPr b="0" i="0" lang="en-US" sz="113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Nothing to confess — the linear story holds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6236208" y="1737360"/>
            <a:ext cx="5486400" cy="1965960"/>
          </a:xfrm>
          <a:prstGeom prst="roundRect">
            <a:avLst>
              <a:gd fmla="val 3256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8"/>
          <p:cNvSpPr/>
          <p:nvPr/>
        </p:nvSpPr>
        <p:spPr>
          <a:xfrm>
            <a:off x="6400800" y="1901952"/>
            <a:ext cx="411480" cy="411480"/>
          </a:xfrm>
          <a:prstGeom prst="ellipse">
            <a:avLst/>
          </a:prstGeom>
          <a:solidFill>
            <a:srgbClr val="E8A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_w.png" id="483" name="Google Shape;4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9555" y="2000707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8"/>
          <p:cNvSpPr txBox="1"/>
          <p:nvPr/>
        </p:nvSpPr>
        <p:spPr>
          <a:xfrm>
            <a:off x="6931152" y="195681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Funnel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8"/>
          <p:cNvSpPr txBox="1"/>
          <p:nvPr/>
        </p:nvSpPr>
        <p:spPr>
          <a:xfrm>
            <a:off x="6931152" y="2304288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Errors grow with predicted 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8"/>
          <p:cNvSpPr txBox="1"/>
          <p:nvPr/>
        </p:nvSpPr>
        <p:spPr>
          <a:xfrm>
            <a:off x="6419088" y="2743200"/>
            <a:ext cx="5120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30"/>
              <a:buFont typeface="Calibri"/>
              <a:buNone/>
            </a:pPr>
            <a:r>
              <a:rPr b="1" i="0" lang="en-US" sz="113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Diagnosis &amp; fix: </a:t>
            </a:r>
            <a:r>
              <a:rPr b="0" i="0" lang="en-US" sz="113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Variance scales with size → log-transform the SAR target (Manafeth: MAE 22.4 → 21.1 after log1p)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8"/>
          <p:cNvSpPr/>
          <p:nvPr/>
        </p:nvSpPr>
        <p:spPr>
          <a:xfrm>
            <a:off x="566928" y="3886200"/>
            <a:ext cx="5486400" cy="1965960"/>
          </a:xfrm>
          <a:prstGeom prst="roundRect">
            <a:avLst>
              <a:gd fmla="val 3256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8"/>
          <p:cNvSpPr/>
          <p:nvPr/>
        </p:nvSpPr>
        <p:spPr>
          <a:xfrm>
            <a:off x="731520" y="4050792"/>
            <a:ext cx="411480" cy="411480"/>
          </a:xfrm>
          <a:prstGeom prst="ellipse">
            <a:avLst/>
          </a:prstGeom>
          <a:solidFill>
            <a:srgbClr val="E8A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_w.png" id="489" name="Google Shape;4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275" y="4149547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8"/>
          <p:cNvSpPr txBox="1"/>
          <p:nvPr/>
        </p:nvSpPr>
        <p:spPr>
          <a:xfrm>
            <a:off x="1261872" y="410565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Curvature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8"/>
          <p:cNvSpPr txBox="1"/>
          <p:nvPr/>
        </p:nvSpPr>
        <p:spPr>
          <a:xfrm>
            <a:off x="1261872" y="4453128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Systematic bow above/below zero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8"/>
          <p:cNvSpPr txBox="1"/>
          <p:nvPr/>
        </p:nvSpPr>
        <p:spPr>
          <a:xfrm>
            <a:off x="749808" y="4892040"/>
            <a:ext cx="5120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30"/>
              <a:buFont typeface="Calibri"/>
              <a:buNone/>
            </a:pPr>
            <a:r>
              <a:rPr b="1" i="0" lang="en-US" sz="113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Diagnosis &amp; fix: </a:t>
            </a:r>
            <a:r>
              <a:rPr b="0" i="0" lang="en-US" sz="113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Missing non-linearity → polynomial features or a tree-based model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8"/>
          <p:cNvSpPr/>
          <p:nvPr/>
        </p:nvSpPr>
        <p:spPr>
          <a:xfrm>
            <a:off x="6236208" y="3886200"/>
            <a:ext cx="5486400" cy="1965960"/>
          </a:xfrm>
          <a:prstGeom prst="roundRect">
            <a:avLst>
              <a:gd fmla="val 3256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8"/>
          <p:cNvSpPr/>
          <p:nvPr/>
        </p:nvSpPr>
        <p:spPr>
          <a:xfrm>
            <a:off x="6400800" y="4050792"/>
            <a:ext cx="411480" cy="411480"/>
          </a:xfrm>
          <a:prstGeom prst="ellipse">
            <a:avLst/>
          </a:prstGeom>
          <a:solidFill>
            <a:srgbClr val="E8A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_w.png" id="495" name="Google Shape;49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9555" y="4149547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8"/>
          <p:cNvSpPr txBox="1"/>
          <p:nvPr/>
        </p:nvSpPr>
        <p:spPr>
          <a:xfrm>
            <a:off x="6931152" y="410565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Distinct bands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 txBox="1"/>
          <p:nvPr/>
        </p:nvSpPr>
        <p:spPr>
          <a:xfrm>
            <a:off x="6931152" y="4453128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Parallel stripes in the residuals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 txBox="1"/>
          <p:nvPr/>
        </p:nvSpPr>
        <p:spPr>
          <a:xfrm>
            <a:off x="6419088" y="4892040"/>
            <a:ext cx="5120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30"/>
              <a:buFont typeface="Calibri"/>
              <a:buNone/>
            </a:pPr>
            <a:r>
              <a:rPr b="1" i="0" lang="en-US" sz="113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Diagnosis &amp; fix: </a:t>
            </a:r>
            <a:r>
              <a:rPr b="0" i="0" lang="en-US" sz="113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 categorical effect not yet in the model → bring the category in (Module 3 encoding)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8"/>
          <p:cNvSpPr txBox="1"/>
          <p:nvPr/>
        </p:nvSpPr>
        <p:spPr>
          <a:xfrm>
            <a:off x="566928" y="58978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Lab 2a: plot residuals vs predictions, diagnose the funnel, refit on log1p(target), and compare MAE in SAR after back-transform — own the back-transform (np.expm1), assert non-negativity.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8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9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9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Regularisation — The First Overfitting Control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9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With polynomial features, a linear model can memorise noise. Ridge and lasso add a penalty on weight size to the loss.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566928" y="1737360"/>
            <a:ext cx="5440680" cy="2377440"/>
          </a:xfrm>
          <a:prstGeom prst="roundRect">
            <a:avLst>
              <a:gd fmla="val 269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9"/>
          <p:cNvSpPr txBox="1"/>
          <p:nvPr/>
        </p:nvSpPr>
        <p:spPr>
          <a:xfrm>
            <a:off x="804672" y="1901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Ridge (L2)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9"/>
          <p:cNvSpPr txBox="1"/>
          <p:nvPr/>
        </p:nvSpPr>
        <p:spPr>
          <a:xfrm>
            <a:off x="804672" y="2331720"/>
            <a:ext cx="50292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Shrinks all weights smoothly toward zero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8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go-to when many features each carry a little signal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8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Manafeth Lab 2a: Ridge(alpha=10) on scaled features → MAE 20.8 SAR (linear: 22.4)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9"/>
          <p:cNvSpPr/>
          <p:nvPr/>
        </p:nvSpPr>
        <p:spPr>
          <a:xfrm>
            <a:off x="6199632" y="1737360"/>
            <a:ext cx="5440680" cy="2377440"/>
          </a:xfrm>
          <a:prstGeom prst="roundRect">
            <a:avLst>
              <a:gd fmla="val 2692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9"/>
          <p:cNvSpPr txBox="1"/>
          <p:nvPr/>
        </p:nvSpPr>
        <p:spPr>
          <a:xfrm>
            <a:off x="6437376" y="1901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Lasso (L1)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9"/>
          <p:cNvSpPr txBox="1"/>
          <p:nvPr/>
        </p:nvSpPr>
        <p:spPr>
          <a:xfrm>
            <a:off x="6437376" y="2331720"/>
            <a:ext cx="50292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Drives some weights exactly to zero — embedded feature selection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8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go-to when you suspect most features are irrelevant and want the model to say 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8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Sweep alpha logarithmically; sanity-check the zeroed coefficients against domain sense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9"/>
          <p:cNvSpPr/>
          <p:nvPr/>
        </p:nvSpPr>
        <p:spPr>
          <a:xfrm>
            <a:off x="566928" y="4370832"/>
            <a:ext cx="11055096" cy="1737360"/>
          </a:xfrm>
          <a:prstGeom prst="roundRect">
            <a:avLst>
              <a:gd fmla="val 3684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9"/>
          <p:cNvSpPr/>
          <p:nvPr/>
        </p:nvSpPr>
        <p:spPr>
          <a:xfrm>
            <a:off x="804672" y="4663440"/>
            <a:ext cx="548640" cy="548640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g_w.png" id="518" name="Google Shape;5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346" y="47951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9"/>
          <p:cNvSpPr txBox="1"/>
          <p:nvPr/>
        </p:nvSpPr>
        <p:spPr>
          <a:xfrm>
            <a:off x="1600200" y="4553712"/>
            <a:ext cx="9829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Calibri"/>
              <a:buNone/>
            </a:pPr>
            <a:r>
              <a:rPr b="1" i="0" lang="en-US" sz="12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Plant the flag: alpha is the first hyperparameter participants meet </a:t>
            </a:r>
            <a:r>
              <a:rPr b="0" i="0" lang="en-US" sz="128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— a knob set by validation performance, not by fitting. Module 7 is entirely about turning such knobs systematically. Both penalties are scale-sensitive: comparing weight sizes only makes sense when features share a scale — the first concrete argument for Module 3's scaling discipline.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9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0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0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Logistic Regression — The Probability Is the Product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0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Linear regression pushed through a sigmoid so the output lives in (0, 1), trained against log-loss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0"/>
          <p:cNvSpPr/>
          <p:nvPr/>
        </p:nvSpPr>
        <p:spPr>
          <a:xfrm>
            <a:off x="566928" y="1737360"/>
            <a:ext cx="3602736" cy="2468880"/>
          </a:xfrm>
          <a:prstGeom prst="roundRect">
            <a:avLst>
              <a:gd fmla="val 2593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0"/>
          <p:cNvSpPr/>
          <p:nvPr/>
        </p:nvSpPr>
        <p:spPr>
          <a:xfrm>
            <a:off x="731520" y="1901952"/>
            <a:ext cx="475488" cy="475488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art_w.png" id="532" name="Google Shape;5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637" y="2016069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20"/>
          <p:cNvSpPr txBox="1"/>
          <p:nvPr/>
        </p:nvSpPr>
        <p:spPr>
          <a:xfrm>
            <a:off x="1335024" y="197510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60"/>
              <a:buFont typeface="Calibri"/>
              <a:buNone/>
            </a:pPr>
            <a:r>
              <a:rPr b="1" i="0" lang="en-US" sz="12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predict_proba is the deliverable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0"/>
          <p:cNvSpPr txBox="1"/>
          <p:nvPr/>
        </p:nvSpPr>
        <p:spPr>
          <a:xfrm>
            <a:off x="749808" y="2514600"/>
            <a:ext cx="32461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Manafeth doesn't need a churn label; it needs a ranking to fill a top-20% voucher budget. predict's default 0.5 threshold is a placeholder Module 4 replaces with a business threshold.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0"/>
          <p:cNvSpPr/>
          <p:nvPr/>
        </p:nvSpPr>
        <p:spPr>
          <a:xfrm>
            <a:off x="4343400" y="1737360"/>
            <a:ext cx="3602736" cy="2468880"/>
          </a:xfrm>
          <a:prstGeom prst="roundRect">
            <a:avLst>
              <a:gd fmla="val 2593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0"/>
          <p:cNvSpPr/>
          <p:nvPr/>
        </p:nvSpPr>
        <p:spPr>
          <a:xfrm>
            <a:off x="4507992" y="1901952"/>
            <a:ext cx="475488" cy="475488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oney_w.png" id="537" name="Google Shape;53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2109" y="2016069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20"/>
          <p:cNvSpPr txBox="1"/>
          <p:nvPr/>
        </p:nvSpPr>
        <p:spPr>
          <a:xfrm>
            <a:off x="5111496" y="197510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60"/>
              <a:buFont typeface="Calibri"/>
              <a:buNone/>
            </a:pPr>
            <a:r>
              <a:rPr b="1" i="0" lang="en-US" sz="12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Coefficients are odds multipliers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0"/>
          <p:cNvSpPr txBox="1"/>
          <p:nvPr/>
        </p:nvSpPr>
        <p:spPr>
          <a:xfrm>
            <a:off x="4526280" y="2514600"/>
            <a:ext cx="32461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exp(coef) = 1.6 on support_tickets → “each additional support ticket multiplies the odds of churn by 1.6.” This is the sentence stakeholders remember.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8119872" y="1737360"/>
            <a:ext cx="3602736" cy="2468880"/>
          </a:xfrm>
          <a:prstGeom prst="roundRect">
            <a:avLst>
              <a:gd fmla="val 2593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0"/>
          <p:cNvSpPr/>
          <p:nvPr/>
        </p:nvSpPr>
        <p:spPr>
          <a:xfrm>
            <a:off x="8284464" y="1901952"/>
            <a:ext cx="475488" cy="475488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cale_w.png" id="542" name="Google Shape;54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8581" y="2016069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20"/>
          <p:cNvSpPr txBox="1"/>
          <p:nvPr/>
        </p:nvSpPr>
        <p:spPr>
          <a:xfrm>
            <a:off x="8887968" y="197510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60"/>
              <a:buFont typeface="Calibri"/>
              <a:buNone/>
            </a:pPr>
            <a:r>
              <a:rPr b="1" i="0" lang="en-US" sz="12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class_weight=“balanced”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0"/>
          <p:cNvSpPr txBox="1"/>
          <p:nvPr/>
        </p:nvSpPr>
        <p:spPr>
          <a:xfrm>
            <a:off x="8302752" y="2514600"/>
            <a:ext cx="32461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Re-weights the loss when positives are rare — the first of three imbalance tools in the course (threshold tuning in M4, scale_pos_weight in M5).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566928" y="4526280"/>
            <a:ext cx="11055096" cy="1600200"/>
          </a:xfrm>
          <a:prstGeom prst="roundRect">
            <a:avLst>
              <a:gd fmla="val 4000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0"/>
          <p:cNvSpPr txBox="1"/>
          <p:nvPr/>
        </p:nvSpPr>
        <p:spPr>
          <a:xfrm>
            <a:off x="804672" y="46817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Lab 2b — the first honest lift over the business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0"/>
          <p:cNvSpPr txBox="1"/>
          <p:nvPr/>
        </p:nvSpPr>
        <p:spPr>
          <a:xfrm>
            <a:off x="822960" y="5029200"/>
            <a:ext cx="10607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LogisticRegression(class_weight="balanced")  on scaled features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8E6E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PR-AUC 0.44  (dummy 0.14)      recall@20%  0.57  (heuristic 0.41)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8E6E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Odds table for the CRM team:  days_since_last_order ×1.9 · orders_per_month ×0.6 · promo_usage_rate ×1.4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0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1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1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Decision Trees &amp; k-NN — Two Opposite Mental Models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1"/>
          <p:cNvSpPr/>
          <p:nvPr/>
        </p:nvSpPr>
        <p:spPr>
          <a:xfrm>
            <a:off x="566928" y="1463040"/>
            <a:ext cx="5440680" cy="3108960"/>
          </a:xfrm>
          <a:prstGeom prst="roundRect">
            <a:avLst>
              <a:gd fmla="val 2059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1"/>
          <p:cNvSpPr/>
          <p:nvPr/>
        </p:nvSpPr>
        <p:spPr>
          <a:xfrm>
            <a:off x="777240" y="1627632"/>
            <a:ext cx="475488" cy="475488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ree_w.png" id="559" name="Google Shape;55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357" y="1741749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1"/>
          <p:cNvSpPr txBox="1"/>
          <p:nvPr/>
        </p:nvSpPr>
        <p:spPr>
          <a:xfrm>
            <a:off x="1371600" y="17190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Decision trees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1"/>
          <p:cNvSpPr txBox="1"/>
          <p:nvPr/>
        </p:nvSpPr>
        <p:spPr>
          <a:xfrm>
            <a:off x="804672" y="219456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Axis-aligned questions chosen greedily to reduce impurity (Gini / entropy)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No scaling needed; handles mixed types and non-linearity; the top of a small tree is a readable business policy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Char char="•"/>
            </a:pPr>
            <a:r>
              <a:rPr b="1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Unconstrained trees memorise: max_depth=None on Manafeth → train PR-AUC 1.00, validation 0.61 — the course's cleanest overfitting exhibit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Capacity knobs: max_depth, min_samples_leaf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1"/>
          <p:cNvSpPr/>
          <p:nvPr/>
        </p:nvSpPr>
        <p:spPr>
          <a:xfrm>
            <a:off x="6199632" y="1463040"/>
            <a:ext cx="5440680" cy="3108960"/>
          </a:xfrm>
          <a:prstGeom prst="roundRect">
            <a:avLst>
              <a:gd fmla="val 2059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1"/>
          <p:cNvSpPr/>
          <p:nvPr/>
        </p:nvSpPr>
        <p:spPr>
          <a:xfrm>
            <a:off x="6400800" y="1627632"/>
            <a:ext cx="475488" cy="475488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ap_w.png" id="564" name="Google Shape;56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4917" y="1741749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21"/>
          <p:cNvSpPr txBox="1"/>
          <p:nvPr/>
        </p:nvSpPr>
        <p:spPr>
          <a:xfrm>
            <a:off x="6995160" y="17190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k-nearest neighbours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1"/>
          <p:cNvSpPr txBox="1"/>
          <p:nvPr/>
        </p:nvSpPr>
        <p:spPr>
          <a:xfrm>
            <a:off x="6428232" y="219456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Predicts from the labels of the k closest training points — no training phase, all cost at prediction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k=1 overfits perfectly (train accuracy 100% by construction); large k underfits toward the majority class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Char char="•"/>
            </a:pPr>
            <a:r>
              <a:rPr b="1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Total dependence on distance = the second concrete argument for scaling: unscaled, tenure_months (0–120) crushes promo_usage_rate (0–1)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Rarely the production choice on tabular data; always the cleanest illustration of the capacity dial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566928" y="4800600"/>
            <a:ext cx="11055096" cy="1325880"/>
          </a:xfrm>
          <a:prstGeom prst="roundRect">
            <a:avLst>
              <a:gd fmla="val 4828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eye_a.png" id="568" name="Google Shape;56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7941" y="519562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21"/>
          <p:cNvSpPr txBox="1"/>
          <p:nvPr/>
        </p:nvSpPr>
        <p:spPr>
          <a:xfrm>
            <a:off x="1444752" y="4956048"/>
            <a:ext cx="9966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4413"/>
              </a:buClr>
              <a:buSzPts val="1180"/>
              <a:buFont typeface="Calibri"/>
              <a:buNone/>
            </a:pPr>
            <a:r>
              <a:rPr b="1" i="0" lang="en-US" sz="1180" u="none" cap="none" strike="noStrike">
                <a:solidFill>
                  <a:srgbClr val="5A4413"/>
                </a:solidFill>
                <a:latin typeface="Calibri"/>
                <a:ea typeface="Calibri"/>
                <a:cs typeface="Calibri"/>
                <a:sym typeface="Calibri"/>
              </a:rPr>
              <a:t>The 3-minute arithmetic that sells Module 3: </a:t>
            </a:r>
            <a:r>
              <a:rPr b="0" i="0" lang="en-US" sz="1180" u="none" cap="none" strike="noStrike">
                <a:solidFill>
                  <a:srgbClr val="5A4413"/>
                </a:solidFill>
                <a:latin typeface="Calibri"/>
                <a:ea typeface="Calibri"/>
                <a:cs typeface="Calibri"/>
                <a:sym typeface="Calibri"/>
              </a:rPr>
              <a:t>let one pair discover the unscaled k-NN collapse naturally (k=25 unscaled → PR-AUC 0.19, near-dummy), then diagnose it on the projector with a two-column distance calculation. Decision-boundary triptych: logistic = straight line, depth-3 tree = axis-aligned boxes, k-NN = organic islands — same 2-D slice, matched colours.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1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2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2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2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Capacity Dial — Drawn Once, Reused All Week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2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Model capacity on x (tree depth, polynomial degree, 1/k, 1/alpha) — training error falls forever; validation tells the truth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80" name="Google Shape;580;p22"/>
          <p:cNvGraphicFramePr/>
          <p:nvPr/>
        </p:nvGraphicFramePr>
        <p:xfrm>
          <a:off x="566928" y="1783080"/>
          <a:ext cx="6949440" cy="42062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81" name="Google Shape;581;p22"/>
          <p:cNvSpPr/>
          <p:nvPr/>
        </p:nvSpPr>
        <p:spPr>
          <a:xfrm>
            <a:off x="7772400" y="1783080"/>
            <a:ext cx="3858768" cy="4206240"/>
          </a:xfrm>
          <a:prstGeom prst="roundRect">
            <a:avLst>
              <a:gd fmla="val 1659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2"/>
          <p:cNvSpPr txBox="1"/>
          <p:nvPr/>
        </p:nvSpPr>
        <p:spPr>
          <a:xfrm>
            <a:off x="7982712" y="193852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Reading the dial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2"/>
          <p:cNvSpPr txBox="1"/>
          <p:nvPr/>
        </p:nvSpPr>
        <p:spPr>
          <a:xfrm>
            <a:off x="7982712" y="2331720"/>
            <a:ext cx="34747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30"/>
              <a:buFont typeface="Calibri"/>
              <a:buChar char="•"/>
            </a:pPr>
            <a:r>
              <a:rPr b="0" i="0" lang="en-US" sz="113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Underfitting: both errors high — model too simple or features too weak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12262E"/>
              </a:buClr>
              <a:buSzPts val="1130"/>
              <a:buFont typeface="Calibri"/>
              <a:buChar char="•"/>
            </a:pPr>
            <a:r>
              <a:rPr b="1" i="0" lang="en-US" sz="113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Overfitting: training ≈ 1.00 by depth ~16; validation peaks at depth ≈ 6 (~0.46) then decays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12262E"/>
              </a:buClr>
              <a:buSzPts val="1130"/>
              <a:buFont typeface="Calibri"/>
              <a:buChar char="•"/>
            </a:pPr>
            <a:r>
              <a:rPr b="0" i="0" lang="en-US" sz="113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More data flattens the right side; regularisation and capacity limits move you left; better features lift the whole achievable region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12262E"/>
              </a:buClr>
              <a:buSzPts val="1130"/>
              <a:buFont typeface="Calibri"/>
              <a:buChar char="•"/>
            </a:pPr>
            <a:r>
              <a:rPr b="0" i="0" lang="en-US" sz="113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Reused in M5 (ensembles) and M7 (tuning) — this is the module's laboratory result, not a slide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2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3"/>
          <p:cNvSpPr/>
          <p:nvPr/>
        </p:nvSpPr>
        <p:spPr>
          <a:xfrm>
            <a:off x="566928" y="329184"/>
            <a:ext cx="2450592" cy="292608"/>
          </a:xfrm>
          <a:prstGeom prst="roundRect">
            <a:avLst>
              <a:gd fmla="val 50000" name="adj"/>
            </a:avLst>
          </a:prstGeom>
          <a:solidFill>
            <a:srgbClr val="E8A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3"/>
          <p:cNvSpPr txBox="1"/>
          <p:nvPr/>
        </p:nvSpPr>
        <p:spPr>
          <a:xfrm>
            <a:off x="566928" y="329184"/>
            <a:ext cx="2450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HANDS-ON · DAY 1 H5 + DAY 2 H2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3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Lab 2 — First Honest Models (A: Regression · B: Classification)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3"/>
          <p:cNvSpPr/>
          <p:nvPr/>
        </p:nvSpPr>
        <p:spPr>
          <a:xfrm>
            <a:off x="566928" y="1417320"/>
            <a:ext cx="11055096" cy="658368"/>
          </a:xfrm>
          <a:prstGeom prst="roundRect">
            <a:avLst>
              <a:gd fmla="val 972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3"/>
          <p:cNvSpPr txBox="1"/>
          <p:nvPr/>
        </p:nvSpPr>
        <p:spPr>
          <a:xfrm>
            <a:off x="777240" y="1463040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80"/>
              <a:buFont typeface="Calibri"/>
              <a:buNone/>
            </a:pPr>
            <a:r>
              <a:rPr b="0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2 × 50 minutes · pairs — beat both Lab 1 baselines with interpretable models and produce the overfitting plot from your own runs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3"/>
          <p:cNvSpPr txBox="1"/>
          <p:nvPr/>
        </p:nvSpPr>
        <p:spPr>
          <a:xfrm>
            <a:off x="566928" y="2286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Tasks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3"/>
          <p:cNvSpPr txBox="1"/>
          <p:nvPr/>
        </p:nvSpPr>
        <p:spPr>
          <a:xfrm>
            <a:off x="566928" y="2651760"/>
            <a:ext cx="62636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A1–A2: LinearRegression on numeric features → MAE/R² vs dummy; diagnose the residual funnel; refit on log1p(target)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A3: Ridge &amp; Lasso over alpha ∈ {0.01 … 100} on scaled features; note which lasso coefficients hit zero and sanity-check them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A4: three-sentence markdown summary — best model, MAE in SAR, one surprising coefficient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B1–B2: LogisticRegression (balanced) → PR-AUC + recall@top-20% vs the 21-day heuristic; write the odds-ratio sentence the CRM team would quote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B3: depth 1→20 tree sweep → the overfitting plot, best depth marked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B4: k-NN with k ∈ {1, 5, 25, 101} on scaled AND unscaled features — observe the scaling collapse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Commit: feat(lab2): linear+logistic beat baselines; overfitting exhibit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3"/>
          <p:cNvSpPr/>
          <p:nvPr/>
        </p:nvSpPr>
        <p:spPr>
          <a:xfrm>
            <a:off x="7040880" y="2286000"/>
            <a:ext cx="4572000" cy="2743200"/>
          </a:xfrm>
          <a:prstGeom prst="roundRect">
            <a:avLst>
              <a:gd fmla="val 2333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3"/>
          <p:cNvSpPr txBox="1"/>
          <p:nvPr/>
        </p:nvSpPr>
        <p:spPr>
          <a:xfrm>
            <a:off x="7251192" y="243230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Expected output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3"/>
          <p:cNvSpPr txBox="1"/>
          <p:nvPr/>
        </p:nvSpPr>
        <p:spPr>
          <a:xfrm>
            <a:off x="7251192" y="2788920"/>
            <a:ext cx="41605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Regression:  linear MAE 22.4 SAR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log-target 21.1 | ridge(a=10) 20.8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[dummy 34.2]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Churn: logreg PR-AUC 0.44, r@20% 0.57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[dummy 0.14 / heuristic 0.41]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Tree sweep: train→1.00 by depth 16;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validation peak 0.46 @ depth 6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k-NN: k=1 train acc 1.00;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unscaled k=25 PR-AUC 0.19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3"/>
          <p:cNvSpPr/>
          <p:nvPr/>
        </p:nvSpPr>
        <p:spPr>
          <a:xfrm>
            <a:off x="7040880" y="5212080"/>
            <a:ext cx="4572000" cy="877824"/>
          </a:xfrm>
          <a:prstGeom prst="roundRect">
            <a:avLst>
              <a:gd fmla="val 7292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_a.png" id="601" name="Google Shape;60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4476" y="5409956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23"/>
          <p:cNvSpPr txBox="1"/>
          <p:nvPr/>
        </p:nvSpPr>
        <p:spPr>
          <a:xfrm>
            <a:off x="7635240" y="5321808"/>
            <a:ext cx="38862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4413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5A4413"/>
                </a:solidFill>
                <a:latin typeface="Calibri"/>
                <a:ea typeface="Calibri"/>
                <a:cs typeface="Calibri"/>
                <a:sym typeface="Calibri"/>
              </a:rPr>
              <a:t>ConvergenceWarning on logistic = unscaled features (connect to why M3 pipelines exist). Fast finishers: PolynomialFeatures(degree=2) + ridge — a preview of feature engineering paying off.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3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4"/>
          <p:cNvSpPr/>
          <p:nvPr/>
        </p:nvSpPr>
        <p:spPr>
          <a:xfrm>
            <a:off x="566928" y="329184"/>
            <a:ext cx="1325880" cy="292608"/>
          </a:xfrm>
          <a:prstGeom prst="roundRect">
            <a:avLst>
              <a:gd fmla="val 50000" name="adj"/>
            </a:avLst>
          </a:prstGeom>
          <a:solidFill>
            <a:srgbClr val="1B3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4"/>
          <p:cNvSpPr txBox="1"/>
          <p:nvPr/>
        </p:nvSpPr>
        <p:spPr>
          <a:xfrm>
            <a:off x="566928" y="329184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2 ·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4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Case Study — Used-Car Pricing at “Markabat”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566928" y="1463040"/>
            <a:ext cx="11055096" cy="1170432"/>
          </a:xfrm>
          <a:prstGeom prst="roundRect">
            <a:avLst>
              <a:gd fmla="val 5469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4"/>
          <p:cNvSpPr/>
          <p:nvPr/>
        </p:nvSpPr>
        <p:spPr>
          <a:xfrm>
            <a:off x="777240" y="1627632"/>
            <a:ext cx="475488" cy="475488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tore_w.png" id="614" name="Google Shape;61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357" y="1741749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24"/>
          <p:cNvSpPr txBox="1"/>
          <p:nvPr/>
        </p:nvSpPr>
        <p:spPr>
          <a:xfrm>
            <a:off x="1417320" y="155448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60"/>
              <a:buFont typeface="Calibri"/>
              <a:buNone/>
            </a:pPr>
            <a:r>
              <a:rPr b="0" i="0" lang="en-US" sz="11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 Riyadh-based online used-car marketplace prices trade-in offers through three senior buyers: offers take 4 hours, buyers disagree by up to 18%, weekend surges go unpriced. Data: 90,000 historical listings with sale prices. An offer accepted within minutes converts 3× better — but 10% above market loses money on every car, 10% below drives sellers to competitors.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4"/>
          <p:cNvSpPr/>
          <p:nvPr/>
        </p:nvSpPr>
        <p:spPr>
          <a:xfrm>
            <a:off x="566928" y="2816352"/>
            <a:ext cx="5440680" cy="3246120"/>
          </a:xfrm>
          <a:prstGeom prst="roundRect">
            <a:avLst>
              <a:gd fmla="val 197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4"/>
          <p:cNvSpPr txBox="1"/>
          <p:nvPr/>
        </p:nvSpPr>
        <p:spPr>
          <a:xfrm>
            <a:off x="804672" y="296265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Technical challenge &amp; constraints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4"/>
          <p:cNvSpPr txBox="1"/>
          <p:nvPr/>
        </p:nvSpPr>
        <p:spPr>
          <a:xfrm>
            <a:off x="804672" y="3346704"/>
            <a:ext cx="50292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Regression on sale price, log-transformed — prices span 8k to 900k SAR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Temporal split is non-negotiable: market prices drift; a random split would leak future market levels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MAE reported in SAR AND in % per price band; asymmetric costs on illiquid inventory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Buyers override with a logged reason (human-in-the-loop by design)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Rare models (&lt; 30 sales) get a fallback rule; cars older than the training range are refused, not extrapolated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4"/>
          <p:cNvSpPr/>
          <p:nvPr/>
        </p:nvSpPr>
        <p:spPr>
          <a:xfrm>
            <a:off x="6199632" y="2816352"/>
            <a:ext cx="5440680" cy="1828800"/>
          </a:xfrm>
          <a:prstGeom prst="roundRect">
            <a:avLst>
              <a:gd fmla="val 3500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4"/>
          <p:cNvSpPr txBox="1"/>
          <p:nvPr/>
        </p:nvSpPr>
        <p:spPr>
          <a:xfrm>
            <a:off x="6437376" y="296265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Solution approach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4"/>
          <p:cNvSpPr txBox="1"/>
          <p:nvPr/>
        </p:nvSpPr>
        <p:spPr>
          <a:xfrm>
            <a:off x="6437376" y="3328416"/>
            <a:ext cx="5029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Baseline = same-model-median price — the model must beat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Log-target ridge: every coefficient will be challenged by the senior buyers; surviving that review is the adoption gate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Prediction intervals via residual quantiles — a range, which is what buyers actually asked for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4"/>
          <p:cNvSpPr/>
          <p:nvPr/>
        </p:nvSpPr>
        <p:spPr>
          <a:xfrm>
            <a:off x="6199632" y="4828032"/>
            <a:ext cx="5440680" cy="1234440"/>
          </a:xfrm>
          <a:prstGeom prst="roundRect">
            <a:avLst>
              <a:gd fmla="val 5185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4"/>
          <p:cNvSpPr txBox="1"/>
          <p:nvPr/>
        </p:nvSpPr>
        <p:spPr>
          <a:xfrm>
            <a:off x="6437376" y="49377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4"/>
          <p:cNvSpPr txBox="1"/>
          <p:nvPr/>
        </p:nvSpPr>
        <p:spPr>
          <a:xfrm>
            <a:off x="6437376" y="5266944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Why is the temporal split non-negotiable, and what failure would a random split hide? Design the two-week shadow trial that settles “the buyers trust their medians.” Which error currency for the CFO: SAR, %, or margin-weighted?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4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62E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5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3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5"/>
          <p:cNvSpPr txBox="1"/>
          <p:nvPr/>
        </p:nvSpPr>
        <p:spPr>
          <a:xfrm>
            <a:off x="640080" y="105156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000"/>
              <a:buFont typeface="Calibri"/>
              <a:buNone/>
            </a:pPr>
            <a:r>
              <a:rPr b="1" i="0" lang="en-US" sz="120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5"/>
          <p:cNvSpPr txBox="1"/>
          <p:nvPr/>
        </p:nvSpPr>
        <p:spPr>
          <a:xfrm>
            <a:off x="676656" y="29718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33B"/>
                </a:solidFill>
                <a:latin typeface="Calibri"/>
                <a:ea typeface="Calibri"/>
                <a:cs typeface="Calibri"/>
                <a:sym typeface="Calibri"/>
              </a:rPr>
              <a:t>DAY 2 · HOURS 3–5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5"/>
          <p:cNvSpPr/>
          <p:nvPr/>
        </p:nvSpPr>
        <p:spPr>
          <a:xfrm>
            <a:off x="676656" y="5120640"/>
            <a:ext cx="777240" cy="777240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ayers_w.png" id="635" name="Google Shape;6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194" y="530717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25"/>
          <p:cNvSpPr txBox="1"/>
          <p:nvPr/>
        </p:nvSpPr>
        <p:spPr>
          <a:xfrm>
            <a:off x="4526280" y="1371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5"/>
          <p:cNvSpPr txBox="1"/>
          <p:nvPr/>
        </p:nvSpPr>
        <p:spPr>
          <a:xfrm>
            <a:off x="4480560" y="1737360"/>
            <a:ext cx="7132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 &amp; Preprocessing Pipelines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5"/>
          <p:cNvSpPr txBox="1"/>
          <p:nvPr/>
        </p:nvSpPr>
        <p:spPr>
          <a:xfrm>
            <a:off x="4480560" y="3127248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5BD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9FC5BD"/>
                </a:solidFill>
                <a:latin typeface="Calibri"/>
                <a:ea typeface="Calibri"/>
                <a:cs typeface="Calibri"/>
                <a:sym typeface="Calibri"/>
              </a:rPr>
              <a:t>هندسة الخصائص وخطوط المعالجة المسبقة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5"/>
          <p:cNvSpPr txBox="1"/>
          <p:nvPr/>
        </p:nvSpPr>
        <p:spPr>
          <a:xfrm>
            <a:off x="4526280" y="3886200"/>
            <a:ext cx="70408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Select imputation strategies — including missingness indicators — with reasons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Apply scaling and encoding correctly per feature type and model class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Compose preprocessing + model into a single Pipeline / ColumnTransformer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Engineer datetime and RFM aggregate features under the prediction-time rule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6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6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6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Missing Values — Impute With a Reason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6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Imputation choices are modelling decisions, not cleanup chores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9" name="Google Shape;649;p26"/>
          <p:cNvGraphicFramePr/>
          <p:nvPr/>
        </p:nvGraphicFramePr>
        <p:xfrm>
          <a:off x="566928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{E0CDE1C1-62A7-44C6-83CE-F4AE5E7467F2}</a:tableStyleId>
              </a:tblPr>
              <a:tblGrid>
                <a:gridCol w="1828800"/>
                <a:gridCol w="5074925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Situation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Course guidance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Numeric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 (robust default) · mean only for symmetric distributions · constant 0 only when zero is meaningful (“no promo used”)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Categorical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 explicit “missing” category usually beats mode imputation — absence is information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6B5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B6B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indicator trick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SimpleImputer(add_indicator=True) appends a was-missing flag — the indicator carries the signal the imputed value erases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 vs structural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Missing-at-random (impute) vs structural / “not applicable” (redesign the feature) — misdiagnosis is common in enterprise data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0" name="Google Shape;650;p26"/>
          <p:cNvSpPr/>
          <p:nvPr/>
        </p:nvSpPr>
        <p:spPr>
          <a:xfrm>
            <a:off x="7726680" y="1691640"/>
            <a:ext cx="3904488" cy="3154680"/>
          </a:xfrm>
          <a:prstGeom prst="roundRect">
            <a:avLst>
              <a:gd fmla="val 2029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6"/>
          <p:cNvSpPr txBox="1"/>
          <p:nvPr/>
        </p:nvSpPr>
        <p:spPr>
          <a:xfrm>
            <a:off x="7863840" y="187452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31%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6"/>
          <p:cNvSpPr txBox="1"/>
          <p:nvPr/>
        </p:nvSpPr>
        <p:spPr>
          <a:xfrm>
            <a:off x="7936992" y="2743200"/>
            <a:ext cx="3474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of Manafeth customers have no avg_rating — overwhelmingly NEW customers, who churn differently. The missingness indicator becomes a predictive feature.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6"/>
          <p:cNvSpPr txBox="1"/>
          <p:nvPr/>
        </p:nvSpPr>
        <p:spPr>
          <a:xfrm>
            <a:off x="7936992" y="406908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C5B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FC5BD"/>
                </a:solidFill>
                <a:latin typeface="Calibri"/>
                <a:ea typeface="Calibri"/>
                <a:cs typeface="Calibri"/>
                <a:sym typeface="Calibri"/>
              </a:rPr>
              <a:t>(last_promo_used: 22% missing = never used a promo — absence is information)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6"/>
          <p:cNvSpPr/>
          <p:nvPr/>
        </p:nvSpPr>
        <p:spPr>
          <a:xfrm>
            <a:off x="566928" y="5138928"/>
            <a:ext cx="11055096" cy="1051560"/>
          </a:xfrm>
          <a:prstGeom prst="roundRect">
            <a:avLst>
              <a:gd fmla="val 6087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ock_a.png" id="655" name="Google Shape;6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5451653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26"/>
          <p:cNvSpPr txBox="1"/>
          <p:nvPr/>
        </p:nvSpPr>
        <p:spPr>
          <a:xfrm>
            <a:off x="1417320" y="5230368"/>
            <a:ext cx="9966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441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A4413"/>
                </a:solidFill>
                <a:latin typeface="Calibri"/>
                <a:ea typeface="Calibri"/>
                <a:cs typeface="Calibri"/>
                <a:sym typeface="Calibri"/>
              </a:rPr>
              <a:t>The order rule: </a:t>
            </a:r>
            <a:r>
              <a:rPr b="0" i="0" lang="en-US" sz="1150" u="none" cap="none" strike="noStrike">
                <a:solidFill>
                  <a:srgbClr val="5A4413"/>
                </a:solidFill>
                <a:latin typeface="Calibri"/>
                <a:ea typeface="Calibri"/>
                <a:cs typeface="Calibri"/>
                <a:sym typeface="Calibri"/>
              </a:rPr>
              <a:t>imputation statistics are learned parameters. A median computed on the full dataset puts test-set information in the training matrix. Inside a Pipeline, this mistake becomes unwritable — the strongest argument for the packaging discipline.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6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7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7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7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Scaling — Who Needs It and Why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6" name="Google Shape;666;p27"/>
          <p:cNvGraphicFramePr/>
          <p:nvPr/>
        </p:nvGraphicFramePr>
        <p:xfrm>
          <a:off x="566928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{E0CDE1C1-62A7-44C6-83CE-F4AE5E7467F2}</a:tableStyleId>
              </a:tblPr>
              <a:tblGrid>
                <a:gridCol w="4206250"/>
                <a:gridCol w="1645925"/>
                <a:gridCol w="5202925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family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Needs scaling?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Linear / logistic + regularisation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6B5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B6B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penalty compares weight sizes across features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k-NN · SVM · k-means · PCA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6B5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B6B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Distance and variance computations mix units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trees · random forests · gradient boosting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707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C70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Splits are order-based; monotone transforms are invisible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67" name="Google Shape;667;p27"/>
          <p:cNvSpPr/>
          <p:nvPr/>
        </p:nvSpPr>
        <p:spPr>
          <a:xfrm>
            <a:off x="566928" y="4160520"/>
            <a:ext cx="3602736" cy="1005840"/>
          </a:xfrm>
          <a:prstGeom prst="roundRect">
            <a:avLst>
              <a:gd fmla="val 6364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7"/>
          <p:cNvSpPr txBox="1"/>
          <p:nvPr/>
        </p:nvSpPr>
        <p:spPr>
          <a:xfrm>
            <a:off x="749808" y="42793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StandardScaler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7"/>
          <p:cNvSpPr txBox="1"/>
          <p:nvPr/>
        </p:nvSpPr>
        <p:spPr>
          <a:xfrm>
            <a:off x="749808" y="4590288"/>
            <a:ext cx="3246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the default — zero mean, unit variance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7"/>
          <p:cNvSpPr/>
          <p:nvPr/>
        </p:nvSpPr>
        <p:spPr>
          <a:xfrm>
            <a:off x="4343400" y="4160520"/>
            <a:ext cx="3602736" cy="1005840"/>
          </a:xfrm>
          <a:prstGeom prst="roundRect">
            <a:avLst>
              <a:gd fmla="val 6364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7"/>
          <p:cNvSpPr txBox="1"/>
          <p:nvPr/>
        </p:nvSpPr>
        <p:spPr>
          <a:xfrm>
            <a:off x="4526280" y="42793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MinMaxScaler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7"/>
          <p:cNvSpPr txBox="1"/>
          <p:nvPr/>
        </p:nvSpPr>
        <p:spPr>
          <a:xfrm>
            <a:off x="4526280" y="4590288"/>
            <a:ext cx="3246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bounded inputs (e.g., for neural nets in SDA-AIE-112)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7"/>
          <p:cNvSpPr/>
          <p:nvPr/>
        </p:nvSpPr>
        <p:spPr>
          <a:xfrm>
            <a:off x="8119872" y="4160520"/>
            <a:ext cx="3602736" cy="1005840"/>
          </a:xfrm>
          <a:prstGeom prst="roundRect">
            <a:avLst>
              <a:gd fmla="val 6364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7"/>
          <p:cNvSpPr txBox="1"/>
          <p:nvPr/>
        </p:nvSpPr>
        <p:spPr>
          <a:xfrm>
            <a:off x="8302752" y="42793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RobustScaler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 txBox="1"/>
          <p:nvPr/>
        </p:nvSpPr>
        <p:spPr>
          <a:xfrm>
            <a:off x="8302752" y="4590288"/>
            <a:ext cx="3246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heavy outliers — Manafeth basket values have a long tail of bulk orders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7"/>
          <p:cNvSpPr/>
          <p:nvPr/>
        </p:nvSpPr>
        <p:spPr>
          <a:xfrm>
            <a:off x="566928" y="5376672"/>
            <a:ext cx="11055096" cy="868680"/>
          </a:xfrm>
          <a:prstGeom prst="roundRect">
            <a:avLst>
              <a:gd fmla="val 7368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7"/>
          <p:cNvSpPr/>
          <p:nvPr/>
        </p:nvSpPr>
        <p:spPr>
          <a:xfrm>
            <a:off x="777240" y="5559552"/>
            <a:ext cx="502920" cy="50292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_w.png" id="678" name="Google Shape;6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5680253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27"/>
          <p:cNvSpPr txBox="1"/>
          <p:nvPr/>
        </p:nvSpPr>
        <p:spPr>
          <a:xfrm>
            <a:off x="1417320" y="5440680"/>
            <a:ext cx="99669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80"/>
              <a:buFont typeface="Calibri"/>
              <a:buNone/>
            </a:pPr>
            <a:r>
              <a:rPr b="1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Two rules: </a:t>
            </a:r>
            <a:r>
              <a:rPr b="0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(1) fit on train only — the Module 2 lesson, now automated inside the Pipeline; (2) never scale the target silently — if you transform y, own the back-transform in the metric.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7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8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8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8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Encoding Categoricals — The Cardinality Ladder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8"/>
          <p:cNvSpPr/>
          <p:nvPr/>
        </p:nvSpPr>
        <p:spPr>
          <a:xfrm>
            <a:off x="566928" y="1481328"/>
            <a:ext cx="11055096" cy="1170432"/>
          </a:xfrm>
          <a:prstGeom prst="roundRect">
            <a:avLst>
              <a:gd fmla="val 5469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8"/>
          <p:cNvSpPr/>
          <p:nvPr/>
        </p:nvSpPr>
        <p:spPr>
          <a:xfrm>
            <a:off x="749808" y="1645920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8"/>
          <p:cNvSpPr txBox="1"/>
          <p:nvPr/>
        </p:nvSpPr>
        <p:spPr>
          <a:xfrm>
            <a:off x="749808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8"/>
          <p:cNvSpPr txBox="1"/>
          <p:nvPr/>
        </p:nvSpPr>
        <p:spPr>
          <a:xfrm>
            <a:off x="1353312" y="16276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One-hot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8"/>
          <p:cNvSpPr txBox="1"/>
          <p:nvPr/>
        </p:nvSpPr>
        <p:spPr>
          <a:xfrm>
            <a:off x="5120640" y="1636776"/>
            <a:ext cx="6309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D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0B6B5D"/>
                </a:solidFill>
                <a:latin typeface="Courier New"/>
                <a:ea typeface="Courier New"/>
                <a:cs typeface="Courier New"/>
                <a:sym typeface="Courier New"/>
              </a:rPr>
              <a:t>OneHotEncoder(handle_unknown=“ignore”)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8"/>
          <p:cNvSpPr txBox="1"/>
          <p:nvPr/>
        </p:nvSpPr>
        <p:spPr>
          <a:xfrm>
            <a:off x="1353312" y="1984248"/>
            <a:ext cx="100126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The default for low cardinality — Manafeth: city (3), device (2), payment_method (4). handle_unknown=“ignore” is non-negotiable in production: otherwise the first unseen category crashes the service — the classic “works until the Taif launch” incident.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8"/>
          <p:cNvSpPr/>
          <p:nvPr/>
        </p:nvSpPr>
        <p:spPr>
          <a:xfrm>
            <a:off x="566928" y="2788920"/>
            <a:ext cx="11055096" cy="1170432"/>
          </a:xfrm>
          <a:prstGeom prst="roundRect">
            <a:avLst>
              <a:gd fmla="val 5469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8"/>
          <p:cNvSpPr/>
          <p:nvPr/>
        </p:nvSpPr>
        <p:spPr>
          <a:xfrm>
            <a:off x="749808" y="2953512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8"/>
          <p:cNvSpPr txBox="1"/>
          <p:nvPr/>
        </p:nvSpPr>
        <p:spPr>
          <a:xfrm>
            <a:off x="749808" y="2953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8"/>
          <p:cNvSpPr txBox="1"/>
          <p:nvPr/>
        </p:nvSpPr>
        <p:spPr>
          <a:xfrm>
            <a:off x="1353312" y="293522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Ordinal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8"/>
          <p:cNvSpPr txBox="1"/>
          <p:nvPr/>
        </p:nvSpPr>
        <p:spPr>
          <a:xfrm>
            <a:off x="5120640" y="2944368"/>
            <a:ext cx="6309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D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0B6B5D"/>
                </a:solidFill>
                <a:latin typeface="Courier New"/>
                <a:ea typeface="Courier New"/>
                <a:cs typeface="Courier New"/>
                <a:sym typeface="Courier New"/>
              </a:rPr>
              <a:t>OrdinalEncoder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8"/>
          <p:cNvSpPr txBox="1"/>
          <p:nvPr/>
        </p:nvSpPr>
        <p:spPr>
          <a:xfrm>
            <a:off x="1353312" y="3291840"/>
            <a:ext cx="100126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Only when order is real (city_tier 1 &lt; 2 &lt; 3). Arbitrary ordinal encoding into linear models invents relationships; into trees it merely costs a little split efficiency.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8"/>
          <p:cNvSpPr/>
          <p:nvPr/>
        </p:nvSpPr>
        <p:spPr>
          <a:xfrm>
            <a:off x="566928" y="4096512"/>
            <a:ext cx="11055096" cy="1572768"/>
          </a:xfrm>
          <a:prstGeom prst="roundRect">
            <a:avLst>
              <a:gd fmla="val 4070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8"/>
          <p:cNvSpPr/>
          <p:nvPr/>
        </p:nvSpPr>
        <p:spPr>
          <a:xfrm>
            <a:off x="749808" y="4261104"/>
            <a:ext cx="457200" cy="457200"/>
          </a:xfrm>
          <a:prstGeom prst="ellipse">
            <a:avLst/>
          </a:prstGeom>
          <a:solidFill>
            <a:srgbClr val="E8A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8"/>
          <p:cNvSpPr txBox="1"/>
          <p:nvPr/>
        </p:nvSpPr>
        <p:spPr>
          <a:xfrm>
            <a:off x="749808" y="42611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8"/>
          <p:cNvSpPr txBox="1"/>
          <p:nvPr/>
        </p:nvSpPr>
        <p:spPr>
          <a:xfrm>
            <a:off x="1353312" y="424281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Frequency / target encoding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8"/>
          <p:cNvSpPr txBox="1"/>
          <p:nvPr/>
        </p:nvSpPr>
        <p:spPr>
          <a:xfrm>
            <a:off x="5120640" y="4251960"/>
            <a:ext cx="6309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D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0B6B5D"/>
                </a:solidFill>
                <a:latin typeface="Courier New"/>
                <a:ea typeface="Courier New"/>
                <a:cs typeface="Courier New"/>
                <a:sym typeface="Courier New"/>
              </a:rPr>
              <a:t>high-cardinality tools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8"/>
          <p:cNvSpPr txBox="1"/>
          <p:nvPr/>
        </p:nvSpPr>
        <p:spPr>
          <a:xfrm>
            <a:off x="1353312" y="4599432"/>
            <a:ext cx="10012680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Hundreds of merchant categories, thousands of SKUs. Target encoding replaces a category with the target mean for that category — powerful and dangerous: computed naively it leaks the label into the features. It must be fit inside each CV fold. At Practitioner level: frequency encoding is the safe default; target encoding = “know the hazard, use library implementations, verify with the leakage test.”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8"/>
          <p:cNvSpPr/>
          <p:nvPr/>
        </p:nvSpPr>
        <p:spPr>
          <a:xfrm>
            <a:off x="566928" y="5806440"/>
            <a:ext cx="11055096" cy="658368"/>
          </a:xfrm>
          <a:prstGeom prst="roundRect">
            <a:avLst>
              <a:gd fmla="val 9722" name="adj"/>
            </a:avLst>
          </a:prstGeom>
          <a:solidFill>
            <a:srgbClr val="F7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8"/>
          <p:cNvSpPr txBox="1"/>
          <p:nvPr/>
        </p:nvSpPr>
        <p:spPr>
          <a:xfrm>
            <a:off x="777240" y="5852160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8502F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B8502F"/>
                </a:solidFill>
                <a:latin typeface="Calibri"/>
                <a:ea typeface="Calibri"/>
                <a:cs typeface="Calibri"/>
                <a:sym typeface="Calibri"/>
              </a:rPr>
              <a:t>The ID rule (from M2): </a:t>
            </a:r>
            <a:r>
              <a:rPr b="0" i="0" lang="en-US" sz="10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identifiers are never features. High-cardinality encodings of quasi-IDs (exact GPS points, full postcodes) are IDs wearing a costume — 40,000 one-hot customer-ID columns is memorisation by another name.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8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9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9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9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Datetime &amp; Aggregate Features — Where the Lift Lives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9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On Manafeth, RFM aggregates + a Ramadan flag + city-tier encoding lift churn PR-AUC more than any Day 3 model change will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9"/>
          <p:cNvSpPr/>
          <p:nvPr/>
        </p:nvSpPr>
        <p:spPr>
          <a:xfrm>
            <a:off x="566928" y="1691640"/>
            <a:ext cx="5440680" cy="2286000"/>
          </a:xfrm>
          <a:prstGeom prst="roundRect">
            <a:avLst>
              <a:gd fmla="val 2800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9"/>
          <p:cNvSpPr/>
          <p:nvPr/>
        </p:nvSpPr>
        <p:spPr>
          <a:xfrm>
            <a:off x="777240" y="1856232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alendar_w.png" id="721" name="Google Shape;72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1965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29"/>
          <p:cNvSpPr txBox="1"/>
          <p:nvPr/>
        </p:nvSpPr>
        <p:spPr>
          <a:xfrm>
            <a:off x="1371600" y="192024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80"/>
              <a:buFont typeface="Calibri"/>
              <a:buNone/>
            </a:pPr>
            <a:r>
              <a:rPr b="1" i="0" lang="en-US" sz="12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Datetimes: unusable raw, gold decomposed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9"/>
          <p:cNvSpPr txBox="1"/>
          <p:nvPr/>
        </p:nvSpPr>
        <p:spPr>
          <a:xfrm>
            <a:off x="804672" y="2377440"/>
            <a:ext cx="5029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080"/>
              <a:buFont typeface="Calibri"/>
              <a:buChar char="•"/>
            </a:pPr>
            <a:r>
              <a:rPr b="0" i="0" lang="en-US" sz="10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hour · day-of-week · month · days-since-event · cyclical sin/cos when 23:00 must border 00:00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80"/>
              <a:buFont typeface="Calibri"/>
              <a:buChar char="•"/>
            </a:pPr>
            <a:r>
              <a:rPr b="1" i="0" lang="en-US" sz="10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is_weekend = Fri/Sat in KSA — a locale bug in every imported code sample; make the room find it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80"/>
              <a:buFont typeface="Calibri"/>
              <a:buChar char="•"/>
            </a:pPr>
            <a:r>
              <a:rPr b="0" i="0" lang="en-US" sz="10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Domain calendars beat generic components: Ramadan proximity, Eid windows, school terms, salary days (27th)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9"/>
          <p:cNvSpPr/>
          <p:nvPr/>
        </p:nvSpPr>
        <p:spPr>
          <a:xfrm>
            <a:off x="6199632" y="1691640"/>
            <a:ext cx="5440680" cy="2286000"/>
          </a:xfrm>
          <a:prstGeom prst="roundRect">
            <a:avLst>
              <a:gd fmla="val 2800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9"/>
          <p:cNvSpPr/>
          <p:nvPr/>
        </p:nvSpPr>
        <p:spPr>
          <a:xfrm>
            <a:off x="6400800" y="1856232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b_w.png" id="726" name="Google Shape;72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528" y="1965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29"/>
          <p:cNvSpPr txBox="1"/>
          <p:nvPr/>
        </p:nvSpPr>
        <p:spPr>
          <a:xfrm>
            <a:off x="6995160" y="192024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80"/>
              <a:buFont typeface="Calibri"/>
              <a:buNone/>
            </a:pPr>
            <a:r>
              <a:rPr b="1" i="0" lang="en-US" sz="12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RFM aggregates from the orders table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9"/>
          <p:cNvSpPr txBox="1"/>
          <p:nvPr/>
        </p:nvSpPr>
        <p:spPr>
          <a:xfrm>
            <a:off x="6428232" y="2377440"/>
            <a:ext cx="5029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080"/>
              <a:buFont typeface="Calibri"/>
              <a:buChar char="•"/>
            </a:pPr>
            <a:r>
              <a:rPr b="0" i="0" lang="en-US" sz="10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days_since_last_order · orders_90d · avg_basket_90d · basket_trend (last-30d vs prior-60d)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80"/>
              <a:buFont typeface="Calibri"/>
              <a:buChar char="•"/>
            </a:pPr>
            <a:r>
              <a:rPr b="1" i="0" lang="en-US" sz="10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temporal discipline applies INSIDE the groupby: aggregates use only orders before the snapshot date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80"/>
              <a:buFont typeface="Calibri"/>
              <a:buChar char="•"/>
            </a:pPr>
            <a:r>
              <a:rPr b="0" i="0" lang="en-US" sz="10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An aggregate over all orders summarises the future — leakage by construction; the course's second planted-leak hunt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9"/>
          <p:cNvSpPr/>
          <p:nvPr/>
        </p:nvSpPr>
        <p:spPr>
          <a:xfrm>
            <a:off x="566928" y="4206240"/>
            <a:ext cx="11055096" cy="1874520"/>
          </a:xfrm>
          <a:prstGeom prst="roundRect">
            <a:avLst>
              <a:gd fmla="val 3415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9"/>
          <p:cNvSpPr txBox="1"/>
          <p:nvPr/>
        </p:nvSpPr>
        <p:spPr>
          <a:xfrm>
            <a:off x="804672" y="435254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The load-bearing 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9"/>
          <p:cNvSpPr txBox="1"/>
          <p:nvPr/>
        </p:nvSpPr>
        <p:spPr>
          <a:xfrm>
            <a:off x="822960" y="4718304"/>
            <a:ext cx="10607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def rfm_features(orders, snapshot):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D8E6E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  past = orders[orders["order_ts"] &lt; snapshot]     # &lt;- the load-bearing 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D8E6E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  g = past.groupby("customer_id")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D8E6E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  ...   # every aggregate obeys the prediction-time rule by construction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9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0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0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0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Pipeline + ColumnTransformer — The Packaging Discipline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0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fit learns all parameters from training data; transform replays them identically — everywhere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0"/>
          <p:cNvSpPr/>
          <p:nvPr/>
        </p:nvSpPr>
        <p:spPr>
          <a:xfrm>
            <a:off x="566928" y="1645920"/>
            <a:ext cx="6766560" cy="1042416"/>
          </a:xfrm>
          <a:prstGeom prst="roundRect">
            <a:avLst>
              <a:gd fmla="val 6140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0"/>
          <p:cNvSpPr/>
          <p:nvPr/>
        </p:nvSpPr>
        <p:spPr>
          <a:xfrm>
            <a:off x="731520" y="1792224"/>
            <a:ext cx="402336" cy="402336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ock_w.png" id="744" name="Google Shape;74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081" y="1888785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30"/>
          <p:cNvSpPr txBox="1"/>
          <p:nvPr/>
        </p:nvSpPr>
        <p:spPr>
          <a:xfrm>
            <a:off x="1261872" y="1737360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80"/>
              <a:buFont typeface="Calibri"/>
              <a:buNone/>
            </a:pPr>
            <a:r>
              <a:rPr b="1" i="0" lang="en-US" sz="12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Leakage-proof by construction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0"/>
          <p:cNvSpPr txBox="1"/>
          <p:nvPr/>
        </p:nvSpPr>
        <p:spPr>
          <a:xfrm>
            <a:off x="1261872" y="2048256"/>
            <a:ext cx="5943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989"/>
              <a:buFont typeface="Calibri"/>
              <a:buNone/>
            </a:pPr>
            <a:r>
              <a:rPr b="0" i="0" lang="en-US" sz="99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Cross-validating a Pipeline refits preprocessing inside every fold — the only mechanically safe way to combine CV with learned transforms. Module 4 depends on this; Module 7 tunes preprocessing and model jointly because of it.</a:t>
            </a:r>
            <a:endParaRPr b="0" i="0" sz="9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0"/>
          <p:cNvSpPr/>
          <p:nvPr/>
        </p:nvSpPr>
        <p:spPr>
          <a:xfrm>
            <a:off x="566928" y="2816352"/>
            <a:ext cx="6766560" cy="1042416"/>
          </a:xfrm>
          <a:prstGeom prst="roundRect">
            <a:avLst>
              <a:gd fmla="val 6140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0"/>
          <p:cNvSpPr/>
          <p:nvPr/>
        </p:nvSpPr>
        <p:spPr>
          <a:xfrm>
            <a:off x="731520" y="2962656"/>
            <a:ext cx="402336" cy="402336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puzzle_w.png" id="749" name="Google Shape;74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081" y="3059217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30"/>
          <p:cNvSpPr txBox="1"/>
          <p:nvPr/>
        </p:nvSpPr>
        <p:spPr>
          <a:xfrm>
            <a:off x="1261872" y="2907792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80"/>
              <a:buFont typeface="Calibri"/>
              <a:buNone/>
            </a:pPr>
            <a:r>
              <a:rPr b="1" i="0" lang="en-US" sz="12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One artefact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0"/>
          <p:cNvSpPr txBox="1"/>
          <p:nvPr/>
        </p:nvSpPr>
        <p:spPr>
          <a:xfrm>
            <a:off x="1261872" y="3218688"/>
            <a:ext cx="5943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989"/>
              <a:buFont typeface="Calibri"/>
              <a:buNone/>
            </a:pPr>
            <a:r>
              <a:rPr b="0" i="0" lang="en-US" sz="99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The fitted pipeline serialises as a single object; the serving side (SDA-AIE-113) calls pipeline.predict(raw_row) and cannot skew preprocessing against training — training/serving-skew defence at the object level.</a:t>
            </a:r>
            <a:endParaRPr b="0" i="0" sz="9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0"/>
          <p:cNvSpPr/>
          <p:nvPr/>
        </p:nvSpPr>
        <p:spPr>
          <a:xfrm>
            <a:off x="566928" y="3986784"/>
            <a:ext cx="6766560" cy="1042416"/>
          </a:xfrm>
          <a:prstGeom prst="roundRect">
            <a:avLst>
              <a:gd fmla="val 6140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0"/>
          <p:cNvSpPr/>
          <p:nvPr/>
        </p:nvSpPr>
        <p:spPr>
          <a:xfrm>
            <a:off x="731520" y="4133088"/>
            <a:ext cx="402336" cy="402336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eye_w.png" id="754" name="Google Shape;75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081" y="4229649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30"/>
          <p:cNvSpPr txBox="1"/>
          <p:nvPr/>
        </p:nvSpPr>
        <p:spPr>
          <a:xfrm>
            <a:off x="1261872" y="4078224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80"/>
              <a:buFont typeface="Calibri"/>
              <a:buNone/>
            </a:pPr>
            <a:r>
              <a:rPr b="1" i="0" lang="en-US" sz="12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Reviewable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0"/>
          <p:cNvSpPr txBox="1"/>
          <p:nvPr/>
        </p:nvSpPr>
        <p:spPr>
          <a:xfrm>
            <a:off x="1261872" y="4389120"/>
            <a:ext cx="5943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989"/>
              <a:buFont typeface="Calibri"/>
              <a:buNone/>
            </a:pPr>
            <a:r>
              <a:rPr b="0" i="0" lang="en-US" sz="99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set_config(display=“diagram”) renders the pipeline as an HTML diagram in the notebook — the preprocessing IS the documentation. Governance reviews (SAMA, NDMO) increasingly ask teams to show preprocessing cannot leak; a fitted Pipeline object is precisely that evidence.</a:t>
            </a:r>
            <a:endParaRPr b="0" i="0" sz="9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0"/>
          <p:cNvSpPr/>
          <p:nvPr/>
        </p:nvSpPr>
        <p:spPr>
          <a:xfrm>
            <a:off x="7543800" y="1645920"/>
            <a:ext cx="4087368" cy="3383280"/>
          </a:xfrm>
          <a:prstGeom prst="roundRect">
            <a:avLst>
              <a:gd fmla="val 1892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0"/>
          <p:cNvSpPr txBox="1"/>
          <p:nvPr/>
        </p:nvSpPr>
        <p:spPr>
          <a:xfrm>
            <a:off x="7726680" y="177393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src/manafeth/features.py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0"/>
          <p:cNvSpPr txBox="1"/>
          <p:nvPr/>
        </p:nvSpPr>
        <p:spPr>
          <a:xfrm>
            <a:off x="7726680" y="2103120"/>
            <a:ext cx="37490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numeric = Pipeline([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D8E6E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("impute", SimpleImputer(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D8E6E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 strategy="median",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D8E6E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 add_indicator=True)),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D8E6E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("scale", StandardScaler())])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D8E6E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categorical = Pipeline([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D8E6E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("impute", …"missing"),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D8E6E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("onehot", OneHotEncoder(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D8E6E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 handle_unknown="ignore"))])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D8E6E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ColumnTransformer([…],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D8E6E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remainder="drop")  # nothing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D8E6E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# leaks in silently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0"/>
          <p:cNvSpPr/>
          <p:nvPr/>
        </p:nvSpPr>
        <p:spPr>
          <a:xfrm>
            <a:off x="566928" y="5257800"/>
            <a:ext cx="11055096" cy="868680"/>
          </a:xfrm>
          <a:prstGeom prst="roundRect">
            <a:avLst>
              <a:gd fmla="val 7368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0"/>
          <p:cNvSpPr txBox="1"/>
          <p:nvPr/>
        </p:nvSpPr>
        <p:spPr>
          <a:xfrm>
            <a:off x="777240" y="5349240"/>
            <a:ext cx="10607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80"/>
              <a:buFont typeface="Calibri"/>
              <a:buNone/>
            </a:pPr>
            <a:r>
              <a:rPr b="1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Single source of preprocessing truth: </a:t>
            </a:r>
            <a:r>
              <a:rPr b="0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build_preprocessor() is imported by every later notebook — Labs 4–7 and the tuned champion consume exactly this module. Pipeline-less notebooks where preprocessing exists as 14 scattered cells are unreproducible, unreviewable, undeployable.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0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1"/>
          <p:cNvSpPr/>
          <p:nvPr/>
        </p:nvSpPr>
        <p:spPr>
          <a:xfrm>
            <a:off x="566928" y="329184"/>
            <a:ext cx="1325880" cy="292608"/>
          </a:xfrm>
          <a:prstGeom prst="roundRect">
            <a:avLst>
              <a:gd fmla="val 50000" name="adj"/>
            </a:avLst>
          </a:prstGeom>
          <a:solidFill>
            <a:srgbClr val="1B3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1"/>
          <p:cNvSpPr txBox="1"/>
          <p:nvPr/>
        </p:nvSpPr>
        <p:spPr>
          <a:xfrm>
            <a:off x="566928" y="329184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3 ·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Case Study — Features at Prediction Time, at Scale (talabat, Part B)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1"/>
          <p:cNvSpPr/>
          <p:nvPr/>
        </p:nvSpPr>
        <p:spPr>
          <a:xfrm>
            <a:off x="566928" y="1463040"/>
            <a:ext cx="11055096" cy="1170432"/>
          </a:xfrm>
          <a:prstGeom prst="roundRect">
            <a:avLst>
              <a:gd fmla="val 5469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1"/>
          <p:cNvSpPr/>
          <p:nvPr/>
        </p:nvSpPr>
        <p:spPr>
          <a:xfrm>
            <a:off x="777240" y="1627632"/>
            <a:ext cx="475488" cy="475488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tore_w.png" id="772" name="Google Shape;77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357" y="1741749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31"/>
          <p:cNvSpPr txBox="1"/>
          <p:nvPr/>
        </p:nvSpPr>
        <p:spPr>
          <a:xfrm>
            <a:off x="1417320" y="155448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60"/>
              <a:buFont typeface="Calibri"/>
              <a:buNone/>
            </a:pPr>
            <a:r>
              <a:rPr b="0" i="0" lang="en-US" sz="11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delivery-time model's offline MAE looked excellent; the production shadow test was far worse. Post-mortem: “rider availability” and “store load” were computed from data timestamped after checkout — at serving time those values do not exist yet. Every pair that ran today's leak hunt has made, and caught, the same class of mistake.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1"/>
          <p:cNvSpPr/>
          <p:nvPr/>
        </p:nvSpPr>
        <p:spPr>
          <a:xfrm>
            <a:off x="566928" y="2816352"/>
            <a:ext cx="5440680" cy="3246120"/>
          </a:xfrm>
          <a:prstGeom prst="roundRect">
            <a:avLst>
              <a:gd fmla="val 197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1"/>
          <p:cNvSpPr txBox="1"/>
          <p:nvPr/>
        </p:nvSpPr>
        <p:spPr>
          <a:xfrm>
            <a:off x="804672" y="296265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Feature groups — each must pass the timestamp test at checkout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1"/>
          <p:cNvSpPr txBox="1"/>
          <p:nvPr/>
        </p:nvSpPr>
        <p:spPr>
          <a:xfrm>
            <a:off x="804672" y="3346704"/>
            <a:ext cx="50292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Order: items, basket SAR, payment, zone  →  Lab 2's raw columns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Store state as-of checkout: queue, pickers, stock-outs  →  orders_90d with a 30-minute window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Zone/time: rolling order rate, is_Ramadan, minutes_to_iftar  →  calendar_features()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Customer history as-of checkout: avg basket 90d, basket trend  →  rfm_features(), verbatim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Rider supply as-of checkout  →  the post-mortem group — legal only as-of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1"/>
          <p:cNvSpPr/>
          <p:nvPr/>
        </p:nvSpPr>
        <p:spPr>
          <a:xfrm>
            <a:off x="6199632" y="2816352"/>
            <a:ext cx="5440680" cy="1828800"/>
          </a:xfrm>
          <a:prstGeom prst="roundRect">
            <a:avLst>
              <a:gd fmla="val 3500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1"/>
          <p:cNvSpPr txBox="1"/>
          <p:nvPr/>
        </p:nvSpPr>
        <p:spPr>
          <a:xfrm>
            <a:off x="6437376" y="296265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Solution approach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1"/>
          <p:cNvSpPr txBox="1"/>
          <p:nvPr/>
        </p:nvSpPr>
        <p:spPr>
          <a:xfrm>
            <a:off x="6437376" y="3328416"/>
            <a:ext cx="5029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 central feature store (Delivery Hero's documented practice): define once, compute identically for training (as-of joins) and serving (live) — the industrial form of Lab 3's snapshot filter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“Ship the object, not the recipe” → ship the feature definition, not per-team copies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1"/>
          <p:cNvSpPr/>
          <p:nvPr/>
        </p:nvSpPr>
        <p:spPr>
          <a:xfrm>
            <a:off x="6199632" y="4828032"/>
            <a:ext cx="5440680" cy="1234440"/>
          </a:xfrm>
          <a:prstGeom prst="roundRect">
            <a:avLst>
              <a:gd fmla="val 5185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1"/>
          <p:cNvSpPr txBox="1"/>
          <p:nvPr/>
        </p:nvSpPr>
        <p:spPr>
          <a:xfrm>
            <a:off x="6437376" y="49377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1"/>
          <p:cNvSpPr txBox="1"/>
          <p:nvPr/>
        </p:nvSpPr>
        <p:spPr>
          <a:xfrm>
            <a:off x="6437376" y="5266944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Your workshop feature costs a 610k-row groupby per scoring run. Redesign it as a feature-store feature: what is precomputed, on what schedule, what is looked up live?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1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2"/>
          <p:cNvSpPr/>
          <p:nvPr/>
        </p:nvSpPr>
        <p:spPr>
          <a:xfrm>
            <a:off x="566928" y="329184"/>
            <a:ext cx="1775765" cy="292608"/>
          </a:xfrm>
          <a:prstGeom prst="roundRect">
            <a:avLst>
              <a:gd fmla="val 50000" name="adj"/>
            </a:avLst>
          </a:prstGeom>
          <a:solidFill>
            <a:srgbClr val="E8A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2"/>
          <p:cNvSpPr txBox="1"/>
          <p:nvPr/>
        </p:nvSpPr>
        <p:spPr>
          <a:xfrm>
            <a:off x="566928" y="329184"/>
            <a:ext cx="177576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HANDS-ON · DAY 2 H4–5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2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Lab 3 — Build the Pipeline, Hunt the Leak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2"/>
          <p:cNvSpPr/>
          <p:nvPr/>
        </p:nvSpPr>
        <p:spPr>
          <a:xfrm>
            <a:off x="566928" y="1417320"/>
            <a:ext cx="11055096" cy="658368"/>
          </a:xfrm>
          <a:prstGeom prst="roundRect">
            <a:avLst>
              <a:gd fmla="val 972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2"/>
          <p:cNvSpPr txBox="1"/>
          <p:nvPr/>
        </p:nvSpPr>
        <p:spPr>
          <a:xfrm>
            <a:off x="777240" y="1463040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80"/>
              <a:buFont typeface="Calibri"/>
              <a:buNone/>
            </a:pPr>
            <a:r>
              <a:rPr b="0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50 min lab + 50 min feature workshop · pairs — full Pipeline for Manafeth; leakage hunt on a sabotaged notebook; RFM + datetime + domain features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2"/>
          <p:cNvSpPr txBox="1"/>
          <p:nvPr/>
        </p:nvSpPr>
        <p:spPr>
          <a:xfrm>
            <a:off x="566928" y="2286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Tasks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2"/>
          <p:cNvSpPr txBox="1"/>
          <p:nvPr/>
        </p:nvSpPr>
        <p:spPr>
          <a:xfrm>
            <a:off x="566928" y="2651760"/>
            <a:ext cx="62636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Assemble the ColumnTransformer: numeric (median impute + indicator + scale) and categorical (“missing” + one-hot, handle_unknown=“ignore”)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Wrap preprocessing + LogisticRegression as ONE Pipeline object; raw dataframe in, risk score out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1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leakage hunt: a sabotaged notebook computes RFM over ALL orders — PR-AUC 0.97. Find it, fix the groupby filter, watch the honest number return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Engineer domain features: Ramadan flag, order recency, city-tier encoding, basket_trend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Feature workshop (H5): group review of engineered features — the first buffer to spend if Day 2 slips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2"/>
          <p:cNvSpPr/>
          <p:nvPr/>
        </p:nvSpPr>
        <p:spPr>
          <a:xfrm>
            <a:off x="7040880" y="2286000"/>
            <a:ext cx="4572000" cy="2148840"/>
          </a:xfrm>
          <a:prstGeom prst="roundRect">
            <a:avLst>
              <a:gd fmla="val 2979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2"/>
          <p:cNvSpPr txBox="1"/>
          <p:nvPr/>
        </p:nvSpPr>
        <p:spPr>
          <a:xfrm>
            <a:off x="7251192" y="243230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Expected output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2"/>
          <p:cNvSpPr txBox="1"/>
          <p:nvPr/>
        </p:nvSpPr>
        <p:spPr>
          <a:xfrm>
            <a:off x="7251192" y="2788920"/>
            <a:ext cx="41605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Unfiltered RFM:   PR-AUC 0.97  ← fiction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Filtered  RFM:    PR-AUC 0.53  ← honest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30"/>
              <a:buFont typeface="Calibri"/>
              <a:buNone/>
            </a:pPr>
            <a:r>
              <a:t/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Pipeline renders as HTML diagram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Shuffled-label test: ≈ 0.14  ✔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Committed: build_preprocessor()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2"/>
          <p:cNvSpPr/>
          <p:nvPr/>
        </p:nvSpPr>
        <p:spPr>
          <a:xfrm>
            <a:off x="7040880" y="4617720"/>
            <a:ext cx="4572000" cy="1472184"/>
          </a:xfrm>
          <a:prstGeom prst="roundRect">
            <a:avLst>
              <a:gd fmla="val 4348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_a.png" id="800" name="Google Shape;80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4476" y="4815596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32"/>
          <p:cNvSpPr txBox="1"/>
          <p:nvPr/>
        </p:nvSpPr>
        <p:spPr>
          <a:xfrm>
            <a:off x="7635240" y="4727448"/>
            <a:ext cx="3886200" cy="127101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4413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5A4413"/>
                </a:solidFill>
                <a:latin typeface="Calibri"/>
                <a:ea typeface="Calibri"/>
                <a:cs typeface="Calibri"/>
                <a:sym typeface="Calibri"/>
              </a:rPr>
              <a:t>The 0.97 exhibit is the most production-realistic leak in the course. Stale-kernel resurrection is a known ghost: Restart &amp; Run All before believing any number — the shuffled-label test is one cell away.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2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62E"/>
        </a:soli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3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3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3"/>
          <p:cNvSpPr txBox="1"/>
          <p:nvPr/>
        </p:nvSpPr>
        <p:spPr>
          <a:xfrm>
            <a:off x="640080" y="105156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000"/>
              <a:buFont typeface="Calibri"/>
              <a:buNone/>
            </a:pPr>
            <a:r>
              <a:rPr b="1" i="0" lang="en-US" sz="120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3"/>
          <p:cNvSpPr txBox="1"/>
          <p:nvPr/>
        </p:nvSpPr>
        <p:spPr>
          <a:xfrm>
            <a:off x="676656" y="29718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33B"/>
                </a:solidFill>
                <a:latin typeface="Calibri"/>
                <a:ea typeface="Calibri"/>
                <a:cs typeface="Calibri"/>
                <a:sym typeface="Calibri"/>
              </a:rPr>
              <a:t>DAY 3 · HOURS 1–3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3"/>
          <p:cNvSpPr/>
          <p:nvPr/>
        </p:nvSpPr>
        <p:spPr>
          <a:xfrm>
            <a:off x="676656" y="5120640"/>
            <a:ext cx="777240" cy="777240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cale_w.png" id="812" name="Google Shape;81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194" y="530717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33"/>
          <p:cNvSpPr txBox="1"/>
          <p:nvPr/>
        </p:nvSpPr>
        <p:spPr>
          <a:xfrm>
            <a:off x="4526280" y="1371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3"/>
          <p:cNvSpPr txBox="1"/>
          <p:nvPr/>
        </p:nvSpPr>
        <p:spPr>
          <a:xfrm>
            <a:off x="4480560" y="1737360"/>
            <a:ext cx="7132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Evaluation, Metrics &amp; Cross-Validation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3"/>
          <p:cNvSpPr txBox="1"/>
          <p:nvPr/>
        </p:nvSpPr>
        <p:spPr>
          <a:xfrm>
            <a:off x="4480560" y="3127248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5BD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9FC5BD"/>
                </a:solidFill>
                <a:latin typeface="Calibri"/>
                <a:ea typeface="Calibri"/>
                <a:cs typeface="Calibri"/>
                <a:sym typeface="Calibri"/>
              </a:rPr>
              <a:t>تقييم النماذج والمقاييس والتحقق المتقاطع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3"/>
          <p:cNvSpPr txBox="1"/>
          <p:nvPr/>
        </p:nvSpPr>
        <p:spPr>
          <a:xfrm>
            <a:off x="4526280" y="3886200"/>
            <a:ext cx="70408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Choose metrics that match the framed decision — and defend them in business terms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Run k-fold and stratified CV on pipelines; report mean ± std on shared folds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Tune the operating threshold from a stated business constraint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Read learning curves and confusion matrices like an analyst; produce findings with fixes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34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4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4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Why Accuracy Lies at 14% — Choosing the Metric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4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The metric is chosen with the business at framing time — never after the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26" name="Google Shape;826;p34"/>
          <p:cNvGraphicFramePr/>
          <p:nvPr/>
        </p:nvGraphicFramePr>
        <p:xfrm>
          <a:off x="566928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{E0CDE1C1-62A7-44C6-83CE-F4AE5E7467F2}</a:tableStyleId>
              </a:tblPr>
              <a:tblGrid>
                <a:gridCol w="1463050"/>
                <a:gridCol w="1828800"/>
                <a:gridCol w="42062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it is the right one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Regression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Symmetric costs, business-readable units (SAR)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 errors hurt disproportionately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R²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Variance explained vs the mean baseline — comparison, not currency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Classification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 / Recall / F1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Asymmetric error costs; report at the operating point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ROC-AUC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Balanced classes, ranking quality overall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6B5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B6B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PR-AUC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Rare positives: its floor is the positive rate — it doesn't flatter models when negatives dominate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27" name="Google Shape;827;p34"/>
          <p:cNvSpPr/>
          <p:nvPr/>
        </p:nvSpPr>
        <p:spPr>
          <a:xfrm>
            <a:off x="8321040" y="1691640"/>
            <a:ext cx="3310128" cy="3063240"/>
          </a:xfrm>
          <a:prstGeom prst="roundRect">
            <a:avLst>
              <a:gd fmla="val 2090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4"/>
          <p:cNvSpPr txBox="1"/>
          <p:nvPr/>
        </p:nvSpPr>
        <p:spPr>
          <a:xfrm>
            <a:off x="8458200" y="1920240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0.14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4"/>
          <p:cNvSpPr txBox="1"/>
          <p:nvPr/>
        </p:nvSpPr>
        <p:spPr>
          <a:xfrm>
            <a:off x="8485632" y="2743200"/>
            <a:ext cx="299923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PR-AUC of a no-skill model at 14% churn — the floor is the positive rate. ROC-AUC's floor is always 0.5 regardless of imbalance; that difference is the whole argument.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4"/>
          <p:cNvSpPr txBox="1"/>
          <p:nvPr/>
        </p:nvSpPr>
        <p:spPr>
          <a:xfrm>
            <a:off x="8485632" y="4160520"/>
            <a:ext cx="29992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C5BD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FC5BD"/>
                </a:solidFill>
                <a:latin typeface="Calibri"/>
                <a:ea typeface="Calibri"/>
                <a:cs typeface="Calibri"/>
                <a:sym typeface="Calibri"/>
              </a:rPr>
              <a:t>Metric-choice decision tree: printable A4 take-home card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4"/>
          <p:cNvSpPr/>
          <p:nvPr/>
        </p:nvSpPr>
        <p:spPr>
          <a:xfrm>
            <a:off x="566928" y="5230368"/>
            <a:ext cx="11055096" cy="960120"/>
          </a:xfrm>
          <a:prstGeom prst="roundRect">
            <a:avLst>
              <a:gd fmla="val 6667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_a.png" id="832" name="Google Shape;83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553394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34"/>
          <p:cNvSpPr txBox="1"/>
          <p:nvPr/>
        </p:nvSpPr>
        <p:spPr>
          <a:xfrm>
            <a:off x="1417320" y="5303520"/>
            <a:ext cx="9966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441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A4413"/>
                </a:solidFill>
                <a:latin typeface="Calibri"/>
                <a:ea typeface="Calibri"/>
                <a:cs typeface="Calibri"/>
                <a:sym typeface="Calibri"/>
              </a:rPr>
              <a:t>The confusion-matrix anatomy carries costs, not counts: </a:t>
            </a:r>
            <a:r>
              <a:rPr b="0" i="0" lang="en-US" sz="1150" u="none" cap="none" strike="noStrike">
                <a:solidFill>
                  <a:srgbClr val="5A4413"/>
                </a:solidFill>
                <a:latin typeface="Calibri"/>
                <a:ea typeface="Calibri"/>
                <a:cs typeface="Calibri"/>
                <a:sym typeface="Calibri"/>
              </a:rPr>
              <a:t>a false positive costs a voucher; a false negative costs a customer. Precision and recall are derived from cells that carry riyals — read the matrix like an analyst, not a scoreboard.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4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5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5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5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Threshold Is a Business Decision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5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Who sets it? The business — via an explicit constraint (budget, cost ratio). Never the 0.5 default by omission.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5"/>
          <p:cNvSpPr/>
          <p:nvPr/>
        </p:nvSpPr>
        <p:spPr>
          <a:xfrm>
            <a:off x="566928" y="1737360"/>
            <a:ext cx="5486400" cy="2286000"/>
          </a:xfrm>
          <a:prstGeom prst="roundRect">
            <a:avLst>
              <a:gd fmla="val 2800" name="adj"/>
            </a:avLst>
          </a:prstGeom>
          <a:solidFill>
            <a:srgbClr val="F7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5"/>
          <p:cNvSpPr txBox="1"/>
          <p:nvPr/>
        </p:nvSpPr>
        <p:spPr>
          <a:xfrm>
            <a:off x="795528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8502F"/>
                </a:solidFill>
                <a:latin typeface="Calibri"/>
                <a:ea typeface="Calibri"/>
                <a:cs typeface="Calibri"/>
                <a:sym typeface="Calibri"/>
              </a:rPr>
              <a:t>Default 0.5 threshold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5"/>
          <p:cNvSpPr txBox="1"/>
          <p:nvPr/>
        </p:nvSpPr>
        <p:spPr>
          <a:xfrm>
            <a:off x="795528" y="233172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2F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B8502F"/>
                </a:solidFill>
                <a:latin typeface="Courier New"/>
                <a:ea typeface="Courier New"/>
                <a:cs typeface="Courier New"/>
                <a:sym typeface="Courier New"/>
              </a:rPr>
              <a:t>precision 0.72 · recall 0.34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5"/>
          <p:cNvSpPr txBox="1"/>
          <p:nvPr/>
        </p:nvSpPr>
        <p:spPr>
          <a:xfrm>
            <a:off x="795528" y="292608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180"/>
              <a:buFont typeface="Calibri"/>
              <a:buNone/>
            </a:pPr>
            <a:r>
              <a:rPr b="0" i="0" lang="en-US" sz="11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A business decision nobody made — predict()'s silent placeholder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5"/>
          <p:cNvSpPr/>
          <p:nvPr/>
        </p:nvSpPr>
        <p:spPr>
          <a:xfrm>
            <a:off x="6236208" y="1737360"/>
            <a:ext cx="5486400" cy="2286000"/>
          </a:xfrm>
          <a:prstGeom prst="roundRect">
            <a:avLst>
              <a:gd fmla="val 2800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5"/>
          <p:cNvSpPr txBox="1"/>
          <p:nvPr/>
        </p:nvSpPr>
        <p:spPr>
          <a:xfrm>
            <a:off x="6464808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6B5D"/>
                </a:solidFill>
                <a:latin typeface="Calibri"/>
                <a:ea typeface="Calibri"/>
                <a:cs typeface="Calibri"/>
                <a:sym typeface="Calibri"/>
              </a:rPr>
              <a:t>Budget threshold (top-20%)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5"/>
          <p:cNvSpPr txBox="1"/>
          <p:nvPr/>
        </p:nvSpPr>
        <p:spPr>
          <a:xfrm>
            <a:off x="6464808" y="233172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D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0B6B5D"/>
                </a:solidFill>
                <a:latin typeface="Courier New"/>
                <a:ea typeface="Courier New"/>
                <a:cs typeface="Courier New"/>
                <a:sym typeface="Courier New"/>
              </a:rPr>
              <a:t>precision 0.46 · recall 0.66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5"/>
          <p:cNvSpPr txBox="1"/>
          <p:nvPr/>
        </p:nvSpPr>
        <p:spPr>
          <a:xfrm>
            <a:off x="6464808" y="292608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180"/>
              <a:buFont typeface="Calibri"/>
              <a:buNone/>
            </a:pPr>
            <a:r>
              <a:rPr b="0" i="0" lang="en-US" sz="11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Derived from the framing canvas: voucher budget covers 20% of the base — threshold 0.31 on out-of-fold probabilities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5"/>
          <p:cNvSpPr/>
          <p:nvPr/>
        </p:nvSpPr>
        <p:spPr>
          <a:xfrm>
            <a:off x="566928" y="4297680"/>
            <a:ext cx="11055096" cy="1783080"/>
          </a:xfrm>
          <a:prstGeom prst="roundRect">
            <a:avLst>
              <a:gd fmla="val 3590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5"/>
          <p:cNvSpPr txBox="1"/>
          <p:nvPr/>
        </p:nvSpPr>
        <p:spPr>
          <a:xfrm>
            <a:off x="868680" y="4572000"/>
            <a:ext cx="2103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B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rgbClr val="E8A33B"/>
                </a:solidFill>
                <a:latin typeface="Calibri"/>
                <a:ea typeface="Calibri"/>
                <a:cs typeface="Calibri"/>
                <a:sym typeface="Calibri"/>
              </a:rPr>
              <a:t>+32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5"/>
          <p:cNvSpPr txBox="1"/>
          <p:nvPr/>
        </p:nvSpPr>
        <p:spPr>
          <a:xfrm>
            <a:off x="868680" y="544068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points of recall left on the table by the default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5"/>
          <p:cNvSpPr txBox="1"/>
          <p:nvPr/>
        </p:nvSpPr>
        <p:spPr>
          <a:xfrm>
            <a:off x="3246120" y="4498848"/>
            <a:ext cx="8138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0"/>
              <a:buFont typeface="Calibri"/>
              <a:buNone/>
            </a:pPr>
            <a:r>
              <a:rPr b="1" i="0" lang="en-US" sz="12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business payload of the day. </a:t>
            </a:r>
            <a:r>
              <a:rPr b="0" i="0" lang="en-US" sz="123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Participants discover the “default” threshold left 32 points of recall unclaimed under the actual budget. The CRM-meeting sentence: “at the 20% budget we save two-thirds of leaving customers.” Thresholds are coupled to score distributions — the shifted-month simulation shows contact rate silently rising from 20% to 31% (monitor both; SDA-AIE-216 preview).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5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36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36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6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Cross-Validation on Pipelines · Learning-Curve Verdicts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6"/>
          <p:cNvSpPr/>
          <p:nvPr/>
        </p:nvSpPr>
        <p:spPr>
          <a:xfrm>
            <a:off x="566928" y="1463040"/>
            <a:ext cx="5440680" cy="2651760"/>
          </a:xfrm>
          <a:prstGeom prst="roundRect">
            <a:avLst>
              <a:gd fmla="val 2414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6"/>
          <p:cNvSpPr/>
          <p:nvPr/>
        </p:nvSpPr>
        <p:spPr>
          <a:xfrm>
            <a:off x="777240" y="1627632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plit_w.png" id="867" name="Google Shape;86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17373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36"/>
          <p:cNvSpPr txBox="1"/>
          <p:nvPr/>
        </p:nvSpPr>
        <p:spPr>
          <a:xfrm>
            <a:off x="1371600" y="1691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shared harness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6"/>
          <p:cNvSpPr txBox="1"/>
          <p:nvPr/>
        </p:nvSpPr>
        <p:spPr>
          <a:xfrm>
            <a:off x="804672" y="2121408"/>
            <a:ext cx="5029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090"/>
              <a:buFont typeface="Calibri"/>
              <a:buChar char="•"/>
            </a:pPr>
            <a:r>
              <a:rPr b="0" i="0" lang="en-US" sz="109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Stratified 5-fold CV on the FULL pipeline: preprocessing refits inside every fold (M3's guarantee makes this legal)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90"/>
              <a:buFont typeface="Calibri"/>
              <a:buChar char="•"/>
            </a:pPr>
            <a:r>
              <a:rPr b="1" i="0" lang="en-US" sz="109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Every scoreboard entry carries mean ± std on shared folds — or it does not go on the table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90"/>
              <a:buFont typeface="Calibri"/>
              <a:buChar char="•"/>
            </a:pPr>
            <a:r>
              <a:rPr b="0" i="0" lang="en-US" sz="109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0.53 ± 0.08 vs 0.51 ± 0.02 permits no claim: the difference is inside one standard deviation — not a model choice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90"/>
              <a:buFont typeface="Calibri"/>
              <a:buChar char="•"/>
            </a:pPr>
            <a:r>
              <a:rPr b="0" i="0" lang="en-US" sz="109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Single splits are one noisy draw: the “lucky split” simulation reverses a model ranking under CV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6"/>
          <p:cNvSpPr/>
          <p:nvPr/>
        </p:nvSpPr>
        <p:spPr>
          <a:xfrm>
            <a:off x="6199632" y="1463040"/>
            <a:ext cx="5440680" cy="2651760"/>
          </a:xfrm>
          <a:prstGeom prst="roundRect">
            <a:avLst>
              <a:gd fmla="val 2414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36"/>
          <p:cNvSpPr/>
          <p:nvPr/>
        </p:nvSpPr>
        <p:spPr>
          <a:xfrm>
            <a:off x="6400800" y="1627632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art_w.png" id="872" name="Google Shape;87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528" y="17373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36"/>
          <p:cNvSpPr txBox="1"/>
          <p:nvPr/>
        </p:nvSpPr>
        <p:spPr>
          <a:xfrm>
            <a:off x="6995160" y="1691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Learning-curve verdict guide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6"/>
          <p:cNvSpPr txBox="1"/>
          <p:nvPr/>
        </p:nvSpPr>
        <p:spPr>
          <a:xfrm>
            <a:off x="6428232" y="2121408"/>
            <a:ext cx="5029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090"/>
              <a:buFont typeface="Calibri"/>
              <a:buChar char="•"/>
            </a:pPr>
            <a:r>
              <a:rPr b="1" i="0" lang="en-US" sz="109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Converged &amp; flat → invest in FEATURES, not rows (Manafeth: converged by ~25k rows)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90"/>
              <a:buFont typeface="Calibri"/>
              <a:buChar char="•"/>
            </a:pPr>
            <a:r>
              <a:rPr b="0" i="0" lang="en-US" sz="109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Persistent train–validation gap → regularise, or more data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90"/>
              <a:buFont typeface="Calibri"/>
              <a:buChar char="•"/>
            </a:pPr>
            <a:r>
              <a:rPr b="0" i="0" lang="en-US" sz="109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Still rising → more data first; knobs later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90"/>
              <a:buFont typeface="Calibri"/>
              <a:buChar char="•"/>
            </a:pPr>
            <a:r>
              <a:rPr b="0" i="0" lang="en-US" sz="109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verdict gates Module 7: tuning a model whose curve is still rising buys noise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6"/>
          <p:cNvSpPr/>
          <p:nvPr/>
        </p:nvSpPr>
        <p:spPr>
          <a:xfrm>
            <a:off x="566928" y="4297680"/>
            <a:ext cx="11055096" cy="1783080"/>
          </a:xfrm>
          <a:prstGeom prst="roundRect">
            <a:avLst>
              <a:gd fmla="val 3590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36"/>
          <p:cNvSpPr txBox="1"/>
          <p:nvPr/>
        </p:nvSpPr>
        <p:spPr>
          <a:xfrm>
            <a:off x="804672" y="44439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Error analysis — findings must come with fixes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6"/>
          <p:cNvSpPr txBox="1"/>
          <p:nvPr/>
        </p:nvSpPr>
        <p:spPr>
          <a:xfrm>
            <a:off x="804672" y="4828032"/>
            <a:ext cx="10607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Finding 1 (planted so every pair succeeds): new-customer recall 0.49 — thin RFM history → propose an acquisition-channel feature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Finding 2 (rewards reading rows, not aggregates): Ramadan-only shoppers dominate the top false positives → propose a seasonal-shopper flag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150"/>
              <a:buFont typeface="Calibri"/>
              <a:buChar char="•"/>
            </a:pPr>
            <a:r>
              <a:rPr b="1" i="0" lang="en-US" sz="11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Error analysis that ends at numbers is spectating — slice tables and worst-20 row reads are the analyst's tools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6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7"/>
          <p:cNvSpPr/>
          <p:nvPr/>
        </p:nvSpPr>
        <p:spPr>
          <a:xfrm>
            <a:off x="566928" y="329184"/>
            <a:ext cx="1625803" cy="292608"/>
          </a:xfrm>
          <a:prstGeom prst="roundRect">
            <a:avLst>
              <a:gd fmla="val 50000" name="adj"/>
            </a:avLst>
          </a:prstGeom>
          <a:solidFill>
            <a:srgbClr val="E8A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7"/>
          <p:cNvSpPr txBox="1"/>
          <p:nvPr/>
        </p:nvSpPr>
        <p:spPr>
          <a:xfrm>
            <a:off x="566928" y="329184"/>
            <a:ext cx="1625803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HANDS-ON · DAY 3 H3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7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Lab 4 — The Evaluation Harness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7"/>
          <p:cNvSpPr/>
          <p:nvPr/>
        </p:nvSpPr>
        <p:spPr>
          <a:xfrm>
            <a:off x="566928" y="1417320"/>
            <a:ext cx="11055096" cy="658368"/>
          </a:xfrm>
          <a:prstGeom prst="roundRect">
            <a:avLst>
              <a:gd fmla="val 972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7"/>
          <p:cNvSpPr txBox="1"/>
          <p:nvPr/>
        </p:nvSpPr>
        <p:spPr>
          <a:xfrm>
            <a:off x="777240" y="1463040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80"/>
              <a:buFont typeface="Calibri"/>
              <a:buNone/>
            </a:pPr>
            <a:r>
              <a:rPr b="0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50 minutes · pairs · includes PA-1 (the Sabotaged Notebook, 30 min embedded) — cross-validated comparison of Day 2 models, threshold tuning, slice-based error analysis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7"/>
          <p:cNvSpPr txBox="1"/>
          <p:nvPr/>
        </p:nvSpPr>
        <p:spPr>
          <a:xfrm>
            <a:off x="566928" y="2286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Tasks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7"/>
          <p:cNvSpPr txBox="1"/>
          <p:nvPr/>
        </p:nvSpPr>
        <p:spPr>
          <a:xfrm>
            <a:off x="566928" y="2651760"/>
            <a:ext cx="62636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Build evaluate(): stratified 5-fold CV on shared folds; harness all Day 2 pipelines; scoreboard now carries mean ± std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Tune the operating threshold on the PR curve at the 20% voucher budget (out-of-fold probabilities)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Slice-based error analysis: tenure bands, city, seasonality; produce ≥ 2 findings, each with a proposed fix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1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PA-1 — The Sabotaged Notebook: three planted violations (scaler fit before split · unfiltered aggregate · threshold tuned on test …). Name each, quantify its inflation by honest re-run, state the corrected number. Scored: diagnosis 40% · quantified damage 40% · corrected protocol 20%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7"/>
          <p:cNvSpPr/>
          <p:nvPr/>
        </p:nvSpPr>
        <p:spPr>
          <a:xfrm>
            <a:off x="7040880" y="2286000"/>
            <a:ext cx="4572000" cy="2377440"/>
          </a:xfrm>
          <a:prstGeom prst="roundRect">
            <a:avLst>
              <a:gd fmla="val 2692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7"/>
          <p:cNvSpPr txBox="1"/>
          <p:nvPr/>
        </p:nvSpPr>
        <p:spPr>
          <a:xfrm>
            <a:off x="7251192" y="243230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Expected output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7"/>
          <p:cNvSpPr txBox="1"/>
          <p:nvPr/>
        </p:nvSpPr>
        <p:spPr>
          <a:xfrm>
            <a:off x="7251192" y="2788920"/>
            <a:ext cx="4160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CV table:  logreg  0.531 ± 0.011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tree(6) 0.512 ± 0.019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dummy   0.141 ± 0.004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Budget thr 0.31 → prec 0.46, rec 0.66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(vs 0.72 / 0.34 at default 0.5)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Learning curve: converged ~25k rows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→ verdict: features, not rows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7"/>
          <p:cNvSpPr/>
          <p:nvPr/>
        </p:nvSpPr>
        <p:spPr>
          <a:xfrm>
            <a:off x="7040880" y="4846320"/>
            <a:ext cx="4572000" cy="1243584"/>
          </a:xfrm>
          <a:prstGeom prst="roundRect">
            <a:avLst>
              <a:gd fmla="val 5147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_a.png" id="895" name="Google Shape;89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4476" y="5044196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37"/>
          <p:cNvSpPr txBox="1"/>
          <p:nvPr/>
        </p:nvSpPr>
        <p:spPr>
          <a:xfrm>
            <a:off x="7635240" y="4956048"/>
            <a:ext cx="388620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4413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5A4413"/>
                </a:solidFill>
                <a:latin typeface="Calibri"/>
                <a:ea typeface="Calibri"/>
                <a:cs typeface="Calibri"/>
                <a:sym typeface="Calibri"/>
              </a:rPr>
              <a:t>recall@budget worse than Lab 3's single-split value? The single split was a lucky draw — that IS the lesson; CV is the honest number. Test-set quarantine: still 0 reads.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7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8"/>
          <p:cNvSpPr/>
          <p:nvPr/>
        </p:nvSpPr>
        <p:spPr>
          <a:xfrm>
            <a:off x="566928" y="329184"/>
            <a:ext cx="1325880" cy="292608"/>
          </a:xfrm>
          <a:prstGeom prst="roundRect">
            <a:avLst>
              <a:gd fmla="val 50000" name="adj"/>
            </a:avLst>
          </a:prstGeom>
          <a:solidFill>
            <a:srgbClr val="1B3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8"/>
          <p:cNvSpPr txBox="1"/>
          <p:nvPr/>
        </p:nvSpPr>
        <p:spPr>
          <a:xfrm>
            <a:off x="566928" y="329184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4 ·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8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Case Study — Credit-Default Metrics Under Model Governance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8"/>
          <p:cNvSpPr/>
          <p:nvPr/>
        </p:nvSpPr>
        <p:spPr>
          <a:xfrm>
            <a:off x="566928" y="1463040"/>
            <a:ext cx="11055096" cy="1170432"/>
          </a:xfrm>
          <a:prstGeom prst="roundRect">
            <a:avLst>
              <a:gd fmla="val 5469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38"/>
          <p:cNvSpPr/>
          <p:nvPr/>
        </p:nvSpPr>
        <p:spPr>
          <a:xfrm>
            <a:off x="777240" y="1627632"/>
            <a:ext cx="475488" cy="475488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hield_w.png" id="908" name="Google Shape;90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357" y="1741749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38"/>
          <p:cNvSpPr txBox="1"/>
          <p:nvPr/>
        </p:nvSpPr>
        <p:spPr>
          <a:xfrm>
            <a:off x="1417320" y="155448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60"/>
              <a:buFont typeface="Calibri"/>
              <a:buNone/>
            </a:pPr>
            <a:r>
              <a:rPr b="0" i="0" lang="en-US" sz="11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 SAMA-supervised consumer-finance company replaces a legacy scorecard. Data science reports ROC-AUC 0.84 vs 0.79 and requests approval. The model-validation unit rejects the submission — not the model, the EVALUATION. The lending decision operates at a fixed risk appetite: approve as many customers as possible subject to portfolio bad-rate ≤ 3%.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8"/>
          <p:cNvSpPr/>
          <p:nvPr/>
        </p:nvSpPr>
        <p:spPr>
          <a:xfrm>
            <a:off x="566928" y="2816352"/>
            <a:ext cx="5440680" cy="3246120"/>
          </a:xfrm>
          <a:prstGeom prst="roundRect">
            <a:avLst>
              <a:gd fmla="val 197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8"/>
          <p:cNvSpPr txBox="1"/>
          <p:nvPr/>
        </p:nvSpPr>
        <p:spPr>
          <a:xfrm>
            <a:off x="804672" y="296265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Technical challenge &amp; constraints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8"/>
          <p:cNvSpPr txBox="1"/>
          <p:nvPr/>
        </p:nvSpPr>
        <p:spPr>
          <a:xfrm>
            <a:off x="804672" y="3346704"/>
            <a:ext cx="50292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Operating-point metric: approval rate at fixed 3% bad-rate — “61% → 68%” is the number the business actually buys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Temporal validation replaces random CV: default patterns drift with the economy (quarterly out-of-time samples)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Slice table: the model underperforms the scorecard on new-to-credit (thin-file) applicants — the Manafeth new-customer finding in higher-stakes clothing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Calibration curve + Brier score: predicted PDs feed IFRS 9 provisioning arithmetic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Financial-inclusion mandate: the thin-file slice cannot simply be excluded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8"/>
          <p:cNvSpPr/>
          <p:nvPr/>
        </p:nvSpPr>
        <p:spPr>
          <a:xfrm>
            <a:off x="6199632" y="2816352"/>
            <a:ext cx="5440680" cy="1828800"/>
          </a:xfrm>
          <a:prstGeom prst="roundRect">
            <a:avLst>
              <a:gd fmla="val 3500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8"/>
          <p:cNvSpPr txBox="1"/>
          <p:nvPr/>
        </p:nvSpPr>
        <p:spPr>
          <a:xfrm>
            <a:off x="6437376" y="296265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Solution approach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8"/>
          <p:cNvSpPr txBox="1"/>
          <p:nvPr/>
        </p:nvSpPr>
        <p:spPr>
          <a:xfrm>
            <a:off x="6437376" y="3328416"/>
            <a:ext cx="5029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Hybrid policy: ML champion for thick files, scorecard for thin files, with an explicit routing rule — a model-selection decision made by error analysis, not leaderboard position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Quarterly OOT evaluation codified as the retraining gate; every artefact reproducible from seed + snapshot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8"/>
          <p:cNvSpPr/>
          <p:nvPr/>
        </p:nvSpPr>
        <p:spPr>
          <a:xfrm>
            <a:off x="6199632" y="4828032"/>
            <a:ext cx="5440680" cy="1234440"/>
          </a:xfrm>
          <a:prstGeom prst="roundRect">
            <a:avLst>
              <a:gd fmla="val 5185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8"/>
          <p:cNvSpPr txBox="1"/>
          <p:nvPr/>
        </p:nvSpPr>
        <p:spPr>
          <a:xfrm>
            <a:off x="6437376" y="49377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8"/>
          <p:cNvSpPr txBox="1"/>
          <p:nvPr/>
        </p:nvSpPr>
        <p:spPr>
          <a:xfrm>
            <a:off x="6437376" y="5266944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Why does random CV overstate performance in a drifting economy? AUC rose but thin-file performance fell — was the old evaluation wrong, or incomplete? Which parts of this protocol should Manafeth adopt despite having no regulator?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8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62E"/>
        </a:solidFill>
      </p:bgPr>
    </p:bg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9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3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39"/>
          <p:cNvSpPr txBox="1"/>
          <p:nvPr/>
        </p:nvSpPr>
        <p:spPr>
          <a:xfrm>
            <a:off x="640080" y="105156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000"/>
              <a:buFont typeface="Calibri"/>
              <a:buNone/>
            </a:pPr>
            <a:r>
              <a:rPr b="1" i="0" lang="en-US" sz="120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9"/>
          <p:cNvSpPr txBox="1"/>
          <p:nvPr/>
        </p:nvSpPr>
        <p:spPr>
          <a:xfrm>
            <a:off x="676656" y="29718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33B"/>
                </a:solidFill>
                <a:latin typeface="Calibri"/>
                <a:ea typeface="Calibri"/>
                <a:cs typeface="Calibri"/>
                <a:sym typeface="Calibri"/>
              </a:rPr>
              <a:t>DAY 3 · HOURS 4–5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9"/>
          <p:cNvSpPr/>
          <p:nvPr/>
        </p:nvSpPr>
        <p:spPr>
          <a:xfrm>
            <a:off x="676656" y="5120640"/>
            <a:ext cx="777240" cy="777240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ree_w.png" id="929" name="Google Shape;92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194" y="530717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39"/>
          <p:cNvSpPr txBox="1"/>
          <p:nvPr/>
        </p:nvSpPr>
        <p:spPr>
          <a:xfrm>
            <a:off x="4526280" y="1371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9"/>
          <p:cNvSpPr txBox="1"/>
          <p:nvPr/>
        </p:nvSpPr>
        <p:spPr>
          <a:xfrm>
            <a:off x="4480560" y="1737360"/>
            <a:ext cx="7132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Tree Ensembles: Random Forests &amp; Gradient Boosting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9"/>
          <p:cNvSpPr txBox="1"/>
          <p:nvPr/>
        </p:nvSpPr>
        <p:spPr>
          <a:xfrm>
            <a:off x="4480560" y="3127248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5BD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9FC5BD"/>
                </a:solidFill>
                <a:latin typeface="Calibri"/>
                <a:ea typeface="Calibri"/>
                <a:cs typeface="Calibri"/>
                <a:sym typeface="Calibri"/>
              </a:rPr>
              <a:t>النماذج المجمّعة: الغابات العشوائية والتعزيز المتدرّج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9"/>
          <p:cNvSpPr txBox="1"/>
          <p:nvPr/>
        </p:nvSpPr>
        <p:spPr>
          <a:xfrm>
            <a:off x="4526280" y="3886200"/>
            <a:ext cx="70408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Explain how bagging reduces variance and boosting reduces bias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Train and regularise forests and XGBoost within pipelines; use early stopping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Interpret ensembles with permutation importance and partial dependence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Select a champion with CV evidence — and argue the interpretability trade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0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40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40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Why Many Weak Trees Beat One Strong Tree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40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The single deep tree had low bias and catastrophic variance — ensembles attack this from two directions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0"/>
          <p:cNvSpPr/>
          <p:nvPr/>
        </p:nvSpPr>
        <p:spPr>
          <a:xfrm>
            <a:off x="566928" y="1737360"/>
            <a:ext cx="5440680" cy="3063240"/>
          </a:xfrm>
          <a:prstGeom prst="roundRect">
            <a:avLst>
              <a:gd fmla="val 2090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40"/>
          <p:cNvSpPr txBox="1"/>
          <p:nvPr/>
        </p:nvSpPr>
        <p:spPr>
          <a:xfrm>
            <a:off x="804672" y="190195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Bagging — random forests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40"/>
          <p:cNvSpPr txBox="1"/>
          <p:nvPr/>
        </p:nvSpPr>
        <p:spPr>
          <a:xfrm>
            <a:off x="804672" y="2331720"/>
            <a:ext cx="50292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090"/>
              <a:buFont typeface="Calibri"/>
              <a:buChar char="•"/>
            </a:pPr>
            <a:r>
              <a:rPr b="0" i="0" lang="en-US" sz="109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Many DEEP trees on bootstrap resamples; each split considers a random feature subset (max_features); votes averaged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90"/>
              <a:buFont typeface="Calibri"/>
              <a:buChar char="•"/>
            </a:pPr>
            <a:r>
              <a:rPr b="1" i="0" lang="en-US" sz="109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de-correlation from feature subsampling is the trick — without it, every tree grabs days_since_last_order first and the average averages nothing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90"/>
              <a:buFont typeface="Calibri"/>
              <a:buChar char="•"/>
            </a:pPr>
            <a:r>
              <a:rPr b="0" i="0" lang="en-US" sz="109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Strong defaults: n_estimators=300, full depth, max_features=“sqrt”; more trees never hurt accuracy — the curve just flattens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90"/>
              <a:buFont typeface="Calibri"/>
              <a:buChar char="•"/>
            </a:pPr>
            <a:r>
              <a:rPr b="0" i="0" lang="en-US" sz="109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OOB score: free honest validation cross-check — never a harness replacement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40"/>
          <p:cNvSpPr/>
          <p:nvPr/>
        </p:nvSpPr>
        <p:spPr>
          <a:xfrm>
            <a:off x="6199632" y="1737360"/>
            <a:ext cx="5440680" cy="3063240"/>
          </a:xfrm>
          <a:prstGeom prst="roundRect">
            <a:avLst>
              <a:gd fmla="val 2090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40"/>
          <p:cNvSpPr txBox="1"/>
          <p:nvPr/>
        </p:nvSpPr>
        <p:spPr>
          <a:xfrm>
            <a:off x="6437376" y="190195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Boosting — gradient boosting / XGBoost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40"/>
          <p:cNvSpPr txBox="1"/>
          <p:nvPr/>
        </p:nvSpPr>
        <p:spPr>
          <a:xfrm>
            <a:off x="6437376" y="2331720"/>
            <a:ext cx="50292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090"/>
              <a:buFont typeface="Calibri"/>
              <a:buChar char="•"/>
            </a:pPr>
            <a:r>
              <a:rPr b="0" i="0" lang="en-US" sz="109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SHALLOW trees trained sequentially, each fit to the errors (loss gradients) of the ensemble so far, added with a small learning_rate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90"/>
              <a:buFont typeface="Calibri"/>
              <a:buChar char="•"/>
            </a:pPr>
            <a:r>
              <a:rPr b="1" i="0" lang="en-US" sz="109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Where bagging averages independent opinions, boosting compounds corrections — it reduces bias, which is why it usually wins on tabular data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90"/>
              <a:buFont typeface="Calibri"/>
              <a:buChar char="•"/>
            </a:pPr>
            <a:r>
              <a:rPr b="0" i="0" lang="en-US" sz="109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…and why it overfits more willingly and demands more careful tuning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90"/>
              <a:buFont typeface="Calibri"/>
              <a:buChar char="•"/>
            </a:pPr>
            <a:r>
              <a:rPr b="0" i="0" lang="en-US" sz="109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HistGradientBoosting = sklearn's fast native equivalent; XGBoost is the listed industry tool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40"/>
          <p:cNvSpPr/>
          <p:nvPr/>
        </p:nvSpPr>
        <p:spPr>
          <a:xfrm>
            <a:off x="566928" y="5029200"/>
            <a:ext cx="11055096" cy="1051560"/>
          </a:xfrm>
          <a:prstGeom prst="roundRect">
            <a:avLst>
              <a:gd fmla="val 6087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40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One sentence each, repeated until it sticks:   </a:t>
            </a:r>
            <a:r>
              <a:rPr b="1" i="0" lang="en-US" sz="17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“Forests average away variance; boosting stacks away bias.”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40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1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41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4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XGBoost Knob Map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41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Knobs organised by what they control — with course defaults and touch order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61" name="Google Shape;961;p41"/>
          <p:cNvGraphicFramePr/>
          <p:nvPr/>
        </p:nvGraphicFramePr>
        <p:xfrm>
          <a:off x="566928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{E0CDE1C1-62A7-44C6-83CE-F4AE5E7467F2}</a:tableStyleId>
              </a:tblPr>
              <a:tblGrid>
                <a:gridCol w="3291850"/>
                <a:gridCol w="3108950"/>
                <a:gridCol w="465430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Knob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Course guidance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n_estimators + learning_rate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long / how fast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rate (0.05) + early stopping to find n_estimators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max_depth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Interaction depth per tree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3–6 for most tabular problems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subsample · colsample_bytree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Stochasticity (variance control)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 / 0.8 solid defaults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reg_alpha · reg_lambda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Leaf-weight penalties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last knobs to touch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scale_pos_weight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 imbalance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≈ neg/pos ratio (≈ 6.1 for Manafeth)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62" name="Google Shape;962;p41"/>
          <p:cNvSpPr/>
          <p:nvPr/>
        </p:nvSpPr>
        <p:spPr>
          <a:xfrm>
            <a:off x="566928" y="5029200"/>
            <a:ext cx="11055096" cy="1097280"/>
          </a:xfrm>
          <a:prstGeom prst="roundRect">
            <a:avLst>
              <a:gd fmla="val 5833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41"/>
          <p:cNvSpPr/>
          <p:nvPr/>
        </p:nvSpPr>
        <p:spPr>
          <a:xfrm>
            <a:off x="777240" y="5239512"/>
            <a:ext cx="502920" cy="50292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olt_w.png" id="964" name="Google Shape;96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5360213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41"/>
          <p:cNvSpPr txBox="1"/>
          <p:nvPr/>
        </p:nvSpPr>
        <p:spPr>
          <a:xfrm>
            <a:off x="1417320" y="5120640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80"/>
              <a:buFont typeface="Calibri"/>
              <a:buNone/>
            </a:pPr>
            <a:r>
              <a:rPr b="1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Early stopping is the load-bearing practice: </a:t>
            </a:r>
            <a:r>
              <a:rPr b="0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hold out an eval set, stop when validation loss stalls (early_stopping_rounds=50). It converts the most dangerous knob (n_estimators) into an observed quantity — Manafeth: best_iteration ≈ 380. The subtlety, honestly: the eval set now influences training — keep it apart from the folds that produce reported scores.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41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42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42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42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Opening the Box — Importance and Dependence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42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Teach the flaw before the tool, or the tool teaches the flaw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42"/>
          <p:cNvSpPr/>
          <p:nvPr/>
        </p:nvSpPr>
        <p:spPr>
          <a:xfrm>
            <a:off x="566928" y="1691640"/>
            <a:ext cx="3602736" cy="3017520"/>
          </a:xfrm>
          <a:prstGeom prst="roundRect">
            <a:avLst>
              <a:gd fmla="val 2121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42"/>
          <p:cNvSpPr/>
          <p:nvPr/>
        </p:nvSpPr>
        <p:spPr>
          <a:xfrm>
            <a:off x="731520" y="1856232"/>
            <a:ext cx="457200" cy="457200"/>
          </a:xfrm>
          <a:prstGeom prst="ellipse">
            <a:avLst/>
          </a:prstGeom>
          <a:solidFill>
            <a:srgbClr val="E8A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_w.png" id="978" name="Google Shape;97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1965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42"/>
          <p:cNvSpPr txBox="1"/>
          <p:nvPr/>
        </p:nvSpPr>
        <p:spPr>
          <a:xfrm>
            <a:off x="1316736" y="193852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80"/>
              <a:buFont typeface="Calibri"/>
              <a:buNone/>
            </a:pPr>
            <a:r>
              <a:rPr b="1" i="0" lang="en-US" sz="12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Impurity importance is biased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42"/>
          <p:cNvSpPr txBox="1"/>
          <p:nvPr/>
        </p:nvSpPr>
        <p:spPr>
          <a:xfrm>
            <a:off x="749808" y="2423160"/>
            <a:ext cx="32461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70"/>
              <a:buFont typeface="Calibri"/>
              <a:buNone/>
            </a:pPr>
            <a:r>
              <a:rPr b="0" i="0" lang="en-US" sz="107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The default feature_importances_ favours high-cardinality and continuous features — the planted customer_id_hash tops that list; avg_basket_sar is inflated by continuous-feature bias.</a:t>
            </a:r>
            <a:endParaRPr b="0" i="0" sz="1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42"/>
          <p:cNvSpPr/>
          <p:nvPr/>
        </p:nvSpPr>
        <p:spPr>
          <a:xfrm>
            <a:off x="4343400" y="1691640"/>
            <a:ext cx="3602736" cy="3017520"/>
          </a:xfrm>
          <a:prstGeom prst="roundRect">
            <a:avLst>
              <a:gd fmla="val 2121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42"/>
          <p:cNvSpPr/>
          <p:nvPr/>
        </p:nvSpPr>
        <p:spPr>
          <a:xfrm>
            <a:off x="4507992" y="1856232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_w.png" id="983" name="Google Shape;98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1965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42"/>
          <p:cNvSpPr txBox="1"/>
          <p:nvPr/>
        </p:nvSpPr>
        <p:spPr>
          <a:xfrm>
            <a:off x="5093208" y="193852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80"/>
              <a:buFont typeface="Calibri"/>
              <a:buNone/>
            </a:pPr>
            <a:r>
              <a:rPr b="1" i="0" lang="en-US" sz="12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Permutation importance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42"/>
          <p:cNvSpPr txBox="1"/>
          <p:nvPr/>
        </p:nvSpPr>
        <p:spPr>
          <a:xfrm>
            <a:off x="4526280" y="2423160"/>
            <a:ext cx="32461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70"/>
              <a:buFont typeface="Calibri"/>
              <a:buNone/>
            </a:pPr>
            <a:r>
              <a:rPr b="0" i="0" lang="en-US" sz="107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Shuffle one column on VALIDATION data, measure the score drop — model-agnostic, honest, leakage-revealing. Correlated features share importance; read the boxplot spread as uncertainty (n_repeats=10, seeded). Manafeth top-3: days_since_last_order · basket_trend · orders_90d.</a:t>
            </a:r>
            <a:endParaRPr b="0" i="0" sz="1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42"/>
          <p:cNvSpPr/>
          <p:nvPr/>
        </p:nvSpPr>
        <p:spPr>
          <a:xfrm>
            <a:off x="8119872" y="1691640"/>
            <a:ext cx="3602736" cy="3017520"/>
          </a:xfrm>
          <a:prstGeom prst="roundRect">
            <a:avLst>
              <a:gd fmla="val 2121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42"/>
          <p:cNvSpPr/>
          <p:nvPr/>
        </p:nvSpPr>
        <p:spPr>
          <a:xfrm>
            <a:off x="8284464" y="1856232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art_w.png" id="988" name="Google Shape;988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4192" y="1965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42"/>
          <p:cNvSpPr txBox="1"/>
          <p:nvPr/>
        </p:nvSpPr>
        <p:spPr>
          <a:xfrm>
            <a:off x="8869680" y="193852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80"/>
              <a:buFont typeface="Calibri"/>
              <a:buNone/>
            </a:pPr>
            <a:r>
              <a:rPr b="1" i="0" lang="en-US" sz="12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Partial dependence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42"/>
          <p:cNvSpPr txBox="1"/>
          <p:nvPr/>
        </p:nvSpPr>
        <p:spPr>
          <a:xfrm>
            <a:off x="8302752" y="2423160"/>
            <a:ext cx="32461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70"/>
              <a:buFont typeface="Calibri"/>
              <a:buNone/>
            </a:pPr>
            <a:r>
              <a:rPr b="0" i="0" lang="en-US" sz="107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The average predicted response as one feature varies — the curve the CRM team can act on: “risk accelerates sharply after ~18 quiet days” — which validates their old 21-day heuristic and buys goodwill.</a:t>
            </a:r>
            <a:endParaRPr b="0" i="0" sz="1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42"/>
          <p:cNvSpPr/>
          <p:nvPr/>
        </p:nvSpPr>
        <p:spPr>
          <a:xfrm>
            <a:off x="566928" y="4937760"/>
            <a:ext cx="11055096" cy="1143000"/>
          </a:xfrm>
          <a:prstGeom prst="roundRect">
            <a:avLst>
              <a:gd fmla="val 5600" name="adj"/>
            </a:avLst>
          </a:prstGeom>
          <a:solidFill>
            <a:srgbClr val="F7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an_r.png" id="992" name="Google Shape;992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7941" y="5296205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42"/>
          <p:cNvSpPr txBox="1"/>
          <p:nvPr/>
        </p:nvSpPr>
        <p:spPr>
          <a:xfrm>
            <a:off x="1417320" y="5074920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8502F"/>
              </a:buClr>
              <a:buSzPts val="1230"/>
              <a:buFont typeface="Calibri"/>
              <a:buNone/>
            </a:pPr>
            <a:r>
              <a:rPr b="1" i="0" lang="en-US" sz="1230" u="none" cap="none" strike="noStrike">
                <a:solidFill>
                  <a:srgbClr val="B8502F"/>
                </a:solidFill>
                <a:latin typeface="Calibri"/>
                <a:ea typeface="Calibri"/>
                <a:cs typeface="Calibri"/>
                <a:sym typeface="Calibri"/>
              </a:rPr>
              <a:t>Importance ≠ causality — say this twice. </a:t>
            </a:r>
            <a:r>
              <a:rPr b="0" i="0" lang="en-US" sz="123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promo_usage_rate predicting retention does not mean vouchers cause it; selection effects abound. SDA-DSC-213 exists because of it.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2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43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43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43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Day 3 Closing Ritual — Champion, Challenger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43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The harness table on identical folds — the fair comparison Modules 3–4 made possible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4" name="Google Shape;1004;p43"/>
          <p:cNvGraphicFramePr/>
          <p:nvPr/>
        </p:nvGraphicFramePr>
        <p:xfrm>
          <a:off x="566928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{E0CDE1C1-62A7-44C6-83CE-F4AE5E7467F2}</a:tableStyleId>
              </a:tblPr>
              <a:tblGrid>
                <a:gridCol w="2194550"/>
                <a:gridCol w="1645925"/>
                <a:gridCol w="1280150"/>
                <a:gridCol w="1188725"/>
                <a:gridCol w="137160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PR-AUC (CV)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recall@20%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Retrain cost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Verdict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dummy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0.141 ± 0.004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21-day heuristic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retired with honours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logreg + M3 features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0.531 ± 0.011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seconds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6B5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B6B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challenger — retained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tree (depth 6)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0.512 ± 0.019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seconds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dropped (within noise of logreg)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0.571 ± 0.012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 min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contender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 (es@380)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0.598 ± 0.010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 min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6B5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B6B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CHAMPION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5" name="Google Shape;1005;p43"/>
          <p:cNvSpPr/>
          <p:nvPr/>
        </p:nvSpPr>
        <p:spPr>
          <a:xfrm>
            <a:off x="8503920" y="1691640"/>
            <a:ext cx="3127248" cy="4160520"/>
          </a:xfrm>
          <a:prstGeom prst="roundRect">
            <a:avLst>
              <a:gd fmla="val 2047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43"/>
          <p:cNvSpPr txBox="1"/>
          <p:nvPr/>
        </p:nvSpPr>
        <p:spPr>
          <a:xfrm>
            <a:off x="8686800" y="1828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The decision framework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43"/>
          <p:cNvSpPr txBox="1"/>
          <p:nvPr/>
        </p:nvSpPr>
        <p:spPr>
          <a:xfrm>
            <a:off x="8686800" y="2194560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Performance delta × business value of the delta  vs  operational + governance cost of complexity.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43"/>
          <p:cNvSpPr txBox="1"/>
          <p:nvPr/>
        </p:nvSpPr>
        <p:spPr>
          <a:xfrm>
            <a:off x="8686800" y="3063240"/>
            <a:ext cx="2788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For Manafeth's voucher budget, 7 PR-AUC points ≈ hundreds of additional saved customers per month — the ensemble earns its complexity.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43"/>
          <p:cNvSpPr txBox="1"/>
          <p:nvPr/>
        </p:nvSpPr>
        <p:spPr>
          <a:xfrm>
            <a:off x="8686800" y="4160520"/>
            <a:ext cx="27889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C5BD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9FC5BD"/>
                </a:solidFill>
                <a:latin typeface="Calibri"/>
                <a:ea typeface="Calibri"/>
                <a:cs typeface="Calibri"/>
                <a:sym typeface="Calibri"/>
              </a:rPr>
              <a:t>The logistic model stays warm as challenger and sanity oracle — retrains in seconds, explains itself, already beat the business. Both sentences go in the model card.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43"/>
          <p:cNvSpPr/>
          <p:nvPr/>
        </p:nvSpPr>
        <p:spPr>
          <a:xfrm>
            <a:off x="566928" y="5532120"/>
            <a:ext cx="7680960" cy="566928"/>
          </a:xfrm>
          <a:prstGeom prst="roundRect">
            <a:avLst>
              <a:gd fmla="val 11290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43"/>
          <p:cNvSpPr txBox="1"/>
          <p:nvPr/>
        </p:nvSpPr>
        <p:spPr>
          <a:xfrm>
            <a:off x="777240" y="5577840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060"/>
              <a:buFont typeface="Calibri"/>
              <a:buNone/>
            </a:pPr>
            <a:r>
              <a:rPr b="0" i="1" lang="en-US" sz="10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Every number on this table comes from evaluate() on shared folds — or it does not go on the table. Enforcing this once, publicly, teaches more than an hour of theory.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43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44"/>
          <p:cNvSpPr/>
          <p:nvPr/>
        </p:nvSpPr>
        <p:spPr>
          <a:xfrm>
            <a:off x="566928" y="329184"/>
            <a:ext cx="1625803" cy="292608"/>
          </a:xfrm>
          <a:prstGeom prst="roundRect">
            <a:avLst>
              <a:gd fmla="val 50000" name="adj"/>
            </a:avLst>
          </a:prstGeom>
          <a:solidFill>
            <a:srgbClr val="E8A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44"/>
          <p:cNvSpPr txBox="1"/>
          <p:nvPr/>
        </p:nvSpPr>
        <p:spPr>
          <a:xfrm>
            <a:off x="566928" y="329184"/>
            <a:ext cx="1625803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HANDS-ON · DAY 3 H5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44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Lab 5 — Ensemble the Churn Model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44"/>
          <p:cNvSpPr/>
          <p:nvPr/>
        </p:nvSpPr>
        <p:spPr>
          <a:xfrm>
            <a:off x="566928" y="1417320"/>
            <a:ext cx="11055096" cy="658368"/>
          </a:xfrm>
          <a:prstGeom prst="roundRect">
            <a:avLst>
              <a:gd fmla="val 972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44"/>
          <p:cNvSpPr txBox="1"/>
          <p:nvPr/>
        </p:nvSpPr>
        <p:spPr>
          <a:xfrm>
            <a:off x="777240" y="1463040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80"/>
              <a:buFont typeface="Calibri"/>
              <a:buNone/>
            </a:pPr>
            <a:r>
              <a:rPr b="0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50 minutes · pairs — beat the logistic champion with forest and XGBoost under the SHARED harness; permutation importance + one PDP reading; argued champion recommendation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44"/>
          <p:cNvSpPr txBox="1"/>
          <p:nvPr/>
        </p:nvSpPr>
        <p:spPr>
          <a:xfrm>
            <a:off x="566928" y="2286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Tasks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44"/>
          <p:cNvSpPr txBox="1"/>
          <p:nvPr/>
        </p:nvSpPr>
        <p:spPr>
          <a:xfrm>
            <a:off x="566928" y="2651760"/>
            <a:ext cx="62636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Random forest pipeline per template; harness it; note the OOB cross-check; scoreboard (10 min)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XGBoost with early stopping: carve the eval set from train, find best_iteration, harness the fixed-length pipeline (15 min)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Plot forest n_estimators 100/300/1000 vs validation PR-AUC — observe the flattening, not a peak (5 min)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Permutation importance top-8 on validation; compare with impurity importances; explain one disagreement (10 min)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One partial-dependence plot; write the one-sentence CRM reading (5 min)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Update CHAMPION.md: harness table, recommendation, challenger-retention sentence; commit (5 min)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44"/>
          <p:cNvSpPr/>
          <p:nvPr/>
        </p:nvSpPr>
        <p:spPr>
          <a:xfrm>
            <a:off x="7040880" y="2286000"/>
            <a:ext cx="4572000" cy="2468880"/>
          </a:xfrm>
          <a:prstGeom prst="roundRect">
            <a:avLst>
              <a:gd fmla="val 2593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44"/>
          <p:cNvSpPr txBox="1"/>
          <p:nvPr/>
        </p:nvSpPr>
        <p:spPr>
          <a:xfrm>
            <a:off x="7251192" y="243230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Expected output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44"/>
          <p:cNvSpPr txBox="1"/>
          <p:nvPr/>
        </p:nvSpPr>
        <p:spPr>
          <a:xfrm>
            <a:off x="7251192" y="2788920"/>
            <a:ext cx="41605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random_forest: 0.571 ± 0.012  r@20 0.70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xgboost:       0.598 ± 0.010  r@20 0.73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best_iteration ≈ 380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logreg:        0.531 ± 0.011 (challenger)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Permutation top-3: days_since_last_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order, basket_trend, orders_90d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PDP: risk accelerates after ~18 quiet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days → refines the 21-day heuristic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4"/>
          <p:cNvSpPr/>
          <p:nvPr/>
        </p:nvSpPr>
        <p:spPr>
          <a:xfrm>
            <a:off x="7040880" y="4937760"/>
            <a:ext cx="4572000" cy="1152144"/>
          </a:xfrm>
          <a:prstGeom prst="roundRect">
            <a:avLst>
              <a:gd fmla="val 5556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_a.png" id="1029" name="Google Shape;102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4476" y="5135636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44"/>
          <p:cNvSpPr txBox="1"/>
          <p:nvPr/>
        </p:nvSpPr>
        <p:spPr>
          <a:xfrm>
            <a:off x="7635240" y="5047488"/>
            <a:ext cx="388620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4413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5A4413"/>
                </a:solidFill>
                <a:latin typeface="Calibri"/>
                <a:ea typeface="Calibri"/>
                <a:cs typeface="Calibri"/>
                <a:sym typeface="Calibri"/>
              </a:rPr>
              <a:t>PR-AUC 0.97 returns? The unfiltered-RFM bug resurrected via a stale cell — Restart &amp; Run All; leak checks are re-run per model, not per week. Reported scores never come from the early-stopping eval set.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44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62E"/>
        </a:solidFill>
      </p:bgPr>
    </p:bg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45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3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45"/>
          <p:cNvSpPr txBox="1"/>
          <p:nvPr/>
        </p:nvSpPr>
        <p:spPr>
          <a:xfrm>
            <a:off x="640080" y="105156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000"/>
              <a:buFont typeface="Calibri"/>
              <a:buNone/>
            </a:pPr>
            <a:r>
              <a:rPr b="1" i="0" lang="en-US" sz="120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45"/>
          <p:cNvSpPr txBox="1"/>
          <p:nvPr/>
        </p:nvSpPr>
        <p:spPr>
          <a:xfrm>
            <a:off x="676656" y="29718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33B"/>
                </a:solidFill>
                <a:latin typeface="Calibri"/>
                <a:ea typeface="Calibri"/>
                <a:cs typeface="Calibri"/>
                <a:sym typeface="Calibri"/>
              </a:rPr>
              <a:t>DAY 4 · HOURS 1–3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45"/>
          <p:cNvSpPr/>
          <p:nvPr/>
        </p:nvSpPr>
        <p:spPr>
          <a:xfrm>
            <a:off x="676656" y="5120640"/>
            <a:ext cx="777240" cy="777240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luster_w.png" id="1041" name="Google Shape;104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194" y="530717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45"/>
          <p:cNvSpPr txBox="1"/>
          <p:nvPr/>
        </p:nvSpPr>
        <p:spPr>
          <a:xfrm>
            <a:off x="4526280" y="1371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5"/>
          <p:cNvSpPr txBox="1"/>
          <p:nvPr/>
        </p:nvSpPr>
        <p:spPr>
          <a:xfrm>
            <a:off x="4480560" y="1737360"/>
            <a:ext cx="7132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Unsupervised Learning: Clustering &amp; PCA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45"/>
          <p:cNvSpPr txBox="1"/>
          <p:nvPr/>
        </p:nvSpPr>
        <p:spPr>
          <a:xfrm>
            <a:off x="4480560" y="3127248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5BD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9FC5BD"/>
                </a:solidFill>
                <a:latin typeface="Calibri"/>
                <a:ea typeface="Calibri"/>
                <a:cs typeface="Calibri"/>
                <a:sym typeface="Calibri"/>
              </a:rPr>
              <a:t>التعلّم غير الموجّه: التجميع وتقليل الأبعاد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45"/>
          <p:cNvSpPr txBox="1"/>
          <p:nvPr/>
        </p:nvSpPr>
        <p:spPr>
          <a:xfrm>
            <a:off x="4526280" y="3886200"/>
            <a:ext cx="70408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Frame a business question as clustering or dimensionality reduction — with success criteria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Apply k-means with a defensible k: elbow + silhouette + business readability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Apply PCA with a correct read of explained variance and loadings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Evaluate results without labels: internal indices → stability → external usefulness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46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46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46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Framing Without Labels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46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The framing canvas survives — with two fields rewritten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46"/>
          <p:cNvSpPr/>
          <p:nvPr/>
        </p:nvSpPr>
        <p:spPr>
          <a:xfrm>
            <a:off x="566928" y="1691640"/>
            <a:ext cx="5440680" cy="2057400"/>
          </a:xfrm>
          <a:prstGeom prst="roundRect">
            <a:avLst>
              <a:gd fmla="val 3111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46"/>
          <p:cNvSpPr txBox="1"/>
          <p:nvPr/>
        </p:nvSpPr>
        <p:spPr>
          <a:xfrm>
            <a:off x="804672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“Target” becomes intended USE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46"/>
          <p:cNvSpPr txBox="1"/>
          <p:nvPr/>
        </p:nvSpPr>
        <p:spPr>
          <a:xfrm>
            <a:off x="804672" y="228600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Segments feeding CRM playbooks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Components feeding a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Anomalies feeding a review queue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46"/>
          <p:cNvSpPr/>
          <p:nvPr/>
        </p:nvSpPr>
        <p:spPr>
          <a:xfrm>
            <a:off x="6199632" y="1691640"/>
            <a:ext cx="5440680" cy="2057400"/>
          </a:xfrm>
          <a:prstGeom prst="roundRect">
            <a:avLst>
              <a:gd fmla="val 3111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46"/>
          <p:cNvSpPr txBox="1"/>
          <p:nvPr/>
        </p:nvSpPr>
        <p:spPr>
          <a:xfrm>
            <a:off x="6437376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“Metric” becomes a USEFULNESS test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46"/>
          <p:cNvSpPr txBox="1"/>
          <p:nvPr/>
        </p:nvSpPr>
        <p:spPr>
          <a:xfrm>
            <a:off x="6437376" y="228600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Can marketing name and act on each segment?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Does the compressed representation preserve model performance?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Does the structure predict something it wasn't built from?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46"/>
          <p:cNvSpPr/>
          <p:nvPr/>
        </p:nvSpPr>
        <p:spPr>
          <a:xfrm>
            <a:off x="566928" y="3977640"/>
            <a:ext cx="11055096" cy="1051560"/>
          </a:xfrm>
          <a:prstGeom prst="roundRect">
            <a:avLst>
              <a:gd fmla="val 6087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46"/>
          <p:cNvSpPr txBox="1"/>
          <p:nvPr/>
        </p:nvSpPr>
        <p:spPr>
          <a:xfrm>
            <a:off x="822960" y="4087368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Without those two answers, clustering produces </a:t>
            </a:r>
            <a:r>
              <a:rPr b="1" i="0" lang="en-US" sz="1600" u="none" cap="none" strike="noStrike">
                <a:solidFill>
                  <a:srgbClr val="E8A33B"/>
                </a:solidFill>
                <a:latin typeface="Calibri"/>
                <a:ea typeface="Calibri"/>
                <a:cs typeface="Calibri"/>
                <a:sym typeface="Calibri"/>
              </a:rPr>
              <a:t>“a pie chart with delusions.”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46"/>
          <p:cNvSpPr/>
          <p:nvPr/>
        </p:nvSpPr>
        <p:spPr>
          <a:xfrm>
            <a:off x="566928" y="5257800"/>
            <a:ext cx="11055096" cy="868680"/>
          </a:xfrm>
          <a:prstGeom prst="roundRect">
            <a:avLst>
              <a:gd fmla="val 7368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46"/>
          <p:cNvSpPr txBox="1"/>
          <p:nvPr/>
        </p:nvSpPr>
        <p:spPr>
          <a:xfrm>
            <a:off x="777240" y="5349240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80"/>
              <a:buFont typeface="Calibri"/>
              <a:buNone/>
            </a:pPr>
            <a:r>
              <a:rPr b="1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Honest defaults: </a:t>
            </a:r>
            <a:r>
              <a:rPr b="0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clustering for discovery and operations, not truth; PCA for compression and viewing, not meaning. Manafeth's thread: behavioural segments become a FEATURE for the churn model and a LANGUAGE for the CRM team — “Ramadan-seasonal bulk shoppers” enters the company vocabulary.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46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47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47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47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K-Means — Mechanism and Craft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47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Assign-to-nearest-centroid / recompute until stable, minimising inertia — the craft around the loop matters more than the loop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47"/>
          <p:cNvSpPr/>
          <p:nvPr/>
        </p:nvSpPr>
        <p:spPr>
          <a:xfrm>
            <a:off x="566928" y="1737360"/>
            <a:ext cx="3602736" cy="2240280"/>
          </a:xfrm>
          <a:prstGeom prst="roundRect">
            <a:avLst>
              <a:gd fmla="val 2857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47"/>
          <p:cNvSpPr/>
          <p:nvPr/>
        </p:nvSpPr>
        <p:spPr>
          <a:xfrm>
            <a:off x="731520" y="1901952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cale_w.png" id="1077" name="Google Shape;107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20116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47"/>
          <p:cNvSpPr txBox="1"/>
          <p:nvPr/>
        </p:nvSpPr>
        <p:spPr>
          <a:xfrm>
            <a:off x="1316736" y="1975104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80"/>
              <a:buFont typeface="Calibri"/>
              <a:buNone/>
            </a:pPr>
            <a:r>
              <a:rPr b="1" i="0" lang="en-US" sz="12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Scale first, always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47"/>
          <p:cNvSpPr txBox="1"/>
          <p:nvPr/>
        </p:nvSpPr>
        <p:spPr>
          <a:xfrm>
            <a:off x="749808" y="2450592"/>
            <a:ext cx="3246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K-means is pure distance — the M2 k-NN lesson verbatim. Log-transform heavy-tailed monetary features first or the bulk-order tail owns a centroid by itself (the “whale cluster” simulation).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47"/>
          <p:cNvSpPr/>
          <p:nvPr/>
        </p:nvSpPr>
        <p:spPr>
          <a:xfrm>
            <a:off x="4343400" y="1737360"/>
            <a:ext cx="3602736" cy="2240280"/>
          </a:xfrm>
          <a:prstGeom prst="roundRect">
            <a:avLst>
              <a:gd fmla="val 2857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47"/>
          <p:cNvSpPr/>
          <p:nvPr/>
        </p:nvSpPr>
        <p:spPr>
          <a:xfrm>
            <a:off x="4507992" y="1901952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ice_w.png" id="1082" name="Google Shape;108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20116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47"/>
          <p:cNvSpPr txBox="1"/>
          <p:nvPr/>
        </p:nvSpPr>
        <p:spPr>
          <a:xfrm>
            <a:off x="5093208" y="1975104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80"/>
              <a:buFont typeface="Calibri"/>
              <a:buNone/>
            </a:pPr>
            <a:r>
              <a:rPr b="1" i="0" lang="en-US" sz="12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Seed the restarts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47"/>
          <p:cNvSpPr txBox="1"/>
          <p:nvPr/>
        </p:nvSpPr>
        <p:spPr>
          <a:xfrm>
            <a:off x="4526280" y="2450592"/>
            <a:ext cx="3246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K-means converges to local optima: n_init=“auto” (multiple restarts, keep best inertia) + random_state=42 for reproducibility — identical segments across pairs, by design.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47"/>
          <p:cNvSpPr/>
          <p:nvPr/>
        </p:nvSpPr>
        <p:spPr>
          <a:xfrm>
            <a:off x="8119872" y="1737360"/>
            <a:ext cx="3602736" cy="2240280"/>
          </a:xfrm>
          <a:prstGeom prst="roundRect">
            <a:avLst>
              <a:gd fmla="val 2857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47"/>
          <p:cNvSpPr/>
          <p:nvPr/>
        </p:nvSpPr>
        <p:spPr>
          <a:xfrm>
            <a:off x="8284464" y="1901952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users_w.png" id="1087" name="Google Shape;1087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4192" y="20116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47"/>
          <p:cNvSpPr txBox="1"/>
          <p:nvPr/>
        </p:nvSpPr>
        <p:spPr>
          <a:xfrm>
            <a:off x="8869680" y="1975104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80"/>
              <a:buFont typeface="Calibri"/>
              <a:buNone/>
            </a:pPr>
            <a:r>
              <a:rPr b="1" i="0" lang="en-US" sz="12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Profile before you present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47"/>
          <p:cNvSpPr txBox="1"/>
          <p:nvPr/>
        </p:nvSpPr>
        <p:spPr>
          <a:xfrm>
            <a:off x="8302752" y="2450592"/>
            <a:ext cx="3246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Per-cluster means of the ORIGINAL unscaled features, cluster sizes, and a two-word name per cluster. A segment nobody can name is a segment nobody will use.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47"/>
          <p:cNvSpPr/>
          <p:nvPr/>
        </p:nvSpPr>
        <p:spPr>
          <a:xfrm>
            <a:off x="566928" y="4206240"/>
            <a:ext cx="11055096" cy="1874520"/>
          </a:xfrm>
          <a:prstGeom prst="roundRect">
            <a:avLst>
              <a:gd fmla="val 3415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47"/>
          <p:cNvSpPr txBox="1"/>
          <p:nvPr/>
        </p:nvSpPr>
        <p:spPr>
          <a:xfrm>
            <a:off x="804672" y="43708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Choosing k — three votes, never the elbow alone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47"/>
          <p:cNvSpPr txBox="1"/>
          <p:nvPr/>
        </p:nvSpPr>
        <p:spPr>
          <a:xfrm>
            <a:off x="804672" y="4754880"/>
            <a:ext cx="10607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Elbow plot (inertia vs k): suggestive, rarely decisive — often a shrug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Silhouette score (cohesion vs separation, −1…1): the quantitative vote — Manafeth peaks at k=5, silhouette 0.31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1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Business readability — the deciding vote: five nameable segments beat seven where two are “miscellaneous”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K-means WILL partition structureless noise into k confident-looking pieces — the null test makes this visceral (noise silhouette: 0.09)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47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48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48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48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When Centroids Fail · PCA as a Variance Budget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02" name="Google Shape;1102;p4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{E0CDE1C1-62A7-44C6-83CE-F4AE5E7467F2}</a:tableStyleId>
              </a:tblPr>
              <a:tblGrid>
                <a:gridCol w="3017525"/>
                <a:gridCol w="1737350"/>
                <a:gridCol w="6300225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shape / need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Round blobs of similar scale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k-means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workhorse; inherits every scaling sin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Unknown shapes / want outliers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DBSCAN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Grows clusters from density (eps, min_samples); outputs NOISE points — its production superpower (payments review queues); struggles when densities vary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Stakeholders want a taxonomy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Agglomerative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dendrogram IS the deliverable — cut height chooses granularity after the fact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03" name="Google Shape;1103;p48"/>
          <p:cNvSpPr/>
          <p:nvPr/>
        </p:nvSpPr>
        <p:spPr>
          <a:xfrm>
            <a:off x="566928" y="3657600"/>
            <a:ext cx="6766560" cy="2423160"/>
          </a:xfrm>
          <a:prstGeom prst="roundRect">
            <a:avLst>
              <a:gd fmla="val 264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48"/>
          <p:cNvSpPr/>
          <p:nvPr/>
        </p:nvSpPr>
        <p:spPr>
          <a:xfrm>
            <a:off x="777240" y="3822192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mpress_w.png" id="1105" name="Google Shape;110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39319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48"/>
          <p:cNvSpPr txBox="1"/>
          <p:nvPr/>
        </p:nvSpPr>
        <p:spPr>
          <a:xfrm>
            <a:off x="1371600" y="388620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PCA — explained variance is the budget sheet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48"/>
          <p:cNvSpPr txBox="1"/>
          <p:nvPr/>
        </p:nvSpPr>
        <p:spPr>
          <a:xfrm>
            <a:off x="804672" y="4315968"/>
            <a:ext cx="64008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060"/>
              <a:buFont typeface="Calibri"/>
              <a:buChar char="•"/>
            </a:pPr>
            <a:r>
              <a:rPr b="0" i="0" lang="en-US" sz="10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“PC1+PC2 carry 58% of variance” quantifies what a 2-D view shows and hides; the cumulative curve chooses dimensionality for compression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  <a:buClr>
                <a:srgbClr val="12262E"/>
              </a:buClr>
              <a:buSzPts val="1060"/>
              <a:buFont typeface="Calibri"/>
              <a:buChar char="•"/>
            </a:pPr>
            <a:r>
              <a:rPr b="0" i="0" lang="en-US" sz="10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Scale first — unscaled variance is just units (tenure_months would own PC1 for no reason beyond its range)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  <a:buClr>
                <a:srgbClr val="12262E"/>
              </a:buClr>
              <a:buSzPts val="1060"/>
              <a:buFont typeface="Calibri"/>
              <a:buChar char="•"/>
            </a:pPr>
            <a:r>
              <a:rPr b="0" i="0" lang="en-US" sz="10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Loadings give components meaning: PC1 = “engagement intensity” axis; PC2 contrasts Ramadan-window activity vs steady ordering = “seasonality” axis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  <a:buClr>
                <a:srgbClr val="12262E"/>
              </a:buClr>
              <a:buSzPts val="1060"/>
              <a:buFont typeface="Calibri"/>
              <a:buChar char="•"/>
            </a:pPr>
            <a:r>
              <a:rPr b="1" i="0" lang="en-US" sz="10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As a Pipeline step when feeding models — the rotation is learned on training folds only; the M3 discipline never sleeps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48"/>
          <p:cNvSpPr/>
          <p:nvPr/>
        </p:nvSpPr>
        <p:spPr>
          <a:xfrm>
            <a:off x="7543800" y="3657600"/>
            <a:ext cx="4087368" cy="2423160"/>
          </a:xfrm>
          <a:prstGeom prst="roundRect">
            <a:avLst>
              <a:gd fmla="val 2642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48"/>
          <p:cNvSpPr/>
          <p:nvPr/>
        </p:nvSpPr>
        <p:spPr>
          <a:xfrm>
            <a:off x="7726680" y="3822192"/>
            <a:ext cx="411480" cy="411480"/>
          </a:xfrm>
          <a:prstGeom prst="ellipse">
            <a:avLst/>
          </a:prstGeom>
          <a:solidFill>
            <a:srgbClr val="E8A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eye_w.png" id="1110" name="Google Shape;1110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5435" y="3920947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48"/>
          <p:cNvSpPr txBox="1"/>
          <p:nvPr/>
        </p:nvSpPr>
        <p:spPr>
          <a:xfrm>
            <a:off x="8275320" y="387705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t-SNE / UMAP, one honest paragraph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48"/>
          <p:cNvSpPr txBox="1"/>
          <p:nvPr/>
        </p:nvSpPr>
        <p:spPr>
          <a:xfrm>
            <a:off x="7744968" y="4315968"/>
            <a:ext cx="37033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Superb at revealing local structure for viewing; distances and densities between far-apart groups are not faithful. Never cluster on t-SNE output, never feed it to models — plot, enjoy, verify elsewhere. (The provided overreach exhibit: two islands whose between-island distance reverses under a different perplexity.)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48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9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49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49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Evaluating Without Ground Truth — The Ladder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49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Weakest to strongest — with Manafeth's evidence at every rung. “It looks meaningful” is not on the ladder.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49"/>
          <p:cNvSpPr/>
          <p:nvPr/>
        </p:nvSpPr>
        <p:spPr>
          <a:xfrm>
            <a:off x="566928" y="1691640"/>
            <a:ext cx="11055096" cy="1325880"/>
          </a:xfrm>
          <a:prstGeom prst="roundRect">
            <a:avLst>
              <a:gd fmla="val 4828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49"/>
          <p:cNvSpPr/>
          <p:nvPr/>
        </p:nvSpPr>
        <p:spPr>
          <a:xfrm>
            <a:off x="749808" y="1837944"/>
            <a:ext cx="475488" cy="475488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49"/>
          <p:cNvSpPr txBox="1"/>
          <p:nvPr/>
        </p:nvSpPr>
        <p:spPr>
          <a:xfrm>
            <a:off x="749808" y="183794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49"/>
          <p:cNvSpPr txBox="1"/>
          <p:nvPr/>
        </p:nvSpPr>
        <p:spPr>
          <a:xfrm>
            <a:off x="1371600" y="18745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External usefulness — the course requirement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49"/>
          <p:cNvSpPr txBox="1"/>
          <p:nvPr/>
        </p:nvSpPr>
        <p:spPr>
          <a:xfrm>
            <a:off x="1371600" y="2240280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Do the segments predict something they weren't built from? Manafeth: churn-rate spread 4% → 31% across segments; the segment feature lifts the champion PR-AUC 0.598 → 0.607. Structure that helps prediction is structure that exists.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49"/>
          <p:cNvSpPr/>
          <p:nvPr/>
        </p:nvSpPr>
        <p:spPr>
          <a:xfrm>
            <a:off x="1069848" y="3172968"/>
            <a:ext cx="10049256" cy="1325880"/>
          </a:xfrm>
          <a:prstGeom prst="roundRect">
            <a:avLst>
              <a:gd fmla="val 4828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49"/>
          <p:cNvSpPr/>
          <p:nvPr/>
        </p:nvSpPr>
        <p:spPr>
          <a:xfrm>
            <a:off x="1252728" y="3319272"/>
            <a:ext cx="475488" cy="475488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49"/>
          <p:cNvSpPr txBox="1"/>
          <p:nvPr/>
        </p:nvSpPr>
        <p:spPr>
          <a:xfrm>
            <a:off x="1252728" y="331927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49"/>
          <p:cNvSpPr txBox="1"/>
          <p:nvPr/>
        </p:nvSpPr>
        <p:spPr>
          <a:xfrm>
            <a:off x="1874520" y="33558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Stability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49"/>
          <p:cNvSpPr txBox="1"/>
          <p:nvPr/>
        </p:nvSpPr>
        <p:spPr>
          <a:xfrm>
            <a:off x="1874520" y="3721608"/>
            <a:ext cx="8458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Re-run under resampling and seeds: segments that dissolve under bootstrap were noise wearing colours. adjusted_rand_score between runs quantifies it — Manafeth: ARI 0.86 (seed 43 vs 42).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49"/>
          <p:cNvSpPr/>
          <p:nvPr/>
        </p:nvSpPr>
        <p:spPr>
          <a:xfrm>
            <a:off x="1572768" y="4654296"/>
            <a:ext cx="9043416" cy="1325880"/>
          </a:xfrm>
          <a:prstGeom prst="roundRect">
            <a:avLst>
              <a:gd fmla="val 4828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49"/>
          <p:cNvSpPr/>
          <p:nvPr/>
        </p:nvSpPr>
        <p:spPr>
          <a:xfrm>
            <a:off x="1755648" y="4800600"/>
            <a:ext cx="475488" cy="475488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49"/>
          <p:cNvSpPr txBox="1"/>
          <p:nvPr/>
        </p:nvSpPr>
        <p:spPr>
          <a:xfrm>
            <a:off x="1755648" y="48006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49"/>
          <p:cNvSpPr txBox="1"/>
          <p:nvPr/>
        </p:nvSpPr>
        <p:spPr>
          <a:xfrm>
            <a:off x="2377440" y="483717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Internal indices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49"/>
          <p:cNvSpPr txBox="1"/>
          <p:nvPr/>
        </p:nvSpPr>
        <p:spPr>
          <a:xfrm>
            <a:off x="2377440" y="5202936"/>
            <a:ext cx="6949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Silhouette, inertia curves — necessary hygiene, insufficient alone. Manafeth: silhouette 0.31 at k=5, reported WITH the noise-null value 0.09 (real ≥ 2.5× noise).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49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50"/>
          <p:cNvSpPr/>
          <p:nvPr/>
        </p:nvSpPr>
        <p:spPr>
          <a:xfrm>
            <a:off x="566928" y="329184"/>
            <a:ext cx="1625803" cy="292608"/>
          </a:xfrm>
          <a:prstGeom prst="roundRect">
            <a:avLst>
              <a:gd fmla="val 50000" name="adj"/>
            </a:avLst>
          </a:prstGeom>
          <a:solidFill>
            <a:srgbClr val="E8A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50"/>
          <p:cNvSpPr txBox="1"/>
          <p:nvPr/>
        </p:nvSpPr>
        <p:spPr>
          <a:xfrm>
            <a:off x="566928" y="329184"/>
            <a:ext cx="1625803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HANDS-ON · DAY 4 H3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50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Lab 6 — Segment the Customers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50"/>
          <p:cNvSpPr/>
          <p:nvPr/>
        </p:nvSpPr>
        <p:spPr>
          <a:xfrm>
            <a:off x="566928" y="1417320"/>
            <a:ext cx="11055096" cy="658368"/>
          </a:xfrm>
          <a:prstGeom prst="roundRect">
            <a:avLst>
              <a:gd fmla="val 972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50"/>
          <p:cNvSpPr txBox="1"/>
          <p:nvPr/>
        </p:nvSpPr>
        <p:spPr>
          <a:xfrm>
            <a:off x="777240" y="1463040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80"/>
              <a:buFont typeface="Calibri"/>
              <a:buNone/>
            </a:pPr>
            <a:r>
              <a:rPr b="0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50 minutes · pairs — k-means segmentation with silhouette selection; PCA projection; name and profile the segments; measure their effect on the champion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50"/>
          <p:cNvSpPr txBox="1"/>
          <p:nvPr/>
        </p:nvSpPr>
        <p:spPr>
          <a:xfrm>
            <a:off x="566928" y="2286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Tasks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50"/>
          <p:cNvSpPr txBox="1"/>
          <p:nvPr/>
        </p:nvSpPr>
        <p:spPr>
          <a:xfrm>
            <a:off x="566928" y="2651760"/>
            <a:ext cx="62636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Prepare the segmentation frame (38,400 × 8 features incl. ramadan_order_share, weekend_order_share); scale + log-transform monetary features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Sweep k with elbow + silhouette; choose with the three-vote protocol; seed everything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1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Run the noise-null test: real silhouette must be ≥ 2.5× the noise value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Profile on original units; NAME all five segments in ≤ 3 words; PCA projection plot with axis readings in the labels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External validation: churn-rate spread across segments; add the segment as a feature to the champion and report the PR-AUC delta on the shared harness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Segment-naming workshop: pairs swap profile tables and name each other's segments blind — mismatched names expose under-separated clusters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50"/>
          <p:cNvSpPr/>
          <p:nvPr/>
        </p:nvSpPr>
        <p:spPr>
          <a:xfrm>
            <a:off x="7040880" y="2286000"/>
            <a:ext cx="4572000" cy="2377440"/>
          </a:xfrm>
          <a:prstGeom prst="roundRect">
            <a:avLst>
              <a:gd fmla="val 2692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50"/>
          <p:cNvSpPr txBox="1"/>
          <p:nvPr/>
        </p:nvSpPr>
        <p:spPr>
          <a:xfrm>
            <a:off x="7251192" y="243230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Expected output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50"/>
          <p:cNvSpPr txBox="1"/>
          <p:nvPr/>
        </p:nvSpPr>
        <p:spPr>
          <a:xfrm>
            <a:off x="7251192" y="2788920"/>
            <a:ext cx="4160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Silhouette @ k=5:  0.31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(noise null:     0.09)  ✔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Churn spread:  4% → 31% across segs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Segment feature in champion: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PR-AUC 0.598 → 0.607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Re-run stability (seed 43): ARI 0.86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PC1+PC2 explained variance: 58%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50"/>
          <p:cNvSpPr/>
          <p:nvPr/>
        </p:nvSpPr>
        <p:spPr>
          <a:xfrm>
            <a:off x="7040880" y="4846320"/>
            <a:ext cx="4572000" cy="1243584"/>
          </a:xfrm>
          <a:prstGeom prst="roundRect">
            <a:avLst>
              <a:gd fmla="val 5147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_a.png" id="1155" name="Google Shape;115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4476" y="5044196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50"/>
          <p:cNvSpPr txBox="1"/>
          <p:nvPr/>
        </p:nvSpPr>
        <p:spPr>
          <a:xfrm>
            <a:off x="7635240" y="4956048"/>
            <a:ext cx="388620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4413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5A4413"/>
                </a:solidFill>
                <a:latin typeface="Calibri"/>
                <a:ea typeface="Calibri"/>
                <a:cs typeface="Calibri"/>
                <a:sym typeface="Calibri"/>
              </a:rPr>
              <a:t>Skip the log transform and one micro-cluster of bulk buyers owns a centroid while everyone else is a blob — the whale-cluster simulation. If the cohort is weak, make task 5 a guided demo; never cut the null test.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50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62E"/>
        </a:solidFill>
      </p:bgPr>
    </p:bg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5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3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51"/>
          <p:cNvSpPr txBox="1"/>
          <p:nvPr/>
        </p:nvSpPr>
        <p:spPr>
          <a:xfrm>
            <a:off x="640080" y="105156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000"/>
              <a:buFont typeface="Calibri"/>
              <a:buNone/>
            </a:pPr>
            <a:r>
              <a:rPr b="1" i="0" lang="en-US" sz="120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51"/>
          <p:cNvSpPr txBox="1"/>
          <p:nvPr/>
        </p:nvSpPr>
        <p:spPr>
          <a:xfrm>
            <a:off x="676656" y="29718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33B"/>
                </a:solidFill>
                <a:latin typeface="Calibri"/>
                <a:ea typeface="Calibri"/>
                <a:cs typeface="Calibri"/>
                <a:sym typeface="Calibri"/>
              </a:rPr>
              <a:t>DAY 4 · HOURS 4–5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51"/>
          <p:cNvSpPr/>
          <p:nvPr/>
        </p:nvSpPr>
        <p:spPr>
          <a:xfrm>
            <a:off x="676656" y="5120640"/>
            <a:ext cx="777240" cy="777240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g_w.png" id="1167" name="Google Shape;11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194" y="530717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51"/>
          <p:cNvSpPr txBox="1"/>
          <p:nvPr/>
        </p:nvSpPr>
        <p:spPr>
          <a:xfrm>
            <a:off x="4526280" y="1371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51"/>
          <p:cNvSpPr txBox="1"/>
          <p:nvPr/>
        </p:nvSpPr>
        <p:spPr>
          <a:xfrm>
            <a:off x="4480560" y="1737360"/>
            <a:ext cx="7132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Hyperparameter Tuning &amp; Model Selection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51"/>
          <p:cNvSpPr txBox="1"/>
          <p:nvPr/>
        </p:nvSpPr>
        <p:spPr>
          <a:xfrm>
            <a:off x="4480560" y="3127248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5BD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9FC5BD"/>
                </a:solidFill>
                <a:latin typeface="Calibri"/>
                <a:ea typeface="Calibri"/>
                <a:cs typeface="Calibri"/>
                <a:sym typeface="Calibri"/>
              </a:rPr>
              <a:t>ضبط المعاملات الفائقة واختيار النموذج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51"/>
          <p:cNvSpPr txBox="1"/>
          <p:nvPr/>
        </p:nvSpPr>
        <p:spPr>
          <a:xfrm>
            <a:off x="4526280" y="3886200"/>
            <a:ext cx="70408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Design search spaces with appropriate scales and priorities per model family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Run randomised and grid search over full pipelines, within a stated budget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Avoid tuning leakage: separate selection data from reporting 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Execute the final protocol: refit, single test-set evaluation, model card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52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52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52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Grid, Random, and the Budget Argument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52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Tuning is an outer optimisation loop around cross-validated fits — the M2 validation curve generalised and automated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52"/>
          <p:cNvSpPr/>
          <p:nvPr/>
        </p:nvSpPr>
        <p:spPr>
          <a:xfrm>
            <a:off x="566928" y="1737360"/>
            <a:ext cx="5440680" cy="2148840"/>
          </a:xfrm>
          <a:prstGeom prst="roundRect">
            <a:avLst>
              <a:gd fmla="val 2979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52"/>
          <p:cNvSpPr txBox="1"/>
          <p:nvPr/>
        </p:nvSpPr>
        <p:spPr>
          <a:xfrm>
            <a:off x="804672" y="19019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GridSearchCV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52"/>
          <p:cNvSpPr txBox="1"/>
          <p:nvPr/>
        </p:nvSpPr>
        <p:spPr>
          <a:xfrm>
            <a:off x="804672" y="2304288"/>
            <a:ext cx="5029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Exhausts a small discrete space. Right when knobs are few and cheap — alpha for ridge (one knob, log-spaced) is grid's perfect case. Wrong when six knobs × three values = 729 fits that 30 random draws would cover better.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52"/>
          <p:cNvSpPr/>
          <p:nvPr/>
        </p:nvSpPr>
        <p:spPr>
          <a:xfrm>
            <a:off x="6199632" y="1737360"/>
            <a:ext cx="5440680" cy="2148840"/>
          </a:xfrm>
          <a:prstGeom prst="roundRect">
            <a:avLst>
              <a:gd fmla="val 2979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52"/>
          <p:cNvSpPr txBox="1"/>
          <p:nvPr/>
        </p:nvSpPr>
        <p:spPr>
          <a:xfrm>
            <a:off x="6437376" y="190195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RandomizedSearchCV — the course default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52"/>
          <p:cNvSpPr txBox="1"/>
          <p:nvPr/>
        </p:nvSpPr>
        <p:spPr>
          <a:xfrm>
            <a:off x="6437376" y="2304288"/>
            <a:ext cx="5029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Samples configurations from distributions. With many knobs, only a few matter (unknown in advance): random probes each dimension at n_iter distinct values, while a grid wastes budget on redundant combinations of the unimportant ones.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52"/>
          <p:cNvSpPr/>
          <p:nvPr/>
        </p:nvSpPr>
        <p:spPr>
          <a:xfrm>
            <a:off x="566928" y="4114800"/>
            <a:ext cx="6766560" cy="1965960"/>
          </a:xfrm>
          <a:prstGeom prst="roundRect">
            <a:avLst>
              <a:gd fmla="val 3256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52"/>
          <p:cNvSpPr txBox="1"/>
          <p:nvPr/>
        </p:nvSpPr>
        <p:spPr>
          <a:xfrm>
            <a:off x="804672" y="426110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Distributions carry judgement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52"/>
          <p:cNvSpPr txBox="1"/>
          <p:nvPr/>
        </p:nvSpPr>
        <p:spPr>
          <a:xfrm>
            <a:off x="822960" y="461772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60"/>
              <a:buFont typeface="Courier New"/>
              <a:buNone/>
            </a:pPr>
            <a:r>
              <a:rPr b="0" i="0" lang="en-US" sz="106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learning_rate:  loguniform(0.01, 0.3)   # 0.01→0.03 matters like 0.1→0.3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D8E6E2"/>
              </a:buClr>
              <a:buSzPts val="1060"/>
              <a:buFont typeface="Courier New"/>
              <a:buNone/>
            </a:pPr>
            <a:r>
              <a:rPr b="0" i="0" lang="en-US" sz="106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max_depth:      randint(3, 8)           # small integer structure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D8E6E2"/>
              </a:buClr>
              <a:buSzPts val="1060"/>
              <a:buFont typeface="Courier New"/>
              <a:buNone/>
            </a:pPr>
            <a:r>
              <a:rPr b="0" i="0" lang="en-US" sz="106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subsample:      uniform(0.6, 0.4)       # [0.6, 1.0]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D8E6E2"/>
              </a:buClr>
              <a:buSzPts val="1060"/>
              <a:buFont typeface="Courier New"/>
              <a:buNone/>
            </a:pPr>
            <a:r>
              <a:rPr b="0" i="0" lang="en-US" sz="106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prep__num__impute__strategy: [median, mean]   # preprocessing is searchable too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52"/>
          <p:cNvSpPr/>
          <p:nvPr/>
        </p:nvSpPr>
        <p:spPr>
          <a:xfrm>
            <a:off x="7543800" y="4114800"/>
            <a:ext cx="4087368" cy="1965960"/>
          </a:xfrm>
          <a:prstGeom prst="roundRect">
            <a:avLst>
              <a:gd fmla="val 3256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lock_a.png" id="1191" name="Google Shape;119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5435" y="4378147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52"/>
          <p:cNvSpPr txBox="1"/>
          <p:nvPr/>
        </p:nvSpPr>
        <p:spPr>
          <a:xfrm>
            <a:off x="8275320" y="433425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41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A4413"/>
                </a:solidFill>
                <a:latin typeface="Calibri"/>
                <a:ea typeface="Calibri"/>
                <a:cs typeface="Calibri"/>
                <a:sym typeface="Calibri"/>
              </a:rPr>
              <a:t>Budget first, then the space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52"/>
          <p:cNvSpPr txBox="1"/>
          <p:nvPr/>
        </p:nvSpPr>
        <p:spPr>
          <a:xfrm>
            <a:off x="7744968" y="4709160"/>
            <a:ext cx="3703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4413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5A4413"/>
                </a:solidFill>
                <a:latin typeface="Calibri"/>
                <a:ea typeface="Calibri"/>
                <a:cs typeface="Calibri"/>
                <a:sym typeface="Calibri"/>
              </a:rPr>
              <a:t>Total fits = n_iter × folds. 30 draws × 5 folds ≈ 12 minutes on lab laptops with n_jobs=-1. Set the budget BEFORE running, then shape the space to spend it well. HalvingRandomSearchCV when budgets bite harder.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52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53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53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53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Tuning Leakage and the Selection Protocol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53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The subtle sin: scores used to SELECT a configuration are optimistically biased as estimates of it — the winner among 30 draws partly won by luck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53"/>
          <p:cNvSpPr/>
          <p:nvPr/>
        </p:nvSpPr>
        <p:spPr>
          <a:xfrm>
            <a:off x="566928" y="1783080"/>
            <a:ext cx="11055096" cy="950976"/>
          </a:xfrm>
          <a:prstGeom prst="roundRect">
            <a:avLst>
              <a:gd fmla="val 6731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53"/>
          <p:cNvSpPr/>
          <p:nvPr/>
        </p:nvSpPr>
        <p:spPr>
          <a:xfrm>
            <a:off x="749808" y="2002536"/>
            <a:ext cx="502920" cy="50292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53"/>
          <p:cNvSpPr txBox="1"/>
          <p:nvPr/>
        </p:nvSpPr>
        <p:spPr>
          <a:xfrm>
            <a:off x="749808" y="200253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53"/>
          <p:cNvSpPr txBox="1"/>
          <p:nvPr/>
        </p:nvSpPr>
        <p:spPr>
          <a:xfrm>
            <a:off x="1417320" y="189280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Tune on training data with CV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53"/>
          <p:cNvSpPr txBox="1"/>
          <p:nvPr/>
        </p:nvSpPr>
        <p:spPr>
          <a:xfrm>
            <a:off x="6035040" y="1856232"/>
            <a:ext cx="54406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40"/>
              <a:buFont typeface="Calibri"/>
              <a:buNone/>
            </a:pPr>
            <a:r>
              <a:rPr b="0" i="0" lang="en-US" sz="104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RandomizedSearchCV refits the whole pipeline — preprocessing included — inside every fold. M3's guarantee is what makes this legal.</a:t>
            </a:r>
            <a:endParaRPr b="0" i="0" sz="10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53"/>
          <p:cNvSpPr/>
          <p:nvPr/>
        </p:nvSpPr>
        <p:spPr>
          <a:xfrm>
            <a:off x="566928" y="2862072"/>
            <a:ext cx="11055096" cy="950976"/>
          </a:xfrm>
          <a:prstGeom prst="roundRect">
            <a:avLst>
              <a:gd fmla="val 6731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53"/>
          <p:cNvSpPr/>
          <p:nvPr/>
        </p:nvSpPr>
        <p:spPr>
          <a:xfrm>
            <a:off x="749808" y="3081528"/>
            <a:ext cx="502920" cy="50292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53"/>
          <p:cNvSpPr txBox="1"/>
          <p:nvPr/>
        </p:nvSpPr>
        <p:spPr>
          <a:xfrm>
            <a:off x="749808" y="30815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53"/>
          <p:cNvSpPr txBox="1"/>
          <p:nvPr/>
        </p:nvSpPr>
        <p:spPr>
          <a:xfrm>
            <a:off x="1417320" y="29718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Select — and read the neighbourhood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53"/>
          <p:cNvSpPr txBox="1"/>
          <p:nvPr/>
        </p:nvSpPr>
        <p:spPr>
          <a:xfrm>
            <a:off x="6035040" y="2935224"/>
            <a:ext cx="54406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40"/>
              <a:buFont typeface="Calibri"/>
              <a:buNone/>
            </a:pPr>
            <a:r>
              <a:rPr b="0" i="0" lang="en-US" sz="104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If the top-10 configurations score within a hair (Manafeth spread: 0.006), the surface is flat and the choice is robust. A winner standing alone is suspect luck.</a:t>
            </a:r>
            <a:endParaRPr b="0" i="0" sz="10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53"/>
          <p:cNvSpPr/>
          <p:nvPr/>
        </p:nvSpPr>
        <p:spPr>
          <a:xfrm>
            <a:off x="566928" y="3941064"/>
            <a:ext cx="11055096" cy="950976"/>
          </a:xfrm>
          <a:prstGeom prst="roundRect">
            <a:avLst>
              <a:gd fmla="val 6731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53"/>
          <p:cNvSpPr/>
          <p:nvPr/>
        </p:nvSpPr>
        <p:spPr>
          <a:xfrm>
            <a:off x="749808" y="4160520"/>
            <a:ext cx="502920" cy="50292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53"/>
          <p:cNvSpPr txBox="1"/>
          <p:nvPr/>
        </p:nvSpPr>
        <p:spPr>
          <a:xfrm>
            <a:off x="749808" y="4160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53"/>
          <p:cNvSpPr txBox="1"/>
          <p:nvPr/>
        </p:nvSpPr>
        <p:spPr>
          <a:xfrm>
            <a:off x="1417320" y="405079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Report from data the search never touched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53"/>
          <p:cNvSpPr txBox="1"/>
          <p:nvPr/>
        </p:nvSpPr>
        <p:spPr>
          <a:xfrm>
            <a:off x="6035040" y="4014216"/>
            <a:ext cx="54406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40"/>
              <a:buFont typeface="Calibri"/>
              <a:buNone/>
            </a:pPr>
            <a:r>
              <a:rPr b="0" i="0" lang="en-US" sz="104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The untouched test set, opened once. When no test set can be spared: nested CV estimates the PROCEDURE's performance — earns its cost on small data (the Jubail n=41 world); with 38k rows a proper test set is simpler and sufficient.</a:t>
            </a:r>
            <a:endParaRPr b="0" i="0" sz="10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53"/>
          <p:cNvSpPr/>
          <p:nvPr/>
        </p:nvSpPr>
        <p:spPr>
          <a:xfrm>
            <a:off x="566928" y="5020056"/>
            <a:ext cx="11055096" cy="950976"/>
          </a:xfrm>
          <a:prstGeom prst="roundRect">
            <a:avLst>
              <a:gd fmla="val 6731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53"/>
          <p:cNvSpPr/>
          <p:nvPr/>
        </p:nvSpPr>
        <p:spPr>
          <a:xfrm>
            <a:off x="749808" y="5239512"/>
            <a:ext cx="502920" cy="50292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53"/>
          <p:cNvSpPr txBox="1"/>
          <p:nvPr/>
        </p:nvSpPr>
        <p:spPr>
          <a:xfrm>
            <a:off x="749808" y="52395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53"/>
          <p:cNvSpPr txBox="1"/>
          <p:nvPr/>
        </p:nvSpPr>
        <p:spPr>
          <a:xfrm>
            <a:off x="1417320" y="5129784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Refit on all training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53"/>
          <p:cNvSpPr txBox="1"/>
          <p:nvPr/>
        </p:nvSpPr>
        <p:spPr>
          <a:xfrm>
            <a:off x="6035040" y="5093208"/>
            <a:ext cx="54406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40"/>
              <a:buFont typeface="Calibri"/>
              <a:buNone/>
            </a:pPr>
            <a:r>
              <a:rPr b="0" i="0" lang="en-US" sz="104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refit=True — the artefact that ships trains on everything available.</a:t>
            </a:r>
            <a:endParaRPr b="0" i="0" sz="10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53"/>
          <p:cNvSpPr/>
          <p:nvPr/>
        </p:nvSpPr>
        <p:spPr>
          <a:xfrm>
            <a:off x="566928" y="6172200"/>
            <a:ext cx="11055096" cy="384048"/>
          </a:xfrm>
          <a:prstGeom prst="roundRect">
            <a:avLst>
              <a:gd fmla="val 16667" name="adj"/>
            </a:avLst>
          </a:prstGeom>
          <a:solidFill>
            <a:srgbClr val="F7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53"/>
          <p:cNvSpPr txBox="1"/>
          <p:nvPr/>
        </p:nvSpPr>
        <p:spPr>
          <a:xfrm>
            <a:off x="777240" y="6190488"/>
            <a:ext cx="10607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8502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8502F"/>
                </a:solidFill>
                <a:latin typeface="Calibri"/>
                <a:ea typeface="Calibri"/>
                <a:cs typeface="Calibri"/>
                <a:sym typeface="Calibri"/>
              </a:rPr>
              <a:t>best_score_ = 0.612 permits the claim “this configuration won selection” — never “expect 0.612 in production.” The card takes the TEST number.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53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54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54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54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Final Act — Open the Test Set Once, Write the Card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54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Day 4 Hour 5 closes the loop opened in Lab 1 — make the room feel the once-ness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54"/>
          <p:cNvSpPr/>
          <p:nvPr/>
        </p:nvSpPr>
        <p:spPr>
          <a:xfrm>
            <a:off x="566928" y="1691640"/>
            <a:ext cx="5120640" cy="2286000"/>
          </a:xfrm>
          <a:prstGeom prst="roundRect">
            <a:avLst>
              <a:gd fmla="val 2800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54"/>
          <p:cNvSpPr txBox="1"/>
          <p:nvPr/>
        </p:nvSpPr>
        <p:spPr>
          <a:xfrm>
            <a:off x="804672" y="1828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The agreement check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54"/>
          <p:cNvSpPr txBox="1"/>
          <p:nvPr/>
        </p:nvSpPr>
        <p:spPr>
          <a:xfrm>
            <a:off x="822960" y="2212848"/>
            <a:ext cx="46634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CV estimate 0.612 ± 0.010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test (once):        0.607   ✔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recall@20%: 0.74  precision: 0.51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54"/>
          <p:cNvSpPr txBox="1"/>
          <p:nvPr/>
        </p:nvSpPr>
        <p:spPr>
          <a:xfrm>
            <a:off x="822960" y="3337560"/>
            <a:ext cx="4663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C5BD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9FC5BD"/>
                </a:solidFill>
                <a:latin typeface="Calibri"/>
                <a:ea typeface="Calibri"/>
                <a:cs typeface="Calibri"/>
                <a:sym typeface="Calibri"/>
              </a:rPr>
              <a:t>Within one std of the CV estimate: the quarantine held, the estimate was honest, the workflow kept its promise — say exactly that sentence. A gap &gt; 3 std is a red flag (leak or shift): investigate, never renarrate.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54"/>
          <p:cNvSpPr/>
          <p:nvPr/>
        </p:nvSpPr>
        <p:spPr>
          <a:xfrm>
            <a:off x="5897880" y="1691640"/>
            <a:ext cx="5733288" cy="4389120"/>
          </a:xfrm>
          <a:prstGeom prst="roundRect">
            <a:avLst>
              <a:gd fmla="val 1458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54"/>
          <p:cNvSpPr/>
          <p:nvPr/>
        </p:nvSpPr>
        <p:spPr>
          <a:xfrm>
            <a:off x="6080760" y="1856232"/>
            <a:ext cx="438912" cy="438912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ard_w.png" id="1242" name="Google Shape;124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6099" y="1961571"/>
            <a:ext cx="228234" cy="228234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54"/>
          <p:cNvSpPr txBox="1"/>
          <p:nvPr/>
        </p:nvSpPr>
        <p:spPr>
          <a:xfrm>
            <a:off x="6656832" y="192024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model card — one page, eight sections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54"/>
          <p:cNvSpPr txBox="1"/>
          <p:nvPr/>
        </p:nvSpPr>
        <p:spPr>
          <a:xfrm>
            <a:off x="6126480" y="2377440"/>
            <a:ext cx="5349240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060"/>
              <a:buFont typeface="Calibri"/>
              <a:buChar char="•"/>
            </a:pPr>
            <a:r>
              <a:rPr b="0" i="0" lang="en-US" sz="10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Intended use &amp; decision (from the framing canvas) — “not for credit or pricing decisions”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  <a:buClr>
                <a:srgbClr val="12262E"/>
              </a:buClr>
              <a:buSzPts val="1060"/>
              <a:buFont typeface="Calibri"/>
              <a:buChar char="•"/>
            </a:pPr>
            <a:r>
              <a:rPr b="0" i="0" lang="en-US" sz="10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Data lineage &amp; snapshot: 38,400 train / 9,600 test, stratified, seed 42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  <a:buClr>
                <a:srgbClr val="12262E"/>
              </a:buClr>
              <a:buSzPts val="1060"/>
              <a:buFont typeface="Calibri"/>
              <a:buChar char="•"/>
            </a:pPr>
            <a:r>
              <a:rPr b="0" i="0" lang="en-US" sz="10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Features with prediction-time attestation; leakage checks: shuffled-label PR-AUC 0.14 ✔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  <a:buClr>
                <a:srgbClr val="12262E"/>
              </a:buClr>
              <a:buSzPts val="1060"/>
              <a:buFont typeface="Calibri"/>
              <a:buChar char="•"/>
            </a:pPr>
            <a:r>
              <a:rPr b="0" i="0" lang="en-US" sz="10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Champion table (CV) + the single test number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  <a:buClr>
                <a:srgbClr val="12262E"/>
              </a:buClr>
              <a:buSzPts val="1060"/>
              <a:buFont typeface="Calibri"/>
              <a:buChar char="•"/>
            </a:pPr>
            <a:r>
              <a:rPr b="0" i="0" lang="en-US" sz="10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Operating point &amp; its budget rationale: threshold = 80th score percentile, re-derived per scoring run (threshold-drift guard)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  <a:buClr>
                <a:srgbClr val="12262E"/>
              </a:buClr>
              <a:buSzPts val="1060"/>
              <a:buFont typeface="Calibri"/>
              <a:buChar char="•"/>
            </a:pPr>
            <a:r>
              <a:rPr b="0" i="0" lang="en-US" sz="10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Known weaknesses: new customers recall 0.54 vs 0.76 established; Ramadan-seasonal shoppers over-flagged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  <a:buClr>
                <a:srgbClr val="12262E"/>
              </a:buClr>
              <a:buSzPts val="1060"/>
              <a:buFont typeface="Calibri"/>
              <a:buChar char="•"/>
            </a:pPr>
            <a:r>
              <a:rPr b="0" i="0" lang="en-US" sz="10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Retraining cadence &amp; owner: monthly, full search quarterly; escalation on score-distribution shift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500"/>
              </a:spcBef>
              <a:spcAft>
                <a:spcPts val="0"/>
              </a:spcAft>
              <a:buClr>
                <a:srgbClr val="12262E"/>
              </a:buClr>
              <a:buSzPts val="1060"/>
              <a:buFont typeface="Calibri"/>
              <a:buChar char="•"/>
            </a:pPr>
            <a:r>
              <a:rPr b="1" i="0" lang="en-US" sz="10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interface to SDA-AIE-113 / 216 — the artefact a deployment engineer and a validator both read first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54"/>
          <p:cNvSpPr/>
          <p:nvPr/>
        </p:nvSpPr>
        <p:spPr>
          <a:xfrm>
            <a:off x="566928" y="4206240"/>
            <a:ext cx="5120640" cy="1874520"/>
          </a:xfrm>
          <a:prstGeom prst="roundRect">
            <a:avLst>
              <a:gd fmla="val 3415" name="adj"/>
            </a:avLst>
          </a:prstGeom>
          <a:solidFill>
            <a:srgbClr val="F7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top_r.png" id="1246" name="Google Shape;1246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563" y="4469587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54"/>
          <p:cNvSpPr txBox="1"/>
          <p:nvPr/>
        </p:nvSpPr>
        <p:spPr>
          <a:xfrm>
            <a:off x="1298448" y="442569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2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8502F"/>
                </a:solidFill>
                <a:latin typeface="Calibri"/>
                <a:ea typeface="Calibri"/>
                <a:cs typeface="Calibri"/>
                <a:sym typeface="Calibri"/>
              </a:rPr>
              <a:t>The final-exam failure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54"/>
          <p:cNvSpPr txBox="1"/>
          <p:nvPr/>
        </p:nvSpPr>
        <p:spPr>
          <a:xfrm>
            <a:off x="822960" y="4791456"/>
            <a:ext cx="46634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2E1A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5A2E1A"/>
                </a:solidFill>
                <a:latin typeface="Calibri"/>
                <a:ea typeface="Calibri"/>
                <a:cs typeface="Calibri"/>
                <a:sym typeface="Calibri"/>
              </a:rPr>
              <a:t>Someone re-tunes after seeing the test number: the test set is now spent — permanently a validation set. The honest path is new data or accepting the number. The spent-test-set simulation: apparent test PR-AUC “climbs” 0.607 → 0.625 while a second held-out sample stays flat at 0.605.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54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55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55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55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When NOT to Tune — The Last-Lever Checklist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55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Four gates run BEFORE any search. Tuning is the last lever the workflow pulls — which is exactly why this module is the last before the capstone.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55"/>
          <p:cNvSpPr/>
          <p:nvPr/>
        </p:nvSpPr>
        <p:spPr>
          <a:xfrm>
            <a:off x="566928" y="1783080"/>
            <a:ext cx="5486400" cy="1444752"/>
          </a:xfrm>
          <a:prstGeom prst="roundRect">
            <a:avLst>
              <a:gd fmla="val 4430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55"/>
          <p:cNvSpPr/>
          <p:nvPr/>
        </p:nvSpPr>
        <p:spPr>
          <a:xfrm>
            <a:off x="731520" y="1947672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art_w.png" id="1261" name="Google Shape;126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20574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55"/>
          <p:cNvSpPr txBox="1"/>
          <p:nvPr/>
        </p:nvSpPr>
        <p:spPr>
          <a:xfrm>
            <a:off x="1316736" y="202082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Learning curve converged?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55"/>
          <p:cNvSpPr txBox="1"/>
          <p:nvPr/>
        </p:nvSpPr>
        <p:spPr>
          <a:xfrm>
            <a:off x="749808" y="2441448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If still rising, data beats knobs.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55"/>
          <p:cNvSpPr/>
          <p:nvPr/>
        </p:nvSpPr>
        <p:spPr>
          <a:xfrm>
            <a:off x="6236208" y="1783080"/>
            <a:ext cx="5486400" cy="1444752"/>
          </a:xfrm>
          <a:prstGeom prst="roundRect">
            <a:avLst>
              <a:gd fmla="val 4430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55"/>
          <p:cNvSpPr/>
          <p:nvPr/>
        </p:nvSpPr>
        <p:spPr>
          <a:xfrm>
            <a:off x="6400800" y="1947672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earch_w.png" id="1266" name="Google Shape;1266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528" y="20574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55"/>
          <p:cNvSpPr txBox="1"/>
          <p:nvPr/>
        </p:nvSpPr>
        <p:spPr>
          <a:xfrm>
            <a:off x="6986016" y="202082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Error analysis mined?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55"/>
          <p:cNvSpPr txBox="1"/>
          <p:nvPr/>
        </p:nvSpPr>
        <p:spPr>
          <a:xfrm>
            <a:off x="6419088" y="2441448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Unimplemented feature findings beat knobs: Manafeth's new-customer feature (~+0.02, two days) is worth more than the +0.014 the 12-minute search will find.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55"/>
          <p:cNvSpPr/>
          <p:nvPr/>
        </p:nvSpPr>
        <p:spPr>
          <a:xfrm>
            <a:off x="566928" y="3383280"/>
            <a:ext cx="5486400" cy="1444752"/>
          </a:xfrm>
          <a:prstGeom prst="roundRect">
            <a:avLst>
              <a:gd fmla="val 4430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55"/>
          <p:cNvSpPr/>
          <p:nvPr/>
        </p:nvSpPr>
        <p:spPr>
          <a:xfrm>
            <a:off x="731520" y="3547872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ock_w.png" id="1271" name="Google Shape;1271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1248" y="36576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55"/>
          <p:cNvSpPr txBox="1"/>
          <p:nvPr/>
        </p:nvSpPr>
        <p:spPr>
          <a:xfrm>
            <a:off x="1316736" y="362102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Baseline honest and beaten?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55"/>
          <p:cNvSpPr txBox="1"/>
          <p:nvPr/>
        </p:nvSpPr>
        <p:spPr>
          <a:xfrm>
            <a:off x="749808" y="4041648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Tuning a leaky pipeline optimises fiction — the search will happily amplify a leak into a “great” configuration.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55"/>
          <p:cNvSpPr/>
          <p:nvPr/>
        </p:nvSpPr>
        <p:spPr>
          <a:xfrm>
            <a:off x="6236208" y="3383280"/>
            <a:ext cx="5486400" cy="1444752"/>
          </a:xfrm>
          <a:prstGeom prst="roundRect">
            <a:avLst>
              <a:gd fmla="val 4430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55"/>
          <p:cNvSpPr/>
          <p:nvPr/>
        </p:nvSpPr>
        <p:spPr>
          <a:xfrm>
            <a:off x="6400800" y="3547872"/>
            <a:ext cx="457200" cy="45720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oney_w.png" id="1276" name="Google Shape;1276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0528" y="36576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55"/>
          <p:cNvSpPr txBox="1"/>
          <p:nvPr/>
        </p:nvSpPr>
        <p:spPr>
          <a:xfrm>
            <a:off x="6986016" y="362102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Budget justified?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55"/>
          <p:cNvSpPr txBox="1"/>
          <p:nvPr/>
        </p:nvSpPr>
        <p:spPr>
          <a:xfrm>
            <a:off x="6419088" y="4041648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+0.01 PR-AUC saving 40 customers/month justifies 12 minutes; the same gain on a 100-customer base justifies nothing.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55"/>
          <p:cNvSpPr/>
          <p:nvPr/>
        </p:nvSpPr>
        <p:spPr>
          <a:xfrm>
            <a:off x="566928" y="5166360"/>
            <a:ext cx="11055096" cy="914400"/>
          </a:xfrm>
          <a:prstGeom prst="roundRect">
            <a:avLst>
              <a:gd fmla="val 7000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55"/>
          <p:cNvSpPr txBox="1"/>
          <p:nvPr/>
        </p:nvSpPr>
        <p:spPr>
          <a:xfrm>
            <a:off x="822960" y="5257800"/>
            <a:ext cx="10515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0"/>
              <a:buFont typeface="Calibri"/>
              <a:buNone/>
            </a:pPr>
            <a:r>
              <a:rPr b="1" i="0" lang="en-US" sz="12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 truths frame everything: </a:t>
            </a:r>
            <a:r>
              <a:rPr b="0" i="0" lang="en-US" sz="123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the response surface is shallow near the optimum (many good configurations exist — perfection is not the goal), and the gains are bounded by the features (tuning polishes; it does not transmute).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55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56"/>
          <p:cNvSpPr/>
          <p:nvPr/>
        </p:nvSpPr>
        <p:spPr>
          <a:xfrm>
            <a:off x="566928" y="329184"/>
            <a:ext cx="1625803" cy="292608"/>
          </a:xfrm>
          <a:prstGeom prst="roundRect">
            <a:avLst>
              <a:gd fmla="val 50000" name="adj"/>
            </a:avLst>
          </a:prstGeom>
          <a:solidFill>
            <a:srgbClr val="E8A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56"/>
          <p:cNvSpPr txBox="1"/>
          <p:nvPr/>
        </p:nvSpPr>
        <p:spPr>
          <a:xfrm>
            <a:off x="566928" y="329184"/>
            <a:ext cx="1625803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HANDS-ON · DAY 4 H5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56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Lab 7 — Tune the Champion, Close the Loop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56"/>
          <p:cNvSpPr/>
          <p:nvPr/>
        </p:nvSpPr>
        <p:spPr>
          <a:xfrm>
            <a:off x="566928" y="1417320"/>
            <a:ext cx="11055096" cy="658368"/>
          </a:xfrm>
          <a:prstGeom prst="roundRect">
            <a:avLst>
              <a:gd fmla="val 972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56"/>
          <p:cNvSpPr txBox="1"/>
          <p:nvPr/>
        </p:nvSpPr>
        <p:spPr>
          <a:xfrm>
            <a:off x="777240" y="1463040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80"/>
              <a:buFont typeface="Calibri"/>
              <a:buNone/>
            </a:pPr>
            <a:r>
              <a:rPr b="0" i="0" lang="en-US" sz="11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50 minutes (shared with capstone kickoff — the 12-minute search runs while teams read capstone briefs; dead compute time becomes project time)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56"/>
          <p:cNvSpPr txBox="1"/>
          <p:nvPr/>
        </p:nvSpPr>
        <p:spPr>
          <a:xfrm>
            <a:off x="566928" y="2286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Tasks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56"/>
          <p:cNvSpPr txBox="1"/>
          <p:nvPr/>
        </p:nvSpPr>
        <p:spPr>
          <a:xfrm>
            <a:off x="566928" y="2651760"/>
            <a:ext cx="62636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Pre-tuning checklist as a markdown cell: learning-curve verdict, error-analysis debts, leakage tests green, budget statement (30 × 5 fits)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Launch RandomizedSearchCV over the FULL pipeline (model + preprocessing jointly); draft the model card skeleton while it runs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Read beyond the winner: top-10 table, flatness verdict, knob-importance correlations (learning_rate dominates, spearman −0.61; subsample flat), one sentence on what the NEXT search would narrow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1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final act: confirm refit, open the test set, single evaluation, agreement check against CV, operating point at budget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40"/>
              <a:buFont typeface="Calibri"/>
              <a:buChar char="•"/>
            </a:pPr>
            <a:r>
              <a:rPr b="0" i="0" lang="en-US" sz="114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Complete MODEL_CARD.md; commit feat(lab7): tuned champion, test evaluation, model card — the golden thread is complete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56"/>
          <p:cNvSpPr/>
          <p:nvPr/>
        </p:nvSpPr>
        <p:spPr>
          <a:xfrm>
            <a:off x="7040880" y="2286000"/>
            <a:ext cx="4572000" cy="2377440"/>
          </a:xfrm>
          <a:prstGeom prst="roundRect">
            <a:avLst>
              <a:gd fmla="val 2692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56"/>
          <p:cNvSpPr txBox="1"/>
          <p:nvPr/>
        </p:nvSpPr>
        <p:spPr>
          <a:xfrm>
            <a:off x="7251192" y="243230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Expected output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56"/>
          <p:cNvSpPr txBox="1"/>
          <p:nvPr/>
        </p:nvSpPr>
        <p:spPr>
          <a:xfrm>
            <a:off x="7251192" y="2788920"/>
            <a:ext cx="4160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Search: 30 draws × 5 folds, 12m20s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best CV PR-AUC 0.612 ± 0.010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(was 0.598) · top-10 spread 0.006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→ flat optimum, choice robust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Test (once): PR-AUC 0.607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  within 1 std of CV  ✔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recall@20% 0.74 · precision 0.51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D8E6E2"/>
              </a:buClr>
              <a:buSzPts val="1030"/>
              <a:buFont typeface="Courier New"/>
              <a:buNone/>
            </a:pPr>
            <a:r>
              <a:rPr b="0" i="0" lang="en-US" sz="1030" u="none" cap="none" strike="noStrike">
                <a:solidFill>
                  <a:srgbClr val="D8E6E2"/>
                </a:solidFill>
                <a:latin typeface="Courier New"/>
                <a:ea typeface="Courier New"/>
                <a:cs typeface="Courier New"/>
                <a:sym typeface="Courier New"/>
              </a:rPr>
              <a:t>MODEL_CARD.md: 8/8 sections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56"/>
          <p:cNvSpPr/>
          <p:nvPr/>
        </p:nvSpPr>
        <p:spPr>
          <a:xfrm>
            <a:off x="7040880" y="4846320"/>
            <a:ext cx="4572000" cy="1243584"/>
          </a:xfrm>
          <a:prstGeom prst="roundRect">
            <a:avLst>
              <a:gd fmla="val 5147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_a.png" id="1298" name="Google Shape;129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4476" y="5044196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Google Shape;1299;p56"/>
          <p:cNvSpPr txBox="1"/>
          <p:nvPr/>
        </p:nvSpPr>
        <p:spPr>
          <a:xfrm>
            <a:off x="7635240" y="4956048"/>
            <a:ext cx="388620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4413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5A4413"/>
                </a:solidFill>
                <a:latin typeface="Calibri"/>
                <a:ea typeface="Calibri"/>
                <a:cs typeface="Calibri"/>
                <a:sym typeface="Calibri"/>
              </a:rPr>
              <a:t>If a pair's CV-test gap exceeds 3 std, treat it as a live investigation with the room watching — it is almost always the stale-kernel unfiltered-RFM ghost, and catching it publicly on Day 4 is a gift.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56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62E"/>
        </a:solidFill>
      </p:bgPr>
    </p:bg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57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3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57"/>
          <p:cNvSpPr txBox="1"/>
          <p:nvPr/>
        </p:nvSpPr>
        <p:spPr>
          <a:xfrm>
            <a:off x="640080" y="105156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000"/>
              <a:buFont typeface="Calibri"/>
              <a:buNone/>
            </a:pPr>
            <a:r>
              <a:rPr b="1" i="0" lang="en-US" sz="120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57"/>
          <p:cNvSpPr txBox="1"/>
          <p:nvPr/>
        </p:nvSpPr>
        <p:spPr>
          <a:xfrm>
            <a:off x="676656" y="29718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33B"/>
                </a:solidFill>
                <a:latin typeface="Calibri"/>
                <a:ea typeface="Calibri"/>
                <a:cs typeface="Calibri"/>
                <a:sym typeface="Calibri"/>
              </a:rPr>
              <a:t>DAY 5 · ALL HOURS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57"/>
          <p:cNvSpPr/>
          <p:nvPr/>
        </p:nvSpPr>
        <p:spPr>
          <a:xfrm>
            <a:off x="676656" y="5120640"/>
            <a:ext cx="777240" cy="777240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rophy_w.png" id="1310" name="Google Shape;131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194" y="530717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57"/>
          <p:cNvSpPr txBox="1"/>
          <p:nvPr/>
        </p:nvSpPr>
        <p:spPr>
          <a:xfrm>
            <a:off x="4526280" y="1371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57"/>
          <p:cNvSpPr txBox="1"/>
          <p:nvPr/>
        </p:nvSpPr>
        <p:spPr>
          <a:xfrm>
            <a:off x="4480560" y="1737360"/>
            <a:ext cx="7132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Capstone — End-to-End Project on Real Data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57"/>
          <p:cNvSpPr txBox="1"/>
          <p:nvPr/>
        </p:nvSpPr>
        <p:spPr>
          <a:xfrm>
            <a:off x="4480560" y="3127248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5BD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9FC5BD"/>
                </a:solidFill>
                <a:latin typeface="Calibri"/>
                <a:ea typeface="Calibri"/>
                <a:cs typeface="Calibri"/>
                <a:sym typeface="Calibri"/>
              </a:rPr>
              <a:t>المشروع الختامي: نمذجة متكاملة على بيانات حقيقية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57"/>
          <p:cNvSpPr txBox="1"/>
          <p:nvPr/>
        </p:nvSpPr>
        <p:spPr>
          <a:xfrm>
            <a:off x="4526280" y="3886200"/>
            <a:ext cx="70408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For four days you executed the workflow with an instructor at your shoulder and a golden thread beneath your feet — the capstone removes both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Teams of two · a real public dataset from the vetted menu · one day, unassisted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Nothing new is taught on Day 5; everything needed was built in Labs 1–7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  <a:buClr>
                <a:srgbClr val="D8E6E2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The capstone's claim is the course's claim: the WORKFLOW transfers, not the dataset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58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58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58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Vetted Dataset Menu — Every Option Hides a Trap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58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Chosen at Day 4 H5 kickoff. The trap is part of the assessment: finding and neutralising it demonstrates LO6.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24" name="Google Shape;1324;p58"/>
          <p:cNvGraphicFramePr/>
          <p:nvPr/>
        </p:nvGraphicFramePr>
        <p:xfrm>
          <a:off x="566928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{E0CDE1C1-62A7-44C6-83CE-F4AE5E7467F2}</a:tableStyleId>
              </a:tblPr>
              <a:tblGrid>
                <a:gridCol w="2743200"/>
                <a:gridCol w="1920250"/>
                <a:gridCol w="6391650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trap the rubric watches for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Telco customer churn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Binary, imbalanced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TotalCharges near-duplicates tenure × monthly — collinearity &amp; interpretation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Hotel booking cancellations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Binary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reservation_status leaks the label outright; deposit-type is a near-leak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Bike-sharing hourly demand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Regression, temporal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split is fiction — temporal split + calendar features mandatory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Bank marketing (term deposits)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Binary, imbalanced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duration is only known after the call — the canonical leakage column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Used-car listings prices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Regression, long tail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 target; rare models need a refuse-to-predict boundary (Markabat, M2)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 retail transactions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Regression via RFM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Unit-of-analysis: transactions → customer snapshots without future rows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25" name="Google Shape;1325;p58"/>
          <p:cNvSpPr/>
          <p:nvPr/>
        </p:nvSpPr>
        <p:spPr>
          <a:xfrm>
            <a:off x="566928" y="5559552"/>
            <a:ext cx="11055096" cy="731520"/>
          </a:xfrm>
          <a:prstGeom prst="roundRect">
            <a:avLst>
              <a:gd fmla="val 8750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58"/>
          <p:cNvSpPr txBox="1"/>
          <p:nvPr/>
        </p:nvSpPr>
        <p:spPr>
          <a:xfrm>
            <a:off x="777240" y="5605272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Own dataset? </a:t>
            </a:r>
            <a:r>
              <a:rPr b="0" i="0" lang="en-US" sz="10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Instructor approval required: ≥ 5,000 rows, a defensible target, no personal data requiring PDPL review, mirrored to the shared drive by Day 4 evening — classroom networks and public dataset hosts do not mix on demo day.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58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59"/>
          <p:cNvSpPr/>
          <p:nvPr/>
        </p:nvSpPr>
        <p:spPr>
          <a:xfrm>
            <a:off x="566928" y="329184"/>
            <a:ext cx="1325880" cy="292608"/>
          </a:xfrm>
          <a:prstGeom prst="roundRect">
            <a:avLst>
              <a:gd fmla="val 50000" name="adj"/>
            </a:avLst>
          </a:prstGeom>
          <a:solidFill>
            <a:srgbClr val="1B3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59"/>
          <p:cNvSpPr txBox="1"/>
          <p:nvPr/>
        </p:nvSpPr>
        <p:spPr>
          <a:xfrm>
            <a:off x="566928" y="329184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59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Flagship Dataset — Online Retail II (UCI): Manafeth, But Real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59"/>
          <p:cNvSpPr/>
          <p:nvPr/>
        </p:nvSpPr>
        <p:spPr>
          <a:xfrm>
            <a:off x="566928" y="1463040"/>
            <a:ext cx="11055096" cy="1170432"/>
          </a:xfrm>
          <a:prstGeom prst="roundRect">
            <a:avLst>
              <a:gd fmla="val 5469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9"/>
          <p:cNvSpPr/>
          <p:nvPr/>
        </p:nvSpPr>
        <p:spPr>
          <a:xfrm>
            <a:off x="777240" y="1627632"/>
            <a:ext cx="475488" cy="475488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tore_w.png" id="1337" name="Google Shape;133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357" y="1741749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59"/>
          <p:cNvSpPr txBox="1"/>
          <p:nvPr/>
        </p:nvSpPr>
        <p:spPr>
          <a:xfrm>
            <a:off x="1417320" y="155448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60"/>
              <a:buFont typeface="Calibri"/>
              <a:buNone/>
            </a:pPr>
            <a:r>
              <a:rPr b="0" i="0" lang="en-US" sz="11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1,067,371 real online-retail transactions over two years (Dec 2009 – Dec 2011): customer, invoice, product, quantity, timestamp, price, country. UCI lists it as suitable for classification, regression AND clustering — everything the golden thread built this week can be rebuilt here, from raw transactions, by you. License CC BY 4.0. The recommended default for most teams.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59"/>
          <p:cNvSpPr/>
          <p:nvPr/>
        </p:nvSpPr>
        <p:spPr>
          <a:xfrm>
            <a:off x="566928" y="2816352"/>
            <a:ext cx="5440680" cy="3246120"/>
          </a:xfrm>
          <a:prstGeom prst="roundRect">
            <a:avLst>
              <a:gd fmla="val 197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9"/>
          <p:cNvSpPr txBox="1"/>
          <p:nvPr/>
        </p:nvSpPr>
        <p:spPr>
          <a:xfrm>
            <a:off x="804672" y="296265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Derivable — the whole Manafeth feature set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59"/>
          <p:cNvSpPr txBox="1"/>
          <p:nvPr/>
        </p:nvSpPr>
        <p:spPr>
          <a:xfrm>
            <a:off x="804672" y="3346704"/>
            <a:ext cx="50292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basket_value · order_frequency · recency / frequency / monetary · cancellation behaviour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churn proxy over a 90-day forward horizon · customer-lifetime features · customer segments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Suggested framing: customers active in the last 12 months — who makes no purchase in the next 90 days? (snapshot 2011-09-01)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Prep &amp; audit reference: capstone_kit/prepare_online_retail_ii.py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59"/>
          <p:cNvSpPr/>
          <p:nvPr/>
        </p:nvSpPr>
        <p:spPr>
          <a:xfrm>
            <a:off x="6199632" y="2816352"/>
            <a:ext cx="5440680" cy="1828800"/>
          </a:xfrm>
          <a:prstGeom prst="roundRect">
            <a:avLst>
              <a:gd fmla="val 3500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59"/>
          <p:cNvSpPr txBox="1"/>
          <p:nvPr/>
        </p:nvSpPr>
        <p:spPr>
          <a:xfrm>
            <a:off x="6437376" y="296265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traps the rubric watches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59"/>
          <p:cNvSpPr txBox="1"/>
          <p:nvPr/>
        </p:nvSpPr>
        <p:spPr>
          <a:xfrm>
            <a:off x="6437376" y="3328416"/>
            <a:ext cx="5029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Transactions → customer-snapshots with no future rows (the snapshot filter, rebuilt from scratch)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Cancellation invoices (prefix C, negative quantities) · ~23% anonymous rows · Christmas ≈ Ramadan seasonality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59"/>
          <p:cNvSpPr/>
          <p:nvPr/>
        </p:nvSpPr>
        <p:spPr>
          <a:xfrm>
            <a:off x="6199632" y="4828032"/>
            <a:ext cx="5440680" cy="1234440"/>
          </a:xfrm>
          <a:prstGeom prst="roundRect">
            <a:avLst>
              <a:gd fmla="val 5185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59"/>
          <p:cNvSpPr txBox="1"/>
          <p:nvPr/>
        </p:nvSpPr>
        <p:spPr>
          <a:xfrm>
            <a:off x="6437376" y="49377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Low-rework alternative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59"/>
          <p:cNvSpPr txBox="1"/>
          <p:nvPr/>
        </p:nvSpPr>
        <p:spPr>
          <a:xfrm>
            <a:off x="6437376" y="5266944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Kaggle E-Commerce churn (5,630 customers, already snapshot-level): drop-in for struggling teams — and harder to earn pipeline/feature points on. capstone_kit/CAPSTONE_DATASETS.md has the full menu.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59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60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60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60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Capstone Requirements &amp; Milestones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60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Eight mandatory requirements mapped to the rubric, plus at least one extension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60"/>
          <p:cNvSpPr txBox="1"/>
          <p:nvPr/>
        </p:nvSpPr>
        <p:spPr>
          <a:xfrm>
            <a:off x="566928" y="1691640"/>
            <a:ext cx="667512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080"/>
              <a:buFont typeface="Calibri"/>
              <a:buChar char="•"/>
            </a:pPr>
            <a:r>
              <a:rPr b="1" i="0" lang="en-US" sz="10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Framing canvas (FRAMING.md) committed BEFORE any modelling code — audited against notebook history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80"/>
              <a:buFont typeface="Calibri"/>
              <a:buChar char="•"/>
            </a:pPr>
            <a:r>
              <a:rPr b="0" i="0" lang="en-US" sz="10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Split discipline: stratified or temporal, justified in one sentence; test quarantined, exactly one evaluation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80"/>
              <a:buFont typeface="Calibri"/>
              <a:buChar char="•"/>
            </a:pPr>
            <a:r>
              <a:rPr b="0" i="0" lang="en-US" sz="10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Baselines: dummy + one domain heuristic, recorded before the first model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80"/>
              <a:buFont typeface="Calibri"/>
              <a:buChar char="•"/>
            </a:pPr>
            <a:r>
              <a:rPr b="0" i="0" lang="en-US" sz="10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Leakage-proof pipeline: all preprocessing in a Pipeline fit on train only; ≥ 2 engineered features; shuffled-label test reported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80"/>
              <a:buFont typeface="Calibri"/>
              <a:buChar char="•"/>
            </a:pPr>
            <a:r>
              <a:rPr b="0" i="0" lang="en-US" sz="10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Honest evaluation: ≥ 3 model families on shared folds, mean ± std; interpretable challenger mandatory; operating point from a stated constraint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80"/>
              <a:buFont typeface="Calibri"/>
              <a:buChar char="•"/>
            </a:pPr>
            <a:r>
              <a:rPr b="0" i="0" lang="en-US" sz="10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Error analysis: ≥ 2 findings with fixes; the planted trap found and neutralised (or argued away)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80"/>
              <a:buFont typeface="Calibri"/>
              <a:buChar char="•"/>
            </a:pPr>
            <a:r>
              <a:rPr b="0" i="0" lang="en-US" sz="10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Systematic tuning + final protocol: budget stated first; flatness read; refit; SINGLE test evaluation with CV-agreement check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080"/>
              <a:buFont typeface="Calibri"/>
              <a:buChar char="•"/>
            </a:pPr>
            <a:r>
              <a:rPr b="0" i="0" lang="en-US" sz="108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Model card: one page, the Lab 7 format — 8/8 sections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0B6B5D"/>
              </a:buClr>
              <a:buSzPts val="1080"/>
              <a:buFont typeface="Calibri"/>
              <a:buChar char="•"/>
            </a:pPr>
            <a:r>
              <a:rPr b="0" i="0" lang="en-US" sz="1080" u="none" cap="none" strike="noStrike">
                <a:solidFill>
                  <a:srgbClr val="0B6B5D"/>
                </a:solidFill>
                <a:latin typeface="Calibri"/>
                <a:ea typeface="Calibri"/>
                <a:cs typeface="Calibri"/>
                <a:sym typeface="Calibri"/>
              </a:rPr>
              <a:t>Extensions (≥ 1): segmentation per the M6 protocol · calibration analysis · learning-curve investment memo · GroupKFold/TimeSeriesSplit with inflation quantified · second-dataset framing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60"/>
          <p:cNvSpPr/>
          <p:nvPr/>
        </p:nvSpPr>
        <p:spPr>
          <a:xfrm>
            <a:off x="7498080" y="1691640"/>
            <a:ext cx="4133088" cy="3977640"/>
          </a:xfrm>
          <a:prstGeom prst="roundRect">
            <a:avLst>
              <a:gd fmla="val 1609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60"/>
          <p:cNvSpPr txBox="1"/>
          <p:nvPr/>
        </p:nvSpPr>
        <p:spPr>
          <a:xfrm>
            <a:off x="7699248" y="18288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Milestones gate on the clock, not on polish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60"/>
          <p:cNvSpPr/>
          <p:nvPr/>
        </p:nvSpPr>
        <p:spPr>
          <a:xfrm>
            <a:off x="7726680" y="2286000"/>
            <a:ext cx="402336" cy="402336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60"/>
          <p:cNvSpPr txBox="1"/>
          <p:nvPr/>
        </p:nvSpPr>
        <p:spPr>
          <a:xfrm>
            <a:off x="7726680" y="22860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60"/>
          <p:cNvSpPr txBox="1"/>
          <p:nvPr/>
        </p:nvSpPr>
        <p:spPr>
          <a:xfrm>
            <a:off x="8247888" y="2231136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960"/>
              <a:buFont typeface="Calibri"/>
              <a:buNone/>
            </a:pPr>
            <a:r>
              <a:rPr b="1" i="0" lang="en-US" sz="9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End H1 — </a:t>
            </a:r>
            <a:r>
              <a:rPr b="0" i="0" lang="en-US" sz="9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Framed &amp; split — FRAMING.md committed; quarantine declared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60"/>
          <p:cNvSpPr/>
          <p:nvPr/>
        </p:nvSpPr>
        <p:spPr>
          <a:xfrm>
            <a:off x="7726680" y="2944368"/>
            <a:ext cx="402336" cy="402336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60"/>
          <p:cNvSpPr txBox="1"/>
          <p:nvPr/>
        </p:nvSpPr>
        <p:spPr>
          <a:xfrm>
            <a:off x="7726680" y="29443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60"/>
          <p:cNvSpPr txBox="1"/>
          <p:nvPr/>
        </p:nvSpPr>
        <p:spPr>
          <a:xfrm>
            <a:off x="8247888" y="2889504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960"/>
              <a:buFont typeface="Calibri"/>
              <a:buNone/>
            </a:pPr>
            <a:r>
              <a:rPr b="1" i="0" lang="en-US" sz="9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End H2 — </a:t>
            </a:r>
            <a:r>
              <a:rPr b="0" i="0" lang="en-US" sz="9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Pipeline &amp; baselines — shuffled-label test green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60"/>
          <p:cNvSpPr/>
          <p:nvPr/>
        </p:nvSpPr>
        <p:spPr>
          <a:xfrm>
            <a:off x="7726680" y="3602736"/>
            <a:ext cx="402336" cy="402336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60"/>
          <p:cNvSpPr txBox="1"/>
          <p:nvPr/>
        </p:nvSpPr>
        <p:spPr>
          <a:xfrm>
            <a:off x="7726680" y="360273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60"/>
          <p:cNvSpPr txBox="1"/>
          <p:nvPr/>
        </p:nvSpPr>
        <p:spPr>
          <a:xfrm>
            <a:off x="8247888" y="3547872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960"/>
              <a:buFont typeface="Calibri"/>
              <a:buNone/>
            </a:pPr>
            <a:r>
              <a:rPr b="1" i="0" lang="en-US" sz="9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End H3 — </a:t>
            </a:r>
            <a:r>
              <a:rPr b="0" i="0" lang="en-US" sz="9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≥ 3 models on shared folds; 2 findings; search within budget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60"/>
          <p:cNvSpPr/>
          <p:nvPr/>
        </p:nvSpPr>
        <p:spPr>
          <a:xfrm>
            <a:off x="7726680" y="4261104"/>
            <a:ext cx="402336" cy="402336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60"/>
          <p:cNvSpPr txBox="1"/>
          <p:nvPr/>
        </p:nvSpPr>
        <p:spPr>
          <a:xfrm>
            <a:off x="7726680" y="426110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60"/>
          <p:cNvSpPr txBox="1"/>
          <p:nvPr/>
        </p:nvSpPr>
        <p:spPr>
          <a:xfrm>
            <a:off x="8247888" y="4206240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960"/>
              <a:buFont typeface="Calibri"/>
              <a:buNone/>
            </a:pPr>
            <a:r>
              <a:rPr b="1" i="0" lang="en-US" sz="9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End H4 — </a:t>
            </a:r>
            <a:r>
              <a:rPr b="0" i="0" lang="en-US" sz="9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Single test evaluation; model card complete; peer review signed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60"/>
          <p:cNvSpPr/>
          <p:nvPr/>
        </p:nvSpPr>
        <p:spPr>
          <a:xfrm>
            <a:off x="7726680" y="4919472"/>
            <a:ext cx="402336" cy="402336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60"/>
          <p:cNvSpPr txBox="1"/>
          <p:nvPr/>
        </p:nvSpPr>
        <p:spPr>
          <a:xfrm>
            <a:off x="7726680" y="491947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60"/>
          <p:cNvSpPr txBox="1"/>
          <p:nvPr/>
        </p:nvSpPr>
        <p:spPr>
          <a:xfrm>
            <a:off x="8247888" y="4864608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960"/>
              <a:buFont typeface="Calibri"/>
              <a:buNone/>
            </a:pPr>
            <a:r>
              <a:rPr b="1" i="0" lang="en-US" sz="9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H5 — </a:t>
            </a:r>
            <a:r>
              <a:rPr b="0" i="0" lang="en-US" sz="9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5-minute demo — rubric scoring live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60"/>
          <p:cNvSpPr/>
          <p:nvPr/>
        </p:nvSpPr>
        <p:spPr>
          <a:xfrm>
            <a:off x="7498080" y="5806440"/>
            <a:ext cx="4133088" cy="502920"/>
          </a:xfrm>
          <a:prstGeom prst="roundRect">
            <a:avLst>
              <a:gd fmla="val 12727" name="adj"/>
            </a:avLst>
          </a:prstGeom>
          <a:solidFill>
            <a:srgbClr val="FBF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60"/>
          <p:cNvSpPr txBox="1"/>
          <p:nvPr/>
        </p:nvSpPr>
        <p:spPr>
          <a:xfrm>
            <a:off x="7680960" y="5833872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441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A4413"/>
                </a:solidFill>
                <a:latin typeface="Calibri"/>
                <a:ea typeface="Calibri"/>
                <a:cs typeface="Calibri"/>
                <a:sym typeface="Calibri"/>
              </a:rPr>
              <a:t>A team still “improving features” at Hour 3 ships a worse project than one that froze and evaluated honestly.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60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61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61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6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Capstone Grading Rubric — 100 Points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61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Pass ≥ 70 · Distinction ≥ 90 · extensions add up to +5 bonus only if mandatory scope scores ≥ 80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8" name="Google Shape;1388;p61"/>
          <p:cNvGraphicFramePr/>
          <p:nvPr/>
        </p:nvGraphicFramePr>
        <p:xfrm>
          <a:off x="566928" y="1627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{E0CDE1C1-62A7-44C6-83CE-F4AE5E7467F2}</a:tableStyleId>
              </a:tblPr>
              <a:tblGrid>
                <a:gridCol w="3017525"/>
                <a:gridCol w="822950"/>
                <a:gridCol w="72146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Criterion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Weight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the top band looks like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6B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 framing &amp; data discipline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Canvas precise and mechanically checkable; split justified; quarantine airtight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 &amp; feature engineering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preprocessing pipeline-packaged; ≥ 2 engineered features with measured lift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Baselines &amp; model comparison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Dummy + heuristic + interpretable challenger + champion, same folds, ± std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Evaluation &amp; error analysis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 matches the framed decision; operating point from a stated constraint; 2+ findings with fixes; the trap found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Tuning &amp; final protocol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Budget stated first; flatness read; single test evaluation; CV-agreement articulated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card &amp; notebook narrative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Card auditable by a stranger; notebook reads as an argument, not a scratchpad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2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Crisp, evidence-first; the agreement moment landed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89" name="Google Shape;1389;p61"/>
          <p:cNvSpPr/>
          <p:nvPr/>
        </p:nvSpPr>
        <p:spPr>
          <a:xfrm>
            <a:off x="566928" y="5650992"/>
            <a:ext cx="11055096" cy="676656"/>
          </a:xfrm>
          <a:prstGeom prst="roundRect">
            <a:avLst>
              <a:gd fmla="val 9459" name="adj"/>
            </a:avLst>
          </a:prstGeom>
          <a:solidFill>
            <a:srgbClr val="F7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61"/>
          <p:cNvSpPr txBox="1"/>
          <p:nvPr/>
        </p:nvSpPr>
        <p:spPr>
          <a:xfrm>
            <a:off x="777240" y="5687568"/>
            <a:ext cx="10607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8502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8502F"/>
                </a:solidFill>
                <a:latin typeface="Calibri"/>
                <a:ea typeface="Calibri"/>
                <a:cs typeface="Calibri"/>
                <a:sym typeface="Calibri"/>
              </a:rPr>
              <a:t>Anti-pattern flags that cap a criterion at 70%: </a:t>
            </a:r>
            <a:r>
              <a:rPr b="0" i="0" lang="en-US" sz="10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test score anywhere before Hour 4 · shuffled-label test run but not shown · mismatched folds · a “found” trap with no evidence of when. Grade from repository evidence first — commit order proves the split-before-EDA claim.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61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62"/>
          <p:cNvSpPr/>
          <p:nvPr/>
        </p:nvSpPr>
        <p:spPr>
          <a:xfrm>
            <a:off x="566928" y="329184"/>
            <a:ext cx="950976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62"/>
          <p:cNvSpPr txBox="1"/>
          <p:nvPr/>
        </p:nvSpPr>
        <p:spPr>
          <a:xfrm>
            <a:off x="566928" y="329184"/>
            <a:ext cx="9509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62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Assessment &amp; the Core ML Badge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0" name="Google Shape;1400;p62"/>
          <p:cNvGraphicFramePr/>
          <p:nvPr/>
        </p:nvGraphicFramePr>
        <p:xfrm>
          <a:off x="566928" y="1554480"/>
          <a:ext cx="6126480" cy="30175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401" name="Google Shape;1401;p62"/>
          <p:cNvSpPr/>
          <p:nvPr/>
        </p:nvSpPr>
        <p:spPr>
          <a:xfrm>
            <a:off x="6949440" y="1554480"/>
            <a:ext cx="4681728" cy="3017520"/>
          </a:xfrm>
          <a:prstGeom prst="roundRect">
            <a:avLst>
              <a:gd fmla="val 2121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62"/>
          <p:cNvSpPr txBox="1"/>
          <p:nvPr/>
        </p:nvSpPr>
        <p:spPr>
          <a:xfrm>
            <a:off x="7150608" y="16916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two practical assessments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62"/>
          <p:cNvSpPr txBox="1"/>
          <p:nvPr/>
        </p:nvSpPr>
        <p:spPr>
          <a:xfrm>
            <a:off x="7150608" y="2103120"/>
            <a:ext cx="42976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060"/>
              <a:buFont typeface="Calibri"/>
              <a:buChar char="•"/>
            </a:pPr>
            <a:r>
              <a:rPr b="0" i="0" lang="en-US" sz="10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PA-1 — The Sabotaged Notebook (Day 3, 30 min): three planted violations; each named, its inflation quantified by honest re-run, the corrected number stated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800"/>
              </a:spcBef>
              <a:spcAft>
                <a:spcPts val="0"/>
              </a:spcAft>
              <a:buClr>
                <a:srgbClr val="12262E"/>
              </a:buClr>
              <a:buSzPts val="1060"/>
              <a:buFont typeface="Calibri"/>
              <a:buChar char="•"/>
            </a:pPr>
            <a:r>
              <a:rPr b="0" i="0" lang="en-US" sz="10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PA-2 — The Evaluation Triage (Day 4, 30 min): a “model approval request” with two admissibility flaws; write the validator's response — what is admissible, what must be redone, the exact redo protocol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62"/>
          <p:cNvSpPr/>
          <p:nvPr/>
        </p:nvSpPr>
        <p:spPr>
          <a:xfrm>
            <a:off x="566928" y="4846320"/>
            <a:ext cx="11055096" cy="1371600"/>
          </a:xfrm>
          <a:prstGeom prst="roundRect">
            <a:avLst>
              <a:gd fmla="val 4667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62"/>
          <p:cNvSpPr/>
          <p:nvPr/>
        </p:nvSpPr>
        <p:spPr>
          <a:xfrm>
            <a:off x="804672" y="5120640"/>
            <a:ext cx="566928" cy="566928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rophy_w.png" id="1406" name="Google Shape;1406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0735" y="525670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62"/>
          <p:cNvSpPr txBox="1"/>
          <p:nvPr/>
        </p:nvSpPr>
        <p:spPr>
          <a:xfrm>
            <a:off x="1600200" y="4983480"/>
            <a:ext cx="9875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ML badge: </a:t>
            </a:r>
            <a:r>
              <a:rPr b="0" i="0" lang="en-US" sz="120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≥ 70 overall AND capstone ≥ 70 AND zero academic-integrity flags (identical authored content across teams is checked; shared seeds make identical baselines expected — the check targets authored work). Required for all Specialist AI Engineer modules and DSC-211. Badge recommendations issued within 5 working days.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62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63"/>
          <p:cNvSpPr/>
          <p:nvPr/>
        </p:nvSpPr>
        <p:spPr>
          <a:xfrm>
            <a:off x="566928" y="329184"/>
            <a:ext cx="72603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63"/>
          <p:cNvSpPr txBox="1"/>
          <p:nvPr/>
        </p:nvSpPr>
        <p:spPr>
          <a:xfrm>
            <a:off x="566928" y="329184"/>
            <a:ext cx="7260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63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Scoreboard Retrospective — What Each Jump Cost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63"/>
          <p:cNvSpPr txBox="1"/>
          <p:nvPr/>
        </p:nvSpPr>
        <p:spPr>
          <a:xfrm>
            <a:off x="566928" y="1170432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recall@20% across the week: framing, features, ensembles, tuning — in that order of value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8" name="Google Shape;1418;p63"/>
          <p:cNvGraphicFramePr/>
          <p:nvPr/>
        </p:nvGraphicFramePr>
        <p:xfrm>
          <a:off x="566928" y="1691640"/>
          <a:ext cx="7406640" cy="4114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419" name="Google Shape;1419;p63"/>
          <p:cNvSpPr/>
          <p:nvPr/>
        </p:nvSpPr>
        <p:spPr>
          <a:xfrm>
            <a:off x="8229600" y="1691640"/>
            <a:ext cx="3401568" cy="4114800"/>
          </a:xfrm>
          <a:prstGeom prst="roundRect">
            <a:avLst>
              <a:gd fmla="val 1882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63"/>
          <p:cNvSpPr txBox="1"/>
          <p:nvPr/>
        </p:nvSpPr>
        <p:spPr>
          <a:xfrm>
            <a:off x="8430768" y="18288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PR-AUC track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63"/>
          <p:cNvSpPr txBox="1"/>
          <p:nvPr/>
        </p:nvSpPr>
        <p:spPr>
          <a:xfrm>
            <a:off x="8458200" y="2212848"/>
            <a:ext cx="30175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2262E"/>
                </a:solidFill>
                <a:latin typeface="Courier New"/>
                <a:ea typeface="Courier New"/>
                <a:cs typeface="Courier New"/>
                <a:sym typeface="Courier New"/>
              </a:rPr>
              <a:t>dummy        0.141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2262E"/>
                </a:solidFill>
                <a:latin typeface="Courier New"/>
                <a:ea typeface="Courier New"/>
                <a:cs typeface="Courier New"/>
                <a:sym typeface="Courier New"/>
              </a:rPr>
              <a:t>logistic     0.531 CV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2262E"/>
                </a:solidFill>
                <a:latin typeface="Courier New"/>
                <a:ea typeface="Courier New"/>
                <a:cs typeface="Courier New"/>
                <a:sym typeface="Courier New"/>
              </a:rPr>
              <a:t>XGBoost      0.598 CV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2262E"/>
                </a:solidFill>
                <a:latin typeface="Courier New"/>
                <a:ea typeface="Courier New"/>
                <a:cs typeface="Courier New"/>
                <a:sym typeface="Courier New"/>
              </a:rPr>
              <a:t>+ segments   0.607 CV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2262E"/>
                </a:solidFill>
                <a:latin typeface="Courier New"/>
                <a:ea typeface="Courier New"/>
                <a:cs typeface="Courier New"/>
                <a:sym typeface="Courier New"/>
              </a:rPr>
              <a:t>tuned        0.612 CV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2262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2262E"/>
                </a:solidFill>
                <a:latin typeface="Courier New"/>
                <a:ea typeface="Courier New"/>
                <a:cs typeface="Courier New"/>
                <a:sym typeface="Courier New"/>
              </a:rPr>
              <a:t>TEST (once)  0.607 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63"/>
          <p:cNvSpPr txBox="1"/>
          <p:nvPr/>
        </p:nvSpPr>
        <p:spPr>
          <a:xfrm>
            <a:off x="8430768" y="4343400"/>
            <a:ext cx="3017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Map the week onto the workflow poster one last time: every capstone requirement traces to the module that taught it — the padlock closes the loop it opened on Day 1.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63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64"/>
          <p:cNvSpPr/>
          <p:nvPr/>
        </p:nvSpPr>
        <p:spPr>
          <a:xfrm>
            <a:off x="566928" y="329184"/>
            <a:ext cx="801014" cy="292608"/>
          </a:xfrm>
          <a:prstGeom prst="roundRect">
            <a:avLst>
              <a:gd fmla="val 50000" name="adj"/>
            </a:avLst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64"/>
          <p:cNvSpPr txBox="1"/>
          <p:nvPr/>
        </p:nvSpPr>
        <p:spPr>
          <a:xfrm>
            <a:off x="566928" y="329184"/>
            <a:ext cx="80101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PATHWAYS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64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Where the Thread Goes Next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64"/>
          <p:cNvSpPr/>
          <p:nvPr/>
        </p:nvSpPr>
        <p:spPr>
          <a:xfrm>
            <a:off x="566928" y="1554480"/>
            <a:ext cx="5486400" cy="1536192"/>
          </a:xfrm>
          <a:prstGeom prst="roundRect">
            <a:avLst>
              <a:gd fmla="val 4167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64"/>
          <p:cNvSpPr/>
          <p:nvPr/>
        </p:nvSpPr>
        <p:spPr>
          <a:xfrm>
            <a:off x="731520" y="1737360"/>
            <a:ext cx="475488" cy="475488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rocket_w.png" id="1434" name="Google Shape;143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637" y="185147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64"/>
          <p:cNvSpPr txBox="1"/>
          <p:nvPr/>
        </p:nvSpPr>
        <p:spPr>
          <a:xfrm>
            <a:off x="1344168" y="181051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SDA-AIE-112 — Deep Learning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64"/>
          <p:cNvSpPr txBox="1"/>
          <p:nvPr/>
        </p:nvSpPr>
        <p:spPr>
          <a:xfrm>
            <a:off x="749808" y="2267712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The same loss-minimisation picture with a different function family — as promised in Module 2's gradient-descent view.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64"/>
          <p:cNvSpPr/>
          <p:nvPr/>
        </p:nvSpPr>
        <p:spPr>
          <a:xfrm>
            <a:off x="6236208" y="1554480"/>
            <a:ext cx="5486400" cy="1536192"/>
          </a:xfrm>
          <a:prstGeom prst="roundRect">
            <a:avLst>
              <a:gd fmla="val 4167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64"/>
          <p:cNvSpPr/>
          <p:nvPr/>
        </p:nvSpPr>
        <p:spPr>
          <a:xfrm>
            <a:off x="6400800" y="1737360"/>
            <a:ext cx="475488" cy="475488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de_w.png" id="1439" name="Google Shape;1439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4917" y="185147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64"/>
          <p:cNvSpPr txBox="1"/>
          <p:nvPr/>
        </p:nvSpPr>
        <p:spPr>
          <a:xfrm>
            <a:off x="7013448" y="181051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SDA-AIE-113 — Serving &amp; Deployment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64"/>
          <p:cNvSpPr txBox="1"/>
          <p:nvPr/>
        </p:nvSpPr>
        <p:spPr>
          <a:xfrm>
            <a:off x="6419088" y="2267712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Consumes exactly the pipeline + model card artefacts built here: pipeline.predict(raw_row), config management, the receiving engineer who reads the card first.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64"/>
          <p:cNvSpPr/>
          <p:nvPr/>
        </p:nvSpPr>
        <p:spPr>
          <a:xfrm>
            <a:off x="566928" y="3246120"/>
            <a:ext cx="5486400" cy="1536192"/>
          </a:xfrm>
          <a:prstGeom prst="roundRect">
            <a:avLst>
              <a:gd fmla="val 4167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64"/>
          <p:cNvSpPr/>
          <p:nvPr/>
        </p:nvSpPr>
        <p:spPr>
          <a:xfrm>
            <a:off x="731520" y="3429000"/>
            <a:ext cx="475488" cy="475488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b_w.png" id="1444" name="Google Shape;1444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637" y="35431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64"/>
          <p:cNvSpPr txBox="1"/>
          <p:nvPr/>
        </p:nvSpPr>
        <p:spPr>
          <a:xfrm>
            <a:off x="1344168" y="35021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SDA-DSC-211 — Data Scientist track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64"/>
          <p:cNvSpPr txBox="1"/>
          <p:nvPr/>
        </p:nvSpPr>
        <p:spPr>
          <a:xfrm>
            <a:off x="749808" y="3959352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Cross-lists this module; the Core ML badge unlocks all Specialist AI Engineer modules.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64"/>
          <p:cNvSpPr/>
          <p:nvPr/>
        </p:nvSpPr>
        <p:spPr>
          <a:xfrm>
            <a:off x="6236208" y="3246120"/>
            <a:ext cx="5486400" cy="1536192"/>
          </a:xfrm>
          <a:prstGeom prst="roundRect">
            <a:avLst>
              <a:gd fmla="val 4167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64"/>
          <p:cNvSpPr/>
          <p:nvPr/>
        </p:nvSpPr>
        <p:spPr>
          <a:xfrm>
            <a:off x="6400800" y="3429000"/>
            <a:ext cx="475488" cy="475488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hield_w.png" id="1449" name="Google Shape;1449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4917" y="35431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1450" name="Google Shape;1450;p64"/>
          <p:cNvSpPr txBox="1"/>
          <p:nvPr/>
        </p:nvSpPr>
        <p:spPr>
          <a:xfrm>
            <a:off x="7013448" y="35021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SDA-AIE-216 — MLOps &amp; Monitoring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64"/>
          <p:cNvSpPr txBox="1"/>
          <p:nvPr/>
        </p:nvSpPr>
        <p:spPr>
          <a:xfrm>
            <a:off x="6419088" y="3959352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54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33454C"/>
                </a:solidFill>
                <a:latin typeface="Calibri"/>
                <a:ea typeface="Calibri"/>
                <a:cs typeface="Calibri"/>
                <a:sym typeface="Calibri"/>
              </a:rPr>
              <a:t>Formalises the previews planted all week: champion/challenger shadow deployment, threshold-drift guards, compute governance on searches.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64"/>
          <p:cNvSpPr/>
          <p:nvPr/>
        </p:nvSpPr>
        <p:spPr>
          <a:xfrm>
            <a:off x="566928" y="5120640"/>
            <a:ext cx="11055096" cy="1051560"/>
          </a:xfrm>
          <a:prstGeom prst="roundRect">
            <a:avLst>
              <a:gd fmla="val 6087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64"/>
          <p:cNvSpPr/>
          <p:nvPr/>
        </p:nvSpPr>
        <p:spPr>
          <a:xfrm>
            <a:off x="777240" y="5330952"/>
            <a:ext cx="548640" cy="548640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rad_w.png" id="1454" name="Google Shape;1454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8914" y="5462626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55" name="Google Shape;1455;p64"/>
          <p:cNvSpPr txBox="1"/>
          <p:nvPr/>
        </p:nvSpPr>
        <p:spPr>
          <a:xfrm>
            <a:off x="1481328" y="5230368"/>
            <a:ext cx="9966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230"/>
              <a:buFont typeface="Calibri"/>
              <a:buNone/>
            </a:pPr>
            <a:r>
              <a:rPr b="1" i="0" lang="en-US" sz="123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forward pointer that matters most: </a:t>
            </a:r>
            <a:r>
              <a:rPr b="0" i="0" lang="en-US" sz="123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participants leave having proven — twice — that the disciplined path is also the fast path. The workflow map, the framing canvas, and the model card travel with them into every module that follows.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64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65"/>
          <p:cNvSpPr/>
          <p:nvPr/>
        </p:nvSpPr>
        <p:spPr>
          <a:xfrm>
            <a:off x="566928" y="329184"/>
            <a:ext cx="1325880" cy="292608"/>
          </a:xfrm>
          <a:prstGeom prst="roundRect">
            <a:avLst>
              <a:gd fmla="val 50000" name="adj"/>
            </a:avLst>
          </a:prstGeom>
          <a:solidFill>
            <a:srgbClr val="1B3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65"/>
          <p:cNvSpPr txBox="1"/>
          <p:nvPr/>
        </p:nvSpPr>
        <p:spPr>
          <a:xfrm>
            <a:off x="566928" y="329184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65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Keep Going — Two Free References That Track This Course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65"/>
          <p:cNvSpPr/>
          <p:nvPr/>
        </p:nvSpPr>
        <p:spPr>
          <a:xfrm>
            <a:off x="566928" y="1463040"/>
            <a:ext cx="11055096" cy="1170432"/>
          </a:xfrm>
          <a:prstGeom prst="roundRect">
            <a:avLst>
              <a:gd fmla="val 5469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65"/>
          <p:cNvSpPr/>
          <p:nvPr/>
        </p:nvSpPr>
        <p:spPr>
          <a:xfrm>
            <a:off x="777240" y="1627632"/>
            <a:ext cx="475488" cy="475488"/>
          </a:xfrm>
          <a:prstGeom prst="ellipse">
            <a:avLst/>
          </a:prstGeom>
          <a:solidFill>
            <a:srgbClr val="0B6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tore_w.png" id="1466" name="Google Shape;146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357" y="1741749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1467" name="Google Shape;1467;p65"/>
          <p:cNvSpPr txBox="1"/>
          <p:nvPr/>
        </p:nvSpPr>
        <p:spPr>
          <a:xfrm>
            <a:off x="1417320" y="155448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60"/>
              <a:buFont typeface="Calibri"/>
              <a:buNone/>
            </a:pPr>
            <a:r>
              <a:rPr b="0" i="0" lang="en-US" sz="116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The labs end; the workflow doesn't. Two free, high-quality references retell every module — use them as evening pre-reading during the week and as the path onward after Day 5. The module-by-module map lives in RESOURCES.md in the course repository.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65"/>
          <p:cNvSpPr/>
          <p:nvPr/>
        </p:nvSpPr>
        <p:spPr>
          <a:xfrm>
            <a:off x="566928" y="2816352"/>
            <a:ext cx="5440680" cy="3246120"/>
          </a:xfrm>
          <a:prstGeom prst="roundRect">
            <a:avLst>
              <a:gd fmla="val 1972" name="adj"/>
            </a:avLst>
          </a:prstGeom>
          <a:solidFill>
            <a:srgbClr val="E7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65"/>
          <p:cNvSpPr txBox="1"/>
          <p:nvPr/>
        </p:nvSpPr>
        <p:spPr>
          <a:xfrm>
            <a:off x="804672" y="296265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UBC CPSC 330 — Applied Machine Learning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65"/>
          <p:cNvSpPr txBox="1"/>
          <p:nvPr/>
        </p:nvSpPr>
        <p:spPr>
          <a:xfrm>
            <a:off x="804672" y="3346704"/>
            <a:ext cx="50292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ubc-cs.github.io/cpsc330-2025W1 — the closest university course in spirit: sklearn-first, pipeline-disciplined, evaluation-obsessed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Lecture 8 (optimization bias) = our “best_score_ is a selection score” · Lecture 12 = our permutation-importance stance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7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Onward: recommenders, NLP, time series, survival analysis (churn, reframed)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65"/>
          <p:cNvSpPr/>
          <p:nvPr/>
        </p:nvSpPr>
        <p:spPr>
          <a:xfrm>
            <a:off x="6199632" y="2816352"/>
            <a:ext cx="5440680" cy="1828800"/>
          </a:xfrm>
          <a:prstGeom prst="roundRect">
            <a:avLst>
              <a:gd fmla="val 3500" name="adj"/>
            </a:avLst>
          </a:prstGeom>
          <a:solidFill>
            <a:srgbClr val="F2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65"/>
          <p:cNvSpPr txBox="1"/>
          <p:nvPr/>
        </p:nvSpPr>
        <p:spPr>
          <a:xfrm>
            <a:off x="6437376" y="296265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Google ML Crash Course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65"/>
          <p:cNvSpPr txBox="1"/>
          <p:nvPr/>
        </p:nvSpPr>
        <p:spPr>
          <a:xfrm>
            <a:off x="6437376" y="3328416"/>
            <a:ext cx="5029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127000" lvl="0" marL="1270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developers.google.com/machine-learning/crash-course — free interactive units with visualisations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12262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62E"/>
                </a:solidFill>
                <a:latin typeface="Calibri"/>
                <a:ea typeface="Calibri"/>
                <a:cs typeface="Calibri"/>
                <a:sym typeface="Calibri"/>
              </a:rPr>
              <a:t>Best for: loss &amp; gradient descent before M2 · thresholds, precision/recall, ROC before M4 · production ML &amp; fairness after the capstone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65"/>
          <p:cNvSpPr/>
          <p:nvPr/>
        </p:nvSpPr>
        <p:spPr>
          <a:xfrm>
            <a:off x="6199632" y="4828032"/>
            <a:ext cx="5440680" cy="1234440"/>
          </a:xfrm>
          <a:prstGeom prst="roundRect">
            <a:avLst>
              <a:gd fmla="val 5185" name="adj"/>
            </a:avLst>
          </a:prstGeom>
          <a:solidFill>
            <a:srgbClr val="12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65"/>
          <p:cNvSpPr txBox="1"/>
          <p:nvPr/>
        </p:nvSpPr>
        <p:spPr>
          <a:xfrm>
            <a:off x="6437376" y="49377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House rules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65"/>
          <p:cNvSpPr txBox="1"/>
          <p:nvPr/>
        </p:nvSpPr>
        <p:spPr>
          <a:xfrm>
            <a:off x="6437376" y="5266944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E6E2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D8E6E2"/>
                </a:solidFill>
                <a:latin typeface="Calibri"/>
                <a:ea typeface="Calibri"/>
                <a:cs typeface="Calibri"/>
                <a:sym typeface="Calibri"/>
              </a:rPr>
              <a:t>Never substitute a reading for a lab · at most two links per evening · CPSC 330 is CC BY-NC-SA: link, don't copy.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65"/>
          <p:cNvSpPr txBox="1"/>
          <p:nvPr/>
        </p:nvSpPr>
        <p:spPr>
          <a:xfrm>
            <a:off x="566928" y="6510528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078"/>
                </a:solidFill>
                <a:latin typeface="Calibri"/>
                <a:ea typeface="Calibri"/>
                <a:cs typeface="Calibri"/>
                <a:sym typeface="Calibri"/>
              </a:rPr>
              <a:t>SDAIA Academy — SDA-AIE-111 · Applied Machine Learning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62E"/>
        </a:solidFill>
      </p:bgPr>
    </p:bg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6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66"/>
          <p:cNvSpPr txBox="1"/>
          <p:nvPr/>
        </p:nvSpPr>
        <p:spPr>
          <a:xfrm>
            <a:off x="822960" y="137160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شكراً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66"/>
          <p:cNvSpPr txBox="1"/>
          <p:nvPr/>
        </p:nvSpPr>
        <p:spPr>
          <a:xfrm>
            <a:off x="822960" y="25146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8C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FA38C"/>
                </a:solidFill>
                <a:latin typeface="Calibri"/>
                <a:ea typeface="Calibri"/>
                <a:cs typeface="Calibri"/>
                <a:sym typeface="Calibri"/>
              </a:rPr>
              <a:t>Thank you — the workflow kept its promise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66"/>
          <p:cNvSpPr txBox="1"/>
          <p:nvPr/>
        </p:nvSpPr>
        <p:spPr>
          <a:xfrm>
            <a:off x="822960" y="393192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Split first · baseline always · the test set is spent once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FC6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FC6C0"/>
                </a:solidFill>
                <a:latin typeface="Calibri"/>
                <a:ea typeface="Calibri"/>
                <a:cs typeface="Calibri"/>
                <a:sym typeface="Calibri"/>
              </a:rPr>
              <a:t>SDAIA Academy · AI Engineering Track · SDA-AIE-111 — Applied Machine Learning Foundations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FC6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FC6C0"/>
                </a:solidFill>
                <a:latin typeface="Calibri"/>
                <a:ea typeface="Calibri"/>
                <a:cs typeface="Calibri"/>
                <a:sym typeface="Calibri"/>
              </a:rPr>
              <a:t>Instructor package: seven modules · seven labs · capstone rubric · Manafeth datasets (seed 42)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66"/>
          <p:cNvSpPr/>
          <p:nvPr/>
        </p:nvSpPr>
        <p:spPr>
          <a:xfrm>
            <a:off x="10607040" y="5394960"/>
            <a:ext cx="777240" cy="777240"/>
          </a:xfrm>
          <a:prstGeom prst="ellipse">
            <a:avLst/>
          </a:prstGeom>
          <a:solidFill>
            <a:srgbClr val="0FA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ock_w.png" id="1488" name="Google Shape;148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3578" y="5581498"/>
            <a:ext cx="404165" cy="404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2026-08-26T08:08:54Z</dcterms:created>
  <dc:creator>PptxGenJS</dc:creator>
</cp:coreProperties>
</file>