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177668aeb64a3d" /><Relationship Type="http://schemas.openxmlformats.org/officeDocument/2006/relationships/extended-properties" Target="/docProps/app.xml" Id="Rc2bb9588fd2146da" /><Relationship Type="http://schemas.openxmlformats.org/officeDocument/2006/relationships/officeDocument" Target="/ppt/presentation.xml" Id="R11b8929b72464d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9a19149f964794"/>
  </p:sldMasterIdLst>
  <p:notesMasterIdLst>
    <p:notesMasterId xmlns:r="http://schemas.openxmlformats.org/officeDocument/2006/relationships" r:id="R87ef515de87e4c9b"/>
  </p:notesMasterIdLst>
  <p:sldIdLst>
    <p:sldId xmlns:r="http://schemas.openxmlformats.org/officeDocument/2006/relationships" id="256" r:id="R6b55d867a6cd4d18"/>
    <p:sldId xmlns:r="http://schemas.openxmlformats.org/officeDocument/2006/relationships" id="257" r:id="R4fd2955539644885"/>
    <p:sldId xmlns:r="http://schemas.openxmlformats.org/officeDocument/2006/relationships" id="258" r:id="Red05333df33a4a46"/>
    <p:sldId xmlns:r="http://schemas.openxmlformats.org/officeDocument/2006/relationships" id="259" r:id="Reb3a1e036e784c3d"/>
    <p:sldId xmlns:r="http://schemas.openxmlformats.org/officeDocument/2006/relationships" id="260" r:id="R1e3d24b7a91e425e"/>
    <p:sldId xmlns:r="http://schemas.openxmlformats.org/officeDocument/2006/relationships" id="261" r:id="Re831a36e59b54897"/>
    <p:sldId xmlns:r="http://schemas.openxmlformats.org/officeDocument/2006/relationships" id="262" r:id="R03fd94c16b684991"/>
    <p:sldId xmlns:r="http://schemas.openxmlformats.org/officeDocument/2006/relationships" id="263" r:id="Rc61983e001834e6d"/>
    <p:sldId xmlns:r="http://schemas.openxmlformats.org/officeDocument/2006/relationships" id="264" r:id="Ra8e538a71ee54eee"/>
    <p:sldId xmlns:r="http://schemas.openxmlformats.org/officeDocument/2006/relationships" id="265" r:id="Rf00a45db23a4443e"/>
    <p:sldId xmlns:r="http://schemas.openxmlformats.org/officeDocument/2006/relationships" id="266" r:id="R7719ad01fd314bce"/>
    <p:sldId xmlns:r="http://schemas.openxmlformats.org/officeDocument/2006/relationships" id="267" r:id="R237732bab58940ed"/>
    <p:sldId xmlns:r="http://schemas.openxmlformats.org/officeDocument/2006/relationships" id="268" r:id="R9dff9563891d4006"/>
    <p:sldId xmlns:r="http://schemas.openxmlformats.org/officeDocument/2006/relationships" id="269" r:id="R1506141f309943e8"/>
    <p:sldId xmlns:r="http://schemas.openxmlformats.org/officeDocument/2006/relationships" id="270" r:id="R36ae6869b2f2452c"/>
    <p:sldId xmlns:r="http://schemas.openxmlformats.org/officeDocument/2006/relationships" id="271" r:id="R650a8ec6f2ab48b6"/>
    <p:sldId xmlns:r="http://schemas.openxmlformats.org/officeDocument/2006/relationships" id="272" r:id="Rc531da77fac74670"/>
    <p:sldId xmlns:r="http://schemas.openxmlformats.org/officeDocument/2006/relationships" id="273" r:id="R7837bb28104a4efe"/>
    <p:sldId xmlns:r="http://schemas.openxmlformats.org/officeDocument/2006/relationships" id="274" r:id="R8dc741cda25c4999"/>
    <p:sldId xmlns:r="http://schemas.openxmlformats.org/officeDocument/2006/relationships" id="275" r:id="R6af1e161ae9347df"/>
    <p:sldId xmlns:r="http://schemas.openxmlformats.org/officeDocument/2006/relationships" id="276" r:id="R43703eefedec4840"/>
    <p:sldId xmlns:r="http://schemas.openxmlformats.org/officeDocument/2006/relationships" id="277" r:id="R92fdd53eea094d99"/>
    <p:sldId xmlns:r="http://schemas.openxmlformats.org/officeDocument/2006/relationships" id="278" r:id="R19010af93e934a3a"/>
    <p:sldId xmlns:r="http://schemas.openxmlformats.org/officeDocument/2006/relationships" id="279" r:id="R9c863f95f9fd4367"/>
    <p:sldId xmlns:r="http://schemas.openxmlformats.org/officeDocument/2006/relationships" id="280" r:id="Rda18f91114604795"/>
    <p:sldId xmlns:r="http://schemas.openxmlformats.org/officeDocument/2006/relationships" id="281" r:id="R112bb8b9eba144fd"/>
    <p:sldId xmlns:r="http://schemas.openxmlformats.org/officeDocument/2006/relationships" id="282" r:id="Rcf614a97d2de47d6"/>
    <p:sldId xmlns:r="http://schemas.openxmlformats.org/officeDocument/2006/relationships" id="283" r:id="R74b38a53819945ac"/>
    <p:sldId xmlns:r="http://schemas.openxmlformats.org/officeDocument/2006/relationships" id="284" r:id="R5d7d30b393404689"/>
    <p:sldId xmlns:r="http://schemas.openxmlformats.org/officeDocument/2006/relationships" id="285" r:id="R1b4f04e4f9424795"/>
    <p:sldId xmlns:r="http://schemas.openxmlformats.org/officeDocument/2006/relationships" id="286" r:id="R4d9077793c214dbb"/>
    <p:sldId xmlns:r="http://schemas.openxmlformats.org/officeDocument/2006/relationships" id="287" r:id="R6e44033522944e98"/>
    <p:sldId xmlns:r="http://schemas.openxmlformats.org/officeDocument/2006/relationships" id="288" r:id="R8773d65f98f54f66"/>
    <p:sldId xmlns:r="http://schemas.openxmlformats.org/officeDocument/2006/relationships" id="289" r:id="R9b6f8d4d0edc4e8d"/>
    <p:sldId xmlns:r="http://schemas.openxmlformats.org/officeDocument/2006/relationships" id="290" r:id="Rc11cb1eea6064d9f"/>
    <p:sldId xmlns:r="http://schemas.openxmlformats.org/officeDocument/2006/relationships" id="291" r:id="R27eb056ad3e6465b"/>
    <p:sldId xmlns:r="http://schemas.openxmlformats.org/officeDocument/2006/relationships" id="292" r:id="Rd939fb03d43c4c59"/>
    <p:sldId xmlns:r="http://schemas.openxmlformats.org/officeDocument/2006/relationships" id="293" r:id="R8eff808410bd46a1"/>
    <p:sldId xmlns:r="http://schemas.openxmlformats.org/officeDocument/2006/relationships" id="294" r:id="R1ea9025b3daa4c5a"/>
    <p:sldId xmlns:r="http://schemas.openxmlformats.org/officeDocument/2006/relationships" id="295" r:id="R453c125963b5462a"/>
    <p:sldId xmlns:r="http://schemas.openxmlformats.org/officeDocument/2006/relationships" id="296" r:id="R5a462ecc01554421"/>
    <p:sldId xmlns:r="http://schemas.openxmlformats.org/officeDocument/2006/relationships" id="297" r:id="R2be1d40324e04f13"/>
    <p:sldId xmlns:r="http://schemas.openxmlformats.org/officeDocument/2006/relationships" id="298" r:id="R92683b5fa15a4629"/>
    <p:sldId xmlns:r="http://schemas.openxmlformats.org/officeDocument/2006/relationships" id="299" r:id="R3ef70e726c984513"/>
    <p:sldId xmlns:r="http://schemas.openxmlformats.org/officeDocument/2006/relationships" id="300" r:id="Rcaf2647c3ed54180"/>
    <p:sldId xmlns:r="http://schemas.openxmlformats.org/officeDocument/2006/relationships" id="301" r:id="R7586f291bb494420"/>
    <p:sldId xmlns:r="http://schemas.openxmlformats.org/officeDocument/2006/relationships" id="302" r:id="R34e3b58e4d7842d5"/>
    <p:sldId xmlns:r="http://schemas.openxmlformats.org/officeDocument/2006/relationships" id="303" r:id="Ra112235ab5594d47"/>
    <p:sldId xmlns:r="http://schemas.openxmlformats.org/officeDocument/2006/relationships" id="304" r:id="R9ac969973392497d"/>
    <p:sldId xmlns:r="http://schemas.openxmlformats.org/officeDocument/2006/relationships" id="305" r:id="Rdae24c5a3b2245f3"/>
    <p:sldId xmlns:r="http://schemas.openxmlformats.org/officeDocument/2006/relationships" id="306" r:id="Rf63725f26056473b"/>
    <p:sldId xmlns:r="http://schemas.openxmlformats.org/officeDocument/2006/relationships" id="307" r:id="R1bd879b89a924c0c"/>
    <p:sldId xmlns:r="http://schemas.openxmlformats.org/officeDocument/2006/relationships" id="308" r:id="Rd1b3f6fe03064b22"/>
    <p:sldId xmlns:r="http://schemas.openxmlformats.org/officeDocument/2006/relationships" id="309" r:id="R206c6a71dce04b14"/>
    <p:sldId xmlns:r="http://schemas.openxmlformats.org/officeDocument/2006/relationships" id="310" r:id="Rd05b41489bab4fe2"/>
    <p:sldId xmlns:r="http://schemas.openxmlformats.org/officeDocument/2006/relationships" id="311" r:id="R13abeee3fca04ea4"/>
    <p:sldId xmlns:r="http://schemas.openxmlformats.org/officeDocument/2006/relationships" id="312" r:id="Rd602214483c54cd6"/>
    <p:sldId xmlns:r="http://schemas.openxmlformats.org/officeDocument/2006/relationships" id="313" r:id="R5e993288ce674ca9"/>
    <p:sldId xmlns:r="http://schemas.openxmlformats.org/officeDocument/2006/relationships" id="314" r:id="R03ac02d59dd9476c"/>
    <p:sldId xmlns:r="http://schemas.openxmlformats.org/officeDocument/2006/relationships" id="315" r:id="R91ec4449489046d8"/>
    <p:sldId xmlns:r="http://schemas.openxmlformats.org/officeDocument/2006/relationships" id="316" r:id="R850c12d587394c6e"/>
    <p:sldId xmlns:r="http://schemas.openxmlformats.org/officeDocument/2006/relationships" id="317" r:id="Rdaec3d20bf3049a8"/>
    <p:sldId xmlns:r="http://schemas.openxmlformats.org/officeDocument/2006/relationships" id="318" r:id="Rc07cc3ac2c5c4b74"/>
    <p:sldId xmlns:r="http://schemas.openxmlformats.org/officeDocument/2006/relationships" id="319" r:id="Rf2c3ce6cb6a643c8"/>
    <p:sldId xmlns:r="http://schemas.openxmlformats.org/officeDocument/2006/relationships" id="320" r:id="R3609abf88594436b"/>
    <p:sldId xmlns:r="http://schemas.openxmlformats.org/officeDocument/2006/relationships" id="321" r:id="R7f832cd92e004c2d"/>
    <p:sldId xmlns:r="http://schemas.openxmlformats.org/officeDocument/2006/relationships" id="322" r:id="R5162033099df458c"/>
    <p:sldId xmlns:r="http://schemas.openxmlformats.org/officeDocument/2006/relationships" id="323" r:id="R80ea91728ebd4ec3"/>
    <p:sldId xmlns:r="http://schemas.openxmlformats.org/officeDocument/2006/relationships" id="324" r:id="R0f9569e76c8b431b"/>
    <p:sldId xmlns:r="http://schemas.openxmlformats.org/officeDocument/2006/relationships" id="325" r:id="Rc204087da9144f7a"/>
    <p:sldId xmlns:r="http://schemas.openxmlformats.org/officeDocument/2006/relationships" id="326" r:id="Rec4223d7554f4d7d"/>
    <p:sldId xmlns:r="http://schemas.openxmlformats.org/officeDocument/2006/relationships" id="327" r:id="Rdfbb53bd3af946c9"/>
    <p:sldId xmlns:r="http://schemas.openxmlformats.org/officeDocument/2006/relationships" id="328" r:id="Rb5e116f60853447c"/>
    <p:sldId xmlns:r="http://schemas.openxmlformats.org/officeDocument/2006/relationships" id="329" r:id="R9262a79571194a7e"/>
    <p:sldId xmlns:r="http://schemas.openxmlformats.org/officeDocument/2006/relationships" id="330" r:id="R986c729437854844"/>
    <p:sldId xmlns:r="http://schemas.openxmlformats.org/officeDocument/2006/relationships" id="331" r:id="R30b4ef6a44b24689"/>
    <p:sldId xmlns:r="http://schemas.openxmlformats.org/officeDocument/2006/relationships" id="332" r:id="Re846b13b8a9947a0"/>
    <p:sldId xmlns:r="http://schemas.openxmlformats.org/officeDocument/2006/relationships" id="333" r:id="R5e00ab6dd79d4d5e"/>
    <p:sldId xmlns:r="http://schemas.openxmlformats.org/officeDocument/2006/relationships" id="334" r:id="R75e5f10598624a2f"/>
    <p:sldId xmlns:r="http://schemas.openxmlformats.org/officeDocument/2006/relationships" id="335" r:id="Rdc73cd4924a94591"/>
    <p:sldId xmlns:r="http://schemas.openxmlformats.org/officeDocument/2006/relationships" id="336" r:id="R76b6ff194f1e4dc7"/>
    <p:sldId xmlns:r="http://schemas.openxmlformats.org/officeDocument/2006/relationships" id="337" r:id="R0a84cd8dd00e43b7"/>
    <p:sldId xmlns:r="http://schemas.openxmlformats.org/officeDocument/2006/relationships" id="338" r:id="R70e67c27775b43bb"/>
    <p:sldId xmlns:r="http://schemas.openxmlformats.org/officeDocument/2006/relationships" id="339" r:id="Rdb5b9b584b41440a"/>
    <p:sldId xmlns:r="http://schemas.openxmlformats.org/officeDocument/2006/relationships" id="340" r:id="Ra9fe6fa44128451a"/>
    <p:sldId xmlns:r="http://schemas.openxmlformats.org/officeDocument/2006/relationships" id="341" r:id="Ra6f393d3e0ce47aa"/>
    <p:sldId xmlns:r="http://schemas.openxmlformats.org/officeDocument/2006/relationships" id="342" r:id="R821b607c3b81403f"/>
    <p:sldId xmlns:r="http://schemas.openxmlformats.org/officeDocument/2006/relationships" id="343" r:id="R0e0c957963434661"/>
    <p:sldId xmlns:r="http://schemas.openxmlformats.org/officeDocument/2006/relationships" id="344" r:id="R691bfe4088e14979"/>
    <p:sldId xmlns:r="http://schemas.openxmlformats.org/officeDocument/2006/relationships" id="345" r:id="R10f5fe255360458f"/>
    <p:sldId xmlns:r="http://schemas.openxmlformats.org/officeDocument/2006/relationships" id="346" r:id="R5fc3966f83c84c7b"/>
    <p:sldId xmlns:r="http://schemas.openxmlformats.org/officeDocument/2006/relationships" id="347" r:id="Rd074716d70c04e82"/>
    <p:sldId xmlns:r="http://schemas.openxmlformats.org/officeDocument/2006/relationships" id="348" r:id="Rcf602e8634434c81"/>
    <p:sldId xmlns:r="http://schemas.openxmlformats.org/officeDocument/2006/relationships" id="349" r:id="R4653f2abb3cf486d"/>
    <p:sldId xmlns:r="http://schemas.openxmlformats.org/officeDocument/2006/relationships" id="350" r:id="R58489860990d4356"/>
    <p:sldId xmlns:r="http://schemas.openxmlformats.org/officeDocument/2006/relationships" id="351" r:id="R82ac47044eb749e4"/>
    <p:sldId xmlns:r="http://schemas.openxmlformats.org/officeDocument/2006/relationships" id="352" r:id="R3c1a2cfcaa494c75"/>
    <p:sldId xmlns:r="http://schemas.openxmlformats.org/officeDocument/2006/relationships" id="353" r:id="Rca80b2bc42be4394"/>
    <p:sldId xmlns:r="http://schemas.openxmlformats.org/officeDocument/2006/relationships" id="354" r:id="R7c0138082f064c01"/>
    <p:sldId xmlns:r="http://schemas.openxmlformats.org/officeDocument/2006/relationships" id="355" r:id="Raa266d864de04323"/>
    <p:sldId xmlns:r="http://schemas.openxmlformats.org/officeDocument/2006/relationships" id="356" r:id="R82cc9dd49e7c49ef"/>
    <p:sldId xmlns:r="http://schemas.openxmlformats.org/officeDocument/2006/relationships" id="357" r:id="R939cc523fc524a84"/>
    <p:sldId xmlns:r="http://schemas.openxmlformats.org/officeDocument/2006/relationships" id="358" r:id="Ra5f942b5d87c48bf"/>
    <p:sldId xmlns:r="http://schemas.openxmlformats.org/officeDocument/2006/relationships" id="359" r:id="R026c3836f01a46a5"/>
    <p:sldId xmlns:r="http://schemas.openxmlformats.org/officeDocument/2006/relationships" id="360" r:id="R8413e8cefbbe4bbb"/>
    <p:sldId xmlns:r="http://schemas.openxmlformats.org/officeDocument/2006/relationships" id="361" r:id="Rf278c76ccb28422f"/>
    <p:sldId xmlns:r="http://schemas.openxmlformats.org/officeDocument/2006/relationships" id="362" r:id="R0a71eea8873f4eb5"/>
    <p:sldId xmlns:r="http://schemas.openxmlformats.org/officeDocument/2006/relationships" id="363" r:id="R23f6fe10a86b4cd2"/>
    <p:sldId xmlns:r="http://schemas.openxmlformats.org/officeDocument/2006/relationships" id="364" r:id="Rd83b6bbfab974881"/>
    <p:sldId xmlns:r="http://schemas.openxmlformats.org/officeDocument/2006/relationships" id="365" r:id="R44c2737776dc4f12"/>
    <p:sldId xmlns:r="http://schemas.openxmlformats.org/officeDocument/2006/relationships" id="366" r:id="R8fb04fb412734efd"/>
    <p:sldId xmlns:r="http://schemas.openxmlformats.org/officeDocument/2006/relationships" id="367" r:id="R3059a9bfb47f4dab"/>
    <p:sldId xmlns:r="http://schemas.openxmlformats.org/officeDocument/2006/relationships" id="368" r:id="Rad0876c6e05f45bf"/>
    <p:sldId xmlns:r="http://schemas.openxmlformats.org/officeDocument/2006/relationships" id="369" r:id="R1ec0ee604b4a4d96"/>
    <p:sldId xmlns:r="http://schemas.openxmlformats.org/officeDocument/2006/relationships" id="370" r:id="R0710bbd3645043d1"/>
    <p:sldId xmlns:r="http://schemas.openxmlformats.org/officeDocument/2006/relationships" id="371" r:id="R1731746bbd5345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89ef4902df4d1a" /><Relationship Type="http://schemas.openxmlformats.org/officeDocument/2006/relationships/slideMaster" Target="/ppt/slideMasters/slideMaster1.xml" Id="Rd09a19149f964794" /><Relationship Type="http://schemas.openxmlformats.org/officeDocument/2006/relationships/notesMaster" Target="/ppt/notesMasters/notesMaster1.xml" Id="R87ef515de87e4c9b" /><Relationship Type="http://schemas.openxmlformats.org/officeDocument/2006/relationships/presProps" Target="/ppt/presProps.xml" Id="R2a2e2983ab8b4f80" /><Relationship Type="http://schemas.openxmlformats.org/officeDocument/2006/relationships/viewProps" Target="/ppt/viewProps.xml" Id="R515b00dcbd4e4ef1" /><Relationship Type="http://schemas.openxmlformats.org/officeDocument/2006/relationships/tableStyles" Target="/ppt/tableStyles.xml" Id="R596f5cb2334948a4" /><Relationship Type="http://schemas.openxmlformats.org/officeDocument/2006/relationships/slide" Target="/ppt/slides/slide1.xml" Id="R6b55d867a6cd4d18" /><Relationship Type="http://schemas.openxmlformats.org/officeDocument/2006/relationships/slide" Target="/ppt/slides/slide2.xml" Id="R4fd2955539644885" /><Relationship Type="http://schemas.openxmlformats.org/officeDocument/2006/relationships/slide" Target="/ppt/slides/slide3.xml" Id="Red05333df33a4a46" /><Relationship Type="http://schemas.openxmlformats.org/officeDocument/2006/relationships/slide" Target="/ppt/slides/slide4.xml" Id="Reb3a1e036e784c3d" /><Relationship Type="http://schemas.openxmlformats.org/officeDocument/2006/relationships/slide" Target="/ppt/slides/slide5.xml" Id="R1e3d24b7a91e425e" /><Relationship Type="http://schemas.openxmlformats.org/officeDocument/2006/relationships/slide" Target="/ppt/slides/slide6.xml" Id="Re831a36e59b54897" /><Relationship Type="http://schemas.openxmlformats.org/officeDocument/2006/relationships/slide" Target="/ppt/slides/slide7.xml" Id="R03fd94c16b684991" /><Relationship Type="http://schemas.openxmlformats.org/officeDocument/2006/relationships/slide" Target="/ppt/slides/slide8.xml" Id="Rc61983e001834e6d" /><Relationship Type="http://schemas.openxmlformats.org/officeDocument/2006/relationships/slide" Target="/ppt/slides/slide9.xml" Id="Ra8e538a71ee54eee" /><Relationship Type="http://schemas.openxmlformats.org/officeDocument/2006/relationships/slide" Target="/ppt/slides/slide10.xml" Id="Rf00a45db23a4443e" /><Relationship Type="http://schemas.openxmlformats.org/officeDocument/2006/relationships/slide" Target="/ppt/slides/slide11.xml" Id="R7719ad01fd314bce" /><Relationship Type="http://schemas.openxmlformats.org/officeDocument/2006/relationships/slide" Target="/ppt/slides/slide12.xml" Id="R237732bab58940ed" /><Relationship Type="http://schemas.openxmlformats.org/officeDocument/2006/relationships/slide" Target="/ppt/slides/slide13.xml" Id="R9dff9563891d4006" /><Relationship Type="http://schemas.openxmlformats.org/officeDocument/2006/relationships/slide" Target="/ppt/slides/slide14.xml" Id="R1506141f309943e8" /><Relationship Type="http://schemas.openxmlformats.org/officeDocument/2006/relationships/slide" Target="/ppt/slides/slide15.xml" Id="R36ae6869b2f2452c" /><Relationship Type="http://schemas.openxmlformats.org/officeDocument/2006/relationships/slide" Target="/ppt/slides/slide16.xml" Id="R650a8ec6f2ab48b6" /><Relationship Type="http://schemas.openxmlformats.org/officeDocument/2006/relationships/slide" Target="/ppt/slides/slide17.xml" Id="Rc531da77fac74670" /><Relationship Type="http://schemas.openxmlformats.org/officeDocument/2006/relationships/slide" Target="/ppt/slides/slide18.xml" Id="R7837bb28104a4efe" /><Relationship Type="http://schemas.openxmlformats.org/officeDocument/2006/relationships/slide" Target="/ppt/slides/slide19.xml" Id="R8dc741cda25c4999" /><Relationship Type="http://schemas.openxmlformats.org/officeDocument/2006/relationships/slide" Target="/ppt/slides/slide20.xml" Id="R6af1e161ae9347df" /><Relationship Type="http://schemas.openxmlformats.org/officeDocument/2006/relationships/slide" Target="/ppt/slides/slide21.xml" Id="R43703eefedec4840" /><Relationship Type="http://schemas.openxmlformats.org/officeDocument/2006/relationships/slide" Target="/ppt/slides/slide22.xml" Id="R92fdd53eea094d99" /><Relationship Type="http://schemas.openxmlformats.org/officeDocument/2006/relationships/slide" Target="/ppt/slides/slide23.xml" Id="R19010af93e934a3a" /><Relationship Type="http://schemas.openxmlformats.org/officeDocument/2006/relationships/slide" Target="/ppt/slides/slide24.xml" Id="R9c863f95f9fd4367" /><Relationship Type="http://schemas.openxmlformats.org/officeDocument/2006/relationships/slide" Target="/ppt/slides/slide25.xml" Id="Rda18f91114604795" /><Relationship Type="http://schemas.openxmlformats.org/officeDocument/2006/relationships/slide" Target="/ppt/slides/slide26.xml" Id="R112bb8b9eba144fd" /><Relationship Type="http://schemas.openxmlformats.org/officeDocument/2006/relationships/slide" Target="/ppt/slides/slide27.xml" Id="Rcf614a97d2de47d6" /><Relationship Type="http://schemas.openxmlformats.org/officeDocument/2006/relationships/slide" Target="/ppt/slides/slide28.xml" Id="R74b38a53819945ac" /><Relationship Type="http://schemas.openxmlformats.org/officeDocument/2006/relationships/slide" Target="/ppt/slides/slide29.xml" Id="R5d7d30b393404689" /><Relationship Type="http://schemas.openxmlformats.org/officeDocument/2006/relationships/slide" Target="/ppt/slides/slide30.xml" Id="R1b4f04e4f9424795" /><Relationship Type="http://schemas.openxmlformats.org/officeDocument/2006/relationships/slide" Target="/ppt/slides/slide31.xml" Id="R4d9077793c214dbb" /><Relationship Type="http://schemas.openxmlformats.org/officeDocument/2006/relationships/slide" Target="/ppt/slides/slide32.xml" Id="R6e44033522944e98" /><Relationship Type="http://schemas.openxmlformats.org/officeDocument/2006/relationships/slide" Target="/ppt/slides/slide33.xml" Id="R8773d65f98f54f66" /><Relationship Type="http://schemas.openxmlformats.org/officeDocument/2006/relationships/slide" Target="/ppt/slides/slide34.xml" Id="R9b6f8d4d0edc4e8d" /><Relationship Type="http://schemas.openxmlformats.org/officeDocument/2006/relationships/slide" Target="/ppt/slides/slide35.xml" Id="Rc11cb1eea6064d9f" /><Relationship Type="http://schemas.openxmlformats.org/officeDocument/2006/relationships/slide" Target="/ppt/slides/slide36.xml" Id="R27eb056ad3e6465b" /><Relationship Type="http://schemas.openxmlformats.org/officeDocument/2006/relationships/slide" Target="/ppt/slides/slide37.xml" Id="Rd939fb03d43c4c59" /><Relationship Type="http://schemas.openxmlformats.org/officeDocument/2006/relationships/slide" Target="/ppt/slides/slide38.xml" Id="R8eff808410bd46a1" /><Relationship Type="http://schemas.openxmlformats.org/officeDocument/2006/relationships/slide" Target="/ppt/slides/slide39.xml" Id="R1ea9025b3daa4c5a" /><Relationship Type="http://schemas.openxmlformats.org/officeDocument/2006/relationships/slide" Target="/ppt/slides/slide40.xml" Id="R453c125963b5462a" /><Relationship Type="http://schemas.openxmlformats.org/officeDocument/2006/relationships/slide" Target="/ppt/slides/slide41.xml" Id="R5a462ecc01554421" /><Relationship Type="http://schemas.openxmlformats.org/officeDocument/2006/relationships/slide" Target="/ppt/slides/slide42.xml" Id="R2be1d40324e04f13" /><Relationship Type="http://schemas.openxmlformats.org/officeDocument/2006/relationships/slide" Target="/ppt/slides/slide43.xml" Id="R92683b5fa15a4629" /><Relationship Type="http://schemas.openxmlformats.org/officeDocument/2006/relationships/slide" Target="/ppt/slides/slide44.xml" Id="R3ef70e726c984513" /><Relationship Type="http://schemas.openxmlformats.org/officeDocument/2006/relationships/slide" Target="/ppt/slides/slide45.xml" Id="Rcaf2647c3ed54180" /><Relationship Type="http://schemas.openxmlformats.org/officeDocument/2006/relationships/slide" Target="/ppt/slides/slide46.xml" Id="R7586f291bb494420" /><Relationship Type="http://schemas.openxmlformats.org/officeDocument/2006/relationships/slide" Target="/ppt/slides/slide47.xml" Id="R34e3b58e4d7842d5" /><Relationship Type="http://schemas.openxmlformats.org/officeDocument/2006/relationships/slide" Target="/ppt/slides/slide48.xml" Id="Ra112235ab5594d47" /><Relationship Type="http://schemas.openxmlformats.org/officeDocument/2006/relationships/slide" Target="/ppt/slides/slide49.xml" Id="R9ac969973392497d" /><Relationship Type="http://schemas.openxmlformats.org/officeDocument/2006/relationships/slide" Target="/ppt/slides/slide50.xml" Id="Rdae24c5a3b2245f3" /><Relationship Type="http://schemas.openxmlformats.org/officeDocument/2006/relationships/slide" Target="/ppt/slides/slide51.xml" Id="Rf63725f26056473b" /><Relationship Type="http://schemas.openxmlformats.org/officeDocument/2006/relationships/slide" Target="/ppt/slides/slide52.xml" Id="R1bd879b89a924c0c" /><Relationship Type="http://schemas.openxmlformats.org/officeDocument/2006/relationships/slide" Target="/ppt/slides/slide53.xml" Id="Rd1b3f6fe03064b22" /><Relationship Type="http://schemas.openxmlformats.org/officeDocument/2006/relationships/slide" Target="/ppt/slides/slide54.xml" Id="R206c6a71dce04b14" /><Relationship Type="http://schemas.openxmlformats.org/officeDocument/2006/relationships/slide" Target="/ppt/slides/slide55.xml" Id="Rd05b41489bab4fe2" /><Relationship Type="http://schemas.openxmlformats.org/officeDocument/2006/relationships/slide" Target="/ppt/slides/slide56.xml" Id="R13abeee3fca04ea4" /><Relationship Type="http://schemas.openxmlformats.org/officeDocument/2006/relationships/slide" Target="/ppt/slides/slide57.xml" Id="Rd602214483c54cd6" /><Relationship Type="http://schemas.openxmlformats.org/officeDocument/2006/relationships/slide" Target="/ppt/slides/slide58.xml" Id="R5e993288ce674ca9" /><Relationship Type="http://schemas.openxmlformats.org/officeDocument/2006/relationships/slide" Target="/ppt/slides/slide59.xml" Id="R03ac02d59dd9476c" /><Relationship Type="http://schemas.openxmlformats.org/officeDocument/2006/relationships/slide" Target="/ppt/slides/slide60.xml" Id="R91ec4449489046d8" /><Relationship Type="http://schemas.openxmlformats.org/officeDocument/2006/relationships/slide" Target="/ppt/slides/slide61.xml" Id="R850c12d587394c6e" /><Relationship Type="http://schemas.openxmlformats.org/officeDocument/2006/relationships/slide" Target="/ppt/slides/slide62.xml" Id="Rdaec3d20bf3049a8" /><Relationship Type="http://schemas.openxmlformats.org/officeDocument/2006/relationships/slide" Target="/ppt/slides/slide63.xml" Id="Rc07cc3ac2c5c4b74" /><Relationship Type="http://schemas.openxmlformats.org/officeDocument/2006/relationships/slide" Target="/ppt/slides/slide64.xml" Id="Rf2c3ce6cb6a643c8" /><Relationship Type="http://schemas.openxmlformats.org/officeDocument/2006/relationships/slide" Target="/ppt/slides/slide65.xml" Id="R3609abf88594436b" /><Relationship Type="http://schemas.openxmlformats.org/officeDocument/2006/relationships/slide" Target="/ppt/slides/slide66.xml" Id="R7f832cd92e004c2d" /><Relationship Type="http://schemas.openxmlformats.org/officeDocument/2006/relationships/slide" Target="/ppt/slides/slide67.xml" Id="R5162033099df458c" /><Relationship Type="http://schemas.openxmlformats.org/officeDocument/2006/relationships/slide" Target="/ppt/slides/slide68.xml" Id="R80ea91728ebd4ec3" /><Relationship Type="http://schemas.openxmlformats.org/officeDocument/2006/relationships/slide" Target="/ppt/slides/slide69.xml" Id="R0f9569e76c8b431b" /><Relationship Type="http://schemas.openxmlformats.org/officeDocument/2006/relationships/slide" Target="/ppt/slides/slide70.xml" Id="Rc204087da9144f7a" /><Relationship Type="http://schemas.openxmlformats.org/officeDocument/2006/relationships/slide" Target="/ppt/slides/slide71.xml" Id="Rec4223d7554f4d7d" /><Relationship Type="http://schemas.openxmlformats.org/officeDocument/2006/relationships/slide" Target="/ppt/slides/slide72.xml" Id="Rdfbb53bd3af946c9" /><Relationship Type="http://schemas.openxmlformats.org/officeDocument/2006/relationships/slide" Target="/ppt/slides/slide73.xml" Id="Rb5e116f60853447c" /><Relationship Type="http://schemas.openxmlformats.org/officeDocument/2006/relationships/slide" Target="/ppt/slides/slide74.xml" Id="R9262a79571194a7e" /><Relationship Type="http://schemas.openxmlformats.org/officeDocument/2006/relationships/slide" Target="/ppt/slides/slide75.xml" Id="R986c729437854844" /><Relationship Type="http://schemas.openxmlformats.org/officeDocument/2006/relationships/slide" Target="/ppt/slides/slide76.xml" Id="R30b4ef6a44b24689" /><Relationship Type="http://schemas.openxmlformats.org/officeDocument/2006/relationships/slide" Target="/ppt/slides/slide77.xml" Id="Re846b13b8a9947a0" /><Relationship Type="http://schemas.openxmlformats.org/officeDocument/2006/relationships/slide" Target="/ppt/slides/slide78.xml" Id="R5e00ab6dd79d4d5e" /><Relationship Type="http://schemas.openxmlformats.org/officeDocument/2006/relationships/slide" Target="/ppt/slides/slide79.xml" Id="R75e5f10598624a2f" /><Relationship Type="http://schemas.openxmlformats.org/officeDocument/2006/relationships/slide" Target="/ppt/slides/slide80.xml" Id="Rdc73cd4924a94591" /><Relationship Type="http://schemas.openxmlformats.org/officeDocument/2006/relationships/slide" Target="/ppt/slides/slide81.xml" Id="R76b6ff194f1e4dc7" /><Relationship Type="http://schemas.openxmlformats.org/officeDocument/2006/relationships/slide" Target="/ppt/slides/slide82.xml" Id="R0a84cd8dd00e43b7" /><Relationship Type="http://schemas.openxmlformats.org/officeDocument/2006/relationships/slide" Target="/ppt/slides/slide83.xml" Id="R70e67c27775b43bb" /><Relationship Type="http://schemas.openxmlformats.org/officeDocument/2006/relationships/slide" Target="/ppt/slides/slide84.xml" Id="Rdb5b9b584b41440a" /><Relationship Type="http://schemas.openxmlformats.org/officeDocument/2006/relationships/slide" Target="/ppt/slides/slide85.xml" Id="Ra9fe6fa44128451a" /><Relationship Type="http://schemas.openxmlformats.org/officeDocument/2006/relationships/slide" Target="/ppt/slides/slide86.xml" Id="Ra6f393d3e0ce47aa" /><Relationship Type="http://schemas.openxmlformats.org/officeDocument/2006/relationships/slide" Target="/ppt/slides/slide87.xml" Id="R821b607c3b81403f" /><Relationship Type="http://schemas.openxmlformats.org/officeDocument/2006/relationships/slide" Target="/ppt/slides/slide88.xml" Id="R0e0c957963434661" /><Relationship Type="http://schemas.openxmlformats.org/officeDocument/2006/relationships/slide" Target="/ppt/slides/slide89.xml" Id="R691bfe4088e14979" /><Relationship Type="http://schemas.openxmlformats.org/officeDocument/2006/relationships/slide" Target="/ppt/slides/slide90.xml" Id="R10f5fe255360458f" /><Relationship Type="http://schemas.openxmlformats.org/officeDocument/2006/relationships/slide" Target="/ppt/slides/slide91.xml" Id="R5fc3966f83c84c7b" /><Relationship Type="http://schemas.openxmlformats.org/officeDocument/2006/relationships/slide" Target="/ppt/slides/slide92.xml" Id="Rd074716d70c04e82" /><Relationship Type="http://schemas.openxmlformats.org/officeDocument/2006/relationships/slide" Target="/ppt/slides/slide93.xml" Id="Rcf602e8634434c81" /><Relationship Type="http://schemas.openxmlformats.org/officeDocument/2006/relationships/slide" Target="/ppt/slides/slide94.xml" Id="R4653f2abb3cf486d" /><Relationship Type="http://schemas.openxmlformats.org/officeDocument/2006/relationships/slide" Target="/ppt/slides/slide95.xml" Id="R58489860990d4356" /><Relationship Type="http://schemas.openxmlformats.org/officeDocument/2006/relationships/slide" Target="/ppt/slides/slide96.xml" Id="R82ac47044eb749e4" /><Relationship Type="http://schemas.openxmlformats.org/officeDocument/2006/relationships/slide" Target="/ppt/slides/slide97.xml" Id="R3c1a2cfcaa494c75" /><Relationship Type="http://schemas.openxmlformats.org/officeDocument/2006/relationships/slide" Target="/ppt/slides/slide98.xml" Id="Rca80b2bc42be4394" /><Relationship Type="http://schemas.openxmlformats.org/officeDocument/2006/relationships/slide" Target="/ppt/slides/slide99.xml" Id="R7c0138082f064c01" /><Relationship Type="http://schemas.openxmlformats.org/officeDocument/2006/relationships/slide" Target="/ppt/slides/slide100.xml" Id="Raa266d864de04323" /><Relationship Type="http://schemas.openxmlformats.org/officeDocument/2006/relationships/slide" Target="/ppt/slides/slide101.xml" Id="R82cc9dd49e7c49ef" /><Relationship Type="http://schemas.openxmlformats.org/officeDocument/2006/relationships/slide" Target="/ppt/slides/slide102.xml" Id="R939cc523fc524a84" /><Relationship Type="http://schemas.openxmlformats.org/officeDocument/2006/relationships/slide" Target="/ppt/slides/slide103.xml" Id="Ra5f942b5d87c48bf" /><Relationship Type="http://schemas.openxmlformats.org/officeDocument/2006/relationships/slide" Target="/ppt/slides/slide104.xml" Id="R026c3836f01a46a5" /><Relationship Type="http://schemas.openxmlformats.org/officeDocument/2006/relationships/slide" Target="/ppt/slides/slide105.xml" Id="R8413e8cefbbe4bbb" /><Relationship Type="http://schemas.openxmlformats.org/officeDocument/2006/relationships/slide" Target="/ppt/slides/slide106.xml" Id="Rf278c76ccb28422f" /><Relationship Type="http://schemas.openxmlformats.org/officeDocument/2006/relationships/slide" Target="/ppt/slides/slide107.xml" Id="R0a71eea8873f4eb5" /><Relationship Type="http://schemas.openxmlformats.org/officeDocument/2006/relationships/slide" Target="/ppt/slides/slide108.xml" Id="R23f6fe10a86b4cd2" /><Relationship Type="http://schemas.openxmlformats.org/officeDocument/2006/relationships/slide" Target="/ppt/slides/slide109.xml" Id="Rd83b6bbfab974881" /><Relationship Type="http://schemas.openxmlformats.org/officeDocument/2006/relationships/slide" Target="/ppt/slides/slide110.xml" Id="R44c2737776dc4f12" /><Relationship Type="http://schemas.openxmlformats.org/officeDocument/2006/relationships/slide" Target="/ppt/slides/slide111.xml" Id="R8fb04fb412734efd" /><Relationship Type="http://schemas.openxmlformats.org/officeDocument/2006/relationships/slide" Target="/ppt/slides/slide112.xml" Id="R3059a9bfb47f4dab" /><Relationship Type="http://schemas.openxmlformats.org/officeDocument/2006/relationships/slide" Target="/ppt/slides/slide113.xml" Id="Rad0876c6e05f45bf" /><Relationship Type="http://schemas.openxmlformats.org/officeDocument/2006/relationships/slide" Target="/ppt/slides/slide114.xml" Id="R1ec0ee604b4a4d96" /><Relationship Type="http://schemas.openxmlformats.org/officeDocument/2006/relationships/slide" Target="/ppt/slides/slide115.xml" Id="R0710bbd3645043d1" /><Relationship Type="http://schemas.openxmlformats.org/officeDocument/2006/relationships/slide" Target="/ppt/slides/slide116.xml" Id="R1731746bbd5345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6062bbb9b441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e6ad21a1204baa" /><Relationship Type="http://schemas.openxmlformats.org/officeDocument/2006/relationships/notesMaster" Target="/ppt/notesMasters/notesMaster1.xml" Id="Re1a8c2871d6e47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95c5a42e004d7a" /><Relationship Type="http://schemas.openxmlformats.org/officeDocument/2006/relationships/notesMaster" Target="/ppt/notesMasters/notesMaster1.xml" Id="Ra93940fcd79544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975ad1f95e47ec" /><Relationship Type="http://schemas.openxmlformats.org/officeDocument/2006/relationships/notesMaster" Target="/ppt/notesMasters/notesMaster1.xml" Id="R3ef3406c5bd344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081a9e23084d21" /><Relationship Type="http://schemas.openxmlformats.org/officeDocument/2006/relationships/notesMaster" Target="/ppt/notesMasters/notesMaster1.xml" Id="R055579f755db49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088f5d867c40a6" /><Relationship Type="http://schemas.openxmlformats.org/officeDocument/2006/relationships/notesMaster" Target="/ppt/notesMasters/notesMaster1.xml" Id="Rce3ef7c020d343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0df7a4f74c49ad" /><Relationship Type="http://schemas.openxmlformats.org/officeDocument/2006/relationships/notesMaster" Target="/ppt/notesMasters/notesMaster1.xml" Id="R2ce7fab1735744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064834f11f4d25" /><Relationship Type="http://schemas.openxmlformats.org/officeDocument/2006/relationships/notesMaster" Target="/ppt/notesMasters/notesMaster1.xml" Id="Rb09f998f86824f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e18ce0a66e4c7a" /><Relationship Type="http://schemas.openxmlformats.org/officeDocument/2006/relationships/notesMaster" Target="/ppt/notesMasters/notesMaster1.xml" Id="Rccf494623fd54c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ce204e66904d10" /><Relationship Type="http://schemas.openxmlformats.org/officeDocument/2006/relationships/notesMaster" Target="/ppt/notesMasters/notesMaster1.xml" Id="Rbc46b4ee6ad64a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0396198e4f4880" /><Relationship Type="http://schemas.openxmlformats.org/officeDocument/2006/relationships/notesMaster" Target="/ppt/notesMasters/notesMaster1.xml" Id="R4f6f2d1da71645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9635d2a278472b" /><Relationship Type="http://schemas.openxmlformats.org/officeDocument/2006/relationships/notesMaster" Target="/ppt/notesMasters/notesMaster1.xml" Id="R37d68d5d4c464f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558ca8d49d45d8" /><Relationship Type="http://schemas.openxmlformats.org/officeDocument/2006/relationships/notesMaster" Target="/ppt/notesMasters/notesMaster1.xml" Id="Rd0968f50958c48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1c5b1f05244867" /><Relationship Type="http://schemas.openxmlformats.org/officeDocument/2006/relationships/notesMaster" Target="/ppt/notesMasters/notesMaster1.xml" Id="R35b06ef8138b46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f1a350403f41e2" /><Relationship Type="http://schemas.openxmlformats.org/officeDocument/2006/relationships/notesMaster" Target="/ppt/notesMasters/notesMaster1.xml" Id="R52e6edf4f8f54d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55afa33c3d42cc" /><Relationship Type="http://schemas.openxmlformats.org/officeDocument/2006/relationships/notesMaster" Target="/ppt/notesMasters/notesMaster1.xml" Id="Rd56f7c91d38d4e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81670a41c44228" /><Relationship Type="http://schemas.openxmlformats.org/officeDocument/2006/relationships/notesMaster" Target="/ppt/notesMasters/notesMaster1.xml" Id="R3e50f0cc7cd141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9e2293f5ab4634" /><Relationship Type="http://schemas.openxmlformats.org/officeDocument/2006/relationships/notesMaster" Target="/ppt/notesMasters/notesMaster1.xml" Id="Rb41d5589684b42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46ed517fe64271" /><Relationship Type="http://schemas.openxmlformats.org/officeDocument/2006/relationships/notesMaster" Target="/ppt/notesMasters/notesMaster1.xml" Id="R713c1f9e23e543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975b6f1d4a4897" /><Relationship Type="http://schemas.openxmlformats.org/officeDocument/2006/relationships/notesMaster" Target="/ppt/notesMasters/notesMaster1.xml" Id="R25e23862bbe345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28094776ff49ce" /><Relationship Type="http://schemas.openxmlformats.org/officeDocument/2006/relationships/notesMaster" Target="/ppt/notesMasters/notesMaster1.xml" Id="Rfed7314aa46541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f60f4db42f54d25" /><Relationship Type="http://schemas.openxmlformats.org/officeDocument/2006/relationships/notesMaster" Target="/ppt/notesMasters/notesMaster1.xml" Id="R617e4940ae3c48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f992ee4b8e47e1" /><Relationship Type="http://schemas.openxmlformats.org/officeDocument/2006/relationships/notesMaster" Target="/ppt/notesMasters/notesMaster1.xml" Id="R5005457a6c0b47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b62828c9d949ff" /><Relationship Type="http://schemas.openxmlformats.org/officeDocument/2006/relationships/notesMaster" Target="/ppt/notesMasters/notesMaster1.xml" Id="Rc24b2600e6be4db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7d78f2173754ed1" /><Relationship Type="http://schemas.openxmlformats.org/officeDocument/2006/relationships/notesMaster" Target="/ppt/notesMasters/notesMaster1.xml" Id="R10a1e152daa744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0d99878f07f4e8e" /><Relationship Type="http://schemas.openxmlformats.org/officeDocument/2006/relationships/notesMaster" Target="/ppt/notesMasters/notesMaster1.xml" Id="Re7d61c7d755241b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2a99880730847b7" /><Relationship Type="http://schemas.openxmlformats.org/officeDocument/2006/relationships/notesMaster" Target="/ppt/notesMasters/notesMaster1.xml" Id="Rc1cd18c96d1a4a6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0156134e3174a4c" /><Relationship Type="http://schemas.openxmlformats.org/officeDocument/2006/relationships/notesMaster" Target="/ppt/notesMasters/notesMaster1.xml" Id="R132142f185fc46e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2101730d20a41b3" /><Relationship Type="http://schemas.openxmlformats.org/officeDocument/2006/relationships/notesMaster" Target="/ppt/notesMasters/notesMaster1.xml" Id="Rd5ae125b3e9841f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e678043862e43cb" /><Relationship Type="http://schemas.openxmlformats.org/officeDocument/2006/relationships/notesMaster" Target="/ppt/notesMasters/notesMaster1.xml" Id="Rd8d8de5b63954c0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107d9ac34484670" /><Relationship Type="http://schemas.openxmlformats.org/officeDocument/2006/relationships/notesMaster" Target="/ppt/notesMasters/notesMaster1.xml" Id="Rccbcb01423fe48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3f4e83bcd8a45a0" /><Relationship Type="http://schemas.openxmlformats.org/officeDocument/2006/relationships/notesMaster" Target="/ppt/notesMasters/notesMaster1.xml" Id="Rf01bd4f4c09849c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17a6cba298b4777" /><Relationship Type="http://schemas.openxmlformats.org/officeDocument/2006/relationships/notesMaster" Target="/ppt/notesMasters/notesMaster1.xml" Id="R3bc22a8d47fc453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331d748d561405a" /><Relationship Type="http://schemas.openxmlformats.org/officeDocument/2006/relationships/notesMaster" Target="/ppt/notesMasters/notesMaster1.xml" Id="R02296557966745b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c667a298b2c4a7c" /><Relationship Type="http://schemas.openxmlformats.org/officeDocument/2006/relationships/notesMaster" Target="/ppt/notesMasters/notesMaster1.xml" Id="R74fd0230bbb24d0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863725b1a4a4f54" /><Relationship Type="http://schemas.openxmlformats.org/officeDocument/2006/relationships/notesMaster" Target="/ppt/notesMasters/notesMaster1.xml" Id="R8296ac37cada412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5b05669795b44cf" /><Relationship Type="http://schemas.openxmlformats.org/officeDocument/2006/relationships/notesMaster" Target="/ppt/notesMasters/notesMaster1.xml" Id="R057d080061e3407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7239c1b44544e33" /><Relationship Type="http://schemas.openxmlformats.org/officeDocument/2006/relationships/notesMaster" Target="/ppt/notesMasters/notesMaster1.xml" Id="R75500d54232448e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78ed9a252d94f98" /><Relationship Type="http://schemas.openxmlformats.org/officeDocument/2006/relationships/notesMaster" Target="/ppt/notesMasters/notesMaster1.xml" Id="R86af227d49ee4b3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2e2c21b87e54667" /><Relationship Type="http://schemas.openxmlformats.org/officeDocument/2006/relationships/notesMaster" Target="/ppt/notesMasters/notesMaster1.xml" Id="Rd70bc0f2045449a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e3d091300cd4ced" /><Relationship Type="http://schemas.openxmlformats.org/officeDocument/2006/relationships/notesMaster" Target="/ppt/notesMasters/notesMaster1.xml" Id="R33a8335dd856444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5fecfcad3dc4e98" /><Relationship Type="http://schemas.openxmlformats.org/officeDocument/2006/relationships/notesMaster" Target="/ppt/notesMasters/notesMaster1.xml" Id="R8d37d13efec54ec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d867045a80d4c00" /><Relationship Type="http://schemas.openxmlformats.org/officeDocument/2006/relationships/notesMaster" Target="/ppt/notesMasters/notesMaster1.xml" Id="R71d29998d4034e1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daf7f76fa544af8" /><Relationship Type="http://schemas.openxmlformats.org/officeDocument/2006/relationships/notesMaster" Target="/ppt/notesMasters/notesMaster1.xml" Id="Rcee5fcca300f4a2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5acfc666f514e1f" /><Relationship Type="http://schemas.openxmlformats.org/officeDocument/2006/relationships/notesMaster" Target="/ppt/notesMasters/notesMaster1.xml" Id="Rc4d239477d874d0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df1125ea1c1479f" /><Relationship Type="http://schemas.openxmlformats.org/officeDocument/2006/relationships/notesMaster" Target="/ppt/notesMasters/notesMaster1.xml" Id="R941ad316124a485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cc6dd02b8f34a9c" /><Relationship Type="http://schemas.openxmlformats.org/officeDocument/2006/relationships/notesMaster" Target="/ppt/notesMasters/notesMaster1.xml" Id="R0550ab49c408408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1a052ee50824736" /><Relationship Type="http://schemas.openxmlformats.org/officeDocument/2006/relationships/notesMaster" Target="/ppt/notesMasters/notesMaster1.xml" Id="R65ee9991ea54459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1a3167fbf054a2e" /><Relationship Type="http://schemas.openxmlformats.org/officeDocument/2006/relationships/notesMaster" Target="/ppt/notesMasters/notesMaster1.xml" Id="R13f1b041a31645f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60232349b2f4f5b" /><Relationship Type="http://schemas.openxmlformats.org/officeDocument/2006/relationships/notesMaster" Target="/ppt/notesMasters/notesMaster1.xml" Id="R14e3549ffe23420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01da61bc2a049f2" /><Relationship Type="http://schemas.openxmlformats.org/officeDocument/2006/relationships/notesMaster" Target="/ppt/notesMasters/notesMaster1.xml" Id="Ra6fa32ec97fa47c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4a6ba3fc89b478b" /><Relationship Type="http://schemas.openxmlformats.org/officeDocument/2006/relationships/notesMaster" Target="/ppt/notesMasters/notesMaster1.xml" Id="R6825ea6a11cc454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026bcc81b864c38" /><Relationship Type="http://schemas.openxmlformats.org/officeDocument/2006/relationships/notesMaster" Target="/ppt/notesMasters/notesMaster1.xml" Id="Rc7645877663540e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307defc47a14641" /><Relationship Type="http://schemas.openxmlformats.org/officeDocument/2006/relationships/notesMaster" Target="/ppt/notesMasters/notesMaster1.xml" Id="R2cdb2e23d5e040f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45a8e95a61f4ca1" /><Relationship Type="http://schemas.openxmlformats.org/officeDocument/2006/relationships/notesMaster" Target="/ppt/notesMasters/notesMaster1.xml" Id="Rffae1aaecfba4bd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5b441cab8fe4110" /><Relationship Type="http://schemas.openxmlformats.org/officeDocument/2006/relationships/notesMaster" Target="/ppt/notesMasters/notesMaster1.xml" Id="Rb9882e1a862c414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ea3a56543c54d94" /><Relationship Type="http://schemas.openxmlformats.org/officeDocument/2006/relationships/notesMaster" Target="/ppt/notesMasters/notesMaster1.xml" Id="Racdfe4d1a6dd437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2ce8a9c469a4dc9" /><Relationship Type="http://schemas.openxmlformats.org/officeDocument/2006/relationships/notesMaster" Target="/ppt/notesMasters/notesMaster1.xml" Id="R2a753e13f87444d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b8ef5be23de4659" /><Relationship Type="http://schemas.openxmlformats.org/officeDocument/2006/relationships/notesMaster" Target="/ppt/notesMasters/notesMaster1.xml" Id="R7d355415b9b449a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60e259d59ac4692" /><Relationship Type="http://schemas.openxmlformats.org/officeDocument/2006/relationships/notesMaster" Target="/ppt/notesMasters/notesMaster1.xml" Id="R54216fae97304b1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e3df83fb6a24811" /><Relationship Type="http://schemas.openxmlformats.org/officeDocument/2006/relationships/notesMaster" Target="/ppt/notesMasters/notesMaster1.xml" Id="R511c48979cf549e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bde99a103ef4f37" /><Relationship Type="http://schemas.openxmlformats.org/officeDocument/2006/relationships/notesMaster" Target="/ppt/notesMasters/notesMaster1.xml" Id="R8264419436b74ad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cad37df02904edd" /><Relationship Type="http://schemas.openxmlformats.org/officeDocument/2006/relationships/notesMaster" Target="/ppt/notesMasters/notesMaster1.xml" Id="R6280785666da4c6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8340142b53c4e9a" /><Relationship Type="http://schemas.openxmlformats.org/officeDocument/2006/relationships/notesMaster" Target="/ppt/notesMasters/notesMaster1.xml" Id="R81dffb5c34c54fd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f3b9ae5483f4827" /><Relationship Type="http://schemas.openxmlformats.org/officeDocument/2006/relationships/notesMaster" Target="/ppt/notesMasters/notesMaster1.xml" Id="Rdb178b1e9b86438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79f235ec410c4498" /><Relationship Type="http://schemas.openxmlformats.org/officeDocument/2006/relationships/notesMaster" Target="/ppt/notesMasters/notesMaster1.xml" Id="Rb1ec36ae2c504b2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08a87d7ada7b42b4" /><Relationship Type="http://schemas.openxmlformats.org/officeDocument/2006/relationships/notesMaster" Target="/ppt/notesMasters/notesMaster1.xml" Id="Re6b38024bfab43d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ca090cdf561748af" /><Relationship Type="http://schemas.openxmlformats.org/officeDocument/2006/relationships/notesMaster" Target="/ppt/notesMasters/notesMaster1.xml" Id="Rb49ff688953d4f1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43566b862f794857" /><Relationship Type="http://schemas.openxmlformats.org/officeDocument/2006/relationships/notesMaster" Target="/ppt/notesMasters/notesMaster1.xml" Id="R3af1f0a72f7745b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ff91eebf03104a23" /><Relationship Type="http://schemas.openxmlformats.org/officeDocument/2006/relationships/notesMaster" Target="/ppt/notesMasters/notesMaster1.xml" Id="R1e02c01d22a34ba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aae1f62e8d84844" /><Relationship Type="http://schemas.openxmlformats.org/officeDocument/2006/relationships/notesMaster" Target="/ppt/notesMasters/notesMaster1.xml" Id="R267113d80c3e4ac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4ad5f4eb9e243d0" /><Relationship Type="http://schemas.openxmlformats.org/officeDocument/2006/relationships/notesMaster" Target="/ppt/notesMasters/notesMaster1.xml" Id="R74845686c1d7422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1457b5f83074e5d" /><Relationship Type="http://schemas.openxmlformats.org/officeDocument/2006/relationships/notesMaster" Target="/ppt/notesMasters/notesMaster1.xml" Id="R9be150d31ba74add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b55a80b2e784b7a" /><Relationship Type="http://schemas.openxmlformats.org/officeDocument/2006/relationships/notesMaster" Target="/ppt/notesMasters/notesMaster1.xml" Id="Rcabc0b1008d24872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32d8d01ef6540d8" /><Relationship Type="http://schemas.openxmlformats.org/officeDocument/2006/relationships/notesMaster" Target="/ppt/notesMasters/notesMaster1.xml" Id="Rd707d7f5dc2f45f5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5dc3d7361f2048ba" /><Relationship Type="http://schemas.openxmlformats.org/officeDocument/2006/relationships/notesMaster" Target="/ppt/notesMasters/notesMaster1.xml" Id="R98e22853526e4cd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fd2124e74d22469a" /><Relationship Type="http://schemas.openxmlformats.org/officeDocument/2006/relationships/notesMaster" Target="/ppt/notesMasters/notesMaster1.xml" Id="Ra166db8ed4804d6b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6fb87fa680994c68" /><Relationship Type="http://schemas.openxmlformats.org/officeDocument/2006/relationships/notesMaster" Target="/ppt/notesMasters/notesMaster1.xml" Id="Rade1bc90b03f4243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091f931df29a4089" /><Relationship Type="http://schemas.openxmlformats.org/officeDocument/2006/relationships/notesMaster" Target="/ppt/notesMasters/notesMaster1.xml" Id="R2f50cd263ee74301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b96834400924ceb" /><Relationship Type="http://schemas.openxmlformats.org/officeDocument/2006/relationships/notesMaster" Target="/ppt/notesMasters/notesMaster1.xml" Id="R07441349a3dd4171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4e8cc600d9974a72" /><Relationship Type="http://schemas.openxmlformats.org/officeDocument/2006/relationships/notesMaster" Target="/ppt/notesMasters/notesMaster1.xml" Id="R3113f13a8b3d40a4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650859683bcc426c" /><Relationship Type="http://schemas.openxmlformats.org/officeDocument/2006/relationships/notesMaster" Target="/ppt/notesMasters/notesMaster1.xml" Id="R87de7b5a1b1e4c4d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9718f7d676a34c84" /><Relationship Type="http://schemas.openxmlformats.org/officeDocument/2006/relationships/notesMaster" Target="/ppt/notesMasters/notesMaster1.xml" Id="R714e1691864245a0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88fb16da1c24474e" /><Relationship Type="http://schemas.openxmlformats.org/officeDocument/2006/relationships/notesMaster" Target="/ppt/notesMasters/notesMaster1.xml" Id="Rf377f4424f8e432b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8f557ca4f5ca4ef2" /><Relationship Type="http://schemas.openxmlformats.org/officeDocument/2006/relationships/notesMaster" Target="/ppt/notesMasters/notesMaster1.xml" Id="R87e5e132baf64f92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1bd3957356f14af6" /><Relationship Type="http://schemas.openxmlformats.org/officeDocument/2006/relationships/notesMaster" Target="/ppt/notesMasters/notesMaster1.xml" Id="R17037d4eccef4500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be5a051fa0847d0" /><Relationship Type="http://schemas.openxmlformats.org/officeDocument/2006/relationships/notesMaster" Target="/ppt/notesMasters/notesMaster1.xml" Id="R527f78e15b214dfc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040aa7333f0241b4" /><Relationship Type="http://schemas.openxmlformats.org/officeDocument/2006/relationships/notesMaster" Target="/ppt/notesMasters/notesMaster1.xml" Id="R512ed10ce39749e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9871587364ab4caf" /><Relationship Type="http://schemas.openxmlformats.org/officeDocument/2006/relationships/notesMaster" Target="/ppt/notesMasters/notesMaster1.xml" Id="R3a9470453caa44dc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3697b73e5bc64272" /><Relationship Type="http://schemas.openxmlformats.org/officeDocument/2006/relationships/notesMaster" Target="/ppt/notesMasters/notesMaster1.xml" Id="Rf39ebd98f14045e5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77dbb0c608c64379" /><Relationship Type="http://schemas.openxmlformats.org/officeDocument/2006/relationships/notesMaster" Target="/ppt/notesMasters/notesMaster1.xml" Id="Rc2afc286934a40d5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6aa75f0976b481d" /><Relationship Type="http://schemas.openxmlformats.org/officeDocument/2006/relationships/notesMaster" Target="/ppt/notesMasters/notesMaster1.xml" Id="Rf0cfa22c01964e4d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e8bd18a9d2534edb" /><Relationship Type="http://schemas.openxmlformats.org/officeDocument/2006/relationships/notesMaster" Target="/ppt/notesMasters/notesMaster1.xml" Id="Rac55eadb06114012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8a7088ec39db4fc2" /><Relationship Type="http://schemas.openxmlformats.org/officeDocument/2006/relationships/notesMaster" Target="/ppt/notesMasters/notesMaster1.xml" Id="Re6b91594cda34079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96b40d259b5249bf" /><Relationship Type="http://schemas.openxmlformats.org/officeDocument/2006/relationships/notesMaster" Target="/ppt/notesMasters/notesMaster1.xml" Id="R0bec2ffd8ab24820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3cff2431fd19438e" /><Relationship Type="http://schemas.openxmlformats.org/officeDocument/2006/relationships/notesMaster" Target="/ppt/notesMasters/notesMaster1.xml" Id="Rcc0d872c34bc4cfe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56c72c675f0b4aec" /><Relationship Type="http://schemas.openxmlformats.org/officeDocument/2006/relationships/notesMaster" Target="/ppt/notesMasters/notesMaster1.xml" Id="R739abe4a88764b98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d362587aa4e04552" /><Relationship Type="http://schemas.openxmlformats.org/officeDocument/2006/relationships/notesMaster" Target="/ppt/notesMasters/notesMaster1.xml" Id="Rd0820d9f61a0483e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708cbf2f2f734fd9" /><Relationship Type="http://schemas.openxmlformats.org/officeDocument/2006/relationships/notesMaster" Target="/ppt/notesMasters/notesMaster1.xml" Id="R0a5a237c708e4ad8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5397c5e6e9b546cf" /><Relationship Type="http://schemas.openxmlformats.org/officeDocument/2006/relationships/notesMaster" Target="/ppt/notesMasters/notesMaster1.xml" Id="R6ebc3d7d18ae4171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9807b3fe085a47d9" /><Relationship Type="http://schemas.openxmlformats.org/officeDocument/2006/relationships/notesMaster" Target="/ppt/notesMasters/notesMaster1.xml" Id="R9ac8ee022b7b4078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ddd0635e9cca45ca" /><Relationship Type="http://schemas.openxmlformats.org/officeDocument/2006/relationships/notesMaster" Target="/ppt/notesMasters/notesMaster1.xml" Id="R4057d1c2931e47ca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0c58ebbb2b674b7d" /><Relationship Type="http://schemas.openxmlformats.org/officeDocument/2006/relationships/notesMaster" Target="/ppt/notesMasters/notesMaster1.xml" Id="Rc6c6ccaed49649cd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17170525e9bf4b00" /><Relationship Type="http://schemas.openxmlformats.org/officeDocument/2006/relationships/notesMaster" Target="/ppt/notesMasters/notesMaster1.xml" Id="Red165798d69447b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f04961acf18b4706" /><Relationship Type="http://schemas.openxmlformats.org/officeDocument/2006/relationships/notesMaster" Target="/ppt/notesMasters/notesMaster1.xml" Id="R459d592fad594a78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59621c5944a9480e" /><Relationship Type="http://schemas.openxmlformats.org/officeDocument/2006/relationships/notesMaster" Target="/ppt/notesMasters/notesMaster1.xml" Id="R43c5542b7a16405e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4091b16cd122492a" /><Relationship Type="http://schemas.openxmlformats.org/officeDocument/2006/relationships/notesMaster" Target="/ppt/notesMasters/notesMaster1.xml" Id="Rb9e435d7d5a5409d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7d42f06bc6134be0" /><Relationship Type="http://schemas.openxmlformats.org/officeDocument/2006/relationships/notesMaster" Target="/ppt/notesMasters/notesMaster1.xml" Id="R285277a7ea8d4034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222d1143b6a546b6" /><Relationship Type="http://schemas.openxmlformats.org/officeDocument/2006/relationships/notesMaster" Target="/ppt/notesMasters/notesMaster1.xml" Id="R9a48c57d05c34588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a6aff738c9524e83" /><Relationship Type="http://schemas.openxmlformats.org/officeDocument/2006/relationships/notesMaster" Target="/ppt/notesMasters/notesMaster1.xml" Id="R924ba111c11747c1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b44c694842f648eb" /><Relationship Type="http://schemas.openxmlformats.org/officeDocument/2006/relationships/notesMaster" Target="/ppt/notesMasters/notesMaster1.xml" Id="R1b2d73a45ef34cd8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da00990d643f4031" /><Relationship Type="http://schemas.openxmlformats.org/officeDocument/2006/relationships/notesMaster" Target="/ppt/notesMasters/notesMaster1.xml" Id="R9d9f3fcef7f84cd5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a2f6039761e9421f" /><Relationship Type="http://schemas.openxmlformats.org/officeDocument/2006/relationships/notesMaster" Target="/ppt/notesMasters/notesMaster1.xml" Id="R8f74ccd956f34fac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3545f5d0b4ec40f8" /><Relationship Type="http://schemas.openxmlformats.org/officeDocument/2006/relationships/notesMaster" Target="/ppt/notesMasters/notesMaster1.xml" Id="R7f07bf68c3cb4c79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09efed87bea34ad7" /><Relationship Type="http://schemas.openxmlformats.org/officeDocument/2006/relationships/notesMaster" Target="/ppt/notesMasters/notesMaster1.xml" Id="Ra190fe1df453440c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6426564bc3c244df" /><Relationship Type="http://schemas.openxmlformats.org/officeDocument/2006/relationships/notesMaster" Target="/ppt/notesMasters/notesMaster1.xml" Id="Re300dc8bafa24a4e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54917bc18f5c4ce4" /><Relationship Type="http://schemas.openxmlformats.org/officeDocument/2006/relationships/notesMaster" Target="/ppt/notesMasters/notesMaster1.xml" Id="Rf1ef01f253bc48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المدة المقترحة: دقيقتان. افتتح بتأكيد أن البرنامج عملي وموجّه لغير التقنيين. اطلب من المشاركين إبقاء الأجهزة جاهزة للتجربة، مع الالتزام باستخدام البيانات المصطنعة فقط.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تقديم البرنامج وتهيئة بيئة التعلّم.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المدة المقترحة: 3 دقائق. وضّح مدة البرنامج ومحاوره ونسبة التطبيق. اربط كل نشاط بمخرج يحتفظ به المشارك ضمن حقيبته الشخصية.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تقديم البرنامج وتهيئة بيئة التعلّم.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تقديم البرنامج وتهيئة بيئة التعلّم.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تقديم البرنامج وتهيئة بيئة التعلّم.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المدة المقترحة: دقيقتان. راجع أجندة اليوم الأول وحدد مواضع الاستراحة. أخبر المشاركين أن المحور الثالث يحتاج دخولاً مسبقاً إلى أداة ذكاء اصطناعي معتمدة.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المدة المقترحة: دقيقتان. راجع أجندة اليوم الثاني. شدد على أن التحقق والسلامة وخطة التطبيق تمثل معايير المشروع الختامي.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تقديم البرنامج وتهيئة بيئة التعلّم.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تقديم البرنامج وتهيئة بيئة التعلّم.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تقديم البرنامج وتهيئة بيئة التعلّم.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نشاط استهلالي - 10 دقائق. كوّن مجموعات من 3 إلى 4 مشاركين. اجمع المهام المتكررة على لوحة مشتركة، ولا تناقش الأدوات بعد. احتفظ بالقائمة للعودة إليها في المحور السادس.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تمرين 1 - 12 دقيقة. اطلب خمس نقاط تماس مع الذكاء الاصطناعي خلال آخر 24 ساعة. فرّق بين الاستخدام الملحوظ والاستخدام الخفي. الخلاصة المطلوبة: التقنية موجودة بالفعل في سير العمل اليومي.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الأول: المفاهيم الأساسية.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تمرين 2 - 15 دقيقة. استخدم ورقة مطابقة المهمة بالأداة في دليل الأنشطة. امنح الفرق 8 دقائق للتصنيف و5 دقائق للمقارنة ودقيقتين للتصحيح. الإجابات النموذجية موجودة في دليل المدرب.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الثاني: أدوات العمل اليومية.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</a:p>
          <a:p xmlns:a="http://schemas.openxmlformats.org/drawingml/2006/main">
            <a:r>
              <a:t>المدة المقترحة: 3 إلى 5 دقائق.</a:t>
            </a:r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حي - 7 دقائق. نفّذ الطلب المختصر أولاً ثم طلب العناصر الأربعة. لا تحسّن الإجابة يدوياً قبل عرض المقارنة. اسأل المشاركين عن الفروق القابلة للملاحظة في الدقة والبنية والنبرة.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تمرين 3 - 15 دقيقة. يكتب كل مشارك طلباً مختصراً ثم يعيد بناءه بالعناصر الأربعة. اطلب الاحتفاظ بالإصدارين وقياس الزمن. لا تستخدم أمثلة تتضمن أسماء أو بيانات فعلية.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تمرين 4 - 12 دقيقة. وزع النص الاصطناعي المرفق في دليل الأنشطة. اطلب تلخيصاً من خمس نقاط مع منع إضافة معلومات من خارج المصدر، ثم راجع الالتزام بالقيد.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تمرين 5 - 15 دقيقة. استخدم ملاحظات الاجتماع المصطنعة. يجب أن ينتج المشارك جدولاً للقرارات والإجراءات والمسؤولين والمواعيد، ثم يتحقق من عدم اختلاق قرارات غير موجودة.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ورقة احتفاظ. اطلب من المشاركين فتح تبويب منشئ الطلب في ملف المتعلم. مرّ على البنود واحداً واحداً، ثم اطلب تحديد البند الذي ينسونه غالباً.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الثالث: صياغة الطلب والممارسة.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الرابع: حدود الأداة والتحقق.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الرابع: حدود الأداة والتحقق.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الرابع: حدود الأداة والتحقق.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الرابع: حدود الأداة والتحقق.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الرابع: حدود الأداة والتحقق.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الرابع: حدود الأداة والتحقق.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الرابع: حدود الأداة والتحقق.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ورقة احتفاظ. قدّم القائمة بوصفها بوابة اعتماد بشرية. استخدم مثالاً واحداً من ملف verification_answers.docx لتوضيح أن القراءة السريعة لا تكفي للتحقق.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دراسة حالة - 12 دقيقة. اعرض المخرجات الخمسة من ملف التحقق. اطلب من الفرق استخدام المصدر لتصنيف كل مخرج إلى استخدم أو تحقق أو ارفض، مع ذكر سبب واحد موثّق.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تحدي تحقق - 20 دقيقة. استخدم policy_document.pdf وverification_answers.docx. يجب تسجيل الادعاء وموضع الدليل والقرار في تبويب سجل التحقق بملف المتعلم.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الرابع: حدود الأداة والتحقق.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الرابع: حدود الأداة والتحقق.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</a:p>
          <a:p xmlns:a="http://schemas.openxmlformats.org/drawingml/2006/main">
            <a:r>
              <a:t>المدة المقترحة: 3 إلى 5 دقائق.</a:t>
            </a:r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تمرين 7 - 15 دقيقة. استخدم risk_cards.pptx. أعط كل مجموعة بطاقة مختلفة، ثم بدّل البطاقات بعد 6 دقائق. اطلب تصنيف البيانات والمخاطر والقرار والبديل الآمن.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الخامس: الاستخدام الآمن والمسؤول.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السادس: توظيف الذكاء الاصطناعي في العمل.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السادس: توظيف الذكاء الاصطناعي في العمل.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السادس: توظيف الذكاء الاصطناعي في العمل.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السادس: توظيف الذكاء الاصطناعي في العمل.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السادس: توظيف الذكاء الاصطناعي في العمل.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السادس: توظيف الذكاء الاصطناعي في العمل.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عمل تطبيقي - 12 دقيقة. افتح تبويب حاسبة الأثر في ملف المتعلم. اطلب قياس الزمن قبل وبعد الاستخدام وعدم قبول تقديرات غير مستندة إلى تجربة فعلية.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السادس: توظيف الذكاء الاصطناعي في العمل.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السادس: توظيف الذكاء الاصطناعي في العمل.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السادس: توظيف الذكاء الاصطناعي في العمل.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بطاقة تحدي العمل. يختار المشارك مهمة متكررة منخفضة المخاطر. راجع معهم نقطة الألم ودور الأداة ونقطة المراجعة البشرية قبل الانتقال إلى المشروع.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المشروع الختامي - 25 دقيقة إعداد و3 دقائق عرض لكل مشارك أو فريق. اجمع بطاقة الحالة والأمر قبل وبعد التحسين وسجل التحقق وتقدير الأثر. امنع استخدام بيانات حقيقية سرية أو شخصية.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التقييم الختامي. استخدم تبويب معايير المشروع في ملف المتعلم. سجّل الدرجة لكل معيار ثم راجع شرط الاجتياز. قدّم ملاحظة واحدة قابلة للتنفيذ لكل مشارك.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المحور السادس: توظيف الذكاء الاصطناعي في العمل.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الخلاصة والتقييم.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الخلاصة والتقييم.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الخروج بعشر أفكار - 8 دقائق. اطلب من المشاركين اختيار فكرتين فقط للأسبوع الأول. يجب أن تكون المهمة متكررة ومنخفضة المخاطر وسهلة القياس.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التقييم الختامي - الجزء الأول. امنح 4 دقائق من دون نقاش. استخدم مفتاح الإجابة بعد انتهاء الجميع.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التقييم الختامي - الجزء الثاني. امنح 4 دقائق من دون نقاش. راقب الفهم الخاص بالتحقق والخصوصية.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التقييم الختامي - الجزء الثالث. امنح 3 دقائق. اربط الأسئلة بخطة الثلاثين يوماً ومسؤولية الاعتماد.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مفتاح الإجابة. اطلب التصحيح الذاتي ثم اجمع النتيجة. من يحصل على أقل من 7 يعيد مراجعة المحاور ذات الإجابات الخاطئة قبل إعادة التقويم.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الخلاصة والتقييم.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الخلاصة والتقييم.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الخلاصة والتقييم.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القسم: الملحق التطبيقي.</a:t>
            </a:r>
            <a:endParaRPr/>
          </a:p>
          <a:p xmlns:a="http://schemas.openxmlformats.org/drawingml/2006/main">
            <a:r>
              <a:t>المدة المقترحة: 3 إلى 5 دقائق.</a:t>
            </a:r>
            <a:endParaRPr/>
          </a:p>
          <a:p xmlns:a="http://schemas.openxmlformats.org/drawingml/2006/main">
            <a:r>
              <a:t>إرشاد للمدرب: اشرح الفكرة بمثال واحد من بيئة العمل، ثم اطلب من مشارك إعادة صياغتها بلغته.</a:t>
            </a:r>
            <a:endParaRPr/>
          </a:p>
          <a:p xmlns:a="http://schemas.openxmlformats.org/drawingml/2006/main">
            <a:r>
              <a:t>نقطة تحقق: اسأل عن قرار عملي أو مخاطرة أو خطوة مراجعة ترتبط مباشرة بمحتوى الشريحة.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دراسة حالة خدمة العملاء - 15 دقيقة. وضّح أن الأرقام تخص دراسة منشورة وليست ضماناً لكل جهة. ركّز النقاش على اختلاف الأثر حسب الخبرة وعلى بقاء المراجعة البشرية.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دراسة حالة الحدود المتعرجة - 12 دقيقة. اطلب تصنيف عشر مهام إلى ينفذ ويساعد ويقود الإنسان ولا يستخدم. ناقش سبب تغير الدور باختلاف المهمة.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مختبر التحقق - 20 دقيقة. استخدم التقرير المصطنع وملف الإجابات. يجب أن يحدد الفريق الخطأ المزروع ويكتب ملخصاً مصححاً وجدول ادعاء ومصدر وقراراً نهائياً.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حزمة الملفات. افتح مجلد Data Files وعرّف بكل ملف في أقل من دقيقتين. وزّع الملفات قبل بدء المختبرات وتأكد من أن الجميع يعمل على نسخة محلية.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الختام - دقيقتان. اجمع ملفات المشروع وخطة الثلاثين يوماً والتقويم البعدي. أعد زيارة توقعات النشاط الاستهلالي وحدد خطوة المتابعة بعد التدريب.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f3d3f6e844b4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2033ae0c7487c" /><Relationship Type="http://schemas.openxmlformats.org/officeDocument/2006/relationships/slideLayout" Target="/ppt/slideLayouts/slideLayout1.xml" Id="Rda660bffdb7a418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660bffdb7a418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18335b3ac4995" /><Relationship Type="http://schemas.openxmlformats.org/officeDocument/2006/relationships/image" Target="/ppt/media/image.jpeg" Id="Rf25b2220a2704fa3" /><Relationship Type="http://schemas.openxmlformats.org/officeDocument/2006/relationships/image" Target="/ppt/media/image.png" Id="Rbc8d59877aa840ee" /><Relationship Type="http://schemas.openxmlformats.org/officeDocument/2006/relationships/notesSlide" Target="/ppt/notesSlides/notesSlide1.xml" Id="R692e737ceb6a47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35e2597f1464b" /><Relationship Type="http://schemas.openxmlformats.org/officeDocument/2006/relationships/image" Target="/ppt/media/image.png" Id="R58aba6c024fe4bdb" /><Relationship Type="http://schemas.openxmlformats.org/officeDocument/2006/relationships/notesSlide" Target="/ppt/notesSlides/notesSlide2.xml" Id="R3fa433924b094e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453b4144a47a8" /><Relationship Type="http://schemas.openxmlformats.org/officeDocument/2006/relationships/image" Target="/ppt/media/image.png" Id="R25ea4384dc0a46fc" /><Relationship Type="http://schemas.openxmlformats.org/officeDocument/2006/relationships/notesSlide" Target="/ppt/notesSlides/notesSlide3.xml" Id="R98e1edb6aac949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bb5108d334864" /><Relationship Type="http://schemas.openxmlformats.org/officeDocument/2006/relationships/image" Target="/ppt/media/image.png" Id="R144b268c9efa45f4" /><Relationship Type="http://schemas.openxmlformats.org/officeDocument/2006/relationships/notesSlide" Target="/ppt/notesSlides/notesSlide4.xml" Id="R6fe36719cda347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851c338214f92" /><Relationship Type="http://schemas.openxmlformats.org/officeDocument/2006/relationships/image" Target="/ppt/media/image.png" Id="Rce0e906dfee049b6" /><Relationship Type="http://schemas.openxmlformats.org/officeDocument/2006/relationships/notesSlide" Target="/ppt/notesSlides/notesSlide5.xml" Id="R6f29c73956dc48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56a711f8344ca" /><Relationship Type="http://schemas.openxmlformats.org/officeDocument/2006/relationships/image" Target="/ppt/media/image.png" Id="R9d89123346bb42da" /><Relationship Type="http://schemas.openxmlformats.org/officeDocument/2006/relationships/notesSlide" Target="/ppt/notesSlides/notesSlide6.xml" Id="R9086c6ec861b40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b70ce27a443f0" /><Relationship Type="http://schemas.openxmlformats.org/officeDocument/2006/relationships/image" Target="/ppt/media/image.png" Id="R6e3a647c913f4f58" /><Relationship Type="http://schemas.openxmlformats.org/officeDocument/2006/relationships/notesSlide" Target="/ppt/notesSlides/notesSlide7.xml" Id="R7810431fd8e040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5a8abca6d444c" /><Relationship Type="http://schemas.openxmlformats.org/officeDocument/2006/relationships/image" Target="/ppt/media/image.png" Id="Re8ad0218afaa40bd" /><Relationship Type="http://schemas.openxmlformats.org/officeDocument/2006/relationships/notesSlide" Target="/ppt/notesSlides/notesSlide8.xml" Id="R5f88f4ec89384b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d27b4e316404b" /><Relationship Type="http://schemas.openxmlformats.org/officeDocument/2006/relationships/image" Target="/ppt/media/image.png" Id="R19b841173db44004" /><Relationship Type="http://schemas.openxmlformats.org/officeDocument/2006/relationships/notesSlide" Target="/ppt/notesSlides/notesSlide9.xml" Id="R2e3735a5f37944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8877637434af7" /><Relationship Type="http://schemas.openxmlformats.org/officeDocument/2006/relationships/image" Target="/ppt/media/image.png" Id="R9bdfe363b2c249d5" /><Relationship Type="http://schemas.openxmlformats.org/officeDocument/2006/relationships/notesSlide" Target="/ppt/notesSlides/notesSlide10.xml" Id="R1c8050d6a57248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66af8ba54443c" /><Relationship Type="http://schemas.openxmlformats.org/officeDocument/2006/relationships/image" Target="/ppt/media/image.png" Id="Rcdfd3d9316d1462a" /><Relationship Type="http://schemas.openxmlformats.org/officeDocument/2006/relationships/notesSlide" Target="/ppt/notesSlides/notesSlide11.xml" Id="Reb12c3efbfe648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b8ace7ada4f02" /><Relationship Type="http://schemas.openxmlformats.org/officeDocument/2006/relationships/image" Target="/ppt/media/image.png" Id="R85df190455da4d67" /><Relationship Type="http://schemas.openxmlformats.org/officeDocument/2006/relationships/notesSlide" Target="/ppt/notesSlides/notesSlide12.xml" Id="Refbc840e981046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8da4feb0643d7" /><Relationship Type="http://schemas.openxmlformats.org/officeDocument/2006/relationships/image" Target="/ppt/media/image2.jpeg" Id="R04d18f0daa5542ad" /><Relationship Type="http://schemas.openxmlformats.org/officeDocument/2006/relationships/image" Target="/ppt/media/image2.png" Id="R57f118f8368042d9" /><Relationship Type="http://schemas.openxmlformats.org/officeDocument/2006/relationships/notesSlide" Target="/ppt/notesSlides/notesSlide13.xml" Id="R3a48c55e754040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fad179bb94405" /><Relationship Type="http://schemas.openxmlformats.org/officeDocument/2006/relationships/image" Target="/ppt/media/image.png" Id="Rde9792035d424e38" /><Relationship Type="http://schemas.openxmlformats.org/officeDocument/2006/relationships/notesSlide" Target="/ppt/notesSlides/notesSlide14.xml" Id="R2f3613c0698242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41596280e4cce" /><Relationship Type="http://schemas.openxmlformats.org/officeDocument/2006/relationships/image" Target="/ppt/media/image2.jpeg" Id="Rca945ce9d09342aa" /><Relationship Type="http://schemas.openxmlformats.org/officeDocument/2006/relationships/image" Target="/ppt/media/image2.png" Id="R565457bd34664dc4" /><Relationship Type="http://schemas.openxmlformats.org/officeDocument/2006/relationships/notesSlide" Target="/ppt/notesSlides/notesSlide15.xml" Id="Rde890b1ee4d049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ca989bae846a0" /><Relationship Type="http://schemas.openxmlformats.org/officeDocument/2006/relationships/image" Target="/ppt/media/image.png" Id="R6247a589fa454f7e" /><Relationship Type="http://schemas.openxmlformats.org/officeDocument/2006/relationships/notesSlide" Target="/ppt/notesSlides/notesSlide16.xml" Id="Rae9a58d2fd8c42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ff5313d554eda" /><Relationship Type="http://schemas.openxmlformats.org/officeDocument/2006/relationships/image" Target="/ppt/media/image.png" Id="R3685f8942bd044c2" /><Relationship Type="http://schemas.openxmlformats.org/officeDocument/2006/relationships/notesSlide" Target="/ppt/notesSlides/notesSlide17.xml" Id="R2220d5bfd56a4a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740ef67dd4050" /><Relationship Type="http://schemas.openxmlformats.org/officeDocument/2006/relationships/image" Target="/ppt/media/image.png" Id="R0bca75b6f8c84ba9" /><Relationship Type="http://schemas.openxmlformats.org/officeDocument/2006/relationships/notesSlide" Target="/ppt/notesSlides/notesSlide18.xml" Id="Rb7ed2f37dd044c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89a5790d24c5f" /><Relationship Type="http://schemas.openxmlformats.org/officeDocument/2006/relationships/image" Target="/ppt/media/image.png" Id="R9e18a6bdd48343dc" /><Relationship Type="http://schemas.openxmlformats.org/officeDocument/2006/relationships/notesSlide" Target="/ppt/notesSlides/notesSlide19.xml" Id="Re92f30c1ccac4ba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12f394e244558" /><Relationship Type="http://schemas.openxmlformats.org/officeDocument/2006/relationships/image" Target="/ppt/media/image.png" Id="Re3b861310ecd4813" /><Relationship Type="http://schemas.openxmlformats.org/officeDocument/2006/relationships/notesSlide" Target="/ppt/notesSlides/notesSlide20.xml" Id="Ree7d506cee174a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0a1c1bfc542a2" /><Relationship Type="http://schemas.openxmlformats.org/officeDocument/2006/relationships/image" Target="/ppt/media/image.png" Id="R3b915c6954f24d87" /><Relationship Type="http://schemas.openxmlformats.org/officeDocument/2006/relationships/notesSlide" Target="/ppt/notesSlides/notesSlide21.xml" Id="R450d684677684a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f810c8ea248dd" /><Relationship Type="http://schemas.openxmlformats.org/officeDocument/2006/relationships/image" Target="/ppt/media/image.png" Id="Rc1f4a25297084b3b" /><Relationship Type="http://schemas.openxmlformats.org/officeDocument/2006/relationships/notesSlide" Target="/ppt/notesSlides/notesSlide22.xml" Id="R0119ca3f41ae465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a033ef9b44543" /><Relationship Type="http://schemas.openxmlformats.org/officeDocument/2006/relationships/image" Target="/ppt/media/image.png" Id="Rb5dee8e86faa4f1c" /><Relationship Type="http://schemas.openxmlformats.org/officeDocument/2006/relationships/notesSlide" Target="/ppt/notesSlides/notesSlide23.xml" Id="Rd0ea3eb1b9e64f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624d7828640b9" /><Relationship Type="http://schemas.openxmlformats.org/officeDocument/2006/relationships/image" Target="/ppt/media/image.png" Id="R6e48c28ccf1d41ef" /><Relationship Type="http://schemas.openxmlformats.org/officeDocument/2006/relationships/notesSlide" Target="/ppt/notesSlides/notesSlide24.xml" Id="R68004f0750cf490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739dfa18242ae" /><Relationship Type="http://schemas.openxmlformats.org/officeDocument/2006/relationships/image" Target="/ppt/media/image.png" Id="R418c65cc98a64f5e" /><Relationship Type="http://schemas.openxmlformats.org/officeDocument/2006/relationships/notesSlide" Target="/ppt/notesSlides/notesSlide25.xml" Id="R127ade4c69a34b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5f5453cd14729" /><Relationship Type="http://schemas.openxmlformats.org/officeDocument/2006/relationships/image" Target="/ppt/media/image.png" Id="Rdf177aac4b5941b7" /><Relationship Type="http://schemas.openxmlformats.org/officeDocument/2006/relationships/notesSlide" Target="/ppt/notesSlides/notesSlide26.xml" Id="Rafb724579a254eb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e7fa5d7fc4e9e" /><Relationship Type="http://schemas.openxmlformats.org/officeDocument/2006/relationships/image" Target="/ppt/media/image.png" Id="R0266fd899b55414b" /><Relationship Type="http://schemas.openxmlformats.org/officeDocument/2006/relationships/notesSlide" Target="/ppt/notesSlides/notesSlide27.xml" Id="R5e3d7ecc22f04d1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284c16b124ac3" /><Relationship Type="http://schemas.openxmlformats.org/officeDocument/2006/relationships/image" Target="/ppt/media/image.png" Id="Rc8e4bc4f2c5b474b" /><Relationship Type="http://schemas.openxmlformats.org/officeDocument/2006/relationships/notesSlide" Target="/ppt/notesSlides/notesSlide28.xml" Id="R246eaf510f7d46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8b6167536427d" /><Relationship Type="http://schemas.openxmlformats.org/officeDocument/2006/relationships/image" Target="/ppt/media/image2.jpeg" Id="R2d5dd311f1524cd1" /><Relationship Type="http://schemas.openxmlformats.org/officeDocument/2006/relationships/image" Target="/ppt/media/image2.png" Id="Rc708a71bcba3414a" /><Relationship Type="http://schemas.openxmlformats.org/officeDocument/2006/relationships/notesSlide" Target="/ppt/notesSlides/notesSlide29.xml" Id="R3f1f1bad2fcb473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65d9bb50c417c" /><Relationship Type="http://schemas.openxmlformats.org/officeDocument/2006/relationships/image" Target="/ppt/media/image.png" Id="Re6615932fd8643c3" /><Relationship Type="http://schemas.openxmlformats.org/officeDocument/2006/relationships/notesSlide" Target="/ppt/notesSlides/notesSlide30.xml" Id="Rdf04f211bcbf425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9e20dab044f6a" /><Relationship Type="http://schemas.openxmlformats.org/officeDocument/2006/relationships/image" Target="/ppt/media/image.png" Id="Rf20d190822204a0c" /><Relationship Type="http://schemas.openxmlformats.org/officeDocument/2006/relationships/notesSlide" Target="/ppt/notesSlides/notesSlide31.xml" Id="R7ad1eabce7f04d3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25e717143489a" /><Relationship Type="http://schemas.openxmlformats.org/officeDocument/2006/relationships/image" Target="/ppt/media/image.png" Id="R6f1ad138157d4eaf" /><Relationship Type="http://schemas.openxmlformats.org/officeDocument/2006/relationships/notesSlide" Target="/ppt/notesSlides/notesSlide32.xml" Id="R97242d84a6314de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3f3021f334c2c" /><Relationship Type="http://schemas.openxmlformats.org/officeDocument/2006/relationships/image" Target="/ppt/media/image.png" Id="R26a0ba8006ae44b8" /><Relationship Type="http://schemas.openxmlformats.org/officeDocument/2006/relationships/notesSlide" Target="/ppt/notesSlides/notesSlide33.xml" Id="Rd2cb9925f481485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8a6be693346a2" /><Relationship Type="http://schemas.openxmlformats.org/officeDocument/2006/relationships/image" Target="/ppt/media/image.png" Id="R7c91830489d54efb" /><Relationship Type="http://schemas.openxmlformats.org/officeDocument/2006/relationships/notesSlide" Target="/ppt/notesSlides/notesSlide34.xml" Id="Racd47caf1ba644e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1ed9b1eb44a68" /><Relationship Type="http://schemas.openxmlformats.org/officeDocument/2006/relationships/image" Target="/ppt/media/image.png" Id="R88de0ceed9544689" /><Relationship Type="http://schemas.openxmlformats.org/officeDocument/2006/relationships/notesSlide" Target="/ppt/notesSlides/notesSlide35.xml" Id="Rd2f0dfcb6cc54b6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fbbc21cc54a8c" /><Relationship Type="http://schemas.openxmlformats.org/officeDocument/2006/relationships/image" Target="/ppt/media/image.png" Id="R371b149ad5854eb6" /><Relationship Type="http://schemas.openxmlformats.org/officeDocument/2006/relationships/notesSlide" Target="/ppt/notesSlides/notesSlide36.xml" Id="R256d097ec8ac41f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501dc9ce34dde" /><Relationship Type="http://schemas.openxmlformats.org/officeDocument/2006/relationships/image" Target="/ppt/media/image.png" Id="R70980432e19b46ad" /><Relationship Type="http://schemas.openxmlformats.org/officeDocument/2006/relationships/notesSlide" Target="/ppt/notesSlides/notesSlide37.xml" Id="R04d1627ca32b49c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2df22d5154e70" /><Relationship Type="http://schemas.openxmlformats.org/officeDocument/2006/relationships/image" Target="/ppt/media/image.png" Id="R1a088a3f43b74205" /><Relationship Type="http://schemas.openxmlformats.org/officeDocument/2006/relationships/notesSlide" Target="/ppt/notesSlides/notesSlide38.xml" Id="Rcda63590b73449d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1f33fc9fd4fb2" /><Relationship Type="http://schemas.openxmlformats.org/officeDocument/2006/relationships/image" Target="/ppt/media/image.png" Id="R0d2d74ce50bb41da" /><Relationship Type="http://schemas.openxmlformats.org/officeDocument/2006/relationships/notesSlide" Target="/ppt/notesSlides/notesSlide39.xml" Id="Ra77f5dbb3dd14b0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12ef529494b9e" /><Relationship Type="http://schemas.openxmlformats.org/officeDocument/2006/relationships/image" Target="/ppt/media/image.png" Id="R056b6a513a31428c" /><Relationship Type="http://schemas.openxmlformats.org/officeDocument/2006/relationships/notesSlide" Target="/ppt/notesSlides/notesSlide40.xml" Id="Rc5920fde078842e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ed4a6661048de" /><Relationship Type="http://schemas.openxmlformats.org/officeDocument/2006/relationships/image" Target="/ppt/media/image.png" Id="Re1051846467846d6" /><Relationship Type="http://schemas.openxmlformats.org/officeDocument/2006/relationships/notesSlide" Target="/ppt/notesSlides/notesSlide41.xml" Id="Ra0cceefa36ed4fd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b7c3d9eb14d69" /><Relationship Type="http://schemas.openxmlformats.org/officeDocument/2006/relationships/image" Target="/ppt/media/image.png" Id="R85c3eb8f1a7b48ba" /><Relationship Type="http://schemas.openxmlformats.org/officeDocument/2006/relationships/notesSlide" Target="/ppt/notesSlides/notesSlide42.xml" Id="Rec2d7562d71c4cb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db3e8ccc84792" /><Relationship Type="http://schemas.openxmlformats.org/officeDocument/2006/relationships/image" Target="/ppt/media/image2.jpeg" Id="Rec80e54fc7d24489" /><Relationship Type="http://schemas.openxmlformats.org/officeDocument/2006/relationships/image" Target="/ppt/media/image2.png" Id="R76ac0f032b334382" /><Relationship Type="http://schemas.openxmlformats.org/officeDocument/2006/relationships/notesSlide" Target="/ppt/notesSlides/notesSlide43.xml" Id="R5134e5b61bfb4a7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f819f518c49ed" /><Relationship Type="http://schemas.openxmlformats.org/officeDocument/2006/relationships/image" Target="/ppt/media/image2.jpeg" Id="R1204a08f507545f9" /><Relationship Type="http://schemas.openxmlformats.org/officeDocument/2006/relationships/image" Target="/ppt/media/image2.png" Id="R3e74afe3d7ee468b" /><Relationship Type="http://schemas.openxmlformats.org/officeDocument/2006/relationships/notesSlide" Target="/ppt/notesSlides/notesSlide44.xml" Id="R22fb05f8886e475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2686d46764ebd" /><Relationship Type="http://schemas.openxmlformats.org/officeDocument/2006/relationships/image" Target="/ppt/media/image.png" Id="Rf8b33cebe88d4c8c" /><Relationship Type="http://schemas.openxmlformats.org/officeDocument/2006/relationships/notesSlide" Target="/ppt/notesSlides/notesSlide45.xml" Id="R1b3e5827bbf04cc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4a8d9f06a4120" /><Relationship Type="http://schemas.openxmlformats.org/officeDocument/2006/relationships/image" Target="/ppt/media/image.png" Id="Rec1726139f814d23" /><Relationship Type="http://schemas.openxmlformats.org/officeDocument/2006/relationships/notesSlide" Target="/ppt/notesSlides/notesSlide46.xml" Id="R46786f7eed3c4a6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f0822f78d4ca9" /><Relationship Type="http://schemas.openxmlformats.org/officeDocument/2006/relationships/image" Target="/ppt/media/image.png" Id="R3da957753b6b4253" /><Relationship Type="http://schemas.openxmlformats.org/officeDocument/2006/relationships/notesSlide" Target="/ppt/notesSlides/notesSlide47.xml" Id="R6a88f3361c20465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5f78b716f4047" /><Relationship Type="http://schemas.openxmlformats.org/officeDocument/2006/relationships/image" Target="/ppt/media/image.png" Id="Rca7b12c0bf544909" /><Relationship Type="http://schemas.openxmlformats.org/officeDocument/2006/relationships/notesSlide" Target="/ppt/notesSlides/notesSlide48.xml" Id="R916fa991277e447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575ea733c4ffb" /><Relationship Type="http://schemas.openxmlformats.org/officeDocument/2006/relationships/image" Target="/ppt/media/image.png" Id="Rd23e3bccb96746fd" /><Relationship Type="http://schemas.openxmlformats.org/officeDocument/2006/relationships/notesSlide" Target="/ppt/notesSlides/notesSlide49.xml" Id="R07281fe5c261428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a1ca503dc456e" /><Relationship Type="http://schemas.openxmlformats.org/officeDocument/2006/relationships/image" Target="/ppt/media/image.png" Id="Rdbddfd9be6974701" /><Relationship Type="http://schemas.openxmlformats.org/officeDocument/2006/relationships/notesSlide" Target="/ppt/notesSlides/notesSlide50.xml" Id="R40e0b7ee091b4de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08b71bda445e2" /><Relationship Type="http://schemas.openxmlformats.org/officeDocument/2006/relationships/image" Target="/ppt/media/image.png" Id="R4f34ff9d02854142" /><Relationship Type="http://schemas.openxmlformats.org/officeDocument/2006/relationships/notesSlide" Target="/ppt/notesSlides/notesSlide51.xml" Id="R22bdaacfe9d944a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ae897fffa41d9" /><Relationship Type="http://schemas.openxmlformats.org/officeDocument/2006/relationships/image" Target="/ppt/media/image.png" Id="R653475fba0854116" /><Relationship Type="http://schemas.openxmlformats.org/officeDocument/2006/relationships/notesSlide" Target="/ppt/notesSlides/notesSlide52.xml" Id="Raef56a1d4d9946a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1792e654d4f89" /><Relationship Type="http://schemas.openxmlformats.org/officeDocument/2006/relationships/image" Target="/ppt/media/image.png" Id="R961b4814ef8f4e11" /><Relationship Type="http://schemas.openxmlformats.org/officeDocument/2006/relationships/notesSlide" Target="/ppt/notesSlides/notesSlide53.xml" Id="R87ba26964f334d1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2443d014b4e94" /><Relationship Type="http://schemas.openxmlformats.org/officeDocument/2006/relationships/image" Target="/ppt/media/image.png" Id="R42f7c690f6464849" /><Relationship Type="http://schemas.openxmlformats.org/officeDocument/2006/relationships/notesSlide" Target="/ppt/notesSlides/notesSlide54.xml" Id="R6c151a35d40f461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f86c0d05f44e9" /><Relationship Type="http://schemas.openxmlformats.org/officeDocument/2006/relationships/image" Target="/ppt/media/image.png" Id="R3db7338db8034500" /><Relationship Type="http://schemas.openxmlformats.org/officeDocument/2006/relationships/notesSlide" Target="/ppt/notesSlides/notesSlide55.xml" Id="R475e64017453498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957dcb2c5404c" /><Relationship Type="http://schemas.openxmlformats.org/officeDocument/2006/relationships/image" Target="/ppt/media/image.png" Id="Rbf735ce451084cb8" /><Relationship Type="http://schemas.openxmlformats.org/officeDocument/2006/relationships/notesSlide" Target="/ppt/notesSlides/notesSlide56.xml" Id="Rbe411d5623544e6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e722986c84ab3" /><Relationship Type="http://schemas.openxmlformats.org/officeDocument/2006/relationships/image" Target="/ppt/media/image.png" Id="R45485f154b6f4ee7" /><Relationship Type="http://schemas.openxmlformats.org/officeDocument/2006/relationships/notesSlide" Target="/ppt/notesSlides/notesSlide57.xml" Id="R50f6e5e33933468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02a0d95164a18" /><Relationship Type="http://schemas.openxmlformats.org/officeDocument/2006/relationships/image" Target="/ppt/media/image.png" Id="R568e903eac874af2" /><Relationship Type="http://schemas.openxmlformats.org/officeDocument/2006/relationships/notesSlide" Target="/ppt/notesSlides/notesSlide58.xml" Id="Rc1ecc0c9af8a4c3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ceb1bb8c44414" /><Relationship Type="http://schemas.openxmlformats.org/officeDocument/2006/relationships/image" Target="/ppt/media/image.png" Id="Rab8118ac4a8d48fb" /><Relationship Type="http://schemas.openxmlformats.org/officeDocument/2006/relationships/notesSlide" Target="/ppt/notesSlides/notesSlide59.xml" Id="R3e2115ab6e074ff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040d0c6b746b7" /><Relationship Type="http://schemas.openxmlformats.org/officeDocument/2006/relationships/image" Target="/ppt/media/image.png" Id="R797ba6d316a84436" /><Relationship Type="http://schemas.openxmlformats.org/officeDocument/2006/relationships/notesSlide" Target="/ppt/notesSlides/notesSlide60.xml" Id="Re6b8b2136f1f499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4040547b84732" /><Relationship Type="http://schemas.openxmlformats.org/officeDocument/2006/relationships/image" Target="/ppt/media/image2.jpeg" Id="Rd53e50b2042548e7" /><Relationship Type="http://schemas.openxmlformats.org/officeDocument/2006/relationships/image" Target="/ppt/media/image2.png" Id="R624a0cdb06a849f7" /><Relationship Type="http://schemas.openxmlformats.org/officeDocument/2006/relationships/notesSlide" Target="/ppt/notesSlides/notesSlide61.xml" Id="Rb2dc685b7c4d421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8e4a109c84c51" /><Relationship Type="http://schemas.openxmlformats.org/officeDocument/2006/relationships/image" Target="/ppt/media/image2.jpeg" Id="R4c15227487b747a6" /><Relationship Type="http://schemas.openxmlformats.org/officeDocument/2006/relationships/image" Target="/ppt/media/image2.png" Id="R23781a42793f4bd1" /><Relationship Type="http://schemas.openxmlformats.org/officeDocument/2006/relationships/notesSlide" Target="/ppt/notesSlides/notesSlide62.xml" Id="Rae600a8d9bcd4112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b4ba2fa8b4c1d" /><Relationship Type="http://schemas.openxmlformats.org/officeDocument/2006/relationships/image" Target="/ppt/media/image.png" Id="R2cafe9fa4c344152" /><Relationship Type="http://schemas.openxmlformats.org/officeDocument/2006/relationships/notesSlide" Target="/ppt/notesSlides/notesSlide63.xml" Id="R653862a65e95484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0abeb26c3497d" /><Relationship Type="http://schemas.openxmlformats.org/officeDocument/2006/relationships/image" Target="/ppt/media/image.png" Id="R10f53acf6e474311" /><Relationship Type="http://schemas.openxmlformats.org/officeDocument/2006/relationships/notesSlide" Target="/ppt/notesSlides/notesSlide64.xml" Id="R898440a4157a41f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ad625ed794e83" /><Relationship Type="http://schemas.openxmlformats.org/officeDocument/2006/relationships/image" Target="/ppt/media/image.png" Id="R3f91a3bc57a746a5" /><Relationship Type="http://schemas.openxmlformats.org/officeDocument/2006/relationships/notesSlide" Target="/ppt/notesSlides/notesSlide65.xml" Id="R31116e82772c4776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83c08f9b94a4b" /><Relationship Type="http://schemas.openxmlformats.org/officeDocument/2006/relationships/image" Target="/ppt/media/image.png" Id="R69c6f69622194ab7" /><Relationship Type="http://schemas.openxmlformats.org/officeDocument/2006/relationships/notesSlide" Target="/ppt/notesSlides/notesSlide66.xml" Id="R0f1189ee0f67466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daffc68ac4a42" /><Relationship Type="http://schemas.openxmlformats.org/officeDocument/2006/relationships/image" Target="/ppt/media/image.png" Id="Rd63eb8a9ad214aeb" /><Relationship Type="http://schemas.openxmlformats.org/officeDocument/2006/relationships/notesSlide" Target="/ppt/notesSlides/notesSlide67.xml" Id="R276942a15dfb4942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971a8a9ad4bd6" /><Relationship Type="http://schemas.openxmlformats.org/officeDocument/2006/relationships/image" Target="/ppt/media/image.png" Id="R2ee082cab4104f4c" /><Relationship Type="http://schemas.openxmlformats.org/officeDocument/2006/relationships/notesSlide" Target="/ppt/notesSlides/notesSlide68.xml" Id="Ra09c905a6efd4262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1097fbfa843ab" /><Relationship Type="http://schemas.openxmlformats.org/officeDocument/2006/relationships/image" Target="/ppt/media/image.png" Id="Reb518cde93f94286" /><Relationship Type="http://schemas.openxmlformats.org/officeDocument/2006/relationships/notesSlide" Target="/ppt/notesSlides/notesSlide69.xml" Id="Rb5abf8433c1b46ac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3e341bb584412" /><Relationship Type="http://schemas.openxmlformats.org/officeDocument/2006/relationships/image" Target="/ppt/media/image.png" Id="R0375070455594217" /><Relationship Type="http://schemas.openxmlformats.org/officeDocument/2006/relationships/notesSlide" Target="/ppt/notesSlides/notesSlide70.xml" Id="Rcffb7a1a45334a87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53b607f4d4eaa" /><Relationship Type="http://schemas.openxmlformats.org/officeDocument/2006/relationships/image" Target="/ppt/media/image.png" Id="R43888d1de16941f4" /><Relationship Type="http://schemas.openxmlformats.org/officeDocument/2006/relationships/notesSlide" Target="/ppt/notesSlides/notesSlide71.xml" Id="R818de8b2e0f24b4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e4a304a6c4153" /><Relationship Type="http://schemas.openxmlformats.org/officeDocument/2006/relationships/image" Target="/ppt/media/image.png" Id="Raf3b49739ccd4256" /><Relationship Type="http://schemas.openxmlformats.org/officeDocument/2006/relationships/notesSlide" Target="/ppt/notesSlides/notesSlide72.xml" Id="R743a04256c034031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6b1cd153444d6" /><Relationship Type="http://schemas.openxmlformats.org/officeDocument/2006/relationships/image" Target="/ppt/media/image2.jpeg" Id="R4a5565a7f9d64b51" /><Relationship Type="http://schemas.openxmlformats.org/officeDocument/2006/relationships/image" Target="/ppt/media/image2.png" Id="R132d33e471684795" /><Relationship Type="http://schemas.openxmlformats.org/officeDocument/2006/relationships/notesSlide" Target="/ppt/notesSlides/notesSlide73.xml" Id="Rbaa7b813c438480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6811007f14b04" /><Relationship Type="http://schemas.openxmlformats.org/officeDocument/2006/relationships/image" Target="/ppt/media/image2.jpeg" Id="R3c34fcffa1ce4afe" /><Relationship Type="http://schemas.openxmlformats.org/officeDocument/2006/relationships/image" Target="/ppt/media/image2.png" Id="R8889b079120248b2" /><Relationship Type="http://schemas.openxmlformats.org/officeDocument/2006/relationships/notesSlide" Target="/ppt/notesSlides/notesSlide74.xml" Id="R57f1c45b8c79444a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73fc2754a4636" /><Relationship Type="http://schemas.openxmlformats.org/officeDocument/2006/relationships/image" Target="/ppt/media/image.png" Id="R16d0c2c8682d47fa" /><Relationship Type="http://schemas.openxmlformats.org/officeDocument/2006/relationships/notesSlide" Target="/ppt/notesSlides/notesSlide75.xml" Id="Rb87876c48c244af0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6a458cef44742" /><Relationship Type="http://schemas.openxmlformats.org/officeDocument/2006/relationships/image" Target="/ppt/media/image.png" Id="R62f873228a4c4ee8" /><Relationship Type="http://schemas.openxmlformats.org/officeDocument/2006/relationships/notesSlide" Target="/ppt/notesSlides/notesSlide76.xml" Id="R0ac484afa8144217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e97ba16264110" /><Relationship Type="http://schemas.openxmlformats.org/officeDocument/2006/relationships/image" Target="/ppt/media/image.png" Id="R135e7b102b5946a6" /><Relationship Type="http://schemas.openxmlformats.org/officeDocument/2006/relationships/notesSlide" Target="/ppt/notesSlides/notesSlide77.xml" Id="Rf1f2886a18a14ac4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710afa4204526" /><Relationship Type="http://schemas.openxmlformats.org/officeDocument/2006/relationships/image" Target="/ppt/media/image.png" Id="R1f5ec488d01f4525" /><Relationship Type="http://schemas.openxmlformats.org/officeDocument/2006/relationships/notesSlide" Target="/ppt/notesSlides/notesSlide78.xml" Id="R89d40949ffed43f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acd2ccb094b77" /><Relationship Type="http://schemas.openxmlformats.org/officeDocument/2006/relationships/image" Target="/ppt/media/image.png" Id="Rfbe7202ccd904800" /><Relationship Type="http://schemas.openxmlformats.org/officeDocument/2006/relationships/notesSlide" Target="/ppt/notesSlides/notesSlide79.xml" Id="R07294b92da6449ef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784d42fa04426" /><Relationship Type="http://schemas.openxmlformats.org/officeDocument/2006/relationships/image" Target="/ppt/media/image.png" Id="R50ac9576734c4595" /><Relationship Type="http://schemas.openxmlformats.org/officeDocument/2006/relationships/notesSlide" Target="/ppt/notesSlides/notesSlide80.xml" Id="R90e6e8678d59426e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93079430943c6" /><Relationship Type="http://schemas.openxmlformats.org/officeDocument/2006/relationships/image" Target="/ppt/media/image.png" Id="Racd1dbf021e14a08" /><Relationship Type="http://schemas.openxmlformats.org/officeDocument/2006/relationships/notesSlide" Target="/ppt/notesSlides/notesSlide81.xml" Id="Rac131dfe1502429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6a4b0d2b94097" /><Relationship Type="http://schemas.openxmlformats.org/officeDocument/2006/relationships/image" Target="/ppt/media/image.png" Id="Rae3418a18fbd413e" /><Relationship Type="http://schemas.openxmlformats.org/officeDocument/2006/relationships/notesSlide" Target="/ppt/notesSlides/notesSlide82.xml" Id="R2cf1762f807c4af1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12a90987f4137" /><Relationship Type="http://schemas.openxmlformats.org/officeDocument/2006/relationships/image" Target="/ppt/media/image.png" Id="R1ced6fbcd1504c19" /><Relationship Type="http://schemas.openxmlformats.org/officeDocument/2006/relationships/notesSlide" Target="/ppt/notesSlides/notesSlide83.xml" Id="R4a62bec5e74d4b2f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485429b1e42ba" /><Relationship Type="http://schemas.openxmlformats.org/officeDocument/2006/relationships/image" Target="/ppt/media/image.png" Id="Ra1bb0295aa45403b" /><Relationship Type="http://schemas.openxmlformats.org/officeDocument/2006/relationships/notesSlide" Target="/ppt/notesSlides/notesSlide84.xml" Id="R32583fbd105b4018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213d992d84f1d" /><Relationship Type="http://schemas.openxmlformats.org/officeDocument/2006/relationships/image" Target="/ppt/media/image.png" Id="R868c090a22ea421a" /><Relationship Type="http://schemas.openxmlformats.org/officeDocument/2006/relationships/notesSlide" Target="/ppt/notesSlides/notesSlide85.xml" Id="R3d003773e3df4fcc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485c58dd24966" /><Relationship Type="http://schemas.openxmlformats.org/officeDocument/2006/relationships/image" Target="/ppt/media/image.png" Id="R3bbeb94db9e748fb" /><Relationship Type="http://schemas.openxmlformats.org/officeDocument/2006/relationships/notesSlide" Target="/ppt/notesSlides/notesSlide86.xml" Id="Rcbc46f39813749c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c88331b384dcc" /><Relationship Type="http://schemas.openxmlformats.org/officeDocument/2006/relationships/image" Target="/ppt/media/image2.jpeg" Id="Rbf1d56f568574160" /><Relationship Type="http://schemas.openxmlformats.org/officeDocument/2006/relationships/image" Target="/ppt/media/image2.png" Id="R4feee7dfe8bd478a" /><Relationship Type="http://schemas.openxmlformats.org/officeDocument/2006/relationships/notesSlide" Target="/ppt/notesSlides/notesSlide87.xml" Id="R89a8954f65e24bb3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1cccd0b6b48c5" /><Relationship Type="http://schemas.openxmlformats.org/officeDocument/2006/relationships/image" Target="/ppt/media/image2.jpeg" Id="Ree09eb5166d44415" /><Relationship Type="http://schemas.openxmlformats.org/officeDocument/2006/relationships/image" Target="/ppt/media/image2.png" Id="R11b91cc6dc42491e" /><Relationship Type="http://schemas.openxmlformats.org/officeDocument/2006/relationships/notesSlide" Target="/ppt/notesSlides/notesSlide88.xml" Id="Ra45ea1517c7046f1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8d6733bfb418c" /><Relationship Type="http://schemas.openxmlformats.org/officeDocument/2006/relationships/image" Target="/ppt/media/image.png" Id="Rb451d7ab555b409b" /><Relationship Type="http://schemas.openxmlformats.org/officeDocument/2006/relationships/notesSlide" Target="/ppt/notesSlides/notesSlide89.xml" Id="R370216434fc04a7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b780110894720" /><Relationship Type="http://schemas.openxmlformats.org/officeDocument/2006/relationships/image" Target="/ppt/media/image.png" Id="R4bd11f18fb8c4b64" /><Relationship Type="http://schemas.openxmlformats.org/officeDocument/2006/relationships/notesSlide" Target="/ppt/notesSlides/notesSlide90.xml" Id="R7de31d1dad59424b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3bd015e214b36" /><Relationship Type="http://schemas.openxmlformats.org/officeDocument/2006/relationships/image" Target="/ppt/media/image.png" Id="Rafcd1943f2b3421a" /><Relationship Type="http://schemas.openxmlformats.org/officeDocument/2006/relationships/notesSlide" Target="/ppt/notesSlides/notesSlide91.xml" Id="Rf34a8f96baa04c6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a80fb257440e1" /><Relationship Type="http://schemas.openxmlformats.org/officeDocument/2006/relationships/image" Target="/ppt/media/image.png" Id="R13917fb9021d4e07" /><Relationship Type="http://schemas.openxmlformats.org/officeDocument/2006/relationships/notesSlide" Target="/ppt/notesSlides/notesSlide92.xml" Id="Rb408bbee74b14abe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714da1a314744" /><Relationship Type="http://schemas.openxmlformats.org/officeDocument/2006/relationships/image" Target="/ppt/media/image.png" Id="Rbdee2e88dc4a4f79" /><Relationship Type="http://schemas.openxmlformats.org/officeDocument/2006/relationships/notesSlide" Target="/ppt/notesSlides/notesSlide93.xml" Id="R9e5b08ec82ed405b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1393fb60442c6" /><Relationship Type="http://schemas.openxmlformats.org/officeDocument/2006/relationships/image" Target="/ppt/media/image.png" Id="R92fab588bca64363" /><Relationship Type="http://schemas.openxmlformats.org/officeDocument/2006/relationships/notesSlide" Target="/ppt/notesSlides/notesSlide94.xml" Id="Ra5eed840919b4eea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f68dfee6e4b82" /><Relationship Type="http://schemas.openxmlformats.org/officeDocument/2006/relationships/image" Target="/ppt/media/image.png" Id="R4318d237de5544c6" /><Relationship Type="http://schemas.openxmlformats.org/officeDocument/2006/relationships/notesSlide" Target="/ppt/notesSlides/notesSlide95.xml" Id="Ra4b0a64681a444b4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a080692574654" /><Relationship Type="http://schemas.openxmlformats.org/officeDocument/2006/relationships/image" Target="/ppt/media/image.png" Id="R839ccbc49e904a4d" /><Relationship Type="http://schemas.openxmlformats.org/officeDocument/2006/relationships/notesSlide" Target="/ppt/notesSlides/notesSlide96.xml" Id="Rc2d85af8308a4709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abddb02774892" /><Relationship Type="http://schemas.openxmlformats.org/officeDocument/2006/relationships/image" Target="/ppt/media/image.png" Id="Radd59e52ff334fa9" /><Relationship Type="http://schemas.openxmlformats.org/officeDocument/2006/relationships/notesSlide" Target="/ppt/notesSlides/notesSlide97.xml" Id="R215ea20a7e2247aa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96aa59edf4fd6" /><Relationship Type="http://schemas.openxmlformats.org/officeDocument/2006/relationships/image" Target="/ppt/media/image.png" Id="Ra28685b6fdb6406e" /><Relationship Type="http://schemas.openxmlformats.org/officeDocument/2006/relationships/notesSlide" Target="/ppt/notesSlides/notesSlide98.xml" Id="R706b2eddd8a7473c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b7a2032e04f8a" /><Relationship Type="http://schemas.openxmlformats.org/officeDocument/2006/relationships/image" Target="/ppt/media/image.png" Id="Rba159fa553424d2f" /><Relationship Type="http://schemas.openxmlformats.org/officeDocument/2006/relationships/notesSlide" Target="/ppt/notesSlides/notesSlide99.xml" Id="Ra622098344bb4de6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c44fdcde04d8b" /><Relationship Type="http://schemas.openxmlformats.org/officeDocument/2006/relationships/image" Target="/ppt/media/image.png" Id="Rd081c991b0d8451e" /><Relationship Type="http://schemas.openxmlformats.org/officeDocument/2006/relationships/notesSlide" Target="/ppt/notesSlides/notesSlide100.xml" Id="R00aced1c2f4e4099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d4141694b4142" /><Relationship Type="http://schemas.openxmlformats.org/officeDocument/2006/relationships/image" Target="/ppt/media/image2.jpeg" Id="Rbc35acf247394fb5" /><Relationship Type="http://schemas.openxmlformats.org/officeDocument/2006/relationships/image" Target="/ppt/media/image2.png" Id="R06cc29c9a7504de7" /><Relationship Type="http://schemas.openxmlformats.org/officeDocument/2006/relationships/notesSlide" Target="/ppt/notesSlides/notesSlide101.xml" Id="R4d594e71e94c4bb3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c8637cdf34617" /><Relationship Type="http://schemas.openxmlformats.org/officeDocument/2006/relationships/image" Target="/ppt/media/image.png" Id="R5e9fb722f7eb4c12" /><Relationship Type="http://schemas.openxmlformats.org/officeDocument/2006/relationships/notesSlide" Target="/ppt/notesSlides/notesSlide102.xml" Id="R2b9a39d3e41e4206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709b975144ebb" /><Relationship Type="http://schemas.openxmlformats.org/officeDocument/2006/relationships/image" Target="/ppt/media/image.png" Id="Raf4e434653bb4239" /><Relationship Type="http://schemas.openxmlformats.org/officeDocument/2006/relationships/notesSlide" Target="/ppt/notesSlides/notesSlide103.xml" Id="Rabfdcc05f4cc48ef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fa43b1828469e" /><Relationship Type="http://schemas.openxmlformats.org/officeDocument/2006/relationships/image" Target="/ppt/media/image.png" Id="Raa55332daa624336" /><Relationship Type="http://schemas.openxmlformats.org/officeDocument/2006/relationships/notesSlide" Target="/ppt/notesSlides/notesSlide104.xml" Id="Rf341f5bf11104029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b43e5c9b149c7" /><Relationship Type="http://schemas.openxmlformats.org/officeDocument/2006/relationships/image" Target="/ppt/media/image.png" Id="Rbb2e09df084a4abe" /><Relationship Type="http://schemas.openxmlformats.org/officeDocument/2006/relationships/notesSlide" Target="/ppt/notesSlides/notesSlide105.xml" Id="Rd9564e80ede0499c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1b54d0ef2429f" /><Relationship Type="http://schemas.openxmlformats.org/officeDocument/2006/relationships/image" Target="/ppt/media/image.png" Id="R574ad82d42c14fff" /><Relationship Type="http://schemas.openxmlformats.org/officeDocument/2006/relationships/notesSlide" Target="/ppt/notesSlides/notesSlide106.xml" Id="R0af00e5b3d5148b1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41119c30c43ac" /><Relationship Type="http://schemas.openxmlformats.org/officeDocument/2006/relationships/image" Target="/ppt/media/image.png" Id="Rf17c3a38471d4086" /><Relationship Type="http://schemas.openxmlformats.org/officeDocument/2006/relationships/notesSlide" Target="/ppt/notesSlides/notesSlide107.xml" Id="R2f79a95f4b764892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0544a59b04c2a" /><Relationship Type="http://schemas.openxmlformats.org/officeDocument/2006/relationships/image" Target="/ppt/media/image.png" Id="R875459fbe76a4eef" /><Relationship Type="http://schemas.openxmlformats.org/officeDocument/2006/relationships/notesSlide" Target="/ppt/notesSlides/notesSlide108.xml" Id="R9f758ecc796f4522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1a6452d9a449f" /><Relationship Type="http://schemas.openxmlformats.org/officeDocument/2006/relationships/image" Target="/ppt/media/image.png" Id="R12f3801d9e8a4398" /><Relationship Type="http://schemas.openxmlformats.org/officeDocument/2006/relationships/notesSlide" Target="/ppt/notesSlides/notesSlide109.xml" Id="Ra3a35ac2867341c3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7557f64f04157" /><Relationship Type="http://schemas.openxmlformats.org/officeDocument/2006/relationships/image" Target="/ppt/media/image.png" Id="Re76fbc31f2f4421e" /><Relationship Type="http://schemas.openxmlformats.org/officeDocument/2006/relationships/notesSlide" Target="/ppt/notesSlides/notesSlide110.xml" Id="R9f94520c7abf4e4b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a2e717ac647e8" /><Relationship Type="http://schemas.openxmlformats.org/officeDocument/2006/relationships/image" Target="/ppt/media/image2.jpeg" Id="R6217a6eadba14b47" /><Relationship Type="http://schemas.openxmlformats.org/officeDocument/2006/relationships/image" Target="/ppt/media/image2.png" Id="R04ca45415dcd49c2" /><Relationship Type="http://schemas.openxmlformats.org/officeDocument/2006/relationships/notesSlide" Target="/ppt/notesSlides/notesSlide111.xml" Id="Rf2212b886044491e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9a78933614b9e" /><Relationship Type="http://schemas.openxmlformats.org/officeDocument/2006/relationships/image" Target="/ppt/media/image.png" Id="Rd7fe8519f9af457e" /><Relationship Type="http://schemas.openxmlformats.org/officeDocument/2006/relationships/notesSlide" Target="/ppt/notesSlides/notesSlide112.xml" Id="R80b4b0d91fe34746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0a62b71ae4904" /><Relationship Type="http://schemas.openxmlformats.org/officeDocument/2006/relationships/image" Target="/ppt/media/image.png" Id="R977ef6e9023d4ee7" /><Relationship Type="http://schemas.openxmlformats.org/officeDocument/2006/relationships/notesSlide" Target="/ppt/notesSlides/notesSlide113.xml" Id="Rba1ac50f406a442a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26c0692034ada" /><Relationship Type="http://schemas.openxmlformats.org/officeDocument/2006/relationships/image" Target="/ppt/media/image.png" Id="Rd6d0db76c9d34d16" /><Relationship Type="http://schemas.openxmlformats.org/officeDocument/2006/relationships/notesSlide" Target="/ppt/notesSlides/notesSlide114.xml" Id="R9ebc171c5a3a4b58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54dcef0e243fd" /><Relationship Type="http://schemas.openxmlformats.org/officeDocument/2006/relationships/image" Target="/ppt/media/image.png" Id="Rd1d966d8c3394b12" /><Relationship Type="http://schemas.openxmlformats.org/officeDocument/2006/relationships/notesSlide" Target="/ppt/notesSlides/notesSlide115.xml" Id="R59da52bfcc35449a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6dc6de92e4dd7" /><Relationship Type="http://schemas.openxmlformats.org/officeDocument/2006/relationships/image" Target="/ppt/media/image.jpeg" Id="Re813baa33fc442c3" /><Relationship Type="http://schemas.openxmlformats.org/officeDocument/2006/relationships/image" Target="/ppt/media/image.png" Id="R0ac0fa706c6f44c9" /><Relationship Type="http://schemas.openxmlformats.org/officeDocument/2006/relationships/notesSlide" Target="/ppt/notesSlides/notesSlide116.xml" Id="R7e42a7bb5dfa4cf8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25b2220a2704fa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d59877aa840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5532120"/>
            <a:ext cx="914400" cy="82296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8585167-91D1-4430-8D1C-8187525A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367" y="1298448"/>
            <a:ext cx="7772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 spc="100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‏أكاديمية سدايا  ·  المستوى التمهيدي  ·  SDA-FAE-100‏</a:t>
            </a:r>
            <a:endParaRPr sz="17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81D39F5-8B83-4155-A046-702FC1D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9407" y="1755648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200"/>
              </a:lnSpc>
              <a:buNone/>
            </a:pP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أساسيات</a:t>
            </a: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endParaRPr sz="4600"/>
          </a:p>
          <a:p xmlns:a="http://schemas.openxmlformats.org/drawingml/2006/main">
            <a:pPr marL="0" indent="0" algn="r">
              <a:lnSpc>
                <a:spcPts val="5200"/>
              </a:lnSpc>
              <a:buNone/>
            </a:pP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بيئة</a:t>
            </a: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العمل</a:t>
            </a:r>
            <a:r>
              <a:rPr sz="46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</a:t>
            </a:r>
            <a:endParaRPr sz="4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074686E-1B8E-41AF-A171-2D89D7AB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927" y="3218688"/>
            <a:ext cx="7863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800"/>
              </a:lnSpc>
              <a:buNone/>
            </a:pP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برنامج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عملي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يمكّن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الموظف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غير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التقني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من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اختيار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حالات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الاستخدام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وصياغة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طلب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واضح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والتحقق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من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المخرج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واستخدام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الأدوات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بمسؤولية</a:t>
            </a:r>
            <a:r>
              <a:rPr sz="18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853897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ba6c024fe4b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3039D9B-24C1-405E-997E-9BEA8E09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F5A35A2-F99C-4258-9FB1-C3E40BD9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‏تعريف بالجهة‏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29A6FAB-C7CD-4164-9D90-4F30970D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‏أكاديمية سدايا‏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4C5BE1E-CF21-4E0E-84F3-E2D4A161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DBCBE69-CA69-4BA6-BD97-CA6564B7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B0D8A24-2CA4-4C3C-ADCD-06646A67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‏الذراع الوطني لبناء قدرات البيانات والذكاء الاصطناعي في المملكة، ضمن قطاع بناء القدرات بالهيئة السعودية للبيانات والذكاء الاصطناعي.‏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9B5D444-6578-4C60-93EE-B08E67A3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299716"/>
            <a:ext cx="3576218" cy="157734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EC5E82D-529C-435B-9C92-C4DC9A69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29971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9174810-390E-4B3C-B397-93679737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3746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3CB07E3-E9AF-40E7-B35E-2630DA6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35458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‏رسالتنا‏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F37E22A-446B-45C9-97DA-B7C6D81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866644"/>
            <a:ext cx="3283610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‏تمكين الكفاءات الوطنية من مهارات البيانات والذكاء الاصطناعي عبر برامج تدريبية معتمدة تلبي احتياج سوق العمل.‏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212A45B-D30B-446E-9218-50BA5750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299716"/>
            <a:ext cx="3576218" cy="157734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BA32485-CAA8-4FC3-8323-B2CE1822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29971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598B273-E011-4F01-BB55-FA7C9725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3746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F471C0C-5486-435A-B79B-3946F7A7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35458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‏نطاق برامجنا‏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F222A72-8DCA-4722-B749-1E5D6F26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866644"/>
            <a:ext cx="3283610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‏مسارات متدرجة من المستوى التمهيدي إلى المستوى المتقدم، تخدم المهنيين والمختصين والقادة التنفيذيين.‏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32DCA63-843B-4AE4-B2F9-54D2DBB0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99716"/>
            <a:ext cx="3576218" cy="157734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B05EA98-9D16-4CF5-8B73-0EBBC4E7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9971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7E74984-9FE0-46A7-9547-1654D2C2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3746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BE77CFB-1D6E-40D7-9C8A-F0EC00D4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5458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‏ارتباطنا بالرؤية‏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0C52BAA-EAAC-46F3-8877-028A4E7A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66644"/>
            <a:ext cx="3283610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‏الإسهام المباشر في مستهدفات رؤية المملكة 2030 والاستراتيجية الوطنية للبيانات والذكاء الاصطناعي.‏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EC3E9BBB-AD7A-4FC7-97FF-700FAA3B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157734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FDAD464-764A-4547-9929-24E6F577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7328FF1-0B0A-42E1-B3AB-43216002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86B4169-B3B4-4931-BD8E-A79BD8AE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‏نموذج التعلّم‏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E29CF0-ECC6-4876-B831-83E1B1F5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608576"/>
            <a:ext cx="3283610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‏تعلّم تطبيقي قائم على الممارسة، بنسبة عملية عالية وحالات مستمدة من بيئة العمل الحكومية.‏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9AF95BF-672D-4626-8EE6-4172F694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157734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C180BD72-2CB0-4177-8605-450B4553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F456814D-F559-48B5-BC30-41AA9AF6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92FF203-C69C-47C8-8C28-3A83D55E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‏الاعتماد‏</a:t>
            </a:r>
            <a:endParaRPr sz="16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315B4EB7-3ED1-4CF3-A926-943B06C1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608576"/>
            <a:ext cx="3283610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‏شارات رقمية واعتمادات مصغّرة قابلة للتراكم ضمن مسارات تعلّم متكاملة.‏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18B9D650-A3E3-41A4-8C84-C7F4382F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157734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0ADDFFD2-13B4-47AD-83CD-776AB862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AEFCBF4F-7CCA-429F-9C0A-9E87562B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C9AE983E-7F14-4A72-8D72-E6E3BA44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‏الأثر‏</a:t>
            </a:r>
            <a:endParaRPr sz="16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EF4BB63F-708A-4A91-9EC8-D0CD5773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3283610" cy="882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‏قياس أثر التدريب على أداء الموظف والجهة، لا الاكتفاء بقياس الحضور والرضا.‏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307762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a4384dc0a46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81F23B6-CBD2-4827-8899-D4474DD4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3‏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81B1FBD-67C2-4DFA-B879-0EBFB6FC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‏SDA-FAE-100‏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F8D1B14-C1A8-450E-A39F-E03C4C06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‏بطاقة البرنامج‏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B23C886-6FCC-48E1-A10C-6E90DD4D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FF45AAE-C4A3-4E08-B7EA-540D2388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FD5F54A-438E-4C4E-A26A-E96C3F18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873" y="1499616"/>
            <a:ext cx="2079894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43DB9-5E50-48E5-8932-8F5B4C8E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313" y="1627632"/>
            <a:ext cx="189701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‏١٠‏</a:t>
            </a:r>
            <a:endParaRPr sz="4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CD8900-ACA2-47F4-9F46-BFA05C12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01" y="2450592"/>
            <a:ext cx="186043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‏ساعات تدريبية‏</a:t>
            </a:r>
            <a:endParaRPr sz="14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D4C2CD3-6E76-44F8-B268-CBE601B4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387" y="1499616"/>
            <a:ext cx="2079894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04525CB-C285-4BA1-94ED-CA427946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827" y="1627632"/>
            <a:ext cx="189701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13774A"/>
                </a:solidFill>
                <a:latin typeface="Markazi Text"/>
                <a:ea typeface="Markazi Text"/>
                <a:cs typeface="Markazi Text"/>
              </a:rPr>
              <a:t>‏٢‏</a:t>
            </a:r>
            <a:endParaRPr sz="4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3731759-4249-42A3-A28C-E2CDCB38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115" y="2450592"/>
            <a:ext cx="186043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‏أيام تدريب‏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071E579-9073-457E-B7A1-619C6DF6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00" y="1499616"/>
            <a:ext cx="2079894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B8374B5-9E00-4631-98EE-790032B7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40" y="1627632"/>
            <a:ext cx="189701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4B4190"/>
                </a:solidFill>
                <a:latin typeface="Markazi Text"/>
                <a:ea typeface="Markazi Text"/>
                <a:cs typeface="Markazi Text"/>
              </a:rPr>
              <a:t>‏٦‏</a:t>
            </a:r>
            <a:endParaRPr sz="4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3EEA6DE-35C1-48AD-AC88-8F0C7205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628" y="2450592"/>
            <a:ext cx="186043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‏محاور رئيسية‏</a:t>
            </a:r>
            <a:endParaRPr sz="14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B6A98F9-F3FA-4BBE-9880-F1A343A2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414" y="1499616"/>
            <a:ext cx="2079894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4804F86-9F5B-4334-972D-A424DD59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854" y="1627632"/>
            <a:ext cx="189701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A96B08"/>
                </a:solidFill>
                <a:latin typeface="Markazi Text"/>
                <a:ea typeface="Markazi Text"/>
                <a:cs typeface="Markazi Text"/>
              </a:rPr>
              <a:t>‏٦‏</a:t>
            </a:r>
            <a:endParaRPr sz="44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66B0865-1C10-4566-B875-B722EB1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142" y="2450592"/>
            <a:ext cx="186043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‏نواتج تعلّم‏</a:t>
            </a:r>
            <a:endParaRPr sz="14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5024946-0AFF-4B54-838C-38BBA9A3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9616"/>
            <a:ext cx="2079894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F1C8CE0-1862-4F6F-BF80-E4C95B93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189701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10688F"/>
                </a:solidFill>
                <a:latin typeface="Markazi Text"/>
                <a:ea typeface="Markazi Text"/>
                <a:cs typeface="Markazi Text"/>
              </a:rPr>
              <a:t>‏١٠‏</a:t>
            </a:r>
            <a:endParaRPr sz="44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75512B0-E801-4294-8948-F21D40D5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450592"/>
            <a:ext cx="186043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‏أنشطة تطبيقية‏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F33E6BF-8DE2-4D3F-BCEB-CD3584B2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319" y="352958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82FD6CB-2A8F-4206-BF09-0E7B69C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0692079" cy="48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برنامج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توعوي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تمهيدي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يعرّف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المشاركين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بأساسيات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ودوره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المتنامي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بيئة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العمل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الحديثة</a:t>
            </a: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6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52D8C96-281A-4D56-AB7B-A750DD93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319" y="405536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26601DF-F268-4EC5-A494-58B67B83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54780"/>
            <a:ext cx="10692079" cy="48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‏يقدّم المفاهيم الأساسية بلغة مبسطة لا تتطلب أي خلفية تقنية أو برمجية.‏</a:t>
            </a:r>
            <a:endParaRPr sz="16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4909EBD-C7C6-4B0A-8150-E9DCC1BA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319" y="458114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08F7FFE-8F77-4A9B-A50C-5AD19C56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80560"/>
            <a:ext cx="10692079" cy="48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‏يركّز على التطبيق العملي المباشر على المهام الوظيفية اليومية باستخدام مساعدات ذكية جاهزة.‏</a:t>
            </a:r>
            <a:endParaRPr sz="16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5E91A99-2935-4AC4-8B5E-91880E7C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319" y="510692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769E793A-319D-431B-9236-45018EDD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06340"/>
            <a:ext cx="10692079" cy="48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‏يعالج حدود الأدوات وأخطاءها الشائعة، والممارسات الآمنة والمسؤولة لاستخدامها في مكان العمل.‏</a:t>
            </a:r>
            <a:endParaRPr sz="16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FB298BE-01C4-454B-908A-640F450C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51CD15C-C1EC-4457-8310-8D5DF3A8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332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FFE78EE-60BB-4168-ACC8-C82B4409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6072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CD989394-8702-41A6-8522-FB72DC06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013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‏المتطلبات السابقة: لا يوجد — نقطة دخول مفتوحة أمام جميع الموظفين.‏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88894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b268c9efa45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ED1AF23-A5CD-4DBB-A9BC-3A12774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4‏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DBD668D-AB16-40FC-AEE2-E753397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‏لمن هذا البرنامج؟‏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B7060A5-E7B7-4839-9D14-F0402AF3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‏الفئة المستهدفة‏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C9A2BF4-E9EF-438D-AAC9-7DE1B313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E14269D-79CA-4A5E-9A77-BF6A84E4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0DD3893-6E02-499F-B4FD-9A99E42D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‏صُمّم البرنامج لمن يتعامل مع الذكاء الاصطناعي كمستخدم، لا كمطوّر.‏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7391A2D-2057-48FE-AC2F-1CA3C71B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C17339A-64C9-467B-B247-810D6EB4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E80045-5332-42F7-8E83-10066557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2D889B7-6609-454E-8A21-22B9A4E6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‏المهنيون غير التقنيين‏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D58FFFB-C3A0-4598-990F-3CF18637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يؤدون أعمالاً معرفية يومية (تحرير، تحليل، تنسيق، متابعة) ولا يمتلكون خلفية برمجية.‏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128F6E5-00F6-47C6-A881-3117F623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C834EDE-1DE2-457F-9CEE-E17DF09C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37BFDBF-2803-44F2-BA2F-DF03CBC7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0F73809-8DA6-4904-8FED-EFA223BE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‏الموظفون الإداريون والمساندون‏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F459397-D996-4376-8386-DF9C9420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‏العاملون في المراسلات، الأرشفة، تنسيق الاجتماعات، خدمة المستفيدين، والدعم الإداري.‏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462C9F8-78F1-44A4-8C43-F1815668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25AE97C-10B6-46D2-8B34-862D971F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8AD0C01-8C6E-4A71-BEB7-6D808E8E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E08F42A-47CD-4A04-8096-36B98FD5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‏المديرون وقادة الفرق‏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C4C9AA8-44FF-4BDD-9CBF-00C79092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يحتاجون فهم قدرات الأدوات وحدودها لاتخاذ قرارات استخدام صحيحة وتوجيه فرقهم.‏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ABD6817-2551-4611-9AA2-BED70DEB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2E7012C7-18B8-4844-884A-963507F8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5DA6015-3625-4A36-80B8-84DC2EBC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988100F-B33E-4237-8506-FE90C101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‏المستخدمون الجدد للذكاء الاصطناعي‏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B2B8529-E61A-4017-9795-E2202C0C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جرّبوا الأدوات بشكل عابر ويرغبون في بناء أساس منهجي وآمن للاستخدام.‏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B7AB558-E3E7-4B41-8943-9A911A20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8772A94-88F6-4389-84C1-AFBE25F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4864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B45A39C-78C8-46F1-AE3E-BB441B1B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5138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E497520-95A4-4E3C-A075-C517D1CA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132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‏لا يتطلب البرنامج أي معرفة سابقة بالبرمجة أو الرياضيات أو تحليل البيانات.‏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36813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e906dfee049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386610D-1DFF-45FF-85FF-D6220934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5‏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19E0457-DFC0-4D95-B737-82D50D09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‏ماذا ستكون قادراً عليه في نهاية البرنامج؟‏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7BAB322-DA92-4876-BD13-DF7F445D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‏نواتج التعلّم‏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77394BA-A8AD-491B-9BB4-CD7B072C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A834F37-AF8A-438D-B10B-3580C833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06D0A08-6483-4A80-9101-BF7E0A6F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60934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7F2B407-DE53-4C12-87A6-E3661096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63677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8B1A39C-837B-4FAC-8D10-645440E9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6362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‏شرح مفهوم الذكاء الاصطناعي‏</a:t>
            </a:r>
            <a:endParaRPr sz="1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34E6E0E-A447-4F91-96EF-6E509E5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56232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‏بلغة مبسطة وربطه بأمثلة من بيئة العمل اليومية.‏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5C7C96E-2679-4D96-9E5D-6D77B1A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3652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DF42814-5A68-4E8A-8A12-07EFA9CB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392680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41185E6-C621-474E-A476-29D2210C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19528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‏التمييز بين أنواع تطبيقات الذكاء الاصطناعي‏</a:t>
            </a:r>
            <a:endParaRPr sz="18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9042F8A-B738-4981-87E7-650B71FF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2136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‏الشائعة التي يتعامل معها الموظف في مكان العمل.‏</a:t>
            </a:r>
            <a:endParaRPr sz="15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14BCEB6-9C7A-4108-8CFD-0A68ECBF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211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9A95A3F-1B5A-433E-9795-F42653D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48584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F22DB6D-B21A-41AB-B2F7-1F5561DE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75432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‏تحديد الفرص العملية‏</a:t>
            </a:r>
            <a:endParaRPr sz="18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FF4321A-40E2-46B0-AFC7-5688B30B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68040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‏لتوظيف أدوات الذكاء الاصطناعي في المهام الوظيفية اليومية.‏</a:t>
            </a:r>
            <a:endParaRPr sz="15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BAEBDB5-6C30-46C9-B317-72D52B46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8770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78F9D20-909D-4B83-9A97-8F7011E7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904488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25A9A50-B4E5-4A27-A125-E63F174E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31336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‏استخدام المساعدات الذكية الجاهزة‏</a:t>
            </a:r>
            <a:endParaRPr sz="18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A2A6B99-50B3-4610-A07A-BEB6E2F2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23944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‏لإنجاز مهام عمل بسيطة دون الحاجة إلى البرمجة.‏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F37AC47-D5CF-489E-832F-A5469691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6329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99E685C-A278-4A5E-BF35-91560CA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660392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A2F6C09-564D-4C0D-9D25-ADB8880D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87240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‏إدراك حدود أدوات الذكاء الاصطناعي‏</a:t>
            </a:r>
            <a:endParaRPr sz="18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45C760C-76B4-4D45-A95C-443B5EF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79848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‏وأخطائها الشائعة والتحقق من صحة مخرجاتها.‏</a:t>
            </a:r>
            <a:endParaRPr sz="15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F32A4B3-46A2-433A-908A-0F4D39BA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38886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E8BC086-6369-4E28-A1CE-3A3A886D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1629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36C1293-8150-4964-9F97-C41771C4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314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‏تطبيق الممارسات الآمنة والمسؤولة‏</a:t>
            </a:r>
            <a:endParaRPr sz="18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5824295-D7A2-4DCF-BBD1-60346D5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35752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‏عند استخدام الذكاء الاصطناعي في بيئة العمل.‏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590113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9123346bb42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D64EB02-6862-442A-88EF-01CC8463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51F3FCE-3367-4990-8967-26A8B3C3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‏خارطة الرحلة التدريبية‏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780C21B-BF80-40B0-B777-FDCD6E33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‏محاور البرنامج الستة‏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0B4C841-3986-40AF-BB09-582A7D92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7A00768-7E1A-4523-809C-AC9733E0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1255951-50A0-453E-A619-25AFF69C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0939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E3AF8AE-35C5-44EF-AD8C-9C058AA7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0939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F52389A-26DF-46EA-B785-37CD4CB9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317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9C5AC9C-6788-4B70-8191-A9858A78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1488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‏١  ·  المفاهيم‏</a:t>
            </a:r>
            <a:endParaRPr sz="16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5C341D6-2275-4248-8877-1ABDB62B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6609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‏مقدمة في الذكاء الاصطناعي وبيئة العمل — ما هو، وكيف يعمل، ولماذا الآن.‏</a:t>
            </a:r>
            <a:endParaRPr sz="1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E4CE4BD-9F0D-4E0E-849B-0031B87E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0939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ADC1BAA-2FB8-4CF7-A357-7DA732AA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0939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868AB53-3BDA-45D5-9F28-963DA617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317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026678A-4017-4B3D-BFFA-49897ADA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1488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‏٢  ·  الأدوات‏</a:t>
            </a:r>
            <a:endParaRPr sz="1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882619E-EC9C-4B3D-94B3-5CCAE2DB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6609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‏تطبيقات الذكاء الاصطناعي في أدوات العمل اليومية التي تستخدمها بالفعل.‏</a:t>
            </a:r>
            <a:endParaRPr sz="14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89EE63D-1802-40E3-8C66-9EA8D3B7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39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A0E1ACA-932F-4F99-B089-19ABEEF5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39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8CA6A21-6629-4E5A-AA21-7F75209B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1989F41-1350-49C2-A913-18C87199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‏٣  ·  الممارسة‏</a:t>
            </a:r>
            <a:endParaRPr sz="1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93DCDF6-C83E-480A-80B5-666F5A09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609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‏التطبيق العملي على المساعدات الذكية وصياغة الأوامر الفعّالة.‏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788B8B3-3BFB-4742-8AA2-C5D10743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5844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D0476CD-6A9D-424B-8C35-222DC0F2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5844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2B7437A7-B178-4CF8-9B32-31140957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221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A1CA31B-FF7D-4EFD-9709-10C2DCDE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6393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‏٤  ·  الحدود‏</a:t>
            </a:r>
            <a:endParaRPr sz="16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95A186C-BCF8-4EEA-BB56-67F02CEA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1513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‏حدود الذكاء الاصطناعي والتحقق من المخرجات قبل اعتمادها.‏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9125CA8C-9B3D-457A-9584-43157AE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5844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642EFE43-03E5-4E84-A8C2-D0D8F29B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5844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829A6843-AEF7-482C-883A-C9EF28D8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221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E07FC87-E09D-4AE8-9474-C5589BB6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6393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‏٥  ·  المسؤولية‏</a:t>
            </a:r>
            <a:endParaRPr sz="16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117F6E5-B5C3-4B88-956D-0AAA543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1513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‏الاستخدام الآمن والمسؤول للذكاء الاصطناعي في الجهات الحكومية.‏</a:t>
            </a:r>
            <a:endParaRPr sz="14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D8E3FE4-1503-4D32-B339-FEFD3543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72E31A7-2F4D-4D33-A4B7-78790396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6739C57-FFED-451D-9081-82044A48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312A72A-5868-4588-975D-1FE8567F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393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‏٦  ·  التوظيف‏</a:t>
            </a:r>
            <a:endParaRPr sz="16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7FF4663-146D-4DE4-AF5A-3676695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513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‏توظيف الذكاء الاصطناعي في المهام اليومية وبناء خطة شخصية.‏</a:t>
            </a:r>
            <a:endParaRPr sz="14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771293-C13E-46E6-A257-6F32CCA4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8464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2F76F330-D306-42C3-A43C-950036E4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035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702CEB43-FC9A-4851-BC86-22198DB5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3095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A567A41C-BD77-4645-9923-61520823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3036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‏المحاور ١–٣ في اليوم الأول، والمحاور ٤–٦ في اليوم الثاني.‏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19669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a647c913f4f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89BFEB5-FAB7-412B-8794-2473E8E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7‏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D42CC53-CD15-4467-8346-761800F8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‏من المفهوم إلى الممارسة  ·  ٥ ساعات‏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69FA00C-0D18-485E-BF82-7EC2F579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‏أجندة اليوم الأول‏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180FC0A-CE17-40F9-A1C9-62D0E9E4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97BE4EA-D060-44FB-A22F-62D26536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63B18C-7351-44E6-8707-AAAE38E1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7CE287A-5935-4A2D-9F91-C7A52AFC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1536192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090C17A-AA26-45D4-AFD7-48870220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1536192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08:30 - 09:00</a:t>
            </a:r>
            <a:endParaRPr sz="13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6687A4A-23BC-4C8D-82E5-FB9B39D0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08760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‏التسجيل والافتتاح — التعارف وتوقعات المشاركين واتفاقية التعلّم‏</a:t>
            </a:r>
            <a:endParaRPr sz="16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C8F210D-DBE6-465C-B64A-6F56863A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59686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C541C68-1680-425B-AF4A-58158055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114550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BB8AF16-F04E-457F-95F1-1C86933E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114550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09:00 - 10:15</a:t>
            </a:r>
            <a:endParaRPr sz="13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3725FB4-3BF0-4BD7-9E0D-6A9A3656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87118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الأول: مقدمة في الذكاء الاصطناعي وبيئة العمل‏</a:t>
            </a:r>
            <a:endParaRPr sz="16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2EF7880-CD8D-489D-8DDB-A5F35B38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38044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1F2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FE4C32D-20B8-4397-849C-1979CF2D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692908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696969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3A089C0-B36D-483D-B852-1D8EEE13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692908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10:15 - 10:30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58F7F81-183F-44E6-B10D-FFFC9E13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65476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‏استراحة‏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A5600A8-4F8B-49AE-8B06-522308D9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6402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35D4DA1-7171-4D7C-9DA6-F80EF02B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3271266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4D58235-5B4E-4AA2-B496-7725EAAD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3271266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10:30 - 11:45</a:t>
            </a:r>
            <a:endParaRPr sz="13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7289513-D9B4-4BB3-9DC0-15E33C2F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43834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الثاني: تطبيقات الذكاء الاصطناعي في أدوات العمل اليومية‏</a:t>
            </a:r>
            <a:endParaRPr sz="16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043C0D7-780E-4A00-AC6C-6FF19C5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2F9EEA3B-739F-4C03-AC83-47CD51DF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3849624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AC7CA0A-A5A6-4851-AA99-8DF716C7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3849624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11:45 - 12:30</a:t>
            </a:r>
            <a:endParaRPr sz="13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622CDC4-B64E-4FF1-8095-735E0D3F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22192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الثالث (١): مبادئ صياغة الأوامر وإطار RICE‏</a:t>
            </a:r>
            <a:endParaRPr sz="16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650AA2E-7FBE-4705-9965-7EB16229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73118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1F2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3E93D4A-7D0C-4E02-9EEB-CD4DCAA7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4427982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696969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B22513C7-867B-4ADA-84D1-71A44D85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4427982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12:30 - 13:15</a:t>
            </a:r>
            <a:endParaRPr sz="13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4362E09-7F0A-4BA5-B4B7-3E25282D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00550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‏استراحة الصلاة والغداء‏</a:t>
            </a:r>
            <a:endParaRPr sz="16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DF85F9C-E013-4BCD-A528-751A78DD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51476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EA558E0B-A397-4CAB-8201-42CBF582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5006340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8EC4E27-3038-4C17-AB9A-8F1B1E38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5006340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13:15 - 14:15</a:t>
            </a:r>
            <a:endParaRPr sz="13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C0FB2DAD-7548-435F-BB5C-7435E5A4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78908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الثالث (٢): تمارين تطبيقية على المساعدات الذكية‏</a:t>
            </a:r>
            <a:endParaRPr sz="16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88F7BA1B-1432-4656-8B4C-EF316FCC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29834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F34C3A61-786E-42E0-82CA-8C7C72CE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5584698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D7E4BD0-682B-4710-9784-F45C5225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5584698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14:15 - 14:30</a:t>
            </a:r>
            <a:endParaRPr sz="13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9936DF72-1D08-4AEC-9801-8528CAF9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57266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‏خلاصة اليوم والتقويم السريع‏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33801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d0218afaa40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D49A883-87BD-417F-A5FA-3855FB4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8‏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5D92273-B150-4C40-AC57-658DB33A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‏من الوعي إلى الخطة  ·  ٥ ساعات‏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B891BBE-D5DA-45D4-99E3-A6F56C34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‏أجندة اليوم الثاني‏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6276212-7F29-4BA0-9E4A-E3DBC235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60CCF57-D69F-4F18-8701-9030CE7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CBF78C-A509-4EEE-97F3-3142A0A8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CFFAD99-B053-4E4A-8A63-369DA37A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1536192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BF1211F-C117-408D-AE46-83BEB95B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1536192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08:30 - 09:00</a:t>
            </a:r>
            <a:endParaRPr sz="13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785DB02-E427-4428-A689-20D1C4E9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08760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‏مراجعة اليوم الأول ومناقشة الواجب التطبيقي‏</a:t>
            </a:r>
            <a:endParaRPr sz="16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F5F5AF2-6582-4B7E-A126-4B5A7BFD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59686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1B370F0-CD9F-442F-B4AD-4FE84AFA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114550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E4A0494-4AD3-497F-80AB-95C11E29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114550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09:00 - 10:15</a:t>
            </a:r>
            <a:endParaRPr sz="13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D6E00EA-8D82-41F3-B395-3970A8AF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87118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الرابع: حدود الذكاء الاصطناعي والتحقق من المخرجات‏</a:t>
            </a:r>
            <a:endParaRPr sz="16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44D9BA4-9F8A-4FC7-BB2B-E4E926D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38044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1F2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E4D1E22-58DA-4B45-B401-A7B5AC63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692908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696969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285F82A-182F-4622-BC5F-B104553C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692908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10:15 - 10:30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882A0C0-4605-423F-B710-B936C4DB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65476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‏استراحة‏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5D33383-6B00-4ECA-9807-A6FD1775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6402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6D26B8-9311-47AA-A301-D434D473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3271266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1865B03-0463-43FF-88E0-6FF51B5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3271266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10:30 - 11:45</a:t>
            </a:r>
            <a:endParaRPr sz="13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76C489E-770B-4B40-B1F2-85B9E225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43834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الخامس: الاستخدام الآمن والمسؤول للذكاء الاصطناعي‏</a:t>
            </a:r>
            <a:endParaRPr sz="16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E46F1DF-5A0F-4427-8C16-4479E5D5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0DEBF3E8-0F04-49F7-9487-34735EBC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3849624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5262AB73-E22D-4C7C-9C84-AA2A183C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3849624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11:45 - 12:30</a:t>
            </a:r>
            <a:endParaRPr sz="13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1CED795-E94A-4CB9-8140-05B99AE8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22192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السادس (١): منهجية اكتشاف فرص الاستخدام‏</a:t>
            </a:r>
            <a:endParaRPr sz="16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C04FD023-0168-40F0-8B6F-5F82D996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73118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1F2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FE00592-481B-45B4-98BE-840B5B3F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4427982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696969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78613D67-E0BC-4CDD-9029-D9CDB7D6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4427982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12:30 - 13:15</a:t>
            </a:r>
            <a:endParaRPr sz="13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2A5BCAF-DB7C-4BDC-9553-B615E955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00550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‏استراحة الصلاة والغداء‏</a:t>
            </a:r>
            <a:endParaRPr sz="16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AFC2E499-DA3F-400B-89BB-EA8EE8F7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51476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CE334015-B628-4D62-98C5-038D78C3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5006340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7BD068CA-1B56-4B1B-8110-36E452DB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5006340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13:15 - 14:00</a:t>
            </a:r>
            <a:endParaRPr sz="13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04D5BA0A-1269-4A00-9D95-4453FB77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78908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السادس (٢): بناء خطة الثلاثين يوماً والمشروع الختامي‏</a:t>
            </a:r>
            <a:endParaRPr sz="16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8629ECE9-A96D-4604-8F01-12E18A22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29834"/>
            <a:ext cx="11057839" cy="496062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7B4E6149-51A2-42CA-A1F0-B8093A22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5584698"/>
            <a:ext cx="1371600" cy="386334"/>
          </a:xfrm>
          <a:prstGeom xmlns:a="http://schemas.openxmlformats.org/drawingml/2006/main" prst="roundRect">
            <a:avLst>
              <a:gd name="adj" fmla="val 1183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5E99BAD5-3B40-44C5-AFBC-157196E2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5584698"/>
            <a:ext cx="1371600" cy="386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14:00 - 14:30</a:t>
            </a:r>
            <a:endParaRPr sz="13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08575FA8-71CB-4908-AE4C-CC364281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57266"/>
            <a:ext cx="9229039" cy="441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‏عروض المشاركين، التقييم النهائي، والختام‏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23459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841173db440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EBE61EA-FD5F-4B2B-BB27-C39F8E43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9‏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9FAC969-4ACE-47A0-B705-6DC99EAF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‏كيف سنتعلّم؟‏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EE6F5EF-0B28-4746-915C-D73BCA0A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‏منهجية التدريب‏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B4383B0-4AA0-4D77-8D77-3AFE882A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5DFDA35-53EE-4400-9204-4BA84DBD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AD13A3E-F769-4327-8925-C16D395E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‏دورة تعلّم تطبيقية قصيرة تتكرر في كل محور، مستندة إلى نموذج التعلّم بالخبرة.‏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923A6A5-40D2-4D98-8FEB-45B590B9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243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61B4AD4-A0B9-4C3E-9D76-EB8A04D0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F17CB06-EA18-438D-835E-E218B4D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E745201-8386-43FD-9BCA-B86D6B29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971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‏أعرض‏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74153E5-B703-4A0E-A768-A7D556AF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115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مفهوم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مبسّط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دقائق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معدودة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بلغة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مهنية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لا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تقنية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5A12C14-CF43-4EFC-A7C3-180A7F4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414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4BF3B93-11B4-44E6-BD49-62667933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19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CFA1357-68CB-42CE-9BE7-6838548F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0419F16-C3B5-45B5-BC33-23A433A8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142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‏أُشاهد‏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DEC34B3-ED12-4490-8FFC-AE69042E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286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‏عرض حي للأداة أمام المشاركين خطوة بخطوة.‏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E61DADD-DFE1-4C46-B8F8-FA5AAC39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585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465B92A-DF01-4022-ACC6-50A1436D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FA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5128D2C-E59A-4989-AA64-F0631E6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30D630B-336C-4AAB-981E-C8ACED9E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313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‏أُجرّب‏</a:t>
            </a:r>
            <a:endParaRPr sz="17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639048-E0D8-4507-B35A-63044EE8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457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‏يطبّق المشارك بنفسه على جهازه أو هاتفه فوراً.‏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25ABFF1-7FEB-4D96-A412-F622DC55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757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10FF685E-5A48-46DB-AAAE-90D4BCFC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92A9B5B-FD06-4BA8-B358-9225AEF7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BC28E1F-B6B9-4C22-9C26-8CE43DD2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5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‏أُناقش‏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095A3CBA-B4FA-4684-8D09-6C5CCAF5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629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‏مقارنة المخرجات جماعياً واستخلاص الدروس.‏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36576B3-17CE-4B4D-B500-C06F7D57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CB791A1D-D44C-46C3-BA28-9CB291DF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B0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3DA66C3-804E-4F20-B02B-7D9BDEE5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408B1DE-CEDC-4C01-B66D-B9594E03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‏أنقل‏</a:t>
            </a:r>
            <a:endParaRPr sz="17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1631BD7-3FAD-4F26-B661-45FF615E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‏ربط ما تعلّمته بمهمة حقيقية في عملك.‏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2FFDC2-EE2E-45A7-85A0-2A22230C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0565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926DE128-737D-4A9F-B8EA-33AFA595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2245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54AC7679-4DFD-43F9-A890-519A75C6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25196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8C82BC8-C211-49E0-8B24-72C56648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5137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نسبة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التطبيق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العملي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البرنامج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لا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تقل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عن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٥٠٪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من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زمن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التدريب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934786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fe363b2c249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EB8D03A-2172-4BA8-9FD2-54A22AB9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10‏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155A28-FB2A-4698-82F7-6E77B269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‏كيف تجتاز البرنامج؟‏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B2D47CE-30B6-4C9F-9B7A-42112F4C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‏آلية التقييم والاعتماد‏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FA200F6-8F23-44CF-90DF-79F8820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373BBB9-92E9-4008-9A4D-4E08AECD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06931D3-61EA-4D93-971F-0E70EB7D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3019EE1-757A-4A4E-B93D-56D9B97C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82F1F1A-18A0-4CD2-8303-75AA2E6F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BA60651-AAB6-4553-A95B-7B8F7256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‏تمارين عملية موجّهة‏</a:t>
            </a:r>
            <a:endParaRPr sz="16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73D01AB-B2BF-49AF-A31F-041FA6B9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‏تنفيذ التمارين التطبيقية داخل القاعة تحت إشراف المدرّب، وتُرصد كمشاركة فاعلة.‏</a:t>
            </a:r>
            <a:endParaRPr sz="1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AAB72AD-799B-4AEB-A061-C86113E4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FC4B1B3-0819-4315-BA5A-6855D7F1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1C2A21E-47A9-45CA-9283-5DFB6DEA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0DD7633-65DB-4615-8599-401469E3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‏سيناريوهات من بيئة العمل‏</a:t>
            </a:r>
            <a:endParaRPr sz="1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61B0C11-4AA8-4E61-9AE8-6F46A6AB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‏تحليل حالات واقعية واتخاذ قرار الاستخدام المناسب لكل حالة.‏</a:t>
            </a:r>
            <a:endParaRPr sz="14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27BDE12-C0C8-41F8-B368-F335122E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DBF044A-99B3-495B-8216-6EC959D4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03261A3-3950-4416-939A-813236C8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928CC80-E444-450B-BB27-D365543E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‏قياس قبلي وبعدي‏</a:t>
            </a:r>
            <a:endParaRPr sz="1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34A2644-0B7F-4CBA-9DCE-24101B9A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‏عشرة أسئلة تقيس الثقة والقدرة قبل البرنامج وبعده، مع تقويم قصير في نهاية كل محور.‏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9B0DAB7-E312-4750-A739-A9722ED9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E2114AC3-F650-40DC-9E77-79613967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33D8B9C-75BB-40AD-8D28-F0899062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74641E8-F2CF-426D-A31A-3B171341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‏تقييم عملي ختامي‏</a:t>
            </a:r>
            <a:endParaRPr sz="16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27CD088-7BB4-4D49-A09C-3902A6C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‏تنفيذ حالة استخدام من عمل المتدرب، مع توثيق الأمر، ونقطة المراجعة البشرية، والأثر المتوقع.‏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3CACB365-6773-4B2C-AC65-E8AB1F7C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6B6F9C8A-87A5-4992-916E-C675A53A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BEA6F61C-7CF5-475B-AD5C-DFD2CFE6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D173DF7-513F-40FA-A41A-1F696E62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‏شرط الاجتياز‏</a:t>
            </a:r>
            <a:endParaRPr sz="16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67CC1A3-8A12-442C-B739-2CEC2A39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‏حضور لا يقل عن ٨٠٪ من ساعات البرنامج، واجتياز التقويم الختامي بنسبة ٦٠٪ فأعلى.‏</a:t>
            </a:r>
            <a:endParaRPr sz="14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D0D84946-6AFF-4CED-98C6-C0D446C4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CF0A8C4-3DEA-4D80-9BBB-07CB27F5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76D4FFDC-FD87-4BED-9582-51DC313A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B0CD50CF-A3BF-40F8-9084-D27297E7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‏الشهادة‏</a:t>
            </a:r>
            <a:endParaRPr sz="16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6CD4EF7-A89C-4D80-AC31-85272937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‏شارة رقمية توعوية (اعتماد مصغّر) من أكاديمية سدايا قابلة للمشاركة والتحقق.‏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6727458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d3d9316d146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11E9C6C-6514-41E5-934F-2E6755F3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11‏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436F6AF-AC94-4CDB-BFEC-26BD31E6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‏قواعد القاعة‏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9E1FDBD-366B-4929-9179-CFDF639B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‏اتفاقية التعلّم‏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95A7662-E93C-4207-BCB4-27BDCD8D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24FE3C2-89AB-481B-B7C2-AAC32ACD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8324B2A-D853-4C17-9F7B-0F671613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‏ست قواعد بسيطة تضمن استفادة الجميع خلال اليومين.‏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2603882-5ED6-4C54-A8BD-C7AE64C8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6654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2955A8A-7D93-4739-AC97-59E291A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9260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19166A7-5B4C-4F37-BA7A-2910BC4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7203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يوجد سؤال بسيط — كل استفسار مرحّب به ومفيد للمجموعة.‏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CD3A673-6D4A-4918-9995-C68FB0F6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654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D68DE11-81AC-4215-ADB7-D19A41EE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9260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9293E6E-C9C0-4199-AA3E-0C7B3444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203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‏التطبيق الفوري: افتح الأداة وجرّب أثناء الشرح لا بعده.‏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81FA347-4687-47D9-81AA-3AD8C07C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53415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918FCF5-C431-4844-BB5D-DE9C9571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79476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671E110-0AEF-4E85-A619-0B057E9D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8902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‏الأجهزة مفتوحة للتدريب، صامتة لما عداه.‏</a:t>
            </a:r>
            <a:endParaRPr sz="15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7E06CD9-74D5-4F33-A652-2676C80B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3415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D2B024-D009-49B9-9C04-760EF5C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79476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18FA14F-1637-4786-95C5-0B121F50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8902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تُدخل بيانات حقيقية سرية في أي أداة خلال التمارين.‏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0D6FD22-2EC3-4B40-8135-37E9EF5D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4028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46E6E47-0E0C-4E6F-BC15-50C00679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6634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8248AA1-A064-45AF-8C76-37230D67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4577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‏شارك مخرجاتك — تعلّم المجموعة من التجربة أسرع من الشرح.‏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A17D5F5B-DCE9-4FD6-B209-579F71C6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028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65015BF1-5EAF-42AB-968E-06B3EED9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6634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0A6D17D-70B1-4CA3-BBB6-EEF68A1C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577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‏اربط كل ما تتعلّمه بمهمة حقيقية في عملك، وسجّلها في ورقة الخطة.‏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7589110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f190455da4d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3BF421A-4F8B-43BF-8D6E-41220A40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12‏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48EA6D5-9092-4069-A240-9408C113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‏نشاط استهلالي‏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38B5F65-692E-4BD2-8710-41628D68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93204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‏من أنت؟ وما توقعاتك؟‏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3B65E46-CFD8-46A4-84F3-499BFD2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572768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BD4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74EC67D-4575-46CA-813A-49CDC0DA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5727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10 </a:t>
            </a: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دقائق</a:t>
            </a: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AB4E68D-349C-49DE-AEC2-C2A23C71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EC24318-3E9C-49AE-803B-C1B317F5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72768"/>
            <a:ext cx="10655503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‏قبل أن نبدأ، نريد أن نعرف نقطة انطلاق كل مشارك وما يأمل الخروج به من البرنامج.‏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A01D7E7-3D64-4B9D-80FB-1EAC732E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C9A8DE6-1295-49F0-85D6-729BF0BF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4436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36A60D0-A9F5-4599-898B-DA274031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8094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39E5C6A-008F-4D75-A64F-220DD427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44368"/>
            <a:ext cx="10564063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‏عرّف بنفسك في جملة واحدة: الاسم، الجهة، وطبيعة عملك اليومي.‏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A4DC243-B599-4249-98B7-39D6D26D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56158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E7D3008-E3A5-40FE-9CF0-BE8513D1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59816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C875B72-D145-4C4B-BCFA-02B9BF2B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1588"/>
            <a:ext cx="10564063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مستوى استخدامك الحالي: لم أستخدمها إطلاقاً / جرّبتها مرة أو مرتين / أستخدمها أسبوعياً.‏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96AC7D1-D34D-482C-9110-DEF2FAAB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17880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7E864B9-C711-4CEC-B748-0A11DE03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21538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75BF992-1C6A-491F-8B74-9E88B126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78808"/>
            <a:ext cx="10564063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‏اذكر مهمة واحدة تتكرر في عملك وتستهلك وقتاً أطول مما تستحق.‏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BE05C2B-44B4-4A88-B062-93EDBCFB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79602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9ED61DF-57AD-402D-9A2D-E70DE77B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83260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3CFC472-614F-4E8F-86EF-34D0395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96028"/>
            <a:ext cx="10564063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‏اكتب توقعاً واحداً تريد تحقيقه بنهاية اليومين.‏</a:t>
            </a:r>
            <a:endParaRPr sz="1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87E09C4-B40F-48D8-8CD6-B5B339E2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11057839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B6FBF9B-9652-4B00-B137-3A070029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59552"/>
            <a:ext cx="10655503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قائمة توقعات مشتركة نراجعها في ختام البرنامج للتحقق من تحقّقها.‏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716139718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4d18f0daa5542a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118f8368042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B26A80CF-FCD9-45D7-B7AD-21644599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932688"/>
            <a:ext cx="1325880" cy="1325880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A89D4E9-85C6-4B22-BE6D-29AED05A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1060704"/>
            <a:ext cx="1325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‏١‏</a:t>
            </a:r>
            <a:endParaRPr sz="6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16EEF75-3A8B-4E5D-8F9B-D102FCA1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687" y="2487168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32C7558-7807-4588-8F7D-F0048E05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98064"/>
            <a:ext cx="11057839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‏مقدمة في الذكاء الاصطناعي وبيئة العمل‏</a:t>
            </a:r>
            <a:endParaRPr sz="4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814CBDD-E48C-408C-A72C-99741EEB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97776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‏ما هو الذكاء الاصطناعي فعلاً، وكيف يعمل، ولماذا أصبح جزءاً من عملك اليومي؟‏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B7250C-279C-4CAF-A8F8-28738C66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035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F2A3D13-34DB-4AA8-AF24-53E44D00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339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‏التعريف والمفاهيم الأساسية‏</a:t>
            </a:r>
            <a:endParaRPr sz="14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0804DDB-7674-4FB6-BC4E-2CF509D3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B0A8F02-393B-4273-8936-B635E5E4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‏كيف تتعلّم الآلة؟‏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608321C-153C-412C-82DB-48B20320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4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B9842E3-64ED-4294-817D-8FF228F2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 التوليدي‏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FA3B449-5FA9-4CB3-8745-AB7FC7D4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FDFDD11-B685-4D9D-B6B3-2F73F098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‏السياق الوطني وأثره على الوظائف‏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3733577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792035d424e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6119A51-DC86-409D-B117-5A5D03A1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14‏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E65262-9A03-4D4B-849D-D94F2480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A7F087D-9851-4875-9A9C-88A6FC83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‏ماذا سنغطي في هذا المحور؟‏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EC00147-CCA5-4D1A-B519-1D6E3144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6866AC5-4625-42BF-AA7E-5F92B063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E0C33F7-020F-4658-A07D-082E63EE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60934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7918D7B-FABA-4C97-A313-89A6207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63677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E6FDDA4-3349-4A00-8A86-EC25678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6362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تعريف</a:t>
            </a: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مبسّط</a:t>
            </a: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</a:t>
            </a:r>
            <a:endParaRPr sz="1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2030F5C-7A2F-49B0-823A-5F9742D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56232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ما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بلغة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غير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تقنية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وما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الفرق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بينه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وبين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البرمجة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التقليدية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6DB55BD-516D-470B-BE9E-B47F9E8E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3652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B193747-BE4E-46AA-999B-4023C9AA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392680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9DF084B-53E3-4B9D-8F86-6613134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19528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‏كيف تتعلّم الآلة‏</a:t>
            </a:r>
            <a:endParaRPr sz="18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183E828-43D4-41CE-BC58-2AE1CE8C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2136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البيانات إلى النمط إلى التنبؤ — الفكرة الجوهرية في ثلاث خطوات.‏</a:t>
            </a:r>
            <a:endParaRPr sz="15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9006B80-0DDE-4F52-8B09-2F581D83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211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355319-C298-464B-987A-EECCC7E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48584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D433185-D886-49DD-ACB0-D47A2135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75432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‏خريطة المصطلحات‏</a:t>
            </a:r>
            <a:endParaRPr sz="18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B150C53-5353-430D-987C-58BF1CF8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68040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‏الذكاء الاصطناعي، تعلّم الآلة، التعلّم العميق، الذكاء الاصطناعي التوليدي.‏</a:t>
            </a:r>
            <a:endParaRPr sz="15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E928173-2969-4825-A80F-49CEA6D8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8770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FF3069D-08CF-4189-A05E-3316B37A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904488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498826B-6DFF-4D6D-8119-DA6B33F7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31336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‏النماذج اللغوية الكبيرة‏</a:t>
            </a:r>
            <a:endParaRPr sz="18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9681441-2C75-4F22-B9C5-7254E585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23944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‏كيف يولّد المساعد الذكي النص، ولماذا يبدو ذكياً إلى هذا الحد.‏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B21A994-A564-4173-951D-999B6988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6329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7C64571-E40E-4484-9FB2-86460755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660392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3C29853-4A7A-4109-99E3-6C8B90A5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87240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‏تصحيح المفاهيم الشائعة‏</a:t>
            </a:r>
            <a:endParaRPr sz="18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DCEB15E-8A4F-49AC-A6F5-8BE89B8B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79848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لا يفعله الذكاء الاصطناعي رغم شيوع الاعتقاد بذلك.‏</a:t>
            </a:r>
            <a:endParaRPr sz="15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69B9183-506E-4364-BFBD-D0B7D163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38886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D8F0FD0-52B5-4765-9F06-64584E04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1629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7826B7FD-F100-43DE-907C-828F997E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314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‏السياق الوطني والوظيفي‏</a:t>
            </a:r>
            <a:endParaRPr sz="18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712B9E0-7124-4FCB-B4BA-9CDE5A02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35752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‏رؤية 2030، سدايا، وأثر التقنية على مستقبل وظيفتك.‏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64458499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a945ce9d09342a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457bd34664d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8C10E44-7DA3-4476-B30A-075460D0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‏الفكرة المركزية‏</a:t>
            </a:r>
            <a:endParaRPr sz="15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8C96A77-D534-460C-8263-66FCC089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11057839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 ليس تقنية للمبرمجين فقط —</a:t>
            </a:r>
            <a:endParaRPr sz="3800"/>
          </a:p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بل أداة عمل يستخدمها اليوم الموظف الإداري والمحلل والمدير.‏</a:t>
            </a:r>
            <a:endParaRPr sz="38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44D4301-8A40-4B00-8396-73434169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15968"/>
            <a:ext cx="996055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700"/>
              </a:lnSpc>
              <a:buNone/>
            </a:pPr>
            <a:r>
              <a:rPr sz="1800">
                <a:solidFill>
                  <a:srgbClr val="C2C9E6"/>
                </a:solidFill>
                <a:latin typeface="Markazi Text"/>
                <a:ea typeface="Markazi Text"/>
                <a:cs typeface="Markazi Text"/>
              </a:rPr>
              <a:t>‏من يتقن استخدامه لا يُستبدل به؛ ومن يجهله يتأخر عمّن يتقنه. هدف هذا البرنامج أن تنتقل من المتفرّج إلى المستخدم الواعي.‏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2653154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7a589fa45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8DA4EFC-520D-44B6-988A-7B2B9423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16‏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7C2C17B-6DBF-4E6F-A726-54A2AB7C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2ABD0E6-DCCF-4A6E-9F25-D378CB1D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 الذكاء الاصطناعي؟‏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442D12E-1411-4957-A003-753D6AE5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81D0BFA-F12F-4794-8B7F-7627067B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0DAAFDB-728E-417E-B79B-796D0ADA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‏ثلاث زوايا لفهم التعريف نفسه — اختر ما يناسب طريقة تفكيرك.‏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47DF5C3-9894-4500-9525-5E92287E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24912"/>
            <a:ext cx="3576218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575EC95-6F92-4931-ABDF-9C1CD224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24912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0BDD50C-ECE1-4BBA-A090-9F012133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962656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D984539-B363-413E-AFE6-24A6C39B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779776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‏التعريف المبسّط‏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1B01262-2B1E-4F64-A0B0-E375AAE2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291840"/>
            <a:ext cx="3283610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أنظمة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حاسوبية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تؤدي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مهاماً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كانت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تتطلب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ذكاءً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بشرياً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: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الفهم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التلخيص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التصنيف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التنبؤ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والتوليد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A2D876B-CC65-4CC2-9F14-123DD46C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24912"/>
            <a:ext cx="3576218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7D80D79-0938-4E35-9DE8-022B43ED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24912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DE1185F-5C6B-407A-8C5E-EB057E42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962656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A85CB29-A7A9-478F-941B-2E56D49B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779776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‏التعريف التقني‏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50659-B579-4633-BED1-83893ABA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291840"/>
            <a:ext cx="3283610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‏برمجيات تستخلص أنماطاً من كميات ضخمة من البيانات، ثم تستخدم هذه الأنماط لإنتاج مخرجات على مدخلات جديدة.‏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B4E3A0-053F-4C48-AF43-A1AD4B1C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24912"/>
            <a:ext cx="3576218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B8074FC-018E-40C3-926E-F3303C19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24912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848C8FF-01FD-4B4E-889C-122A5927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62656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F16AEFE-D01F-487D-AB0E-34132CBF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79776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‏التعريف الوظيفي‏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661037B-BA5F-4B05-9EC3-BC673616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91840"/>
            <a:ext cx="3283610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‏مساعد لا يكلّ يقرأ ويكتب ويلخّص ويقترح — لكنه لا يفهم مؤسستك ولا يتحمّل مسؤولية القرار.‏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F9CE555-6743-45BA-B4A5-66D983FD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0BD60B71-72A5-4056-93F7-5D5701D2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03834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E09E011-88AB-419A-8C1D-94411BC4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065776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49B99FE-6A3F-4631-B553-CF4648E3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65192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الخلاصة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: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أداة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قوية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لتوليد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المسودات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والخيارات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—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والقرار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يبقى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بشرياً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96650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5f8942bd0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9D58E43-C80F-4DA8-B063-2CBE8A7D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17‏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5615D5-37B4-4FF6-9583-0D60C1E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B9C50E3-9941-4E0E-83C8-99245A23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‏البرمجة التقليدية مقابل الذكاء الاصطناعي‏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C68916E-B0C6-46A1-B151-06A93D10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3B960ED-319C-453A-934F-E4C9B28A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F59EC08-4CCC-4AFC-A0B1-06FC3495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‏الفارق الجوهري: من يكتب القواعد؟‏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9FB1D69-D568-4F54-820F-0F201802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41D12A4-D187-49BE-A94F-76658CE5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696969"/>
          </a:solidFill>
          <a:ln xmlns:a="http://schemas.openxmlformats.org/drawingml/2006/main" w="12700">
            <a:solidFill>
              <a:srgbClr val="696969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0B54B33-7F66-48AB-A36A-3621C9E2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6969"/>
          </a:solidFill>
          <a:ln xmlns:a="http://schemas.openxmlformats.org/drawingml/2006/main" w="12700">
            <a:solidFill>
              <a:srgbClr val="696969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688DA94-846F-4FEE-9D07-8A0F72AB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‏البرمجة التقليدية‏</a:t>
            </a:r>
            <a:endParaRPr sz="19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42E135E-8C92-4B05-8618-6ABB1484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6E0ACDF-020F-4439-8777-FA3EAD8A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‏يكتب الإنسان القواعد صراحةً: «إذا كان كذا فافعل كذا».‏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54E3D94-F4D6-4194-A08F-141C9F7C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874ACE2-88AD-4401-9F8D-F269795A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‏المخرجات محددة سلفاً ويمكن التنبؤ بها بدقة تامة.‏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7C2EEEF-46FA-4728-B9C4-C0986381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4AF224F-01CD-48F0-A8C3-3DBF6B2E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‏أي حالة جديدة تحتاج قاعدة جديدة يكتبها مبرمج.‏</a:t>
            </a:r>
            <a:endParaRPr sz="15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9A19D8E-8508-4744-B014-DDF705FD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5451133-568E-4E0C-A854-2E0F770C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‏ممتازة للمهام المنضبطة: الحسابات، الأنظمة المالية، قواعد البيانات.‏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D8AA750-BB5B-4740-BC1A-A80EA616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D0DCC37-743F-40CE-A202-DC36206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‏النتيجة نفسها في كل مرة على المدخل نفسه.‏</a:t>
            </a:r>
            <a:endParaRPr sz="15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745500B-7731-4096-8AA0-2650850A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B4EE681-F2EE-468F-8490-21CDEAD0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1C950DB7-C0C6-476B-8EDD-2175F1A7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0E70257-05BF-4025-B497-64E3B06A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الاصطناعي‏</a:t>
            </a:r>
            <a:endParaRPr sz="19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491CF5A1-085D-450A-A542-980AE306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5ABCDED-3CBD-47AC-9290-5591FDA3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‏يستخلص النظام القواعد بنفسه من أمثلة كثيرة يتدرّب عليها.‏</a:t>
            </a:r>
            <a:endParaRPr sz="15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6C9529D9-A1AA-4EEC-9788-BAB7E5DC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2F8C39F3-5CA2-42DC-A9F4-D173A69E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‏المخرجات احتمالية — الأرجح لا المؤكد.‏</a:t>
            </a:r>
            <a:endParaRPr sz="15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C0CBF2F-010F-479E-86B3-9287D3EB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426E8606-EF86-41D3-9B9A-7757E78D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‏يتعامل مع حالات لم يرها بالضبط عبر التشابه مع ما تعلّمه.‏</a:t>
            </a:r>
            <a:endParaRPr sz="15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3AA54F6-A3CA-46AE-9779-A4F7C7CA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7F53ACE1-8BF7-4333-BF02-6865620E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‏ممتاز للمهام غير المنضبطة: اللغة، الصور، التلخيص، التصنيف.‏</a:t>
            </a:r>
            <a:endParaRPr sz="15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BFDD457A-295F-4C57-B527-2C4EAB84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EF4BAFBE-2FF2-42A5-BEF0-74BF2BD4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‏قد تختلف الصياغة قليلاً في كل مرة على المدخل نفسه.‏</a:t>
            </a:r>
            <a:endParaRPr sz="155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91C39D8A-86D1-43F4-AE7E-B680ABCF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628FA5C0-A533-4426-A879-6685CEDF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332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9ED6481-6BC9-4039-8D1F-00B7770D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6072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4486F019-0978-49A8-B95E-8BFA98D9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013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‏لهذا لا نسأل «هل الإجابة صحيحة دائماً؟» بل «كيف أتحقق منها قبل اعتمادها؟».‏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009729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a75b6f8c84b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31CA8D1-4ADE-408B-BA60-5E39DE20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18‏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FF2EABD-A957-4000-9286-775F8A84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5BD206A-AA8F-4221-87AF-634B3D7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‏كيف تتعلّم الآلة؟‏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B1F4FE2-B10F-48AA-AA9C-EF10C87C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61FA7B3-AF48-4631-A7E9-A3E990E7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2D862AC-24C3-4479-A11B-FF6A27DC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الفكرة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نفسها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التي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يعمل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بها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فلتر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البريد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المزعج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وتوصيات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المتاجر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والمساعد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الذكي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33F0DFE-CEAF-4788-B1E7-EA2583FC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243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0D68F0-E513-408C-8758-83E9D2AC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4EA3257-E973-4A6E-AE62-4CB765D7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DBB83D9-BE49-4148-819F-9174F518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971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‏البيانات‏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590CC4C-8148-4B20-A8F6-9C1F1002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115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يُغذّى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النظام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بآلاف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أو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ملايين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الأمثلة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المصنّفة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أو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النصوص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64B5957-0296-457B-B604-68E6F576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414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808301A-53FA-4E4F-8BB1-AE46C691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19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4DE4803-32D0-4071-ACA6-86745B72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28A892F-ADBA-4D48-86CF-909473C4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142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‏التدريب‏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85E77F-ABEC-43A0-86B1-F744501F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286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‏يبحث النظام عن الأنماط المتكررة والعلاقات بين العناصر.‏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EEF0698-2E71-4FB1-AA03-4E963195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585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24504B6-EB56-4D4B-9DE1-71359707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FA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FB80A8B-B868-42F6-9BAA-9883DDC1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B5E96AE-8F39-4E56-98CB-57C8F4B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313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‏النموذج‏</a:t>
            </a:r>
            <a:endParaRPr sz="17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6D16A41-B9F7-4F95-A98E-CF3209F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457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‏تُختزل هذه الأنماط في «نموذج» — معادلة ضخمة قابلة للاستخدام.‏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D354FC3-A941-4834-9C26-56780A22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757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0C5D028E-BC00-4838-8CC1-34C3FC7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72F0953-19A9-4269-9CF4-1829FFBC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44652EA-A5B3-4CD5-BE13-4504AA5E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5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‏التنبؤ‏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B10DAAB-C110-4E11-93F9-85E093B5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629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‏يُعطى النموذج مدخلاً جديداً فينتج أرجح مخرج بناءً على ما تعلّمه.‏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2F46AFE-21D9-4F85-A394-C9300442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88644F63-AEE3-49F1-AF3A-C41F7F23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B0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D206D8B-30E5-4628-838C-E98EC229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4B11859-49B1-48A4-9308-CA76FD2C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‏التحسين‏</a:t>
            </a:r>
            <a:endParaRPr sz="17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32374140-6A8A-4FAB-B8AB-B6A223C7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‏تُقاس الأخطاء ويُعاد التدريب لرفع الدقة تدريجياً.‏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753775A4-32CA-479B-8B13-9F241040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8853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27D4061-9267-4E49-B0CF-046908B6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40740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ECA7EE5-C10E-4AB6-8E0D-6385D5B4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43484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65645848-BBB4-4723-9F09-298C48C0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3425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‏لا يوجد «فهم» بالمعنى البشري — بل تعرّف على أنماط إحصائية بالغة الدقة.‏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429925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8a6bdd48343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962A365-132C-400D-94B9-1A581CE0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19‏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D888CE5-A1F0-41CD-B81B-172E7C17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D433B88-20A9-4279-974B-CB3FF7D5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‏خريطة المصطلحات‏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85254B4-7727-40BE-B14F-23E53AE1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B5173BC-0567-44D9-AB82-FA542596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3AA3D7B-69EE-4BE6-9235-411962E1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أربعة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مصطلحات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متداخلة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كثيراً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ما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تُستخدم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بالخطأ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كمترادفات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B84E15B-A39F-4AC9-BE59-DB9659E0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F30F19A-38FD-4A7E-A649-45410FDA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6810052-C22E-4661-BFB2-5822266C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F36A9F6-95C5-4902-AA9E-E9827849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 (AI)‏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6FA4FC7-D6C5-476D-9C2A-0DE433BE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‏المظلة الكبرى: كل نظام حاسوبي يؤدي مهاماً تتطلب ذكاءً. يشمل كل ما تحته.‏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EEB638B-CA2B-46E8-A5EF-ED0EEEB5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AC70B65-F499-4FC2-A91C-62FD7A87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F8A1EEE-56A9-4D38-9529-8F06D44B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D6E254B-190C-4C4E-B8D1-90CA064C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‏تعلّم الآلة (ML)‏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025169F-5A87-4AB0-9771-5B626E75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‏فرع من الذكاء الاصطناعي يتعلّم من البيانات بدل القواعد المكتوبة يدوياً.‏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308E769-63EB-4488-A132-29815836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7C02DE4-76D5-476B-A0B7-CB85133D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1BB677A-30EC-477A-AF16-DF7EF071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2A5DE0A-DBA1-493B-BFCF-6E30DB28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‏التعلّم العميق (DL)‏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7B10C9F-2E39-4CD8-BB7B-EE540CAD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‏فرع من تعلّم الآلة يستخدم شبكات عصبية متعددة الطبقات، ويتفوّق في اللغة والصور.‏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0416443-A0F7-4738-97B7-5078D5D4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737377-CA18-4952-A121-E71E7302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A80419F8-166A-432E-B071-B4581BE1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8559658-CA0B-49A5-9084-59EC3AE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‏الذكاء الاصطناعي التوليدي‏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512A37C-D58C-49FE-8060-CC346E7E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‏أحدث موجة: ينتج محتوى جديداً (نص، صورة، صوت، كود) بدل التصنيف والتنبؤ فقط.‏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366717D-AEE8-4CC9-905A-8E37174F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91B715C7-8137-4E1C-9056-C68F5045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4864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BE0A898-E417-4DDE-9F9F-AEA3974A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5138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E42B785B-A851-4036-9008-9B0B6E49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132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كل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ما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ستستخدمه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هذا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البرنامج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يقع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الدائرة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الأصغر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: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التوليدي</a:t>
            </a: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305269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861310ecd4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8C18E98-A124-4B85-A7F9-A1A3AD31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66A5E6C-AEFB-4501-82FE-2803102A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8FB0BCE-95AF-4DE0-941F-5347551F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 النموذج اللغوي الكبير (LLM)؟‏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AAF475D-1EAE-48F5-BF5B-F235A0FC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4EBF7DE-3E9B-4D11-BDAA-AA486672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ACEA6C0-020B-486C-8881-B43EB32A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المحرّك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الذي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يقف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خلف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ChatGPT و Copilot و Gemini.‏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C23E6AA-3E9F-438D-AEB6-18E3E6F4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B1ECC39-4F53-421B-B1E7-47A25C94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00253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D2B043C-96F8-4D85-9E80-B4BCF651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2938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‏نموذج تدرّب على كميات هائلة من النصوص‏</a:t>
            </a:r>
            <a:endParaRPr sz="18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638CEDB-25BB-4260-82DE-FFDD31F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21992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‏كتب، مقالات، مواقع، وثائق — بمليارات الكلمات بلغات متعددة.‏</a:t>
            </a:r>
            <a:endParaRPr sz="15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7C65DF-D2A7-4899-B910-CE31D540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6700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236B88-F67E-4E05-B375-AD770DD5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697480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C26AAD8-9A36-49D4-878E-887701CF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24328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‏مهمته الأساسية: التنبؤ بالكلمة التالية‏</a:t>
            </a:r>
            <a:endParaRPr sz="18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54C568D-C97D-4BDE-9BDE-54EF1F05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16936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‏يقرأ ما كُتب حتى الآن ويرشّح أرجح كلمة تليه، ثم يكرّر العملية.‏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3A940A6-335A-4E02-978E-A597FD22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3649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9594D44-AA67-4ECE-A98E-08CD5962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392424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0FA2D32-95F8-4A60-A942-DFBCADFA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9272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‏من هذه المهمة البسيطة نشأت قدرات معقّدة‏</a:t>
            </a:r>
            <a:endParaRPr sz="18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BE9936C-50D0-4BC8-84AA-FABE44AF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11880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‏التلخيص، الترجمة، إعادة الصياغة، التصنيف، والإجابة عن الأسئلة.‏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03EAAD7-332A-4F82-B184-54D9BE77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0599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BFC6051-FE61-4600-A57A-75FCABCA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087368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A71C9D9-3FF6-41F4-B2EA-4067FE9F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14216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‏لا يملك قاعدة بيانات يبحث فيها‏</a:t>
            </a:r>
            <a:endParaRPr sz="18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595BA99-BADC-45A8-8B23-0CD0A389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06824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‏بل «معرفة» مضغوطة داخل معاملاته الرقمية — ولهذا قد يخطئ بثقة.‏</a:t>
            </a:r>
            <a:endParaRPr sz="15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EEFDD6C-E561-4904-B591-D187780F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7548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C62ABA3-E7E0-48A6-B07C-39A03E79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782312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AEBBE32-6069-4F0B-AD01-4666B444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09160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‏يتأثر بشدة بطريقة صياغة الأمر‏</a:t>
            </a:r>
            <a:endParaRPr sz="18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08EE328A-E5C9-4604-8839-4BC97C9A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01768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‏جودة المخرج تتبع جودة المدخل تبعية شبه مباشرة.‏</a:t>
            </a:r>
            <a:endParaRPr sz="15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AFCD5F-E3DC-43A8-937D-BFD498B8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49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52CC5F5-DECD-44AF-A9C2-044BC7BE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7725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045C77A-5FE2-4C29-A982-0320C342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0410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‏لا يتذكّر محادثاتك السابقة افتراضياً‏</a:t>
            </a:r>
            <a:endParaRPr sz="18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062D8F1-FBB9-4257-9399-047D5F2C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96712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‏إلا إذا فُعّلت خاصية الذاكرة صراحةً في الأداة.‏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6138237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15c6954f24d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0FC0359-97F1-4A90-9B5F-B1C2597F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21‏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C2A8E36-96D4-4B75-B9B9-7A702CE1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83B91FD-1223-4177-BC9D-8F8D1BCA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‏كيف يولّد المساعد الذكي إجابته؟‏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BF046FE-8C89-4627-9BDA-3E56A400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FA2C9FA-6546-42C3-8B8D-AD3B8F15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7C4FD9F-EA4E-4A66-9E49-304D28DD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ما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يحدث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الثواني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بين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ضغطك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«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إرسال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»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وظهور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النص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AF96ADE-09D7-4D3A-931C-7CACACB3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243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CD9A366-A639-4B60-83A3-5BB24A30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291D566-5D03-4D18-BB86-270D0EA4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3CEA438-63EA-4BA0-9CE8-EE62A865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971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‏التفكيك‏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C79C2BB-B34C-4489-AAC9-36EDBC6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115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يُقسَّم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أمرك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إلى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وحدات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لغوية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صغيرة</a:t>
            </a: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(Tokens).‏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49C697B-8453-4F62-9923-4853F051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414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BB21DB1-55B1-4126-BE78-321817F4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19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C66BA1E-7ECA-4DF6-A46B-07B990A1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3E582AA-6D82-46E6-A0F6-00117134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142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‏التمثيل‏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B54E9F8-B9BC-4237-9453-C5D79D14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286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‏تُحوَّل هذه الوحدات إلى أرقام تمثّل معناها وعلاقاتها.‏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A8D84AE-24D2-4E85-8F85-E91035F7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585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4A93BA6-219C-44DF-90D7-9042681C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FA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AB9FB5C-E367-42EA-BBA6-7C697F25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96547E0-F5B4-49F1-8DAF-9B699A5A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313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‏الترجيح‏</a:t>
            </a:r>
            <a:endParaRPr sz="17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BBFE554-CF41-4E51-928A-AF27EB6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457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‏يحسب النموذج احتمال كل كلمة ممكنة تالية.‏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A073BB25-36C5-4116-A66F-6AA83A7C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757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1144AB-BFC6-4B5C-911A-7627180B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43D45A1-341F-434D-9035-A5094B33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D49A63A-E88C-433E-AE20-CE269EF5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5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‏الاختيار‏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62FDDD7-1380-4FD7-BA20-A280EDD0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629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‏يختار كلمة من الأعلى احتمالاً — مع هامش تنويع.‏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DC0DE4B-BC93-492A-BE58-CA86E99D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017AFD5-DAC6-43B2-B3E8-04A6D27A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B0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01BF7BD-1F7B-4F51-A379-C6E17C3F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1E10BA7-FA42-4E17-96E5-2991B171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‏التكرار‏</a:t>
            </a:r>
            <a:endParaRPr sz="17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406BF1-1C22-4A29-ABF8-AA3DBF49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‏يعيد العملية كلمة بعد كلمة حتى يكتمل الجواب.‏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B0594F89-A639-4269-8C21-E182E1DC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0565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DE2EB90-025A-456F-8397-415D12A1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2245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DA81FD57-C2E9-448E-9022-4BDB16E8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25196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9E39F72-153F-4F2D-8636-889F3EFC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5137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‏لهذا تختلف صياغة الإجابة قليلاً في كل مرة، حتى مع الأمر نفسه.‏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123929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4a25297084b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745A606-7428-45F6-95E5-C82A716C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B73B6CE-54DA-4D51-BA9E-773325B0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D88C6F3-220E-41A1-A3C5-5E996A99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 يفعله وما لا يفعله‏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2B020DF-CF4E-4330-B7B9-6B041549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C510E74-30FC-4EA9-BC33-86E33BF4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38112F8-FCD5-4564-AE30-814F46C4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‏تصحيح أشيع خمسة مفاهيم مغلوطة.‏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6BCB859-E511-43FF-9266-9EF81D0A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6A88D-9878-4F18-A585-52218487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FF52A4-21C0-4A93-AA9C-0333495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FB6A8C7-5D68-4F7F-A824-C77C0419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‏يفعله ببراعة‏</a:t>
            </a:r>
            <a:endParaRPr sz="19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1F88DC1-F9C0-4B6C-A6C6-2870AF2C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2240179-2577-49E8-AF6F-7DA58292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‏صياغة النصوص وإعادة صياغتها بأساليب مختلفة.‏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6097CFE-F020-4A8D-B7F1-EFA93EC9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CDAE022-430E-49FC-8C67-9489165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‏تلخيص وثيقة طويلة إلى نقاط رئيسية.‏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0DDAFBC-B633-4674-A36F-D12C0773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62D5881-B7D3-42DF-AAE9-639D28D7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‏الترجمة بين اللغات وتحسين الأسلوب.‏</a:t>
            </a:r>
            <a:endParaRPr sz="15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24B1B66-FC85-44D6-A52C-9D914F06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1E4D24E-CD82-4CBF-B6D0-7B0C51A0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‏توليد أفكار وخيارات متعددة بسرعة.‏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3ED7132-EFBC-4F73-9DB9-AEC0BA82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73310C1-60F2-4A8A-BA4B-CBC6D71F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‏تصنيف وترتيب وتنظيم محتوى غير منظّم.‏</a:t>
            </a:r>
            <a:endParaRPr sz="15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563C8F2-59FC-4403-9DA9-83271518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A64AA8DC-CE2F-423A-B8A2-0B012416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65B4A"/>
          </a:solidFill>
          <a:ln xmlns:a="http://schemas.openxmlformats.org/drawingml/2006/main" w="12700">
            <a:solidFill>
              <a:srgbClr val="D65B4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6DD7D14-4B98-4867-91D9-AF067A0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B4A"/>
          </a:solidFill>
          <a:ln xmlns:a="http://schemas.openxmlformats.org/drawingml/2006/main" w="12700">
            <a:solidFill>
              <a:srgbClr val="D65B4A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346FEC8-5ECF-43D5-A9B4-698C6479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‏لا يفعله (رغم الظن)‏</a:t>
            </a:r>
            <a:endParaRPr sz="19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1157792-FB82-4617-B02F-2F82BD76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7E9418A-D283-4FBD-B69E-60DC9EE6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يعرف أنظمة جهتك وسياساتها الداخلية.‏</a:t>
            </a:r>
            <a:endParaRPr sz="15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F35932F-2611-4DAC-A898-3AC12AB7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B22F7A28-9A2C-4621-B190-51171E47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يضمن صحة الأرقام والإحصاءات والمراجع.‏</a:t>
            </a:r>
            <a:endParaRPr sz="15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997C972A-D1A6-44BD-ACE6-1259DF6D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91760259-9CF2-4D1F-9A8E-163AC4D1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يفهم السياق الذي لم تخبره به.‏</a:t>
            </a:r>
            <a:endParaRPr sz="15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CCDEFF93-2965-49D6-8255-29B1E7A1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38550FE-E69F-4F98-AC69-598B9EBF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يتحمّل مسؤولية القرار — المسؤولية عليك.‏</a:t>
            </a:r>
            <a:endParaRPr sz="15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31734080-329B-43F4-BC01-A3C0BB50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A2ADDCD7-2883-46A5-BE68-53EBA273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يحلّ محل الحكم المهني والخبرة المؤسسية.‏</a:t>
            </a:r>
            <a:endParaRPr sz="155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F105C47-8E10-40EA-A176-A8B93AC0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92F1DE70-26A4-4D25-9E64-5E5D6C5D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332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E1DC07B-DF5C-47D3-B309-00906FA7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6072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985FA975-12C8-42A7-AA43-C5C02AC6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013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‏القاعدة الذهبية: استخدمه لتوليد المسودة، واستخدم خبرتك لاعتمادها.‏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889853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ee8e86faa4f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9AD7EE7-57C0-49F1-940C-DF6F632C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23‏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13F7CF0-CE24-40CF-9F22-2DBD93E1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F00A014-78F3-401C-B5F1-BE4F3AD7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‏السياق الوطني‏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3EEC67-0AB0-47CF-B76F-246EE0DA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AE8B32C-3112-47D5-B703-34FC4123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1F3BF8F-063D-4256-B1FA-816F18A0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المملكة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ليس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اتجاهاً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تقنياً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بل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التزاماً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وطنياً</a:t>
            </a: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C91E362-33CE-4C4A-910E-326315C5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D33551-8DA0-4B1E-870F-93A5AF9E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BA7FA09-3D19-46D8-984A-5C8E0F3D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F70EACA-D711-4A3C-83D2-9451260E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‏رؤية المملكة 2030‏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5E55977-8EF1-4C8D-A5BE-ACA93504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‏التحول الرقمي وبناء اقتصاد قائم على المعرفة كأحد ركائز الرؤية الأساسية.‏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12EBF4A-B175-48B7-B6F6-15698B6C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DD686F8-C00A-44A4-A488-DF927ADA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07A138E-D42A-4732-9E98-A1CCE97C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6CECC5A-0A04-4A00-8ADF-FF479E0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‏الهيئة السعودية للبيانات والذكاء الاصطناعي‏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DD45D52-0195-410B-AB52-C036ADD2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‏الجهة الوطنية المرجعية للبيانات والذكاء الاصطناعي: التنظيم، التمكين، وبناء القدرات.‏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07659A2-9A71-4CB3-9D93-FA01839D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9930958-09CA-41B8-916E-4A80F100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2CDB76F-080A-4AB7-856C-B9C46ECA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B7D6BD4-C007-4E56-B115-0AD1D595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‏الاستراتيجية الوطنية للبيانات والذكاء الاصطناعي‏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354626D-1F26-48AE-947F-E3B6BB86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‏إطار وطني يستهدف جعل المملكة من الدول الرائدة عالمياً في هذا المجال.‏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B788290-3E97-42FE-A892-20F0AE2D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89257553-A433-4EB9-9CFD-FAE983ED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D1C40B1C-FBFF-43A8-8F28-38BE183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B4C17F-F2E1-43D8-B036-67F097C9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‏المبادئ الأخلاقية‏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950F63E-BE9F-49C0-927C-0FD75C56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‏إطار وطني لأخلاقيات الذكاء الاصطناعي يوجّه الاستخدام المسؤول في الجهات.‏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6380B8-408A-41C6-9DD1-32EC5132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988F4CC-864C-46AD-908A-089FB646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93B5FD0A-8C15-434F-961A-B018D127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B38D513-95CF-499A-B4D0-E90FFF67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‏نظام حماية البيانات الشخصية‏</a:t>
            </a:r>
            <a:endParaRPr sz="16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B44120D-CAD9-45A6-AF67-48C6749A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‏إطار تشريعي يحكم التعامل مع البيانات الشخصية في جميع القنوات والأنظمة.‏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8E77B0C9-3D9E-4D84-9BC6-B3B284F9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96A31FD-1684-4CB4-AD80-5DA61A4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88FC7700-6B71-45BB-AE99-5FAABB73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C158ED5E-868E-4327-85A3-0CC8EF5E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‏بناء القدرات الوطنية‏</a:t>
            </a:r>
            <a:endParaRPr sz="16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C92C1964-C37B-4FB8-9453-91633B15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‏برامج تدريبية وطنية — ومنها هذا البرنامج — لرفع جاهزية الكوادر الحكومية.‏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0339514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8c28ccf1d41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7662AB1-132C-4D7E-BAD4-22043F32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24‏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5692DBD-A443-442E-8487-CB23B2D8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8395E4C-4734-4BC7-BF6A-E9708D10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‏أثر الذكاء الاصطناعي على الوظائف‏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BD93638-D6D9-4E89-A9A0-8BC2F7BA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D17D83D-BDF8-4289-B8A8-B3BFF52F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91B661F-F162-411B-A55B-57CD1594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‏السؤال الصحيح ليس «هل سيستبدلني؟» بل «أي أجزاء من عملي ستتغيّر؟».‏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3667F15-39E7-4D9F-AAD1-3BB55B2F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1F100A8-3DA4-4C71-8739-E42444F7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696969"/>
          </a:solidFill>
          <a:ln xmlns:a="http://schemas.openxmlformats.org/drawingml/2006/main" w="12700">
            <a:solidFill>
              <a:srgbClr val="696969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582DE43-07A9-450A-B75A-4E894177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6969"/>
          </a:solidFill>
          <a:ln xmlns:a="http://schemas.openxmlformats.org/drawingml/2006/main" w="12700">
            <a:solidFill>
              <a:srgbClr val="696969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B9AD901-ADC5-403C-B5AA-39E72AE7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‏مهام معرّضة للأتمتة‏</a:t>
            </a:r>
            <a:endParaRPr sz="19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1BB68D2-6E8E-4BCC-ACB4-830079DD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5DF7430-D262-418B-93B6-413D8416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‏الصياغة الروتينية للنصوص المتكررة.‏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8E10672-B899-4681-8DA2-79A25BC6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90B2EA2-CDEE-4D34-89EA-3FE94A15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‏التلخيص الأولي للوثائق الطويلة.‏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554423C-012F-4791-BBF3-C3072C0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A0D2245-831C-4B73-9F61-23549E31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‏إدخال البيانات وتصنيفها ونقلها.‏</a:t>
            </a:r>
            <a:endParaRPr sz="15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54BC025-B3BE-4B42-B579-F8C730AA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93B3058-E458-4DDB-954D-9707AF67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‏الترجمة الأولية والتدقيق اللغوي.‏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E35E21B-5631-4390-8EDD-1AED6ED7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969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0A83629-D954-4149-90EE-6D140BAE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‏إعداد المسودات الأولى للتقارير.‏</a:t>
            </a:r>
            <a:endParaRPr sz="15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FDAC5064-3D76-4781-A91F-6A35E866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1AE8AB1-CFBE-4ADF-A26B-C262A059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29543E1-E12A-485B-90A8-3B3B275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F2233BD-375E-4739-8070-A16D7E4A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‏مهام يزداد الطلب عليها‏</a:t>
            </a:r>
            <a:endParaRPr sz="19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94017341-7FFF-4F36-A31F-15F5CA9D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61FCA0C-7F5E-4B78-B9E3-5D90354A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‏الحكم المهني وتقدير السياق التنظيمي.‏</a:t>
            </a:r>
            <a:endParaRPr sz="15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8B40BAF-A089-4C0C-8180-2E1917A2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F8B8D00-72CB-49D0-8DD3-53F891C9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‏اتخاذ القرار وتحمّل مسؤوليته.‏</a:t>
            </a:r>
            <a:endParaRPr sz="15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DBAB6923-F8D1-4378-B7BD-48F4EB04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96B77F7-863C-4749-B89A-B08D92E4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‏بناء العلاقات والتفاوض والإقناع.‏</a:t>
            </a:r>
            <a:endParaRPr sz="15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84B1C544-00B0-4FA3-9203-82CBC1FA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5E5E728F-C628-43E4-A0D8-DD5D9BAA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‏التحقق من صحة المخرجات وجودتها.‏</a:t>
            </a:r>
            <a:endParaRPr sz="15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BA4F4896-241E-4D67-B89D-BDD08675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6575869-89CA-419E-986C-068FF5CD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‏تصميم طريقة استخدام الأدوات نفسها.‏</a:t>
            </a:r>
            <a:endParaRPr sz="155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89BA1A9-35ED-43DF-8D07-5FEC575C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79B1B31D-F52E-4735-8034-D8F001F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332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D7F7F0B8-AE79-4B46-B41D-00CC1DF9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6072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ABE360BA-FCA0-4382-B5F5-4E2DB791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013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‏الأدوات لا تستبدل الموظف — لكن الموظف الذي يتقنها يتقدّم على من لا يتقنها.‏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352500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c65cc98a64f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89520F2-EB78-49B6-B6F6-F7F87D0A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25‏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94ADF96-4D23-48DB-AEEF-5F9E7AFC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32353AF-B188-47CB-A7F4-A76FEDAC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‏مهارات الموظف في عصر الذكاء الاصطناعي‏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9702A44-9697-403C-8942-0D0271C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1C63DD9-C411-4A31-A045-05B11195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1C070D9-5521-474C-B0B3-2E8F0940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60934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A2976F-F822-4ECC-9C4C-66C0019B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63677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4EBB4-6DA6-4639-BEF5-B3363EE2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6362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الصياغة‏</a:t>
            </a:r>
            <a:endParaRPr sz="1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268F728-47D6-45FB-A967-CABBC243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56232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القدرة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على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وصف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ما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تريده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بدقة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ووضوح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—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هي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المهارة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الأولى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الجديدة</a:t>
            </a: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D77D8DD-249D-4266-B8A2-0EEA95B4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3652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FFD17DE-0225-46E5-AC41-94CE352B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392680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C8F217E-2652-4B3A-A4C6-4630077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19528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التحقق‏</a:t>
            </a:r>
            <a:endParaRPr sz="18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20CD166-8FEB-40E4-826A-9C9999D9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2136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‏عدم قبول أي مخرج قبل مراجعة مصدره ومنطقه وأرقامه.‏</a:t>
            </a:r>
            <a:endParaRPr sz="15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3D9978E-8D32-480F-9377-D94534BC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211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5B5A80E-E323-44C1-A9C1-04593DA1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48584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6C73943-D9FC-47AF-97D2-46653C60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75432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اختيار الأداة‏</a:t>
            </a:r>
            <a:endParaRPr sz="18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05CE5CD-2733-44FF-B04E-42014301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68040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‏معرفة أي أداة تناسب أي مهمة، ومتى لا تُستخدم أداة إطلاقاً.‏</a:t>
            </a:r>
            <a:endParaRPr sz="15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90A4F7A-A483-47C4-B8F6-985B5F33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8770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9943B10-92CF-40DE-9ADA-13A133FB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904488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7659E85-DA68-405F-B81A-CECE7530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31336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الحكم على المخاطر‏</a:t>
            </a:r>
            <a:endParaRPr sz="18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A57D27C-DE85-459B-BA19-1EB01A1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23944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‏تقدير حساسية البيانات وأثر الخطأ قبل الاستخدام.‏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F20ADA2-2B76-4336-BF52-DE026EA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6329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6E3865A-B8A4-4FF7-9BFD-1CF91197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660392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07144F9-7AD3-4C9E-B985-1349933C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87240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التوثيق‏</a:t>
            </a:r>
            <a:endParaRPr sz="18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7DCDB1C-15D7-487E-AE85-73108719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79848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‏تسجيل ما استُخدم فيه الذكاء الاصطناعي وما راجعه الإنسان.‏</a:t>
            </a:r>
            <a:endParaRPr sz="15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337ACE80-3EDE-412D-B1C2-7CB086CE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38886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1AA53811-061B-4565-A6B8-5127C070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1629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3F2DA6-96BC-4A40-B1EB-54A604F4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314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التعلّم المستمر‏</a:t>
            </a:r>
            <a:endParaRPr sz="18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1F3FED3-95D8-4E6D-ABBC-6C29E282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35752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‏الأدوات تتغيّر سريعاً؛ الأساس المفاهيمي هو الثابت.‏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9262791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77aac4b5941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56F85D6-A5F1-4EC2-9103-C8EE55E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35C6855-63CC-48FC-A3A1-5C35940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١ · المحور الأول‏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E6AAC19-4E27-4481-9A14-E7679E4D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93204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‏أين قابلت الذكاء الاصطناعي اليوم؟‏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B5C8258-94C5-44F2-823F-6CA58AAF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572768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BD4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46F81EE-350E-44BE-BB12-7026EA44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5727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12 دقيقة‏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7B37C41-6775-4BEE-A9BF-2F2A32AF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31BADC-A005-411C-885C-C293E5E0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72768"/>
            <a:ext cx="10655503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‏الذكاء الاصطناعي موجود في يومك أكثر مما تظن — في هاتفك، وبريدك، وتطبيقاتك، حتى قبل أن تفتح أي مساعد ذكي.‏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B67139A-977B-4693-8918-DEA139C5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CFF0297-F5C2-4427-88F3-D292B7BB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4436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6BE140D-C52F-4869-93A8-BB50F7FA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8094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F754AEB-FC26-47BA-B652-F5DE452D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44368"/>
            <a:ext cx="10564063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‏ارجع بذاكرتك إلى ٢٤ ساعة الماضية، منذ استيقاظك حتى الآن.‏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61B4124-AC34-4FEF-B1BD-25AE6272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56158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031F621-F519-49FF-B056-5B8B5589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59816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60D1FA9-3339-4679-9D59-27BE6E2A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1588"/>
            <a:ext cx="10564063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‏اكتب خمسة مواضع ظهر فيها الذكاء الاصطناعي (اقتراح نص، توصية، فلترة، تعرّف على وجه، خريطة، ترجمة).‏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14E2296-5626-456E-841A-84A42D79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17880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5904C8B-0E42-433F-B094-418387D4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21538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D04DFBE-DF39-4D05-989D-1A003A9D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78808"/>
            <a:ext cx="10564063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لكل موضع: هل لاحظته وقتها أم اكتشفته الآن؟‏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9B80E3B-C6F3-4445-BF37-0ECE7015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79602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064CF49-7683-4D63-9BA1-0693EC57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83260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DF7803A-E55B-4047-A3CC-8A020DD8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96028"/>
            <a:ext cx="10564063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‏شارك موضعاً واحداً مفاجئاً مع مجموعتك، واستمع لموضع من زميل.‏</a:t>
            </a:r>
            <a:endParaRPr sz="1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536BE0E-1962-4A00-B27B-218A8340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11057839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791341F-5023-4A3E-ACF4-6F48FA2B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59552"/>
            <a:ext cx="10655503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قائمة جماعية تُبيّن أن الذكاء الاصطناعي بنية تحتية يومية لا تقنية مستقبلية.‏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6746834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6fd899b55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4C9F52B-42DF-40D2-BC06-CA1478E2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27‏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F9127FD-02ED-4CA1-B22B-AD9CCF5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‏راجع نفسك‏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EF27BAA-72F8-4AB5-AAB3-6D66859C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‏خلاصة المحور الأول‏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EACE00A-79A1-420A-828E-9BDA062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C454CE6-A8C2-47AE-8E2E-1FEE7AE9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4FB95BB-F88A-4D34-8453-2C6A985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‏ضع علامة أمام ما تستطيع شرحه الآن لزميل لم يحضر البرنامج.‏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CEDBD17-2A00-4F30-9F96-A10728B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6654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791C842-9618-4557-B930-4AC9E873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9260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23BE9BD-B1E7-4C75-ADA7-CE804472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7203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‏أستطيع تعريف الذكاء الاصطناعي بجملة واحدة مبسّطة.‏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CBC86BC-39B1-4006-9D41-6EF2C5AC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654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B552326-FA33-4975-852C-E0DBC332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9260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231B74E-4AA6-4AC4-9CE5-F68D4E06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203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‏أفرّق بين البرمجة التقليدية والذكاء الاصطناعي.‏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220A430-EDC0-41C3-9E4C-E8506699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53415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AC5C4C1-7266-41CF-A6F3-FBC5A856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79476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8DA6BEF-F2A9-4A67-9726-357566D2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8902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‏أشرح خطوات تعلّم الآلة الخمس بالترتيب.‏</a:t>
            </a:r>
            <a:endParaRPr sz="15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E7DF358-2FF8-4DD6-8292-DEFA8A7A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3415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BBB78E1-0FAD-4412-AAD7-FD79CFFD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79476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F92F4A6-62DE-4D31-B3F7-0A247AA4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8902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‏أميّز بين AI و ML و DL والذكاء الاصطناعي التوليدي.‏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ADE30D8-071F-4A51-845D-BB8673BB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4028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5F90256-8902-4DC8-A583-5C063F59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6634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956D7A5-D148-4BA9-A20B-0D3E988A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4577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‏أعرف كيف يولّد النموذج اللغوي إجابته.‏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F09DA1F-9DCF-44F0-9797-82684790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028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812FE27-2404-4A5F-BD53-FE944E36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6634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C917F19-D1E1-4C3F-8B62-7811E896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577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‏أذكر ثلاثة أشياء لا يفعلها الذكاء الاصطناعي.‏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4820518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4bc4f2c5b47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4419E20-FD8F-4958-AE92-82FC55D7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28‏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FB06BAB-4B72-4669-B3FC-2ADCC276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50FA591-9205-4919-B3ED-2893F7BA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الأول‏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D0393DA-B575-4146-A8C1-AC227F46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6B31E36-260B-4462-B769-DE38DB66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B6509D8-8045-4BFE-8D93-3C722351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4F9B5AE-F4EE-4B1A-A1BE-02775DDC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54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ما الفارق الجوهري بين البرمجة التقليدية والذكاء الاصطناعي؟‏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534842-87A5-4A80-997F-B9176DE3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0DD8701-C61B-4E4E-ACD4-776DC155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سرعة التنفيذ‏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BA169ED-028A-46E6-B447-818C2186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5BF3A69-5A0B-4EF8-B60A-1034881B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من يكتب القواعد: الإنسان أم النظام‏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2DDE269-641D-45DC-91B2-7DF9EE71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D35A6B7-122F-45DB-9A21-76271EC8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لغة البرمجة المستخدمة‏</a:t>
            </a:r>
            <a:endParaRPr sz="14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925AD3A-5D74-4EA3-8AF4-7FCCB0C7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7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74053A6-8426-4CE2-8FD0-70AF7479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78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المهمة الأساسية التي تدرّب عليها النموذج اللغوي الكبير هي:‏</a:t>
            </a:r>
            <a:endParaRPr sz="17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ACC2159-886D-4310-9A51-D631D754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5AE42F7-990D-4E19-9B60-FADA5012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البحث في قاعدة بيانات‏</a:t>
            </a:r>
            <a:endParaRPr sz="14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2FEE3A4-AA89-4865-B50B-1BF75D6E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E733004-2DF6-4CE6-BC2A-09A864E6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التنبؤ بالكلمة التالية‏</a:t>
            </a:r>
            <a:endParaRPr sz="14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B9C5A6F-D683-42C3-8AAC-5B02517A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A47F01E-CAD9-4604-960C-46CA2302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التحقق من صحة المعلومات‏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EF6453C9-965A-4688-9FCF-53369C6D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11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1D08436-35AB-4941-A817-052CFBA4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02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أي مما يلي لا يستطيع الذكاء الاصطناعي التوليدي القيام به؟‏</a:t>
            </a:r>
            <a:endParaRPr sz="17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F46433D-E1C3-4EDC-A26C-223B006D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E985C19-BDA1-48C4-9361-6D446DB5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تلخيص وثيقة طويلة‏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4B0145E-84FF-4CFF-83A8-03886035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B3C59D7-53DA-47BE-B9A7-A68EAA70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تحمّل مسؤولية القرار الإداري‏</a:t>
            </a:r>
            <a:endParaRPr sz="14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FC97EDE-EA93-40E2-AAE8-89D3146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A76E51B-2666-498C-8D62-3BCBA678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إعادة صياغة نص بأسلوب رسمي‏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554695466"/>
      </p:ext>
    </p:extLst>
  </p:cSld>
</p:sld>
</file>

<file path=ppt/slides/slide2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d5dd311f1524cd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8a71bcba341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807BEF99-A2A8-4B81-BEB7-B61553F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932688"/>
            <a:ext cx="1325880" cy="1325880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160B8DA-3C17-4F89-98DB-8F02F6C6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1060704"/>
            <a:ext cx="1325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‏٢‏</a:t>
            </a:r>
            <a:endParaRPr sz="6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3889175-0FA9-4897-9E6A-CE64D28B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687" y="2487168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B369E28-26C3-4669-98A9-40CBE0B0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98064"/>
            <a:ext cx="11057839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‏تطبيقات الذكاء الاصطناعي في أدوات العمل اليومية‏</a:t>
            </a:r>
            <a:endParaRPr sz="4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31AC225-1B60-468F-84AC-8F7264B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97776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‏الأدوات التي تستخدمها كل يوم أصبحت ذكية — فلنكتشف ما الذي تستطيع فعله بها.‏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15D7953-9BEE-40AE-9218-7B423CFF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035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3B40CA-D32A-4AD5-AED3-DB07F9DB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339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‏خريطة الأدوات‏</a:t>
            </a:r>
            <a:endParaRPr sz="14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F2289A5-6E7E-4E5F-A540-00CB2081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D9EFF1C-2E52-4A0F-8558-25BB15FC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 داخل Microsoft 365‏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C447D77-6FE0-4F00-857A-CEDD776D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4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4056511-B976-4375-95E5-FD907FA1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‏المساعدات المحادثية‏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CCFEEB0-8C87-4573-93FA-84048AE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6067FA9-B446-435A-8E9B-333B38E9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‏كيف تختار الأداة المناسبة؟‏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1542064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15932fd8643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C01A278-A637-44BE-B85C-DD50F64C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6E3969A-F6BC-431A-B8EA-6C47CA91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24CBFEA-8482-44FD-AFA8-0E18DEB2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‏ماذا سنغطي في هذا المحور؟‏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B086B0F-8C71-4C14-BD63-F9E9EB6E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9C127B9-D70E-4B05-B7EC-C97DBB37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93C3EE5-CE5A-4539-AAB3-867AA580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60934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48AE642-99D5-4014-B527-0F36546A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63677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41D1F24-7EE3-4EA7-8765-3506D9DD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6362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‏خريطة الأدوات‏</a:t>
            </a:r>
            <a:endParaRPr sz="1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6312D1-A159-4419-ABDD-828AF74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56232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‏تصنيف الأدوات التي يتعامل معها الموظف إلى أربع عائلات واضحة.‏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E2C187F-5D21-49BF-B7D4-30752F21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3652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A340622-DDD3-4831-BDA3-15A5B701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392680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42F090-5B48-457D-AE38-8D3978A5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19528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‏المساعدات المحادثية‏</a:t>
            </a:r>
            <a:endParaRPr sz="18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CF16636-5C0E-4539-8E9E-79755D75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2136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‏ChatGPT و Microsoft Copilot و Google Gemini — القدرات والفروق.‏</a:t>
            </a:r>
            <a:endParaRPr sz="15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530EC08-EEAB-41BD-B67C-643EBA91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211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9F3B87A-6F62-424E-84D9-B64C7D47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48584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22DDD3D-0996-49C8-83D2-D3069CC8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75432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‏الذكاء الاصطناعي المدمج‏</a:t>
            </a:r>
            <a:endParaRPr sz="18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896A618-71B0-4853-804C-336687E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68040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أصبح متاحاً داخل Word و Excel و Outlook و Teams.‏</a:t>
            </a:r>
            <a:endParaRPr sz="15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6647C75-4B0C-450F-AFE0-2F9FED7C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8770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8A84377-3519-41EE-948F-B354DB93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904488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533377B-2992-405F-8EE0-0442BAB0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31336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‏حالات الاستخدام حسب نوع المهمة‏</a:t>
            </a:r>
            <a:endParaRPr sz="18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7ECE5D0-8AC4-4D78-8633-AA4DB075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23944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‏الكتابة، التلخيص، الترجمة، التنظيم، الاجتماعات، الوسائط.‏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CFDA581-7756-4391-989D-CBC0D3DB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6329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673B0B0-7F2E-4BBB-8087-D09AFED5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660392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0AAA22C-CEDC-41C6-8BB6-D953FF3A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87240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‏مقارنة الأدوات‏</a:t>
            </a:r>
            <a:endParaRPr sz="18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6B7E971-B97D-4C03-BC86-F52ABA46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79848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‏جدول مقارنة عملي يساعدك على الاختيار الواعي.‏</a:t>
            </a:r>
            <a:endParaRPr sz="15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64843CD-AE1A-4F6E-856F-B5E8FC1E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38886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6FE416D-0D74-406A-A88F-CBF688A4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1629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68B6630-524F-4FCB-9CF2-69F27E9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314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‏قاعدة الاختيار‏</a:t>
            </a:r>
            <a:endParaRPr sz="18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1176A30-0CFD-4202-8E3C-359EF05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35752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‏كيف تربط المهمة بالأداة المناسبة في ثلاث خطوات.‏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6564343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d19082220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164E473-3689-4E39-8C77-3008EA9D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31‏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061044-1337-4B70-88A3-A7FC895F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73E9AAA-6D9E-455D-B92F-C7FE87F5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‏خريطة أدوات الذكاء الاصطناعي في العمل‏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1194845-AC75-43BA-BA7A-643F88EF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6C0577F-AD0D-4A4F-A6B1-049BC19B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A0DF12-6904-4480-9988-DF1602C9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‏أربع عائلات تغطي معظم ما ستحتاجه كموظف غير تقني.‏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3DAF723-FD8D-4782-8762-133D1061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855B8AC-FCA3-42FA-9E20-24717889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B80256E-5FA9-4E4C-8517-894C456C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F4DD1C9-9ADF-4E48-986F-4A31CB4B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‏١  ·  المساعدات المحادثية‏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A2DF6FD-0596-457A-B7AB-988FC190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‏واجهة حوار مفتوحة تكتب فيها ما تريد، وهي أوسع العائلات استخداماً وأكثرها مرونة. أشهرها ChatGPT و Microsoft Copilot و Google Gemini.‏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9950B63-22BE-480F-A575-C93225AB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6530536-FCAC-4FDE-AD76-B968F17B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AE4832B-0563-4F7F-B013-1CD8643E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10D6C12-DEEF-4FB5-8F92-786704B1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‏٢  ·  الذكاء المدمج في التطبيقات‏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0B2660D-316B-4EED-84CE-33C230D9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‏ميزات داخل الأدوات نفسها: صياغة في Word، تحليل في Excel، تلخيص في Outlook، محاضر في Teams.‏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2B472CF-7339-4C70-B88D-3FF81AD5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7B1DEB0-CE3F-479F-8A23-5C97434F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157F7F1-3780-4264-89AD-C6B23E8E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DAD91B1-994B-4455-A82B-6D5DCBAF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‏٣  ·  أدوات الوسائط‏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FD35E8A-D659-454A-B024-C429B282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‏توليد وتحرير الصور والعروض والفيديو والصوت، وتحويل النص إلى مرئيات.‏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ECE2112B-2866-42CF-87B7-C037D1D1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750B4D0-FE44-4FD4-BB0D-0717FBD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940AC70-7AB7-4368-989B-8EBBB9A6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A64FED7-7E71-4E74-AF72-3B8B6838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‏٤  ·  أدوات متخصصة بالمهمة‏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A114BA5-C6CE-4F4F-B319-1D5AA859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‏تفريغ الاجتماعات، الترجمة، التدقيق اللغوي، البحث في المستندات، تنظيم المعرفة.‏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DD426D2-1A44-4D8E-B240-B00799CA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E68C58C-C7B2-4A72-A10A-C4C356EC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4864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3900889-94D2-497E-9418-6D99C9F3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5138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CB4DE63-B600-4DBC-878A-E82E2EA0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132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‏ابدأ بالعائلة الأولى — فهي وحدها تغطي أغلب مهامك اليومية.‏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075569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ad138157d4e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15030E3-1317-45E9-9838-01CED825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F58F0C5-2007-4143-9A48-1E87A8C4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051A8B0-137C-4937-B613-AB6FF22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‏المساعدات المحادثية الأكثر شيوعاً‏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47B4343-1852-410E-874A-11C48450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5AFBB66-7A3B-4F08-805A-526E7277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A91A87-AC4F-4F16-AEE0-B42CE5E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‏ثلاث أدوات ستقابلها غالباً في بيئة العمل الحكومية.‏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E89E341-F0A1-4D36-A5ED-A107FEE9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24912"/>
            <a:ext cx="3576218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8A48C10-603F-4B66-A2D2-EE819B10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24912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F4085BD-3F70-4C66-AC08-92FD63B8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962656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BAECFC4-D10D-4A22-9EF4-8B35668D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779776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‏ChatGPT‏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DCC9C8-1C2F-4EB2-A397-88046B4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291840"/>
            <a:ext cx="3283610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الأوسع انتشاراً وأكثرها مرونة في الكتابة والتلخيص وتوليد الأفكار. يدعم رفع الملفات وتحليلها.‏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117A519-53C1-4EA7-9CD8-613D4A0E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24912"/>
            <a:ext cx="3576218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1968A13-FA33-4A1A-9CBE-BAB98A25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24912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367834B-878C-4E05-B5D2-F86D298F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962656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92BF193-2ED1-4FEA-88D5-0620E948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779776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‏Microsoft Copilot‏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6769F32-4A0B-4AD0-8BC7-5628663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291840"/>
            <a:ext cx="3283610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‏مدمج مع Microsoft 365، يصل إلى مستنداتك وبريدك واجتماعاتك ضمن نطاق الصلاحيات المعتمدة في جهتك.‏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B42518B-4C08-4FA4-A976-DE37F56C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24912"/>
            <a:ext cx="3576218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39807F5-25B0-4352-8036-A51B49FE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24912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0B3428D-5491-4FAF-90F8-74F28F1A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62656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E728625-0435-4126-8FE9-2E527285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79776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‏Google Gemini‏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6A9FD56-39AE-4493-A8DD-33A6827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91840"/>
            <a:ext cx="3283610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‏مدمج مع منظومة Google، قوي في البحث والتلخيص ومعالجة المحتوى متعدد الأنماط.‏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10B7F04-EB34-44E6-8314-C1FEB36D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D0AE266-DD9C-4D9D-B7FF-8E8FDB53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03834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F8EE6F9-3655-4501-94B6-418F981F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065776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DD5500E-C186-4C72-B082-4D48403A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65192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‏التزم دائماً بالأداة المعتمدة رسمياً في جهتك، ولا تُدخل بيانات العمل في أداة غير معتمدة.‏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902683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0ba8006ae44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E18E201-52F9-4FD8-AE0A-3071CAE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33‏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3C6B54F-A239-44B3-B76B-8E495E23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F686438-B881-4FF7-9F8E-E1E84D8F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‏الذكاء الاصطناعي داخل Microsoft 365‏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9A27176-0B3D-4909-8F06-22ECE901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9AF8840-A70F-449E-AE60-97B06510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306D6CA-2315-4DBC-B2B0-9C332400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أصبح ممكناً داخل الأدوات التي تفتحها كل صباح؟‏</a:t>
            </a:r>
            <a:endParaRPr sz="1600"/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566928" y="1883664"/>
          <a:ext xmlns:a="http://schemas.openxmlformats.org/drawingml/2006/main" cx="11064240" cy="340156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‏التطبيق‏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‏ما يستطيع فعله‏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‏مثال من عملك‏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‏Word‏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‏صياغة مسودة، إعادة صياغة، تلخيص، تحويل نقاط إلى نص‏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‏تحويل نقاط اجتماع إلى مذكرة رسمية‏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‏Excel‏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‏شرح المعادلات، اقتراح تحليلات، تلخيص جدول، اكتشاف أنماط‏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‏تلخيص جدول طلبات تدريب في خمس نقاط‏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‏PowerPoint‏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‏اقتراح هيكل عرض، صياغة نص الشرائح، تلخيص وثيقة إلى شرائح‏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‏تحويل تقرير إلى عرض تقديمي أولي‏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‏Outlook‏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‏تلخيص سلسلة رسائل، صياغة رد، ضبط النبرة‏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‏صياغة رد رسمي على استفسار متكرر‏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‏Teams‏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‏تفريغ الاجتماع، استخلاص القرارات والمهام‏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‏محضر اجتماع أولي فور انتهاء اللقاء‏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89EE10C-784D-44BF-9399-B5263292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59552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2678322-68D0-4705-BE6F-29C0ABB6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67842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96E5B61-1AA1-4525-9845-2117FD89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05856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6A07D0D-506C-4813-AACD-AD4DA51F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05272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‏توافر هذه الميزات يعتمد على نوع الاشتراك والصلاحيات المعتمدة في جهتك.‏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545507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1830489d5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5269015-B02F-4900-BAEE-EF37659A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34‏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74EB816-91AF-4CEC-BEA7-ED90CC7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E263042-BAFB-4B80-ACCC-F43D2191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‏حالات الاستخدام: الكتابة والصياغة‏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E102E65-4AF4-4AA7-9CCC-46EBEA1D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58CEB56-673B-46B0-BB70-07C5D0B7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382CF7-57E3-4085-924B-803FB908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830F138-1A43-4A91-8866-0D4ABCA5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0C246A-63E5-41B3-8F7A-478FE260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C8343F5-EDC2-49F0-ADD1-072C89A2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‏مسودة أولى‏</a:t>
            </a:r>
            <a:endParaRPr sz="16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0A0E760-E645-484A-965A-C2CE62E2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‏اطلب مسودة لخطاب أو مذكرة أو تعميم، ثم حرّرها بخبرتك — توفير كبير في وقت البداية.‏</a:t>
            </a:r>
            <a:endParaRPr sz="1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2F6FA90-534A-43F2-888A-F6FB997F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19DDC64-E560-4077-AE8B-7FFE1CAC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30F6D7B-8FE3-47A7-8C26-8A87E57A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C6371C7-05A3-4D20-8FCF-C5D91D86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‏إعادة الصياغة‏</a:t>
            </a:r>
            <a:endParaRPr sz="1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EEB8779-648B-454A-A935-34ED5E3F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‏حوّل نصاً طويلاً إلى مختصر، أو نصاً غير رسمي إلى رسمي، أو العكس.‏</a:t>
            </a:r>
            <a:endParaRPr sz="14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68DF6A3-7D00-4ADC-B0EE-2C84DB01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A7BA555-4C2B-415B-BBA9-DB9C8394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9D11B52-C065-42A1-BB59-F5B015FA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1909FB3-ADD3-4752-8778-6CA04E75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‏ضبط النبرة‏</a:t>
            </a:r>
            <a:endParaRPr sz="1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966D45A-2743-4832-A149-AE01EE77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‏اجعل الرد أكثر دبلوماسية، أو أكثر حزماً، أو أكثر ودّاً حسب المخاطب.‏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690426E-C531-4DFA-9735-D83D774A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7141F56-E904-4E3F-96B0-98318A9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2283E3D8-1EF9-4F46-94C0-7CA51945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038614D-B9E2-42D7-817B-5D167FC2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‏التدقيق اللغوي‏</a:t>
            </a:r>
            <a:endParaRPr sz="16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D4418FB-B6AA-4622-BEAD-7A2BE45A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‏مراجعة الإملاء والنحو وعلامات الترقيم، مع شرح سبب التصحيح.‏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F723DC-B577-45BA-B8F7-75478A04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A8E90E2-92F5-424C-B525-68D0BA78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A3A5CB9-77C6-42D9-BB07-75B89C81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CAC51B6-EC14-4033-B8B1-7AF471BA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‏توليد العناوين‏</a:t>
            </a:r>
            <a:endParaRPr sz="16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61F317E-F70D-4A99-A247-3F68E304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‏اقتراح عشرة عناوين بديلة لتقرير أو مبادرة أو حملة تواصل.‏</a:t>
            </a:r>
            <a:endParaRPr sz="14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6A3C892B-5736-4032-8439-124426F3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1B509C4B-B832-415E-AD44-E3464ABB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6A944144-00E0-4D32-9B19-28600099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6E5D4E96-4C1F-4304-8C9B-4CFA7C70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‏التوسعة والاختصار‏</a:t>
            </a:r>
            <a:endParaRPr sz="16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8259FCE-471D-4CC1-BC1D-561BC329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‏توسيع فكرة مقتضبة إلى فقرة، أو ضغط صفحة إلى ثلاث نقاط.‏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3983793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e0ceed954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84BCC6C-05D0-4054-BE1D-07EC206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35‏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94CE3CC-D9FC-4A86-B11E-577867A4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F27FC58-ED49-47BD-9905-12390BE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‏حالات الاستخدام: التلخيص والتحليل‏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E656585-E8A7-4498-9DC5-7C326F30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7611223-3453-48B1-998F-11CB9F78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984D7DF-80F8-47EC-95DA-C2DF66EB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0939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63A73F5-FC0B-474B-B25B-F4ACC97D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0939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1DA3743-14C9-4A43-9CFE-652A2A34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317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EFF7E23-F9C4-4915-A2A0-1A23276E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1488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‏تلخيص الوثائق‏</a:t>
            </a:r>
            <a:endParaRPr sz="16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0FC25EA-7CC6-445F-A9B2-577AA07F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6609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‏اختصار تقرير من ٤٠ صفحة إلى صفحة واحدة تحتوي أهم النقاط والقرارات.‏</a:t>
            </a:r>
            <a:endParaRPr sz="1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E192C6F-151B-42D8-AB5F-7FB63737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0939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513FE48-9FE4-473F-B89E-5DAEE7F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0939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21FA7CF-8A7D-4C81-879A-858E932D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317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36A6B0A-33E6-49DC-92E5-0FC35F16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1488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‏استخلاص القرارات‏</a:t>
            </a:r>
            <a:endParaRPr sz="1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D8B8C02-13CE-4343-8001-4318EDE9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6609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‏استخراج القرارات والمهام والمسؤولين من محضر اجتماع طويل.‏</a:t>
            </a:r>
            <a:endParaRPr sz="14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2888E55F-DF91-429B-80D7-98A4EE24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39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EC1048D-DC99-4BDC-AE5C-A4BD1302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39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140066E-7150-41DF-8E4B-149A2213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60A0425-ABDD-4A53-BF09-6AFF6587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‏المقارنة‏</a:t>
            </a:r>
            <a:endParaRPr sz="1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2B366F1-E968-4EDC-95FE-A4BE5A6D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609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‏مقارنة عرضين أو وثيقتين وإبراز الفروق في جدول.‏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6CDE3D8-753D-4924-B204-3F1BD60B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5844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FC50DA5-D19C-4B58-903E-C5CE8E96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5844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15C0CF5-5DE5-4443-8316-1517C0AA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221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ECF9DB4-5138-45C6-BFC8-3C4E4331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6393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‏التصنيف‏</a:t>
            </a:r>
            <a:endParaRPr sz="16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7493666-71D2-4C5A-AB48-50FA643F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1513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‏تصنيف قائمة ملاحظات أو شكاوى إلى فئات متجانسة.‏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6AD63E0-F8EB-4225-B1E3-87D1703D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5844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E9D1F68-DED4-43BC-8A14-447BFC20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5844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EE8A3C8-EE0E-48FE-9938-454D7C61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221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E739B0D-7D04-4C29-A781-8AE6D9D7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6393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‏استخراج البيانات‏</a:t>
            </a:r>
            <a:endParaRPr sz="16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D2A191F-235A-4B00-B809-11FBCC9A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1513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‏تحويل نص غير منظّم إلى جدول منظّم بأعمدة محددة.‏</a:t>
            </a:r>
            <a:endParaRPr sz="14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D2FB95C7-8D1D-4980-A9D7-212C820D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47D7C3-E98A-4CF1-B5A1-659AB966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B8577129-6176-4DA2-8DF8-8250FC0A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83924407-2B29-4BB2-B1C6-57527EF1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393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‏الأسئلة على وثيقة‏</a:t>
            </a:r>
            <a:endParaRPr sz="16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EEAFB8CF-9F3D-42EB-913B-6C987BB9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513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‏رفع ملف وسؤاله مباشرة: «ما الالتزامات المالية الواردة فيه؟».‏</a:t>
            </a:r>
            <a:endParaRPr sz="14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B7F5D292-A474-416D-9F26-C9C00296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8464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6FD7CA2A-910F-4C41-B8D0-D26047F7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035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88A263EE-125D-4F9C-9A23-161463B8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3095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38898670-0FAE-4B3E-9B41-374FE956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3036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‏تحقّق دائماً من الأرقام المستخرجة بمقارنتها بالوثيقة الأصلية.‏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378186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b149ad5854e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781D944-84D7-4AAB-9272-E545F8B9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D1AFA33-257D-4B4E-A108-DD684EA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85F29E4-773F-4414-8BD9-63243034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‏حالات الاستخدام: التنظيم والإنتاجية‏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88C6196-D8F3-418E-BF64-09BDA7B8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B9CD076-3FAD-4274-A477-8D5C89F1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1F4B8E0-D0B5-40CB-95C8-E907EA7E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87C0341-87C6-4AE1-A001-2FCB8ABE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806FA5B-65F0-40B5-8A9E-C14EF02E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30A105D-53BC-43E8-AD6B-C40521A1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‏تنظيم الأفكار‏</a:t>
            </a:r>
            <a:endParaRPr sz="16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EC9DA7A-2FDA-481F-8432-04D6FB5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‏تحويل قائمة أفكار متناثرة إلى هيكل منطقي مرتّب.‏</a:t>
            </a:r>
            <a:endParaRPr sz="1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D58A001-0BCF-414D-8DF4-48E257FA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017B53B-7C5F-4A9A-A942-A06033AE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64745A2-B353-47F7-A874-40D1629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B1775F0-8C36-4957-9C95-A43C0045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‏إعداد الأجندات‏</a:t>
            </a:r>
            <a:endParaRPr sz="1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39491C1-31F6-4D8E-8892-D57C55A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‏صياغة أجندة اجتماع مع توزيع زمني مقترح لكل بند.‏</a:t>
            </a:r>
            <a:endParaRPr sz="14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962A7F0-BD4F-4603-B4C8-DCB5E2B7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77BAC55-8F5F-4D05-A6F3-0778422E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BF2A499-DE0A-4992-A47F-ADC4A336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0C7BCAA-58BC-4D9F-B757-3B19B4F1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‏قوائم التحقق‏</a:t>
            </a:r>
            <a:endParaRPr sz="1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286FBDF-6E50-49B8-A87D-E8634F6A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‏توليد قائمة تحقق لإجراء متكرر بناءً على وصفك له.‏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E77B1EE-3756-476A-A933-9A2193AD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E17ABD4-8A37-43D4-88D0-5FDF2E4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2C207F96-6C23-47B4-8D9C-84DD67B6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32B5C2D-A35F-48DA-8741-723DC4B0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‏خطط العمل‏</a:t>
            </a:r>
            <a:endParaRPr sz="16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DACADA8-BA82-4876-9332-D52DB81B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‏تحويل هدف إلى خطة بمراحل ومهام ومسؤوليات مقترحة.‏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4CD976FE-4BCE-4E15-A01B-F12C0035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B6708393-C456-40F1-A3BB-401F89D6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2A6CCDF-0ABB-4173-9F80-9EB07D7F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0FD64C0E-3632-4022-811F-12243778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‏الترجمة‏</a:t>
            </a:r>
            <a:endParaRPr sz="16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EFC2515-488E-4AE6-AA80-C0BCB25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‏ترجمة سريعة بين العربية والإنجليزية مع الحفاظ على النبرة الرسمية.‏</a:t>
            </a:r>
            <a:endParaRPr sz="14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E5C4A686-021B-4428-8396-D6EC10E3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E22948CF-4413-403C-B021-EEF22B56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FD12B798-4AE4-41FF-BE65-11D269EF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F970166-E91C-4CB8-94C9-47E70920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‏الأسئلة الشائعة‏</a:t>
            </a:r>
            <a:endParaRPr sz="16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BB3AE548-E8F5-4421-94A5-8B58B5F7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‏توليد أسئلة وأجوبة متوقعة لخدمة مستفيدين أو ورشة عمل.‏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5692275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80432e19b46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9BE1C40-F45E-42E2-967D-216515D2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37‏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21A9541-5BEE-49A7-86D8-295F31F8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125A23-A05C-4DB5-8196-A70B438E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‏مقارنة عملية بين المساعدات المحادثية‏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C01A934-AEC3-41FA-83C2-94BEFA70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B878AC-0A5C-4A52-B7F2-93A3DD2B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graphicFrame>
        <p:nvGraphicFramePr>
          <p:cNvPr id="21" name="Table 0"/>
          <p:cNvGraphicFramePr/>
          <p:nvPr/>
        </p:nvGraphicFramePr>
        <p:xfrm>
          <a:off xmlns:a="http://schemas.openxmlformats.org/drawingml/2006/main" x="566928" y="1517904"/>
          <a:ext xmlns:a="http://schemas.openxmlformats.org/drawingml/2006/main" cx="11064240" cy="340156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468880"/>
                <a:gridCol w="2926080"/>
                <a:gridCol w="2926080"/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‏المعيار‏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‏ChatGPT‏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‏Microsoft Copilot‏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‏Google Gemini‏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‏التكامل مع ملفاتك‏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‏رفع يدوي للملفات‏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‏تكامل مباشر مع Microsoft 365‏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‏تكامل مع Google Workspace‏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‏جودة الكتابة العربية‏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‏ممتازة‏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‏جيدة جداً‏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‏جيدة جداً‏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‏ملاءمة بيئة العمل الحكومية‏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‏حسب السياسة المعتمدة‏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‏الأقرب للاعتماد المؤسسي‏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‏حسب السياسة المعتمدة‏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‏الوصول إلى محتوى حديث‏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‏عبر البحث المدمج‏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‏عبر البحث المدمج‏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‏عبر البحث المدمج‏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‏الأنسب لـ‏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‏الصياغة وتوليد الأفكار‏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‏العمل داخل مستنداتك واجتماعاتك‏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‏البحث والتلخيص السريع‏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BF7A2A0D-3B87-45BE-96D2-1B735DCE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93792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C6CE122-B05E-49CB-A511-0355C1FE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1266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8CA3D67-F736-4936-806A-5FC66DBB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40096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460D6F9-A346-4941-8203-8EC6E314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39512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‏المقارنة إرشادية — القدرات تتغيّر بسرعة، والمعيار الحاسم هو ما اعتمدته جهتك.‏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0308779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88a3f43b74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96D3C1D-1750-4E64-9930-9EA2EDCF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38‏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6EE45D9-9A14-40DF-B0C9-B43F2143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7E5166E-8861-4F8D-B623-4EC4C8C4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‏كيف تختار الأداة المناسبة؟‏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99606F5-55BF-493F-AE01-E67CB4D2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D3C87EB-4D4B-4CB2-B084-81D2A2D4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AE203CC-DE5D-404D-BF74-753879F5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‏ثلاث خطوات قبل أن تفتح أي أداة.‏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AEAA57E-38FF-467E-861F-D806A7D0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035" y="2231136"/>
            <a:ext cx="2654732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D91F8AB-9B82-4BBF-B3D4-A8974B32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37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1603818-5F31-4FA0-894A-87225B06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37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00C1DFD-FD16-40D9-BB85-BEFFF028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763" y="2615184"/>
            <a:ext cx="24352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‏حدّد المهمة‏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BA3ED2D-2BE2-441C-9580-6D6521E7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8907" y="3017520"/>
            <a:ext cx="241698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المطلوب بالضبط: كتابة؟ تلخيص؟ تحليل؟ ترجمة؟ تنظيم؟‏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954BD9C-891D-4CAB-861C-CF481B6E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2231136"/>
            <a:ext cx="2654732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291A7B1-0602-4640-BEE6-432EA2C7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902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19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8B6D356-C981-44DA-95D2-2529D708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902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0146063-CF6A-43DF-98C4-64EED8AF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2615184"/>
            <a:ext cx="24352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‏قدّر الحساسية‏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0B5B0D0-16A8-4D7F-91D2-6CF2B91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872" y="3017520"/>
            <a:ext cx="241698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‏هل تتضمن المهمة بيانات شخصية أو سرية أو غير معلنة؟‏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D484EE9-8FFB-478F-AE31-5F850DFE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4" y="2231136"/>
            <a:ext cx="2654732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F3153EB-C7AD-4F1A-964A-4E00D660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66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FA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DECA29B-BC30-4B3C-8BC3-A051F748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66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53821C0-B6BA-4EC2-AC3A-F2BA56C6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92" y="2615184"/>
            <a:ext cx="24352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‏اختر الأداة‏</a:t>
            </a:r>
            <a:endParaRPr sz="17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A63B01D-8E08-4FCA-AC29-0266AA25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836" y="3017520"/>
            <a:ext cx="241698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‏أداة معتمدة تناسب نوع المهمة ومستوى حساسية البيانات.‏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957098D-EA66-463D-9AA3-C9FE65B9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654732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3D90DE8-AE4B-4F82-928B-544A393D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830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6DE9C67-95F5-4ACF-BA82-E41144E7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830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7953369-1843-4F84-915B-3E989868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615184"/>
            <a:ext cx="24352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‏نفّذ وتحقّق‏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0ACE410-5D16-477E-AFC9-169241C1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241698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‏صُغ أمراً واضحاً، ثم راجع المخرج قبل اعتماده.‏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C66DF5E-FC13-459E-A005-EDD74472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0565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05008D3-41FB-4AB2-8745-F07D8E1E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2245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6A391EC-7D27-4B63-9D04-DA09A466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25196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A5A509D0-0E20-4A18-AD1C-4A4683E0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5137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‏إذا كانت البيانات حساسة ولا توجد أداة معتمدة — لا تستخدم الذكاء الاصطناعي في هذه المهمة.‏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38786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d74ce50bb41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835E72D-3203-4437-9A62-002CE214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39‏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81151E0-FFA1-4A3F-A284-B0BC285B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8867AC6-23EA-41FD-A1D9-A31592E7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‏متى تستخدم؟ ومتى لا تستخدم؟‏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C66B730-BF08-445C-801C-18A27DAE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46B47B2-BEAC-4C63-8D01-24D2F61D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2C8141F-8C4C-4BEC-9984-9FE6EADA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499616"/>
            <a:ext cx="5419192" cy="4005072"/>
          </a:xfrm>
          <a:prstGeom xmlns:a="http://schemas.openxmlformats.org/drawingml/2006/main" prst="roundRect">
            <a:avLst>
              <a:gd name="adj" fmla="val 22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3AC8409-8FDD-46C9-A702-99C38E8E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49961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A1D4E23-C00D-48DF-A904-DA825242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77393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D14B8BA-12CE-47D9-A33E-825B9878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159105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‏استخدمها بثقة‏</a:t>
            </a:r>
            <a:endParaRPr sz="19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796D21C-ACE3-49C4-9305-43746363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25856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27FD995-6C0C-4A53-84E0-9204EA41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167128"/>
            <a:ext cx="4797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‏المسودات الأولى التي ستراجعها بنفسك.‏</a:t>
            </a:r>
            <a:endParaRPr sz="15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EC81707-D6AE-4046-AEF2-36840890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91693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40E8A06-2FED-495F-BC38-3945590B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825496"/>
            <a:ext cx="4797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‏تلخيص محتوى تملكه ولا يحوي بيانات سرية.‏</a:t>
            </a:r>
            <a:endParaRPr sz="15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3257A3A-3D9D-48F6-9FB6-3D64396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57530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46A50C4-6A1D-4776-AA22-053B803C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483864"/>
            <a:ext cx="4797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‏توليد خيارات وأفكار متعددة للاختيار بينها.‏</a:t>
            </a:r>
            <a:endParaRPr sz="15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7C0FE61-17A2-4927-AC95-16F4C2DE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23367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E95C28F-5BEA-498F-B23E-8D2004F5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142232"/>
            <a:ext cx="4797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‏إعادة الصياغة وضبط النبرة والتدقيق اللغوي.‏</a:t>
            </a:r>
            <a:endParaRPr sz="15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4EBAE6B-1427-45CE-B3B2-1D8F7C0C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89204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288CD62-8303-432D-8E26-5695E5A2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800600"/>
            <a:ext cx="4797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‏شرح مفهوم أو مصطلح لا تعرفه.‏</a:t>
            </a:r>
            <a:endParaRPr sz="15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33B6FC6-255B-4F48-8265-C5318E3C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9616"/>
            <a:ext cx="5419192" cy="4005072"/>
          </a:xfrm>
          <a:prstGeom xmlns:a="http://schemas.openxmlformats.org/drawingml/2006/main" prst="roundRect">
            <a:avLst>
              <a:gd name="adj" fmla="val 22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D99560B-C2BC-463B-AE7B-90D69020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961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65B4A"/>
          </a:solidFill>
          <a:ln xmlns:a="http://schemas.openxmlformats.org/drawingml/2006/main" w="12700">
            <a:solidFill>
              <a:srgbClr val="D65B4A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93B8FC0-340B-47F5-9592-DBD0291B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7393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B4A"/>
          </a:solidFill>
          <a:ln xmlns:a="http://schemas.openxmlformats.org/drawingml/2006/main" w="12700">
            <a:solidFill>
              <a:srgbClr val="D65B4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534FDDD-1A12-4704-99D9-D4ADA937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9105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‏توقّف وأعد التفكير‏</a:t>
            </a:r>
            <a:endParaRPr sz="19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64F170B-B4CE-4710-8B73-554C8021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225856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48145C9-A23C-4E1E-B63D-49DCB88D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67128"/>
            <a:ext cx="4797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‏بيانات شخصية أو مالية أو أمنية أو غير معلنة.‏</a:t>
            </a:r>
            <a:endParaRPr sz="15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33599A8F-0079-4008-873F-7E37342A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291693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83269AF-6CFD-4717-9EBC-5E877BB6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25496"/>
            <a:ext cx="4797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‏قرار نهائي يُعتمد دون مراجعة بشرية.‏</a:t>
            </a:r>
            <a:endParaRPr sz="15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DC3CF01-A3A2-4836-B466-A52C275A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57530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E0FF30-F381-4F63-ADCB-4C62A8BB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83864"/>
            <a:ext cx="4797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‏أرقام وإحصاءات ستُنشر دون التحقق من مصدرها.‏</a:t>
            </a:r>
            <a:endParaRPr sz="155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68721D1-9B8F-45DF-A4B2-B69E687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23367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C2C0A7ED-A38C-44DB-A3DA-304F508D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42232"/>
            <a:ext cx="4797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‏رأي قانوني أو تنظيمي مُلزم.‏</a:t>
            </a:r>
            <a:endParaRPr sz="15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A9FD7BC2-6F55-4DA7-8BE0-B9CD9E2B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89204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781E4B6-EAA8-4D48-A7BD-3F24E03B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4797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‏محتوى يُنسب إلى جهة رسمية دون اعتماد.‏</a:t>
            </a:r>
            <a:endParaRPr sz="155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8B72D5BE-6B78-4EC6-BD59-C8F5A35D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720EE1CC-D6E9-4DD0-83B6-2D7DB4FD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332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9BBEBEA-3D17-4F57-BFAC-F2FFD52A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6072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3E735D64-D724-4039-A7D3-0978F5B4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013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‏قاعدة عملية: إن كنت لن ترتاح لظهور المدخل في تقرير عام — لا تُدخله.‏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34130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b6a513a3142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7C2D26D-59DC-4B45-9CF7-DE2B1705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40‏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D06966D-97B0-4F80-B61D-E05B2F44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٢ · المحور الثاني‏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D70467-044A-4B25-B059-CA2B5AB0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93204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‏مطابقة المهمة بالأداة‏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B393006-C54A-477E-90FD-40B7B150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572768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BD4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3ACF41F-72ED-4CC5-982E-D8984443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5727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15 دقيقة‏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E1B60BC-544A-433F-8EB0-7D2E1CB2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051ACEA-F7C4-4B8A-97BE-1030F24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72768"/>
            <a:ext cx="10655503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‏ستستلم ست مهام واقعية من بيئة العمل الحكومية. مهمتك تحديد الأداة المناسبة ومستوى الحساسية لكل منها.‏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56B94D6-3DDF-48A8-96CA-90651204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BA99B09-BE25-472D-9767-B37EAA5A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4436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F686C14-8148-4B14-9F42-32658523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8094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8964A7C-33D4-452F-B50F-2FD50969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44368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‏اقرأ المهام الست في ورقة التمرين مع مجموعتك.‏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C5E01C1-9775-4817-ABB8-57383E4B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38144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EADDD3F-6851-4A5A-8932-69294E2C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74720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974E0F5-98F1-4292-938F-00C4B0A5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لكل مهمة: عائلة الأداة المناسبة من الأربع التي درسناها.‏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32C6EF3-B4D4-42B1-813B-24F90E23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31920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54D82CE-0C60-47D7-8492-6CA7C261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68496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16B8700-5ABB-45D4-AC7F-F78F72E0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‏صنّف مستوى حساسية البيانات: عام / داخلي / سري.‏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34D6203-A448-4E5C-A8AF-50CB60E8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25696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1FD8F4-42AA-4091-9413-0447A1A9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62272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BBC279D-F737-4823-81EB-FFBD8F73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‏قرّر: نستخدم الذكاء الاصطناعي، أم نستخدمه بشروط، أم لا نستخدمه إطلاقاً؟‏</a:t>
            </a:r>
            <a:endParaRPr sz="1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F9C0C0A-7D21-43DC-BA97-3E0E7CF6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19472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5162F0E-CFA6-4FF8-A779-C49B8AA7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56048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21B314E-BF43-4DD9-9DEA-C2E5473B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‏اعرض قرار مجموعتك في دقيقة واحدة مع تبرير واحد.‏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0EC2E8C3-722C-42E0-8B9F-AFB44D9B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11057839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47D1F20-4326-4415-A27E-4FB53D2B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59552"/>
            <a:ext cx="10655503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مصفوفة قرار من ست صفوف تُظهر أن الاختيار الصحيح يبدأ من المهمة لا من الأداة.‏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5075702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51846467846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DAFEAEF-825E-46CE-94D6-ABA7D658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41‏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BBC322A-6466-4F53-B30D-78B2622D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‏راجع نفسك‏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4557D67-2741-4D74-92FC-64F3009E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‏خلاصة المحور الثاني‏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A6AEDE9-B278-4980-8924-4165A291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A0D66E3-38D4-4576-B8FB-6A428B49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DDD9547-B617-4D87-82A6-AF894E70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4825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EEDB4CF-249D-422B-B600-BDFC4BC4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7432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DF33585-208C-4224-83AA-73911072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5374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‏أستطيع تسمية العائلات الأربع لأدوات الذكاء الاصطناعي.‏</a:t>
            </a:r>
            <a:endParaRPr sz="15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72CB33C-E770-4BAC-B59E-081915C9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25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75F9145-AC19-4FDE-AD10-6CCEF38B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7432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672B71C-7329-42D0-A195-1D7BBA88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374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‏أعرف الفرق بين المساعد المحادثي والذكاء المدمج في التطبيق.‏</a:t>
            </a:r>
            <a:endParaRPr sz="15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572003E-6996-4002-B7F8-3C3352AF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3512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B0D725A-1854-477C-AD3F-30587668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6118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57C54A9-2EBA-4A6F-AC82-B3B4FCC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4061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‏أذكر ثلاث حالات استخدام في أدوات Microsoft 365.‏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A7C2526-C3EB-4185-B380-E742A01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12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5B691F2-A0A3-43D6-BECE-933DE6F8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6118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336AFEC-1A54-4D6A-90F5-F1DF94A1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061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‏أفرّق بين ChatGPT و Copilot و Gemini من حيث الأنسب لكل مهمة.‏</a:t>
            </a:r>
            <a:endParaRPr sz="15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821E353-BCA9-490A-8473-D43100FF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21995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34C7767-19B2-4B72-850A-FF2BE9EA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48056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E2F6A0E-A86D-46D9-ACE4-5025318D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27482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‏أطبّق خطوات اختيار الأداة الأربع قبل البدء.‏</a:t>
            </a:r>
            <a:endParaRPr sz="15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FEF0E81-35FD-4FB3-9F7B-215ECFB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1995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1ABA65-180D-419A-9CC8-2C021633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48056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AA2373A-2F56-408A-881E-8331DA27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7482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‏أميّز الحالات التي يجب فيها التوقف عن استخدام الأداة.‏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32762884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3eb8f1a7b48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53D7449-3F42-4A11-A26A-41DA77D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42‏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08518ED-A910-4651-96AD-3D697E34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D56F54B-4412-468C-88CA-C57C330C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الثاني‏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F7A4F53-5390-4031-845E-499EDE6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E73E530-A652-429E-A342-B4170A5F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50D3A99-84A0-4803-A212-0E4B5259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32B65B2-AC4F-45C6-B58B-7923B422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54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أي أداة هي الأقرب للعمل مباشرة داخل مستنداتك وبريدك في Microsoft 365؟‏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2960FB5-5AFF-4E0A-BF57-806A0DF9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45165B0-B41E-462F-9789-0D359D81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ChatGPT‏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CD4CAB5-F5C4-44C1-BB71-A07240BC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633EAD9-A160-4E47-B2AB-43EE5612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Microsoft Copilot‏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F7ED797-DD0B-4D04-A9EA-44FF0B2A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306BE49-260F-478B-A855-42F18108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أداة تفريغ صوتي‏</a:t>
            </a:r>
            <a:endParaRPr sz="14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9351C5A-E8D4-47B2-A1C4-59C6FC3D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7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815A020-A57D-4523-93BB-8B03630C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78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الخطوة الأولى في اختيار الأداة المناسبة هي:‏</a:t>
            </a:r>
            <a:endParaRPr sz="17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15D9DE9-E0AA-444B-8160-E81074F5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3A24BFB-1498-4DC7-A8C2-CE2B7918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فتح الأداة الأشهر‏</a:t>
            </a:r>
            <a:endParaRPr sz="14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2795547-E6F0-49A2-B3B2-81571095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CB9D0A7-3794-4CDC-88D5-5B3BD05D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تحديد المهمة المطلوبة بدقة‏</a:t>
            </a:r>
            <a:endParaRPr sz="14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EDA54797-E8F7-40DA-BC9C-0A84CC41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09D7CAF-331F-4E51-A2F6-A03DEA74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سؤال زميل عن تجربته‏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0A41B6D-7E48-4686-8378-0B2B4488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11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D8BD210-C32D-4B31-ADAD-1B9F37C4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02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أي الحالات التالية يجب التوقف فيها عن استخدام الذكاء الاصطناعي؟‏</a:t>
            </a:r>
            <a:endParaRPr sz="17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ACB068E7-C613-431B-98AC-40B8A04A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9F51C51-10EA-4647-A0DC-D8167B5B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تلخيص مقال عام منشور‏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504DD34-7123-41D8-8BFE-7CEDB183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328C5BA-0DD4-4506-9364-72ACA4E1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إدخال بيانات مستفيدين شخصية‏</a:t>
            </a:r>
            <a:endParaRPr sz="14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E915A8C-6DCD-41B4-AA57-F041D8A9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F1FECF0-CC7C-4B3A-8911-C33A3848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إعادة صياغة مسودة داخلية‏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428198791"/>
      </p:ext>
    </p:extLst>
  </p:cSld>
</p:sld>
</file>

<file path=ppt/slides/slide4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c80e54fc7d2448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c0f032b334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CA952F9F-647E-41D0-A4E2-2829E342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932688"/>
            <a:ext cx="1325880" cy="1325880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E425C2B-A1EC-45CB-A7D6-A6819922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1060704"/>
            <a:ext cx="1325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‏٣‏</a:t>
            </a:r>
            <a:endParaRPr sz="6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083F7C5-828B-4164-9C77-EA786304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687" y="2487168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76119AF-A58D-42B6-976F-E70EDFFB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98064"/>
            <a:ext cx="11057839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‏التطبيق العملي على المساعدات الذكية‏</a:t>
            </a:r>
            <a:endParaRPr sz="4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7A56928-8153-442E-9DDC-10823EFC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97776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‏المهارة الجوهرية: أن تصف ما تريده بدقة — فجودة المخرج تتبع جودة الأمر.‏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CDBCB78-1AB3-4393-B6E5-42FCAE66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035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57EE000-585C-4A1F-8F92-B7B71963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339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‏ما الأمر (Prompt)؟‏</a:t>
            </a:r>
            <a:endParaRPr sz="14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D6A769C-69ED-4794-9532-2C61CF1D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2CB68B1-1164-4DB8-BB27-3D18F112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‏إطار RICE‏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D87A84-C1AB-409E-8449-0F87E101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4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A99FBF4-70C8-486F-A25D-18C94FB3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‏الحوار التكراري‏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7A43631-DBA5-442E-AF19-D7A0B624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EC2C6D7-99E8-45EB-BB16-9F65CA8D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‏مكتبة أوامر جاهزة‏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184820152"/>
      </p:ext>
    </p:extLst>
  </p:cSld>
</p:sld>
</file>

<file path=ppt/slides/slide4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204a08f507545f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4afe3d7ee46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7AC7FDD-9CCD-4177-9158-F551B01B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‏الفكرة المركزية‏</a:t>
            </a:r>
            <a:endParaRPr sz="15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C60E2C9-3F72-4B3E-A9AC-3AE547E2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11057839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‏المساعد الذكي لا يقرأ أفكارك —</a:t>
            </a:r>
            <a:endParaRPr sz="3800"/>
          </a:p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يقرأ ما كتبته فقط.‏</a:t>
            </a:r>
            <a:endParaRPr sz="38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E79D89C-8B56-4672-B6C9-7E25E4E0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15968"/>
            <a:ext cx="996055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700"/>
              </a:lnSpc>
              <a:buNone/>
            </a:pPr>
            <a:r>
              <a:rPr sz="1800">
                <a:solidFill>
                  <a:srgbClr val="C2C9E6"/>
                </a:solidFill>
                <a:latin typeface="Markazi Text"/>
                <a:ea typeface="Markazi Text"/>
                <a:cs typeface="Markazi Text"/>
              </a:rPr>
              <a:t>‏أغلب الإحباط من هذه الأدوات سببه أمر غامض، لا أداة ضعيفة. الفرق بين مخرج رديء ومخرج ممتاز غالباً ثلاث جمل إضافية في الأمر.‏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6262994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33cebe88d4c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CF675E8-9726-4676-B9E9-5EDD1A9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45‏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E246169-B4C2-4C18-B087-894C6D79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80490CE-388A-4458-9897-DBA447A9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 الأمر (Prompt)؟‏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41A3B00-4F51-42C9-80E3-93EA07C8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ECC9620-C0CA-45D9-A0F0-CCB9BCD4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8FE33A0-0D00-4271-8E07-D8659A8E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60934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67B522F-7E68-4DEA-8C41-16255901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63677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9CA226E-84C0-40EC-906E-B83137A4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6362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‏الأمر هو التعليمة التي تكتبها للمساعد الذكي‏</a:t>
            </a:r>
            <a:endParaRPr sz="1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F62BF8B-AF89-422A-844F-48518129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56232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‏وهي المدخل الوحيد الذي يبني عليه إجابته.‏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1A70779-938B-484C-AF46-E7682877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3652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8E300BD-DAC6-4D94-BF40-C9455056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392680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7BD0E10-BFE5-40A5-A487-62BA883A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19528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‏ليس سؤالاً فقط‏</a:t>
            </a:r>
            <a:endParaRPr sz="18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AD98E14-B7A9-4933-A0BA-216B7BBE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2136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‏بل وصف كامل للمهمة: من أنت، وماذا تريد، وفي أي سياق، وبأي صيغة.‏</a:t>
            </a:r>
            <a:endParaRPr sz="15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A72B10C-1EFA-4607-B681-69D199F9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211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AA7419C-AF1E-455C-8F7C-ABCA7B4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48584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33D1240-94F7-43BF-B965-B824DE4D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75432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‏كلما زاد التحديد زادت الجودة‏</a:t>
            </a:r>
            <a:endParaRPr sz="18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900A695-F868-476D-BDB6-EF5338DC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68040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‏«اكتب خطاباً» أمر غامض؛ «اكتب خطاب شكر رسمي في ١٢٠ كلمة لجهة حكومية» أمر واضح.‏</a:t>
            </a:r>
            <a:endParaRPr sz="15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20399F1-A6DA-4604-9A6D-2C1AFE3F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8770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92F7BA7-4066-4004-BA14-87AFF47A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904488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3AD1C07-A4B9-4FDA-B024-AACE250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31336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‏الأمر قابل للتحسين والتكرار‏</a:t>
            </a:r>
            <a:endParaRPr sz="18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87B688E-403C-4F7D-94A7-102A746B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23944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‏لست ملزماً بالإجابة الأولى — أعد التوجيه حتى تصل للمطلوب.‏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63F2CBC-44AD-44BC-ACC4-7296AF55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6329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72338BC-69EF-4C6C-8101-D11145DD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660392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963AA3B-CC1B-4D3F-B204-3515FA2D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87240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‏الأوامر الجيدة قابلة لإعادة الاستخدام‏</a:t>
            </a:r>
            <a:endParaRPr sz="18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463F3D9-CC30-4C47-AAF9-E659AAF3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79848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‏احتفظ بها في ملف شخصي وأعد استخدامها في المهام المتكررة.‏</a:t>
            </a:r>
            <a:endParaRPr sz="15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413CC52E-015F-4061-A1EC-DFA953F1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38886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FFE247F0-AFF4-45C0-899F-BD27E2B5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1629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0AE70DC8-668B-4CB4-89F4-5EC2A14B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314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‏الأمر مسؤوليتك‏</a:t>
            </a:r>
            <a:endParaRPr sz="18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8C73721-18EA-47C0-AF3F-DF4865FD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35752"/>
            <a:ext cx="10582351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تكتبه فيه يخضع لسياسات جهتك في حماية البيانات.‏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75266400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726139f81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552978-64A9-4BD6-B477-1DEA4203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46‏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B52BE2D-F7AF-4A34-B6FA-1CA32D4F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042F08F-BE29-43B4-8D06-C79CE223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‏إطار بسيط لصياغة الأوامر‏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9693C71-576F-40ED-B595-565AE3FD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876EFEB-E286-4F57-8642-E9C70260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BEA2EC7-5CD4-4F53-A5D7-89751B52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‏أربعة عناصر عملية تكفي لمعظم مهام العمل اليومية.‏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CBFD461-F863-4936-B30B-3A281E90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035" y="2231136"/>
            <a:ext cx="2654732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AADF4C8-F1DB-41FD-BF72-5A9C27CB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37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04A2242-775D-49A2-B565-35FA446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37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9A44B78-2266-47EE-8954-E5799A2C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763" y="2615184"/>
            <a:ext cx="24352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‏١  ·  المهمة‏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ED64A35-A4F0-4D4D-80C4-D32E132F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8907" y="3017520"/>
            <a:ext cx="241698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تريد إنجازه؟ استخدم فعلاً واضحاً مثل: لخّص، صنّف، قارن، أو أعد الصياغة.‏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0097FF4-1200-4B1C-9DD7-C1E6EB7C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2231136"/>
            <a:ext cx="2654732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F820A73-8FE3-429B-AC1D-5E04A8C5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902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19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2A00350-C276-4745-B334-DA011B56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902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CF842E9-C922-4D40-9A3A-29981E63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2615184"/>
            <a:ext cx="24352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‏٢  ·  السياق‏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1774446-2493-4E7D-A2EF-C0448B8C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872" y="3017520"/>
            <a:ext cx="241698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‏لمن سيُستخدم المخرج؟ ما غرضه وقيوده ونبرته؟‏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001FCA0-FBDB-4A10-B9C2-CE679436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4" y="2231136"/>
            <a:ext cx="2654732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12C85BD-0576-4D97-8436-2A49A3CA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66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FA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846367E-F0D2-43EB-A517-72AD853C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66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66D918F-6B03-4125-9700-53E034B8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92" y="2615184"/>
            <a:ext cx="24352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‏٣  ·  المدخلات‏</a:t>
            </a:r>
            <a:endParaRPr sz="17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04BCD00-372B-4AEC-8031-5867AC26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836" y="3017520"/>
            <a:ext cx="241698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النص أو الملف الذي يجب أن يعتمد عليه؟ لا تطلب منه تخمين المصدر.‏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D693DE7-516C-477A-80C7-9D1CDFD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654732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C8956DD-0CEA-457D-BD0D-C4B0C776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830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9B24E13-38AE-4FD3-BE36-175F9CBA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830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0ACECD-2C7F-4491-904B-31D14B0C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615184"/>
            <a:ext cx="24352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‏٤  ·  شكل المخرج‏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82C6E84-3264-4A18-AA9F-E9F52A6F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241698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‏حدّد الطول والبنية واللغة، واذكر الحقول أو الأعمدة المطلوبة.‏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E2585B8-730C-43BD-822F-435C72B2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0565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78E764C-1E1B-474A-881C-F8C00F6D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2245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7E1854F-D67A-475A-B8A4-CEDADEF5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25196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51C5B50-7895-40F8-939E-77B7D9D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5137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‏اكتب طلبك المعتاد، ثم أضف العناصر الأربعة وقارن النتيجتين.‏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0673394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957753b6b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4931E0E-7C9D-44AB-BD2E-5958ED33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47‏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73DCC1D-F3CA-4119-A6B9-07EC8283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C421641-6848-4869-A7D7-3A6077FC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‏المهمة والدور المناسب‏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73A9799-6F3E-4EBA-9AF1-DA47B7DB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D3E747B-D72A-46D6-9B9E-DC7BB282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78FB29D-C494-4515-AECD-A033303D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‏تحديد الدور يضبط المفردات والنبرة ومستوى التفصيل تلقائياً.‏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B3BD65A-B258-4636-87E3-7E96C08B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24912"/>
            <a:ext cx="3576218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C572BB2-3B5C-4E85-8ED8-196B330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24912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89F7CAF-6D9E-47BD-9BEE-C796C38D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962656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1778481-C0A0-4D91-B4AC-4E67230C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779776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‏بدون دور‏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37D2295-35A1-4019-A49E-77257A66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291840"/>
            <a:ext cx="3283610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‏«اكتب لي عن التدريب» — إجابة عامة صالحة لأي جهة وأي سياق، وبالتالي غير صالحة لك.‏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9FA4062-099C-4C46-8C95-F9860915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24912"/>
            <a:ext cx="3576218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CECE2A3-852D-422B-A45D-126AB44A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24912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30C0426-FB68-4B21-B462-F1BC7DED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962656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DF2A311-A3DE-410F-A0B1-5B04155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779776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‏بدور عام‏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568EB40-0EB3-4B4A-AFB1-622AB257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291840"/>
            <a:ext cx="3283610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‏«أنت كاتب محتوى» — تحسّن ملحوظ لكنه ما زال بعيداً عن سياقك المهني.‏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B34AB4-0F65-4C62-ABEE-5452EB5B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24912"/>
            <a:ext cx="3576218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DADD1D4-DCFB-4616-BD86-2239C3BD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24912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D12206F-6DD9-4CD0-8FD3-EEE1BBF3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62656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1D3B94D-8298-410F-8D6F-8D65E1BA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79776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‏بدور دقيق‏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E1A3E81-579A-4282-9F2F-EE1B0C31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91840"/>
            <a:ext cx="3283610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‏«أنت أخصائي تطوير برامج تدريبية في جهة حكومية سعودية» — مفردات ونبرة مناسبة فوراً.‏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7BAF29E-44A3-4D0F-B395-1F617C8B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B7923D0-3415-4D34-BAAE-F30E4A4A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03834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FA74133F-4625-45FD-92AD-05D877FA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065776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23D7F7D-1D61-4F94-8F12-EF6C14BD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65192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‏أضف خبرة الدور عند الحاجة: «بخبرة عشر سنوات في تصميم البرامج التدريبية».‏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0852713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b12c0bf544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F2DA348-92B6-49D0-8863-CC8BDD10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48‏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771861D-3CB0-4021-8B2A-B432688A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‏قبل / بعد‏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C40A35A-0D0C-486A-BD94-3DE69058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‏مثال ١: صياغة بريد رسمي‏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BEA1AAA-CB40-4F8A-B548-B9A6C835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321D82A-B0FB-4E2D-9600-0BC81DA9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F786DCF-6152-4D3D-AB72-8B39DF5C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499616"/>
            <a:ext cx="5419192" cy="3364992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DF2F0"/>
          </a:solidFill>
          <a:ln xmlns:a="http://schemas.openxmlformats.org/drawingml/2006/main" w="12700">
            <a:solidFill>
              <a:srgbClr val="D65B4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ED3F8DA-B05A-4B7E-8417-23D855CB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1609344"/>
            <a:ext cx="509000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D65B4A"/>
                </a:solidFill>
                <a:latin typeface="Markazi Text"/>
                <a:ea typeface="Markazi Text"/>
                <a:cs typeface="Markazi Text"/>
              </a:rPr>
              <a:t>‏✗   أمر ضعيف‏</a:t>
            </a:r>
            <a:endParaRPr sz="17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B33A9E0-8F17-446C-AF02-D8E985BD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011680"/>
            <a:ext cx="5090008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500"/>
              </a:lnSpc>
              <a:buNone/>
            </a:pPr>
            <a:r>
              <a:rPr sz="1650">
                <a:solidFill>
                  <a:srgbClr val="7A2E22"/>
                </a:solidFill>
                <a:latin typeface="Markazi Text"/>
                <a:ea typeface="Markazi Text"/>
                <a:cs typeface="Markazi Text"/>
              </a:rPr>
              <a:t>‏اكتب إيميل عن تأجيل الاجتماع.‏</a:t>
            </a:r>
            <a:endParaRPr sz="16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2740F49-0C4A-4F9E-BDFC-9550DB2C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9616"/>
            <a:ext cx="5419192" cy="3364992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5889B0B-5CFC-4BE2-BAC8-6F462380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9344"/>
            <a:ext cx="509000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‏✓   أمر فعّال‏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2EECDE9-3C78-4641-AF09-89B05EB8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5090008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‏أنت مساعد إداري في جهة حكومية سعودية.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اكتب بريداً رسمياً بالعربية لإبلاغ أعضاء لجنة داخلية بتأجيل اجتماعهم من الثلاثاء إلى الخميس بسبب ارتباط طارئ لرئيس اللجنة.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الجمهور: ثمانية أعضاء من مستوى مدير إدارة.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النبرة: رسمية موجزة مع اعتذار مهني.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الطول: لا يتجاوز ١٢٠ كلمة.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الصيغة: موضوع + تحية + فقرتان + خاتمة.‏</a:t>
            </a:r>
            <a:endParaRPr sz="15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C48ED5D-EF45-4862-A409-4F7FDAF7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0"/>
            <a:ext cx="11057839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179A564-3418-4D6E-89A4-8C903638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38928"/>
            <a:ext cx="10618927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600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‏لماذا؟  الأمر الثاني حدّد الدور والجمهور والسبب والنبرة والطول والصيغة — فلم يعد أمام النموذج مجال للتخمين.‏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8341991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e3bccb96746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AB44888-BAF6-420F-A6CA-95EF55C2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49‏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8AA71CB-7199-4282-8C33-D097B058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3DE673A-0CB2-453F-A45A-891E6379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‏المهمة الواضحة‏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F6F2CEE-9315-4F1E-85EE-87783B41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7413F5C-78D3-4CBF-860F-96F5133C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4B36A36-A1AA-4850-A46D-51D6B473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‏فعل واحد محدد أفضل من ثلاثة أفعال غامضة.‏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52F6B2B-7A37-49B0-A834-38033D8F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5117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523BD66-6D93-4532-8DC2-7FB4935B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5117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2A5A1D5-0461-4618-BA90-E9823CC6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78892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7E12B1D-9086-420B-9B85-78849EFE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60604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‏أفعال واضحة تعطي نتائج دقيقة‏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19A350F-6BF7-4CA5-8ABE-EE23AF19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11810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‏لخّص · صنّف · قارن · أعد صياغة · استخرج · حوّل إلى جدول · رتّب حسب الأولوية · اقترح عشرة بدائل.‏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19B581-1C70-4D48-82DA-5D997591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AAAE68B-77F9-4347-BEA6-0C95894E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6DD0C41-A1F2-4302-8F7A-8C765A84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8892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E344D73-D7CE-4D43-9C34-6D8F0C34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‏أفعال غامضة تعطي نتائج عامة‏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616874E-E62F-4554-8529-504E6A60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1810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‏ساعدني · حسّن · اهتم بـ · انظر في · اعمل شيئاً عن · أعطني معلومات.‏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737C040-B5AC-43B8-9C48-842D87AB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4164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C394BFD-6CEA-4A72-9288-9846AD26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4164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CE1372D-750B-4371-A120-62DA29D7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27939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77A4241-4960-4EA3-B6E2-0D847D7F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09651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‏حدّد الكمّ‏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6AE5175-0391-42B8-964D-2B6246AA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60857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‏«اقترح خمسة عناوين» أدق من «اقترح عناوين». الرقم يحدّ من الإسهاب.‏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9AF4678-505B-4FF7-868B-EC44EC6B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663E311-BCAC-4130-8894-27FCC76C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E3D04120-0968-4860-B12F-61B32C68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C50F164-C909-4761-86AB-05D48C56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9651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ما لا تريده‏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08865DA-8943-4299-82D0-406602C1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‏«دون مقدمات إنشائية» و«دون تكرار محتوى المصدر» توجيهان فعّالان جداً.‏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93603989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dfd9be6974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51FEE3F-75CA-4D81-A33C-75F5765B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6BA2A8F-78ED-4B5A-8003-3DADFD4E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B69B870-8939-4BF1-BF0D-23B0BB44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‏السياق والمدخلات‏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EAC9DA7-280B-43C3-A621-EF662692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90FF4EB-28E8-4E35-8347-321D8FC0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9F9C063-7F4E-472C-AACE-DAFBCB6D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‏النموذج لا يعرف شيئاً عن جهتك — أخبره بما يحتاجه فقط.‏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23EDD33-F838-4504-819C-F8CF2F1D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27685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5289EFD-0C05-4958-A17B-A0E2225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27685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237EB0-2999-40E6-A4EC-EB9053CD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1460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64C1440-77D7-4294-97B7-6F8B5C9D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33172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‏الجمهور‏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1CF333C-576E-4BD2-AE51-62E4AEAD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84378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‏لمن يُوجّه المخرج؟ قيادة تنفيذية، موظفون، مستفيدون، جهة خارجية.‏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DB6699-1B5F-4A21-A00A-FCC9C548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27685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862682C-3258-443A-A4A7-D18EC7E6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27685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7FEAE0C-E86A-4C48-AFE1-06CE315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1460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ABDEA9E-93DE-4D4B-90D9-217A2375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33172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‏الغرض‏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65ADE4B-9FEC-4984-9B53-50BE6188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84378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‏لماذا تكتبه؟ للاعتماد، للإعلان، للنقاش، للأرشفة، لاتخاذ قرار.‏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0530D38-9127-428A-BBAC-BC7650D7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8D8C1F0-EA7B-4D0A-BC6F-7940E331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BB916A9-798A-46A7-84D3-17ED38B7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460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EAA83CB-4F14-458F-8F96-580C428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‏المرجع‏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0CA3872-5E6E-4EA3-94A6-66A98B88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4378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‏ألصق النص أو الوثيقة التي يجب أن يعتمد عليها بدل تركه يخمّن.‏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773723F-02D5-431D-BD67-08AD1E9F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76732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5B2CD60-1701-461A-9DD9-702B95D0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76732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9AAC3CD-CADB-4B13-98DE-77CA3847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0507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EE08DF6-EF03-4A07-8B10-21A31B6B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82219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‏القيود‏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16B166A-A348-470C-A04E-3CCD46D1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33425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يجب تجنّبه؟ مصطلحات، وعود، أرقام غير مؤكدة، أسماء.‏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DA1356B-5B71-4BE9-A555-8386EFE1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76732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9ECB6F48-C81D-4979-8642-BA2D6293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76732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A3128DDB-42FC-47BA-BB4C-D2D276DD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0507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19578EA-F944-41AE-83FD-172FD8E8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82219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‏النبرة المؤسسية‏</a:t>
            </a:r>
            <a:endParaRPr sz="16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CAA9E780-95F4-4725-84E8-E5AEF31F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33425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‏رسمية، مباشرة، تحفيزية، تعليمية — اذكرها صراحة.‏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A67D0A1C-2E12-4453-B31C-C317A26E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33C7A019-0A50-4A8D-8F5F-7C2F0062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C29A5DD1-3882-40B9-80C4-6BCC957F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6BFA17C-3EE3-4E94-B007-0F4E5D74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2219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‏ما الذي لا يُذكر‏</a:t>
            </a:r>
            <a:endParaRPr sz="16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CB74A75-718A-42B6-8423-047B54DE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3425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تُدخل بيانات شخصية أو سرية ضمن السياق مهما كان مفيداً.‏</a:t>
            </a:r>
            <a:endParaRPr sz="145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D9B415F7-5E0B-4633-AC29-296EE4BA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EAC44184-162B-4546-8F51-88B99997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4864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58336DAA-80A4-4716-A930-6AFBBDA6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5138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D475C34-D0A8-4557-BC91-611B148C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132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‏قاعدة ذهبية: ألصق المصدر بدل أن تطلب من النموذج أن يتذكّره — هكذا تتجنّب الهلوسة.‏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0510327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4ff9d0285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16CA205-AD97-41AB-9305-A90E5F55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51‏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78FACA3-9BB3-4FEF-B0B2-CEA651D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‏قبل / بعد‏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2783F60-404E-45D9-AB41-235FBAE6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‏مثال ٢: تلخيص وثيقة‏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1904B1F-F72A-4AFA-BC1B-5874B0D0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08C9AEC-D1C1-4875-B2D1-44BDF884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51F3DC8-B372-449A-9D84-D9E9EDB8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499616"/>
            <a:ext cx="5419192" cy="3364992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DF2F0"/>
          </a:solidFill>
          <a:ln xmlns:a="http://schemas.openxmlformats.org/drawingml/2006/main" w="12700">
            <a:solidFill>
              <a:srgbClr val="D65B4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AADDF67-8496-4E19-B23D-FDA14831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1609344"/>
            <a:ext cx="509000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D65B4A"/>
                </a:solidFill>
                <a:latin typeface="Markazi Text"/>
                <a:ea typeface="Markazi Text"/>
                <a:cs typeface="Markazi Text"/>
              </a:rPr>
              <a:t>‏✗   أمر ضعيف‏</a:t>
            </a:r>
            <a:endParaRPr sz="17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56D9210-6957-4BD0-AB0F-350689D4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011680"/>
            <a:ext cx="5090008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500"/>
              </a:lnSpc>
              <a:buNone/>
            </a:pPr>
            <a:r>
              <a:rPr sz="1650">
                <a:solidFill>
                  <a:srgbClr val="7A2E22"/>
                </a:solidFill>
                <a:latin typeface="Markazi Text"/>
                <a:ea typeface="Markazi Text"/>
                <a:cs typeface="Markazi Text"/>
              </a:rPr>
              <a:t>‏لخص لي هذا التقرير.‏</a:t>
            </a:r>
            <a:endParaRPr sz="16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515B2B0-CC84-4C48-B569-80133626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9616"/>
            <a:ext cx="5419192" cy="3364992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15FCD24-2552-4D2D-B480-B1DD9C48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9344"/>
            <a:ext cx="509000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‏✓   أمر فعّال‏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6CD44B3-477F-40AB-A6DF-3124FF65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5090008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‏لخّص التقرير المُرفق لعرضه على لجنة تنفيذية لديها خمس دقائق فقط.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المطلوب: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· خمس نقاط رئيسية كحد أقصى.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· كل نقطة في سطر واحد لا يتجاوز ٢٠ كلمة.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· أضف في النهاية «القرار المطلوب» في جملة واحدة.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· اعتمد على النص المرفق حصراً، ولا تضف أي معلومة من خارجه.</a:t>
            </a:r>
            <a:endParaRPr sz="1550"/>
          </a:p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· إن ورد رقم غير واضح في النص، أشر إليه بدل تقديره.‏</a:t>
            </a:r>
            <a:endParaRPr sz="15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293FE82-A0FE-4915-813C-C7D2E2C6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0"/>
            <a:ext cx="11057839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26E9D4F-FCBF-4B29-98D3-40AFA5A5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38928"/>
            <a:ext cx="10618927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300"/>
              </a:lnSpc>
              <a:buNone/>
            </a:pPr>
            <a:r>
              <a:rPr sz="1600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‏لماذا؟  حدّدنا الجمهور والزمن المتاح وعدد النقاط وطولها والمخرج الإضافي — وقيّدنا المصدر لمنع الإضافات المخترَعة.‏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4223402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475fba08541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85CF9BB-5A9D-4A4F-B501-C965D59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EEEA78E-3D8B-4BA0-94FD-A4B238B9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13F3577-EF2F-4638-A7B7-D20822BF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‏شكل المخرج‏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28F08F8-9167-468C-81BD-7853CC9A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0CDE8DC-7C52-4453-887F-221B16CA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F34099-585F-4E80-93F6-617657CD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‏إن لم تحدّد الشكل، سيختار النموذج شكلاً قد لا يناسبك.‏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1B3FAAF-40E5-41C4-AB19-7E7E1DE4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DF36E18-D5A2-4D9B-841F-BB9FBA49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759B5E5-C179-49D5-8FCB-BA5B8704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0555B13-616F-4414-BE0D-4B7DE722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‏الطول‏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2C80C04-BA1C-4D4A-BA99-A146AE71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‏عدد الكلمات أو الأسطر أو الفقرات — «في حدود ١٥٠ كلمة».‏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6AF929F-BE60-43F4-9DB4-63134EA9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C93E790-0618-4BA9-9DB1-CA386B7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7DBF52F-6E8D-4C56-A352-852873DA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8E27D84-5267-4E6C-A205-6DD978CE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‏الهيكل‏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9E0A194-39C8-4A47-A367-B76FBEC6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‏نقاط، جدول، فقرات، خطاب رسمي، عرض شرائح، سؤال وجواب.‏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60B7903-39A7-4FEC-920B-9C330AB2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7DADCC8-823C-4AE6-8FF7-F11B76DD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0B8DEF9-0E9E-429C-86F4-AF6F3D37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B765B73-E441-465F-B116-88A6B35D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‏اللغة‏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5DA12D0-D808-4BDC-A10F-5B66F22F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‏العربية الفصحى، أو ثنائي اللغة، أو مع إبقاء المصطلحات التقنية بالإنجليزية.‏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9DDAA7C-FA2C-43F4-B76E-9973AEB3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3EA13E4-3631-424A-B706-62FE2B41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521A3E8-7F7C-4E88-97E0-75B200E3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4B36C3D-674C-443D-B96D-AA741B7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‏النبرة‏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813C9A9-1C18-49EC-93F6-B96927D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‏رسمية، ودّية، تحفيزية، محايدة، مباشرة دون إنشاء.‏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B5C45745-4B5F-4E20-9239-378B08E8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872A863E-52B9-45CA-A63D-E39C06E1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D1FEA750-E5A5-4EB4-BFA4-9DA00199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E3592DA-79EF-464A-A325-2DAB3890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‏الجدول‏</a:t>
            </a:r>
            <a:endParaRPr sz="16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252DB6C4-F683-451D-9937-95EF7F4B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‏حدّد الأعمدة بالاسم: «جدول بأعمدة: البند، المسؤول، الموعد».‏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E7E8DE12-4B6C-43BA-817F-07238F0C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3034437-F2EC-4F5D-BAEE-03AED778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D0997B22-A41E-421C-9076-C5E93AA4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E8A018CB-833E-4121-884E-72715DB7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‏البدائل‏</a:t>
            </a:r>
            <a:endParaRPr sz="16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058806C-097B-407C-A05D-91733F2C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‏اطلب أكثر من خيار: «أعطني ثلاث صياغات مختلفة النبرة».‏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73514228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b4814ef8f4e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94ED765-D195-4187-BC10-958F635C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53‏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8F89079-DB04-4656-B180-BA82151A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276721A-5E4F-4169-82E0-75124909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‏الحوار التكراري: لا تقبل الإجابة الأولى‏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740655E-3BD5-476A-8865-97B8D629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B93E80E-F03E-44D0-A91E-21E5EAC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66E2535-2199-4EBD-BB21-F522CA8E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‏أقوى ما في هذه الأدوات ليس الإجابة الأولى، بل قدرتك على تحسينها.‏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67E5681-5ABE-4A55-9835-FE7FCFD2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243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A334763-A1CE-42C4-9550-20552167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8D73526-A370-43BB-8236-BB40C6B5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A252A1D-3FBB-4119-80E2-B921C88B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971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‏اطلب‏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62BA4F2-5060-433B-8695-26C8436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115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‏أرسل أمرك الأول بأفضل صياغة تستطيعها.‏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689FB34-0376-454E-9477-F123F2D4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414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B02ED8B-6C39-4CF0-A030-567F21C5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19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57E5CAB-2D4D-4BFB-A0D0-B2C928E3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07543C9-4698-4CB0-8A10-00993DF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142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‏قيّم‏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4C5C6EE-2F22-4D44-96BD-71846A43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286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الجيد فيه؟ وما الناقص أو الزائد أو الخاطئ؟‏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AE4C58C-6F14-4239-A9B3-BA34B9E4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585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BB3906E-C528-412E-A01D-8BA20966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FA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67CACF3-70A6-4C34-87A3-C356A743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FAA3B9A-6223-4E69-B4FA-86D01083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313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‏وجّه‏</a:t>
            </a:r>
            <a:endParaRPr sz="17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F90BDC7-ED2B-4A97-AD72-F111CFF8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457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‏«اجعل الفقرة الثانية أقصر» · «احذف المقدمة» · «أضف رقم المرجع».‏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E65CC333-1E62-4585-AD65-57F9108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757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A4FB60A-435B-476B-8262-5326A184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0735309-6101-4FCB-B1F3-60506C4B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50031D1-8AD3-4699-A52C-6DB78D7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5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‏كرّر‏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41E9318-92FB-4649-9DA3-7E997F97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629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‏ثلاث جولات عادةً كافية للوصول إلى مخرج قابل للاعتماد.‏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BC42E145-09F1-4592-8F43-BC1E1ECD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AFB34525-70E7-4961-85B9-93D74B59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B0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09C7208A-B71C-4534-9B16-6AE86664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4F29E99B-9F2D-41A5-9C48-55EAE94D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‏احفظ‏</a:t>
            </a:r>
            <a:endParaRPr sz="17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E38768EC-762D-4B0E-B016-25025397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‏احتفظ بالأمر النهائي في مكتبتك الشخصية لإعادة استخدامه.‏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3ED3C7EB-9DB5-4D79-A7AA-6E27D389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8853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30743E1-A3D0-4D6E-BCCF-7708AE8B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40740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1FFA4560-96A1-47E2-880C-F4EBBE62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43484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6118C76B-4DE0-4FAE-8958-2B21DC46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3425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‏التحسين بالحوار أسرع من إعادة كتابة الأمر من الصفر.‏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9574631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7c690f6464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8F7652B-40A2-46D1-8C6E-05575DDE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54‏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16C5BDD-31A0-4D1F-9138-3084CE90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9C73173-0BF9-4A82-945E-6BA7BB9C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‏أخطاء شائعة في صياغة الأوامر‏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C6714EF-E316-416E-B588-832E0F5C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23FA4DB-782C-4953-816A-6A87D707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EAFDB4C-93E3-4622-956B-446B85AE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F2B90F0-AC87-4D90-A3FD-8B23680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306C042-909E-42F3-B15B-EF538A79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DB9261B-2374-4706-A923-1FFD6271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‏أمر مختصر جداً‏</a:t>
            </a:r>
            <a:endParaRPr sz="16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36E9C3D-C1B5-4159-A6C7-3AEB6708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‏«اكتب تقريراً» — النموذج سيخمّن كل شيء، والنتيجة عامة بلا قيمة.‏</a:t>
            </a:r>
            <a:endParaRPr sz="1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642F57C-8EE5-42AC-A6E3-C8CBC415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B4BFB5D-0492-4967-A3AA-02D0EE6D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32EEB0D-61B7-4CA9-8A7C-A5F8CF71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5FE367C-94F4-418E-B421-76F1A7A2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‏خلط عدة مهام‏</a:t>
            </a:r>
            <a:endParaRPr sz="1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35EC7B4-58C3-47AF-9868-2BAE26C4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‏طلب التلخيص والترجمة والتحليل في أمر واحد يضعف كل واحدة منها.‏</a:t>
            </a:r>
            <a:endParaRPr sz="14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9A0404C-C65C-47D5-A15D-B16A91B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D75FCAA-B35F-4DCC-BD11-FE7E392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8432083-6753-4B47-8660-757672B2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0604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C8BBA4D-A0AE-427E-84A7-4DB355A6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2316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‏عدم تحديد الجمهور‏</a:t>
            </a:r>
            <a:endParaRPr sz="1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7FCF470-1768-42BE-B1C0-6CC0506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3522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‏المخرج نفسه لا يصلح للقيادة والموظفين والمستفيدين في آن واحد.‏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0DBAB61-B961-46FE-9621-3F87BFE1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E8E307E-AAC1-45C1-8A3B-0F7CBBD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60AA535B-1A37-4AA8-9CB8-8EF1E578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969FD9D-3613-4DFC-9E8E-98B70A4F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‏الاعتماد على معرفة النموذج‏</a:t>
            </a:r>
            <a:endParaRPr sz="16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74746E3-2A10-487C-BA6A-A193EFE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‏طلب أرقام أو أنظمة أو مراجع دون إلصاقها = مخاطرة عالية بالهلوسة.‏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52CF68-5240-4867-B57D-387BC99B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62D7B2FF-1EE2-4534-B3E5-18E2E106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DA0B999-2F5E-4CDE-A143-5065F0C6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180BD36-F2B5-4A9D-B1E6-1ADAC206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‏قبول الإجابة الأولى‏</a:t>
            </a:r>
            <a:endParaRPr sz="16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80F689B-DE43-4786-91D5-61EF6135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‏أغلب المخرجات تتحسّن جوهرياً بعد جولة أو جولتين من التوجيه.‏</a:t>
            </a:r>
            <a:endParaRPr sz="14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AFC8AE82-1B19-4D41-9C00-7AF79B35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12E14475-0796-4FAD-A8CA-354486AC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DC01B1E0-C30B-4401-A197-DFE3216F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9651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ADC311C8-A2AF-4FEB-B479-3AA96E95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1363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‏إدخال بيانات حساسة‏</a:t>
            </a:r>
            <a:endParaRPr sz="16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4930262-071F-43E9-8A2F-DD34D583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2569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‏أخطر الأخطاء على الإطلاق — وأكثرها شيوعاً تحت ضغط الوقت.‏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10617573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7338db8034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2A668FC-BD30-499D-9606-C2E7E5CB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55‏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B75B726-4098-4C43-8251-F776E1A3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556115A-5210-4D09-85E5-DCEAFDAA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‏مكتبة أوامر جاهزة للموظف‏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EFCE39E-F5FF-44EE-B400-BC296ED0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09A56DF-3B36-489B-9452-27C6A905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2C534CC-A1DD-4A84-BD44-5AF17660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‏انسخها، وعدّل ما بين القوسين، واستخدمها فوراً.‏</a:t>
            </a:r>
            <a:endParaRPr sz="1600"/>
          </a:p>
        </p:txBody>
      </p:sp>
      <p:graphicFrame>
        <p:nvGraphicFramePr>
          <p:cNvPr id="18" name="Table 0"/>
          <p:cNvGraphicFramePr/>
          <p:nvPr/>
        </p:nvGraphicFramePr>
        <p:xfrm>
          <a:off xmlns:a="http://schemas.openxmlformats.org/drawingml/2006/main" x="566928" y="1883664"/>
          <a:ext xmlns:a="http://schemas.openxmlformats.org/drawingml/2006/main" cx="11064240" cy="340156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‏المهمة‏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‏الأمر الجاهز‏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‏تلخيص وثيقة‏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‏لخّص النص المرفق في (٥) نقاط لا تتجاوز كل منها (٢٠) كلمة، لجمهور (قيادي)، دون إضافة أي معلومة من خارج النص.‏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‏صياغة بريد‏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‏أنت مساعد إداري في جهة حكومية. اكتب بريداً رسمياً بالعربية إلى (الجهة) بشأن (الموضوع)، بنبرة (رسمية موجزة)، في حدود (١٢٠) كلمة.‏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‏محضر اجتماع‏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‏حوّل الملاحظات المرفقة إلى محضر اجتماع بجدول أعمدته: البند، النقاش، القرار، المسؤول، الموعد. لا تضف قرارات غير مذكورة.‏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‏إعادة صياغة‏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‏أعد صياغة النص التالي بنبرة (رسمية) وبطول (نصف الطول الحالي)، مع الحفاظ على جميع المعلومات الرقمية كما هي.‏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‏توليد بدائل‏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‏اقترح (٧) عناوين مختلفة لـ (المبادرة)، متنوعة بين المباشر والتحفيزي، كل عنوان لا يتجاوز (٨) كلمات.‏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9380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35ce45108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C622867-8769-460A-9A21-68704652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84DCEE4-A6B8-42C2-B781-597E9119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٣ · المحور الثالث‏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4D5C16-E4D3-4003-828E-E66846B6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93204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‏صياغة بريد رسمي بإطار العناصر الأربعة‏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CE597E7-A519-47BC-A019-E11B7EF0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572768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BD4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C9003C9-D9BD-4BFE-AD6C-3D93CB0A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5727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15 دقيقة‏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872CACF-E977-43ED-A5F2-A2872530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16D67AC-2371-49EE-94DA-677BBED2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72768"/>
            <a:ext cx="10655503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‏ستكتب طلباً من المهمة والسياق والمدخلات وشكل المخرج، ثم تقارنه بطلب مختصر.‏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CA1816B-65C5-4FCB-A293-CD7C62B4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140DDD5-0D03-4AD8-970C-FC4C9C14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4436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AB54BB7-69E5-4410-9337-91567D2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8094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3F10448-6C77-494D-BC79-81E09B5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44368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‏اختر موقفاً حقيقياً من عملك يحتاج بريداً رسمياً (دون بيانات حقيقية سرية).‏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A8BC6E1-0522-473E-947F-FBA875A2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38144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949B7EA-059B-4A92-9288-A79BA74F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74720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729223A-FFF9-4E4E-9827-B39708AB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‏اكتب أمراً مختصراً من سطر واحد، واحفظ المخرج.‏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C5D98B7-0564-4AEB-BBCD-6F689CAE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31920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E66EBFA-1E95-419F-A39F-77B4FD62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68496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7F751FD-B72B-48AA-9116-57CB97BC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‏أعد كتابة الطلب مستخدماً العناصر الأربعة: المهمة، السياق، المدخلات، وشكل المخرج.‏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AE72BDE-B9E3-4C6E-9EFD-81EFF01A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25696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E78A439-2C6A-40ED-BAAA-7883ED86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62272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2BDAB75-5FA6-4993-BDC7-07020696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‏قارن المخرجين: أيهما أقرب للاعتماد؟ وكم دقيقة وفّر عليك؟‏</a:t>
            </a:r>
            <a:endParaRPr sz="1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923E8EF-EB3F-4B42-A8B5-55880A47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19472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2B98E87-0361-4443-B7BB-FABF049C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56048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DEBA82C-6720-4553-A1D3-500FA5F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‏حسّن المخرج الثاني بجولتي توجيه، ثم احفظ الأمر النهائي.‏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DEAE8B2-C494-41CD-9BAF-49825610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11057839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C91D7BD-063C-4A34-BF02-CFA74650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59552"/>
            <a:ext cx="10655503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أمر جاهز محفوظ في مكتبتك الشخصية، ومخرج بريد قابل للاعتماد بعد مراجعتك.‏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38450422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85f154b6f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A2978A9-038A-48D3-B4DE-8FCF3230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57‏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FFD628D-B162-4D8D-9878-70395F24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٤ · المحور الثالث‏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6CFB8A2-B8BA-4BA0-BBD6-9E082F7A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93204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‏تلخيص وثيقة لعرضها على قيادي‏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2BD5B34-8C40-4398-8A0C-D941F3CF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572768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BD4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D2E704C-EDE8-46E2-AE6F-03947D81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5727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15 دقيقة‏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655BCFE-C120-4EFD-B764-B6C2E302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F01946A-AD42-4D86-B97A-9E99246C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72768"/>
            <a:ext cx="10655503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‏ستحوّل وثيقة طويلة إلى ملخص تنفيذي من خمس نقاط وقرار مطلوب واحد.‏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5A09D7D-ACF1-4241-A71E-DC5CDB8E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5D2381A-8220-464A-9992-2372724E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4436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76C455B-F9D6-401D-98EB-0D4C364D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8094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8402970-4AB6-4D4C-A34E-E9104AB5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44368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‏استخدم الوثيقة النموذجية الموزّعة (لا تستخدم وثيقة سرية من عملك).‏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13CA2BD-21CB-4E3F-B0B6-0536A387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38144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2FFCBE8-9D27-4D18-A2F8-8DC63C37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74720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846BD93-C49A-4088-A7BE-8B52A750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‏اكتب أمر التلخيص مع تقييد المصدر: «اعتمد على النص المرفق حصراً».‏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6695715-97D9-41E2-8CB0-A0472791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31920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B867C39-0561-43D1-90F2-2060D13C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68496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69B3F22-B3B8-412D-9050-ECED51ED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 الملخص وقارنه بالوثيقة: هل كل رقم صحيح؟ هل أُضيفت معلومة غير موجودة؟‏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14E85E2-B7A3-4224-BBBF-DE9DEFA2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25696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0B0AAEF-8E88-4566-9EFE-AECC293D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62272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8E6D495-C4FE-4793-9629-B37212CB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‏صحّح ما وجدته عبر توجيه إضافي للنموذج.‏</a:t>
            </a:r>
            <a:endParaRPr sz="1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2EEDC0D-A516-440F-B792-225F53A2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19472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DDDD297-7B61-46C2-B8E1-51DA762F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56048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234BD00-84DF-4330-9317-4AFDEFE0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‏أضف سطر «القرار المطلوب» واعرضه على مجموعتك.‏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ACED91F7-DEF0-44C3-8159-CB69A242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11057839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0329773-E1FE-4BBC-B6BB-D26B2C1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59552"/>
            <a:ext cx="10655503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ملخص تنفيذي من صفحة واحدة، مع قائمة بما تطلّب تصحيحاً — وهو مدخل المحور الرابع.‏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711721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e903eac874a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1B7FE43-C294-4BB2-A872-AA88ECE1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58‏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51E5CD4-4AF6-48EC-9625-25B9A3CF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٥ · المحور الثالث‏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06C8091-0CE3-4F7A-AC76-755F6D2A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93204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‏إعداد محضر اجتماع‏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BCD4EE9-1207-41EB-9842-BE393695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572768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BD4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20AE6AB-0715-4A22-B2B5-18A9A140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5727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15 دقيقة‏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E604545-C821-4071-B4E6-B4F908B0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BA5E34-7857-4BED-B873-6831C29E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72768"/>
            <a:ext cx="10655503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‏من ملاحظات متناثرة إلى محضر منظّم بجدول قرارات ومهام — أحد أكثر الاستخدامات توفيراً للوقت.‏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22835B4-2B7D-4128-B47A-211E5DDD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7BCF337-B662-4D76-9C6E-5D3CDA8B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4436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5B820AB-7DAF-421B-977D-3952D598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8094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E06DAAA-80F4-424D-AD8B-1690DE26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44368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‏استخدم ملاحظات الاجتماع النموذجية الموزّعة عليك.‏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CA76440-F4A3-4B91-9E72-DCDE75D4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38144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EF972C1-4D7E-489D-89F2-4861076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74720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E0A32DF-8443-4B48-8407-3D2011DC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‏اطلب تحويلها إلى جدول بأعمدة: البند، النقاش، القرار، المسؤول، الموعد.‏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C783014-A103-4D10-AC2D-A47FEE34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31920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BF23809-D406-4E96-9510-668143AB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68496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1FB156C-039F-4EBD-A173-62AA88AA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‏أضف قيداً صريحاً: «لا تستنتج قرارات غير مذكورة في الملاحظات».‏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ACF2F05-3702-4B33-A52B-9385383C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25696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17E981D-751F-445F-AF9E-E4D71B5F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62272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8756334-68D1-4106-AADB-6728015C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 الجدول: هل نُسب قرار لشخص لم يُذكر؟ هل اختُرع موعد؟‏</a:t>
            </a:r>
            <a:endParaRPr sz="1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141B25A-71B7-474F-98A5-C72C3491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19472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AE77F1D-2CBC-44AD-982C-EB869515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56048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A5C9D4C-0DA3-4A33-AE02-7D18219F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‏اطلب صياغة رسالة متابعة قصيرة للمشاركين بناءً على الجدول.‏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DB41B54-8056-4D8B-9B0F-6DE491E1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11057839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6CFC5ED-1259-4FA0-80ED-6A3D25E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59552"/>
            <a:ext cx="10655503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محضر منظّم + رسالة متابعة، مع وعي مباشر بخطر «استنتاج» ما لم يُقل.‏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26520850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118ac4a8d48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04FBD75-D42A-4D32-B827-EDC82B22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59‏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5E1177A-CAF4-46D7-95FD-90C0BF3E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‏ورقة عمل · احتفظ بها‏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85A130E-F743-4C31-A46D-215C3A23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‏بطاقة الأمر الجيد‏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B0965DA-0A38-47EE-9D43-53367A18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3648F20-AD51-4744-9A49-736373CA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EB916D2-CAA2-4C39-9459-0A459556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‏راجع هذه البطاقة قبل إرسال أي أمر مهم.‏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459EA3C-2A03-4A4A-81A4-BDD186ED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872B6AE-E3E7-47F1-8409-774B3D5A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2CFFE85-AD23-4A2B-9016-ADD30264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حدّدت الدور الذي يجب أن يتقمّصه المساعد؟‏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2EF61CC-EFAD-4C48-900F-FB5C2DC8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5BA067A-F5F6-4A59-9829-2E231647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60BD2FD-AF17-48DC-BC46-82A0D39E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التعليمة فعل واحد واضح لا عدة أفعال مختلطة؟‏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FD86CE5-32B0-48A0-B09C-BDD00704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8F9EE75-92DE-4582-8CB6-7FBE3E32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7FAFCE0-E10E-46A7-9462-2E98D18E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ذكرت الجمهور المستهدف والغرض من المخرج؟‏</a:t>
            </a:r>
            <a:endParaRPr sz="15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B22983A-0894-4677-BAF6-D3E87A15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BFC2D7-F9EB-491A-9618-40EF49CF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BF766DF-0AD0-4EF3-BE23-8EDF253B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ألصقت المصدر بدل الاعتماد على معرفة النموذج؟‏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DABCDF8-625F-400C-8E02-FB5D599B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1D72A01-A5AF-4DE0-9583-E2B09C7C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EF8A8ED-0E4C-497C-8BC5-0055DBA0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حدّدت الطول والصيغة والنبرة واللغة؟‏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4AE069E-850E-42A1-83EC-79A86758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18CA319B-DBBD-445B-8D16-7233FDE0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CD2C7B-28EE-4004-9898-2FABD81D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ذكرت ما يجب تجنّبه صراحةً؟‏</a:t>
            </a:r>
            <a:endParaRPr sz="15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4ACFA237-16C0-4545-86C4-355F901F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65C2EDA5-ED6E-4404-BD6A-470C57ED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223A35B-63A5-46EC-9D74-6F472DB2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تأكّدت أن الأمر خالٍ من أي بيانات سرية أو شخصية؟‏</a:t>
            </a:r>
            <a:endParaRPr sz="15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6203187-8F6C-4CB1-A1F2-FCEBA4D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936381D5-4490-4DB2-B767-C8783B06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92E8E2A-1123-4A0A-AED2-CCC0E205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أنت مستعد لجولتي تحسين بدل قبول الإجابة الأولى؟‏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9651679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ba6d316a844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3CC17F6-D771-4E9D-8D18-02D9FE70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60‏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943227D-F3B3-4C42-8E3F-E25170A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716A171-59FC-4202-81DF-9C3D4806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الثالث‏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E8A110E-8417-4B23-A83D-C4E75E50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1236A19-DB33-479F-932E-9DB03357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C6BF046-F2D2-4C2D-99CB-472D9F83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E9A6381-CB7D-4D3A-9DB9-58523257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54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ماذا يمثّل الحرف C في إطار RICE؟‏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5E2E349-296D-47DE-8F7A-29F77BB9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6BC670E-220A-45F1-803F-24C0A674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الوضوح (Clarity)‏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3087310-AEBB-49CD-88F5-286E68DA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7A87710-5E82-476A-B7E9-41C67BA1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السياق (Context)‏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1F1AA9E-7544-449B-BCD9-C3A031C7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370BEE4-D853-4FE8-B57A-B1FF9419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الإبداع (Creativity)‏</a:t>
            </a:r>
            <a:endParaRPr sz="14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028AE20-BF6E-4371-8A0B-6321D12C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7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C7C40E9-080E-43B0-AFFB-36EEC7BF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78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أفضل طريقة لتجنّب المعلومات المخترَعة في التلخيص هي:‏</a:t>
            </a:r>
            <a:endParaRPr sz="17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E5CB0D6-C295-4C22-89D3-41BB1BB4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8F2226C-B1E7-4855-A0FC-E93FFE6C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طلب التلخيص مرتين‏</a:t>
            </a:r>
            <a:endParaRPr sz="14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46A6037-1B46-47CA-B4C5-CCA48437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CF1BA3-4225-4A0D-8BC2-3A1225F1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إلصاق النص المصدر وتقييد النموذج به‏</a:t>
            </a:r>
            <a:endParaRPr sz="14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5E6D27C-DFF1-4BAC-8B10-8D0D27EC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F19439D-B4E2-40DD-A8DB-E4D140E6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استخدام أداة أخرى‏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FBED60E-3763-4DE0-89C4-359CF80F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11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B6C4BDF-F0CE-439F-9C2C-D4073379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02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أي مما يلي أمر فعّال؟‏</a:t>
            </a:r>
            <a:endParaRPr sz="17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93D7861-7F2C-4C6C-BE8F-82EAEEB6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2384289-6CB6-452D-A502-9EF21FF4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«ساعدني في التقرير»‏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9DEDB76-143A-4D1E-AE23-6B5C5E3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B883015-A1F7-4CAC-B6B9-62B51F66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«لخّص النص المرفق في ٥ نقاط لجمهور قيادي»‏</a:t>
            </a:r>
            <a:endParaRPr sz="14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187F492E-58A1-449E-87CD-DB5AFDC8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05BA32DC-C4D2-4FED-B5AA-75413CA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«اكتب شيئاً جيداً»‏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499990790"/>
      </p:ext>
    </p:extLst>
  </p:cSld>
</p:sld>
</file>

<file path=ppt/slides/slide6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53e50b2042548e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a0cdb06a849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86335D8-2FAF-47DF-9445-5AC734D0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932688"/>
            <a:ext cx="1325880" cy="1325880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B399DA7-34E0-4941-9298-DFC81AA0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1060704"/>
            <a:ext cx="1325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‏٤‏</a:t>
            </a:r>
            <a:endParaRPr sz="6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2B84275-E8A9-491D-86DE-F996F195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687" y="2487168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94C759B-128A-4EE0-B933-FA55F6A7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98064"/>
            <a:ext cx="11057839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‏حدود الذكاء الاصطناعي والتحقق من المخرجات‏</a:t>
            </a:r>
            <a:endParaRPr sz="4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0B858D8-49EB-4A57-A713-B03ECA45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97776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‏الأداة التي لا تعرف حدودها تصبح خطراً — والتحقق ليس خطوة إضافية بل جزء من العمل.‏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F5A2EBD-DC7C-478D-B7D9-1FB3FA9F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035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223DE85-2F1C-4616-9D19-B919FE6C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339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‏لماذا يخطئ؟‏</a:t>
            </a:r>
            <a:endParaRPr sz="14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D78E9A8-9D75-4E59-B448-299F72FA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5EB30E6-3EAF-4D27-BF61-DFD439E6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‏الهلوسة والتحيّز‏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0949A11-3292-4A4C-B758-281DBD82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4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74716F1-63B3-4904-AEC7-6C6716C7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‏منهجية التحقق الخماسية‏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58CAD2D-384F-46A3-8A85-5A16CAED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AEB8E93-B432-4A12-89B7-61CA915F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‏مستويات المخاطر‏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571347157"/>
      </p:ext>
    </p:extLst>
  </p:cSld>
</p:sld>
</file>

<file path=ppt/slides/slide6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c15227487b747a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81a42793f4b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09629ED-4A91-4940-8FB8-75062692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‏الفكرة المركزية‏</a:t>
            </a:r>
            <a:endParaRPr sz="15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F29AAF6-D37C-4AF1-94E0-C6DB98D7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11057839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 يخطئ بثقة تامة —</a:t>
            </a:r>
            <a:endParaRPr sz="3800"/>
          </a:p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ولا يخبرك متى يخطئ.‏</a:t>
            </a:r>
            <a:endParaRPr sz="38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8E8596E-2AE6-4370-934C-55D2F44D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15968"/>
            <a:ext cx="996055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700"/>
              </a:lnSpc>
              <a:buNone/>
            </a:pPr>
            <a:r>
              <a:rPr sz="1800">
                <a:solidFill>
                  <a:srgbClr val="C2C9E6"/>
                </a:solidFill>
                <a:latin typeface="Markazi Text"/>
                <a:ea typeface="Markazi Text"/>
                <a:cs typeface="Markazi Text"/>
              </a:rPr>
              <a:t>‏لا توجد إشارة تحذير في المخرج. النص الخاطئ يبدو بالثقة نفسها التي يبدو بها النص الصحيح. لهذا التحقق مسؤوليتك وحدك، ولا يمكن تفويضه للأداة.‏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44842223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fe9fa4c344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2A6323F-3816-4F5B-A219-5D5009DE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63‏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07C9BF9-153D-42C3-832D-0AB5F123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41D6676-8C18-4BD0-B38C-92911847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‏لماذا يخطئ الذكاء الاصطناعي؟‏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16FA8CE-5EB6-4B63-AFD0-411FB1BD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6E0A3A2-A67D-4A8F-87E2-6947770C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B5329AE-2135-41F1-B6B8-70F76F9E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‏ستة أسباب جذرية — فهمها يجعل التحقق موجّهاً لا عشوائياً.‏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FE61D90-505D-4690-9B00-2A5D8198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8A4FF30-67B1-4287-BBEA-0154B40C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FDBD144-8476-4CBE-9042-4F8F699E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2A5D1C6-670D-4B87-961B-26608966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‏طبيعته الاحتمالية‏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601AAD1-D5F6-4879-8AC0-D77640C5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‏يختار أرجح كلمة تالية لا أصحّها. «الأرجح لغوياً» ليس دائماً «الصحيح واقعياً».‏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FB5F3FF-7C3D-4F1D-9B52-B93800E8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EE44DC0-00D7-4424-80E4-6102EF99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1AF7C72-852B-4FA0-8E03-6D063F8C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24F0B6F-23B9-473D-A601-0C29197A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‏لا يملك مصدراً يرجع إليه‏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96CCA5B-D000-4853-B6D4-F73FBE39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‏المعرفة مضغوطة في معاملاته الرقمية، لا في قاعدة بيانات قابلة للتدقيق.‏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97F4712-FC58-438E-9F6B-D924EE42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1014E33-67E7-4042-B9EF-16B10C8B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597705F-4AB4-4A3F-8FA8-8D1259EC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4CF31BB-275A-4E3E-80B6-4833CACE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‏حدود المعرفة الزمنية‏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AE18D55-DFC8-42B0-B949-D2337AFE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‏تدرّب حتى تاريخ معيّن، وما بعده لا يعرفه إلا إذا بحث في الوقت الحالي.‏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EF7F382-8199-4954-A022-D1589061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84E44037-A753-404C-800C-E43444CA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ACE2CC16-EED6-4529-885C-0A64787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FA5B89C-CF64-41C5-A297-257E1D0C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‏تحيّز البيانات‏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6D818E8-FC3A-45E2-AD4B-985FE279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‏يعكس أنماط البيانات التي تدرّب عليها، بما فيها من اختلالات تمثيل.‏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10BBB28-7417-461D-8E0B-112CA103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920519A-B466-4613-A422-AD5D966D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EF809CF-0350-4041-A4F1-D2EAA95E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C283F99-B8A9-4B07-B3A0-F09F510B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‏ضعف الحساب الدقيق‏</a:t>
            </a:r>
            <a:endParaRPr sz="16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7B7061AF-51AA-4796-8EF8-DF1B5B79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‏ليس آلة حاسبة؛ قد يخطئ في العمليات والنسب والجمع عبر جدول طويل.‏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D5AB63C-729E-46CE-A980-3EEDBF51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81EC440-FDDC-4005-A56C-87117F9B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9ED897F3-0E04-4A2C-A794-C272FA30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E9F8456-79FF-48E8-8C0A-AD6D15F6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‏جهله بسياقك التنظيمي‏</a:t>
            </a:r>
            <a:endParaRPr sz="16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3FBDD073-8DA2-481D-8182-43BAF2AF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يعرف أنظمة جهتك ولا صلاحياتها ولا قراراتها الداخلية.‏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201202253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53acf6e474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3158226-3E1A-41C1-8087-ADB6553B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64‏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52DFD50-04A9-4416-93BC-584107E4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D449227-FE15-48FB-9EC2-3A7BE29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‏الهلوسة (Hallucination)‏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94DBBF9-9426-44EE-B90D-0205B874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8CD5090-3DBE-45BD-8E63-65693036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7005E88-1C9B-44E6-966D-58EE1701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‏أشهر أنواع الخطأ وأخطرها: إنتاج معلومة تبدو صحيحة تماماً وهي غير موجودة.‏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9A35BCB-0A82-4E98-9D17-A56FFC4F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0E8E26C-5657-4761-93B7-F9A1407A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00253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26CDADF-7046-42B3-80DE-AB1E51B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2938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‏مراجع لا وجود لها‏</a:t>
            </a:r>
            <a:endParaRPr sz="18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233F513-ADE6-4D03-AF5B-5D845610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21992"/>
            <a:ext cx="10582351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‏عنوان دراسة واسم باحث وسنة نشر — كلها مصاغة بإتقان وغير موجودة إطلاقاً.‏</a:t>
            </a:r>
            <a:endParaRPr sz="15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21047C4-0C97-4C80-81A6-04BA9ECB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56641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62BF89D-F165-46E3-9EEC-59559EA0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593848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9DBDCA6-73E3-4FE0-A9B3-C304688E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20696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‏أرقام وإحصاءات مخترَعة‏</a:t>
            </a:r>
            <a:endParaRPr sz="18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9D5D96-26E4-4F28-ADB9-EB02228A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13304"/>
            <a:ext cx="10582351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‏نسبة مئوية أو مبلغ يبدو معقولاً تماماً في سياقه، دون أي مصدر حقيقي.‏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3D5816C-EEC1-4ED2-97F9-26D4110A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577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ECB6416-7F2C-4279-94B2-E62E225E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185160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30E2D05-D0F5-4147-B9C6-073FACDA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12008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‏مواد أنظمة غير صحيحة‏</a:t>
            </a:r>
            <a:endParaRPr sz="18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CEEEED6-F939-4FE3-8970-1246221A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04616"/>
            <a:ext cx="10582351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‏إحالة إلى «المادة الثانية عشرة» من نظام لا تحتوي هذا النص.‏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78D4AE4-BA19-4A49-A7E8-1C4B0B2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7490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956CA06-D667-4356-A35A-D4DDB7FE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776472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CB26CD0-FC5B-4E16-B77E-2735E3F3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03320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‏اقتباسات منسوبة خطأً‏</a:t>
            </a:r>
            <a:endParaRPr sz="18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1732278-FFD3-4F6F-B2EC-C71F2425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95928"/>
            <a:ext cx="10582351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‏عبارة تُنسب إلى شخصية أو جهة لم تقلها قط.‏</a:t>
            </a:r>
            <a:endParaRPr sz="15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782A688-D742-45B1-B94D-4B30EB65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3403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514C8FA1-6D29-4777-A467-72BB2A36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367784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0A976F8-50DB-43EB-B470-988F90EC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4632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‏روابط لا تعمل‏</a:t>
            </a:r>
            <a:endParaRPr sz="18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7D3F23C-CB02-442D-8376-FFEADA79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87240"/>
            <a:ext cx="10582351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‏عناوين مواقع مركّبة الشكل وغير موجودة على الإنترنت.‏</a:t>
            </a:r>
            <a:endParaRPr sz="15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0D0C690-6D6E-4148-AAE9-C1E97C11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93166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3572E07-5B87-486F-BF66-8D49B822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95909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179C0DF-C31F-4477-8286-AACAC1F3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8594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‏تفاصيل مضافة في التلخيص‏</a:t>
            </a:r>
            <a:endParaRPr sz="18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21E1EA1-8D1D-4A16-93E4-242572BC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78552"/>
            <a:ext cx="10582351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‏معلومة لم ترد في الوثيقة الأصلية أُقحمت في الملخص.‏</a:t>
            </a:r>
            <a:endParaRPr sz="15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2D8ADA56-9AEE-4684-9A4D-9E7B751B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85763A02-C874-4552-A135-120E90A3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332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0A3C755B-C247-49F9-8BA3-0B223B4A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6072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08226B1-D243-439C-B034-F1EA0BBB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013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‏كلما ابتعد سؤالك عن نص ألصقته بنفسك، ارتفع احتمال الهلوسة.‏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3267117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1a3bc57a746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921EC81-B5CE-4C99-97A8-2D3EDE7F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65‏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75724A5-23E6-4303-AB84-CC94B3DF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BD77755-34BC-4416-9B52-C65A1979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‏التحيّز في المخرجات‏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3B2EF4A-85E4-4E21-BC0B-A3A30B7C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1FBA212-8C9E-41D2-B86E-D6FD6BC6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69EFB6B-C19F-4BA6-B016-8B5C9F0D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‏خطأ أهدأ من الهلوسة وأصعب في الاكتشاف — لأنه لا يبدو خطأً.‏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1895A6F-28D4-4426-A46B-E2B7DAD8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23658F3-DD90-4B1C-8ED8-4C3D3A4C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EEE566C-0E24-47B0-99E7-A6569416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F85C299-5736-4F6B-829A-51C56F07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‏تحيّز التمثيل‏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7475E98-7CBC-4CC0-BABD-0F9E794A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‏إن كانت بيانات التدريب تمثّل فئة أو لغة أو ثقافة أكثر من غيرها، انعكس ذلك على الأمثلة والافتراضات في المخرج.‏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371E99D-FD0D-453D-A791-D35152DA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35A0673-B8EA-4789-A7D5-005E0360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48DB090-8CE0-45C5-A288-18159E08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5339E6E-B6E0-4CB8-8BCF-8D3B920F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‏تحيّز الصياغة‏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447F1B3-40C8-4C88-AF16-D3CA1B72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‏طريقة صياغتك للسؤال قد توجّه الإجابة: «لماذا هذا القرار سيئ؟» تنتج إجابة مختلفة عن «قيّم هذا القرار».‏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65947C4-D65B-43F1-95DA-CD0EEBB2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2C70D5B-A640-4D3F-ACC7-9DDE85BC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AED875D-0D48-44A9-966E-C1F0217F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2FAD41B-31D6-4361-B763-D8705941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‏تحيّز السياق الثقافي‏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912E116-6A74-49B9-A9AD-48DE476E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‏قد تأتي الأمثلة والمسميات من سياقات غير محلية لا تناسب البيئة السعودية أو الحكومية.‏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A5CCE0DA-01DB-4A10-94B7-F9F7ECC8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FE8CAF1-2CDE-4B1A-BC73-BFE72012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044ED20C-C037-48C7-9316-5A2D0567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2D22799-5FDA-44F7-A7E8-4F27FDB6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‏تحيّز التأكيد‏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A31CD98-693A-4C78-ACF3-612795F6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‏يميل النموذج إلى مجاراة ما يبدو أنك تريد سماعه بدل مخالفتك — فاطلب منه صراحة الرأي المخالف.‏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625A39A-E02C-4AAE-BD23-FD51EDCC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1960ACEF-F6D3-42C1-A81B-E043ABD9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4864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39DA7B3-F19C-4407-B677-F8E3DCCE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5138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9B0192D0-B5C8-4D43-9051-BC69881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132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‏علاج عملي: اطلب «اذكر ثلاث حجج مضادة» في نهاية كل أمر تحليلي.‏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0104503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6f69622194a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1C5FEAC-25E2-4F66-B0F6-7CE288F7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43F464-DC28-49D1-B47A-2CB762FF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7159739-4B11-4646-8821-BE11775C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‏منهجية التحقق الخماسية‏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3308A02-6E05-45D2-93C9-6DFD9A37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A97541B-65E1-4290-81F2-F0F7864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A01DCAA-EF47-4AD3-B7C4-497EEE3C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‏خمس فحوص سريعة قبل اعتماد أي مخرج — لا تستغرق أكثر من دقيقتين.‏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BDD65BA-B6C8-4C14-A347-1FC55E39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243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FC91F81-3940-4C26-ACCA-A707954A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EAAAA08-D8A3-4AF0-B8E6-B1F3BD13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FE1C488-6122-4E2F-B950-1D4821FB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971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‏المصدر‏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073DADC-5331-48D2-A424-99FE779B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115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أين جاءت المعلومة؟ هل من نص ألصقته أم من ذاكرة النموذج؟‏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01BD009-5AE9-49CC-8888-527C72B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414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40F7696-B4C3-4945-B0DA-CB24CBE1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19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7F3C599-7213-4B82-BF85-C7D6183F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0D8DF6-DB4D-4055-B799-FAE2B77C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142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‏المنطق‏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BF7DBFF-4A01-4528-AB95-D308432C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286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‏هل الاستنتاج يتبع فعلاً من المقدمات؟ هل توجد قفزة منطقية؟‏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0077CB3-F062-4030-B794-22783314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585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BE07181-7D12-4C0E-8C8D-BCEC95D1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FA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B633A88-C867-4D96-A187-F3F18315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1028CBA-2FA9-4939-8550-1CB1CDF4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313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‏الأرقام‏</a:t>
            </a:r>
            <a:endParaRPr sz="17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F036C86-0646-4735-B64C-670D5B06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457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‏أعد حساب كل رقم بنفسك أو بآلة حاسبة. لا تثق برقم غير محسوب.‏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0AF707-F38F-42A5-9FBC-7504B0B4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757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8110D71B-95AF-4546-A165-4D32BED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5EACA3CC-E337-4A2B-8645-3DE6AF36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4A2AA56-5716-4052-9829-A449F6C7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5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‏السياق‏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D1090A2-D980-4E9D-81C5-30FB0411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629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‏هل يناسب أنظمة جهتك ولغتها وثقافتها المؤسسية؟‏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6FBE8AAC-F180-4692-B64B-366C7DB4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10D584FE-3FFB-4127-87D7-DDE86E7F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B0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02CBF1FF-AD77-4525-84E4-B545A725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EAEFA943-C814-49F3-9BAC-E296E524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‏المسؤولية‏</a:t>
            </a:r>
            <a:endParaRPr sz="17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306F47C-69BA-4AA1-9BFB-176DEFE1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‏هل أنا مستعد لتوقيع هذا المخرج باسمي؟ إن لا — راجع أكثر.‏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73F1582-BA48-44B6-BC91-DCB2DC9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8853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F4A1413B-0DBE-4A7F-A79A-97877EB1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40740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9B25A761-D23D-4C7D-B5BC-3BEA7BF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43484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1C1BBC63-9F96-42EE-AECD-DEC50C0D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3425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‏المخرج غير المتحقَّق منه ليس مخرجاً — بل مسودة فقط.‏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4314230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eb8a9ad214a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8F1226E-A143-4EB5-9BF2-40BE44BB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67‏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C20D982-67BF-4967-B20F-415B754B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FDE84D8-FD5F-44CB-8FCF-7DAFAE41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‏مستويات المخاطر: أخضر / أصفر / أحمر‏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CA105BA-E22C-408C-BF8E-360FDEF5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12D5D9C-7350-4E07-82E3-578E29D1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F02E100-6B53-4026-B684-8A1C3D50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‏صنّف كل مهمة قبل أن تبدأ، ولتكن هذه المصفوفة أمامك دائماً.‏</a:t>
            </a:r>
            <a:endParaRPr sz="1600"/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566928" y="1883664"/>
          <a:ext xmlns:a="http://schemas.openxmlformats.org/drawingml/2006/main" cx="11064240" cy="2834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4754880"/>
                <a:gridCol w="4297680"/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‏المستوى‏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‏وصف الحالة‏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‏الإجراء المطلوب‏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‏🟢 أخضر‏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‏محتوى عام، لا بيانات حساسة، أثر الخطأ محدود ويمكن تصحيحه‏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‏استخدم بحرية مع مراجعة سريعة قبل الاعتماد‏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‏🟡 أصفر‏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‏محتوى داخلي، أو أرقام ستُعرض، أو مخرج سيصل لجهة أخرى‏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‏تحقّق كامل بالمنهجية الخماسية + مراجعة زميل‏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‏🔴 أحمر‏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‏بيانات شخصية أو سرية، أو قرار مُلزم، أو رأي نظامي‏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‏لا تستخدم الأداة — أو استخدمها فقط بموافقة وسياسة معتمدة‏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‏⚫ ممنوع‏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‏بيانات مصنّفة، أمنية، أو محظورة نظاماً‏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‏ممنوع منعاً باتاً في أي أداة خارجية‏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BB0088F-E114-4166-AA08-4C9182FA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14900B9-F8D3-4150-92E1-848DED8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11149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9A1B73D-8F35-408C-AF7C-3986276A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138928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5722A51-0C46-40EA-A6BE-3A69E6A0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38344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‏عند الشك في التصنيف — ارفعه درجة، لا تخفضه.‏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0978579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082cab410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C2BC531-18D5-45BF-B290-EBFC5201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68‏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3435B91-CB16-4896-BA5E-9B30FF4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‏ورقة عمل · احتفظ بها‏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7DF6FAB-823A-4F9F-B987-847458E7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‏قائمة التحقق قبل الاعتماد‏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DBF71E2-46E9-47A4-BEA7-BF1D1CA3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109AE89-0B1B-4A81-BB69-30006FF5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710A759-8E75-4DF2-844A-DDA6ABA8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يُعتمد أي مخرج قبل أن تُجاب كل هذه الأسئلة بـ«نعم».‏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5587173-DB38-4184-A654-870798D5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6BB2157-E622-46B9-A749-8CE9E43D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430E9EB-32C5-4C7F-9F54-5C883A0D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‏راجعت كل رقم ونسبة ورد في المخرج بنفسي.‏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A0B807-B0F4-4ACE-A75C-738DF067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87D411E-DDB9-499F-961F-2E5CB05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3E3A75C-E59E-40C2-AB27-D9F7ABE6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‏تحقّقت من وجود كل مرجع أو نظام أو مادة ذُكرت.‏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F8416ED-1CFA-4667-86AC-3D77A64A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3D820F6-02A4-4998-920A-01EF099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6FB2AC8-C54A-4194-A115-5B2C7DA7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‏قارنت الملخص بالنص الأصلي ولم أجد معلومة مضافة.‏</a:t>
            </a:r>
            <a:endParaRPr sz="15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CF2A713-5F8D-4B2B-9EB5-9AF37ECE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AA5D527-3613-47D9-8332-A9DA5ABF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451D429-F20C-4683-A12F-0660148B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‏تأكّدت أن المخرج يوافق أنظمة جهتي وسياساتها.‏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FF1596A-B0C2-43F8-880E-5709D6FC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99C29FA-2EAE-4E11-A526-1B4D9213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3772D50-C31D-43C0-9881-F369A61B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‏راجعت اللغة والمصطلحات لتناسب السياق المؤسسي.‏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EBD6DED-398A-4417-A309-0B74E374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6D755B1-333F-4C2A-B71D-262950DE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241D8C4-542E-4B82-AFE1-C5942AF7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‏لم أُدخل أي بيانات شخصية أو سرية في الأداة.‏</a:t>
            </a:r>
            <a:endParaRPr sz="15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10F4E188-FFB8-4B5A-AE97-E3BE78B2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4A71F3A7-6632-4090-A5A3-3E116096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6FE3CF9-3292-4948-83C9-2DB3C9BC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‏حدّدت مستوى المخاطر واتخذت الإجراء المناسب له.‏</a:t>
            </a:r>
            <a:endParaRPr sz="15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9721855-42AE-4175-9DA5-F2A24AA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6D0CE00-2094-4DE8-8A00-7F98AFC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A5D4493-97E9-4453-9AEB-5C63C36E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‏أنا مستعد لتحمّل مسؤولية هذا المخرج باسمي.‏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04717707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18cde93f94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D68E718-9FAC-4828-BC8B-27D45F2A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69‏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4FA0942-50F2-4E1A-A2FB-0BC7E8AE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BC4551-9147-4A3A-8728-B98CC017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‏دراسة حالة: خطأ مكلف‏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F0F53E1-5D42-453C-BD0E-5855260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BFCBC27-4645-4387-9AC6-93B1C803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FBB5DE4-CB25-4B9E-B7DD-FA0B4C69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‏حالة موجزة تُبيّن كيف يتحوّل خطأ صغير في التحقق إلى مشكلة مؤسسية.‏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E5D4F06-32AF-4BD0-96DA-5757EA9F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D828FE2-FC16-4476-A2AB-38894962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65B4A"/>
          </a:solidFill>
          <a:ln xmlns:a="http://schemas.openxmlformats.org/drawingml/2006/main" w="12700">
            <a:solidFill>
              <a:srgbClr val="D65B4A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3F68983-E67E-485F-B2A2-8CFAD47B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B4A"/>
          </a:solidFill>
          <a:ln xmlns:a="http://schemas.openxmlformats.org/drawingml/2006/main" w="12700">
            <a:solidFill>
              <a:srgbClr val="D65B4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E3763C4-D47E-456B-AF24-A65E3ABF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‏ما حدث‏</a:t>
            </a:r>
            <a:endParaRPr sz="19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956F0AB-4371-4E37-A749-4F19D381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CB7A63D-A5D0-4C57-B1FF-C96CBC67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‏موظف طُلب منه إعداد مذكرة عاجلة عن تجارب دولية في التدريب.‏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D74C692-8A2A-4DC5-90EB-DCE1D1D7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C8859B4-E0E1-46C3-A009-FD5DD95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‏استخدم مساعداً ذكياً وطلب «أمثلة عالمية مع الأرقام والمصادر».‏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E731923-9AA5-48B1-B4A9-1F87CAA2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1FD7EC3-8253-4BB3-80B3-191609AD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‏أنتج المساعد ثلاث تجارب بأسماء برامج وأرقام ومراجع تبدو دقيقة.‏</a:t>
            </a:r>
            <a:endParaRPr sz="15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3DAB8CA-1E9B-4BCF-A972-FF907A13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6ED6D34-5849-42A6-A60F-D1D4BEFC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‏أُدرجت المذكرة في عرض قيادي دون التحقق من المراجع.‏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0FE29D9-145E-47D0-9A7C-8E8D9B72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A8824AA-EBB1-415E-98F9-308D7421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‏تبيّن لاحقاً أن مرجعين غير موجودين ورقماً واحداً مبالغاً فيه.‏</a:t>
            </a:r>
            <a:endParaRPr sz="15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C3819EF-E6A1-4394-A7F4-5E6B5B0C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EF49DB3-D101-432B-AD49-A13AA468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1B3BC561-0CBB-4405-9845-D8107FF5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3D04682-3A4C-45C4-81B6-350DBBF3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‏ما كان يجب فعله‏</a:t>
            </a:r>
            <a:endParaRPr sz="19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1280D11-175C-47BA-B1D7-E7247314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ED69927-4D39-4B4C-843F-E370FF38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‏إلصاق المصادر الموثوقة وتقييد النموذج بها بدل طلب «أمثلة».‏</a:t>
            </a:r>
            <a:endParaRPr sz="15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7C996261-DE10-4934-8D16-AFA38196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47BDE3A-269E-4D46-9373-E1DB9BDC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‏التحقق من كل مرجع بالبحث عنه قبل إدراجه.‏</a:t>
            </a:r>
            <a:endParaRPr sz="15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FAF4F9E-894C-4CB7-8987-AD9EA881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2ECCE59-DEF1-44E4-A895-473A8EE6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‏إعادة حساب كل رقم ومطابقته بمصدره الأصلي.‏</a:t>
            </a:r>
            <a:endParaRPr sz="15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A4030353-9B0A-4564-B345-416F2BCF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6B74FCC-2591-4C8F-B468-EDF50127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‏وضع علامة على أي معلومة غير متحقَّق منها قبل الرفع.‏</a:t>
            </a:r>
            <a:endParaRPr sz="15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842473C-1158-4C36-A495-03A134E5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8B5BAE0A-86E5-48EE-ACAC-8A5E51AF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‏تصنيف المهمة «أصفر» واعتماد مراجعة زميل قبل العرض.‏</a:t>
            </a:r>
            <a:endParaRPr sz="155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ACDA62F3-952C-4377-9992-82A3B412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A4F04DE2-ACD8-4541-99D1-299ACE93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332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80CC2AD-A7DD-41CB-B2D6-51DC85B3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6072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0D5613E0-9045-4C6C-8BB1-E42DED13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013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‏الدرس: السرعة التي توفّرها الأداة لا تعوّض دقيقتين من التحقق.‏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9016278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507045559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9EA8635-08D2-4EE5-B5D0-D36D2581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70‏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11FEC36-89D5-4E2C-AA4B-1AFB686C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٦ · المحور الرابع‏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BFA5AF0-3017-4191-B768-030C36F5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93204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‏اكتشف الخطأ‏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CA4D7A0-FEC3-45A6-AF4F-B9A88BB1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572768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BD4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9568810-2E5C-4CE2-A942-1226B8A0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5727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20 دقيقة‏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6B38DE3-E72F-4524-91AC-9C897BF6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F50206E-101E-4AC3-A6BF-C9256B9B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72768"/>
            <a:ext cx="10655503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‏ستستلم خمسة مخرجات: صحيح، ورقم مختلق، ومصدر غير موجود، واستنتاج غير مبرر، وإجابة صحيحة لا تناسب السياق.‏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C7E4093-3343-45B4-B050-E5F2A702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1EE6CDA-AB0D-44C3-8D66-BD30462D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4436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DC53AAC-B87F-4D27-A84B-C80A2311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8094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0D7CD6B-C87B-4D93-B50A-8149406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44368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‏اقرأ كل مخرج مع مصدره، وحدّد الادعاءات التي تحتاج دليلاً.‏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820D79F-F7D4-4D7A-95AB-B11F0897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38144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44D224A-0CB2-4A20-929F-A3A81E8E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74720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60F4441-29AC-4F38-84F6-E2579C9F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‏ارجع إلى المصدر وطابق الأرقام والأسماء والقيود.‏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0E5D26D-4EBF-4F90-9282-BBE13107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31920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A82C326-21CF-47E9-816C-D23141A7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68496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07817CB-936E-4CB4-A40C-90218789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‏ميّز الحقيقة الصريحة عن استنتاج الأداة.‏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671FD2B-68A5-4222-A69C-68C3F409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25696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956643E-43BD-48B4-9020-2212935E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62272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FB31967-002D-45C7-A0AB-0B7EDD52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‏صنّف كل مخرج: استخدم، تحقّق، أو ارفض.‏</a:t>
            </a:r>
            <a:endParaRPr sz="1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1FCC7F4-A10F-4772-A608-8DEF677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19472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74A45C0-CD58-452A-B30D-19C2DF8A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56048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B70C158-8B4C-4764-B8FF-954A73CD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‏اكتب نسخة قابلة للاعتماد، واذكر ما تغيّر ولماذا.‏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B0FBE9E-922E-47F9-8555-10CC8360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11057839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8D8E7D0-A279-4DFF-9E28-84908D58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59552"/>
            <a:ext cx="10655503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خمس قرارات موثّقة ونسخة مصحّحة. مخرج الذكاء الاصطناعي لا يساوي معلومة متحقّقاً منها.‏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49106629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88d1de16941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E36EE85-5815-49E0-A348-123BF797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71‏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15341FA-5B05-4345-99FB-1E5FE1FA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‏راجع نفسك‏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098FC74-F5DD-462C-AA91-746E7DC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‏خلاصة المحور الرابع‏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4422795-3839-4E8B-90F6-D275EDD9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CB69DCA-E2A6-4261-ABB5-C6A2E205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05FA645-6C1B-4225-A9BE-5E1F3B93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4825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117269E-5EB4-48DA-A706-8157FCEC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7432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4D0AA26-C01B-4122-8B8A-4C2178E5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5374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‏أشرح ثلاثة أسباب جذرية لخطأ الذكاء الاصطناعي.‏</a:t>
            </a:r>
            <a:endParaRPr sz="15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912A722-8CE0-4165-9955-B53F5789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25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0C69B46-40EC-482D-96F4-9BC83ED7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7432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BEDFE63-A40D-4AF1-B473-A3C64096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374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‏أعرّف الهلوسة وأذكر ثلاثة أشكال لها.‏</a:t>
            </a:r>
            <a:endParaRPr sz="15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93C0F84-AE14-4CA3-89F7-2A21A8B3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3512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5265419-5CC2-4EEF-8088-9A2651C1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6118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B766E89-88AE-444C-8407-8D86C976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4061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‏أميّز أنواع التحيّز في المخرجات وأعرف علاجاً عملياً لها.‏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15C692E-039E-4E41-BA49-2B66CBA4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12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70FE880-872E-436D-84F5-E38785E5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6118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8234DF2-5954-48AB-A366-CC6BD3C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061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‏أطبّق منهجية التحقق الخماسية على أي مخرج.‏</a:t>
            </a:r>
            <a:endParaRPr sz="15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47BC9B2-1ABB-4FB8-82E4-B89C5FB7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21995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1A1F087-A91C-4696-AB7F-B14F64F5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48056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C914635-AC1C-4D98-8A7D-E9491117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27482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‏أصنّف المهمة إلى أخضر أو أصفر أو أحمر قبل البدء.‏</a:t>
            </a:r>
            <a:endParaRPr sz="15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C5372E9-9985-49E0-943A-C08C4105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1995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D83CBF1-E31E-4E86-B9D0-E2F9995D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48056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914465-AF5A-4291-9D2F-30A056CC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7482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‏أستخدم قائمة التحقق قبل اعتماد أي مخرج باسمي.‏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90607619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b49739ccd42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60ED632-0484-4759-9933-ACC7273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72‏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3A160EE-684E-47C4-8CA0-8247869F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928DC00-F1E3-4FCB-BFF6-5C01B86B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الرابع‏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12047CD-4CB2-4045-9399-4BEC673D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444CD88-75AD-495E-BCD5-80DB6AEB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5C6169D-3ACA-4697-857D-ADA22880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0178EEA-568A-4CD2-8DE4-7A9C7A0A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54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«الهلوسة» في مخرجات الذكاء الاصطناعي تعني:‏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2F53ADA-C33E-4AA4-AD65-1272D268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98A6F9E-3080-45BB-84DE-C5224D91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بطء في الاستجابة‏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E9B0D16-AA70-413C-B459-8AEEBC46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6692BF3-0691-4A42-BD48-AC413F04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إنتاج معلومة تبدو صحيحة وهي غير موجودة‏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72D3922-1656-42AF-A121-DF19309F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947F519-5813-486C-ACA9-1274D5F0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رفض الإجابة عن السؤال‏</a:t>
            </a:r>
            <a:endParaRPr sz="14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7E520B7-3B59-4846-9187-24665E55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7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87E3CF4-02DD-4443-95C5-7F308856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78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أي عنصر ليس من عناصر منهجية التحقق الخماسية؟‏</a:t>
            </a:r>
            <a:endParaRPr sz="17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ADD85E5-E5BD-4D22-87CD-DE3D225E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161A9A5-1EE8-46B3-95FE-9EC18541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الأرقام‏</a:t>
            </a:r>
            <a:endParaRPr sz="14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DB824BA-89CD-4193-A671-FF8DC790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77E6101-E06C-4C0F-AB2C-DE364BF6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سرعة الاستجابة‏</a:t>
            </a:r>
            <a:endParaRPr sz="14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A036FA1-D18A-47EA-91EF-F0E98D10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6643CE8-EE0B-44DC-9F18-030D447E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المسؤولية‏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BC36F95-3D80-45D1-A870-866DCDBE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11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78BFF45-4DB7-4AE2-9B18-3C3367DE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02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مهمة تتضمن بيانات مستفيدين شخصية تُصنّف:‏</a:t>
            </a:r>
            <a:endParaRPr sz="17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158E2F3-0EC0-4E70-A945-0FDBA757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A04558-84CC-4B6E-8E31-A973DD3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أخضر‏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54850C0-1DAB-4BCE-9F6F-3C052E49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E76D9B2-3E70-45BA-ACA9-52FB4092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أصفر‏</a:t>
            </a:r>
            <a:endParaRPr sz="14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93C8DBA2-82AA-460F-9731-B2CF19E8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D53478D-1CAD-4BBE-948F-0F4B3F36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‏ج.  أحمر‏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888823103"/>
      </p:ext>
    </p:extLst>
  </p:cSld>
</p:sld>
</file>

<file path=ppt/slides/slide7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a5565a7f9d64b5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d33e471684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EC86B1AC-A838-4C6F-991F-617A0C53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932688"/>
            <a:ext cx="1325880" cy="1325880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B7B002C-08A3-48FE-9DD1-EBEC9689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1060704"/>
            <a:ext cx="1325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‏٥‏</a:t>
            </a:r>
            <a:endParaRPr sz="6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B553B7-AA87-479D-80C0-88855761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687" y="2487168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7E0763-9E04-48EE-8CF5-2B1F4667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98064"/>
            <a:ext cx="11057839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‏الاستخدام الآمن والمسؤول للذكاء الاصطناعي‏</a:t>
            </a:r>
            <a:endParaRPr sz="4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CA2BA0A-E52D-4754-8324-0E15B7F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97776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‏ما تُدخله في الأداة يخرج من نطاق سيطرتك — والمسؤولية تبقى عليك في كل الأحوال.‏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ABD67D7-4D34-4666-AE3E-648FDF80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035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871FA65-002B-4B2B-85DD-BA0584F7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339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‏ما لا يُدخل أبداً‏</a:t>
            </a:r>
            <a:endParaRPr sz="14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B22383C-F79A-4810-9043-57DCCE38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06E3C6B-9FD9-4070-9334-6DDBCF75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‏تصنيف البيانات‏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96AB4CB-1E9C-4D10-B5D6-D4C6E140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4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2A0199A-DFEB-4FE9-A4C9-CAD59C9C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‏المبادئ الأخلاقية‏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96CC777-78ED-4F6D-8155-301CB264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40557F6-AA84-4F01-BB4F-D5708751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‏سياسة الاستخدام في الجهة‏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786476752"/>
      </p:ext>
    </p:extLst>
  </p:cSld>
</p:sld>
</file>

<file path=ppt/slides/slide7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c34fcffa1ce4af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9b079120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9E59020-ED9B-493A-8B17-831211E1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‏الفكرة المركزية‏</a:t>
            </a:r>
            <a:endParaRPr sz="15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39580E7-9D0D-4620-8671-F8547CF0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11057839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‏كل ما تكتبه في أداة خارجية</a:t>
            </a:r>
            <a:endParaRPr sz="3800"/>
          </a:p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قد يخرج من نطاق سيطرة جهتك.‏</a:t>
            </a:r>
            <a:endParaRPr sz="38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6E474BE-8917-4FF3-82BE-1AD3E956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15968"/>
            <a:ext cx="996055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700"/>
              </a:lnSpc>
              <a:buNone/>
            </a:pPr>
            <a:r>
              <a:rPr sz="1800">
                <a:solidFill>
                  <a:srgbClr val="C2C9E6"/>
                </a:solidFill>
                <a:latin typeface="Markazi Text"/>
                <a:ea typeface="Markazi Text"/>
                <a:cs typeface="Markazi Text"/>
              </a:rPr>
              <a:t>‏قد يُخزَّن، وقد يُراجَع بشرياً لتحسين الخدمة، وقد يُستخدم في التدريب حسب سياسة المزوّد. القاعدة الآمنة: لا تُدخل ما لا تقبل ظهوره خارج جهتك.‏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57708057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0c2c8682d47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9C7A3D1-CE14-420C-8CB5-36001261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75‏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FDA5986-719A-46BB-B0F9-3C5A231F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5689C46-8018-4DB9-9983-806A0E66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 الذي لا يُدخل في أي أداة خارجية؟‏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688E58D-0A7B-4F04-B40F-93D89486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A17DAFF-DA27-408E-B6F4-82955FFF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359FD6A-00B9-47CD-9266-E50137DE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‏ست فئات ممنوعة — احفظها كما تحفظ كلمة المرور.‏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1C5B0DE-E36C-4290-B967-63D54500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27685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C32B383-A676-4042-8A63-B48519C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27685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38E4C88-ED94-4767-85C0-9ACF56EC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1460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EAF9A33-53BA-48C7-A714-0685FFC5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33172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‏البيانات الشخصية‏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B674B8A-E285-4593-92ED-D2BA06C1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84378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‏الأسماء الكاملة، الهويات، أرقام الجوال، العناوين، البريد، بيانات الموظفين والمستفيدين.‏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3407112-5720-4631-830F-FEFAA057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27685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17ADE38-F6B5-4C7D-944B-AB4D3E77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27685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C0F7D02-DE7E-4DB6-999E-B82490E0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1460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E8ECE7D-BC37-4373-AA60-A6FC10A2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33172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‏البيانات المالية‏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7E7D8AA-CA7D-4515-BDDB-D21DE8D5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84378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‏أرقام الحسابات، الميزانيات غير المعلنة، العقود، الأسعار قبل الإعلان، بيانات المنافسات.‏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189013B-F020-42FA-9E4E-16E73A02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12E21D5-B875-4DBD-9FEA-2338D67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D2F8C9A-3F6F-433D-8198-63039373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460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66B9F94-B5A4-48C9-B31B-24B916F5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‏البيانات المصنّفة‏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85FBBD1-C91C-4A85-A056-4971DC19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4378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‏كل ما صُنّف سرياً أو مقيّداً أو داخلياً وفق تصنيف جهتك للبيانات.‏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86794A-1003-4C47-9A09-A25E5CE0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76732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CC6C022-AD47-4784-8A17-35D8C7F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76732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A8CCE3A-A75F-40BC-B514-0B012E95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0507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5AEB405-DAEA-47DD-86C2-7F430D10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82219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‏كلمات المرور والوصول‏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0C5846F-32D4-4150-B84B-FFB620CD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33425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‏أي بيانات دخول أو مفاتيح أو روابط داخلية أو أسماء أنظمة وصلاحيات.‏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2D33D84A-6F26-42BB-B903-12958D8E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76732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746E7AEE-62C3-4A1F-BEA1-48549C6B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76732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E27150B-3C21-4A1D-9476-996DE671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0507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1965DD9-6302-422B-AD03-5BE5F9C1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82219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‏المسودات غير المعتمدة‏</a:t>
            </a:r>
            <a:endParaRPr sz="16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6DE5949-4908-4410-B381-DC208823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33425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‏القرارات والأنظمة والسياسات قبل إقرارها والإعلان عنها رسمياً.‏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13A7E34-C4DE-4C88-A262-5C9F9C8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515A1DE-3089-475B-A19F-53DA0867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CA69F33E-D8FD-4561-B785-9CF3CEC2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F0534400-2417-4305-887A-04CE0302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2219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‏البيانات الصحية والحساسة‏</a:t>
            </a:r>
            <a:endParaRPr sz="16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575C040-9B52-4C2A-9453-C890FADA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3425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‏أي معلومة عن صحة أو ظروف شخص بعينه، أو بيانات تخصّ فئات محمية.‏</a:t>
            </a:r>
            <a:endParaRPr sz="145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87EB5425-B548-420D-A191-F6E8C524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FDC2972A-0E86-4814-A9AA-ABE539A8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4864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E9EDFE4F-1CD1-456F-905C-C98D1C77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5138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76A9E097-77F6-47A9-A99A-AC43400D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132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‏إن اضطررت للسياق، استبدل البيانات الحقيقية ببيانات وهمية: «الجهة (أ)»، «الموظف (١)».‏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14540098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873228a4c4e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BF500FB-D797-4217-972E-703B2226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76‏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44F4E2A-80C8-41CB-9380-FBA8C86B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191F368-B75F-4A56-9FF9-E697F368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‏تصنيف البيانات وقرار الاستخدام‏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89CAC2E-AFCD-4B33-9FEC-36C56D1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742B39C-3447-4908-9835-251FE605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1357BD4-2018-4F6C-8390-D0309EE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‏اربط تصنيف البيانات بقرار واضح قبل أن تفتح أي أداة.‏</a:t>
            </a:r>
            <a:endParaRPr sz="1600"/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566928" y="1883664"/>
          <a:ext xmlns:a="http://schemas.openxmlformats.org/drawingml/2006/main" cx="11064240" cy="2834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4663440"/>
                <a:gridCol w="4297680"/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‏التصنيف‏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‏أمثلة‏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‏قرار الاستخدام‏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‏عام‏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‏محتوى منشور على موقع الجهة، أنظمة معلنة، أخبار رسمية‏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‏مسموح في الأدوات المعتمدة وغيرها‏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‏داخلي‏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‏مذكرات إدارية عامة، إجراءات تشغيلية غير سرية‏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‏الأدوات المعتمدة فقط، مع إخفاء التفاصيل المميِّزة‏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‏مقيّد‏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‏بيانات أداء، تقارير غير معلنة، مسودات قرارات‏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‏لا يُدخل — إلا بموافقة وسياسة معتمدة صراحةً‏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‏سري‏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‏بيانات شخصية، مالية، تعاقدية، أمنية‏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‏ممنوع في أي أداة خارجية دون استثناء‏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D7E6594-EEE3-4314-95AE-4D25806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965A362-8CBA-473B-8E3D-5453ED22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11149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879E976-CF0F-46C4-A364-8F9C6548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138928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24FF901-7C7E-4A8F-9C17-2587ECBA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38344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‏إن لم تعرف تصنيف البيانات التي بين يديك — اسأل مسؤول أمن المعلومات في جهتك قبل الاستخدام.‏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7740103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e7b102b5946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5F31044-1A4C-47CA-82DB-14B696D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77‏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0B731F0-21ED-4765-842F-1753D72C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F99E15E-5EEF-4B3C-B570-9C48A74F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‏المبادئ الأخلاقية للذكاء الاصطناعي‏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3DB9F2-8FD6-421D-9AD7-1B8B0B78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5E91AC3-7133-4309-90B4-FA3363CD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6BA1D9B-3208-4072-B6D9-17D66C1B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‏مبادئ ناظمة تنسجم مع الإطار الوطني لأخلاقيات الذكاء الاصطناعي.‏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8A49D59-8031-4FDB-AF08-057597BB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B07C45C-684E-41F8-9CCA-34F733D4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C1B0373-1F41-44FD-AD89-16FEA675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2C7CBE6-A10A-48FE-B8E3-A9446F14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‏العدالة‏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C7B6BB3-C272-4352-AB17-34AA622D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‏ألا يؤدي استخدام الأداة إلى تمييز أو إجحاف بحق فئة أو فرد.‏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B085D60-4778-4223-A420-F563607A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A798F61-8F70-431F-9084-599C3E90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33134E9-152D-4C53-8E7B-AEEB2CAD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2AFC88A-E556-43C7-AD31-D47D637A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‏الشفافية‏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EF7A82A-CD94-4C8E-9F8A-3C0B311B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‏أن يكون واضحاً متى استُخدم الذكاء الاصطناعي، خاصة في المحتوى الرسمي.‏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EE8CCDD-F67A-4BE3-88CA-CA92E02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AE63BCA-2979-4416-97C6-33819D66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D47528AE-0207-4BBE-B955-7CC85296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A147D5E-8A59-4E5B-A315-9C3272A5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‏المساءلة‏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58527E7-E1F0-4606-B699-A276E903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‏وجود مسؤول بشري واضح عن كل مخرج — الأداة لا تُساءَل.‏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2C3750C-F688-4847-AB85-D3927DC6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B1C0526-810B-4FBF-BCB4-B013CFD0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A743BBC-87A2-4D00-B4E6-43DF7DD6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6152D5F-40F9-4B12-800C-6EABEDC6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‏الخصوصية والأمن‏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1649F01-0E0E-484E-986C-5FCC0D84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‏حماية بيانات الأفراد والجهة في كل خطوة من الاستخدام.‏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18DE47E-A0B2-4869-AF1D-6597B773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CA9B0D38-9F3A-45D5-ADBF-71D54B7A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511799C0-9752-4CDE-AF35-E8B2B293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A4E494CB-59CD-4288-BF03-EFE49832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‏الموثوقية والسلامة‏</a:t>
            </a:r>
            <a:endParaRPr sz="16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B369CDE-66F1-4ABD-BDB9-25D4E45B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‏التأكد من دقة المخرج وسلامته قبل بنائه في قرار أو خدمة.‏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D02749F6-EFDF-4DD7-B85E-C770AE87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F2BF595-65CA-4F7F-95BA-33E2A8FA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CC50881-FC8A-4A56-A2DD-2346CC9C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94F55E2-01D6-4F25-8198-CB5A4D8D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‏النفع الاجتماعي‏</a:t>
            </a:r>
            <a:endParaRPr sz="16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2116096-35DE-4F9E-9357-7FC70B98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‏أن يخدم الاستخدام مصلحة المستفيد والصالح العام لا مجرد السرعة.‏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31184776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ec488d01f45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62CB2AE-282B-4966-A697-5D42F481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78‏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F9ACEFC-3AFC-4967-8910-AFA4EB54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AA48AA5-BAC0-40F7-AE0D-3EB4173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‏الرقابة البشرية والمساءلة‏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02A26FD-80A2-45B2-9234-B18282A5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DB662F7-0F78-4B3E-AC88-48CFBF91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12D2911-6725-4516-8066-B80A0856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‏المبدأ الذي لا يُساوَم عليه في العمل الحكومي.‏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F8B3C44-C1EC-4369-94DC-DC916E4B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943468B-2C7A-4DFB-A9B4-C61E56DB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00253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189F79A-D7EF-4F47-A833-61C14CA8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2938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‏الإنسان في الحلقة دائماً‏</a:t>
            </a:r>
            <a:endParaRPr sz="18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C7B6C51-3179-4080-8572-578073D1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21992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‏كل مخرج يمرّ بمراجعة بشرية قبل الاعتماد، بلا استثناء.‏</a:t>
            </a:r>
            <a:endParaRPr sz="15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AD944C0-FC05-48C4-922C-5834FBFB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6700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AB57581-4B9F-4596-B8C6-4399BBE1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697480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AACB28D-6C54-481E-B53A-5A1E577B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24328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‏المسؤولية لا تُفوَّض للأداة‏</a:t>
            </a:r>
            <a:endParaRPr sz="18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CD7495C-A7AD-4172-B410-768334C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16936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‏«المساعد الذكي هو من كتبها» ليس تبريراً مقبولاً مهنياً ولا نظاماً.‏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E8CDA8A-36B3-4350-81F1-0A7DCA0F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3649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C9EF294-B55D-4A00-BAE1-2307F033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392424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4E729EF-7B03-4069-AAC7-894122EC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9272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‏التوقيع يعني التحقق‏</a:t>
            </a:r>
            <a:endParaRPr sz="18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13F4C25-51C8-4DE6-9C77-0B097D45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11880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يوقّع أو يعتمد مخرجاً يقرّ ضمناً بأنه راجعه وتحقّق منه.‏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E05F498-CC02-4114-80E9-BE5039FF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0599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CE8E4F0-D4F4-40C6-B4E4-23C9C204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087368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707BCCD-3F04-40FE-83F5-97B05826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14216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‏كلما زاد أثر القرار زادت المراجعة‏</a:t>
            </a:r>
            <a:endParaRPr sz="18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DB07EE2-1A3E-4032-9783-6615E71B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06824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‏القرارات المؤثرة على الأفراد تحتاج مراجعة مضاعفة.‏</a:t>
            </a:r>
            <a:endParaRPr sz="15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B6E183E-3F19-4FF6-A502-BCEC4A1D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7548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026286D-66AF-43A6-9B74-F9F0E901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782312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22EC388-EB50-454A-B3DD-F9D194BB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09160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‏وثّق ما استُخدم فيه الذكاء الاصطناعي‏</a:t>
            </a:r>
            <a:endParaRPr sz="18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6A1EE66-4BB3-4090-960A-759AB702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01768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‏سجل بسيط يحفظ حق الجهة وحقك عند المساءلة.‏</a:t>
            </a:r>
            <a:endParaRPr sz="15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AC22DCD-363B-4B14-B4D8-1097117D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49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C5A581D-2CF8-4D8C-9CF4-8A358BC2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7725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E4CB096-D382-445E-AEA6-575777A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0410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‏راجع ولا تكتفِ بالقراءة السريعة‏</a:t>
            </a:r>
            <a:endParaRPr sz="18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8344143-70B0-4BDA-989D-7A189B66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96712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‏المخرج المصقول لغوياً يخدع العين ويقلّل يقظة المراجع.‏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67441330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7202ccd904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230C802-EB30-4379-813B-D51A210B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79‏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99A7C89-DE0C-408E-98A2-1CB98D9C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B13CC04-6BEE-4976-9830-58800E39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‏الشفافية والإفصاح‏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3490E59-72E4-4F15-A35D-F809ACC5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BB3B205-FB27-49A3-B2D9-1EB17CAC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C2B61CE-7664-4C76-9D7A-725BB60A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‏متى يجب أن تُعلن أن الذكاء الاصطناعي شارك في إنتاج المحتوى؟‏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FA9A939-8025-4049-AE6E-ACB2C05D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5117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332CD70-403C-4594-BC1A-948FCDEF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5117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C26EAC8-2588-4C43-B263-D01EA1C7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78892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988F7E9-7423-44A9-B136-B72D88A8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60604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‏يُفصح عنه‏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01DB082-D374-4233-BC91-DBF46A4C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11810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‏المحتوى المنشور للجمهور، التقارير الرسمية، المواد التدريبية، الردود الآلية على المستفيدين، والمحتوى المرئي المولّد.‏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97010F3-DEA1-4423-83B2-6BD78730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A10E235-F9D7-4A95-9F18-DFDDC0F8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461C1C2-0AB1-4598-9C7D-A3BD79B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8892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5F42B4A-0409-46E1-857B-61245EC6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‏لا يلزم الإفصاح عادة‏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A93B4E5-27F1-4EB4-A5CB-155BA9D4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1810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‏المسودات الشخصية، تنظيم أفكارك، التدقيق اللغوي لنص كتبته أنت، وترجمة داخلية للفهم فقط.‏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42290BF-18EC-4F95-BBE3-F6170DA9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4164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C0E039C-DDA8-43C9-8A92-11EF0079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4164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7673FE0-317C-46CE-8124-ACB13D13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27939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C84A808-914B-4915-AEA2-C6C828F3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09651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‏يُذكر في المحاضر‏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2E7C0C8-7EF0-4EED-8A3C-5F45BE07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60857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‏استخدام أدوات التفريغ الصوتي في الاجتماعات يُذكر للحاضرين مسبقاً.‏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240A4CC-5410-4B99-A2EA-28AE81D6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BE49E9DE-117B-4172-A8EA-213CF4B8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8C14956-D687-4AF8-B25E-847E2B23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211A63E-C2D9-4B6A-B945-15A63717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9651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‏ارجع لسياسة جهتك‏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4D15DCF-CE36-4C5D-B461-6620805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‏الإفصاح مسألة سياسة مؤسسية — التزم بما اعتمدته جهتك، وعند غيابها اسأل قبل النشر.‏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2000278170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c9576734c45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0C7268B-BC6E-4554-A7FE-396255D7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0395C1C-564B-41AD-B5C4-EEE06127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460D936-1E70-4013-9B2A-F3EF784F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‏الخصوصية وحماية البيانات‏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3C6A04C-9A86-4756-832D-3E6D7780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7B773C7-A251-4CE4-9A40-20942D7C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02E5BAD-D4B2-4370-B77D-253EEE04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‏الالتزام بحماية البيانات الشخصية ليس خياراً بل التزام نظامي.‏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DB7C7F5-8B86-48BB-9E92-8B57C6D4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A40D31F-4394-45EC-A190-59927ED0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ECF6C8E-17B1-44D7-912E-3CCA091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498D8F-D18C-4FF4-8E53-BF0AFB50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‏مبدأ التقليل‏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5642E86-77AD-4A4C-8AAE-03737551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تُدخل من البيانات إلا أقلّ ما تحتاجه المهمة فعلاً — والأصل ألا تُدخل شيئاً.‏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04A64AF-8609-49E2-B7E7-1E44F773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D5DFB5B-ED8C-4C22-B06F-FD2565D0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28D03AC-8228-4CFC-85D3-8433094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DCF63D6-1EB2-4B01-B9ED-A8B4A943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‏إخفاء الهوية‏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8F84D1A-9F7F-4EF9-9DDE-C085889D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‏استبدل الأسماء والأرقام المميِّزة برموز قبل أي معالجة: «المستفيد أ»، «الجهة ب».‏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74C2E1F-5DF6-4327-BD77-325FA08C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10E8DEF-5B7A-471B-B0E1-9669C7C9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25C8D5F-39AF-4C8B-9723-F556A409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661669A-6288-4FFF-984B-09ABCAB8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‏تحديد الغرض‏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760FB64-A881-47D5-997D-B1A66D5E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‏استخدم البيانات للغرض الذي جُمعت من أجله فقط، لا لأي استخدام إضافي.‏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B908A68-CF10-4AE1-B360-00FECABA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B441F3B-D8ED-4C13-9CB5-4FFC7115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E0E6C0D-D336-4A73-B93F-7F1300BB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4EEAA7A-9DB1-4F1A-9EDC-302C5975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‏حدود الاحتفاظ‏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4EFB597-E883-472D-BE5D-37CCCC1F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تترك بيانات العمل في محادثات مخزّنة لدى مزوّد خارجي دون حاجة.‏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C19785E-513F-4786-8FA0-1A22BA18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8F06074-0F2E-48F2-99FC-27E1B061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90B74014-309D-497D-AA30-3BCF3613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0B61FC5-8AC7-4BAC-9261-DF9D1C36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‏نظام حماية البيانات الشخصية‏</a:t>
            </a:r>
            <a:endParaRPr sz="16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C3E75381-D286-4974-9728-01ECE24B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‏الإطار التشريعي الحاكم في المملكة — يسري على استخدامك للأدوات كما يسري على الأنظمة.‏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88E162F5-5DF0-40D9-8B1C-3B87496C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550714C-C07C-4D5E-96FA-3870129F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D9C515B-33EE-41E4-B014-D49060C4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CBA2640-DC6C-4CFD-A894-44715BB5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‏عند الشك‏</a:t>
            </a:r>
            <a:endParaRPr sz="16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0DBD336A-C12F-4EB6-9740-EAF67342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‏راجع مسؤول حماية البيانات أو أمن المعلومات في جهتك قبل الاستخدام لا بعده.‏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91217677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1dbf021e14a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F6C8E2A-55A7-4985-8A2A-CB545BB8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81‏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7611792-041D-450B-A246-4636FB3B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2CEB2AA-02D8-4383-8553-13EDB952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‏الملكية الفكرية وحقوق المحتوى‏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1A90E08-A6CB-408C-867D-3A1EB981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E808D7F-B3D9-42EC-A288-9F1D31FF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783661E-9D04-4683-838B-73CAED0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09397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A7281B1-DF27-42DE-AFF8-E8503BD7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09397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D78F3E5-12E8-4BBF-9C49-834A27FB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33172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E8D8776-D7BB-4C5D-9CF6-BD95CDD7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14884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‏محتوى الآخرين‏</a:t>
            </a:r>
            <a:endParaRPr sz="16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8B6A552-2B4D-4A88-BDE5-DBCB0A4A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66090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ترفع وثائق أو مواد مملوكة لجهة أخرى دون إذن — الرفع نفسه قد يكون مخالفة.‏</a:t>
            </a:r>
            <a:endParaRPr sz="1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EDD299-4EF3-489C-8545-23BE733F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397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08ED089-E7EA-44B7-8C46-05A113BC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397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926F1AA-4F4C-4542-9008-64DB089D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0F45A21-C0C8-4702-8191-2EC70295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‏مخرجات الأدوات‏</a:t>
            </a:r>
            <a:endParaRPr sz="1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EB61110-02A4-4771-BA97-EAA005B3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6090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‏قد تتشابه مع محتوى قائم؛ راجع الأصالة قبل النشر باسم جهتك.‏</a:t>
            </a:r>
            <a:endParaRPr sz="14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BAA42C1-EFFB-48EA-A75D-17E435CE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58444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469888A-BA5A-46C1-8464-BAA53DEB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58444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6AA0B0F-E3AC-410F-8A58-F690AE14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82219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CF6C340-790E-4E73-8B24-592377FE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63931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‏الصور المولّدة‏</a:t>
            </a:r>
            <a:endParaRPr sz="1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7A28790-AF70-45F4-9A5F-EF256716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15137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‏تحقّق من شروط الاستخدام التجاري والرسمي للأداة قبل نشر أي صورة مولّدة.‏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5F2DD85-7787-46F5-9EB8-06F9A398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D189F9A-09A8-465F-AB5A-FDF05EF8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8C70E82B-50E8-402E-A4B5-5575C88B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454DA2F-F9AD-4F88-9A08-B6B3DA11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3931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‏النسبة والاعتماد‏</a:t>
            </a:r>
            <a:endParaRPr sz="16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1352DB0-007B-4897-89B5-26D46DE5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5137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تنسب مخرجاً كاملاً لنفسك إن كان مولّداً؛ ولا تنسبه للأداة إن كنت أعدت بناءه.‏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C5AAE677-F1C7-4CE6-BAF7-B899ACE2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8464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6FDBCC76-9479-4700-A32F-835D078D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035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2BB3B455-E9B5-4B60-8543-10075404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3095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7A43DDC-9E6F-4083-9B81-9C13EAE5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3036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‏الأصل: المخرج مسودة تملك أنت مسؤوليتها بعد المراجعة والتعديل الجوهري.‏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8675836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418a18fbd41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B23A113-AB71-4E53-9897-EA344CEE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0380EA3-790A-4FC4-9DCE-267F0A23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‏مقترح للفريق · ورقة عمل‏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F3A09AD-C47A-4841-9292-70080D8F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‏نموذج سياسة استخدام مبسّطة‏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CFA9A5-3613-470D-B30B-16B3C425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8EF73CA-E2B5-49CC-BCA2-EF4497AE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1C5B940-BF63-4738-88AB-E2509BE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‏ثمانية بنود يمكن لأي إدارة اعتمادها كسياسة داخلية أولية.‏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35F533A-8250-485A-9FBA-14B3A35A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F449E5A-75CF-4BEC-9D4A-CB13579C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227AD3F-91A0-48F8-A09E-DF2E282B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‏نستخدم فقط الأدوات المعتمدة رسمياً من الجهة.‏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C41850A-084C-4327-AE16-C78A8A9B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D67F0ED-9F0D-4BC6-B9B8-26F861CE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6A3CC34-1BF4-42C5-8EDD-6185D08E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نُدخل بيانات مصنّفة مقيّدة أو سرية في أي أداة خارجية.‏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C4A1F9F-0521-4D4A-95C3-D10BCA8E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DBF6F9-0DD6-4E77-B117-07C7F0C6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353A1CD-EDE1-46F2-BF82-5B9D9636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‏نُخفي هوية أي بيانات قبل استخدامها للسياق.‏</a:t>
            </a:r>
            <a:endParaRPr sz="15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43457C9-6CE5-4CF9-9F7C-A6C159EB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4815A54-7195-4B52-8531-370A94DD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95214A9-E404-42A0-95FB-0C89FE1C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‏كل مخرج يمرّ بمراجعة بشرية موثّقة قبل الاعتماد.‏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9114F71-A309-4310-AC2D-0B421C8A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583A6A5-99AC-476E-A54A-9F057D4B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3672E3B-7B3A-4914-9E89-82045F59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‏نُفصح عن استخدام الذكاء الاصطناعي في المحتوى المنشور.‏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C017DE1-C37B-4B00-95EE-12C6DEAC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6388713F-261F-45F1-B7A2-5D4AD623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B264122-DA01-44C0-BCEC-088307B2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‏نتحقّق من كل رقم ومرجع قبل الإدراج في أي وثيقة رسمية.‏</a:t>
            </a:r>
            <a:endParaRPr sz="15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4EEDD0BD-28C7-453F-A97F-29E6D75E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2A44A480-6013-49D3-90FD-B6AF650B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9A0EB61-0887-4267-9718-0D00CE9C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‏نصنّف كل مهمة إلى أخضر أو أصفر أو أحمر قبل البدء.‏</a:t>
            </a:r>
            <a:endParaRPr sz="15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9BE3ADE9-C9FB-4DBC-9F69-319043AC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B7DDC772-1791-4325-B568-DD75E5B6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66517CD3-71C7-4519-A600-BA796929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‏نبلّغ عن أي حادثة تسرّب بيانات فوراً وفق إجراءات الجهة.‏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97377170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d6fbcd1504c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66375EB-63D6-4541-A239-EA18A1E4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83‏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3CA899A-0294-49A8-A351-34575CE5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46F814D-0765-48E7-B8FC-3696FA10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‏سيناريوهات للنقاش‏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1339974-4033-4D3E-989F-E5037E71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29EDD5F-05AD-43CC-8F54-81BF7DE6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ED14D07-1C68-422C-8722-F2CBA674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‏أربع حالات واقعية — ما القرار الصحيح في كل منها؟‏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BF49C97-24A4-44B5-ADE5-2CEA652B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ADA9EEC-2D87-486B-9E3D-AE33DBAC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FB9A389-AF58-4F9C-8E7F-63799B4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C585D44-0F66-4EF9-B39D-43B08477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‏السيناريو الأول‏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E7F356B-9D96-46F7-8D1B-44921DF8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‏زميل يرفع ملف قائمة موظفي الإدارة إلى مساعد ذكي ليطلب تحليل توزيع الأعمار. هل هذا مقبول؟ ولماذا؟‏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B8A8226-3D53-447D-9F10-3C609FB6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C086CDF-BC81-43E8-ACCE-C83BD798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3E2137-85CA-4399-AE80-8BDA67B1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CB32672-FBFD-44DC-9853-09391313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‏السيناريو الثاني‏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CE83DBE-3F9F-44EB-A1FD-55F4C2DB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‏موظف يستخدم أداة تفريغ صوتي في اجتماع دون إبلاغ الحاضرين. ما الإشكال الأخلاقي والنظامي؟‏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D6EFD4A-32F9-4E74-B7ED-340530A4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BCD2BBF-7133-44B1-837A-DF9D390D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D42334D-47E0-47B3-B756-5348025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A65B64B-C1DD-41C7-9537-CA141102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‏السيناريو الثالث‏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5F00BCF-A84F-4833-A604-22D96A57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‏مذكرة أعدّها مساعد ذكي رُفعت للاعتماد وفيها رقم إحصائي غير متحقَّق منه. من المسؤول؟‏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D7895D9-E359-4D8B-9743-780A4C4F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9E40BC5-BD30-4BEA-A7CF-190F5BD3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ECC77155-1707-404F-9F62-C1884825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B87A9E4-A5DD-4DC8-9843-97483FED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‏السيناريو الرابع‏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3339D76-B8FE-4FB0-82FC-518E828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‏إدارة تنشر مقالاً كاملاً على حساب الجهة مولّداً بالذكاء الاصطناعي دون إفصاح ودون مراجعة. ما المخاطر؟‏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CD872ED-18CF-4776-9AF2-722BD75A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99EBF8CC-3972-4E26-8649-B07C3AB3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4864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B937351-1BB4-48BA-AC0F-451AE9A9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5138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E8419B7-7C12-4679-AD30-A60DD317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132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‏ناقش كل سيناريو في مجموعتك: ما الخطأ؟ ما البديل الصحيح؟ ما البند الوقائي؟‏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82714061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b0295aa4540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79737F0-5363-48DD-8784-2424C05C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84‏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E259D52-CFDA-4C2D-BEF3-14C9A109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٧ · المحور الخامس‏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83D7613-D62B-486A-A942-3DB3D62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93204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‏تصنيف الحالات واتخاذ القرار‏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55E5B6C-642E-44C5-B24B-EA9D5F6B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572768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BD4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7C9B486-6950-4DD2-8310-2D0AEECB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5727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15 دقيقة‏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9AE1B85-B74F-4503-8C6E-A01B6663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A31175A-22C3-418F-B09B-77250CE6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72768"/>
            <a:ext cx="10655503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 حالات استخدام من بيئة العمل الحكومية — صنّفها واتخذ قراراً مبرّراً لكل منها.‏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C073C8D-A558-4ECB-9991-B9E9AE11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4BB0F66-9888-4B7B-95A0-CCC7B427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4436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DC5F042-D8C3-4E47-9ADC-23FD8D6E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8094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E6764AB-C2FE-4F92-B745-89635C80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44368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‏اقرأ الحالات الست في ورقة التمرين.‏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E5B227D-E4A0-434D-984A-6E77B03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38144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95A2866-A21F-4127-A56E-7ACFAC3E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74720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13A5BEB-5BE8-402C-8B65-81074229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تصنيف البيانات لكل حالة: عام / داخلي / مقيّد / سري.‏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613BAC4-A575-40FA-ACE5-23F0C83C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31920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E851BE5-7908-4AC1-BAAA-91B4EA1A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68496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2D701F5-C398-4A59-AF32-F0B4C3FF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مستوى المخاطر: أخضر / أصفر / أحمر.‏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A345EAC-D68A-41E6-A00F-65EE9B38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25696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9D1D700-A0CD-4301-BBEC-6ADFC560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62272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45CB7C5-08DC-490D-81B1-41D9CCD1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‏اتخذ القرار: نستخدم، نستخدم بشروط، لا نستخدم — مع ذكر الشرط أو السبب.‏</a:t>
            </a:r>
            <a:endParaRPr sz="1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5CC3C40-1AE1-47AF-9940-66D9C76B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19472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FB26FCA-137C-4843-A663-9510619A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56048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745B235-8072-4728-B043-C248C4F0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‏اقترح بديلاً آمناً للحالات التي رفضتها (إخفاء هوية، بيانات وهمية، أداة معتمدة).‏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0502E642-77E8-47C7-AB33-739C05C7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11057839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D13F728-7864-456C-8281-8639FDB7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59552"/>
            <a:ext cx="10655503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مصفوفة قرار من ست صفوف تصلح كمرجع سريع في عملك اليومي.‏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05714504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c090a22ea42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FF883FA-7579-4664-A124-8D73A70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85‏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5A50FA4-183B-4B54-BA33-AF982F45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‏راجع نفسك‏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048A6A-6747-4258-9549-4B2943EE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‏خلاصة المحور الخامس‏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086165A-C31D-435A-8B78-B46D99E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384C4D2-4766-4EB3-9D19-A47D85BA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F677586-E5F4-4CB4-8A42-F174EDC4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4825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5CC4E1A-466D-43CF-9970-132C646A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7432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DAA34E4-EA4D-46C1-9EF3-DA847E42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5374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‏أذكر ست فئات بيانات لا تُدخل في أي أداة خارجية.‏</a:t>
            </a:r>
            <a:endParaRPr sz="15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487649C-DBE8-495E-92D8-77197086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25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207B793-6A72-4646-824C-43D5248E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7432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0BED611-3065-4BB1-B185-7DA90CBC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374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‏أصنّف البيانات إلى عام وداخلي ومقيّد وسري.‏</a:t>
            </a:r>
            <a:endParaRPr sz="15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760F817-5400-4EDE-8CEA-96C8320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3512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C46633B-D710-4A59-9645-CB88D4CE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6118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A053086-8BDF-43CC-8E17-3311DB65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4061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‏أشرح المبادئ الأخلاقية الستة للاستخدام المسؤول.‏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49E7B60-5153-448B-B11D-4D67DF1B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12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C6230A9-2726-4DC0-A1FC-2065F7E3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6118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E680FB4-ADD8-4050-83CD-383038A5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061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‏أعرف متى يجب الإفصاح عن استخدام الذكاء الاصطناعي.‏</a:t>
            </a:r>
            <a:endParaRPr sz="15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F640C5F-7A6C-4F8A-9249-ECD789A0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21995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4601C49-5464-40E6-B4B8-9B9C342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48056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DEAFAAE-4258-4A7C-A8A0-E6DBE82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27482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‏أطبّق مبدأ التقليل وإخفاء الهوية عملياً.‏</a:t>
            </a:r>
            <a:endParaRPr sz="15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C312E88-6778-43D8-8642-E8910C34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1995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C17490-768D-4ABF-8B00-A35F3160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48056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627874-ECAB-468F-B9C6-85F18EBC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7482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‏أعرف أن المسؤولية بشرية ولا تُفوَّض للأداة.‏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5032799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eb94db9e748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644C608-078A-4C6F-B445-FD78041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3B142BE-1F73-4F4C-9C51-00FDDA88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75170C-3EB9-4AA8-A0DB-8B1AB373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الخامس‏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94972D-A783-4ECE-8764-DF111938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65FA720-64E9-48E0-9EE4-9C5B6E5D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B3DF71-6269-45F5-80EE-E11F5C0F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BB8ECAC-A659-4396-8B1B-108EB299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54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ما الإجراء الصحيح إن احتجت سياقاً يتضمن أسماء موظفين؟‏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151AA18-29A1-44DF-AD5D-3F78AB69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6FF2BBE-56B4-46C0-9F8F-3B49B11D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أدخلها كما هي للدقة‏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EDCDA90-41BE-401A-972A-194C7DB2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87230C8-A414-4DC4-ABBE-C101D03B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استبدلها برموز وبيانات وهمية‏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A051EDF-D9A8-45B2-9430-EBA7BD00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F7CECB7-2486-4441-96C0-78E15390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أدخل الأسماء الأولى فقط‏</a:t>
            </a:r>
            <a:endParaRPr sz="14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97521B7-1BF1-48A3-854D-59841902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7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972EB35-4807-476D-83CF-3D0F345C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78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من يتحمّل مسؤولية خطأ في مذكرة أعدّها مساعد ذكي واعتُمدت؟‏</a:t>
            </a:r>
            <a:endParaRPr sz="17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1A5C2B7-4012-4496-8085-B89ECDD5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010F7BD-8CE8-43E3-9AF4-CA727C91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مزوّد الأداة‏</a:t>
            </a:r>
            <a:endParaRPr sz="14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36957EE-7C39-4DD3-BDB7-2594B38B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B21BA6F-795A-45BE-B53B-299132BF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الموظف الذي أعدّها والمعتمِد‏</a:t>
            </a:r>
            <a:endParaRPr sz="14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A5648B8F-BAA9-4850-9108-4EE4D571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FEFD12B-B5E4-4736-8029-46DC777B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لا أحد — الخطأ تقني‏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CBC447B-A3D2-4C22-A2FD-7E09380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11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E2D0F24-22AC-4D0F-B84E-10BFA8BE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02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المحتوى المنشور للجمهور والمولّد بالذكاء الاصطناعي:‏</a:t>
            </a:r>
            <a:endParaRPr sz="17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326ABD4-E5DF-4C86-9D78-F7286D9C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3D043BE-938D-476C-89BC-8C9DEC76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لا يحتاج أي إجراء‏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C520382B-628D-4C63-91BB-C41D1E0A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168F412-5C69-4D40-9A97-76A601C8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يُفصح عنه ويُراجع بشرياً‏</a:t>
            </a:r>
            <a:endParaRPr sz="14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2977EB5-C65A-4853-9DAE-1627101B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C594DF0-C667-4B5E-B4DE-DE2580BD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يُنشر ثم يُراجع لاحقاً‏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461254349"/>
      </p:ext>
    </p:extLst>
  </p:cSld>
</p:sld>
</file>

<file path=ppt/slides/slide8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f1d56f56857416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ee7dfe8bd47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ED41D5F-3463-44FB-AF4D-7E6C290E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932688"/>
            <a:ext cx="1325880" cy="1325880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2A7E351-889D-40F5-9875-A3EF813D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1060704"/>
            <a:ext cx="1325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‏٦‏</a:t>
            </a:r>
            <a:endParaRPr sz="6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8D0D89-2102-4C93-84D0-47FF8310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687" y="2487168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4940CB5-3D06-42F4-8188-A501753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98064"/>
            <a:ext cx="11057839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‏توظيف الذكاء الاصطناعي في المهام اليومية‏</a:t>
            </a:r>
            <a:endParaRPr sz="4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C53CA68-4ECC-43A3-9D86-CBE0087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97776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‏من المعرفة إلى العادة: كيف تحوّل ما تعلّمته إلى أثر ملموس على وقتك وجودة عملك؟‏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C6EB11B-D589-4657-98A3-84B5EF53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035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EACBF1A-5D2B-4095-80C5-4678C39E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339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‏منهجية اكتشاف الفرص‏</a:t>
            </a:r>
            <a:endParaRPr sz="14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BB772CE-FC2A-4465-88B3-C800EEA5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2A37DB4-2A8B-4DA9-8684-08E35235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‏مصفوفة الأولوية‏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68D6821-2DD3-4B9C-BD71-AFABC087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4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A1367C0-BD61-408E-9C62-CF00FAEA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‏قياس الأثر‏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A623667-BD04-412E-AFD5-60304BE5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16A27B7-DDCD-462F-AF13-D60962D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‏خطة الثلاثين يوماً‏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235766703"/>
      </p:ext>
    </p:extLst>
  </p:cSld>
</p:sld>
</file>

<file path=ppt/slides/slide8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e09eb5166d4441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91cc6dc4249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8EC0E3C-BC88-438E-9519-CC4EC647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‏الفكرة المركزية‏</a:t>
            </a:r>
            <a:endParaRPr sz="15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965EB32-D006-4406-A64F-F3A6EF22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11057839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‏لا تبدأ من الأداة —</a:t>
            </a:r>
            <a:endParaRPr sz="3800"/>
          </a:p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ابدأ من المهمة التي تستنزف وقتك.‏</a:t>
            </a:r>
            <a:endParaRPr sz="38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763081D-5A2B-4E7E-82F1-142CDFA2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15968"/>
            <a:ext cx="996055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700"/>
              </a:lnSpc>
              <a:buNone/>
            </a:pPr>
            <a:r>
              <a:rPr sz="1800">
                <a:solidFill>
                  <a:srgbClr val="C2C9E6"/>
                </a:solidFill>
                <a:latin typeface="Markazi Text"/>
                <a:ea typeface="Markazi Text"/>
                <a:cs typeface="Markazi Text"/>
              </a:rPr>
              <a:t>‏أكثر من يفشل في تبنّي هذه الأدوات هو من يبحث عن «ماذا أفعل بها»؛ وأكثر من ينجح هو من يبدأ من مهمة متكررة مزعجة ويسأل: هل يمكن اختصارها؟‏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125304883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1d7ab555b40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C4B8CD9-CA03-45E4-A7F3-B446063B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89‏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C474F3F-93BF-4B77-A85A-E4D3AE45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48B3A9-1585-4DF1-A5C1-C779C838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‏منهجية اكتشاف فرص الاستخدام‏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A833801-472D-4E86-AE7A-E1DC11F2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0565246-EBA4-4310-9C2F-FFB90D6A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AAFFB5-4CE5-4428-B27F-861A1BB6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‏خمس خطوات تنتقل بك من الحماس العام إلى فرصة محددة قابلة للتنفيذ.‏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5C7D182-13FF-4D4F-B6AA-C055DBCD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243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C54A498-8AC7-490E-9A14-AAB72DA9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66D394B-16D9-4416-9D90-1769892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00D48E8-D8ED-4210-983F-2820F4C0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971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‏حصر‏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02F89E1-F1AC-4D4E-939D-B135BCA1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115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‏اكتب كل مهامك المتكررة خلال أسبوع عمل نموذجي.‏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176E947-2341-407C-9E1F-75247674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414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41BF09C-410D-4137-8103-2D158A20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19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12EB035-B594-4797-8B55-6EE05C64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D127F81-E2B8-423C-A61D-3F3F2814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142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‏تقييم‏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EBE0837-0008-4E32-9BCC-45F61BF2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286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‏قدّر لكل مهمة: التكرار، الوقت المستهلك، ومستوى المخاطر.‏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9D9D99-44F5-49D1-95A9-709E373A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585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AA0FC96-B1C4-4C8D-80B2-A4F9BC3B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FA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955A5E0-BC8A-44CF-B695-98AB5C6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9FF8BEA-2D57-457A-8744-1002BDEC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313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‏اختيار‏</a:t>
            </a:r>
            <a:endParaRPr sz="17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D523ACF-2C38-4B10-A67C-EBE73FC8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457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‏رتّب المهام على مصفوفة الأثر × السهولة واختر أعلاها.‏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9F4DA6C-910E-4BA4-BBEB-32D70367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757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4A180254-DB8B-4ADE-9EB9-FF7AAC98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2870C0B-280F-478A-AEA3-4A80EA6A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5353AFC-6161-486F-A43C-D9FF4A95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5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‏تجربة‏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0718B23-4615-4FF6-86B9-5BEB44B5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629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‏جرّب على المهمة المختارة أسبوعاً كاملاً وسجّل النتائج.‏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60C735A7-F451-4E34-8F19-131E4A4C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09452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C02FEADE-6759-4A07-B3A4-4B5B8D2E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B0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913E454-7AB3-4156-A6F3-F9061406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003F4D3-DE7D-437A-A60B-B01B956C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‏تعميم‏</a:t>
            </a:r>
            <a:endParaRPr sz="17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7F5A4DE0-88E0-461C-8E7E-26B2F4F1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1856781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‏وثّق الأمر الناجح وشاركه مع فريقك ليستفيد منه.‏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03B681F-BD98-42A4-986D-277CC30C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0565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2AC765FB-6C65-4630-94D5-58272863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2245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7527D663-CD60-460F-B7EA-2526C592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25196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F30D928-8D2C-45D5-A9A6-DD19D689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5137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‏ابدأ بمهمة واحدة فقط — التبنّي الناجح تدريجي لا شامل.‏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942004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11f18fb8c4b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3042547-4601-4BA8-8ED0-39B97794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3A60336-2FFA-4A13-B3B1-619D63C9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10C7CBB-F069-41B3-AC77-680B84FA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‏خريطة مهامك الأسبوعية‏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4ED5BF3-FEB2-40ED-8F82-9E8797DB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3056E50-EEA7-40D1-8EF0-95388ED8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FC3C506-6DEC-4CAD-8A5A-597F350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‏صنّف مهامك إلى ست عائلات ثم ابحث عن الفرص داخل كل عائلة.‏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F25D81A-0320-46A0-9AFE-4BAF5E4B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85E822-A3A6-4D19-A953-98E4DAAD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5E69814-453F-45CC-A2E3-AEA72916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8E99104-B7E9-46F4-9505-BCBC76F2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‏الكتابة والمراسلات‏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0A04641-8FAA-481B-84EF-33A395DC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‏الخطابات، المذكرات، الردود، التعاميم، محتوى التواصل الداخلي.‏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CD488AA-86C6-4167-9BD6-A7B635C1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37DFB7F-C611-4373-A118-498A2FB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3438F0E-7500-40CC-A678-C21B2DC3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9CF7343-9250-471E-8077-09B9471F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‏القراءة والتلخيص‏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F984827-8F22-4775-9F3D-0F095A9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‏التقارير الواردة، الدراسات، المحاضر، العروض، الوثائق الطويلة.‏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8358D0C-EA6D-4C6D-AF19-D9B54628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DCA2393-03B1-44B3-A101-E4F67131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999972F-CBB3-415A-8DC3-AB6BE340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E554196-6CAE-478E-818D-0FCD76C0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‏التنظيم والتخطيط‏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A62E826-B07A-4225-B94B-C450F440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‏الأجندات، خطط العمل، قوائم المهام، التقويم، المتابعة.‏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BDC5F69-F0F9-489E-AB1F-6D3173C7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B94BB4FB-0C46-46AB-8FF4-E7AE5074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D0B096B7-DB78-4614-BD45-DE6577FF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7FBCE10-EB84-448A-A495-3358D614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‏البيانات والجداول‏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0DF5330-B2D4-4919-AC06-A28C8E7E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‏التقارير الدورية، الإحصاءات، التصنيف، المقارنة، الاستخلاص.‏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2B62E21-3164-4D60-A2A2-F0ED6BB9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CEE1B5C-34D5-487E-8932-3ECDDF84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BFFBA46-F75C-4EBD-8C93-A3E8A529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7BF346F-81AD-4433-8624-1B723A06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‏الاجتماعات‏</a:t>
            </a:r>
            <a:endParaRPr sz="16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FA97FAB1-CDB7-48BD-BBF2-A7BB1CC8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‏التحضير، التفريغ، المحاضر، القرارات، رسائل المتابعة.‏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58F8E58-C065-4471-99DF-598A4A47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28DF9160-666D-48A2-B9A3-8ABF486B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E48616E9-8010-4705-8AF8-BADCDD6E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604FE39F-2370-4C7A-9424-E2C39451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‏التواصل مع المستفيدين‏</a:t>
            </a:r>
            <a:endParaRPr sz="16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17C5B615-BC0B-4FAA-99F5-701317D1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‏الردود المتكررة، الأسئلة الشائعة، أدلة الخدمة، رسائل الإشعار.‏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01437898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d1943f2b342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39091AD-B427-4B98-83CE-49F4FF5E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91‏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7AB6FBD-B66F-4A6F-863C-5653BE9F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9ACACF-B274-4828-BA88-12667646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‏معايير اختيار المهمة المناسبة‏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02BDB4E-EFDF-41A2-B9C3-BCD312DC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6CEC3EB-3583-44FB-9683-2DF234E8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22A1BDF-02A3-4F03-A12B-882A1B4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‏أربعة معايير تميّز الفرصة الجيدة عن المضيعة للوقت.‏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B0AA731-85A7-471A-80E5-6C0F0EFC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B5784EE-EA7C-4C4B-B514-872C7D76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4F87D05-E9D3-40CE-BE7C-E02CAA7D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63EF38E-CF0E-4286-989B-78BF573F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‏التكرار العالي‏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954F30-27AC-41D0-8175-81F8A175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‏مهمة تتكرر أسبوعياً أو يومياً — العائد يتضاعف مع كل تكرار، والتعلّم يتراكم.‏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D93A36E-9895-4697-9FC0-41279B96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5FF5624-19CD-4112-ADA1-234238F4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20F0820-77AC-4B83-91FE-33BFBB31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0C54D9C-A5A4-4A4B-9E02-76772C25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‏الوقت المستهلك‏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5972DC1-EFF9-4EEC-888D-B9AD54F1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‏مهمة تستهلك وقتاً أطول مما تستحق مقارنةً بقيمتها الفعلية.‏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C8185C9-2058-4ABB-8A1D-FF9752A7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3BFCFC7-FFA1-4403-8673-B5B26B6D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9765A36-6761-4AFC-BC32-9E84B617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EF382DB-86B2-4030-901E-C04D59AB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‏المخاطر المنخفضة‏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EE52FF7-55AC-4E98-8AFB-B51AFA18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‏خطؤها قابل للاكتشاف والتصحيح قبل أن يصل لأي جهة أو قرار.‏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062A191-1CD2-4568-B303-F1DCC673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27BD70E5-158B-4BE2-90F6-4C3A3C1B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A590ADE2-3E8F-4A23-91E9-5CC0EDEA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F2E62F5-4D0F-4CAD-B926-D9088F9D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‏قابلية الوصف‏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DB40F94-04B9-4D36-B7F4-36A9B8B9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‏تستطيع شرحها لزميل جديد في خمس جمل — إن استطعت، يستطيع النموذج تنفيذها.‏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6C244EF-37CB-41C9-88D5-2B5A6F33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E2F3163-0CAF-48EA-85B2-BCAC16A2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4864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1E1193C-A817-406C-B4EE-FB411D91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5138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9A7553E3-7F9A-45DC-B209-FE8AB7EF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132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‏المهمة المثالية للبداية: متكررة، مستهلكة للوقت، منخفضة المخاطر، وسهلة الوصف.‏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6493288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17fb9021d4e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F0DF808-4EB7-4B4D-A667-332E7033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9747C17-5DBA-4F7D-AD75-93981E32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CD81AAA-FAC9-4F86-935F-AEB06D1B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‏مصفوفة الأولوية: الأثر × السهولة‏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7CC5C4D-69FB-49D5-B5E6-1431A7BA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1574DFA-9FCD-4A5E-BB6C-29B5E968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10746DF-406E-4C05-B8FC-24D50D6B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‏رتّب فرصك بدل تجريبها كلها في وقت واحد.‏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88FDF43-E2FE-4522-BD01-E8640314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0658A88-707B-427B-9B35-EF184BB8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0FBF325-14CF-4C9F-8A62-01D01AF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9FF8B54-6EFA-464F-AAA6-C8003497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‏ابدأ هنا — أثر عالٍ وسهولة عالية‏</a:t>
            </a:r>
            <a:endParaRPr sz="19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9EF4D05-D887-45E2-B5AA-255279C0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A2C1301-50BB-41FD-81FC-10F4B1B7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‏صياغة الردود المتكررة على الاستفسارات.‏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675EE45-84CE-4809-996B-4A704116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4659044-D956-4BBA-885D-AD24D1EF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‏تلخيص التقارير الواردة قبل قراءتها كاملة.‏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FB54442-030A-4A11-BD67-13D3C3C0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4DAFCDE-FCB3-4D0B-9B54-BA086274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‏تحويل ملاحظات الاجتماعات إلى محاضر.‏</a:t>
            </a:r>
            <a:endParaRPr sz="15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218CC99-78C8-4E3E-9058-D89E1008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7E403CF-BD91-4513-9EEE-A8914F78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‏إعادة صياغة المسودات وضبط نبرتها.‏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C873601-A70D-44D9-837A-7A7F95AD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8B1021C-CC3D-4F48-9B0A-58426EDC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‏توليد بدائل للعناوين والصياغات.‏</a:t>
            </a:r>
            <a:endParaRPr sz="15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649D2CB-025A-46D4-A1B8-8AD06DE4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9B8F35E-EFED-493C-8ED6-817141A1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F84FC67-11CF-4B8C-A208-69051095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178C54F-B26D-4DD5-A879-835040B5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‏أجّلها — أثر عالٍ وصعوبة عالية‏</a:t>
            </a:r>
            <a:endParaRPr sz="19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B6DFAD53-2BDA-478B-BE85-661DA9A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58A6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C18EBD4-584D-4511-9764-F91ED9E2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‏أتمتة إجراء كامل عبر عدة أنظمة.‏</a:t>
            </a:r>
            <a:endParaRPr sz="15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5FE311F-7B11-40CF-BC89-C9F9066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58A6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7C7CB70-8CE0-42B7-A7AD-AB227FAF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‏تحليل بيانات مصنّفة أو حساسة.‏</a:t>
            </a:r>
            <a:endParaRPr sz="15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B13934C-D0BC-4DF7-9235-FF560492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58A6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98E72A5-2E86-478A-9F2D-C1CF3FF2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‏إنتاج محتوى رسمي يُنشر دون مراجعة.‏</a:t>
            </a:r>
            <a:endParaRPr sz="15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BC15B21F-E6B0-4ACA-A1B3-3FC81CB8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58A6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86C8E3C-2AB1-426F-8EEB-09D9BC93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‏مهام تتطلب ربطاً بأنظمة الجهة الداخلية.‏</a:t>
            </a:r>
            <a:endParaRPr sz="15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661EB48D-0CB7-4D36-B0B4-0C049B33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58A6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F0D7589-AC2E-4793-A4B8-1F3F7A80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‏ما يحتاج موافقات وسياسات لم تُعتمد بعد.‏</a:t>
            </a:r>
            <a:endParaRPr sz="155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CACB1D70-4AD8-457B-9E39-0E21484C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B7C1EAD9-CDEA-4135-8B35-32F85915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332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64432D1-AD79-48D7-B1D3-D08DEA00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6072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B85EF828-C1EB-4683-97DE-ED014F6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013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‏الفرص منخفضة الأثر — مهما كانت سهلة — تُترك تماماً في المرحلة الأولى.‏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39577882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e2e88dc4a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CDACD23-B812-4F85-AAD6-4B3D3F58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93‏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607DAF1-0241-4A47-AD60-E9CBF914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17C4F66-05D2-410E-B429-C2D7E96C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‏أمثلة حسب طبيعة الوظيفة‏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2CCE84E-910E-4A20-8F3C-6B1AE195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8B5F193-D0FC-4E14-86D8-227AC625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FD4C618-99B4-46BD-914D-B1AC8660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‏ابحث عن وظيفتك أو أقربها، وابدأ من الفرصة المقترحة.‏</a:t>
            </a:r>
            <a:endParaRPr sz="1600"/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566928" y="1883664"/>
          <a:ext xmlns:a="http://schemas.openxmlformats.org/drawingml/2006/main" cx="11064240" cy="358444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5577840"/>
                <a:gridCol w="2743200"/>
              </a:tblGrid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‏المجال الوظيفي‏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‏فرصة سريعة للبدء‏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‏الوقت المتوقع توفيره‏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‏الموارد البشرية‏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‏صياغة إعلانات وظيفية وردود متكررة على استفسارات الموظفين‏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‏٢–٣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‏المالية والمشتريات‏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‏تلخيص كراسات الشروط ومقارنة العروض في جدول موحّد‏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‏٣–٤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‏الاتصال المؤسسي‏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‏توليد بدائل للعناوين وصياغة محتوى داخلي ومسودات إعلانات‏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‏٢–٤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‏خدمة المستفيدين‏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‏بناء أسئلة شائعة وصياغة ردود موحّدة النبرة‏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‏٣–٥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‏التخطيط والمتابعة‏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‏تحويل التقارير الدورية إلى ملخصات تنفيذية موحّدة‏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‏٢–٣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‏الدعم الإداري‏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‏تحويل ملاحظات الاجتماعات إلى محاضر ورسائل متابعة‏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‏٣–٤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E42239B-1FDB-416B-AC6A-EDEE69B7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961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AA87C23-40E5-49D0-BA91-51F0BD4C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150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B31227C-37D5-4E81-A452-B9E0573A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424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0C1B82D-6998-45C5-9CB0-72596B5C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418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‏الأرقام تقديرية للتخطيط — قِس أثرك الفعلي بنفسك خلال أسبوع التجربة.‏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9885999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ab588bca6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531D019-D5A6-4FA9-A6CC-950DA19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94‏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1D3B182-FE61-4DE9-93B9-3DAE7390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4AC5A07-EE5E-4765-942C-66B35CA4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‏قياس الأثر‏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6FC6216-E43E-4B66-99D2-B79DCF9E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AE35625-2F31-45C5-9CE5-5265982E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8322CEA-A7EF-4ADF-9171-71D416DA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لا يُقاس لا يُتبنّى مؤسسياً — قياس بسيط يكفي.‏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C99B9D4-67E2-4FB6-8F5A-C959A0CB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243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748DDBD-F7EC-432B-8B88-B2902E8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391B34C-C3F3-4D5E-B6A8-80932293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1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3D7D3AF-0780-44CD-9FBF-049D8116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971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‏قِس قبل‏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15126C6-9FE0-46DC-BEA5-16D8E057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115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‏كم دقيقة تستغرق المهمة اليوم؟ سجّل ثلاث مرات وخذ المتوسط.‏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A9C256E-FBFE-4B94-A567-6636B41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414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C12E047-DD94-49A6-A95D-BE363AD6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190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6F165B8-08BC-4382-9C45-CEF282C1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212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EB8AC61-D408-4F50-9D68-DB9ADCFE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142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‏نفّذ‏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0BF2BA6-4A5D-4EDF-B7E7-ED8763C2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286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‏أنجز المهمة بالأداة أسبوعاً كاملاً بالطريقة الجديدة.‏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D343909-AC05-46FD-BCEB-51148F11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585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FB84A13-195D-49C1-809B-D1F3F7F8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FA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D244327-3E6D-48CD-A056-7C2F9D8D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4AFB9C2-4486-4EFA-930A-A7E1BB80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313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‏قِس بعد‏</a:t>
            </a:r>
            <a:endParaRPr sz="17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9FCD9E1-5DAE-4E43-9DCE-73C1860B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457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‏الزمن الجديد شاملاً وقت الصياغة والمراجعة والتصحيح.‏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C451312-96F3-434C-AD77-21FC1720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757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0291B5A6-1D73-44B5-B3B1-C125C16D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4C7F48C-6CE3-4BDE-8A48-343D607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55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963CEBA-03A2-4414-9F35-C893EB39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5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‏قيّم الجودة‏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4412EED-8623-4050-8A34-0ADF9666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629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‏هل تحسّنت الجودة أم تراجعت؟ لا تحتسب توفيراً على حساب الجودة.‏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3C6B0346-EC0C-498D-889E-59A9CCCD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094525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C4310E6-808A-4EB0-A100-4A041B4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194767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B08"/>
          </a:solidFill>
          <a:ln xmlns:a="http://schemas.openxmlformats.org/drawingml/2006/main"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DB1F5FD-8447-467A-9416-A3852719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26" y="2048256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462E9E2B-66DD-4F15-9C90-B64EAE03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615184"/>
            <a:ext cx="187506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‏قرّر‏</a:t>
            </a:r>
            <a:endParaRPr sz="17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3BA21C1-0E77-4FEC-A86B-B9D134D1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1856781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‏اعتمدها كعادة، أو عدّل الأمر، أو أعدها إلى الطريقة السابقة.‏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EEBFC78A-E06B-4D37-886B-488775A7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8853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2EE1554-AAA0-48BB-86BB-F35735D7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40740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BDED5E73-50E0-4B63-969C-CCCAD8FC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43484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6C8061C-BE78-403A-808A-76A38158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3425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‏مؤشر بسيط: الدقائق الموفَّرة أسبوعياً × عدد أسابيع السنة = ساعات معادة لعملك الأهم.‏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13410342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8d237de5544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1CCCF46-DB1B-42E8-8657-BD1CD45A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95‏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7CC5312-3AFA-48F8-8A9D-778FED0C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03FAED9-3B86-4D42-8DCC-0F8D2C2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‏بناء العادة‏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29C08CD-ABBD-4081-978F-2B9BA0DD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B285CE7-53D5-430F-AC08-80547EF7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0F4E80A-ED04-465F-ABAF-642F694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‏الفجوة بين من حضر برنامجاً وبين من غيّر طريقة عمله هي العادة.‏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FABD640-042B-46AB-BAF8-07435121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CD973E6-489B-405C-99D2-4692125D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C2514E2-F2B3-4112-A96C-FAD3E345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51E9AB6-6425-47FB-A9CE-C88349DB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‏اربطها بمُحفّز‏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41C4A8-73CB-4C9D-9DCB-1367A3ED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‏حدّد لحظة ثابتة: «كل تقرير وارد ← ألخّصه قبل قراءته كاملاً».‏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88E7B7C-C52F-4F23-8372-7C6A7A1B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D0EAA82-2300-4765-8DCB-2587F021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43F963F-9D46-4C4A-BC4E-EC884F00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6FA78C5-389C-4F46-ACF9-D9D335F3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‏ابدأ صغيراً‏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993AAFC-DA09-4406-807B-BBC4ED82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‏مهمة واحدة لمدة أسبوعين قبل إضافة الثانية.‏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E9183BA-2C08-4960-ACCC-A126C066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9D60E09-4832-414C-9F37-A2072333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511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DCA7C54-B046-4CD6-B673-0779D11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889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C5B5F3C-AB59-4240-AD81-1268C269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‏خفّض الاحتكاك‏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5306816-20A0-475A-912A-A5A35A4E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181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‏احتفظ بأوامرك الجاهزة في ملف واحد سهل الوصول.‏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590FB5F-4E00-434F-AC79-A5970079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CE58A8-3467-4C61-B59E-4DEFC20F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FC4FC40-4FD1-49AE-8A3A-99108F47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2CB23D3-F8D5-4200-B390-2B382C76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‏سجّل الأثر‏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2FC32EC-92EB-46EC-AF23-90582EC1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‏دوّن الوقت الموفَّر أسبوعياً — الدليل يحافظ على الدافع.‏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1F38ADA-975E-435B-AE58-0A3AA9CA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93FE4AF1-DC6B-4F57-A41A-0918D656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2E0788CF-DF18-4A6A-A573-75335240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72CC327-2A95-4621-B5B2-9760FFFA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‏شارك فريقك‏</a:t>
            </a:r>
            <a:endParaRPr sz="16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42A8245-5C3B-4563-8DF4-B52E90C5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‏الأمر الناجح لديك يوفّر وقت زملائك أيضاً.‏</a:t>
            </a:r>
            <a:endParaRPr sz="14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8BC8C7F7-158D-499C-A168-A5E6DB78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95ED091-CD5C-488A-BB82-8AE45197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416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29FDE66D-05B5-4DEF-B521-F531006A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DA19811-B250-4576-A616-391DC1BA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965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 شهرياً‏</a:t>
            </a:r>
            <a:endParaRPr sz="16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C69C17D6-74DC-4C67-B875-4F332098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نجح؟ ما الذي لم ينجح؟ ما الفرصة التالية؟‏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173590961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ccbc49e904a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7758EAC-7BB1-492B-9175-0B84520A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B742843-97DD-4820-8611-0455B0F8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3892644-25BE-440C-B5EB-E6661170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‏خطة الثلاثين يوماً‏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121C553-2D00-4D9C-BD27-5BE31EC7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84BDBB1-8431-4AB7-9AE4-E0DA3486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7933017-3338-4066-A47E-CA9B9589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‏خارطة تنفيذية واضحة تبدأ من الغد.‏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A62703D-67D4-4E51-A341-C1A0455B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47088"/>
            <a:ext cx="11057839" cy="44805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68A59CD-01F4-4169-9245-6602FD86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1901952"/>
            <a:ext cx="1371600" cy="338328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EE28C52-F9A0-48F5-BF52-4178090A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1901952"/>
            <a:ext cx="137160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١-٣</a:t>
            </a:r>
            <a:endParaRPr sz="13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093B74C-E2A7-4F66-A51C-6958745C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74520"/>
            <a:ext cx="9229039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‏احصر مهامك المتكررة واختر مهمة واحدة منخفضة المخاطر للبدء‏</a:t>
            </a:r>
            <a:endParaRPr sz="1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34E36AC-F097-4AE7-8236-587FEB99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77440"/>
            <a:ext cx="11057839" cy="44805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C96CA90-788B-4A81-A899-BBA1BEB2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432304"/>
            <a:ext cx="1371600" cy="338328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87C5312-650E-44A2-BC8E-A4B4D0F9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432304"/>
            <a:ext cx="137160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٤-٧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CBBD990-3E3D-4220-85BA-91F1BCB8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04872"/>
            <a:ext cx="9229039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‏قِس الزمن الحالي للمهمة ثلاث مرات، وصُغ أمرك الأول بإطار RICE‏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C8A344-51F5-4CCB-8817-07560DBC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07792"/>
            <a:ext cx="11057839" cy="44805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C26CA0E-C9DC-4AD7-8EE7-E83FCF07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962656"/>
            <a:ext cx="1371600" cy="338328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FF31D01-7A2D-446C-93E4-9ADA352E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2962656"/>
            <a:ext cx="137160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٨-١٤</a:t>
            </a:r>
            <a:endParaRPr sz="13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91F8006-B887-49CB-B480-B05F11DE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35224"/>
            <a:ext cx="9229039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‏طبّق يومياً، حسّن الأمر بالحوار التكراري، واحفظ النسخة النهائية‏</a:t>
            </a:r>
            <a:endParaRPr sz="16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C652A61-969F-4DDE-BFC6-7535B0CE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11057839" cy="44805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1F2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D5DAB5-7EFD-4023-82C6-5DF1F124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3493008"/>
            <a:ext cx="1371600" cy="338328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696969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3F82275-537E-4571-BB6C-20869172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3493008"/>
            <a:ext cx="137160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١٥</a:t>
            </a:r>
            <a:endParaRPr sz="13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AABD962-0707-4D91-B91D-3085502F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65576"/>
            <a:ext cx="9229039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‏قِس الأثر: الزمن الجديد وجودة المخرج مقارنةً بالسابق‏</a:t>
            </a:r>
            <a:endParaRPr sz="16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02CE820B-4F83-448D-B7A0-BFFC3CAD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68496"/>
            <a:ext cx="11057839" cy="44805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B580E65-FFF4-4838-B707-2FBBD8C6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4023360"/>
            <a:ext cx="1371600" cy="338328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F42C019-B1BC-457D-AC1D-2658EBF6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4023360"/>
            <a:ext cx="137160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١٦-٢٢</a:t>
            </a:r>
            <a:endParaRPr sz="13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3A541BC-51E3-49AE-BC77-C0421FB6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95928"/>
            <a:ext cx="9229039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‏أضف المهمة الثانية، وطبّق قائمة التحقق قبل كل اعتماد‏</a:t>
            </a:r>
            <a:endParaRPr sz="16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26041A1-5129-407F-A183-AA8B8C60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44805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ADD035AD-BFE2-4454-B88F-76C61C3A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4553712"/>
            <a:ext cx="1371600" cy="338328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93FC34F-95A4-4D7F-A8A1-307F95F0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4553712"/>
            <a:ext cx="137160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٢٣-٢٩</a:t>
            </a:r>
            <a:endParaRPr sz="13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974DE6D-FF2D-47BC-A4D2-065D1F18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26280"/>
            <a:ext cx="9229039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‏شارك أوامرك مع فريقك واجمع ملاحظاتهم على المخرجات‏</a:t>
            </a:r>
            <a:endParaRPr sz="16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13089C73-756F-424F-AF41-C1BBF11F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0"/>
            <a:ext cx="11057839" cy="44805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1F2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4219E7C8-D763-4590-BAC8-DE8DC376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5084064"/>
            <a:ext cx="1371600" cy="338328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696969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7EE443CB-F2DC-4B36-B77D-7128CFE3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39" y="5084064"/>
            <a:ext cx="137160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٣٠</a:t>
            </a:r>
            <a:endParaRPr sz="135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1DCDEDDB-BC5F-4B99-9ACF-42618CE6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56632"/>
            <a:ext cx="9229039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‏راجع الأثر التراكمي واختر فرصتك التالية للشهر القادم‏</a:t>
            </a:r>
            <a:endParaRPr sz="160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FFDFA51D-2C6E-4C56-9820-079AAF35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03750C00-160D-4166-B140-AB0C65F8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332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9ECA549-C84E-4AF7-9489-1EE2F092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6072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5972A625-7BFD-4A10-B927-A52D523D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013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‏مهمتان متقنتان في ثلاثين يوماً أفضل من عشر تجارب متقطعة غير مكتملة.‏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805239255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59e52ff334f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51C87BD-E435-4D75-80CC-B8013F89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97‏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362BE64-5D5F-4ED1-94D2-A241E8CE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‏AI Workplace Challenge‏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CC8C8B2-AE9A-41D9-9CF1-7CDC8BCF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‏بطاقة تحويل مهمة عمل إلى حالة استخدام‏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4BD871E-7D85-45C6-A4D4-0664D2B2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2131D4B-A279-4607-9032-5355E37F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B7D8D43-A608-4472-BF8E-91442C52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‏اختر مهمة متكررة حقيقية، ثم املأ البطاقة دون إدخال بيانات حساسة.‏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CDDF1DC-04F9-4635-BB30-061DA1D4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CA6B270-7925-442F-B7BE-5D1DD452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684F5F9-D440-42B8-AAB1-02DD5779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‏المهمة الحالية: ما الذي أنجزه اليوم؟ ........................................‏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159A21F-73CE-4097-832F-DC35686A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554B664-4184-42D2-9A45-3E39755F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C5884C0-346C-4471-805D-2C844CA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‏الجهد الحالي: التكرار والوقت في كل مرة ................................‏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A087C06-9F1B-4A32-891A-B6C54AC2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2A1784F-DC53-4016-A559-F35246F0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26E9C0E-6495-4BC4-984C-4C8FD3C2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‏نقطة الألم: ما الذي يبطئ المهمة أو يضعف جودتها؟ .....................‏</a:t>
            </a:r>
            <a:endParaRPr sz="15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3215F64-2C41-46C1-9C06-4D4D68E1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550DD2B-95A8-4322-A8F4-00146276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724949A-7BB0-4A9E-B330-EB5480B6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‏دور الذكاء الاصطناعي: توليد / تلخيص / تحليل / تصنيف / صياغة‏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F610B20-6888-4324-93FC-C511C616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DA02A0B-4FC3-4D3E-AA8E-133818E3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F5EA3D5-2852-494A-9594-B4559405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‏حساسية البيانات: عام / داخلي / سري / شخصي‏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DC4D707-5EB1-4972-B1FB-73DB583F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8A29A718-37E0-4FE9-82B3-E041678D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3AA1C01-A059-4098-9B85-DA48C71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‏نقطة المراجعة البشرية: من يراجع؟ ومتى يتوقف الاستخدام؟ ..........‏</a:t>
            </a:r>
            <a:endParaRPr sz="15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4972DB49-F4A5-4193-8D51-C2000446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01B8DA75-097B-425D-A832-AD2B735C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5581373-B92F-4621-9614-1F05E57C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‏المنفعة المتوقعة: وقت / جودة / اتساق / أفكار ........................‏</a:t>
            </a:r>
            <a:endParaRPr sz="15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A36E8DFA-1D50-43B6-982E-48D91FB6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7CA1DAF7-8164-4FF9-8E45-59B09937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A8C527-3948-4455-8355-62638D31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‏أول تجربة آمنة سأجريها هذا الأسبوع: .....................................‏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346702075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685b6fdb640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2F43981-709F-4D10-815D-955FE09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98‏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2209CAC-CA5B-4AD7-A115-7A2258BA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‏مشروع · المحور السادس‏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E83609A-6AA0-46EF-9AC7-B799344F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93204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‏المشروع الختامي: حالة استخدام من عملك‏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2D63230-CD5D-48BB-893F-A606FCE4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572768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BD4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576A3B-CB37-4880-B58E-67564FCC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5727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25 دقيقة‏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F3586-826E-47F9-BAC4-0FF42EA4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20F3A87-C189-4FD3-AC67-7EB0778B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72768"/>
            <a:ext cx="10655503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‏ستقدّم حالة استخدام واحدة من عملك الفعلي، مطبّقاً فيها كل ما تعلّمته في اليومين — دون أي بيانات حقيقية سرية.‏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25588E7-C0FB-4530-88BC-6412FA39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2F21C02-7C88-4CF8-8BF0-F4ED173F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4436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90FFFB6-36D7-408B-896D-55DAEAA8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8094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457EFBF-0ED4-48F5-A2B5-D18C211B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44368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‏اختر المهمة من ورقة خطتك الشخصية وصفها في ثلاث جمل.‏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D6F4499-F3F9-4160-B35D-170CAF7F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38144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5BB1755-5577-4427-8BB4-8780FA7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74720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5DEC4D2-241E-44D0-A897-1F24B442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‏اعرض طلبك بالعناصر الأربعة، وبيّن كيف حسّنته بعد مراجعة المخرج.‏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168D8CC-F828-4717-8BAD-1F43731B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31920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F13A2F-B89F-4A10-879A-01712797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68496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EFF6E38-34F4-4EA9-B3F7-D514B9CC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‏اعرض المخرج قبل المراجعة وبعدها، وبيّن ما صحّحته ولماذا.‏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2DD8FBE-8994-43EC-9B1E-957ED53D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25696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BF677F2-26CA-45D8-9399-F139FB25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62272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9A78ABD-5384-4A1F-9C2A-9C2680B2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‏اذكر تصنيف البيانات ومستوى المخاطر والإجراء الوقائي الذي اتخذته.‏</a:t>
            </a:r>
            <a:endParaRPr sz="1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5615F48-8B26-472F-A22D-085588B2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19472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F8C7A8B-51E1-4E56-9819-32F72480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56048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FEF5DD5-295C-4ACF-A958-09CFF8CF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‏قدّر الوقت الموفَّر أسبوعياً وسنوياً، واذكر أثر ذلك على عملك الأهم.‏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939DEF5-0622-4E3E-898D-7F004D6F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11057839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0AD3F01-DD62-4F2F-8418-93A28BE9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59552"/>
            <a:ext cx="10655503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عرض من ثلاث دقائق أمام المجموعة — وحالة استخدام جاهزة للتطبيق فور عودتك لمكتبك.‏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73606531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59fa553424d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F7DCAE9-0560-446F-99E2-6DC62F27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99‏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33AA13C-08A4-4AC5-B705-7C3B8E12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D3A1076-EB80-4DF5-ABF6-6049CA44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‏معايير تقييم المشروع الختامي‏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0248671-7CB7-4D6A-A772-F9CBECD7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94A211E-D621-4B63-9DED-8AFDDC58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graphicFrame>
        <p:nvGraphicFramePr>
          <p:cNvPr id="21" name="Table 0"/>
          <p:cNvGraphicFramePr/>
          <p:nvPr/>
        </p:nvGraphicFramePr>
        <p:xfrm>
          <a:off xmlns:a="http://schemas.openxmlformats.org/drawingml/2006/main" x="566928" y="1517904"/>
          <a:ext xmlns:a="http://schemas.openxmlformats.org/drawingml/2006/main" cx="11064240" cy="340156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8960"/>
                <a:gridCol w="5852160"/>
                <a:gridCol w="2103120"/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‏المعيار‏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‏ما يُنظر إليه‏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‏الوزن‏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‏واقعية الحالة‏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‏مهمة حقيقية متكررة من عمل المشارك لا مثال افتراضي‏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‏٢٥٪‏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‏جودة الأمر‏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‏اكتمال عناصر RICE ووضوح التعليمة وتقييد المصدر‏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‏٢٥٪‏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‏التحقق من المخرج‏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‏تطبيق المنهجية الخماسية وبيان ما صُحِّح ولماذا‏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‏٢٥٪‏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‏الالتزام بالضوابط‏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‏تصنيف البيانات، مستوى المخاطر، والإجراء الوقائي‏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‏١٥٪‏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‏قياس الأثر‏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‏تقدير مبني على قياس فعلي لا انطباع عام‏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‏١٠٪‏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5A103390-7EF5-492E-858C-4933053E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93792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D1C78A8-19EB-4522-B0B7-BEF3C42C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1266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BCB5E5F-3BE7-4BF2-8B79-CADFCC54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40096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20C9762-CDF3-4BAA-B819-5C4E1A24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39512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‏الاجتياز بنسبة ٦٠٪ فأعلى مع حضور لا يقل عن ٨٠٪ من ساعات البرنامج.‏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7023624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1c991b0d845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50328BE-D48D-4189-81F5-D618CF89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100‏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90F35AC-AF2E-4DAA-BC78-6B270058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8472F34-7EE4-4621-A2FF-9A1C72E9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السادس‏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3E21FBF-988E-4257-B561-F6BFA8FD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0456D94-8A16-4DB1-8255-B943F10F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9FD63E6-FA80-41F6-999F-7A2EDD8E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0268B44-5B3D-40B7-8983-C584A841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54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نقطة البداية الصحيحة لتبنّي الذكاء الاصطناعي في عملك هي:‏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D8B8443-FFE2-4C7E-B2B9-8EF0B48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73358DF-3BD0-4E71-9972-A8A56737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اختيار أحدث أداة‏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889452A-9942-4D91-B8C8-694BDBEB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0C15AA7-658A-46D8-A561-38B1C980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تحديد مهمة متكررة تستنزف وقتك‏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9CCD51F-AB7A-4B27-805B-FCE51D07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DC71C12-F117-4E69-BD5B-9F5147EA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حضور دورات إضافية‏</a:t>
            </a:r>
            <a:endParaRPr sz="14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153CA88-A0FE-4B99-B50E-73833CBF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7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7B6AFDF-930F-42CB-9CCB-3BCBC507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78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المهمة المثالية للبدء تكون:‏</a:t>
            </a:r>
            <a:endParaRPr sz="17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D67CFA8-AB2E-453B-88B7-0405734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9DE2E0F-B710-41EE-8BBB-4FA8CD0B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نادرة وعالية المخاطر‏</a:t>
            </a:r>
            <a:endParaRPr sz="14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8F5FEE2-1B15-41E6-8A8C-76FF408F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2C76526-97FE-4A51-BB9F-83060AFE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متكررة ومنخفضة المخاطر وسهلة الوصف‏</a:t>
            </a:r>
            <a:endParaRPr sz="14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DACC505-AFD2-4E18-B9FB-2EF6E874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A67523A-0E6F-494C-84D0-6943B94E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معقّدة وتحتاج عدة أنظمة‏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1C53EF3-9612-4F1E-814E-12B1C7D2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11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5FAD155-546B-44D5-81EC-D92585D2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02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قياس الأثر يبدأ بـ:‏</a:t>
            </a:r>
            <a:endParaRPr sz="17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B81ED03-4840-4B3F-8966-CDC248D6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8A54916-FEE7-4E13-9321-623010E7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‏أ.  قياس الزمن قبل الاستخدام‏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075FBDF-6E6F-415F-A577-4D5E4129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8EB329-04C8-4036-9322-86F8BE5C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قياس الزمن بعد الاستخدام‏</a:t>
            </a:r>
            <a:endParaRPr sz="14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8E54DC9E-5C6B-4226-840F-91EBA174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C3836C5-B9B4-4BE1-8B5F-EF938133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سؤال الزملاء عن انطباعهم‏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61709803"/>
      </p:ext>
    </p:extLst>
  </p:cSld>
</p:sld>
</file>

<file path=ppt/slides/slide10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c35acf247394fb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c29c9a7504d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D358F276-4909-44EF-8079-B20B959B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932688"/>
            <a:ext cx="1325880" cy="1325880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41090C4-BDF3-4731-95B1-58B24F6B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1060704"/>
            <a:ext cx="1325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‏٧‏</a:t>
            </a:r>
            <a:endParaRPr sz="6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372117-05AB-4DDA-AA99-713C304B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687" y="2487168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EF1F343-06F4-4698-98B5-5E97B07B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98064"/>
            <a:ext cx="11057839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‏الخلاصة والتقييم الختامي‏</a:t>
            </a:r>
            <a:endParaRPr sz="4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71017C1-4B4F-432E-AEEC-17416A46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97776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‏مراجعة نواتج التعلّم، التقويم النهائي، والمسار التالي في أكاديمية سدايا.‏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497EFB6-C79D-4EE8-995A-DBAF2EC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035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A327A46-882A-4321-8D5D-66635081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339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‏مراجعة نواتج التعلّم‏</a:t>
            </a:r>
            <a:endParaRPr sz="14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AFE1B73-A828-488B-A7FF-E2267C4F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2CADD2F-11D5-44B0-ACE7-608CEF19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‏التقييم الختامي‏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E9FD0A6-08EB-43A8-B3B5-38568283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4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BBA90F1-BDB0-4496-A407-14138CB1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‏المسار التالي‏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504AEC-78C9-4F39-A585-F943F510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C3403FC-D567-4274-B13A-69035306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‏الشهادة والمصادر‏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880632788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fb722f7eb4c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86D05BA-AE34-476A-952D-CFF60019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5EAC74C-81A4-4B1B-B5D4-9803C0F5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‏هل تحقّقت؟‏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E6516F0-DC11-4CE1-92E6-74562D9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‏مراجعة نواتج التعلّم‏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394A969-4F95-4E94-916F-4830988B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169C5B6-3A6C-4D78-8F07-07DE7C3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8253450-CF5C-4B73-B315-765F855D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‏راجع كل ناتج وقيّم مستوى إتقانك له من ١ إلى ٥.‏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E6D4A2C-EAAD-4E7C-8D01-8041AE83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1C56699-98C9-412D-BC83-0F2B089D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00253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6586822-7B5A-4414-9E63-B88D848A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2938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‏شرح مفهوم الذكاء الاصطناعي‏</a:t>
            </a:r>
            <a:endParaRPr sz="18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8DD08A0-69CF-4880-A2F0-498F6481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21992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الأول — التعريف، تعلّم الآلة، النماذج اللغوية، وتصحيح المفاهيم.‏</a:t>
            </a:r>
            <a:endParaRPr sz="15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A4215F3-D92F-4C76-9C5A-987DD518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6700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FE96686-6E5D-4FBC-87CA-CBDC67D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2697480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379AB8B-7B6C-4F96-84F4-E5E30BCE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24328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‏التمييز بين أنواع التطبيقات‏</a:t>
            </a:r>
            <a:endParaRPr sz="18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1F594B7-5D1D-48CE-ABC9-9394F41B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16936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الثاني — العائلات الأربع والمساعدات المحادثية والذكاء المدمج.‏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8867956-F57E-4760-AA03-D35359F4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3649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DFD2E6B-092A-4E82-9654-2E410343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3392424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E37629D-BE96-413E-8A5E-C35AD4B4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9272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‏تحديد الفرص العملية‏</a:t>
            </a:r>
            <a:endParaRPr sz="18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0A287DC-5537-4152-AD2D-2B8EF645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11880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السادس — منهجية الاكتشاف ومصفوفة الأولوية وخريطة المهام.‏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51A68CA-4388-41A6-89D9-B7E526B6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0599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353C251-1DCC-481F-888E-9938BE43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087368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68ADBFA-63F7-43AF-BFC6-E0B97F25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14216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‏استخدام المساعدات الذكية‏</a:t>
            </a:r>
            <a:endParaRPr sz="18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C1A9679-989D-4BAC-A87A-040AF5FA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06824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الثالث — إطار RICE والحوار التكراري ومكتبة الأوامر.‏</a:t>
            </a:r>
            <a:endParaRPr sz="15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1A6B1083-75AB-41DF-8AA2-7BC26D9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7548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70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C41CA2B-87A0-4CDE-B140-C98290F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4782312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4EF4EB8-F0A5-45F9-9618-BAFD41A5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09160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‏إدراك الحدود والتحقق‏</a:t>
            </a:r>
            <a:endParaRPr sz="18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85DA4F9-EEB4-45CE-AA23-78DE3ADF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01768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الرابع — الهلوسة والتحيّز والمنهجية الخماسية ومستويات المخاطر.‏</a:t>
            </a:r>
            <a:endParaRPr sz="15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38ECDD99-77CA-4527-9414-6A887B43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49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74A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279ABD8-A0C1-45D8-841A-D1BB442F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71" y="5477256"/>
            <a:ext cx="310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B3274A9-12C0-48DE-A71F-2187B42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04104"/>
            <a:ext cx="105823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‏تطبيق الممارسات الآمنة‏</a:t>
            </a:r>
            <a:endParaRPr sz="18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015EC1F-A1A7-4315-962A-0513670A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96712"/>
            <a:ext cx="1058235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الخامس — تصنيف البيانات والمبادئ الأخلاقية وسياسة الاستخدام.‏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73524765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e434653bb42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98E9771-B1E0-45AB-B250-145D203E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103‏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C3A7954-605E-4962-8E2B-FC7A5764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‏خلاصة اليومين‏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02C4313-D7A1-4254-817D-D388803E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‏عشر رسائل تخرج بها‏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472F8EC-AB47-4831-80C3-E66CB367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AE229A4-77B1-41CC-B993-630B6E6B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033292E-1DA2-4527-B37A-FB0E8B38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873" y="2368296"/>
            <a:ext cx="207989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F53DCB6-41B6-47DD-8D5A-43F7B5E4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873" y="2368296"/>
            <a:ext cx="207989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8EA359D-E4EC-4C61-AD08-ED677F4F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873" y="2606040"/>
            <a:ext cx="207989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9759DA9-06FD-4AC7-B732-48D01A66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177" y="2423160"/>
            <a:ext cx="178728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‏١‏</a:t>
            </a:r>
            <a:endParaRPr sz="16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3988E9-DB25-4B0F-A50C-E5138947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177" y="2935224"/>
            <a:ext cx="178728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‏الذكاء الاصطناعي أداة عمل لا تخصصاً تقنياً.‏</a:t>
            </a:r>
            <a:endParaRPr sz="1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47BD4DA-962A-4E82-A4AC-EB6B3250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387" y="2368296"/>
            <a:ext cx="207989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0DD74CA-5F8B-4DC7-9760-647E3B2E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387" y="2368296"/>
            <a:ext cx="207989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3DA8208-6C67-4C0A-8F23-E2843B46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387" y="2606040"/>
            <a:ext cx="207989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6898E8B-D04F-40F2-A604-9798F196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691" y="2423160"/>
            <a:ext cx="178728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‏٢‏</a:t>
            </a:r>
            <a:endParaRPr sz="1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B7F59D3-C234-42A3-85B2-1F183C8B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691" y="2935224"/>
            <a:ext cx="178728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‏ابدأ من المهمة لا من الأداة.‏</a:t>
            </a:r>
            <a:endParaRPr sz="14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32C13FB-20C1-4C49-B7EF-4AFC83CF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00" y="2368296"/>
            <a:ext cx="207989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D7CC03C-9E5E-4361-BB17-A220FDF6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00" y="2368296"/>
            <a:ext cx="207989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0C2282E-7BB1-4FED-B946-7A9C749A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00" y="2606040"/>
            <a:ext cx="207989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1591C61-5200-4626-9E6F-3171EC3A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204" y="2423160"/>
            <a:ext cx="178728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‏٣‏</a:t>
            </a:r>
            <a:endParaRPr sz="1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0D8D07D-8619-4DB0-8EC9-B045B23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204" y="2935224"/>
            <a:ext cx="178728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‏جودة المخرج تتبع جودة الأمر.‏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DA3E53E-3EEA-43FF-A6BE-AF5A6EAA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414" y="2368296"/>
            <a:ext cx="207989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BB57115-B9C1-4144-94A6-6D06093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414" y="2368296"/>
            <a:ext cx="207989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57E22AD-F0B2-45B9-BD0E-0DAB2A5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414" y="2606040"/>
            <a:ext cx="207989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4E36A87-5D30-41CE-ACEB-3C850EFF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718" y="2423160"/>
            <a:ext cx="178728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‏٤‏</a:t>
            </a:r>
            <a:endParaRPr sz="16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954E781-7983-4AB1-A738-F2FC99F9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718" y="2935224"/>
            <a:ext cx="178728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‏إطار RICE هو صديقك الدائم.‏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3B5D2A2-5143-41FC-9D8C-1D7C20D9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207989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22CEBB95-8A63-40BF-AB52-4EEA78E2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68296"/>
            <a:ext cx="207989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3456F39-9A66-4443-8B46-376061A3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06040"/>
            <a:ext cx="207989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F241659-D23A-4FF7-AB7F-FD595224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23160"/>
            <a:ext cx="178728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‏٥‏</a:t>
            </a:r>
            <a:endParaRPr sz="16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4F51791C-C1BE-4F81-81C1-F69E1AF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35224"/>
            <a:ext cx="178728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تقبل الإجابة الأولى.‏</a:t>
            </a:r>
            <a:endParaRPr sz="14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F32C234-A8B3-4D84-AE18-E19A6391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873" y="3858768"/>
            <a:ext cx="207989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D38BAEDE-4EBE-4E07-A4CE-F46A5955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873" y="3858768"/>
            <a:ext cx="207989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3C2D59BC-9A58-45CE-ADCE-1F5EBF7D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873" y="4096512"/>
            <a:ext cx="207989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DF799A69-E2A7-4C61-9FB2-6720A673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177" y="3913632"/>
            <a:ext cx="178728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‏٦‏</a:t>
            </a:r>
            <a:endParaRPr sz="16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33B325FC-529A-41CE-BB6E-37B9CD56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177" y="4425696"/>
            <a:ext cx="178728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‏الأداة تخطئ بثقة ولا تحذّرك.‏</a:t>
            </a:r>
            <a:endParaRPr sz="14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2CF837-A773-4334-A170-C08947A4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387" y="3858768"/>
            <a:ext cx="207989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554128AC-794F-4463-B44F-508708EE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387" y="3858768"/>
            <a:ext cx="207989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17793C8D-E0A7-4A6A-8C87-3613B2B1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387" y="4096512"/>
            <a:ext cx="207989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430BB31E-AAF0-493F-A72A-819CED41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691" y="3913632"/>
            <a:ext cx="178728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‏٧‏</a:t>
            </a:r>
            <a:endParaRPr sz="16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23533F9-349A-476A-9F80-D46AA676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691" y="4425696"/>
            <a:ext cx="178728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‏التحقق جزء من العمل لا إضافة له.‏</a:t>
            </a:r>
            <a:endParaRPr sz="145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7404F8E5-3D1C-4F5A-8BCF-6337DE6E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00" y="3858768"/>
            <a:ext cx="207989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9457428C-5FAB-44CA-AFC6-06B4DC55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00" y="3858768"/>
            <a:ext cx="207989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947D3D24-34D5-4D27-8FC0-D3B14A03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00" y="4096512"/>
            <a:ext cx="207989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B6CDC254-156B-4645-A3C7-AC778703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204" y="3913632"/>
            <a:ext cx="178728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‏٨‏</a:t>
            </a:r>
            <a:endParaRPr sz="165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B1306C13-F7D5-40C1-A887-9476BE75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204" y="4425696"/>
            <a:ext cx="178728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تُدخل ما لا تقبل ظهوره خارج جهتك.‏</a:t>
            </a:r>
            <a:endParaRPr sz="1450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B81568D7-3422-45C7-87F2-A7A3D906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414" y="3858768"/>
            <a:ext cx="207989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F4A5F996-1DBD-446A-8B55-AC8C706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414" y="3858768"/>
            <a:ext cx="207989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0E9E6032-7BA8-4A7C-ACC8-C6FCF583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414" y="4096512"/>
            <a:ext cx="207989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4C72B31B-2811-40B5-ABD1-AE83EE2B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718" y="3913632"/>
            <a:ext cx="178728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‏٩‏</a:t>
            </a:r>
            <a:endParaRPr sz="1650"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F6252AF9-2E43-4934-AE1B-7494FB1A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718" y="4425696"/>
            <a:ext cx="178728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‏المسؤولية بشرية ولا تُفوَّض.‏</a:t>
            </a:r>
            <a:endParaRPr sz="1450"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2E7AE3E6-3E39-4E13-A156-81EDBA31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07989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E6305D9F-DDDB-4381-9D0F-F0DB84C4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07989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7A719D32-13D1-4980-A803-F9F577D7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96512"/>
            <a:ext cx="207989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D2FC24C7-7545-499A-9E32-36EA4671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13632"/>
            <a:ext cx="178728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‏١٠‏</a:t>
            </a:r>
            <a:endParaRPr sz="1650"/>
          </a:p>
        </p:txBody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B022AD0D-4080-4EBE-B663-570D99E9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25696"/>
            <a:ext cx="178728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‏العادة الصغيرة المستمرة تتفوّق على الحماس المؤقت.‏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77893974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5332daa6243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797F228-ABA4-4A77-B804-176902E4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104‏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D6A2DEC-5413-4F3A-8719-6D51260C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‏اختر الإجابة الصحيحة‏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7788978-6CD8-455E-BA44-200F6A14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‏التقييم الختامي (١ من ٣)‏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56F7945-1F23-440E-9D6A-53694DBE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B93769D-5AD3-49C5-A3D2-21ED3C81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5F4D105-468F-47C0-B2DF-C06CDFB2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1014984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458C950-8CF1-44EB-A361-C4F680B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54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الفارق الجوهري بين البرمجة التقليدية والذكاء الاصطناعي هو:‏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4E23EF9-03B4-477E-94DE-40857467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1920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5CD28F7-4D12-4AF0-99AF-80F5798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1975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سرعة المعالجة‏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740E33F-A864-4B75-B37D-45076A77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20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AB502D3-1A5B-4E97-A0BB-6B137444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1975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من يكتب القواعد: الإنسان أم النظام‏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38F9447-0A24-49C4-863C-7B4F3D1F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88ED2FA-97F8-4EAE-B270-119A507F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75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حجم الملفات‏</a:t>
            </a:r>
            <a:endParaRPr sz="14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001DCFA-9EB3-469B-89C2-B07E5453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06040"/>
            <a:ext cx="11057839" cy="1014984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8334EAE-B3FF-4763-8532-B3B566E1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97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المهمة التي تدرّب عليها النموذج اللغوي الكبير أساساً هي:‏</a:t>
            </a:r>
            <a:endParaRPr sz="17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25BAB2C-B189-40D1-89A7-391DC244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3063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5105252-A330-4F04-B73C-04031502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3118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‏أ.  التنبؤ بالكلمة التالية‏</a:t>
            </a:r>
            <a:endParaRPr sz="14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2D3B61E-E2E0-47EE-9B67-F9F4D18A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3063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1E3BF76-529B-4EC6-B6F4-4973C3BD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3118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البحث في قواعد البيانات‏</a:t>
            </a:r>
            <a:endParaRPr sz="14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A7E410C-B62C-4AC8-9AA9-CD8B39A7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63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5303CE9-7904-46AB-A43B-4D41EBB0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118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التحقق من صحة المعلومات‏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E0E3B85-FCC4-45A9-B17C-14D67C84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49040"/>
            <a:ext cx="11057839" cy="1014984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5836E43-E2DC-40D9-93A8-C6454A1C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40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أي أداة تتكامل مباشرة مع مستنداتك في Microsoft 365؟‏</a:t>
            </a:r>
            <a:endParaRPr sz="17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C5CA910-5A5F-4B07-A373-B0D58CA9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4206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0D427A5-B8BC-4940-A3AC-8E85E6DA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4261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ChatGPT‏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2A3D1431-CCF6-482D-9C33-E151342E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4206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2690DF3-BEAE-4E5B-8973-0050C5FF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4261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Microsoft Copilot‏</a:t>
            </a:r>
            <a:endParaRPr sz="14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BB2CED28-62BE-4B06-A25F-8E170BAD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06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0729968D-3077-47EE-AB5F-838F4A74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61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أداة تفريغ صوتي‏</a:t>
            </a:r>
            <a:endParaRPr sz="145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E2A6990-4D68-44E0-9D1B-DA7FAE87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11057839" cy="1014984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213A5AC-5865-40FB-A272-BB2EAF89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83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‏س4.  ماذا يمثّل الحرف R في إطار RICE؟‏</a:t>
            </a:r>
            <a:endParaRPr sz="170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0058FC0-8BF1-42EE-9CA7-730ADDC1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5349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69EE93EE-2DF8-42CC-B684-88C6733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5404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‏أ.  الدور (Role)‏</a:t>
            </a:r>
            <a:endParaRPr sz="145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83EABB4B-6F02-4A28-84D2-8C930000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5349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7921E1D9-D817-4329-8CB1-F4FA897B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5404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المراجعة (Review)‏</a:t>
            </a:r>
            <a:endParaRPr sz="14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94E31059-1591-4CA5-BBB9-2A6C8C6A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349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E329E90A-2738-4C0D-A09D-ABD16EF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404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النتيجة (Result)‏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808051562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e09df084a4a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94B7109-D277-4EFB-9C9D-A2AA45E2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105‏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46D33EC-9843-4036-83B5-FCFEC376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‏اختر الإجابة الصحيحة‏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87C84E7-0CA5-4D6A-B541-F1CF788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‏التقييم الختامي (٢ من ٣)‏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3B68400-749B-4F27-8E50-9DA7ABEC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D8062F9-6F7E-4133-A632-709BE0EA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5E26EB9-CFBC-4E2F-A752-E69048E0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1014984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6CE8F3E-D92C-4C7F-86C9-12A915D8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54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«الهلوسة» تعني:‏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D74ABDC-1F95-4D7F-9D67-9C2C3F26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1920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CB729F7-67F3-41CB-90DF-6DF4A518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1975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بطء في الاستجابة‏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9E8F4A8-1DF9-485E-871A-BFD7D672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20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6B181AD-4972-4A6E-B035-A16B7B2E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1975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إنتاج معلومة تبدو صحيحة وهي غير موجودة‏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F2E67EC-2F5D-4300-8E35-25C1336C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7AB3A33-9C60-40BC-9090-8122A963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75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رفض الإجابة‏</a:t>
            </a:r>
            <a:endParaRPr sz="14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F7EA1E1-646F-4804-9D41-7E3323D0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06040"/>
            <a:ext cx="11057839" cy="1014984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E56345A-E60D-4235-B1CB-A16A71C2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97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أفضل وسيلة لتقليل الهلوسة في التلخيص:‏</a:t>
            </a:r>
            <a:endParaRPr sz="17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FFF08D2-A108-406F-A729-08C429D7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3063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DA29561-CE1D-483A-B609-F4F25D8F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3118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طلب التلخيص مرتين‏</a:t>
            </a:r>
            <a:endParaRPr sz="14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48D63B-D96C-46D3-8D87-10A9ECDB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3063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58952DA-9F7F-46D9-8F6D-348DC051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3118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إلصاق النص وتقييد النموذج به حصراً‏</a:t>
            </a:r>
            <a:endParaRPr sz="14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8A1A45C5-CBA5-4C2C-8A4E-3821A5A4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63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9AF9BC0-8B45-4F9E-B96B-6E87830E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118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استخدام أداة أخرى‏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33DF4F-D592-4221-BBB5-89650FAD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49040"/>
            <a:ext cx="11057839" cy="1014984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D767D7C-4A5B-4C38-8F1C-C6AF6567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40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مهمة تتضمن بيانات مستفيدين شخصية تُصنّف:‏</a:t>
            </a:r>
            <a:endParaRPr sz="17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45FC2D3-0B6B-4511-A644-F9648F2D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4206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47A9E0B-A650-431F-98DC-47E2938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4261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أخضر‏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254E793C-FEBB-4020-9CC4-AC797542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4206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180F4533-8362-400B-A4A2-29758F24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4261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أصفر‏</a:t>
            </a:r>
            <a:endParaRPr sz="14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1638C56-0D46-411A-B3AD-7CD18B82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06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0C745E3F-B534-4B5C-B84F-A2F0EC71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61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‏ج.  أحمر‏</a:t>
            </a:r>
            <a:endParaRPr sz="145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3E42273-BB2D-43E3-A3A6-EE711D46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11057839" cy="1014984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28E4631-C664-4F2D-89BD-0012D1F0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83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‏س4.  مسؤولية الخطأ في مذكرة أعدّها مساعد ذكي واعتُمدت تقع على:‏</a:t>
            </a:r>
            <a:endParaRPr sz="170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70622AED-7C97-4891-BD00-29B4C91E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5349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7FB00243-9CAF-4995-9074-A19CEA3E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5404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مزوّد الأداة‏</a:t>
            </a:r>
            <a:endParaRPr sz="145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D723D3EE-C860-477F-AC47-D8A2AEAF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5349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D76CDFEA-4DFB-4E22-8343-354E08AD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5404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الموظف المُعِدّ والمعتمِد‏</a:t>
            </a:r>
            <a:endParaRPr sz="14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9CC96A51-FC8B-4C97-93CF-3A87007C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349240"/>
            <a:ext cx="3472586" cy="48463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1326CD7-8454-4651-99E8-71ACD900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404104"/>
            <a:ext cx="325313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لا أحد‏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816118109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ad82d42c14f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FA1AC4E-716F-455A-98A1-32709387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106‏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71C2172-745A-487C-9F6D-44226BA4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‏اختر الإجابة الصحيحة‏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2A9C40C-6B4B-4948-A5B8-9099A43C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‏التقييم الختامي (٣ من ٣)‏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4B0CE78-61E6-4F4D-968A-D7DF793A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E2D3CF0-CF2A-4F8A-A20B-F97164A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C512B76-3669-4219-8CED-32E4611A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A85C8CD-2BDB-46C1-9BC0-D5C22E9C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54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المهمة المثالية للبدء في توظيف الذكاء الاصطناعي هي:‏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6EDD04A-C160-48F5-BC32-DCC390E0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0FCF0D2-7297-4DAA-ACB7-41A9322E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نادرة وعالية المخاطر‏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AD88DAF-59BA-4826-A2A9-74519D92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AEAED71-75EC-4862-ABBF-9F185231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متكررة ومنخفضة المخاطر وسهلة الوصف‏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6103F3A-5AC9-4D78-92E9-D9B23119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66BCC24-14F6-419D-AEA6-381ABDE5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75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معقّدة تحتاج عدة أنظمة‏</a:t>
            </a:r>
            <a:endParaRPr sz="14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B2BD927-ACC4-4C5E-A0BA-F62C173F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7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61F86BD-5C0E-4411-9025-EB400597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78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قياس أثر الاستخدام يبدأ بـ:‏</a:t>
            </a:r>
            <a:endParaRPr sz="17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2245CF47-06C7-486A-B22A-6990E59F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79E7A6C-AAD2-49D6-AFF3-8238E4CC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‏أ.  قياس الزمن قبل الاستخدام‏</a:t>
            </a:r>
            <a:endParaRPr sz="14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7AF6A36-1A2D-4C77-A523-1707A79F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B18F869-40E4-490E-8125-545827E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قياس الزمن بعده‏</a:t>
            </a:r>
            <a:endParaRPr sz="14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3E9550D-39B1-41B9-9B3C-18BC47A1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44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0CFD491-311B-4A39-BC05-1868806B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99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سؤال الزملاء‏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A207D0-80D5-4EF7-A5B7-BCBFB668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11040"/>
            <a:ext cx="11057839" cy="1395984"/>
          </a:xfrm>
          <a:prstGeom xmlns:a="http://schemas.openxmlformats.org/drawingml/2006/main" prst="roundRect">
            <a:avLst>
              <a:gd name="adj" fmla="val 58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AEE30E7-F4C0-42C2-8B9E-ED064838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02480"/>
            <a:ext cx="106920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المحتوى الرسمي المنشور والمولّد بالذكاء الاصطناعي:‏</a:t>
            </a:r>
            <a:endParaRPr sz="17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EF486C-B353-4C32-A26B-A3C176E1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01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F3B1028-0808-405A-A02D-EE35216E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29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يُنشر مباشرة‏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B3775AD0-B415-4AE7-B466-A3E6A4E6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33AB9DF-A5B0-4671-ABC4-DBA3FD30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282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يُفصح عنه ويُراجع بشرياً‏</a:t>
            </a:r>
            <a:endParaRPr sz="14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9DB960BD-33EE-4672-AA25-46B23E04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68240"/>
            <a:ext cx="3472586" cy="865632"/>
          </a:xfrm>
          <a:prstGeom xmlns:a="http://schemas.openxmlformats.org/drawingml/2006/main" prst="roundRect">
            <a:avLst>
              <a:gd name="adj" fmla="val 7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3BD5D3B-ACF3-4604-B948-6E1C30A2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3104"/>
            <a:ext cx="3253130" cy="755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يُراجع بعد النشر‏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737970637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c3a38471d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A73309A-A52D-4720-8091-1D325618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107‏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AD1D17F-A2AD-4E23-93A3-F205511C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‏التقييم الختامي — أحد عشر سؤالاً‏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086CC4F-C1D4-43C4-AC40-6E92109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‏مفاتيح الإجابة‏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3C636D0-F7F6-443A-ABF4-558DB1C3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C66B754-76D5-4BE1-9AED-4617177C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F24AEF7-8F52-4CCF-BD96-E50EF9F7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‏صحّح إجابتك بنفسك، والاجتياز بسبع إجابات صحيحة فأكثر.‏</a:t>
            </a:r>
            <a:endParaRPr sz="1600"/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566928" y="1883664"/>
          <a:ext xmlns:a="http://schemas.openxmlformats.org/drawingml/2006/main" cx="11064240" cy="358444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4480560"/>
                <a:gridCol w="4206240"/>
              </a:tblGrid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‏الجزء‏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‏الإجابات الصحيحة‏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‏المحور المرجعي‏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‏الجزء الأول (٤ أسئلة)‏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‏س١: ب  ·  س٢: أ  ·  س٣: ب  ·  س٤: أ‏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‏المحاور الأول والثاني والثالث‏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‏الجزء الثاني (٤ أسئلة)‏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‏س١: ب  ·  س٢: ب  ·  س٣: ج  ·  س٤: ب‏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‏المحوران الرابع والخامس‏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‏الجزء الثالث (٣ أسئلة)‏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‏س١: ب  ·  س٢: أ  ·  س٣: ب‏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‏المحوران الخامس والسادس‏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‏التقدير: ممتاز‏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‏عشر إجابات صحيحة فأكثر‏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‏إتقان كامل لنواتج التعلّم‏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‏التقدير: جيد جداً‏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‏ثماني أو تسع إجابات صحيحة‏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‏مراجعة خفيفة للمحور الأضعف‏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‏التقدير: اجتياز‏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‏سبع إجابات صحيحة‏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‏مراجعة المحاور ذات الإجابات الخاطئة‏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‏أقل من الاجتياز‏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‏أقل من سبع إجابات صحيحة‏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‏يُعاد التقويم بعد مراجعة الحقيبة‏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F86485F-68BF-4C2A-BC26-62F859CE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961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57E0C62-D8A5-413E-8F4C-F563FC6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150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D16D06D-7184-4404-AFF3-03BF64E2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424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B5EF9C6-53E8-4DE8-BBC7-69DBA73E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418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‏شرط الاجتياز الكامل: ٦٠٪ فأعلى في التقويم، وحضور لا يقل عن ٨٠٪، وتسليم المشروع الختامي.‏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091933270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459fbe76a4e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EB0DAF2-CF5C-4392-9A8F-B21010BD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110‏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90BCCD3-54CC-42FB-8F31-7D4AA394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‏أين ينطبق ما تعلّمته؟‏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79265D6-261C-4F80-BB16-90241339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‏الصلة بالقطاعات‏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406E3A2-73CF-4E36-9100-E8C8FABC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CAEBA82-F513-4BE8-A789-6ACD2E70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EB9414E-25B1-4597-979F-360E166A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751" y="2542032"/>
            <a:ext cx="2641016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C5DCDEE-FAB1-48A4-B60E-3070D293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751" y="2542032"/>
            <a:ext cx="2641016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C2B1E32-CDA7-4EC7-A6B0-CE0A0483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751" y="2779776"/>
            <a:ext cx="2641016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3C4C245-2D20-4E0C-A530-89D2CD46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055" y="2596896"/>
            <a:ext cx="23484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‏الخدمات الحكومية‏</a:t>
            </a:r>
            <a:endParaRPr sz="16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1B2E02E-19AE-406B-A495-E193D173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055" y="3108960"/>
            <a:ext cx="2348408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‏المراسلات، المحاضر، الردود على المستفيدين، التقارير الدورية، وأدلة الخدمة.‏</a:t>
            </a:r>
            <a:endParaRPr sz="1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6E929D5-6E20-4C6F-988A-7F281310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42032"/>
            <a:ext cx="2641016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ED81ACB-D422-4306-801B-0C02794F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42032"/>
            <a:ext cx="2641016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D91D02D-EBED-423B-A661-DB8C8881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779776"/>
            <a:ext cx="2641016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B8FAB8B-0131-4947-8AC1-2B08CC47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596896"/>
            <a:ext cx="23484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‏التعليم‏</a:t>
            </a:r>
            <a:endParaRPr sz="1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E07CEC2-2D89-4A34-8FA0-47D9E30C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108960"/>
            <a:ext cx="2348408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‏إعداد المواد، تلخيص الأبحاث، صياغة الاختبارات، والتواصل مع المستفيدين.‏</a:t>
            </a:r>
            <a:endParaRPr sz="14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BA505E7-2556-4646-962F-97D8FBC5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536" y="2542032"/>
            <a:ext cx="2641016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5857218-000F-4615-B312-9433D4EE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536" y="2542032"/>
            <a:ext cx="2641016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EFB8279-9F33-4F88-9551-6FD7C080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536" y="2779776"/>
            <a:ext cx="2641016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9EF8113-9245-4131-B6D8-D9136311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40" y="2596896"/>
            <a:ext cx="23484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‏الرعاية الصحية‏</a:t>
            </a:r>
            <a:endParaRPr sz="1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20DDA54-D30F-4A62-8EDB-F269C64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40" y="3108960"/>
            <a:ext cx="2348408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‏المهام الإدارية والتوعوية — مع ضوابط مشددة على البيانات الصحية.‏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2A0C107-90FB-4E44-BFB0-B3C7F8A6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42032"/>
            <a:ext cx="2641016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C682006-A085-42BA-AEDB-B8D6EB3E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42032"/>
            <a:ext cx="2641016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A0F4F04-A74A-4B0F-8448-171CF46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79776"/>
            <a:ext cx="2641016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9877842-6328-4712-ABC8-4D6D4FF1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96896"/>
            <a:ext cx="23484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‏الخدمات المالية‏</a:t>
            </a:r>
            <a:endParaRPr sz="16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31780C0-C7FD-4E25-896B-C1933947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08960"/>
            <a:ext cx="2348408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‏تلخيص التقارير، صياغة المراسلات، وتحليل الوثائق غير الحساسة.‏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2F221591-8B60-4D15-8FFD-5B8E0412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36592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3E3057FF-10B7-46B3-B55B-213724E8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85546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94B3998-B8D8-4A12-9343-E8432BB0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4882896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EBDBD88-C6C0-468A-A1C9-648161AA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82312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‏كلما ارتفعت حساسية القطاع، ارتفعت صرامة الضوابط — والمبادئ نفسها تظل سارية.‏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09465421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3801d9e8a4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AE86E7B-958C-48D0-894E-3C0F8685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111‏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A4FB94E-125C-4A0C-8CE2-DF81191A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‏أدوات جاهزة للاستخدام‏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02BC3F7-FED6-49DF-B5DB-4C8A7E56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‏قائمة ما تأخذه معك‏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DCEC740-4760-4FDA-A22D-A55C697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7F6FF28-A0A6-4676-B375-1E6ED66F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7B7D298-DFBF-42B4-976D-98DDAD8B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‏ثمانية مخرجات ملموسة تخرج بها من هذا البرنامج.‏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D1F99BB-3351-4385-9F78-DDBE1996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3174C63-DDE4-4019-936E-66EA293C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09F7741-DCF5-4F15-93E9-75885276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‏بطاقة العناصر الأربعة لصياغة الطلب.‏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E9F5686-782D-4AF6-B346-DEEF92A2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6B8E80F-B595-4776-8EB7-1D5D2985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57BD8B1-3D25-4C0A-A941-588DA27B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‏عشرون طلب بداية للمهام الشائعة.‏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95A74D5-24C3-4771-B030-79318E66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5558D8E-2271-437D-9F5D-6BA7348D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7B255A4-6DC8-44A2-8696-22B537CF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‏بطاقات حالات استخدام حسب الوظيفة والقطاع.‏</a:t>
            </a:r>
            <a:endParaRPr sz="15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23D3C05-BFC7-4D89-A140-D7307753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82ADF4-D550-46F4-BE39-65231A4F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9F5FB00-815D-44B4-B3BA-A2921C1C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‏تحدّي التحقق بخمسة مخرجات مقصودة الخطأ.‏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AFB8369-6400-4FA8-A853-B168F745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3D400AE-6807-4B96-826A-EE5E5DAA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F67AFFA-2154-4335-AA05-876CEADE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‏قائمة التحقق قبل اعتماد أي مخرج.‏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AD2BA0B-7A0C-4A01-8EEC-2FA207A3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B34A69DB-F252-48A6-B801-D13FE2EB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D9D0CB5-93E6-490A-9C3F-013934FB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‏قائمة الاستخدام الآمن وما لا يجوز إدخاله.‏</a:t>
            </a:r>
            <a:endParaRPr sz="15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F6CC6CFE-85D8-40E6-91C1-3E1CCD81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29E5DE1-84F1-428E-B97C-3ABB1918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BBF7125-B6A6-4E8E-BD83-83C5C376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‏بطاقة مهمة العمل وخطة الثلاثين يوماً.‏</a:t>
            </a:r>
            <a:endParaRPr sz="15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64B79D6-446C-441E-920D-E48EEA14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F47F1065-7B32-4E3E-8E98-7D412433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91B59E0-0D5E-4890-AAA7-BF39EE4F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‏حزمة بيانات مصطنعة وتمارين قبل الاستخدام وبعده.‏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81825440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fbc31f2f4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E91D371-00D5-465E-87FA-D4E33DDF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112‏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CEAE579-C4E1-4D26-A3AA-28277811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‏للاستزادة‏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E5D32BE-0448-4A2E-AAA3-9F79C703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‏المصادر والمراجع‏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D51E34A-21FA-419A-8170-B802D68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CCE9823-634F-4D65-AFD0-52DF87D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2E02353-EDE7-4735-B0A9-698FAE2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0939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40C0A01-7194-4336-A590-A66DAC20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0939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01568FB-AE00-45F7-8CA0-D995E8B0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23317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8AC3564-9637-4A4D-A3D2-71EA0C7A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1488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‏الهيئة السعودية للبيانات والذكاء الاصطناعي‏</a:t>
            </a:r>
            <a:endParaRPr sz="16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F34C95E-4774-4FD6-AC2D-4AAD31FE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26609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‏الاستراتيجية الوطنية للبيانات والذكاء الاصطناعي، والمبادئ الأخلاقية للذكاء الاصطناعي.‏</a:t>
            </a:r>
            <a:endParaRPr sz="1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EB55140-2ECB-4B1E-BB00-0211D0E1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0939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92A3967-28F4-47A2-901D-EB69935B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0939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D599182-3B8E-4831-AC8D-26C45C89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3317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750F3B0-8C0F-495F-9276-1E9A5944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1488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‏نظام حماية البيانات الشخصية‏</a:t>
            </a:r>
            <a:endParaRPr sz="1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F05187E-829E-4934-95EE-5618CB12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26609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‏النظام ولائحته التنفيذية — الإطار الحاكم للتعامل مع البيانات الشخصية في المملكة.‏</a:t>
            </a:r>
            <a:endParaRPr sz="14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90819DB0-2A33-40B1-8A07-086402A3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3976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C024685-AFB3-4F24-8E0F-1F88B1FD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3976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E7ADEA1-640F-478D-B504-CC4B79AD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8DB1CB5-8C9B-4361-9360-CC739140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‏أكاديمية سدايا‏</a:t>
            </a:r>
            <a:endParaRPr sz="1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1ED49E1-F5B3-446A-8F4F-35460463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60904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‏حقيبة البرامج التدريبية ومسارات التعلّم المتدرجة والشارات الرقمية.‏</a:t>
            </a:r>
            <a:endParaRPr sz="14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B13CE06-3EDC-4A78-8119-C397A9A6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5844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52B7C60-3305-4BAE-8C42-2AEA3D61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5844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1EDE555-3752-4033-8280-C83B8BC5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49" y="38221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559B509-7583-4401-9069-8316EE8A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6393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‏وثائق مزوّدي الأدوات‏</a:t>
            </a:r>
            <a:endParaRPr sz="16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B8723F7-992F-4092-8F1D-ABCD4D63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41513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‏سياسات الخصوصية وشروط الاستخدام لكل أداة قبل اعتمادها في العمل.‏</a:t>
            </a:r>
            <a:endParaRPr sz="14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F948684-16F9-4A39-A31F-D6515FE2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5844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B67A98E5-674D-4386-8E76-A002789F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5844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B2B0593A-CC01-4AA3-B378-B7E02A42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38221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FF"/>
          </a:solidFill>
          <a:ln xmlns:a="http://schemas.openxmlformats.org/drawingml/2006/main"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1D87C9F-C4A3-4E72-A024-A4D81CC5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36393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‏سياسات جهتك الداخلية‏</a:t>
            </a:r>
            <a:endParaRPr sz="16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EC65004-3CDE-446F-9EAB-1E4307DF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42" y="41513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‏سياسة أمن المعلومات وتصنيف البيانات والاستخدام المقبول للتقنية.‏</a:t>
            </a:r>
            <a:endParaRPr sz="14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C9502C54-342C-45C6-9F1E-49C27795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3576218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480B7495-98E4-4E30-A02E-A2200D35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357621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3FD1FD3-2141-4F8F-A8DE-066E8100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3576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0DA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7DD996C4-1720-40F3-922D-203CAD1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39312"/>
            <a:ext cx="328361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‏مراجع التصميم والأدلة‏</a:t>
            </a:r>
            <a:endParaRPr sz="16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3B56358E-F684-44CB-AC00-A412EB58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51376"/>
            <a:ext cx="328361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‏OpenAI Academy، Google AI Essentials، Microsoft Learn، NBER، ودراسة HBS وBCG عن الحدود المتعرجة.‏</a:t>
            </a:r>
            <a:endParaRPr sz="14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8B08B1E9-8DA4-4C68-AAAB-21006788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8464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8EFB3213-B6E1-45DC-9F5C-8C09ACFB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035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3D5CEBFA-7C78-4A60-8F49-D2DAA55B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33095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DB250F47-31D2-4FB0-9F6A-0F9DB3C1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3036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‏الأدوات تتغيّر بسرعة — راجع سياسات جهتك ومزوّد الأداة دورياً.‏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94902370"/>
      </p:ext>
    </p:extLst>
  </p:cSld>
</p:sld>
</file>

<file path=ppt/slides/slide1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217a6eadba14b4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a45415dcd49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6053328"/>
            <a:ext cx="438912" cy="39319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D358F276-4909-44EF-8079-B20B959B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932688"/>
            <a:ext cx="1325880" cy="1325880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41090C4-BDF3-4731-95B1-58B24F6B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1060704"/>
            <a:ext cx="1325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‏٨‏</a:t>
            </a:r>
            <a:endParaRPr sz="6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372117-05AB-4DDA-AA99-713C304B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687" y="2487168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‏ملحق‏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EF1F343-06F4-4698-98B5-5E97B07B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98064"/>
            <a:ext cx="11057839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‏مختبرات الذكاء الاصطناعي في العمل‏</a:t>
            </a:r>
            <a:endParaRPr sz="4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71017C1-4B4F-432E-AEEC-17416A46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97776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‏أربع تجارب قصيرة تربط الدليل بالممارسة، وتصلح للتنفيذ داخل القاعة أو كأنشطة اختيارية.‏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497EFB6-C79D-4EE8-995A-DBAF2EC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035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A327A46-882A-4321-8D5D-66635081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339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‏خدمة العملاء‏</a:t>
            </a:r>
            <a:endParaRPr sz="14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AFE1B73-A828-488B-A7FF-E2267C4F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00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2CADD2F-11D5-44B0-ACE7-608CEF19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‏الحدود المتعرجة‏</a:t>
            </a:r>
            <a:endParaRPr sz="14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E9FD0A6-08EB-43A8-B3B5-38568283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4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BBA90F1-BDB0-4496-A407-14138CB1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‏التحقق من الملخص‏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504AEC-78C9-4F39-A585-F943F510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36592"/>
            <a:ext cx="2654732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C3403FC-D567-4274-B13A-69035306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82896"/>
            <a:ext cx="23621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‏حزمة بيانات تدريبية‏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880632788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e8519f9af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D68E718-9FAC-4828-BC8B-27D45F2A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‏الملحق التطبيقي  ·  ١١٤‏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4FA0942-50F2-4E1A-A2FB-0BC7E8AE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‏دراسة حالة ١  ·  خدمة العملاء‏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BC4551-9147-4A3A-8728-B98CC017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‏المساعد الذكي يرفع الإنتاجية عندما تبقى المراجعة بشرية‏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F0F53E1-5D42-453C-BD0E-5855260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BFCBC27-4645-4387-9AC6-93B1C803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FBB5DE4-CB25-4B9E-B7DD-FA0B4C69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‏تجربة ميدانية على ٥٬١٧٩ موظف دعم تقني تربط المكسب السريع بنقل الخبرة إلى الموظفين الأقل خبرة.‏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E5D4F06-32AF-4BD0-96DA-5757EA9F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D828FE2-FC16-4476-A2AB-38894962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65B4A"/>
          </a:solidFill>
          <a:ln xmlns:a="http://schemas.openxmlformats.org/drawingml/2006/main" w="12700">
            <a:solidFill>
              <a:srgbClr val="D65B4A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3F68983-E67E-485F-B2A2-8CFAD47B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B4A"/>
          </a:solidFill>
          <a:ln xmlns:a="http://schemas.openxmlformats.org/drawingml/2006/main" w="12700">
            <a:solidFill>
              <a:srgbClr val="D65B4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E3763C4-D47E-456B-AF24-A65E3ABF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‏النشاط‏</a:t>
            </a:r>
            <a:endParaRPr sz="19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956F0AB-4371-4E37-A749-4F19D381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CB7A63D-A5D0-4C57-B1FF-C96CBC67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‏وزّع ثمانية طلبات عملاء مصطنعة على كل فريق.‏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D74C692-8A2A-4DC5-90EB-DCE1D1D7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C8859B4-E0E1-46C3-A009-FD5DD95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‏استخدم أداة معتمدة لإعداد مسودة رد لكل طلب.‏</a:t>
            </a:r>
            <a:endParaRPr sz="15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E731923-9AA5-48B1-B4A9-1F87CAA2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1FD7EC3-8253-4BB3-80B3-191609AD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 الدقة والنبرة والسياسة قبل اعتماد الرد.‏</a:t>
            </a:r>
            <a:endParaRPr sz="15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3DAB8CA-1E9B-4BCF-A972-FF907A13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6ED6D34-5849-42A6-A60F-D1D4BEFC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‏صحّح الردود وسجّل سبب كل تعديل.‏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0FE29D9-145E-47D0-9A7C-8E8D9B72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4A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A8824AA-EBB1-415E-98F9-308D7421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‏قارن الوقت والجودة بين العمل اليدوي والعمل المدعوم.‏</a:t>
            </a:r>
            <a:endParaRPr sz="15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C3819EF-E6A1-4394-A7F4-5E6B5B0C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3639312"/>
          </a:xfrm>
          <a:prstGeom xmlns:a="http://schemas.openxmlformats.org/drawingml/2006/main" prst="roundRect">
            <a:avLst>
              <a:gd name="adj" fmla="val 2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EF49DB3-D101-432B-AD49-A13AA468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5376"/>
            <a:ext cx="5419192" cy="530352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1B3BC561-0CBB-4405-9845-D8107FF5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39696"/>
            <a:ext cx="5419192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3D04682-3A4C-45C4-81B6-350DBBF3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6816"/>
            <a:ext cx="5090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‏ما تقوله الأدلة‏</a:t>
            </a:r>
            <a:endParaRPr sz="19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1280D11-175C-47BA-B1D7-E7247314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26243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ED69927-4D39-4B4C-843F-E370FF38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‏ارتفع متوسط الإنتاجية بنحو ١٤٪.‏</a:t>
            </a:r>
            <a:endParaRPr sz="15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7C996261-DE10-4934-8D16-AFA38196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2095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47BDE3A-269E-4D46-9373-E1DB9BDC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18104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‏بلغ الأثر نحو ٣٤٪ لدى الأقل خبرة والمهارة.‏</a:t>
            </a:r>
            <a:endParaRPr sz="15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FAF4F9E-894C-4CB7-8987-AD9EA881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37947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2ECCE59-DEF1-44E4-A895-473A8EE6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‏ساعدت الأداة في نشر ممارسات الموظفين الأكثر خبرة.‏</a:t>
            </a:r>
            <a:endParaRPr sz="15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A4030353-9B0A-4564-B345-416F2BCF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3799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6B74FCC-2591-4C8F-B468-EDF50127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88536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‏تفاوت الأثر بين الموظفين، لذلك لا يكفي رقم متوسط واحد.‏</a:t>
            </a:r>
            <a:endParaRPr sz="15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842473C-1158-4C36-A495-03A134E5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72" y="496519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8B5BAE0A-86E5-48EE-ACAC-8A5E51AF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73752"/>
            <a:ext cx="4797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‏يبقى الموظف مسؤولاً عن الرد النهائي قبل الإرسال.‏</a:t>
            </a:r>
            <a:endParaRPr sz="155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ACDA62F3-952C-4377-9992-82A3B412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A4F04DE2-ACD8-4541-99D1-299ACE93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3328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80CC2AD-A7DD-41CB-B2D6-51DC85B3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760720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0D5613E0-9045-4C6C-8BB1-E42DED13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0136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‏سؤال النقاش: هل جاءت القيمة من السرعة، أم الجودة، أم نقل الخبرة؟‏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90162785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ef6e9023d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66375EB-63D6-4541-A239-EA18A1E4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‏الملحق التطبيقي  ·  ١١٥‏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3CA899A-0294-49A8-A351-34575CE5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‏دراسة حالة ٢  ·  الحدود المتعرجة‏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46F814D-0765-48E7-B8FC-3696FA10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‏المهمة تحدد دور الذكاء الاصطناعي‏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1339974-4033-4D3E-989F-E5037E71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29EDD5F-05AD-43CC-8F54-81BF7DE6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ED14D07-1C68-422C-8722-F2CBA674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‏في تجربة شملت ٧٥٨ مستشاراً، تحسّن الأداء في المهام الواقعة داخل حدود قدرة الأداة، بينما انخفضت الدقة في مهمة خارجها.‏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BF49C97-24A4-44B5-ADE5-2CEA652B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ADA9EEC-2D87-486B-9E3D-AE33DBAC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FB9A389-AF58-4F9C-8E7F-63799B4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70"/>
          </a:solidFill>
          <a:ln xmlns:a="http://schemas.openxmlformats.org/drawingml/2006/main"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C585D44-0F66-4EF9-B39D-43B08477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‏ينفّذ‏</a:t>
            </a:r>
            <a:endParaRPr sz="1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E7F356B-9D96-46F7-8D1B-44921DF8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‏مسودة خطاب، عناوين مبادرة، أو ترجمة أولية منخفضة المخاطر.‏</a:t>
            </a:r>
            <a:endParaRPr sz="14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B8A8226-3D53-447D-9F10-3C609FB6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C086CDF-BC81-43E8-ACCE-C83BD798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76856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3E2137-85CA-4399-AE80-8BDA67B1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4600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CB32672-FBFD-44DC-9853-09391313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‏يساعد‏</a:t>
            </a:r>
            <a:endParaRPr sz="1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CE83DBE-3F9F-44EB-A1FD-55F4C2DB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43784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‏تلخيص تقرير، تحليل شكوى، أو تنظيم جدول مع مراجعة بشرية.‏</a:t>
            </a:r>
            <a:endParaRPr sz="14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D6EFD4A-32F9-4E74-B7ED-340530A4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BCD2BBF-7133-44B1-837A-DF9D390D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D42334D-47E0-47B3-B756-5348025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144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8A6"/>
          </a:solidFill>
          <a:ln xmlns:a="http://schemas.openxmlformats.org/drawingml/2006/main"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A65B64B-C1DD-41C7-9537-CA141102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‏يقود الإنسان‏</a:t>
            </a:r>
            <a:endParaRPr sz="16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5F00BCF-A84F-4833-A604-22D96A57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‏اختيار مرشح، تفسير سياسة، أو قرار يؤثر في الأفراد.‏</a:t>
            </a:r>
            <a:endParaRPr sz="14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D7895D9-E359-4D8B-9743-780A4C4F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0EA"/>
            </a:solidFill>
            <a:prstDash val="solid"/>
          </a:ln>
          <a:effectLst xmlns:a="http://schemas.openxmlformats.org/drawingml/2006/main"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9E40BC5-BD30-4BEA-A7CF-190F5BD3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5446624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ECC77155-1707-404F-9F62-C1884825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544662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B87A9E4-A5DD-4DC8-9843-97483FED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22192"/>
            <a:ext cx="515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يُستخدم‏</a:t>
            </a:r>
            <a:endParaRPr sz="16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3339D76-B8FE-4FB0-82FC-518E828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34256"/>
            <a:ext cx="51540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‏قرار طبي أو قانوني ملزم، أو معالجة بيانات سرية في أداة عامة.‏</a:t>
            </a:r>
            <a:endParaRPr sz="14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CD872ED-18CF-4776-9AF2-722BD75A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99EBF8CC-3972-4E26-8649-B07C3AB3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4864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A74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B937351-1BB4-48BA-AC0F-451AE9A9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5513832"/>
            <a:ext cx="292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E8419B7-7C12-4679-AD30-A60DD317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13248"/>
            <a:ext cx="10180015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‏النشاط: صنّف عشر مهام، ثم اكتب سبب التصنيف ونقطة التدخل البشري.‏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827140615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0db76c9d34d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9EA8635-08D2-4EE5-B5D0-D36D2581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‏الملحق التطبيقي  ·  ١١٦‏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11FEC36-89D5-4E2C-AA4B-1AFB686C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‏مختبر تحقق  ·  20 دقيقة‏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BFA5AF0-3017-4191-B768-030C36F5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93204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‏الملخص التنفيذي الذي كاد أن يُعتمد‏</a:t>
            </a:r>
            <a:endParaRPr sz="3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CA4D7A0-FEC3-45A6-AF4F-B9A88BB1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572768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BD4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9568810-2E5C-4CE2-A942-1226B8A0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5727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20 دقيقة‏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6B38DE3-E72F-4524-91AC-9C897BF6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57839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F50206E-101E-4AC3-A6BF-C9256B9B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72768"/>
            <a:ext cx="10655503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‏يعمل كل فريق على تقرير مصطنع من ثلاث صفحات يحتوي رقمين متشابهين، ثم يراجع ملخصاً توليدياً زرع فيه خطأ واحد.‏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C7E4093-3343-45B4-B050-E5F2A702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10578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1EE6CDA-AB0D-44C3-8D66-BD30462D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44368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DC53AAC-B87F-4D27-A84B-C80A2311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2980944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0D7CD6B-C87B-4D93-B50A-8149406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44368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‏اطلب ملخصاً تنفيذياً من خمس نقاط وقرار مطلوب واحد.‏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820D79F-F7D4-4D7A-95AB-B11F0897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38144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44D224A-0CB2-4A20-929F-A3A81E8E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474720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60F4441-29AC-4F38-84F6-E2579C9F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‏ضع خطاً تحت كل ادعاء ورقم واسم في الملخص.‏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0E5D26D-4EBF-4F90-9282-BBE13107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31920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A82C326-21CF-47E9-816C-D23141A7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3968496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07817CB-936E-4CB4-A40C-90218789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‏ارجع إلى المصدر، وسجّل موضع الدليل لكل ادعاء.‏</a:t>
            </a:r>
            <a:endParaRPr sz="16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671FD2B-68A5-4222-A69C-68C3F409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25696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956643E-43BD-48B4-9020-2212935E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462272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FB31967-002D-45C7-A0AB-0B7EDD52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‏ميّز ما ورد في المصدر عن استنتاج الأداة.‏</a:t>
            </a:r>
            <a:endParaRPr sz="16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1FCC7F4-A10F-4772-A608-8DEF677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19472"/>
            <a:ext cx="329184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337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74A45C0-CD58-452A-B30D-19C2DF8A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83" y="4956048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B70C158-8B4C-4764-B8FF-954A73CD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19472"/>
            <a:ext cx="10564063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‏أنتج نسخة قابلة للاعتماد مع الإشارة إلى أي معلومة ناقصة.‏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B0FBE9E-922E-47F9-8555-10CC8360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11057839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9"/>
          </a:solidFill>
          <a:ln xmlns:a="http://schemas.openxmlformats.org/drawingml/2006/main"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8D8E7D0-A279-4DFF-9E28-84908D58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59552"/>
            <a:ext cx="10655503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ملخص مصحّح، وجدول ادعاء ومصدر، وقرار موثّق: استخدم أو تحقّق أو ارفض.‏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491066296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966d8c339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245352"/>
            <a:ext cx="457200" cy="41148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AE86E7B-958C-48D0-894E-3C0F8685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287" y="633679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‏الملحق التطبيقي  ·  ١١٧‏</a:t>
            </a:r>
            <a:endParaRPr sz="1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A4FB94E-125C-4A0C-8CE2-DF81191A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‏حزمة بيانات مصطنعة‏</a:t>
            </a:r>
            <a:endParaRPr sz="1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02BC3F7-FED6-49DF-B5DB-4C8A7E56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94944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‏ثمانية ملفات صغيرة لتمارين واقعية وآمنة‏</a:t>
            </a:r>
            <a:endParaRPr sz="33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DCEC740-4760-4FDA-A22D-A55C697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66928" y="56692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BD4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7F6FF28-A0A6-4676-B375-1E6ED66F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22960" y="6583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A7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7B7D298-DFBF-42B4-976D-98DDAD8B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16736"/>
            <a:ext cx="11057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‏يفهم المتدرب كل ملف خلال دقيقتين، ولا يحتوي أي بيانات حقيقية أو شخصية.‏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D1F99BB-3351-4385-9F78-DDBE1996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3174C63-DDE4-4019-936E-66EA293C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09F7741-DCF5-4F15-93E9-75885276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‏customer_feedback.csv  ·  تصنيف ٨٠ تعليقاً واستخراج أهم المشكلات.‏</a:t>
            </a:r>
            <a:endParaRPr sz="15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E9F5686-782D-4AF6-B346-DEEF92A2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6B8E80F-B595-4776-8EB7-1D5D2985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249174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57BD8B1-3D25-4C0A-A941-588DA27B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8600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‏service_requests.xlsx  ·  اكتشاف الأنماط وكتابة ملخص تنفيذي.‏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95A74D5-24C3-4771-B030-79318E66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5558D8E-2271-437D-9F5D-6BA7348D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7B255A4-6DC8-44A2-8696-22B537CF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‏meeting_notes.docx  ·  استخراج القرارات والإجراءات والمسؤولين.‏</a:t>
            </a:r>
            <a:endParaRPr sz="15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23D3C05-BFC7-4D89-A140-D7307753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9981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82ADF4-D550-46F4-BE39-65231A4F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336042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9F5FB00-815D-44B4-B3BA-A2921C1C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8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‏policy_document.pdf  ·  سؤال وجواب مع إظهار موضع المصدر.‏</a:t>
            </a:r>
            <a:endParaRPr sz="15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AFB8369-6400-4FA8-A853-B168F745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3D400AE-6807-4B96-826A-EE5E5DAA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F67AFFA-2154-4335-AA05-876CEADE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‏employee_survey.csv  ·  تلخيص الاتجاهات دون تحليل معقد.‏</a:t>
            </a:r>
            <a:endParaRPr sz="15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AD2BA0B-7A0C-4A01-8EEC-2FA207A3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6849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B34A69DB-F252-48A6-B801-D13FE2EB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422910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D9D0CB5-93E6-490A-9C3F-013934FB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2336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‏project_updates.docx  ·  إنتاج تقرير إدارة من صفحة واحدة.‏</a:t>
            </a:r>
            <a:endParaRPr sz="15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F6CC6CFE-85D8-40E6-91C1-3E1CCD81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29E5DE1-84F1-428E-B97C-3ABB1918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719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BBF7125-B6A6-4E8E-BD83-83C5C376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‏verification_answers.docx  ·  خمسة مخرجات بدرجات مختلفة من الصحة.‏</a:t>
            </a:r>
            <a:endParaRPr sz="15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64B79D6-446C-441E-920D-E48EEA14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37176"/>
            <a:ext cx="5437480" cy="77724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F47F1065-7B32-4E3E-8E98-7D412433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360" y="5097780"/>
            <a:ext cx="256032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91B59E0-0D5E-4890-AAA7-BF39EE4F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483397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‏risk_cards.pptx  ·  سيناريوهات خصوصية ومساءلة لاتخاذ القرار.‏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81825440"/>
      </p:ext>
    </p:extLst>
  </p:cSld>
</p:sld>
</file>

<file path=ppt/slides/slide11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813baa33fc442c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0fa706c6f44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5532120"/>
            <a:ext cx="914400" cy="82296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409CB07-0F2C-48A0-96D5-5D38C6D5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67" y="201168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44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‏شكراً لحضوركم‏</a:t>
            </a:r>
            <a:endParaRPr sz="44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1D3C712-7C96-4AE6-8517-D7173BE8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807" y="3063240"/>
            <a:ext cx="7680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800"/>
              </a:lnSpc>
              <a:buNone/>
            </a:pPr>
            <a:r>
              <a:rPr sz="19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‏أساسيات الذكاء الاصطناعي في بيئة العمل  ·  SDA-FAE-100</a:t>
            </a:r>
            <a:endParaRPr sz="1900"/>
          </a:p>
          <a:p xmlns:a="http://schemas.openxmlformats.org/drawingml/2006/main">
            <a:pPr marL="0" indent="0" algn="r">
              <a:lnSpc>
                <a:spcPts val="2800"/>
              </a:lnSpc>
              <a:buNone/>
            </a:pPr>
            <a:r>
              <a:rPr sz="19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نتطلّع لرؤية أثر ما تعلّمتموه في مهامكم اليومية.‏</a:t>
            </a:r>
            <a:endParaRPr sz="1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215F59E-9950-4D0F-B668-C32518AF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327" y="4114800"/>
            <a:ext cx="2377440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6046460-B044-4D46-8D81-51A54CF5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343" y="4206240"/>
            <a:ext cx="21214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‏أكاديمية سدايا‏</a:t>
            </a:r>
            <a:endParaRPr sz="15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E663DAE-1EF9-4F06-8EE0-780F6BA8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871" y="4114800"/>
            <a:ext cx="2377440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F52B318-4CB2-40A9-9E7D-9BE1DCE1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887" y="4206240"/>
            <a:ext cx="21214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‏قطاع بناء القدرات‏</a:t>
            </a:r>
            <a:endParaRPr sz="15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3DD8D9C-B3A0-4D4C-BC77-577A995E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415" y="4114800"/>
            <a:ext cx="2377440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5A7BB9B-E9F2-456C-A709-3D3F15E9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431" y="4206240"/>
            <a:ext cx="21214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‏الهيئة السعودية للبيانات والذكاء الاصطناعي‏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312921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2026-09-10T19:31:08.7840000Z</dcterms:created>
  <dcterms:modified xsi:type="dcterms:W3CDTF">2026-09-10T19:31:08.7840000Z</dcterms:modified>
</coreProperties>
</file>