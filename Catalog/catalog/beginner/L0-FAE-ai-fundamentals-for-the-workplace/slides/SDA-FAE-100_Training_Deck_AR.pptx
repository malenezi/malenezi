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مرجع التصميم: OpenAI Academy, AI Foundations. يطلب من المتعلم اختيار مهمة عمل حقيقية، وإعطاء تعليمات واضحة، وتوفير السياق، ومراجعة المخرجات، والاستخدام المسؤول. https://academy.openai.com/public/courses/ai-foundations-juzjs?autoEnroll=true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مرجع المبادئ: SDAIA AI Ethics Principles. https://sdaia.gov.sa/en/SDAIA/about/Documents/ai-principles.pdf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Brynjolfsson, Li, and Raymond, Generative AI at Work, NBER Working Paper 31161. https://www.nber.org/system/files/working_papers/w31161/w31161.pdf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المصدر: Harvard Business School AI Institute, Navigating the Jagged Technological Frontier. شملت الدراسة 758 مستشاراً. داخل حدود الأداة زادت السرعة بأكثر من 25% وارتفع الأداء المقيم بشرياً بأكثر من 40% وفق ملخص HBS لعام 2023. https://aiinstitute.hbs.edu/navigating-the-jagged-technological-frontier/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532120"/>
            <a:ext cx="914400" cy="8229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585167-91D1-4430-8D1C-8187525AE87F}"/>
              </a:ext>
            </a:extLst>
          </p:cNvPr>
          <p:cNvSpPr>
            <a:spLocks noGrp="1"/>
          </p:cNvSpPr>
          <p:nvPr/>
        </p:nvSpPr>
        <p:spPr>
          <a:xfrm>
            <a:off x="3852367" y="12984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 spc="100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‏أكاديمية سدايا  ·  المستوى التمهيدي  ·  SDA-FAE-100‏</a:t>
            </a:r>
            <a:endParaRPr sz="17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81D39F5-8B83-4155-A046-702FC1D2CF4F}"/>
              </a:ext>
            </a:extLst>
          </p:cNvPr>
          <p:cNvSpPr>
            <a:spLocks noGrp="1"/>
          </p:cNvSpPr>
          <p:nvPr/>
        </p:nvSpPr>
        <p:spPr>
          <a:xfrm>
            <a:off x="3029407" y="1755648"/>
            <a:ext cx="859536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5200"/>
              </a:lnSpc>
              <a:buNone/>
            </a:pP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أساسيات</a:t>
            </a: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endParaRPr sz="4600" dirty="0"/>
          </a:p>
          <a:p>
            <a:pPr marL="0" indent="0" algn="r" rtl="1">
              <a:lnSpc>
                <a:spcPts val="5200"/>
              </a:lnSpc>
              <a:buNone/>
            </a:pP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بيئة</a:t>
            </a: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4600" b="1" dirty="0" err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العمل</a:t>
            </a:r>
            <a:r>
              <a:rPr sz="4600" b="1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4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74686E-1B8E-41AF-A171-2D89D7AB05D0}"/>
              </a:ext>
            </a:extLst>
          </p:cNvPr>
          <p:cNvSpPr>
            <a:spLocks noGrp="1"/>
          </p:cNvSpPr>
          <p:nvPr/>
        </p:nvSpPr>
        <p:spPr>
          <a:xfrm>
            <a:off x="3760927" y="3218688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800"/>
              </a:lnSpc>
              <a:buNone/>
            </a:pP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برنامج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عملي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يمكّن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الموظف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غير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التقني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اختيار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حالات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الاستخدام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وصياغة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طلب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واضح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والتحقق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المخرج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واستخدام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الأدوات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00" dirty="0" err="1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بمسؤولية</a:t>
            </a:r>
            <a:r>
              <a:rPr sz="1800" dirty="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85389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3039D9B-24C1-405E-997E-9BEA8E09C1F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F5A35A2-F99C-4258-9FB1-C3E40BD92E3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‏تعريف بالجهة‏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29A6FAB-C7CD-4164-9D90-4F30970DCC7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4C5BE1E-CF21-4E0E-84F3-E2D4A161995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DBCBE69-CA69-4BA6-BD97-CA6564B70C07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B0D8A24-2CA4-4C3C-ADCD-06646A6714AF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‏الذراع الوطني لبناء قدرات البيانات والذكاء الاصطناعي في المملكة، ضمن قطاع بناء القدرات بالهيئة السعودية للبيانات والذكاء الاصطناعي.‏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9B5D444-6578-4C60-93EE-B08E67A36DB2}"/>
              </a:ext>
            </a:extLst>
          </p:cNvPr>
          <p:cNvSpPr>
            <a:spLocks noGrp="1"/>
          </p:cNvSpPr>
          <p:nvPr/>
        </p:nvSpPr>
        <p:spPr>
          <a:xfrm>
            <a:off x="8048549" y="2299716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EC5E82D-529C-435B-9C92-C4DC9A69AD85}"/>
              </a:ext>
            </a:extLst>
          </p:cNvPr>
          <p:cNvSpPr>
            <a:spLocks noGrp="1"/>
          </p:cNvSpPr>
          <p:nvPr/>
        </p:nvSpPr>
        <p:spPr>
          <a:xfrm>
            <a:off x="8048549" y="229971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9174810-390E-4B3C-B397-9367973730D8}"/>
              </a:ext>
            </a:extLst>
          </p:cNvPr>
          <p:cNvSpPr>
            <a:spLocks noGrp="1"/>
          </p:cNvSpPr>
          <p:nvPr/>
        </p:nvSpPr>
        <p:spPr>
          <a:xfrm>
            <a:off x="8048549" y="253746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3CB07E3-E9AF-40E7-B35E-2630DA60FA32}"/>
              </a:ext>
            </a:extLst>
          </p:cNvPr>
          <p:cNvSpPr>
            <a:spLocks noGrp="1"/>
          </p:cNvSpPr>
          <p:nvPr/>
        </p:nvSpPr>
        <p:spPr>
          <a:xfrm>
            <a:off x="8194853" y="235458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‏رسالتنا‏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F37E22A-446B-45C9-97DA-B7C6D811DF56}"/>
              </a:ext>
            </a:extLst>
          </p:cNvPr>
          <p:cNvSpPr>
            <a:spLocks noGrp="1"/>
          </p:cNvSpPr>
          <p:nvPr/>
        </p:nvSpPr>
        <p:spPr>
          <a:xfrm>
            <a:off x="8194853" y="2866644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‏تمكين الكفاءات الوطنية من مهارات البيانات والذكاء الاصطناعي عبر برامج تدريبية معتمدة تلبي احتياج سوق العمل.‏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212A45B-D30B-446E-9218-50BA5750B965}"/>
              </a:ext>
            </a:extLst>
          </p:cNvPr>
          <p:cNvSpPr>
            <a:spLocks noGrp="1"/>
          </p:cNvSpPr>
          <p:nvPr/>
        </p:nvSpPr>
        <p:spPr>
          <a:xfrm>
            <a:off x="4307738" y="2299716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BA32485-CAA8-4FC3-8323-B2CE1822A80E}"/>
              </a:ext>
            </a:extLst>
          </p:cNvPr>
          <p:cNvSpPr>
            <a:spLocks noGrp="1"/>
          </p:cNvSpPr>
          <p:nvPr/>
        </p:nvSpPr>
        <p:spPr>
          <a:xfrm>
            <a:off x="4307738" y="229971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598B273-E011-4F01-BB55-FA7C97251BE2}"/>
              </a:ext>
            </a:extLst>
          </p:cNvPr>
          <p:cNvSpPr>
            <a:spLocks noGrp="1"/>
          </p:cNvSpPr>
          <p:nvPr/>
        </p:nvSpPr>
        <p:spPr>
          <a:xfrm>
            <a:off x="4307738" y="253746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F471C0C-5486-435A-B79B-3946F7A73131}"/>
              </a:ext>
            </a:extLst>
          </p:cNvPr>
          <p:cNvSpPr>
            <a:spLocks noGrp="1"/>
          </p:cNvSpPr>
          <p:nvPr/>
        </p:nvSpPr>
        <p:spPr>
          <a:xfrm>
            <a:off x="4454042" y="235458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‏نطاق برامجنا‏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F222A72-8DCA-4722-B749-1E5D6F269D95}"/>
              </a:ext>
            </a:extLst>
          </p:cNvPr>
          <p:cNvSpPr>
            <a:spLocks noGrp="1"/>
          </p:cNvSpPr>
          <p:nvPr/>
        </p:nvSpPr>
        <p:spPr>
          <a:xfrm>
            <a:off x="4454042" y="2866644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‏مسارات متدرجة من المستوى التمهيدي إلى المستوى المتقدم، تخدم المهنيين والمختصين والقادة التنفيذيين.‏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32DCA63-843B-4AE4-B2F9-54D2DBB0190B}"/>
              </a:ext>
            </a:extLst>
          </p:cNvPr>
          <p:cNvSpPr>
            <a:spLocks noGrp="1"/>
          </p:cNvSpPr>
          <p:nvPr/>
        </p:nvSpPr>
        <p:spPr>
          <a:xfrm>
            <a:off x="566928" y="2299716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B05EA98-9D16-4CF5-8B73-0EBBC4E7EB6F}"/>
              </a:ext>
            </a:extLst>
          </p:cNvPr>
          <p:cNvSpPr>
            <a:spLocks noGrp="1"/>
          </p:cNvSpPr>
          <p:nvPr/>
        </p:nvSpPr>
        <p:spPr>
          <a:xfrm>
            <a:off x="566928" y="229971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7E74984-9FE0-46A7-9547-1654D2C282B0}"/>
              </a:ext>
            </a:extLst>
          </p:cNvPr>
          <p:cNvSpPr>
            <a:spLocks noGrp="1"/>
          </p:cNvSpPr>
          <p:nvPr/>
        </p:nvSpPr>
        <p:spPr>
          <a:xfrm>
            <a:off x="566928" y="253746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BE77CFB-1D6E-40D7-9C8A-F0EC00D47E2B}"/>
              </a:ext>
            </a:extLst>
          </p:cNvPr>
          <p:cNvSpPr>
            <a:spLocks noGrp="1"/>
          </p:cNvSpPr>
          <p:nvPr/>
        </p:nvSpPr>
        <p:spPr>
          <a:xfrm>
            <a:off x="713232" y="235458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‏ارتباطنا بالرؤية‏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0C52BAA-EAAC-46F3-8877-028A4E7AA2DB}"/>
              </a:ext>
            </a:extLst>
          </p:cNvPr>
          <p:cNvSpPr>
            <a:spLocks noGrp="1"/>
          </p:cNvSpPr>
          <p:nvPr/>
        </p:nvSpPr>
        <p:spPr>
          <a:xfrm>
            <a:off x="713232" y="2866644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‏الإسهام المباشر في مستهدفات رؤية المملكة 2030 والاستراتيجية الوطنية للبيانات والذكاء الاصطناعي.‏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C3E9BBB-AD7A-4FC7-97FF-700FAA3B2C17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FDAD464-764A-4547-9929-24E6F5772433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7328FF1-0B0A-42E1-B3AB-4321600236C0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86B4169-B3B4-4931-BD8E-A79BD8AE5C13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‏نموذج التعلّم‏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1E29CF0-ECC6-4876-B831-83E1B1F55E9E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‏تعلّم تطبيقي قائم على الممارسة، بنسبة عملية عالية وحالات مستمدة من بيئة العمل الحكومية.‏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9AF95BF-672D-4626-8EE6-4172F694D851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180BD72-2CB0-4177-8605-450B45535414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456814D-F559-48B5-BC30-41AA9AF6ABD1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92FF203-C69C-47C8-8C28-3A83D55EC078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‏الاعتماد‏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15B4EB7-3ED1-4CF3-A926-943B06C181C6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‏شارات رقمية واعتمادات مصغّرة قابلة للتراكم ضمن مسارات تعلّم متكاملة.‏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8B9D650-A3E3-41A4-8C84-C7F4382F72A2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57734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0ADDFFD2-13B4-47AD-83CD-776AB862901A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AEFCBF4F-7CCA-429F-9C0A-9E87562B7370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9AE983E-7F14-4A72-8D72-E6E3BA44927B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‏الأثر‏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EF4BB63F-708A-4A91-9EC8-D0CD57739F0F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8823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‏قياس أثر التدريب على أداء الموظف والجهة، لا الاكتفاء بقياس الحضور والرضا.‏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30776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81F23B6-CBD2-4827-8899-D4474DD41F2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1B1FBD-67C2-4DFA-B879-0EBFB6FCBCF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‏SDA-FAE-100‏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F8D1B14-C1A8-450E-A39F-E03C4C06B61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البرنامج‏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B23C886-6FCC-48E1-A10C-6E90DD4D9D6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FF45AAE-C4A3-4E08-B7EA-540D23888D28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FD5F54A-438E-4C4E-A26A-E96C3F187DA7}"/>
              </a:ext>
            </a:extLst>
          </p:cNvPr>
          <p:cNvSpPr>
            <a:spLocks noGrp="1"/>
          </p:cNvSpPr>
          <p:nvPr/>
        </p:nvSpPr>
        <p:spPr>
          <a:xfrm>
            <a:off x="9544873" y="1499616"/>
            <a:ext cx="2079894" cy="1737360"/>
          </a:xfrm>
          <a:prstGeom prst="roundRect">
            <a:avLst>
              <a:gd name="adj" fmla="val 526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F43DB9-5E50-48E5-8932-8F5B4C8EA713}"/>
              </a:ext>
            </a:extLst>
          </p:cNvPr>
          <p:cNvSpPr>
            <a:spLocks noGrp="1"/>
          </p:cNvSpPr>
          <p:nvPr/>
        </p:nvSpPr>
        <p:spPr>
          <a:xfrm>
            <a:off x="9636313" y="1627632"/>
            <a:ext cx="189701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44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4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ECD8900-ACA2-47F4-9F46-BFA05C127935}"/>
              </a:ext>
            </a:extLst>
          </p:cNvPr>
          <p:cNvSpPr>
            <a:spLocks noGrp="1"/>
          </p:cNvSpPr>
          <p:nvPr/>
        </p:nvSpPr>
        <p:spPr>
          <a:xfrm>
            <a:off x="9654601" y="2450592"/>
            <a:ext cx="1860438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‏ساعات تدريبية‏</a:t>
            </a:r>
            <a:endParaRPr sz="14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D4C2CD3-6E76-44F8-B268-CBE601B4069B}"/>
              </a:ext>
            </a:extLst>
          </p:cNvPr>
          <p:cNvSpPr>
            <a:spLocks noGrp="1"/>
          </p:cNvSpPr>
          <p:nvPr/>
        </p:nvSpPr>
        <p:spPr>
          <a:xfrm>
            <a:off x="7300387" y="1499616"/>
            <a:ext cx="2079894" cy="1737360"/>
          </a:xfrm>
          <a:prstGeom prst="roundRect">
            <a:avLst>
              <a:gd name="adj" fmla="val 526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04525CB-C285-4BA1-94ED-CA427946DE6C}"/>
              </a:ext>
            </a:extLst>
          </p:cNvPr>
          <p:cNvSpPr>
            <a:spLocks noGrp="1"/>
          </p:cNvSpPr>
          <p:nvPr/>
        </p:nvSpPr>
        <p:spPr>
          <a:xfrm>
            <a:off x="7391827" y="1627632"/>
            <a:ext cx="189701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4400" b="1">
                <a:solidFill>
                  <a:srgbClr val="13774A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4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3731759-4249-42A3-A28C-E2CDCB389C78}"/>
              </a:ext>
            </a:extLst>
          </p:cNvPr>
          <p:cNvSpPr>
            <a:spLocks noGrp="1"/>
          </p:cNvSpPr>
          <p:nvPr/>
        </p:nvSpPr>
        <p:spPr>
          <a:xfrm>
            <a:off x="7410115" y="2450592"/>
            <a:ext cx="1860438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‏أيام تدريب‏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071E579-9073-457E-B7A1-619C6DF6F31B}"/>
              </a:ext>
            </a:extLst>
          </p:cNvPr>
          <p:cNvSpPr>
            <a:spLocks noGrp="1"/>
          </p:cNvSpPr>
          <p:nvPr/>
        </p:nvSpPr>
        <p:spPr>
          <a:xfrm>
            <a:off x="5055900" y="1499616"/>
            <a:ext cx="2079894" cy="1737360"/>
          </a:xfrm>
          <a:prstGeom prst="roundRect">
            <a:avLst>
              <a:gd name="adj" fmla="val 526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B8374B5-9E00-4631-98EE-790032B7451F}"/>
              </a:ext>
            </a:extLst>
          </p:cNvPr>
          <p:cNvSpPr>
            <a:spLocks noGrp="1"/>
          </p:cNvSpPr>
          <p:nvPr/>
        </p:nvSpPr>
        <p:spPr>
          <a:xfrm>
            <a:off x="5147340" y="1627632"/>
            <a:ext cx="189701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4400" b="1">
                <a:solidFill>
                  <a:srgbClr val="4B4190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4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3EEA6DE-35C1-48AD-AC88-8F0C72051B7B}"/>
              </a:ext>
            </a:extLst>
          </p:cNvPr>
          <p:cNvSpPr>
            <a:spLocks noGrp="1"/>
          </p:cNvSpPr>
          <p:nvPr/>
        </p:nvSpPr>
        <p:spPr>
          <a:xfrm>
            <a:off x="5165628" y="2450592"/>
            <a:ext cx="1860438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‏محاور رئيسية‏</a:t>
            </a:r>
            <a:endParaRPr sz="14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B6A98F9-F3FA-4BBE-9880-F1A343A21C75}"/>
              </a:ext>
            </a:extLst>
          </p:cNvPr>
          <p:cNvSpPr>
            <a:spLocks noGrp="1"/>
          </p:cNvSpPr>
          <p:nvPr/>
        </p:nvSpPr>
        <p:spPr>
          <a:xfrm>
            <a:off x="2811414" y="1499616"/>
            <a:ext cx="2079894" cy="1737360"/>
          </a:xfrm>
          <a:prstGeom prst="roundRect">
            <a:avLst>
              <a:gd name="adj" fmla="val 526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4804F86-9F5B-4334-972D-A424DD599672}"/>
              </a:ext>
            </a:extLst>
          </p:cNvPr>
          <p:cNvSpPr>
            <a:spLocks noGrp="1"/>
          </p:cNvSpPr>
          <p:nvPr/>
        </p:nvSpPr>
        <p:spPr>
          <a:xfrm>
            <a:off x="2902854" y="1627632"/>
            <a:ext cx="189701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4400" b="1">
                <a:solidFill>
                  <a:srgbClr val="A96B08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44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66B0865-1C10-4566-B875-B722EB16EA51}"/>
              </a:ext>
            </a:extLst>
          </p:cNvPr>
          <p:cNvSpPr>
            <a:spLocks noGrp="1"/>
          </p:cNvSpPr>
          <p:nvPr/>
        </p:nvSpPr>
        <p:spPr>
          <a:xfrm>
            <a:off x="2921142" y="2450592"/>
            <a:ext cx="1860438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‏نواتج تعلّم‏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5024946-0AFF-4B54-838C-38BBA9A3B4FA}"/>
              </a:ext>
            </a:extLst>
          </p:cNvPr>
          <p:cNvSpPr>
            <a:spLocks noGrp="1"/>
          </p:cNvSpPr>
          <p:nvPr/>
        </p:nvSpPr>
        <p:spPr>
          <a:xfrm>
            <a:off x="566928" y="1499616"/>
            <a:ext cx="2079894" cy="1737360"/>
          </a:xfrm>
          <a:prstGeom prst="roundRect">
            <a:avLst>
              <a:gd name="adj" fmla="val 526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F1C8CE0-1862-4F6F-BF80-E4C95B93B446}"/>
              </a:ext>
            </a:extLst>
          </p:cNvPr>
          <p:cNvSpPr>
            <a:spLocks noGrp="1"/>
          </p:cNvSpPr>
          <p:nvPr/>
        </p:nvSpPr>
        <p:spPr>
          <a:xfrm>
            <a:off x="658368" y="1627632"/>
            <a:ext cx="1897014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4400" b="1">
                <a:solidFill>
                  <a:srgbClr val="10688F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44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75512B0-E801-4294-8948-F21D40D55F88}"/>
              </a:ext>
            </a:extLst>
          </p:cNvPr>
          <p:cNvSpPr>
            <a:spLocks noGrp="1"/>
          </p:cNvSpPr>
          <p:nvPr/>
        </p:nvSpPr>
        <p:spPr>
          <a:xfrm>
            <a:off x="676656" y="2450592"/>
            <a:ext cx="1860438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‏أنشطة تطبيقية‏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F33E6BF-8DE2-4D3F-BCEB-CD3584B2178B}"/>
              </a:ext>
            </a:extLst>
          </p:cNvPr>
          <p:cNvSpPr>
            <a:spLocks noGrp="1"/>
          </p:cNvSpPr>
          <p:nvPr/>
        </p:nvSpPr>
        <p:spPr>
          <a:xfrm>
            <a:off x="11469319" y="3529584"/>
            <a:ext cx="146304" cy="146304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82FD6CB-2A8F-4206-BF09-0E7B69CDE0B5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10692079" cy="4800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برنامج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توعوي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تمهيدي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يعرّف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المشاركين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بأساسيات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ودوره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المتنامي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بيئة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العمل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dirty="0" err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الحديثة</a:t>
            </a:r>
            <a:r>
              <a:rPr sz="1600" dirty="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52D8C96-281A-4D56-AB7B-A750DD933E20}"/>
              </a:ext>
            </a:extLst>
          </p:cNvPr>
          <p:cNvSpPr>
            <a:spLocks noGrp="1"/>
          </p:cNvSpPr>
          <p:nvPr/>
        </p:nvSpPr>
        <p:spPr>
          <a:xfrm>
            <a:off x="11469319" y="4055364"/>
            <a:ext cx="146304" cy="146304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26601DF-F268-4EC5-A494-58B67B832136}"/>
              </a:ext>
            </a:extLst>
          </p:cNvPr>
          <p:cNvSpPr>
            <a:spLocks noGrp="1"/>
          </p:cNvSpPr>
          <p:nvPr/>
        </p:nvSpPr>
        <p:spPr>
          <a:xfrm>
            <a:off x="566928" y="3954780"/>
            <a:ext cx="10692079" cy="4800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‏يقدّم المفاهيم الأساسية بلغة مبسطة لا تتطلب أي خلفية تقنية أو برمجية.‏</a:t>
            </a:r>
            <a:endParaRPr sz="16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4909EBD-C7C6-4B0A-8150-E9DCC1BA6165}"/>
              </a:ext>
            </a:extLst>
          </p:cNvPr>
          <p:cNvSpPr>
            <a:spLocks noGrp="1"/>
          </p:cNvSpPr>
          <p:nvPr/>
        </p:nvSpPr>
        <p:spPr>
          <a:xfrm>
            <a:off x="11469319" y="4581144"/>
            <a:ext cx="146304" cy="146304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08F7FFE-8F77-4A9B-A50C-5AD19C56119A}"/>
              </a:ext>
            </a:extLst>
          </p:cNvPr>
          <p:cNvSpPr>
            <a:spLocks noGrp="1"/>
          </p:cNvSpPr>
          <p:nvPr/>
        </p:nvSpPr>
        <p:spPr>
          <a:xfrm>
            <a:off x="566928" y="4480560"/>
            <a:ext cx="10692079" cy="4800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‏يركّز على التطبيق العملي المباشر على المهام الوظيفية اليومية باستخدام مساعدات ذكية جاهزة.‏</a:t>
            </a:r>
            <a:endParaRPr sz="16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5E91A99-2935-4AC4-8B5E-91880E7C5448}"/>
              </a:ext>
            </a:extLst>
          </p:cNvPr>
          <p:cNvSpPr>
            <a:spLocks noGrp="1"/>
          </p:cNvSpPr>
          <p:nvPr/>
        </p:nvSpPr>
        <p:spPr>
          <a:xfrm>
            <a:off x="11469319" y="5106924"/>
            <a:ext cx="146304" cy="146304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69E793A-319D-431B-9236-45018EDD20A3}"/>
              </a:ext>
            </a:extLst>
          </p:cNvPr>
          <p:cNvSpPr>
            <a:spLocks noGrp="1"/>
          </p:cNvSpPr>
          <p:nvPr/>
        </p:nvSpPr>
        <p:spPr>
          <a:xfrm>
            <a:off x="566928" y="5006340"/>
            <a:ext cx="10692079" cy="4800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‏يعالج حدود الأدوات وأخطاءها الشائعة، والممارسات الآمنة والمسؤولة لاستخدامها في مكان العمل.‏</a:t>
            </a:r>
            <a:endParaRPr sz="16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FB298BE-01C4-454B-908A-640F450C0014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051CD15C-C1EC-4457-8310-8D5DF3A89596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FFE78EE-60BB-4168-ACC8-C82B440935DD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CD989394-8702-41A6-8522-FB72DC068BA2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‏المتطلبات السابقة: لا يوجد — نقطة دخول مفتوحة أمام جميع الموظفين.‏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8889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D1AF23-A5CD-4DBB-A9BC-3A127745075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BD668D-AB16-40FC-AEE2-E753397B7A50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‏لمن هذا البرنامج؟‏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7060A5-E7B7-4839-9D14-F0402AF3725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‏الفئة المستهدفة‏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C9A2BF4-E9EF-438D-AAC9-7DE1B31337AF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E14269D-79CA-4A5E-9A77-BF6A84E443D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DD3893-6E02-499F-B4FD-9A99E42DF3A2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‏صُمّم البرنامج لمن يتعامل مع الذكاء الاصطناعي كمستخدم، لا كمطوّر.‏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7391A2D-2057-48FE-AC2F-1CA3C71BDF9C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C17339A-64C9-467B-B247-810D6EB437F5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9E80045-5332-42F7-8E83-10066557FBD8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D889B7-6609-454E-8A21-22B9A4E62EA8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‏المهنيون غير التقنيين‏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D58FFFB-C3A0-4598-990F-3CF186370517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يؤدون أعمالاً معرفية يومية (تحرير، تحليل، تنسيق، متابعة) ولا يمتلكون خلفية برمجية.‏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128F6E5-00F6-47C6-A881-3117F6236509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C834EDE-1DE2-457F-9CEE-E17DF09C111C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37BFDBF-2803-44F2-BA2F-DF03CBC750DA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0F73809-8DA6-4904-8FED-EFA223BEC97F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‏الموظفون الإداريون والمساندون‏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F459397-D996-4376-8386-DF9C94208D2E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‏العاملون في المراسلات، الأرشفة، تنسيق الاجتماعات، خدمة المستفيدين، والدعم الإداري.‏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462C9F8-78F1-44A4-8C43-F18156685A56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25AE97C-10B6-46D2-8B34-862D971FC1F3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8AD0C01-8C6E-4A71-BEB7-6D808E8EC603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E08F42A-47CD-4A04-8096-36B98FD5B163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‏المديرون وقادة الفرق‏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C4C9AA8-44FF-4BDD-9CBF-00C790928CE0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يحتاجون فهم قدرات الأدوات وحدودها لاتخاذ قرارات استخدام صحيحة وتوجيه فرقهم.‏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ABD6817-2551-4611-9AA2-BED70DEB4E92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E7012C7-18B8-4844-884A-963507F87853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5DA6015-3625-4A36-80B8-84DC2EBCE6CF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988100F-B33E-4237-8506-FE90C10114C4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‏المستخدمون الجدد للذكاء الاصطناعي‏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B2B8529-E61A-4017-9795-E2202C0C8BD7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جرّبوا الأدوات بشكل عابر ويرغبون في بناء أساس منهجي وآمن للاستخدام.‏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B7AB558-E3E7-4B41-8943-9A911A206AB6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8772A94-88F6-4389-84C1-AFBE25F769CF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B45A39C-78C8-46F1-AE3E-BB441B1B6F92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E497520-95A4-4E3C-A075-C517D1CA63F5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‏لا يتطلب البرنامج أي معرفة سابقة بالبرمجة أو الرياضيات أو تحليل البيانات.‏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3681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386610D-1DFF-45FF-85FF-D6220934FAD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9E0457-DFC0-4D95-B737-82D50D090815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‏ماذا ستكون قادراً عليه في نهاية البرنامج؟‏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7BAB322-DA92-4876-BD13-DF7F445DFBC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‏نواتج التعلّم‏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77394BA-A8AD-491B-9BB4-CD7B072CE6CE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A834F37-AF8A-438D-B10B-3580C83372A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06D0A08-6483-4A80-9101-BF7E0A6F1982}"/>
              </a:ext>
            </a:extLst>
          </p:cNvPr>
          <p:cNvSpPr>
            <a:spLocks noGrp="1"/>
          </p:cNvSpPr>
          <p:nvPr/>
        </p:nvSpPr>
        <p:spPr>
          <a:xfrm>
            <a:off x="11313871" y="160934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7F2B407-DE53-4C12-87A6-E36610969065}"/>
              </a:ext>
            </a:extLst>
          </p:cNvPr>
          <p:cNvSpPr>
            <a:spLocks noGrp="1"/>
          </p:cNvSpPr>
          <p:nvPr/>
        </p:nvSpPr>
        <p:spPr>
          <a:xfrm>
            <a:off x="11313871" y="1636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8B1A39C-837B-4FAC-8D10-645440E91CDC}"/>
              </a:ext>
            </a:extLst>
          </p:cNvPr>
          <p:cNvSpPr>
            <a:spLocks noGrp="1"/>
          </p:cNvSpPr>
          <p:nvPr/>
        </p:nvSpPr>
        <p:spPr>
          <a:xfrm>
            <a:off x="566928" y="156362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‏شرح مفهوم الذكاء الاصطناعي‏</a:t>
            </a:r>
            <a:endParaRPr sz="1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34E6E0E-A447-4F91-96EF-6E509E523B3E}"/>
              </a:ext>
            </a:extLst>
          </p:cNvPr>
          <p:cNvSpPr>
            <a:spLocks noGrp="1"/>
          </p:cNvSpPr>
          <p:nvPr/>
        </p:nvSpPr>
        <p:spPr>
          <a:xfrm>
            <a:off x="566928" y="185623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‏بلغة مبسطة وربطه بأمثلة من بيئة العمل اليومية.‏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5C7C96E-2679-4D96-9E5D-6D77B1A3E2AB}"/>
              </a:ext>
            </a:extLst>
          </p:cNvPr>
          <p:cNvSpPr>
            <a:spLocks noGrp="1"/>
          </p:cNvSpPr>
          <p:nvPr/>
        </p:nvSpPr>
        <p:spPr>
          <a:xfrm>
            <a:off x="11313871" y="23652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DF42814-5A68-4E8A-8A12-07EFA9CB42D8}"/>
              </a:ext>
            </a:extLst>
          </p:cNvPr>
          <p:cNvSpPr>
            <a:spLocks noGrp="1"/>
          </p:cNvSpPr>
          <p:nvPr/>
        </p:nvSpPr>
        <p:spPr>
          <a:xfrm>
            <a:off x="11313871" y="23926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41185E6-C621-474E-A476-29D2210CAC64}"/>
              </a:ext>
            </a:extLst>
          </p:cNvPr>
          <p:cNvSpPr>
            <a:spLocks noGrp="1"/>
          </p:cNvSpPr>
          <p:nvPr/>
        </p:nvSpPr>
        <p:spPr>
          <a:xfrm>
            <a:off x="566928" y="23195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‏التمييز بين أنواع تطبيقات الذكاء الاصطناعي‏</a:t>
            </a:r>
            <a:endParaRPr sz="18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9042F8A-B738-4981-87E7-650B71FF3EC8}"/>
              </a:ext>
            </a:extLst>
          </p:cNvPr>
          <p:cNvSpPr>
            <a:spLocks noGrp="1"/>
          </p:cNvSpPr>
          <p:nvPr/>
        </p:nvSpPr>
        <p:spPr>
          <a:xfrm>
            <a:off x="566928" y="2612136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‏الشائعة التي يتعامل معها الموظف في مكان العمل.‏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14BCEB6-9C7A-4108-8CFD-0A68ECBF9F62}"/>
              </a:ext>
            </a:extLst>
          </p:cNvPr>
          <p:cNvSpPr>
            <a:spLocks noGrp="1"/>
          </p:cNvSpPr>
          <p:nvPr/>
        </p:nvSpPr>
        <p:spPr>
          <a:xfrm>
            <a:off x="11313871" y="31211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9A95A3F-1B5A-433E-9795-F42653D73AA5}"/>
              </a:ext>
            </a:extLst>
          </p:cNvPr>
          <p:cNvSpPr>
            <a:spLocks noGrp="1"/>
          </p:cNvSpPr>
          <p:nvPr/>
        </p:nvSpPr>
        <p:spPr>
          <a:xfrm>
            <a:off x="11313871" y="31485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F22DB6D-B21A-41AB-B2F7-1F5561DEE4E9}"/>
              </a:ext>
            </a:extLst>
          </p:cNvPr>
          <p:cNvSpPr>
            <a:spLocks noGrp="1"/>
          </p:cNvSpPr>
          <p:nvPr/>
        </p:nvSpPr>
        <p:spPr>
          <a:xfrm>
            <a:off x="566928" y="30754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‏تحديد الفرص العملية‏</a:t>
            </a:r>
            <a:endParaRPr sz="18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FF4321A-40E2-46B0-AFC7-5688B30B4DAA}"/>
              </a:ext>
            </a:extLst>
          </p:cNvPr>
          <p:cNvSpPr>
            <a:spLocks noGrp="1"/>
          </p:cNvSpPr>
          <p:nvPr/>
        </p:nvSpPr>
        <p:spPr>
          <a:xfrm>
            <a:off x="566928" y="3368040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‏لتوظيف أدوات الذكاء الاصطناعي في المهام الوظيفية اليومية.‏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BAEBDB5-6C30-46C9-B317-72D52B46D5DB}"/>
              </a:ext>
            </a:extLst>
          </p:cNvPr>
          <p:cNvSpPr>
            <a:spLocks noGrp="1"/>
          </p:cNvSpPr>
          <p:nvPr/>
        </p:nvSpPr>
        <p:spPr>
          <a:xfrm>
            <a:off x="11313871" y="387705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78F9D20-909D-4B83-9A97-8F7011E78572}"/>
              </a:ext>
            </a:extLst>
          </p:cNvPr>
          <p:cNvSpPr>
            <a:spLocks noGrp="1"/>
          </p:cNvSpPr>
          <p:nvPr/>
        </p:nvSpPr>
        <p:spPr>
          <a:xfrm>
            <a:off x="11313871" y="39044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25A9A50-B4E5-4A27-A125-E63F174E07F4}"/>
              </a:ext>
            </a:extLst>
          </p:cNvPr>
          <p:cNvSpPr>
            <a:spLocks noGrp="1"/>
          </p:cNvSpPr>
          <p:nvPr/>
        </p:nvSpPr>
        <p:spPr>
          <a:xfrm>
            <a:off x="566928" y="383133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‏استخدام المساعدات الذكية الجاهزة‏</a:t>
            </a:r>
            <a:endParaRPr sz="18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A2A6B99-50B3-4610-A07A-BEB6E2F2CBFF}"/>
              </a:ext>
            </a:extLst>
          </p:cNvPr>
          <p:cNvSpPr>
            <a:spLocks noGrp="1"/>
          </p:cNvSpPr>
          <p:nvPr/>
        </p:nvSpPr>
        <p:spPr>
          <a:xfrm>
            <a:off x="566928" y="4123944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‏لإنجاز مهام عمل بسيطة دون الحاجة إلى البرمجة.‏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F37AC47-D5CF-489E-832F-A5469691FCFE}"/>
              </a:ext>
            </a:extLst>
          </p:cNvPr>
          <p:cNvSpPr>
            <a:spLocks noGrp="1"/>
          </p:cNvSpPr>
          <p:nvPr/>
        </p:nvSpPr>
        <p:spPr>
          <a:xfrm>
            <a:off x="11313871" y="463296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99E685C-A278-4A5E-BF35-91560CA55B02}"/>
              </a:ext>
            </a:extLst>
          </p:cNvPr>
          <p:cNvSpPr>
            <a:spLocks noGrp="1"/>
          </p:cNvSpPr>
          <p:nvPr/>
        </p:nvSpPr>
        <p:spPr>
          <a:xfrm>
            <a:off x="11313871" y="46603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A2F6C09-564D-4C0D-9D25-ADB8880D2AA1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‏إدراك حدود أدوات الذكاء الاصطناعي‏</a:t>
            </a:r>
            <a:endParaRPr sz="18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45C760C-76B4-4D45-A95C-443B5EF80966}"/>
              </a:ext>
            </a:extLst>
          </p:cNvPr>
          <p:cNvSpPr>
            <a:spLocks noGrp="1"/>
          </p:cNvSpPr>
          <p:nvPr/>
        </p:nvSpPr>
        <p:spPr>
          <a:xfrm>
            <a:off x="566928" y="4879848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‏وأخطائها الشائعة والتحقق من صحة مخرجاتها.‏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F32A4B3-46A2-433A-908A-0F4D39BA739A}"/>
              </a:ext>
            </a:extLst>
          </p:cNvPr>
          <p:cNvSpPr>
            <a:spLocks noGrp="1"/>
          </p:cNvSpPr>
          <p:nvPr/>
        </p:nvSpPr>
        <p:spPr>
          <a:xfrm>
            <a:off x="11313871" y="53888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5E8BC086-6369-4E28-A1CE-3A3A886DD77A}"/>
              </a:ext>
            </a:extLst>
          </p:cNvPr>
          <p:cNvSpPr>
            <a:spLocks noGrp="1"/>
          </p:cNvSpPr>
          <p:nvPr/>
        </p:nvSpPr>
        <p:spPr>
          <a:xfrm>
            <a:off x="11313871" y="5416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436C1293-8150-4964-9F97-C41771C45993}"/>
              </a:ext>
            </a:extLst>
          </p:cNvPr>
          <p:cNvSpPr>
            <a:spLocks noGrp="1"/>
          </p:cNvSpPr>
          <p:nvPr/>
        </p:nvSpPr>
        <p:spPr>
          <a:xfrm>
            <a:off x="566928" y="53431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‏تطبيق الممارسات الآمنة والمسؤولة‏</a:t>
            </a:r>
            <a:endParaRPr sz="1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5824295-D7A2-4DCF-BBD1-60346D57CCA5}"/>
              </a:ext>
            </a:extLst>
          </p:cNvPr>
          <p:cNvSpPr>
            <a:spLocks noGrp="1"/>
          </p:cNvSpPr>
          <p:nvPr/>
        </p:nvSpPr>
        <p:spPr>
          <a:xfrm>
            <a:off x="566928" y="563575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‏عند استخدام الذكاء الاصطناعي في بيئة العمل.‏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59011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D64EB02-6862-442A-88EF-01CC8463F36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51F3FCE-3367-4990-8967-26A8B3C321D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‏خارطة الرحلة التدريبية‏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780C21B-BF80-40B0-B777-FDCD6E331BF0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‏محاور البرنامج الستة‏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0B4C841-3986-40AF-BB09-582A7D9285C4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7A00768-7E1A-4523-809C-AC9733E0C7B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1255951-50A0-453E-A619-25AFF69CB286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E3AF8AE-35C5-44EF-AD8C-9C058AA74319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F52389A-26DF-46EA-B785-37CD4CB90BAB}"/>
              </a:ext>
            </a:extLst>
          </p:cNvPr>
          <p:cNvSpPr>
            <a:spLocks noGrp="1"/>
          </p:cNvSpPr>
          <p:nvPr/>
        </p:nvSpPr>
        <p:spPr>
          <a:xfrm>
            <a:off x="8048549" y="23317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9C5AC9C-6788-4B70-8191-A9858A78F861}"/>
              </a:ext>
            </a:extLst>
          </p:cNvPr>
          <p:cNvSpPr>
            <a:spLocks noGrp="1"/>
          </p:cNvSpPr>
          <p:nvPr/>
        </p:nvSpPr>
        <p:spPr>
          <a:xfrm>
            <a:off x="8194853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  ·  المفاهيم‏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5C341D6-2275-4248-8877-1ABDB62BE883}"/>
              </a:ext>
            </a:extLst>
          </p:cNvPr>
          <p:cNvSpPr>
            <a:spLocks noGrp="1"/>
          </p:cNvSpPr>
          <p:nvPr/>
        </p:nvSpPr>
        <p:spPr>
          <a:xfrm>
            <a:off x="8194853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‏مقدمة في الذكاء الاصطناعي وبيئة العمل — ما هو، وكيف يعمل، ولماذا الآن.‏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E4CE4BD-9F0D-4E0E-849B-0031B87E8A6C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ADC1BAA-2FB8-4CF7-A357-7DA732AAECB1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868AB53-3BDA-45D5-9F28-963DA6179D1C}"/>
              </a:ext>
            </a:extLst>
          </p:cNvPr>
          <p:cNvSpPr>
            <a:spLocks noGrp="1"/>
          </p:cNvSpPr>
          <p:nvPr/>
        </p:nvSpPr>
        <p:spPr>
          <a:xfrm>
            <a:off x="4307738" y="23317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026678A-4017-4B3D-BFFA-49897ADA70EC}"/>
              </a:ext>
            </a:extLst>
          </p:cNvPr>
          <p:cNvSpPr>
            <a:spLocks noGrp="1"/>
          </p:cNvSpPr>
          <p:nvPr/>
        </p:nvSpPr>
        <p:spPr>
          <a:xfrm>
            <a:off x="445404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  ·  الأدوات‏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882619E-EC9C-4B3D-94B3-5CCAE2DB6222}"/>
              </a:ext>
            </a:extLst>
          </p:cNvPr>
          <p:cNvSpPr>
            <a:spLocks noGrp="1"/>
          </p:cNvSpPr>
          <p:nvPr/>
        </p:nvSpPr>
        <p:spPr>
          <a:xfrm>
            <a:off x="445404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‏تطبيقات الذكاء الاصطناعي في أدوات العمل اليومية التي تستخدمها بالفعل.‏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89EE63D-1802-40E3-8C66-9EA8D3B71B40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A0E1ACA-932F-4F99-B089-19ABEEF5DCE3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8CA6A21-6629-4E5A-AA21-7F75209B8515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1989F41-1350-49C2-A913-18C871994872}"/>
              </a:ext>
            </a:extLst>
          </p:cNvPr>
          <p:cNvSpPr>
            <a:spLocks noGrp="1"/>
          </p:cNvSpPr>
          <p:nvPr/>
        </p:nvSpPr>
        <p:spPr>
          <a:xfrm>
            <a:off x="71323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  ·  الممارسة‏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93DCDF6-C83E-480A-80B5-666F5A09F82A}"/>
              </a:ext>
            </a:extLst>
          </p:cNvPr>
          <p:cNvSpPr>
            <a:spLocks noGrp="1"/>
          </p:cNvSpPr>
          <p:nvPr/>
        </p:nvSpPr>
        <p:spPr>
          <a:xfrm>
            <a:off x="71323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‏التطبيق العملي على المساعدات الذكية وصياغة الأوامر الفعّالة.‏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788B8B3-3BFB-4742-8AA2-C5D10743BC2A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D0476CD-6A9D-424B-8C35-222DC0F2AB7F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B7437A7-B178-4CF8-9B32-311409573097}"/>
              </a:ext>
            </a:extLst>
          </p:cNvPr>
          <p:cNvSpPr>
            <a:spLocks noGrp="1"/>
          </p:cNvSpPr>
          <p:nvPr/>
        </p:nvSpPr>
        <p:spPr>
          <a:xfrm>
            <a:off x="8048549" y="38221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A1CA31B-FF7D-4EFD-9709-10C2DCDEA71E}"/>
              </a:ext>
            </a:extLst>
          </p:cNvPr>
          <p:cNvSpPr>
            <a:spLocks noGrp="1"/>
          </p:cNvSpPr>
          <p:nvPr/>
        </p:nvSpPr>
        <p:spPr>
          <a:xfrm>
            <a:off x="8194853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  ·  الحدود‏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95A186C-BCF8-4EEA-BB56-67F02CEA23FF}"/>
              </a:ext>
            </a:extLst>
          </p:cNvPr>
          <p:cNvSpPr>
            <a:spLocks noGrp="1"/>
          </p:cNvSpPr>
          <p:nvPr/>
        </p:nvSpPr>
        <p:spPr>
          <a:xfrm>
            <a:off x="8194853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‏حدود الذكاء الاصطناعي والتحقق من المخرجات قبل اعتمادها.‏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9125CA8C-9B3D-457A-9584-43157AEDED5D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42EFE43-03E5-4E84-A8C2-D0D8F29B7BD4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29A6843-AEF7-482C-883A-C9EF28D86E5D}"/>
              </a:ext>
            </a:extLst>
          </p:cNvPr>
          <p:cNvSpPr>
            <a:spLocks noGrp="1"/>
          </p:cNvSpPr>
          <p:nvPr/>
        </p:nvSpPr>
        <p:spPr>
          <a:xfrm>
            <a:off x="4307738" y="38221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E07FC87-E09D-4AE8-9474-C5589BB61D1A}"/>
              </a:ext>
            </a:extLst>
          </p:cNvPr>
          <p:cNvSpPr>
            <a:spLocks noGrp="1"/>
          </p:cNvSpPr>
          <p:nvPr/>
        </p:nvSpPr>
        <p:spPr>
          <a:xfrm>
            <a:off x="445404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‏٥  ·  المسؤولية‏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117F6E5-B5C3-4B88-956D-0AAA54353867}"/>
              </a:ext>
            </a:extLst>
          </p:cNvPr>
          <p:cNvSpPr>
            <a:spLocks noGrp="1"/>
          </p:cNvSpPr>
          <p:nvPr/>
        </p:nvSpPr>
        <p:spPr>
          <a:xfrm>
            <a:off x="445404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‏الاستخدام الآمن والمسؤول للذكاء الاصطناعي في الجهات الحكومية.‏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FD8E3FE4-1503-4D32-B339-FEFD35436AA8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72E31A7-2F4D-4D33-A4B7-7879039657EC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6739C57-FFED-451D-9081-82044A48F6D7}"/>
              </a:ext>
            </a:extLst>
          </p:cNvPr>
          <p:cNvSpPr>
            <a:spLocks noGrp="1"/>
          </p:cNvSpPr>
          <p:nvPr/>
        </p:nvSpPr>
        <p:spPr>
          <a:xfrm>
            <a:off x="566928" y="38221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312A72A-5868-4588-975D-1FE8567F885D}"/>
              </a:ext>
            </a:extLst>
          </p:cNvPr>
          <p:cNvSpPr>
            <a:spLocks noGrp="1"/>
          </p:cNvSpPr>
          <p:nvPr/>
        </p:nvSpPr>
        <p:spPr>
          <a:xfrm>
            <a:off x="71323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‏٦  ·  التوظيف‏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7FF4663-146D-4DE4-AF5A-3676695E8521}"/>
              </a:ext>
            </a:extLst>
          </p:cNvPr>
          <p:cNvSpPr>
            <a:spLocks noGrp="1"/>
          </p:cNvSpPr>
          <p:nvPr/>
        </p:nvSpPr>
        <p:spPr>
          <a:xfrm>
            <a:off x="71323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‏توظيف الذكاء الاصطناعي في المهام اليومية وبناء خطة شخصية.‏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9771293-C13E-46E6-A257-6F32CCA42D7C}"/>
              </a:ext>
            </a:extLst>
          </p:cNvPr>
          <p:cNvSpPr>
            <a:spLocks noGrp="1"/>
          </p:cNvSpPr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2F76F330-D306-42C3-A43C-950036E4B9CA}"/>
              </a:ext>
            </a:extLst>
          </p:cNvPr>
          <p:cNvSpPr>
            <a:spLocks noGrp="1"/>
          </p:cNvSpPr>
          <p:nvPr/>
        </p:nvSpPr>
        <p:spPr>
          <a:xfrm>
            <a:off x="11094415" y="530352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02CEB43-FC9A-4851-BC86-22198DB58DB3}"/>
              </a:ext>
            </a:extLst>
          </p:cNvPr>
          <p:cNvSpPr>
            <a:spLocks noGrp="1"/>
          </p:cNvSpPr>
          <p:nvPr/>
        </p:nvSpPr>
        <p:spPr>
          <a:xfrm>
            <a:off x="11094415" y="53309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567A41C-BD77-4645-9923-6152082333F4}"/>
              </a:ext>
            </a:extLst>
          </p:cNvPr>
          <p:cNvSpPr>
            <a:spLocks noGrp="1"/>
          </p:cNvSpPr>
          <p:nvPr/>
        </p:nvSpPr>
        <p:spPr>
          <a:xfrm>
            <a:off x="749808" y="523036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‏المحاور ١–٣ في اليوم الأول، والمحاور ٤–٦ في اليوم الثاني.‏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19669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89BFEB5-FAB7-412B-8794-2473E8EB7AB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42CC53-CD15-4467-8346-761800F8AC2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‏من المفهوم إلى الممارسة  ·  ٥ ساعات‏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9FA00C-0D18-485E-BF82-7EC2F579AA6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‏أجندة اليوم الأول‏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180FC0A-CE17-40F9-A1C9-62D0E9E4E02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97BE4EA-D060-44FB-A22F-62D2653671A4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363B18C-7351-44E6-8707-AAAE38E12A13}"/>
              </a:ext>
            </a:extLst>
          </p:cNvPr>
          <p:cNvSpPr>
            <a:spLocks noGrp="1"/>
          </p:cNvSpPr>
          <p:nvPr/>
        </p:nvSpPr>
        <p:spPr>
          <a:xfrm>
            <a:off x="566928" y="1481328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7CE287A-5935-4A2D-9F91-C7A52AFC84BE}"/>
              </a:ext>
            </a:extLst>
          </p:cNvPr>
          <p:cNvSpPr>
            <a:spLocks noGrp="1"/>
          </p:cNvSpPr>
          <p:nvPr/>
        </p:nvSpPr>
        <p:spPr>
          <a:xfrm>
            <a:off x="10143439" y="1536192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090C17A-AA26-45D4-AFD7-488702206FDF}"/>
              </a:ext>
            </a:extLst>
          </p:cNvPr>
          <p:cNvSpPr>
            <a:spLocks noGrp="1"/>
          </p:cNvSpPr>
          <p:nvPr/>
        </p:nvSpPr>
        <p:spPr>
          <a:xfrm>
            <a:off x="10143439" y="1536192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08:30 - 09:00</a:t>
            </a:r>
            <a:endParaRPr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687A4A-23BC-4C8D-82E5-FB9B39D0A116}"/>
              </a:ext>
            </a:extLst>
          </p:cNvPr>
          <p:cNvSpPr>
            <a:spLocks noGrp="1"/>
          </p:cNvSpPr>
          <p:nvPr/>
        </p:nvSpPr>
        <p:spPr>
          <a:xfrm>
            <a:off x="749808" y="1508760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‏التسجيل والافتتاح — التعارف وتوقعات المشاركين واتفاقية التعلّم‏</a:t>
            </a:r>
            <a:endParaRPr sz="16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C8F210D-DBE6-465C-B64A-6F56863AB379}"/>
              </a:ext>
            </a:extLst>
          </p:cNvPr>
          <p:cNvSpPr>
            <a:spLocks noGrp="1"/>
          </p:cNvSpPr>
          <p:nvPr/>
        </p:nvSpPr>
        <p:spPr>
          <a:xfrm>
            <a:off x="566928" y="2059686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C541C68-1680-425B-AF4A-58158055C769}"/>
              </a:ext>
            </a:extLst>
          </p:cNvPr>
          <p:cNvSpPr>
            <a:spLocks noGrp="1"/>
          </p:cNvSpPr>
          <p:nvPr/>
        </p:nvSpPr>
        <p:spPr>
          <a:xfrm>
            <a:off x="10143439" y="2114550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BB8AF16-F04E-457F-95F1-1C86933EDDEA}"/>
              </a:ext>
            </a:extLst>
          </p:cNvPr>
          <p:cNvSpPr>
            <a:spLocks noGrp="1"/>
          </p:cNvSpPr>
          <p:nvPr/>
        </p:nvSpPr>
        <p:spPr>
          <a:xfrm>
            <a:off x="10143439" y="2114550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09:00 - 10:15</a:t>
            </a:r>
            <a:endParaRPr sz="13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725FB4-3BF0-4BD7-9E0D-6A9A36568934}"/>
              </a:ext>
            </a:extLst>
          </p:cNvPr>
          <p:cNvSpPr>
            <a:spLocks noGrp="1"/>
          </p:cNvSpPr>
          <p:nvPr/>
        </p:nvSpPr>
        <p:spPr>
          <a:xfrm>
            <a:off x="749808" y="2087118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الأول: مقدمة في الذكاء الاصطناعي وبيئة العمل‏</a:t>
            </a:r>
            <a:endParaRPr sz="16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2EF7880-CD8D-489D-8DDB-A5F35B38050F}"/>
              </a:ext>
            </a:extLst>
          </p:cNvPr>
          <p:cNvSpPr>
            <a:spLocks noGrp="1"/>
          </p:cNvSpPr>
          <p:nvPr/>
        </p:nvSpPr>
        <p:spPr>
          <a:xfrm>
            <a:off x="566928" y="2638044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FE4C32D-20B8-4397-849C-1979CF2D4ACB}"/>
              </a:ext>
            </a:extLst>
          </p:cNvPr>
          <p:cNvSpPr>
            <a:spLocks noGrp="1"/>
          </p:cNvSpPr>
          <p:nvPr/>
        </p:nvSpPr>
        <p:spPr>
          <a:xfrm>
            <a:off x="10143439" y="2692908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696969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3A089C0-B36D-483D-B852-1D8EEE139F52}"/>
              </a:ext>
            </a:extLst>
          </p:cNvPr>
          <p:cNvSpPr>
            <a:spLocks noGrp="1"/>
          </p:cNvSpPr>
          <p:nvPr/>
        </p:nvSpPr>
        <p:spPr>
          <a:xfrm>
            <a:off x="10143439" y="2692908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10:15 - 10:30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58F7F81-183F-44E6-B10D-FFFC9E134037}"/>
              </a:ext>
            </a:extLst>
          </p:cNvPr>
          <p:cNvSpPr>
            <a:spLocks noGrp="1"/>
          </p:cNvSpPr>
          <p:nvPr/>
        </p:nvSpPr>
        <p:spPr>
          <a:xfrm>
            <a:off x="749808" y="2665476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A5600A8-4F8B-49AE-8B06-522308D9AAA2}"/>
              </a:ext>
            </a:extLst>
          </p:cNvPr>
          <p:cNvSpPr>
            <a:spLocks noGrp="1"/>
          </p:cNvSpPr>
          <p:nvPr/>
        </p:nvSpPr>
        <p:spPr>
          <a:xfrm>
            <a:off x="566928" y="3216402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35D4DA1-7171-4D7C-9DA6-F80EF02B75E8}"/>
              </a:ext>
            </a:extLst>
          </p:cNvPr>
          <p:cNvSpPr>
            <a:spLocks noGrp="1"/>
          </p:cNvSpPr>
          <p:nvPr/>
        </p:nvSpPr>
        <p:spPr>
          <a:xfrm>
            <a:off x="10143439" y="3271266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4D58235-5B4E-4AA2-B496-7725EAADA911}"/>
              </a:ext>
            </a:extLst>
          </p:cNvPr>
          <p:cNvSpPr>
            <a:spLocks noGrp="1"/>
          </p:cNvSpPr>
          <p:nvPr/>
        </p:nvSpPr>
        <p:spPr>
          <a:xfrm>
            <a:off x="10143439" y="3271266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10:30 - 11:45</a:t>
            </a:r>
            <a:endParaRPr sz="13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7289513-D9B4-4BB3-9DC0-15E33C2F9A1A}"/>
              </a:ext>
            </a:extLst>
          </p:cNvPr>
          <p:cNvSpPr>
            <a:spLocks noGrp="1"/>
          </p:cNvSpPr>
          <p:nvPr/>
        </p:nvSpPr>
        <p:spPr>
          <a:xfrm>
            <a:off x="749808" y="3243834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الثاني: تطبيقات الذكاء الاصطناعي في أدوات العمل اليومية‏</a:t>
            </a:r>
            <a:endParaRPr sz="16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043C0D7-780E-4A00-AC6C-6FF19C5B6315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F9EEA3B-739F-4C03-AC83-47CD51DF7795}"/>
              </a:ext>
            </a:extLst>
          </p:cNvPr>
          <p:cNvSpPr>
            <a:spLocks noGrp="1"/>
          </p:cNvSpPr>
          <p:nvPr/>
        </p:nvSpPr>
        <p:spPr>
          <a:xfrm>
            <a:off x="10143439" y="3849624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AC7CA0A-A5A6-4851-AA99-8DF716C71DEE}"/>
              </a:ext>
            </a:extLst>
          </p:cNvPr>
          <p:cNvSpPr>
            <a:spLocks noGrp="1"/>
          </p:cNvSpPr>
          <p:nvPr/>
        </p:nvSpPr>
        <p:spPr>
          <a:xfrm>
            <a:off x="10143439" y="3849624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11:45 - 12:30</a:t>
            </a:r>
            <a:endParaRPr sz="13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622CDC4-B64E-4FF1-8095-735E0D3FFD17}"/>
              </a:ext>
            </a:extLst>
          </p:cNvPr>
          <p:cNvSpPr>
            <a:spLocks noGrp="1"/>
          </p:cNvSpPr>
          <p:nvPr/>
        </p:nvSpPr>
        <p:spPr>
          <a:xfrm>
            <a:off x="749808" y="3822192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الثالث (١): مبادئ صياغة الأوامر وإطار RICE‏</a:t>
            </a:r>
            <a:endParaRPr sz="16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650AA2E-7FBE-4705-9965-7EB1622991FC}"/>
              </a:ext>
            </a:extLst>
          </p:cNvPr>
          <p:cNvSpPr>
            <a:spLocks noGrp="1"/>
          </p:cNvSpPr>
          <p:nvPr/>
        </p:nvSpPr>
        <p:spPr>
          <a:xfrm>
            <a:off x="566928" y="4373118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03E93D4A-7D0C-4E02-9EEB-CD4DCAA7D5C8}"/>
              </a:ext>
            </a:extLst>
          </p:cNvPr>
          <p:cNvSpPr>
            <a:spLocks noGrp="1"/>
          </p:cNvSpPr>
          <p:nvPr/>
        </p:nvSpPr>
        <p:spPr>
          <a:xfrm>
            <a:off x="10143439" y="4427982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696969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22513C7-867B-4ADA-84D1-71A44D858B9D}"/>
              </a:ext>
            </a:extLst>
          </p:cNvPr>
          <p:cNvSpPr>
            <a:spLocks noGrp="1"/>
          </p:cNvSpPr>
          <p:nvPr/>
        </p:nvSpPr>
        <p:spPr>
          <a:xfrm>
            <a:off x="10143439" y="4427982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12:30 - 13:15</a:t>
            </a:r>
            <a:endParaRPr sz="13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4362E09-7F0A-4BA5-B4B7-3E25282D1227}"/>
              </a:ext>
            </a:extLst>
          </p:cNvPr>
          <p:cNvSpPr>
            <a:spLocks noGrp="1"/>
          </p:cNvSpPr>
          <p:nvPr/>
        </p:nvSpPr>
        <p:spPr>
          <a:xfrm>
            <a:off x="749808" y="4400550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 الصلاة والغداء‏</a:t>
            </a:r>
            <a:endParaRPr sz="16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DF85F9C-E013-4BCD-A528-751A78DD7763}"/>
              </a:ext>
            </a:extLst>
          </p:cNvPr>
          <p:cNvSpPr>
            <a:spLocks noGrp="1"/>
          </p:cNvSpPr>
          <p:nvPr/>
        </p:nvSpPr>
        <p:spPr>
          <a:xfrm>
            <a:off x="566928" y="4951476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A558E0B-A397-4CAB-8201-42CBF5822531}"/>
              </a:ext>
            </a:extLst>
          </p:cNvPr>
          <p:cNvSpPr>
            <a:spLocks noGrp="1"/>
          </p:cNvSpPr>
          <p:nvPr/>
        </p:nvSpPr>
        <p:spPr>
          <a:xfrm>
            <a:off x="10143439" y="5006340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8EC4E27-3038-4C17-AB9A-8F1B1E388AAA}"/>
              </a:ext>
            </a:extLst>
          </p:cNvPr>
          <p:cNvSpPr>
            <a:spLocks noGrp="1"/>
          </p:cNvSpPr>
          <p:nvPr/>
        </p:nvSpPr>
        <p:spPr>
          <a:xfrm>
            <a:off x="10143439" y="5006340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13:15 - 14:15</a:t>
            </a:r>
            <a:endParaRPr sz="135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0FB2DAD-7548-435F-BB5C-7435E5A41D6F}"/>
              </a:ext>
            </a:extLst>
          </p:cNvPr>
          <p:cNvSpPr>
            <a:spLocks noGrp="1"/>
          </p:cNvSpPr>
          <p:nvPr/>
        </p:nvSpPr>
        <p:spPr>
          <a:xfrm>
            <a:off x="749808" y="4978908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الثالث (٢): تمارين تطبيقية على المساعدات الذكية‏</a:t>
            </a:r>
            <a:endParaRPr sz="16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8F7BA1B-1432-4656-8B4C-EF316FCC95E1}"/>
              </a:ext>
            </a:extLst>
          </p:cNvPr>
          <p:cNvSpPr>
            <a:spLocks noGrp="1"/>
          </p:cNvSpPr>
          <p:nvPr/>
        </p:nvSpPr>
        <p:spPr>
          <a:xfrm>
            <a:off x="566928" y="5529834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34C3A61-786E-42E0-82CA-8C7C72CE27A0}"/>
              </a:ext>
            </a:extLst>
          </p:cNvPr>
          <p:cNvSpPr>
            <a:spLocks noGrp="1"/>
          </p:cNvSpPr>
          <p:nvPr/>
        </p:nvSpPr>
        <p:spPr>
          <a:xfrm>
            <a:off x="10143439" y="5584698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D7E4BD0-682B-4710-9784-F45C52250BE9}"/>
              </a:ext>
            </a:extLst>
          </p:cNvPr>
          <p:cNvSpPr>
            <a:spLocks noGrp="1"/>
          </p:cNvSpPr>
          <p:nvPr/>
        </p:nvSpPr>
        <p:spPr>
          <a:xfrm>
            <a:off x="10143439" y="5584698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14:15 - 14:30</a:t>
            </a:r>
            <a:endParaRPr sz="135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9936DF72-1D08-4AEC-9801-8528CAF9BA5D}"/>
              </a:ext>
            </a:extLst>
          </p:cNvPr>
          <p:cNvSpPr>
            <a:spLocks noGrp="1"/>
          </p:cNvSpPr>
          <p:nvPr/>
        </p:nvSpPr>
        <p:spPr>
          <a:xfrm>
            <a:off x="749808" y="5557266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‏خلاصة اليوم والتقويم السريع‏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93380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D49A883-87BD-417F-A5FA-3855FB4CDB36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D92273-B150-4C40-AC57-658DB33AB2B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‏من الوعي إلى الخطة  ·  ٥ ساعات‏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B891BBE-D5DA-45D4-99E3-A6F56C34E2FA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‏أجندة اليوم الثاني‏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6276212-7F29-4BA0-9E4A-E3DBC235011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0CCF57-D69F-4F18-8701-9030CE71DA74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9CBF78C-A509-4EEE-97F3-3142A0A83DBE}"/>
              </a:ext>
            </a:extLst>
          </p:cNvPr>
          <p:cNvSpPr>
            <a:spLocks noGrp="1"/>
          </p:cNvSpPr>
          <p:nvPr/>
        </p:nvSpPr>
        <p:spPr>
          <a:xfrm>
            <a:off x="566928" y="1481328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CFFAD99-B053-4E4A-8A63-369DA37AF04F}"/>
              </a:ext>
            </a:extLst>
          </p:cNvPr>
          <p:cNvSpPr>
            <a:spLocks noGrp="1"/>
          </p:cNvSpPr>
          <p:nvPr/>
        </p:nvSpPr>
        <p:spPr>
          <a:xfrm>
            <a:off x="10143439" y="1536192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BF1211F-C117-408D-AE46-83BEB95BA3CF}"/>
              </a:ext>
            </a:extLst>
          </p:cNvPr>
          <p:cNvSpPr>
            <a:spLocks noGrp="1"/>
          </p:cNvSpPr>
          <p:nvPr/>
        </p:nvSpPr>
        <p:spPr>
          <a:xfrm>
            <a:off x="10143439" y="1536192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08:30 - 09:00</a:t>
            </a:r>
            <a:endParaRPr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785DB02-E427-4428-A689-20D1C4E9E585}"/>
              </a:ext>
            </a:extLst>
          </p:cNvPr>
          <p:cNvSpPr>
            <a:spLocks noGrp="1"/>
          </p:cNvSpPr>
          <p:nvPr/>
        </p:nvSpPr>
        <p:spPr>
          <a:xfrm>
            <a:off x="749808" y="1508760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‏مراجعة اليوم الأول ومناقشة الواجب التطبيقي‏</a:t>
            </a:r>
            <a:endParaRPr sz="16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F5F5AF2-6582-4B7E-A126-4B5A7BFD8E04}"/>
              </a:ext>
            </a:extLst>
          </p:cNvPr>
          <p:cNvSpPr>
            <a:spLocks noGrp="1"/>
          </p:cNvSpPr>
          <p:nvPr/>
        </p:nvSpPr>
        <p:spPr>
          <a:xfrm>
            <a:off x="566928" y="2059686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1B370F0-CD9F-442F-B4AD-4FE84AFA558D}"/>
              </a:ext>
            </a:extLst>
          </p:cNvPr>
          <p:cNvSpPr>
            <a:spLocks noGrp="1"/>
          </p:cNvSpPr>
          <p:nvPr/>
        </p:nvSpPr>
        <p:spPr>
          <a:xfrm>
            <a:off x="10143439" y="2114550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E4A0494-4AD3-497F-80AB-95C11E293908}"/>
              </a:ext>
            </a:extLst>
          </p:cNvPr>
          <p:cNvSpPr>
            <a:spLocks noGrp="1"/>
          </p:cNvSpPr>
          <p:nvPr/>
        </p:nvSpPr>
        <p:spPr>
          <a:xfrm>
            <a:off x="10143439" y="2114550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09:00 - 10:15</a:t>
            </a:r>
            <a:endParaRPr sz="13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D6E00EA-8D82-41F3-B395-3970A8AFC3E6}"/>
              </a:ext>
            </a:extLst>
          </p:cNvPr>
          <p:cNvSpPr>
            <a:spLocks noGrp="1"/>
          </p:cNvSpPr>
          <p:nvPr/>
        </p:nvSpPr>
        <p:spPr>
          <a:xfrm>
            <a:off x="749808" y="2087118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الرابع: حدود الذكاء الاصطناعي والتحقق من المخرجات‏</a:t>
            </a:r>
            <a:endParaRPr sz="160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44D9BA4-9F8A-4FC7-BB2B-E4E926DD9BCF}"/>
              </a:ext>
            </a:extLst>
          </p:cNvPr>
          <p:cNvSpPr>
            <a:spLocks noGrp="1"/>
          </p:cNvSpPr>
          <p:nvPr/>
        </p:nvSpPr>
        <p:spPr>
          <a:xfrm>
            <a:off x="566928" y="2638044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E4D1E22-58DA-4B45-B401-A7B5AC639645}"/>
              </a:ext>
            </a:extLst>
          </p:cNvPr>
          <p:cNvSpPr>
            <a:spLocks noGrp="1"/>
          </p:cNvSpPr>
          <p:nvPr/>
        </p:nvSpPr>
        <p:spPr>
          <a:xfrm>
            <a:off x="10143439" y="2692908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696969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285F82A-182F-4622-BC5F-B104553CFF01}"/>
              </a:ext>
            </a:extLst>
          </p:cNvPr>
          <p:cNvSpPr>
            <a:spLocks noGrp="1"/>
          </p:cNvSpPr>
          <p:nvPr/>
        </p:nvSpPr>
        <p:spPr>
          <a:xfrm>
            <a:off x="10143439" y="2692908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10:15 - 10:30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882A0C0-4605-423F-B710-B936C4DB1811}"/>
              </a:ext>
            </a:extLst>
          </p:cNvPr>
          <p:cNvSpPr>
            <a:spLocks noGrp="1"/>
          </p:cNvSpPr>
          <p:nvPr/>
        </p:nvSpPr>
        <p:spPr>
          <a:xfrm>
            <a:off x="749808" y="2665476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5D33383-6B00-4ECA-9807-A6FD1775A727}"/>
              </a:ext>
            </a:extLst>
          </p:cNvPr>
          <p:cNvSpPr>
            <a:spLocks noGrp="1"/>
          </p:cNvSpPr>
          <p:nvPr/>
        </p:nvSpPr>
        <p:spPr>
          <a:xfrm>
            <a:off x="566928" y="3216402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B6D26B8-9311-47AA-A301-D434D4737F43}"/>
              </a:ext>
            </a:extLst>
          </p:cNvPr>
          <p:cNvSpPr>
            <a:spLocks noGrp="1"/>
          </p:cNvSpPr>
          <p:nvPr/>
        </p:nvSpPr>
        <p:spPr>
          <a:xfrm>
            <a:off x="10143439" y="3271266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1865B03-0463-43FF-88E0-6FF51B5EE45D}"/>
              </a:ext>
            </a:extLst>
          </p:cNvPr>
          <p:cNvSpPr>
            <a:spLocks noGrp="1"/>
          </p:cNvSpPr>
          <p:nvPr/>
        </p:nvSpPr>
        <p:spPr>
          <a:xfrm>
            <a:off x="10143439" y="3271266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10:30 - 11:45</a:t>
            </a:r>
            <a:endParaRPr sz="13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76C489E-770B-4B40-B1F2-85B9E225F6F6}"/>
              </a:ext>
            </a:extLst>
          </p:cNvPr>
          <p:cNvSpPr>
            <a:spLocks noGrp="1"/>
          </p:cNvSpPr>
          <p:nvPr/>
        </p:nvSpPr>
        <p:spPr>
          <a:xfrm>
            <a:off x="749808" y="3243834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الخامس: الاستخدام الآمن والمسؤول للذكاء الاصطناعي‏</a:t>
            </a:r>
            <a:endParaRPr sz="16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E46F1DF-5A0F-4427-8C16-4479E5D59C28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DEBF3E8-0F04-49F7-9487-34735EBC0BB2}"/>
              </a:ext>
            </a:extLst>
          </p:cNvPr>
          <p:cNvSpPr>
            <a:spLocks noGrp="1"/>
          </p:cNvSpPr>
          <p:nvPr/>
        </p:nvSpPr>
        <p:spPr>
          <a:xfrm>
            <a:off x="10143439" y="3849624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262AB73-E22D-4C7C-9C84-AA2A183CBBB6}"/>
              </a:ext>
            </a:extLst>
          </p:cNvPr>
          <p:cNvSpPr>
            <a:spLocks noGrp="1"/>
          </p:cNvSpPr>
          <p:nvPr/>
        </p:nvSpPr>
        <p:spPr>
          <a:xfrm>
            <a:off x="10143439" y="3849624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11:45 - 12:30</a:t>
            </a:r>
            <a:endParaRPr sz="13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1CED795-E94A-4CB9-8140-05B99AE83355}"/>
              </a:ext>
            </a:extLst>
          </p:cNvPr>
          <p:cNvSpPr>
            <a:spLocks noGrp="1"/>
          </p:cNvSpPr>
          <p:nvPr/>
        </p:nvSpPr>
        <p:spPr>
          <a:xfrm>
            <a:off x="749808" y="3822192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السادس (١): منهجية اكتشاف فرص الاستخدام‏</a:t>
            </a:r>
            <a:endParaRPr sz="16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04FD023-0168-40F0-8B6F-5F82D9967A8C}"/>
              </a:ext>
            </a:extLst>
          </p:cNvPr>
          <p:cNvSpPr>
            <a:spLocks noGrp="1"/>
          </p:cNvSpPr>
          <p:nvPr/>
        </p:nvSpPr>
        <p:spPr>
          <a:xfrm>
            <a:off x="566928" y="4373118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DFE00592-481B-45B4-98BE-840B5B3F2839}"/>
              </a:ext>
            </a:extLst>
          </p:cNvPr>
          <p:cNvSpPr>
            <a:spLocks noGrp="1"/>
          </p:cNvSpPr>
          <p:nvPr/>
        </p:nvSpPr>
        <p:spPr>
          <a:xfrm>
            <a:off x="10143439" y="4427982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696969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8613D67-E0BC-4CDD-9029-D9CDB7D65DF0}"/>
              </a:ext>
            </a:extLst>
          </p:cNvPr>
          <p:cNvSpPr>
            <a:spLocks noGrp="1"/>
          </p:cNvSpPr>
          <p:nvPr/>
        </p:nvSpPr>
        <p:spPr>
          <a:xfrm>
            <a:off x="10143439" y="4427982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12:30 - 13:15</a:t>
            </a:r>
            <a:endParaRPr sz="13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82A5BCAF-DB7C-4BDC-9553-B615E9552344}"/>
              </a:ext>
            </a:extLst>
          </p:cNvPr>
          <p:cNvSpPr>
            <a:spLocks noGrp="1"/>
          </p:cNvSpPr>
          <p:nvPr/>
        </p:nvSpPr>
        <p:spPr>
          <a:xfrm>
            <a:off x="749808" y="4400550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‏استراحة الصلاة والغداء‏</a:t>
            </a:r>
            <a:endParaRPr sz="16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AFC2E499-DA3F-400B-89BB-EA8EE8F71DD3}"/>
              </a:ext>
            </a:extLst>
          </p:cNvPr>
          <p:cNvSpPr>
            <a:spLocks noGrp="1"/>
          </p:cNvSpPr>
          <p:nvPr/>
        </p:nvSpPr>
        <p:spPr>
          <a:xfrm>
            <a:off x="566928" y="4951476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CE334015-B628-4D62-98C5-038D78C37FD5}"/>
              </a:ext>
            </a:extLst>
          </p:cNvPr>
          <p:cNvSpPr>
            <a:spLocks noGrp="1"/>
          </p:cNvSpPr>
          <p:nvPr/>
        </p:nvSpPr>
        <p:spPr>
          <a:xfrm>
            <a:off x="10143439" y="5006340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BD068CA-1B56-4B1B-8110-36E452DB1173}"/>
              </a:ext>
            </a:extLst>
          </p:cNvPr>
          <p:cNvSpPr>
            <a:spLocks noGrp="1"/>
          </p:cNvSpPr>
          <p:nvPr/>
        </p:nvSpPr>
        <p:spPr>
          <a:xfrm>
            <a:off x="10143439" y="5006340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13:15 - 14:00</a:t>
            </a:r>
            <a:endParaRPr sz="135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4D5BA0A-1269-4A00-9D95-4453FB77DE54}"/>
              </a:ext>
            </a:extLst>
          </p:cNvPr>
          <p:cNvSpPr>
            <a:spLocks noGrp="1"/>
          </p:cNvSpPr>
          <p:nvPr/>
        </p:nvSpPr>
        <p:spPr>
          <a:xfrm>
            <a:off x="749808" y="4978908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‏المحور السادس (٢): بناء خطة الثلاثين يوماً والمشروع الختامي‏</a:t>
            </a:r>
            <a:endParaRPr sz="16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629ECE9-A96D-4604-8F01-12E18A22CFE9}"/>
              </a:ext>
            </a:extLst>
          </p:cNvPr>
          <p:cNvSpPr>
            <a:spLocks noGrp="1"/>
          </p:cNvSpPr>
          <p:nvPr/>
        </p:nvSpPr>
        <p:spPr>
          <a:xfrm>
            <a:off x="566928" y="5529834"/>
            <a:ext cx="11057839" cy="496062"/>
          </a:xfrm>
          <a:prstGeom prst="roundRect">
            <a:avLst>
              <a:gd name="adj" fmla="val 12903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B4E6149-51A2-42CA-A1F0-B8093A22BF7E}"/>
              </a:ext>
            </a:extLst>
          </p:cNvPr>
          <p:cNvSpPr>
            <a:spLocks noGrp="1"/>
          </p:cNvSpPr>
          <p:nvPr/>
        </p:nvSpPr>
        <p:spPr>
          <a:xfrm>
            <a:off x="10143439" y="5584698"/>
            <a:ext cx="1371600" cy="386334"/>
          </a:xfrm>
          <a:prstGeom prst="roundRect">
            <a:avLst>
              <a:gd name="adj" fmla="val 11834"/>
            </a:avLst>
          </a:prstGeom>
          <a:solidFill>
            <a:srgbClr val="273370"/>
          </a:solidFill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5E99BAD5-3B40-44C5-AFBC-157196E2ED9A}"/>
              </a:ext>
            </a:extLst>
          </p:cNvPr>
          <p:cNvSpPr>
            <a:spLocks noGrp="1"/>
          </p:cNvSpPr>
          <p:nvPr/>
        </p:nvSpPr>
        <p:spPr>
          <a:xfrm>
            <a:off x="10143439" y="5584698"/>
            <a:ext cx="1371600" cy="38633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14:00 - 14:30</a:t>
            </a:r>
            <a:endParaRPr sz="135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08575FA8-71CB-4908-AE4C-CC364281C048}"/>
              </a:ext>
            </a:extLst>
          </p:cNvPr>
          <p:cNvSpPr>
            <a:spLocks noGrp="1"/>
          </p:cNvSpPr>
          <p:nvPr/>
        </p:nvSpPr>
        <p:spPr>
          <a:xfrm>
            <a:off x="749808" y="5557266"/>
            <a:ext cx="9229039" cy="44119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‏عروض المشاركين، التقييم النهائي، والختام‏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3459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EBE61EA-FD5F-4B2B-BB27-C39F8E438DF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9FAC969-4ACE-47A0-B705-6DC99EAF0B0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‏كيف سنتعلّم؟‏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E6F5EF-0B28-4746-915C-D73BCA0AFE21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التدريب‏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B4383B0-4AA0-4D77-8D77-3AFE882A6496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5DFDA35-53EE-4400-9204-4BA84DBD7BD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AD13A3E-F769-4327-8925-C16D395E02A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‏دورة تعلّم تطبيقية قصيرة تتكرر في كل محور، مستندة إلى نموذج التعلّم بالخبرة.‏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923A6A5-40D2-4D98-8FEB-45B590B91638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1B4AD4-A0B9-4C3E-9D76-EB8A04D0D380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F17CB06-EA18-438D-835E-E218B4D6DA19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E745201-8386-43FD-9BCA-B86D6B29FE63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‏أعرض‏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74153E5-B703-4A0E-A768-A7D556AF673B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مفهوم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مبسّط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دقائق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معدودة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بلغة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مهنية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لا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5A12C14-CF43-4EFC-A7C3-180A7F4758A5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4BF3B93-11B4-44E6-BD49-62667933F043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CFA1357-68CB-42CE-9BE7-6838548F8DB7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0419F16-C3B5-45B5-BC33-23A433A82348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‏أُشاهد‏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DEC34B3-ED12-4490-8FFC-AE69042E9C19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‏عرض حي للأداة أمام المشاركين خطوة بخطوة.‏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E61DADD-DFE1-4C46-B8F8-FA5AAC39FCF2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465B92A-DF01-4022-ACC6-50A1436DC851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5128D2C-E59A-4989-AA64-F0631E6FBC73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30D630B-336C-4AAB-981E-C8ACED9ECE81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‏أُجرّب‏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9639048-E0D8-4507-B35A-63044EE84DC9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‏يطبّق المشارك بنفسه على جهازه أو هاتفه فوراً.‏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25ABFF1-7FEB-4D96-A412-F622DC5512BF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0FF685E-5A48-46DB-AAAE-90D4BCFCD7F2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92A9B5B-FD06-4BA8-B358-9225AEF71EFA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BC28E1F-B6B9-4C22-9C26-8CE43DD2C9DE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‏أُناقش‏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95A3CBA-B4FA-4684-8D09-6C5CCAF537BC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‏مقارنة المخرجات جماعياً واستخلاص الدروس.‏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36576B3-17CE-4B4D-B500-C06F7D5769FE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B791A1D-D44C-46C3-BA28-9CB291DF55D5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3DA66C3-804E-4F20-B02B-7D9BDEE57C5A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408B1DE-CEDC-4C01-B66D-B9594E03484A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‏أنقل‏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1631BD7-3FAD-4F26-B661-45FF615EDE57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‏ربط ما تعلّمته بمهمة حقيقية في عملك.‏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6C2FFDC2-EE2E-45A7-85A0-2A22230C5394}"/>
              </a:ext>
            </a:extLst>
          </p:cNvPr>
          <p:cNvSpPr>
            <a:spLocks noGrp="1"/>
          </p:cNvSpPr>
          <p:nvPr/>
        </p:nvSpPr>
        <p:spPr>
          <a:xfrm>
            <a:off x="566928" y="410565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926DE128-737D-4A9F-B8EA-33AFA5954550}"/>
              </a:ext>
            </a:extLst>
          </p:cNvPr>
          <p:cNvSpPr>
            <a:spLocks noGrp="1"/>
          </p:cNvSpPr>
          <p:nvPr/>
        </p:nvSpPr>
        <p:spPr>
          <a:xfrm>
            <a:off x="11094415" y="422452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54AC7679-4DFD-43F9-A890-519A75C6DD80}"/>
              </a:ext>
            </a:extLst>
          </p:cNvPr>
          <p:cNvSpPr>
            <a:spLocks noGrp="1"/>
          </p:cNvSpPr>
          <p:nvPr/>
        </p:nvSpPr>
        <p:spPr>
          <a:xfrm>
            <a:off x="11094415" y="42519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8C82BC8-C211-49E0-8B24-72C5664856D2}"/>
              </a:ext>
            </a:extLst>
          </p:cNvPr>
          <p:cNvSpPr>
            <a:spLocks noGrp="1"/>
          </p:cNvSpPr>
          <p:nvPr/>
        </p:nvSpPr>
        <p:spPr>
          <a:xfrm>
            <a:off x="749808" y="415137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نسبة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التطبيق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العملي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البرنامج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لا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تقل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عن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٥٠٪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من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زمن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التدريب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9347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EB8D03A-2172-4BA8-9FD2-54A22AB9876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6155A28-FB2A-4698-82F7-6E77B2696C4A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‏كيف تجتاز البرنامج؟‏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B2D47CE-30B6-4C9F-9B7A-42112F4C97E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‏آلية التقييم والاعتماد‏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FA200F6-8F23-44CF-90DF-79F8820E6664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373BBB9-92E9-4008-9A4D-4E08AECDB09A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06931D3-61EA-4D93-971F-0E70EB7D5582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019EE1-757A-4A4E-B93D-56D9B97CADCF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82F1F1A-18A0-4CD2-8303-75AA2E6FD865}"/>
              </a:ext>
            </a:extLst>
          </p:cNvPr>
          <p:cNvSpPr>
            <a:spLocks noGrp="1"/>
          </p:cNvSpPr>
          <p:nvPr/>
        </p:nvSpPr>
        <p:spPr>
          <a:xfrm>
            <a:off x="8048549" y="260604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BA60651-AAB6-4553-A95B-7B8F7256A646}"/>
              </a:ext>
            </a:extLst>
          </p:cNvPr>
          <p:cNvSpPr>
            <a:spLocks noGrp="1"/>
          </p:cNvSpPr>
          <p:nvPr/>
        </p:nvSpPr>
        <p:spPr>
          <a:xfrm>
            <a:off x="8194853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‏تمارين عملية موجّهة‏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73D01AB-B2BF-49AF-A31F-041FA6B9454D}"/>
              </a:ext>
            </a:extLst>
          </p:cNvPr>
          <p:cNvSpPr>
            <a:spLocks noGrp="1"/>
          </p:cNvSpPr>
          <p:nvPr/>
        </p:nvSpPr>
        <p:spPr>
          <a:xfrm>
            <a:off x="8194853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‏تنفيذ التمارين التطبيقية داخل القاعة تحت إشراف المدرّب، وتُرصد كمشاركة فاعلة.‏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AAB72AD-799B-4AEB-A061-C86113E44B7C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FC4B1B3-0819-4315-BA5A-6855D7F18277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1C2A21E-47A9-45CA-9283-5DFB6DEA7589}"/>
              </a:ext>
            </a:extLst>
          </p:cNvPr>
          <p:cNvSpPr>
            <a:spLocks noGrp="1"/>
          </p:cNvSpPr>
          <p:nvPr/>
        </p:nvSpPr>
        <p:spPr>
          <a:xfrm>
            <a:off x="4307738" y="260604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0DD7633-65DB-4615-8599-401469E3D611}"/>
              </a:ext>
            </a:extLst>
          </p:cNvPr>
          <p:cNvSpPr>
            <a:spLocks noGrp="1"/>
          </p:cNvSpPr>
          <p:nvPr/>
        </p:nvSpPr>
        <p:spPr>
          <a:xfrm>
            <a:off x="445404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‏سيناريوهات من بيئة العمل‏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61B0C11-4AA8-4E61-9AE8-6F46A6AB1268}"/>
              </a:ext>
            </a:extLst>
          </p:cNvPr>
          <p:cNvSpPr>
            <a:spLocks noGrp="1"/>
          </p:cNvSpPr>
          <p:nvPr/>
        </p:nvSpPr>
        <p:spPr>
          <a:xfrm>
            <a:off x="445404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‏تحليل حالات واقعية واتخاذ قرار الاستخدام المناسب لكل حالة.‏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27BDE12-C0C8-41F8-B368-F335122E4CF0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DBF044A-99B3-495B-8216-6EC959D42661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03261A3-3950-4416-939A-813236C8B01C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928CC80-E444-450B-BB27-D365543EE733}"/>
              </a:ext>
            </a:extLst>
          </p:cNvPr>
          <p:cNvSpPr>
            <a:spLocks noGrp="1"/>
          </p:cNvSpPr>
          <p:nvPr/>
        </p:nvSpPr>
        <p:spPr>
          <a:xfrm>
            <a:off x="71323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‏قياس قبلي وبعدي‏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34A2644-0B7F-4CBA-9DCE-24101B9A5140}"/>
              </a:ext>
            </a:extLst>
          </p:cNvPr>
          <p:cNvSpPr>
            <a:spLocks noGrp="1"/>
          </p:cNvSpPr>
          <p:nvPr/>
        </p:nvSpPr>
        <p:spPr>
          <a:xfrm>
            <a:off x="71323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‏عشرة أسئلة تقيس الثقة والقدرة قبل البرنامج وبعده، مع تقويم قصير في نهاية كل محور.‏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9B0DAB7-E312-4750-A739-A9722ED9034A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2114AC3-F650-40DC-9E77-79613967C518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33D8B9C-75BB-40AD-8D28-F08990628176}"/>
              </a:ext>
            </a:extLst>
          </p:cNvPr>
          <p:cNvSpPr>
            <a:spLocks noGrp="1"/>
          </p:cNvSpPr>
          <p:nvPr/>
        </p:nvSpPr>
        <p:spPr>
          <a:xfrm>
            <a:off x="8048549" y="409651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74641E8-F2CF-426D-A31A-3B17134105FA}"/>
              </a:ext>
            </a:extLst>
          </p:cNvPr>
          <p:cNvSpPr>
            <a:spLocks noGrp="1"/>
          </p:cNvSpPr>
          <p:nvPr/>
        </p:nvSpPr>
        <p:spPr>
          <a:xfrm>
            <a:off x="8194853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‏تقييم عملي ختامي‏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27CD088-7BB4-4D49-A09C-3902A6C3494E}"/>
              </a:ext>
            </a:extLst>
          </p:cNvPr>
          <p:cNvSpPr>
            <a:spLocks noGrp="1"/>
          </p:cNvSpPr>
          <p:nvPr/>
        </p:nvSpPr>
        <p:spPr>
          <a:xfrm>
            <a:off x="8194853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‏تنفيذ حالة استخدام من عمل المتدرب، مع توثيق الأمر، ونقطة المراجعة البشرية، والأثر المتوقع.‏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3CACB365-6773-4B2C-AC65-E8AB1F7C7A5D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B6F9C8A-87A5-4992-916E-C675A53A0362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EA6F61C-7CF5-475B-AD5C-DFD2CFE6BE88}"/>
              </a:ext>
            </a:extLst>
          </p:cNvPr>
          <p:cNvSpPr>
            <a:spLocks noGrp="1"/>
          </p:cNvSpPr>
          <p:nvPr/>
        </p:nvSpPr>
        <p:spPr>
          <a:xfrm>
            <a:off x="4307738" y="409651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D173DF7-513F-40FA-A41A-1F696E629A55}"/>
              </a:ext>
            </a:extLst>
          </p:cNvPr>
          <p:cNvSpPr>
            <a:spLocks noGrp="1"/>
          </p:cNvSpPr>
          <p:nvPr/>
        </p:nvSpPr>
        <p:spPr>
          <a:xfrm>
            <a:off x="445404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‏شرط الاجتياز‏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67CC1A3-8A12-442C-B739-2CEC2A39A083}"/>
              </a:ext>
            </a:extLst>
          </p:cNvPr>
          <p:cNvSpPr>
            <a:spLocks noGrp="1"/>
          </p:cNvSpPr>
          <p:nvPr/>
        </p:nvSpPr>
        <p:spPr>
          <a:xfrm>
            <a:off x="445404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‏حضور لا يقل عن ٨٠٪ من ساعات البرنامج، واجتياز التقويم الختامي بنسبة ٦٠٪ فأعلى.‏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0D84946-6AFF-4CED-98C6-C0D446C44DF1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CF0A8C4-3DEA-4D80-9BBB-07CB27F5C9E6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76D4FFDC-FD87-4BED-9582-51DC313A37BE}"/>
              </a:ext>
            </a:extLst>
          </p:cNvPr>
          <p:cNvSpPr>
            <a:spLocks noGrp="1"/>
          </p:cNvSpPr>
          <p:nvPr/>
        </p:nvSpPr>
        <p:spPr>
          <a:xfrm>
            <a:off x="566928" y="409651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0CD50CF-A3BF-40F8-9084-D27297E7C6AA}"/>
              </a:ext>
            </a:extLst>
          </p:cNvPr>
          <p:cNvSpPr>
            <a:spLocks noGrp="1"/>
          </p:cNvSpPr>
          <p:nvPr/>
        </p:nvSpPr>
        <p:spPr>
          <a:xfrm>
            <a:off x="71323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‏الشهادة‏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6CD4EF7-A89C-4D80-AC31-852729373E57}"/>
              </a:ext>
            </a:extLst>
          </p:cNvPr>
          <p:cNvSpPr>
            <a:spLocks noGrp="1"/>
          </p:cNvSpPr>
          <p:nvPr/>
        </p:nvSpPr>
        <p:spPr>
          <a:xfrm>
            <a:off x="71323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‏شارة رقمية توعوية (اعتماد مصغّر) من أكاديمية سدايا قابلة للمشاركة والتحقق.‏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67274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11E9C6C-6514-41E5-934F-2E6755F39BB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436F6AF-AC94-4CDB-BFEC-26BD31E60E1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‏قواعد القاعة‏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9E1FDBD-366B-4929-9179-CFDF639B30C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‏اتفاقية التعلّم‏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95A7662-E93C-4207-BCB4-27BDCD8D99D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24FE3C2-89AB-481B-B7C2-AAC32ACD25A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8324B2A-D853-4C17-9F7B-0F6716130667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 قواعد بسيطة تضمن استفادة الجميع خلال اليومين.‏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2603882-5ED6-4C54-A8BD-C7AE64C898B9}"/>
              </a:ext>
            </a:extLst>
          </p:cNvPr>
          <p:cNvSpPr>
            <a:spLocks noGrp="1"/>
          </p:cNvSpPr>
          <p:nvPr/>
        </p:nvSpPr>
        <p:spPr>
          <a:xfrm>
            <a:off x="6187288" y="26654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2955A8A-7D93-4739-AC97-59E291AF7DDF}"/>
              </a:ext>
            </a:extLst>
          </p:cNvPr>
          <p:cNvSpPr>
            <a:spLocks noGrp="1"/>
          </p:cNvSpPr>
          <p:nvPr/>
        </p:nvSpPr>
        <p:spPr>
          <a:xfrm>
            <a:off x="11240719" y="2926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19166A7-5B4C-4F37-BA7A-2910BC444B54}"/>
              </a:ext>
            </a:extLst>
          </p:cNvPr>
          <p:cNvSpPr>
            <a:spLocks noGrp="1"/>
          </p:cNvSpPr>
          <p:nvPr/>
        </p:nvSpPr>
        <p:spPr>
          <a:xfrm>
            <a:off x="6333592" y="27203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يوجد سؤال بسيط — كل استفسار مرحّب به ومفيد للمجموعة.‏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CD3A673-6D4A-4918-9995-C68FB0F69466}"/>
              </a:ext>
            </a:extLst>
          </p:cNvPr>
          <p:cNvSpPr>
            <a:spLocks noGrp="1"/>
          </p:cNvSpPr>
          <p:nvPr/>
        </p:nvSpPr>
        <p:spPr>
          <a:xfrm>
            <a:off x="566928" y="26654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D68DE11-81AC-4215-ADB7-D19A41EE3078}"/>
              </a:ext>
            </a:extLst>
          </p:cNvPr>
          <p:cNvSpPr>
            <a:spLocks noGrp="1"/>
          </p:cNvSpPr>
          <p:nvPr/>
        </p:nvSpPr>
        <p:spPr>
          <a:xfrm>
            <a:off x="5620360" y="2926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9293E6E-C9C0-4199-AA3E-0C7B34442049}"/>
              </a:ext>
            </a:extLst>
          </p:cNvPr>
          <p:cNvSpPr>
            <a:spLocks noGrp="1"/>
          </p:cNvSpPr>
          <p:nvPr/>
        </p:nvSpPr>
        <p:spPr>
          <a:xfrm>
            <a:off x="713232" y="27203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‏التطبيق الفوري: افتح الأداة وجرّب أثناء الشرح لا بعده.‏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81FA347-4687-47D9-81AA-3AD8C07C36B5}"/>
              </a:ext>
            </a:extLst>
          </p:cNvPr>
          <p:cNvSpPr>
            <a:spLocks noGrp="1"/>
          </p:cNvSpPr>
          <p:nvPr/>
        </p:nvSpPr>
        <p:spPr>
          <a:xfrm>
            <a:off x="6187288" y="35341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918FCF5-C431-4844-BB5D-DE9C95717DF8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671E110-0AEF-4E85-A619-0B057E9D122B}"/>
              </a:ext>
            </a:extLst>
          </p:cNvPr>
          <p:cNvSpPr>
            <a:spLocks noGrp="1"/>
          </p:cNvSpPr>
          <p:nvPr/>
        </p:nvSpPr>
        <p:spPr>
          <a:xfrm>
            <a:off x="6333592" y="35890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‏الأجهزة مفتوحة للتدريب، صامتة لما عداه.‏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7E06CD9-74D5-4F33-A652-2676C80BA39B}"/>
              </a:ext>
            </a:extLst>
          </p:cNvPr>
          <p:cNvSpPr>
            <a:spLocks noGrp="1"/>
          </p:cNvSpPr>
          <p:nvPr/>
        </p:nvSpPr>
        <p:spPr>
          <a:xfrm>
            <a:off x="566928" y="35341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ED2B024-D009-49B9-9C04-760EF5C9FE69}"/>
              </a:ext>
            </a:extLst>
          </p:cNvPr>
          <p:cNvSpPr>
            <a:spLocks noGrp="1"/>
          </p:cNvSpPr>
          <p:nvPr/>
        </p:nvSpPr>
        <p:spPr>
          <a:xfrm>
            <a:off x="5620360" y="37947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18FA14F-1637-4786-95C5-0B121F50F137}"/>
              </a:ext>
            </a:extLst>
          </p:cNvPr>
          <p:cNvSpPr>
            <a:spLocks noGrp="1"/>
          </p:cNvSpPr>
          <p:nvPr/>
        </p:nvSpPr>
        <p:spPr>
          <a:xfrm>
            <a:off x="713232" y="35890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تُدخل بيانات حقيقية سرية في أي أداة خلال التمارين.‏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0D6FD22-2EC3-4B40-8135-37E9EF5DD877}"/>
              </a:ext>
            </a:extLst>
          </p:cNvPr>
          <p:cNvSpPr>
            <a:spLocks noGrp="1"/>
          </p:cNvSpPr>
          <p:nvPr/>
        </p:nvSpPr>
        <p:spPr>
          <a:xfrm>
            <a:off x="6187288" y="44028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46E6E47-0E0C-4E6F-BC15-50C006793F86}"/>
              </a:ext>
            </a:extLst>
          </p:cNvPr>
          <p:cNvSpPr>
            <a:spLocks noGrp="1"/>
          </p:cNvSpPr>
          <p:nvPr/>
        </p:nvSpPr>
        <p:spPr>
          <a:xfrm>
            <a:off x="11240719" y="46634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8248AA1-A064-45AF-8C76-37230D67D81F}"/>
              </a:ext>
            </a:extLst>
          </p:cNvPr>
          <p:cNvSpPr>
            <a:spLocks noGrp="1"/>
          </p:cNvSpPr>
          <p:nvPr/>
        </p:nvSpPr>
        <p:spPr>
          <a:xfrm>
            <a:off x="6333592" y="44577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مخرجاتك — تعلّم المجموعة من التجربة أسرع من الشرح.‏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17D5F5B-DCE9-4FD6-B209-579F71C6BD4C}"/>
              </a:ext>
            </a:extLst>
          </p:cNvPr>
          <p:cNvSpPr>
            <a:spLocks noGrp="1"/>
          </p:cNvSpPr>
          <p:nvPr/>
        </p:nvSpPr>
        <p:spPr>
          <a:xfrm>
            <a:off x="566928" y="44028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5015BF1-5EAF-42AB-968E-06B3EED9B65E}"/>
              </a:ext>
            </a:extLst>
          </p:cNvPr>
          <p:cNvSpPr>
            <a:spLocks noGrp="1"/>
          </p:cNvSpPr>
          <p:nvPr/>
        </p:nvSpPr>
        <p:spPr>
          <a:xfrm>
            <a:off x="5620360" y="46634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0A6D17D-70B1-4CA3-BBB6-EEF68A1C8B56}"/>
              </a:ext>
            </a:extLst>
          </p:cNvPr>
          <p:cNvSpPr>
            <a:spLocks noGrp="1"/>
          </p:cNvSpPr>
          <p:nvPr/>
        </p:nvSpPr>
        <p:spPr>
          <a:xfrm>
            <a:off x="713232" y="44577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‏اربط كل ما تتعلّمه بمهمة حقيقية في عملك، وسجّلها في ورقة الخطة.‏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58911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3BF421A-4F8B-43BF-8D6E-41220A408EF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‏تعريف بالبرنامج  ·  12‏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48EA6D5-9092-4069-A240-9408C113CA4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‏نشاط استهلالي‏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8B5F65-692E-4BD2-8710-41628D681CB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 أنت؟ وما توقعاتك؟‏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3B65E46-CFD8-46A4-84F3-499BFD257407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4EC67D-4575-46CA-813A-49CDC0DA5A2A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buNone/>
            </a:pPr>
            <a:r>
              <a:rPr sz="1600" b="1" dirty="0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10 </a:t>
            </a:r>
            <a:r>
              <a:rPr sz="1600" b="1" dirty="0" err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دقائق</a:t>
            </a:r>
            <a:r>
              <a:rPr sz="1600" b="1" dirty="0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1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AB4E68D-349C-49DE-AEC2-C2A23C718BE3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EC24318-3E9C-49AE-803B-C1B317F56D9B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‏قبل أن نبدأ، نريد أن نعرف نقطة انطلاق كل مشارك وما يأمل الخروج به من البرنامج.‏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A01D7E7-3D64-4B9D-80FB-1EAC732E2990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C9A8DE6-1295-49F0-85D6-729BF0BF2182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36A60D0-A9F5-4599-898B-DA274031363C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39E5C6A-008F-4D75-A64F-220DD427CDC0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‏عرّف بنفسك في جملة واحدة: الاسم، الجهة، وطبيعة عملك اليومي.‏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A4DC243-B599-4249-98B7-39D6D26DF0E5}"/>
              </a:ext>
            </a:extLst>
          </p:cNvPr>
          <p:cNvSpPr>
            <a:spLocks noGrp="1"/>
          </p:cNvSpPr>
          <p:nvPr/>
        </p:nvSpPr>
        <p:spPr>
          <a:xfrm>
            <a:off x="11295583" y="35615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E7D3008-E3A5-40FE-9CF0-BE8513D1BF85}"/>
              </a:ext>
            </a:extLst>
          </p:cNvPr>
          <p:cNvSpPr>
            <a:spLocks noGrp="1"/>
          </p:cNvSpPr>
          <p:nvPr/>
        </p:nvSpPr>
        <p:spPr>
          <a:xfrm>
            <a:off x="11295583" y="359816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C875B72-D145-4C4B-BCFA-02B9BF2B4C29}"/>
              </a:ext>
            </a:extLst>
          </p:cNvPr>
          <p:cNvSpPr>
            <a:spLocks noGrp="1"/>
          </p:cNvSpPr>
          <p:nvPr/>
        </p:nvSpPr>
        <p:spPr>
          <a:xfrm>
            <a:off x="566928" y="356158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مستوى استخدامك الحالي: لم أستخدمها إطلاقاً / جرّبتها مرة أو مرتين / أستخدمها أسبوعياً.‏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96AC7D1-D34D-482C-9110-DEF2FAABE49B}"/>
              </a:ext>
            </a:extLst>
          </p:cNvPr>
          <p:cNvSpPr>
            <a:spLocks noGrp="1"/>
          </p:cNvSpPr>
          <p:nvPr/>
        </p:nvSpPr>
        <p:spPr>
          <a:xfrm>
            <a:off x="11295583" y="41788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7E864B9-C711-4CEC-B748-0A11DE03E801}"/>
              </a:ext>
            </a:extLst>
          </p:cNvPr>
          <p:cNvSpPr>
            <a:spLocks noGrp="1"/>
          </p:cNvSpPr>
          <p:nvPr/>
        </p:nvSpPr>
        <p:spPr>
          <a:xfrm>
            <a:off x="11295583" y="421538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75BF992-1C6A-491F-8B74-9E88B1266B35}"/>
              </a:ext>
            </a:extLst>
          </p:cNvPr>
          <p:cNvSpPr>
            <a:spLocks noGrp="1"/>
          </p:cNvSpPr>
          <p:nvPr/>
        </p:nvSpPr>
        <p:spPr>
          <a:xfrm>
            <a:off x="566928" y="417880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‏اذكر مهمة واحدة تتكرر في عملك وتستهلك وقتاً أطول مما تستحق.‏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BE05C2B-44B4-4A88-B062-93EDBCFBD014}"/>
              </a:ext>
            </a:extLst>
          </p:cNvPr>
          <p:cNvSpPr>
            <a:spLocks noGrp="1"/>
          </p:cNvSpPr>
          <p:nvPr/>
        </p:nvSpPr>
        <p:spPr>
          <a:xfrm>
            <a:off x="11295583" y="47960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9ED61DF-57AD-402D-9A2D-E70DE77B044F}"/>
              </a:ext>
            </a:extLst>
          </p:cNvPr>
          <p:cNvSpPr>
            <a:spLocks noGrp="1"/>
          </p:cNvSpPr>
          <p:nvPr/>
        </p:nvSpPr>
        <p:spPr>
          <a:xfrm>
            <a:off x="11295583" y="483260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3CFC472-614F-4E8F-86EF-34D0395A4D42}"/>
              </a:ext>
            </a:extLst>
          </p:cNvPr>
          <p:cNvSpPr>
            <a:spLocks noGrp="1"/>
          </p:cNvSpPr>
          <p:nvPr/>
        </p:nvSpPr>
        <p:spPr>
          <a:xfrm>
            <a:off x="566928" y="479602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توقعاً واحداً تريد تحقيقه بنهاية اليومين.‏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87E09C4-B40F-48D8-8CD6-B5B339E2C695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B6FBF9B-9652-4B00-B137-3A0700290E22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قائمة توقعات مشتركة نراجعها في ختام البرنامج للتحقق من تحقّقها.‏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71613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26A80CF-FCD9-45D7-B7AD-21644599522A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A89D4E9-85C6-4B22-BE6D-29AED05A2DF1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16EEF75-3A8B-4E5D-8F9B-D102FCA12766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32C7558-7807-4588-8F7D-F0048E0552D7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‏مقدمة في الذكاء الاصطناعي وبيئة العمل‏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814CBDD-E48C-408C-A72C-99741EEBEBFD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‏ما هو الذكاء الاصطناعي فعلاً، وكيف يعمل، ولماذا أصبح جزءاً من عملك اليومي؟‏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5B7250C-279C-4CAF-A8F8-28738C66B179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F2A3D13-34DB-4AA8-AF24-53E44D00FA31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والمفاهيم الأساسية‏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0804DDB-7674-4FB6-BC4E-2CF509D324A4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B0A8F02-393B-4273-8936-B635E5E436E0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‏كيف تتعلّم الآلة؟‏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608321C-153C-412C-82DB-48B20320D97A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B9842E3-64ED-4294-817D-8FF228F298BF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التوليدي‏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FA3B449-5FA9-4CB3-8745-AB7FC7D49FC5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FDFDD11-B685-4D9D-B6B3-2F73F09884D7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‏السياق الوطني وأثره على الوظائف‏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7335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119A51-DC86-409D-B117-5A5D03A18262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E65262-9A03-4D4B-849D-D94F248052D5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A7F087D-9851-4875-9A9C-88A6FC83A1E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‏ماذا سنغطي في هذا المحور؟‏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EC00147-CCA5-4D1A-B519-1D6E3144A40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866AC5-4625-42BF-AA7E-5F92B063424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E0C33F7-020F-4658-A07D-082E63EEA13E}"/>
              </a:ext>
            </a:extLst>
          </p:cNvPr>
          <p:cNvSpPr>
            <a:spLocks noGrp="1"/>
          </p:cNvSpPr>
          <p:nvPr/>
        </p:nvSpPr>
        <p:spPr>
          <a:xfrm>
            <a:off x="11313871" y="160934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7918D7B-FABA-4C97-A313-89A6207A1ACA}"/>
              </a:ext>
            </a:extLst>
          </p:cNvPr>
          <p:cNvSpPr>
            <a:spLocks noGrp="1"/>
          </p:cNvSpPr>
          <p:nvPr/>
        </p:nvSpPr>
        <p:spPr>
          <a:xfrm>
            <a:off x="11313871" y="1636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E6FDDA4-3349-4A00-8A86-EC2567879E02}"/>
              </a:ext>
            </a:extLst>
          </p:cNvPr>
          <p:cNvSpPr>
            <a:spLocks noGrp="1"/>
          </p:cNvSpPr>
          <p:nvPr/>
        </p:nvSpPr>
        <p:spPr>
          <a:xfrm>
            <a:off x="566928" y="156362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 dirty="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850" b="1" dirty="0" err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تعريف</a:t>
            </a:r>
            <a:r>
              <a:rPr sz="1850" b="1" dirty="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850" b="1" dirty="0" err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مبسّط</a:t>
            </a:r>
            <a:r>
              <a:rPr sz="1850" b="1" dirty="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</a:t>
            </a:r>
            <a:endParaRPr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2030F5C-7A2F-49B0-823A-5F9742DEC6F2}"/>
              </a:ext>
            </a:extLst>
          </p:cNvPr>
          <p:cNvSpPr>
            <a:spLocks noGrp="1"/>
          </p:cNvSpPr>
          <p:nvPr/>
        </p:nvSpPr>
        <p:spPr>
          <a:xfrm>
            <a:off x="566928" y="185623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بلغة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غير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وما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الفرق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بينه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وبين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البرمجة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التقليدية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6DB55BD-516D-470B-BE9E-B47F9E8EBE51}"/>
              </a:ext>
            </a:extLst>
          </p:cNvPr>
          <p:cNvSpPr>
            <a:spLocks noGrp="1"/>
          </p:cNvSpPr>
          <p:nvPr/>
        </p:nvSpPr>
        <p:spPr>
          <a:xfrm>
            <a:off x="11313871" y="23652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B193747-BE4E-46AA-999B-4023C9AA2FCF}"/>
              </a:ext>
            </a:extLst>
          </p:cNvPr>
          <p:cNvSpPr>
            <a:spLocks noGrp="1"/>
          </p:cNvSpPr>
          <p:nvPr/>
        </p:nvSpPr>
        <p:spPr>
          <a:xfrm>
            <a:off x="11313871" y="23926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9DF084B-53E3-4B9D-8F86-661313443CD7}"/>
              </a:ext>
            </a:extLst>
          </p:cNvPr>
          <p:cNvSpPr>
            <a:spLocks noGrp="1"/>
          </p:cNvSpPr>
          <p:nvPr/>
        </p:nvSpPr>
        <p:spPr>
          <a:xfrm>
            <a:off x="566928" y="23195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تتعلّم الآلة‏</a:t>
            </a:r>
            <a:endParaRPr sz="18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83E828-43D4-41CE-BC58-2AE1CE8C156E}"/>
              </a:ext>
            </a:extLst>
          </p:cNvPr>
          <p:cNvSpPr>
            <a:spLocks noGrp="1"/>
          </p:cNvSpPr>
          <p:nvPr/>
        </p:nvSpPr>
        <p:spPr>
          <a:xfrm>
            <a:off x="566928" y="2612136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البيانات إلى النمط إلى التنبؤ — الفكرة الجوهرية في ثلاث خطوات.‏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9006B80-0DDE-4F52-8B09-2F581D830652}"/>
              </a:ext>
            </a:extLst>
          </p:cNvPr>
          <p:cNvSpPr>
            <a:spLocks noGrp="1"/>
          </p:cNvSpPr>
          <p:nvPr/>
        </p:nvSpPr>
        <p:spPr>
          <a:xfrm>
            <a:off x="11313871" y="31211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5355319-C298-464B-987A-EECCC7EF8004}"/>
              </a:ext>
            </a:extLst>
          </p:cNvPr>
          <p:cNvSpPr>
            <a:spLocks noGrp="1"/>
          </p:cNvSpPr>
          <p:nvPr/>
        </p:nvSpPr>
        <p:spPr>
          <a:xfrm>
            <a:off x="11313871" y="31485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D433185-D886-49DD-ACB0-D47A21354C4B}"/>
              </a:ext>
            </a:extLst>
          </p:cNvPr>
          <p:cNvSpPr>
            <a:spLocks noGrp="1"/>
          </p:cNvSpPr>
          <p:nvPr/>
        </p:nvSpPr>
        <p:spPr>
          <a:xfrm>
            <a:off x="566928" y="30754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المصطلحات‏</a:t>
            </a:r>
            <a:endParaRPr sz="18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B150C53-5353-430D-987C-58BF1CF882A1}"/>
              </a:ext>
            </a:extLst>
          </p:cNvPr>
          <p:cNvSpPr>
            <a:spLocks noGrp="1"/>
          </p:cNvSpPr>
          <p:nvPr/>
        </p:nvSpPr>
        <p:spPr>
          <a:xfrm>
            <a:off x="566928" y="3368040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‏الذكاء الاصطناعي، تعلّم الآلة، التعلّم العميق، الذكاء الاصطناعي التوليدي.‏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E928173-2969-4825-A80F-49CEA6D80D8A}"/>
              </a:ext>
            </a:extLst>
          </p:cNvPr>
          <p:cNvSpPr>
            <a:spLocks noGrp="1"/>
          </p:cNvSpPr>
          <p:nvPr/>
        </p:nvSpPr>
        <p:spPr>
          <a:xfrm>
            <a:off x="11313871" y="387705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FF3069D-08CF-4189-A05E-3316B37AE14E}"/>
              </a:ext>
            </a:extLst>
          </p:cNvPr>
          <p:cNvSpPr>
            <a:spLocks noGrp="1"/>
          </p:cNvSpPr>
          <p:nvPr/>
        </p:nvSpPr>
        <p:spPr>
          <a:xfrm>
            <a:off x="11313871" y="39044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498826B-6DFF-4D6D-8119-DA6B33F7430E}"/>
              </a:ext>
            </a:extLst>
          </p:cNvPr>
          <p:cNvSpPr>
            <a:spLocks noGrp="1"/>
          </p:cNvSpPr>
          <p:nvPr/>
        </p:nvSpPr>
        <p:spPr>
          <a:xfrm>
            <a:off x="566928" y="383133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‏النماذج اللغوية الكبيرة‏</a:t>
            </a:r>
            <a:endParaRPr sz="18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9681441-2C75-4F22-B9C5-7254E585476A}"/>
              </a:ext>
            </a:extLst>
          </p:cNvPr>
          <p:cNvSpPr>
            <a:spLocks noGrp="1"/>
          </p:cNvSpPr>
          <p:nvPr/>
        </p:nvSpPr>
        <p:spPr>
          <a:xfrm>
            <a:off x="566928" y="4123944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‏كيف يولّد المساعد الذكي النص، ولماذا يبدو ذكياً إلى هذا الحد.‏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B21A994-A564-4173-951D-999B698877F7}"/>
              </a:ext>
            </a:extLst>
          </p:cNvPr>
          <p:cNvSpPr>
            <a:spLocks noGrp="1"/>
          </p:cNvSpPr>
          <p:nvPr/>
        </p:nvSpPr>
        <p:spPr>
          <a:xfrm>
            <a:off x="11313871" y="463296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7C64571-E40E-4484-9FB2-8646075557B2}"/>
              </a:ext>
            </a:extLst>
          </p:cNvPr>
          <p:cNvSpPr>
            <a:spLocks noGrp="1"/>
          </p:cNvSpPr>
          <p:nvPr/>
        </p:nvSpPr>
        <p:spPr>
          <a:xfrm>
            <a:off x="11313871" y="46603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3C29853-4A7A-4109-99E3-6C8B90A5D08D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‏تصحيح المفاهيم الشائعة‏</a:t>
            </a:r>
            <a:endParaRPr sz="18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DCEB15E-8A4F-49AC-A6F5-8BE89B8BE8DB}"/>
              </a:ext>
            </a:extLst>
          </p:cNvPr>
          <p:cNvSpPr>
            <a:spLocks noGrp="1"/>
          </p:cNvSpPr>
          <p:nvPr/>
        </p:nvSpPr>
        <p:spPr>
          <a:xfrm>
            <a:off x="566928" y="4879848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لا يفعله الذكاء الاصطناعي رغم شيوع الاعتقاد بذلك.‏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69B9183-506E-4364-BFBD-D0B7D163FD4F}"/>
              </a:ext>
            </a:extLst>
          </p:cNvPr>
          <p:cNvSpPr>
            <a:spLocks noGrp="1"/>
          </p:cNvSpPr>
          <p:nvPr/>
        </p:nvSpPr>
        <p:spPr>
          <a:xfrm>
            <a:off x="11313871" y="53888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D8F0FD0-52B5-4765-9F06-64584E04274E}"/>
              </a:ext>
            </a:extLst>
          </p:cNvPr>
          <p:cNvSpPr>
            <a:spLocks noGrp="1"/>
          </p:cNvSpPr>
          <p:nvPr/>
        </p:nvSpPr>
        <p:spPr>
          <a:xfrm>
            <a:off x="11313871" y="5416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826B7FD-F100-43DE-907C-828F997EC987}"/>
              </a:ext>
            </a:extLst>
          </p:cNvPr>
          <p:cNvSpPr>
            <a:spLocks noGrp="1"/>
          </p:cNvSpPr>
          <p:nvPr/>
        </p:nvSpPr>
        <p:spPr>
          <a:xfrm>
            <a:off x="566928" y="53431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الوطني والوظيفي‏</a:t>
            </a:r>
            <a:endParaRPr sz="1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712B9E0-7124-4FCB-B4BA-9CDE5A023560}"/>
              </a:ext>
            </a:extLst>
          </p:cNvPr>
          <p:cNvSpPr>
            <a:spLocks noGrp="1"/>
          </p:cNvSpPr>
          <p:nvPr/>
        </p:nvSpPr>
        <p:spPr>
          <a:xfrm>
            <a:off x="566928" y="563575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‏رؤية 2030، سدايا، وأثر التقنية على مستقبل وظيفتك.‏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644584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C10E44-7DA3-4476-B30A-075460D0131C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8C96A77-D534-460C-8263-66FCC089894A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ليس تقنية للمبرمجين فقط —</a:t>
            </a:r>
            <a:endParaRPr sz="3800"/>
          </a:p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بل أداة عمل يستخدمها اليوم الموظف الإداري والمحلل والمدير.‏</a:t>
            </a:r>
            <a:endParaRPr sz="38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44D4301-8A40-4B00-8396-734341691FA3}"/>
              </a:ext>
            </a:extLst>
          </p:cNvPr>
          <p:cNvSpPr>
            <a:spLocks noGrp="1"/>
          </p:cNvSpPr>
          <p:nvPr/>
        </p:nvSpPr>
        <p:spPr>
          <a:xfrm>
            <a:off x="566928" y="431596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‏من يتقن استخدامه لا يُستبدل به؛ ومن يجهله يتأخر عمّن يتقنه. هدف هذا البرنامج أن تنتقل من المتفرّج إلى المستخدم الواعي.‏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65315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8DA4EFC-520D-44B6-988A-7B2B94236802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C2C17B-6DBF-4E6F-A726-54A2AB7CF7D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ABD0E6-DCCF-4A6E-9F25-D378CB1D139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الذكاء الاصطناعي؟‏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442D12E-1411-4957-A003-753D6AE5291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81D0BFA-F12F-4794-8B7F-7627067B3A56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0DAAFDB-728E-417E-B79B-796D0ADA52E0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زوايا لفهم التعريف نفسه — اختر ما يناسب طريقة تفكيرك.‏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47DF5C3-9894-4500-9525-5E92287E897D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575EC95-6F92-4931-ABDF-9C1CD224F0A1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0BDD50C-ECE1-4BBA-A090-9F012133ABE7}"/>
              </a:ext>
            </a:extLst>
          </p:cNvPr>
          <p:cNvSpPr>
            <a:spLocks noGrp="1"/>
          </p:cNvSpPr>
          <p:nvPr/>
        </p:nvSpPr>
        <p:spPr>
          <a:xfrm>
            <a:off x="8048549" y="2962656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D984539-B363-413E-AFE6-24A6C39B9345}"/>
              </a:ext>
            </a:extLst>
          </p:cNvPr>
          <p:cNvSpPr>
            <a:spLocks noGrp="1"/>
          </p:cNvSpPr>
          <p:nvPr/>
        </p:nvSpPr>
        <p:spPr>
          <a:xfrm>
            <a:off x="8194853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المبسّط‏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1B01262-2B1E-4F64-A0B0-E375AAE28A62}"/>
              </a:ext>
            </a:extLst>
          </p:cNvPr>
          <p:cNvSpPr>
            <a:spLocks noGrp="1"/>
          </p:cNvSpPr>
          <p:nvPr/>
        </p:nvSpPr>
        <p:spPr>
          <a:xfrm>
            <a:off x="8194853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أنظمة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حاسوبية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تؤدي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مهاماً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كانت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تتطلب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ذكاءً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بشرياً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الفهم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التلخيص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التصنيف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التنبؤ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والتوليد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A2D876B-CC65-4CC2-9F14-123DD46C92B1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D80D79-0938-4E35-9DE8-022B43ED28C0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DE1185F-5C6B-407A-8C5E-EB057E421D69}"/>
              </a:ext>
            </a:extLst>
          </p:cNvPr>
          <p:cNvSpPr>
            <a:spLocks noGrp="1"/>
          </p:cNvSpPr>
          <p:nvPr/>
        </p:nvSpPr>
        <p:spPr>
          <a:xfrm>
            <a:off x="4307738" y="2962656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A85CB29-A7A9-478F-941B-2E56D49B438E}"/>
              </a:ext>
            </a:extLst>
          </p:cNvPr>
          <p:cNvSpPr>
            <a:spLocks noGrp="1"/>
          </p:cNvSpPr>
          <p:nvPr/>
        </p:nvSpPr>
        <p:spPr>
          <a:xfrm>
            <a:off x="445404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التقني‏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4350659-B579-4633-BED1-83893ABA9120}"/>
              </a:ext>
            </a:extLst>
          </p:cNvPr>
          <p:cNvSpPr>
            <a:spLocks noGrp="1"/>
          </p:cNvSpPr>
          <p:nvPr/>
        </p:nvSpPr>
        <p:spPr>
          <a:xfrm>
            <a:off x="445404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‏برمجيات تستخلص أنماطاً من كميات ضخمة من البيانات، ثم تستخدم هذه الأنماط لإنتاج مخرجات على مدخلات جديدة.‏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6B4E3A0-053F-4C48-AF43-A1AD4B1C1889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B8074FC-018E-40C3-926E-F3303C19D564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848C8FF-01FD-4B4E-889C-122A592736A2}"/>
              </a:ext>
            </a:extLst>
          </p:cNvPr>
          <p:cNvSpPr>
            <a:spLocks noGrp="1"/>
          </p:cNvSpPr>
          <p:nvPr/>
        </p:nvSpPr>
        <p:spPr>
          <a:xfrm>
            <a:off x="566928" y="2962656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F16AEFE-D01F-487D-AB0E-34132CBF9022}"/>
              </a:ext>
            </a:extLst>
          </p:cNvPr>
          <p:cNvSpPr>
            <a:spLocks noGrp="1"/>
          </p:cNvSpPr>
          <p:nvPr/>
        </p:nvSpPr>
        <p:spPr>
          <a:xfrm>
            <a:off x="71323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‏التعريف الوظيفي‏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661037B-BA5F-4B05-9EC3-BC6736166BCA}"/>
              </a:ext>
            </a:extLst>
          </p:cNvPr>
          <p:cNvSpPr>
            <a:spLocks noGrp="1"/>
          </p:cNvSpPr>
          <p:nvPr/>
        </p:nvSpPr>
        <p:spPr>
          <a:xfrm>
            <a:off x="71323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‏مساعد لا يكلّ يقرأ ويكتب ويلخّص ويقترح — لكنه لا يفهم مؤسستك ولا يتحمّل مسؤولية القرار.‏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F9CE555-6743-45BA-B4A5-66D983FD413E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BD60B71-72A5-4056-93F7-5D5701D2C801}"/>
              </a:ext>
            </a:extLst>
          </p:cNvPr>
          <p:cNvSpPr>
            <a:spLocks noGrp="1"/>
          </p:cNvSpPr>
          <p:nvPr/>
        </p:nvSpPr>
        <p:spPr>
          <a:xfrm>
            <a:off x="11094415" y="503834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E09E011-88AB-419A-8C1D-94411BC47870}"/>
              </a:ext>
            </a:extLst>
          </p:cNvPr>
          <p:cNvSpPr>
            <a:spLocks noGrp="1"/>
          </p:cNvSpPr>
          <p:nvPr/>
        </p:nvSpPr>
        <p:spPr>
          <a:xfrm>
            <a:off x="11094415" y="506577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49B99FE-6A3F-4631-B553-CF4648E3BC35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الخلاصة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أداة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قوية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لتوليد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المسودات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والخيارات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—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والقرار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يبقى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بشرياً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59665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9D58E43-C80F-4DA8-B063-2CBE8A7D7A4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5615D5-37B4-4FF6-9583-0D60C1ED8D1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B9C50E3-9941-4E0E-83C8-99245A23480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‏البرمجة التقليدية مقابل الذكاء الاصطناعي‏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C68916E-B0C6-46A1-B151-06A93D10FAE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3B960ED-319C-453A-934F-E4C9B28AF75E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59EC08-4CCC-4AFC-A0B1-06FC34954BC5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‏الفارق الجوهري: من يكتب القواعد؟‏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9FB1D69-D568-4F54-820F-0F201802FF71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41D12A4-D187-49BE-A94F-76658CE5C113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696969"/>
          </a:solidFill>
          <a:ln w="12700">
            <a:solidFill>
              <a:srgbClr val="696969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0B54B33-7F66-48AB-A36A-3621C9E2F409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696969"/>
          </a:solidFill>
          <a:ln w="12700">
            <a:solidFill>
              <a:srgbClr val="696969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88DA94-846F-4FEE-9D07-8A0F72AB6913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‏البرمجة التقليدية‏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42E135E-8C92-4B05-8618-6ABB14848C36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6E0ACDF-020F-4439-8777-FA3EAD8A7567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‏يكتب الإنسان القواعد صراحةً: «إذا كان كذا فافعل كذا».‏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54E3D94-F4D6-4194-A08F-141C9F7C4645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874ACE2-88AD-4401-9F8D-F269795AB293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‏المخرجات محددة سلفاً ويمكن التنبؤ بها بدقة تامة.‏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7C2EEEF-46FA-4728-B9C4-C0986381D44A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4AF224F-01CD-48F0-A8C3-3DBF6B2E02FD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‏أي حالة جديدة تحتاج قاعدة جديدة يكتبها مبرمج.‏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9A19D8E-8508-4744-B014-DDF705FDE652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5451133-568E-4E0C-A854-2E0F770C4EEB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‏ممتازة للمهام المنضبطة: الحسابات، الأنظمة المالية، قواعد البيانات.‏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D8AA750-BB5B-4740-BC1A-A80EA61649C2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D0DCC37-743F-40CE-A202-DC362064A9BC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‏النتيجة نفسها في كل مرة على المدخل نفسه.‏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745500B-7731-4096-8AA0-2650850A8EEF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B4EE681-F2EE-468F-8490-21CDEAD011F0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C950DB7-C0C6-476B-8EDD-2175F1A7E132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0E70257-05BF-4025-B497-64E3B06A22BA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91CF5A1-085D-450A-A542-980AE306C065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5ABCDED-3CBD-47AC-9290-5591FDA3AE89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‏يستخلص النظام القواعد بنفسه من أمثلة كثيرة يتدرّب عليها.‏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C9529D9-A1AA-4EEC-9788-BAB7E5DCAFF0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F8C39F3-5CA2-42DC-A9F4-D173A69E2145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‏المخرجات احتمالية — الأرجح لا المؤكد.‏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C0CBF2F-010F-479E-86B3-9287D3EB36F5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26E8606-EF86-41D3-9B9A-7757E78DE221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‏يتعامل مع حالات لم يرها بالضبط عبر التشابه مع ما تعلّمه.‏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33AA54F6-A3CA-46AE-9779-A4F7C7CA3F64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F53ACE1-8BF7-4333-BF02-6865620E2685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‏ممتاز للمهام غير المنضبطة: اللغة، الصور، التلخيص، التصنيف.‏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BFDD457A-295F-4C57-B527-2C4EAB847925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EF4BAFBE-2FF2-42A5-BEF0-74BF2BD40BBC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‏قد تختلف الصياغة قليلاً في كل مرة على المدخل نفسه.‏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91C39D8A-86D1-43F4-AE7E-B680ABCF2DE2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28FA5C0-A533-4426-A879-6685CEDF3AD7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59ED6481-6BC9-4039-8D1F-00B7770D47E6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 rtl="1">
              <a:buNone/>
            </a:pPr>
            <a:r>
              <a:rPr sz="1400" dirty="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4486F019-0978-49A8-B95E-8BFA98D9FAD7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‏لهذا لا نسأل «هل الإجابة صحيحة دائماً؟» بل «كيف أتحقق منها قبل اعتمادها؟».‏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00972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31CA8D1-4ADE-408B-BA60-5E39DE20042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F2EABD-A957-4000-9286-775F8A848A2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5BD206A-AA8F-4221-87AF-634B3D7A989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تتعلّم الآلة؟‏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B1F4FE2-B10F-48AA-AA9C-EF10C87CF2C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61FA7B3-AF48-4631-A7E9-A3E990E7792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2D862AC-24C3-4479-A11B-FF6A27DC6074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الفكرة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نفسها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يعمل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بها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فلتر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البريد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المزعج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وتوصيات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المتاجر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والمساعد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33F0DFE-CEAF-4788-B1E7-EA2583FC8408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0D68F0-E513-408C-8758-83E9D2ACC9F8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4EA3257-E973-4A6E-AE62-4CB765D70524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DBB83D9-BE49-4148-819F-9174F518415D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‏البيانات‏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90CC4C-8148-4B20-A8F6-9C1F100221BE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يُغذّى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النظام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بآلاف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أو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ملايين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الأمثلة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المصنّفة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أو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النصوص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64B5957-0296-457B-B604-68E6F5760835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808301A-53FA-4E4F-8BB1-AE46C6913E22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4DE4803-32D0-4071-ACA6-86745B72C4BE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28A892F-ADBA-4D48-86CF-909473C4447E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‏التدريب‏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785E77F-ABEC-43A0-86B1-F744501F3543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‏يبحث النظام عن الأنماط المتكررة والعلاقات بين العناصر.‏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EEF0698-2E71-4FB1-AA03-4E9631957DB7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24504B6-EB56-4D4B-9DE1-713597073E97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FB80A8B-B868-42F6-9BAA-9883DDC1D4BA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B5E96AE-8F39-4E56-98CB-57C8F4B0F7BD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‏النموذج‏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6D16A41-B9F7-4F95-A98E-CF3209F80018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‏تُختزل هذه الأنماط في «نموذج» — معادلة ضخمة قابلة للاستخدام.‏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D354FC3-A941-4834-9C26-56780A22150B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C5D028E-BC00-4838-8CC1-34C3FC70573F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72F0953-19A9-4269-9CF4-1829FFBC0AAD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44652EA-A5B3-4CD5-BE13-4504AA5E33B5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‏التنبؤ‏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B10DAAB-C110-4E11-93F9-85E093B5B9FA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‏يُعطى النموذج مدخلاً جديداً فينتج أرجح مخرج بناءً على ما تعلّمه.‏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2F46AFE-21D9-4F85-A394-C9300442320C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8644F63-AEE3-49F1-AF3A-C41F7F236723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D206D8B-30E5-4628-838C-E98EC2299474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4B11859-49B1-48A4-9308-CA76FD2C1877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‏التحسين‏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2374140-6A8A-4FAB-B8AB-B6A223C77E7B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‏تُقاس الأخطاء ويُعاد التدريب لرفع الدقة تدريجياً.‏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753775A4-32CA-479B-8B13-9F2410404567}"/>
              </a:ext>
            </a:extLst>
          </p:cNvPr>
          <p:cNvSpPr>
            <a:spLocks noGrp="1"/>
          </p:cNvSpPr>
          <p:nvPr/>
        </p:nvSpPr>
        <p:spPr>
          <a:xfrm>
            <a:off x="566928" y="428853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27D4061-9267-4E49-B0CF-046908B61C65}"/>
              </a:ext>
            </a:extLst>
          </p:cNvPr>
          <p:cNvSpPr>
            <a:spLocks noGrp="1"/>
          </p:cNvSpPr>
          <p:nvPr/>
        </p:nvSpPr>
        <p:spPr>
          <a:xfrm>
            <a:off x="11094415" y="440740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ECA7EE5-C10E-4AB6-8E0D-6385D5B4EE87}"/>
              </a:ext>
            </a:extLst>
          </p:cNvPr>
          <p:cNvSpPr>
            <a:spLocks noGrp="1"/>
          </p:cNvSpPr>
          <p:nvPr/>
        </p:nvSpPr>
        <p:spPr>
          <a:xfrm>
            <a:off x="11094415" y="443484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5645848-BBB4-4723-9F09-298C48C092DC}"/>
              </a:ext>
            </a:extLst>
          </p:cNvPr>
          <p:cNvSpPr>
            <a:spLocks noGrp="1"/>
          </p:cNvSpPr>
          <p:nvPr/>
        </p:nvSpPr>
        <p:spPr>
          <a:xfrm>
            <a:off x="749808" y="433425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‏لا يوجد «فهم» بالمعنى البشري — بل تعرّف على أنماط إحصائية بالغة الدقة.‏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42992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962A365-132C-400D-94B9-1A581CE01899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19‏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D888CE5-A1F0-41CD-B81B-172E7C17B98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D433B88-20A9-4279-974B-CB3FF7D5154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المصطلحات‏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5254B4-7727-40BE-B14F-23E53AE1E73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B5173BC-0567-44D9-AB82-FA542596361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3AA3D7B-69EE-4BE6-9235-411962E120CC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أربعة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مصطلحات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متداخلة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كثيراً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تُستخدم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بالخطأ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كمترادفات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B84E15B-A39F-4AC9-BE59-DB9659E0040C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F30F19A-38FD-4A7E-A649-45410FDA1D6B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6810052-C22E-4661-BFB2-5822266C39F4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F36A9F6-95C5-4902-AA9E-E9827849A413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(AI)‏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6FA4FC7-D6C5-476D-9C2A-0DE433BE7B66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‏المظلة الكبرى: كل نظام حاسوبي يؤدي مهاماً تتطلب ذكاءً. يشمل كل ما تحته.‏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EEB638B-CA2B-46E8-A5EF-ED0EEEB5F003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AC70B65-F499-4FC2-A91C-62FD7A8759ED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F8A1EEE-56A9-4D38-9529-8F06D44B8DD2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D6E254B-190C-4C4E-B8D1-90CA064CFF00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‏تعلّم الآلة (ML)‏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025169F-5A87-4AB0-9771-5B626E757BFE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‏فرع من الذكاء الاصطناعي يتعلّم من البيانات بدل القواعد المكتوبة يدوياً.‏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308E769-63EB-4488-A132-2981583630D2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7C02DE4-76D5-476B-A0B7-CB85133DA52E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11BB677A-30EC-477A-AF16-DF7EF0713BEC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2A5DE0A-DBA1-493B-BFCF-6E30DB286632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‏التعلّم العميق (DL)‏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7B10C9F-2E39-4CD8-BB7B-EE540CAD60FB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‏فرع من تعلّم الآلة يستخدم شبكات عصبية متعددة الطبقات، ويتفوّق في اللغة والصور.‏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0416443-A0F7-4738-97B7-5078D5D4F2E9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C737377-CA18-4952-A121-E71E73029029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80419F8-166A-432E-B071-B4581BE100A7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8559658-CA0B-49A5-9084-59EC3AEAA5DC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‏الذكاء الاصطناعي التوليدي‏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512A37C-D58C-49FE-8060-CC346E7E6176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‏أحدث موجة: ينتج محتوى جديداً (نص، صورة، صوت، كود) بدل التصنيف والتنبؤ فقط.‏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D366717D-AEE8-4CC9-905A-8E37174FFFD7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1B715C7-8137-4E1C-9056-C68F5045CEC7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BE0A898-E417-4DDE-9F9F-AEA3974A442C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42B785B-A851-4036-9008-9B0B6E4947D9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كل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ستستخدمه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هذا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البرنامج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يقع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الدائرة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الأصغر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: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00" dirty="0" err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التوليدي</a:t>
            </a:r>
            <a:r>
              <a:rPr sz="1500" dirty="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3052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8C18E98-A124-4B85-A7F9-A1A3AD316D33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6A5E6C-AEFB-4501-82FE-2803102ABD0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FB0BCE-95AF-4DE0-941F-5347551F95D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النموذج اللغوي الكبير (LLM)؟‏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AAF475D-1EAE-48F5-BF5B-F235A0FC56F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EBF7DE-3E9B-4D11-BDAA-AA48667294B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ACEA6C0-020B-486C-8881-B43EB32AF29B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المحرّك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يقف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خلف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ChatGPT و Copilot و Gemini.‏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C23E6AA-3E9F-438D-AEB6-18E3E6F4ADC6}"/>
              </a:ext>
            </a:extLst>
          </p:cNvPr>
          <p:cNvSpPr>
            <a:spLocks noGrp="1"/>
          </p:cNvSpPr>
          <p:nvPr/>
        </p:nvSpPr>
        <p:spPr>
          <a:xfrm>
            <a:off x="11313871" y="197510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B1ECC39-4F53-421B-B1E7-47A25C94EB72}"/>
              </a:ext>
            </a:extLst>
          </p:cNvPr>
          <p:cNvSpPr>
            <a:spLocks noGrp="1"/>
          </p:cNvSpPr>
          <p:nvPr/>
        </p:nvSpPr>
        <p:spPr>
          <a:xfrm>
            <a:off x="11313871" y="200253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D2B043C-96F8-4D85-9E80-B4BCF6510252}"/>
              </a:ext>
            </a:extLst>
          </p:cNvPr>
          <p:cNvSpPr>
            <a:spLocks noGrp="1"/>
          </p:cNvSpPr>
          <p:nvPr/>
        </p:nvSpPr>
        <p:spPr>
          <a:xfrm>
            <a:off x="566928" y="192938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‏نموذج تدرّب على كميات هائلة من النصوص‏</a:t>
            </a:r>
            <a:endParaRPr sz="18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638CEDB-25BB-4260-82DE-FFDD31FF425E}"/>
              </a:ext>
            </a:extLst>
          </p:cNvPr>
          <p:cNvSpPr>
            <a:spLocks noGrp="1"/>
          </p:cNvSpPr>
          <p:nvPr/>
        </p:nvSpPr>
        <p:spPr>
          <a:xfrm>
            <a:off x="566928" y="222199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‏كتب، مقالات، مواقع، وثائق — بمليارات الكلمات بلغات متعددة.‏</a:t>
            </a:r>
            <a:endParaRPr sz="15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37C65DF-D2A7-4899-B910-CE31D540EA59}"/>
              </a:ext>
            </a:extLst>
          </p:cNvPr>
          <p:cNvSpPr>
            <a:spLocks noGrp="1"/>
          </p:cNvSpPr>
          <p:nvPr/>
        </p:nvSpPr>
        <p:spPr>
          <a:xfrm>
            <a:off x="11313871" y="26700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D236B88-F67E-4E05-B375-AD770DD5BBF7}"/>
              </a:ext>
            </a:extLst>
          </p:cNvPr>
          <p:cNvSpPr>
            <a:spLocks noGrp="1"/>
          </p:cNvSpPr>
          <p:nvPr/>
        </p:nvSpPr>
        <p:spPr>
          <a:xfrm>
            <a:off x="11313871" y="26974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C26AAD8-9A36-49D4-878E-887701CFC201}"/>
              </a:ext>
            </a:extLst>
          </p:cNvPr>
          <p:cNvSpPr>
            <a:spLocks noGrp="1"/>
          </p:cNvSpPr>
          <p:nvPr/>
        </p:nvSpPr>
        <p:spPr>
          <a:xfrm>
            <a:off x="566928" y="26243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‏مهمته الأساسية: التنبؤ بالكلمة التالية‏</a:t>
            </a:r>
            <a:endParaRPr sz="18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54C568D-C97D-4BDE-9BDE-54EF1F05500C}"/>
              </a:ext>
            </a:extLst>
          </p:cNvPr>
          <p:cNvSpPr>
            <a:spLocks noGrp="1"/>
          </p:cNvSpPr>
          <p:nvPr/>
        </p:nvSpPr>
        <p:spPr>
          <a:xfrm>
            <a:off x="566928" y="2916936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‏يقرأ ما كُتب حتى الآن ويرشّح أرجح كلمة تليه، ثم يكرّر العملية.‏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73A940A6-335A-4E02-978E-A597FD22E42C}"/>
              </a:ext>
            </a:extLst>
          </p:cNvPr>
          <p:cNvSpPr>
            <a:spLocks noGrp="1"/>
          </p:cNvSpPr>
          <p:nvPr/>
        </p:nvSpPr>
        <p:spPr>
          <a:xfrm>
            <a:off x="11313871" y="336499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9594D44-AA67-4ECE-A98E-08CD5962B248}"/>
              </a:ext>
            </a:extLst>
          </p:cNvPr>
          <p:cNvSpPr>
            <a:spLocks noGrp="1"/>
          </p:cNvSpPr>
          <p:nvPr/>
        </p:nvSpPr>
        <p:spPr>
          <a:xfrm>
            <a:off x="11313871" y="33924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0FA2D32-95F8-4A60-A942-DFBCADFA4953}"/>
              </a:ext>
            </a:extLst>
          </p:cNvPr>
          <p:cNvSpPr>
            <a:spLocks noGrp="1"/>
          </p:cNvSpPr>
          <p:nvPr/>
        </p:nvSpPr>
        <p:spPr>
          <a:xfrm>
            <a:off x="566928" y="331927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 هذه المهمة البسيطة نشأت قدرات معقّدة‏</a:t>
            </a:r>
            <a:endParaRPr sz="18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BE9936C-50D0-4BC8-84AA-FABE44AF9A24}"/>
              </a:ext>
            </a:extLst>
          </p:cNvPr>
          <p:cNvSpPr>
            <a:spLocks noGrp="1"/>
          </p:cNvSpPr>
          <p:nvPr/>
        </p:nvSpPr>
        <p:spPr>
          <a:xfrm>
            <a:off x="566928" y="3611880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‏التلخيص، الترجمة، إعادة الصياغة، التصنيف، والإجابة عن الأسئلة.‏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03EAAD7-332A-4F82-B184-54D9BE77B121}"/>
              </a:ext>
            </a:extLst>
          </p:cNvPr>
          <p:cNvSpPr>
            <a:spLocks noGrp="1"/>
          </p:cNvSpPr>
          <p:nvPr/>
        </p:nvSpPr>
        <p:spPr>
          <a:xfrm>
            <a:off x="11313871" y="405993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BFC6051-FE61-4600-A57A-75FCABCA597D}"/>
              </a:ext>
            </a:extLst>
          </p:cNvPr>
          <p:cNvSpPr>
            <a:spLocks noGrp="1"/>
          </p:cNvSpPr>
          <p:nvPr/>
        </p:nvSpPr>
        <p:spPr>
          <a:xfrm>
            <a:off x="11313871" y="40873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A71C9D9-3FF6-41F4-B2EA-4067FE9F8AD3}"/>
              </a:ext>
            </a:extLst>
          </p:cNvPr>
          <p:cNvSpPr>
            <a:spLocks noGrp="1"/>
          </p:cNvSpPr>
          <p:nvPr/>
        </p:nvSpPr>
        <p:spPr>
          <a:xfrm>
            <a:off x="566928" y="401421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‏لا يملك قاعدة بيانات يبحث فيها‏</a:t>
            </a:r>
            <a:endParaRPr sz="18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595BA99-BADC-45A8-8B23-0CD0A389FE72}"/>
              </a:ext>
            </a:extLst>
          </p:cNvPr>
          <p:cNvSpPr>
            <a:spLocks noGrp="1"/>
          </p:cNvSpPr>
          <p:nvPr/>
        </p:nvSpPr>
        <p:spPr>
          <a:xfrm>
            <a:off x="566928" y="4306824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 «معرفة» مضغوطة داخل معاملاته الرقمية — ولهذا قد يخطئ بثقة.‏</a:t>
            </a:r>
            <a:endParaRPr sz="155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EEFDD6C-E561-4904-B591-D187780F585B}"/>
              </a:ext>
            </a:extLst>
          </p:cNvPr>
          <p:cNvSpPr>
            <a:spLocks noGrp="1"/>
          </p:cNvSpPr>
          <p:nvPr/>
        </p:nvSpPr>
        <p:spPr>
          <a:xfrm>
            <a:off x="11313871" y="475488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C62ABA3-E7E0-48A6-B07C-39A03E79E4DE}"/>
              </a:ext>
            </a:extLst>
          </p:cNvPr>
          <p:cNvSpPr>
            <a:spLocks noGrp="1"/>
          </p:cNvSpPr>
          <p:nvPr/>
        </p:nvSpPr>
        <p:spPr>
          <a:xfrm>
            <a:off x="11313871" y="47823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AEBBE32-6069-4F0B-AD01-4666B4445E89}"/>
              </a:ext>
            </a:extLst>
          </p:cNvPr>
          <p:cNvSpPr>
            <a:spLocks noGrp="1"/>
          </p:cNvSpPr>
          <p:nvPr/>
        </p:nvSpPr>
        <p:spPr>
          <a:xfrm>
            <a:off x="566928" y="470916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‏يتأثر بشدة بطريقة صياغة الأمر‏</a:t>
            </a:r>
            <a:endParaRPr sz="18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8EE328A-E5C9-4604-8839-4BC97C9AD222}"/>
              </a:ext>
            </a:extLst>
          </p:cNvPr>
          <p:cNvSpPr>
            <a:spLocks noGrp="1"/>
          </p:cNvSpPr>
          <p:nvPr/>
        </p:nvSpPr>
        <p:spPr>
          <a:xfrm>
            <a:off x="566928" y="5001768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‏جودة المخرج تتبع جودة المدخل تبعية شبه مباشرة.‏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0AFCD5F-E3DC-43A8-937D-BFD498B8F64D}"/>
              </a:ext>
            </a:extLst>
          </p:cNvPr>
          <p:cNvSpPr>
            <a:spLocks noGrp="1"/>
          </p:cNvSpPr>
          <p:nvPr/>
        </p:nvSpPr>
        <p:spPr>
          <a:xfrm>
            <a:off x="11313871" y="544982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52CC5F5-DECD-44AF-A9C2-044BC7BE10C2}"/>
              </a:ext>
            </a:extLst>
          </p:cNvPr>
          <p:cNvSpPr>
            <a:spLocks noGrp="1"/>
          </p:cNvSpPr>
          <p:nvPr/>
        </p:nvSpPr>
        <p:spPr>
          <a:xfrm>
            <a:off x="11313871" y="54772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045C77A-5FE2-4C29-A982-0320C3429EE1}"/>
              </a:ext>
            </a:extLst>
          </p:cNvPr>
          <p:cNvSpPr>
            <a:spLocks noGrp="1"/>
          </p:cNvSpPr>
          <p:nvPr/>
        </p:nvSpPr>
        <p:spPr>
          <a:xfrm>
            <a:off x="566928" y="540410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‏لا يتذكّر محادثاتك السابقة افتراضياً‏</a:t>
            </a:r>
            <a:endParaRPr sz="18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062D8F1-FBB9-4257-9399-047D5F2CAC2F}"/>
              </a:ext>
            </a:extLst>
          </p:cNvPr>
          <p:cNvSpPr>
            <a:spLocks noGrp="1"/>
          </p:cNvSpPr>
          <p:nvPr/>
        </p:nvSpPr>
        <p:spPr>
          <a:xfrm>
            <a:off x="566928" y="569671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‏إلا إذا فُعّلت خاصية الذاكرة صراحةً في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613823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0FC0359-97F1-4A90-9B5F-B1C2597F7B01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2A8E36-96D4-4B75-B9B9-7A702CE167A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3B91FD-1223-4177-BC9D-8F8D1BCAB29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يولّد المساعد الذكي إجابته؟‏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BF046FE-8C89-4627-9BDA-3E56A400849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FA2C9FA-6546-42C3-8B8D-AD3B8F15CF2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7C4FD9F-EA4E-4A66-9E49-304D28DD4E68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يحدث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الثواني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بين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ضغطك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«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إرسال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»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وظهور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النص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AF96ADE-09D7-4D3A-931C-7CACACB346B9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CD9A366-A639-4B60-83A3-5BB24A30E2C0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291D566-5D03-4D18-BB86-270D0EA4AC4A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3CEA438-63EA-4BA0-9CE8-EE62A865FCD2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‏التفكيك‏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C79C2BB-B34C-4489-AAC9-36EDBC6B71C0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يُقسَّم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أمرك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إلى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وحدات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لغوية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4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صغيرة</a:t>
            </a:r>
            <a:r>
              <a:rPr sz="14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(Tokens).‏</a:t>
            </a:r>
            <a:endParaRPr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49C697B-8453-4F62-9923-4853F051DF7E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BB21DB1-55B1-4126-BE78-321817F4AC82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C66BA1E-7ECA-4DF6-A46B-07B990A14074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3E582AA-6D82-46E6-A0F6-00117134023C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‏التمثيل‏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B54E9F8-B9BC-4237-9453-C5D79D14C07A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‏تُحوَّل هذه الوحدات إلى أرقام تمثّل معناها وعلاقاتها.‏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A8D84AE-24D2-4E85-8F85-E91035F7E2FB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4A93BA6-219C-44DF-90D7-9042681C4C40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AB9FB5C-E367-42EA-BBA6-7C697F2571B7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96547E0-F5B4-49F1-8DAF-9B699A5A9DD4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‏الترجيح‏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BBFE554-CF41-4E51-928A-AF27EB6C2F16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‏يحسب النموذج احتمال كل كلمة ممكنة تالية.‏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073BB25-36C5-4116-A66F-6AA83A7C5EF3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81144AB-BFC6-4B5C-911A-7627180BA6F1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43D45A1-341F-434D-9035-A5094B334BD2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D49A63A-E88C-433E-AE20-CE269EF57142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‏الاختيار‏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62FDDD7-1380-4FD7-BA20-A280EDD05DD7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‏يختار كلمة من الأعلى احتمالاً — مع هامش تنويع.‏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DC0DE4B-BC93-492A-BE58-CA86E99DA5E8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017AFD5-DAC6-43B2-B3E8-04A6D27A4CAE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01BF7BD-1F7B-4F51-A379-C6E17C3F4B3B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1E10BA7-FA42-4E17-96E5-2991B17143A2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‏التكرار‏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9406BF1-1C22-4A29-ABF8-AA3DBF49EFCF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 rtl="1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‏يعيد العملية كلمة بعد كلمة حتى يكتمل الجواب.‏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B0594F89-A639-4269-8C21-E182E1DCCD85}"/>
              </a:ext>
            </a:extLst>
          </p:cNvPr>
          <p:cNvSpPr>
            <a:spLocks noGrp="1"/>
          </p:cNvSpPr>
          <p:nvPr/>
        </p:nvSpPr>
        <p:spPr>
          <a:xfrm>
            <a:off x="566928" y="410565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1DE2EB90-025A-456F-8397-415D12A19184}"/>
              </a:ext>
            </a:extLst>
          </p:cNvPr>
          <p:cNvSpPr>
            <a:spLocks noGrp="1"/>
          </p:cNvSpPr>
          <p:nvPr/>
        </p:nvSpPr>
        <p:spPr>
          <a:xfrm>
            <a:off x="11094415" y="422452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A81FD57-C2E9-448E-9022-4BDB16E8E9AC}"/>
              </a:ext>
            </a:extLst>
          </p:cNvPr>
          <p:cNvSpPr>
            <a:spLocks noGrp="1"/>
          </p:cNvSpPr>
          <p:nvPr/>
        </p:nvSpPr>
        <p:spPr>
          <a:xfrm>
            <a:off x="11094415" y="42519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9E39F72-153F-4F2D-8636-889F3EFC8762}"/>
              </a:ext>
            </a:extLst>
          </p:cNvPr>
          <p:cNvSpPr>
            <a:spLocks noGrp="1"/>
          </p:cNvSpPr>
          <p:nvPr/>
        </p:nvSpPr>
        <p:spPr>
          <a:xfrm>
            <a:off x="749808" y="415137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‏لهذا تختلف صياغة الإجابة قليلاً في كل مرة، حتى مع الأمر نفسه.‏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12392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45A606-7428-45F6-95E5-C82A716CFB8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73B6CE-54DA-4D51-BA9E-773325B0659D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D88C6F3-220E-41A1-A3C5-5E996A99470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يفعله وما لا يفعله‏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2B020DF-CF4E-4330-B7B9-6B0415494A8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C510E74-30FC-4EA9-BC33-86E33BF40158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8112F8-FCD5-4564-AE30-814F46C415B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‏تصحيح أشيع خمسة مفاهيم مغلوطة.‏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6BCB859-E511-43FF-9266-9EF81D0A168E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0B6A88D-9878-4F18-A585-522184874B2D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5FF52A4-21C0-4A93-AA9C-0333495233A1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FB6A8C7-5D68-4F7F-A824-C77C04196AA7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‏يفعله ببراعة‏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1F88DC1-F9C0-4B6C-A6C6-2870AF2CBD5A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2240179-2577-49E8-AF6F-7DA582927513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‏صياغة النصوص وإعادة صياغتها بأساليب مختلفة.‏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6097CFE-F020-4A8D-B7F1-EFA93EC99700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CDAE022-430E-49FC-8C67-94891655E6A3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وثيقة طويلة إلى نقاط رئيسية.‏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0DDAFBC-B633-4674-A36F-D12C0773B641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62D5881-B7D3-42DF-AAE9-639D28D7F611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 بين اللغات وتحسين الأسلوب.‏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24B1B66-FC85-44D6-A52C-9D914F069662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1E4D24E-CD82-4CBF-B6D0-7B0C51A0CCC6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أفكار وخيارات متعددة بسرعة.‏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E3ED7132-EFBC-4F73-9DB9-AEC0BA82BB7C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73310C1-60F2-4A8A-BA4B-CBC6D71F065A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‏تصنيف وترتيب وتنظيم محتوى غير منظّم.‏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563C8F2-59FC-4403-9DA9-83271518069A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64AA8DC-CE2F-423A-B8A2-0B012416D240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6DD7D14-4B98-4867-91D9-AF067A0CC269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346FEC8-5ECF-43D5-A9B4-698C64791668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يفعله (رغم الظن)‏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1157792-FB82-4617-B02F-2F82BD76211D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7E9418A-D283-4FBD-B69E-60DC9EE61F16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يعرف أنظمة جهتك وسياساتها الداخلية.‏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F35932F-2611-4DAC-A898-3AC12AB76A87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22F7A28-9A2C-4621-B190-51171E47B58D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يضمن صحة الأرقام والإحصاءات والمراجع.‏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97C972A-D1A6-44BD-ACE6-1259DF6D2896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1760259-9CF2-4D1F-9A8E-163AC4D126BC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يفهم السياق الذي لم تخبره به.‏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CCDEFF93-2965-49D6-8255-29B1E7A19932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E38550FE-E69F-4F98-AC69-598B9EBF1419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يتحمّل مسؤولية القرار — المسؤولية عليك.‏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31734080-329B-43F4-BC01-A3C0BB50BF78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2ADDCD7-2883-46A5-BE68-53EBA273E1AB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يحلّ محل الحكم المهني والخبرة المؤسسية.‏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BF105C47-8E10-40EA-A176-A8B93AC048A9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2F1DE70-26A4-4D25-9E64-5E5D6C5D099C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E1DC07B-DF5C-47D3-B309-00906FA72B88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85FA975-12C8-42A7-AA43-C5C02AC694D9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‏القاعدة الذهبية: استخدمه لتوليد المسودة، واستخدم خبرتك لاعتمادها.‏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88985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9AD7EE7-57C0-49F1-940C-DF6F632CEFA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13F7CF0-CE24-40CF-9F22-2DBD93E1651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F00A014-78F3-401C-B5F1-BE4F3AD7B36C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الوطني‏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53EEC67-0AB0-47CF-B76F-246EE0DA2FB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AE8B32C-3112-47D5-B703-34FC4123054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F3BF8F-063D-4256-B1FA-816F18A074B5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الذكاء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الاصطناعي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في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المملكة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ليس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اتجاهاً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تقنياً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،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بل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التزاماً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600" i="1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وطنياً</a:t>
            </a:r>
            <a:r>
              <a:rPr sz="1600" i="1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6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C91E362-33CE-4C4A-910E-326315C51070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CD33551-8DA0-4B1E-870F-93A5AF9ED3B4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BA7FA09-3D19-46D8-984A-5C8E0F3D0124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F70EACA-D711-4A3C-83D2-9451260EB5B7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‏رؤية المملكة 2030‏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5E55977-8EF1-4C8D-A5BE-ACA93504E590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‏التحول الرقمي وبناء اقتصاد قائم على المعرفة كأحد ركائز الرؤية الأساسية.‏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12EBF4A-B175-48B7-B6F6-15698B6CD6D0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DD686F8-C00A-44A4-A488-DF927ADA08D0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07A138E-D42A-4732-9E98-A1CCE97C740A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6CECC5A-0A04-4A00-8ADF-FF479E095A4A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DD45D52-0195-410B-AB52-C036ADD2F9C5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‏الجهة الوطنية المرجعية للبيانات والذكاء الاصطناعي: التنظيم، التمكين، وبناء القدرات.‏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07659A2-9A71-4CB3-9D93-FA01839D1914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9930958-09CA-41B8-916E-4A80F100595A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2CDB76F-080A-4AB7-856C-B9C46ECA2B9B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B7D6BD4-C007-4E56-B115-0AD1D595848C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‏الاستراتيجية الوطنية للبيانات والذكاء الاصطناعي‏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354626D-1F26-48AE-947F-E3B6BB86FF64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وطني يستهدف جعل المملكة من الدول الرائدة عالمياً في هذا المجال.‏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B788290-3E97-42FE-A892-20F0AE2D55F6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9257553-A433-4EB9-9CFD-FAE983ED0C13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1C40B1C-FBFF-43A8-8F28-38BE183418C2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CB4C17F-F2E1-43D8-B036-67F097C9E23A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‏المبادئ الأخلاقية‏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950F63E-BE9F-49C0-927C-0FD75C56AA49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وطني لأخلاقيات الذكاء الاصطناعي يوجّه الاستخدام المسؤول في الجهات.‏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36380B8-408A-41C6-9DD1-32EC513264A5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988F4CC-864C-46AD-908A-089FB6467C52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3B5FD0A-8C15-434F-961A-B018D127B1B0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B38D513-95CF-499A-B4D0-E90FFF6707D6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B44120D-CAD9-45A6-AF67-48C6749AD566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تشريعي يحكم التعامل مع البيانات الشخصية في جميع القنوات والأنظمة.‏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E77B0C9-3D9E-4D84-9BC6-B3B284F922D0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96A31FD-1684-4CB4-AD80-5DA61A4734DA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8FC7700-6B71-45BB-AE99-5FAABB73F195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158ED5E-868E-4327-85A3-0CC8EF5EC4E0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‏بناء القدرات الوطنية‏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92C1964-C37B-4FB8-9453-91633B159B23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‏برامج تدريبية وطنية — ومنها هذا البرنامج — لرفع جاهزية الكوادر الحكومية.‏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033951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7662AB1-132C-4D7E-BAD4-22043F3209D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5692DBD-A443-442E-8487-CB23B2D8291C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8395E4C-4734-4BC7-BF6A-E9708D1054C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‏أثر الذكاء الاصطناعي على الوظائف‏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BD93638-D6D9-4E89-A9A0-8BC2F7BA5B85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D17D83D-BDF8-4289-B8A8-B3BFF52F9118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91B661F-F162-411B-A55B-57CD1594D2CD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‏السؤال الصحيح ليس «هل سيستبدلني؟» بل «أي أجزاء من عملي ستتغيّر؟».‏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3667F15-39E7-4D9F-AAD1-3BB55B2FC60B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1F100A8-3DA4-4C71-8739-E42444F7CDD5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696969"/>
          </a:solidFill>
          <a:ln w="12700">
            <a:solidFill>
              <a:srgbClr val="696969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582DE43-07A9-450A-B75A-4E89417706E1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696969"/>
          </a:solidFill>
          <a:ln w="12700">
            <a:solidFill>
              <a:srgbClr val="696969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B9AD901-ADC5-403C-B5AA-39E72AE7D313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‏مهام معرّضة للأتمتة‏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1BB68D2-6E8E-4BCC-ACB4-830079DD47C1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5DF7430-D262-418B-93B6-413D8416AB06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‏الصياغة الروتينية للنصوص المتكررة.‏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8E10672-B899-4681-8DA2-79A25BC645EA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0B2EA2-CDEE-4D34-89EA-3FE94A154E04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‏التلخيص الأولي للوثائق الطويلة.‏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554423C-012F-4791-BBF3-C3072C0A03A1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A0D2245-831C-4B73-9F61-23549E31446A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‏إدخال البيانات وتصنيفها ونقلها.‏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54BC025-B3BE-4B42-B579-F8C730AA9D35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93B3058-E458-4DDB-954D-9707AF678C4C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 الأولية والتدقيق اللغوي.‏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E35E21B-5631-4390-8EDD-1AED6ED79D70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696969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0A83629-D954-4149-90EE-6D140BAE6A12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‏إعداد المسودات الأولى للتقارير.‏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DAC5064-3D76-4781-A91F-6A35E866B732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1AE8AB1-CFBE-4ADF-A26B-C262A059823B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29543E1-E12A-485B-90A8-3B3B2751B7B6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F2233BD-375E-4739-8070-A16D7E4A5491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‏مهام يزداد الطلب عليها‏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94017341-7FFF-4F36-A31F-15F5CA9D71C7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61FCA0C-7F5E-4B78-B9E3-5D90354A4B28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‏الحكم المهني وتقدير السياق التنظيمي.‏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8B40BAF-A089-4C0C-8180-2E1917A2EF16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F8B8D00-72CB-49D0-8DD3-53F891C90315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‏اتخاذ القرار وتحمّل مسؤوليته.‏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BAB6923-F8D1-4378-B7BD-48F4EB042EE0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96B77F7-863C-4749-B89A-B08D92E48908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‏بناء العلاقات والتفاوض والإقناع.‏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4B1C544-00B0-4FA3-9203-82CBC1FA0E9B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E5E728F-C628-43E4-A0D8-DD5D9BAA7ECA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‏التحقق من صحة المخرجات وجودتها.‏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BA4F4896-241E-4D67-B89D-BDD08675E614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36575869-89CA-419E-986C-068FF5CDFF39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‏تصميم طريقة استخدام الأدوات نفسها.‏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689BA1A9-35ED-43DF-8D07-5FEC575CEDB1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79B1B31D-F52E-4735-8034-D8F001FF6C0F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D7F7F0B8-AE79-4B46-B41D-00CC1DF97018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BE360BA-FCA0-4382-B5F5-4E2DB791C88F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 rtl="1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‏الأدوات لا تستبدل الموظف — لكن الموظف الذي يتقنها يتقدّم على من لا يتقنها.‏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35250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89520F2-EB78-49B6-B6F6-F7F87D0AACE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94ADF96-4D23-48DB-AEEF-5F9E7AFC43A7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الأول  ·  مقدمة في الذكاء الاصطناعي‏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32353AF-B188-47CB-A7F4-A76FEDACCC7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‏مهارات الموظف في عصر الذكاء الاصطناعي‏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9702A44-9697-403C-8942-0D0271C1593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1C63DD9-C411-4A31-A045-05B11195C61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1C070D9-5521-474C-B0B3-2E8F09408D76}"/>
              </a:ext>
            </a:extLst>
          </p:cNvPr>
          <p:cNvSpPr>
            <a:spLocks noGrp="1"/>
          </p:cNvSpPr>
          <p:nvPr/>
        </p:nvSpPr>
        <p:spPr>
          <a:xfrm>
            <a:off x="11313871" y="160934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AA2976F-F822-4ECC-9C4C-66C0019BDBE6}"/>
              </a:ext>
            </a:extLst>
          </p:cNvPr>
          <p:cNvSpPr>
            <a:spLocks noGrp="1"/>
          </p:cNvSpPr>
          <p:nvPr/>
        </p:nvSpPr>
        <p:spPr>
          <a:xfrm>
            <a:off x="11313871" y="1636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44EBB4-6DA6-4639-BEF5-B3363EE247CB}"/>
              </a:ext>
            </a:extLst>
          </p:cNvPr>
          <p:cNvSpPr>
            <a:spLocks noGrp="1"/>
          </p:cNvSpPr>
          <p:nvPr/>
        </p:nvSpPr>
        <p:spPr>
          <a:xfrm>
            <a:off x="566928" y="156362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الصياغة‏</a:t>
            </a:r>
            <a:endParaRPr sz="1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268F728-47D6-45FB-A967-CABBC243AC8F}"/>
              </a:ext>
            </a:extLst>
          </p:cNvPr>
          <p:cNvSpPr>
            <a:spLocks noGrp="1"/>
          </p:cNvSpPr>
          <p:nvPr/>
        </p:nvSpPr>
        <p:spPr>
          <a:xfrm>
            <a:off x="566928" y="185623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القدرة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على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وصف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ما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تريده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بدقة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ووضوح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—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هي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المهارة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الأولى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 </a:t>
            </a:r>
            <a:r>
              <a:rPr sz="1550" dirty="0" err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الجديدة</a:t>
            </a:r>
            <a:r>
              <a:rPr sz="1550" dirty="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.‏</a:t>
            </a:r>
            <a:endParaRPr sz="15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D77D8DD-249D-4266-B8A2-0EEA95B43CAE}"/>
              </a:ext>
            </a:extLst>
          </p:cNvPr>
          <p:cNvSpPr>
            <a:spLocks noGrp="1"/>
          </p:cNvSpPr>
          <p:nvPr/>
        </p:nvSpPr>
        <p:spPr>
          <a:xfrm>
            <a:off x="11313871" y="23652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FD17DE-0225-46E5-AC41-94CE352B27FE}"/>
              </a:ext>
            </a:extLst>
          </p:cNvPr>
          <p:cNvSpPr>
            <a:spLocks noGrp="1"/>
          </p:cNvSpPr>
          <p:nvPr/>
        </p:nvSpPr>
        <p:spPr>
          <a:xfrm>
            <a:off x="11313871" y="23926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C8F217E-2652-4B3A-A4C6-46300771906F}"/>
              </a:ext>
            </a:extLst>
          </p:cNvPr>
          <p:cNvSpPr>
            <a:spLocks noGrp="1"/>
          </p:cNvSpPr>
          <p:nvPr/>
        </p:nvSpPr>
        <p:spPr>
          <a:xfrm>
            <a:off x="566928" y="23195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التحقق‏</a:t>
            </a:r>
            <a:endParaRPr sz="18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20CD166-8FEB-40E4-826A-9C9999D965FB}"/>
              </a:ext>
            </a:extLst>
          </p:cNvPr>
          <p:cNvSpPr>
            <a:spLocks noGrp="1"/>
          </p:cNvSpPr>
          <p:nvPr/>
        </p:nvSpPr>
        <p:spPr>
          <a:xfrm>
            <a:off x="566928" y="2612136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‏عدم قبول أي مخرج قبل مراجعة مصدره ومنطقه وأرقامه.‏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3D9978E-8D32-480F-9377-D94534BCB5DE}"/>
              </a:ext>
            </a:extLst>
          </p:cNvPr>
          <p:cNvSpPr>
            <a:spLocks noGrp="1"/>
          </p:cNvSpPr>
          <p:nvPr/>
        </p:nvSpPr>
        <p:spPr>
          <a:xfrm>
            <a:off x="11313871" y="31211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5B5A80E-E323-44C1-A9C1-04593DA160ED}"/>
              </a:ext>
            </a:extLst>
          </p:cNvPr>
          <p:cNvSpPr>
            <a:spLocks noGrp="1"/>
          </p:cNvSpPr>
          <p:nvPr/>
        </p:nvSpPr>
        <p:spPr>
          <a:xfrm>
            <a:off x="11313871" y="31485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6C73943-D9FC-47AF-97D2-46653C60DC56}"/>
              </a:ext>
            </a:extLst>
          </p:cNvPr>
          <p:cNvSpPr>
            <a:spLocks noGrp="1"/>
          </p:cNvSpPr>
          <p:nvPr/>
        </p:nvSpPr>
        <p:spPr>
          <a:xfrm>
            <a:off x="566928" y="30754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اختيار الأداة‏</a:t>
            </a:r>
            <a:endParaRPr sz="18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05CE5CD-2733-44FF-B04E-42014301EE49}"/>
              </a:ext>
            </a:extLst>
          </p:cNvPr>
          <p:cNvSpPr>
            <a:spLocks noGrp="1"/>
          </p:cNvSpPr>
          <p:nvPr/>
        </p:nvSpPr>
        <p:spPr>
          <a:xfrm>
            <a:off x="566928" y="3368040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‏معرفة أي أداة تناسب أي مهمة، ومتى لا تُستخدم أداة إطلاقاً.‏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90A4F7A-A483-47C4-B8F6-985B5F33FE8F}"/>
              </a:ext>
            </a:extLst>
          </p:cNvPr>
          <p:cNvSpPr>
            <a:spLocks noGrp="1"/>
          </p:cNvSpPr>
          <p:nvPr/>
        </p:nvSpPr>
        <p:spPr>
          <a:xfrm>
            <a:off x="11313871" y="387705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9943B10-92CF-40DE-9ADA-13A133FBA994}"/>
              </a:ext>
            </a:extLst>
          </p:cNvPr>
          <p:cNvSpPr>
            <a:spLocks noGrp="1"/>
          </p:cNvSpPr>
          <p:nvPr/>
        </p:nvSpPr>
        <p:spPr>
          <a:xfrm>
            <a:off x="11313871" y="39044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7659E85-DA68-405F-B81A-CECE7530D813}"/>
              </a:ext>
            </a:extLst>
          </p:cNvPr>
          <p:cNvSpPr>
            <a:spLocks noGrp="1"/>
          </p:cNvSpPr>
          <p:nvPr/>
        </p:nvSpPr>
        <p:spPr>
          <a:xfrm>
            <a:off x="566928" y="383133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الحكم على المخاطر‏</a:t>
            </a:r>
            <a:endParaRPr sz="18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A57D27C-DE85-459B-BA19-1EB01A11D4B0}"/>
              </a:ext>
            </a:extLst>
          </p:cNvPr>
          <p:cNvSpPr>
            <a:spLocks noGrp="1"/>
          </p:cNvSpPr>
          <p:nvPr/>
        </p:nvSpPr>
        <p:spPr>
          <a:xfrm>
            <a:off x="566928" y="4123944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‏تقدير حساسية البيانات وأثر الخطأ قبل الاستخدام.‏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F20ADA2-2B76-4336-BF52-DE026EA4C625}"/>
              </a:ext>
            </a:extLst>
          </p:cNvPr>
          <p:cNvSpPr>
            <a:spLocks noGrp="1"/>
          </p:cNvSpPr>
          <p:nvPr/>
        </p:nvSpPr>
        <p:spPr>
          <a:xfrm>
            <a:off x="11313871" y="463296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6E3865A-B8A4-4FF7-9BFD-1CF9119780FB}"/>
              </a:ext>
            </a:extLst>
          </p:cNvPr>
          <p:cNvSpPr>
            <a:spLocks noGrp="1"/>
          </p:cNvSpPr>
          <p:nvPr/>
        </p:nvSpPr>
        <p:spPr>
          <a:xfrm>
            <a:off x="11313871" y="46603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07144F9-7AD3-4C9E-B985-1349933CE085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التوثيق‏</a:t>
            </a:r>
            <a:endParaRPr sz="18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7DCDB1C-15D7-487E-AE85-73108719622C}"/>
              </a:ext>
            </a:extLst>
          </p:cNvPr>
          <p:cNvSpPr>
            <a:spLocks noGrp="1"/>
          </p:cNvSpPr>
          <p:nvPr/>
        </p:nvSpPr>
        <p:spPr>
          <a:xfrm>
            <a:off x="566928" y="4879848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‏تسجيل ما استُخدم فيه الذكاء الاصطناعي وما راجعه الإنسان.‏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337ACE80-3EDE-412D-B1C2-7CB086CEE8EF}"/>
              </a:ext>
            </a:extLst>
          </p:cNvPr>
          <p:cNvSpPr>
            <a:spLocks noGrp="1"/>
          </p:cNvSpPr>
          <p:nvPr/>
        </p:nvSpPr>
        <p:spPr>
          <a:xfrm>
            <a:off x="11313871" y="53888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AA53811-061B-4565-A6B8-5127C07028D1}"/>
              </a:ext>
            </a:extLst>
          </p:cNvPr>
          <p:cNvSpPr>
            <a:spLocks noGrp="1"/>
          </p:cNvSpPr>
          <p:nvPr/>
        </p:nvSpPr>
        <p:spPr>
          <a:xfrm>
            <a:off x="11313871" y="5416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53F2DA6-96BC-4A40-B1EB-54A604F4FCF7}"/>
              </a:ext>
            </a:extLst>
          </p:cNvPr>
          <p:cNvSpPr>
            <a:spLocks noGrp="1"/>
          </p:cNvSpPr>
          <p:nvPr/>
        </p:nvSpPr>
        <p:spPr>
          <a:xfrm>
            <a:off x="566928" y="53431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‏مهارة التعلّم المستمر‏</a:t>
            </a:r>
            <a:endParaRPr sz="1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1F3FED3-95D8-4E6D-ABBC-6C29E2823DBF}"/>
              </a:ext>
            </a:extLst>
          </p:cNvPr>
          <p:cNvSpPr>
            <a:spLocks noGrp="1"/>
          </p:cNvSpPr>
          <p:nvPr/>
        </p:nvSpPr>
        <p:spPr>
          <a:xfrm>
            <a:off x="566928" y="563575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 rtl="1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‏الأدوات تتغيّر سريعاً؛ الأساس المفاهيمي هو الثابت.‏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26279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56F85D6-A5F1-4EC2-9103-C8EE55E14321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5C6855-63CC-48FC-A3A1-5C35940F4E9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١ · المحور الأول‏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6AAC19-4E27-4481-9A14-E7679E4D992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‏أين قابلت الذكاء الاصطناعي اليوم؟‏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B5C8258-94C5-44F2-823F-6CA58AAFDDEF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46F81EE-350E-44BE-BB12-7026EA44EE8C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12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7B37C41-6775-4BEE-A9BF-2F2A32AF6758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31BADC-A005-411C-885C-C293E5E0D72A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‏الذكاء الاصطناعي موجود في يومك أكثر مما تظن — في هاتفك، وبريدك، وتطبيقاتك، حتى قبل أن تفتح أي مساعد ذكي.‏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B67139A-977B-4693-8918-DEA139C5A331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CFF0297-F5C2-4427-88F3-D292B7BB4E22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6BE140D-C52F-4869-93A8-BB50F7FA59BD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F754AEB-FC26-47BA-B652-F5DE452D3D01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بذاكرتك إلى ٢٤ ساعة الماضية، منذ استيقاظك حتى الآن.‏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61B4124-AC34-4FEF-B1BD-25AE62727BAE}"/>
              </a:ext>
            </a:extLst>
          </p:cNvPr>
          <p:cNvSpPr>
            <a:spLocks noGrp="1"/>
          </p:cNvSpPr>
          <p:nvPr/>
        </p:nvSpPr>
        <p:spPr>
          <a:xfrm>
            <a:off x="11295583" y="35615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031F621-F519-49FF-B056-5B8B5589E36A}"/>
              </a:ext>
            </a:extLst>
          </p:cNvPr>
          <p:cNvSpPr>
            <a:spLocks noGrp="1"/>
          </p:cNvSpPr>
          <p:nvPr/>
        </p:nvSpPr>
        <p:spPr>
          <a:xfrm>
            <a:off x="11295583" y="359816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60D1FA9-3339-4679-9D59-27BE6E2A4C60}"/>
              </a:ext>
            </a:extLst>
          </p:cNvPr>
          <p:cNvSpPr>
            <a:spLocks noGrp="1"/>
          </p:cNvSpPr>
          <p:nvPr/>
        </p:nvSpPr>
        <p:spPr>
          <a:xfrm>
            <a:off x="566928" y="356158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خمسة مواضع ظهر فيها الذكاء الاصطناعي (اقتراح نص، توصية، فلترة، تعرّف على وجه، خريطة، ترجمة).‏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14E2296-5626-456E-841A-84A42D79B068}"/>
              </a:ext>
            </a:extLst>
          </p:cNvPr>
          <p:cNvSpPr>
            <a:spLocks noGrp="1"/>
          </p:cNvSpPr>
          <p:nvPr/>
        </p:nvSpPr>
        <p:spPr>
          <a:xfrm>
            <a:off x="11295583" y="41788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5904C8B-0E42-433F-B094-418387D42F7A}"/>
              </a:ext>
            </a:extLst>
          </p:cNvPr>
          <p:cNvSpPr>
            <a:spLocks noGrp="1"/>
          </p:cNvSpPr>
          <p:nvPr/>
        </p:nvSpPr>
        <p:spPr>
          <a:xfrm>
            <a:off x="11295583" y="421538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D04DFBE-DF39-4D05-989D-1A003A9DBC2A}"/>
              </a:ext>
            </a:extLst>
          </p:cNvPr>
          <p:cNvSpPr>
            <a:spLocks noGrp="1"/>
          </p:cNvSpPr>
          <p:nvPr/>
        </p:nvSpPr>
        <p:spPr>
          <a:xfrm>
            <a:off x="566928" y="417880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لكل موضع: هل لاحظته وقتها أم اكتشفته الآن؟‏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9B80E3B-C6F3-4445-BF37-0ECE701589D4}"/>
              </a:ext>
            </a:extLst>
          </p:cNvPr>
          <p:cNvSpPr>
            <a:spLocks noGrp="1"/>
          </p:cNvSpPr>
          <p:nvPr/>
        </p:nvSpPr>
        <p:spPr>
          <a:xfrm>
            <a:off x="11295583" y="479602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064CF49-7683-4D63-9BA1-0693EC57D923}"/>
              </a:ext>
            </a:extLst>
          </p:cNvPr>
          <p:cNvSpPr>
            <a:spLocks noGrp="1"/>
          </p:cNvSpPr>
          <p:nvPr/>
        </p:nvSpPr>
        <p:spPr>
          <a:xfrm>
            <a:off x="11295583" y="483260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DF7803A-E55B-4047-A3CC-8A020DD83EE9}"/>
              </a:ext>
            </a:extLst>
          </p:cNvPr>
          <p:cNvSpPr>
            <a:spLocks noGrp="1"/>
          </p:cNvSpPr>
          <p:nvPr/>
        </p:nvSpPr>
        <p:spPr>
          <a:xfrm>
            <a:off x="566928" y="4796028"/>
            <a:ext cx="10564063" cy="56235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موضعاً واحداً مفاجئاً مع مجموعتك، واستمع لموضع من زميل.‏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536BE0E-1962-4A00-B27B-218A8340AAEA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791341F-5023-4A3E-ACF4-6F48FA2B664D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قائمة جماعية تُبيّن أن الذكاء الاصطناعي بنية تحتية يومية لا تقنية مستقبلية.‏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74683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C9F52B-42DF-40D2-BC06-CA1478E21D4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F9127FD-02ED-4CA1-B22B-AD9CCF5DBD65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F27BAA-72F8-4AB5-AAB3-6D66859CBBC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الأول‏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EACE00A-79A1-420A-828E-9BDA0626E49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454CE6-A8C2-47AE-8E2E-1FEE7AE9F0E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4FB95BB-F88A-4D34-8453-2C6A985972D4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‏ضع علامة أمام ما تستطيع شرحه الآن لزميل لم يحضر البرنامج.‏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CEDBD17-2A00-4F30-9F96-A10728B23B5B}"/>
              </a:ext>
            </a:extLst>
          </p:cNvPr>
          <p:cNvSpPr>
            <a:spLocks noGrp="1"/>
          </p:cNvSpPr>
          <p:nvPr/>
        </p:nvSpPr>
        <p:spPr>
          <a:xfrm>
            <a:off x="6187288" y="26654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791C842-9618-4557-B930-4AC9E8735190}"/>
              </a:ext>
            </a:extLst>
          </p:cNvPr>
          <p:cNvSpPr>
            <a:spLocks noGrp="1"/>
          </p:cNvSpPr>
          <p:nvPr/>
        </p:nvSpPr>
        <p:spPr>
          <a:xfrm>
            <a:off x="11240719" y="2926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3BE9BD-B1E7-4C75-ADA7-CE8044728585}"/>
              </a:ext>
            </a:extLst>
          </p:cNvPr>
          <p:cNvSpPr>
            <a:spLocks noGrp="1"/>
          </p:cNvSpPr>
          <p:nvPr/>
        </p:nvSpPr>
        <p:spPr>
          <a:xfrm>
            <a:off x="6333592" y="27203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‏أستطيع تعريف الذكاء الاصطناعي بجملة واحدة مبسّطة.‏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CBC86BC-39B1-4006-9D41-6EF2C5AC66B2}"/>
              </a:ext>
            </a:extLst>
          </p:cNvPr>
          <p:cNvSpPr>
            <a:spLocks noGrp="1"/>
          </p:cNvSpPr>
          <p:nvPr/>
        </p:nvSpPr>
        <p:spPr>
          <a:xfrm>
            <a:off x="566928" y="26654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B552326-FA33-4975-852C-E0DBC33289FD}"/>
              </a:ext>
            </a:extLst>
          </p:cNvPr>
          <p:cNvSpPr>
            <a:spLocks noGrp="1"/>
          </p:cNvSpPr>
          <p:nvPr/>
        </p:nvSpPr>
        <p:spPr>
          <a:xfrm>
            <a:off x="5620360" y="2926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231B74E-4AA6-4AC4-9CE5-F68D4E0600F9}"/>
              </a:ext>
            </a:extLst>
          </p:cNvPr>
          <p:cNvSpPr>
            <a:spLocks noGrp="1"/>
          </p:cNvSpPr>
          <p:nvPr/>
        </p:nvSpPr>
        <p:spPr>
          <a:xfrm>
            <a:off x="713232" y="27203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‏أفرّق بين البرمجة التقليدية والذكاء الاصطناعي.‏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220A430-EDC0-41C3-9E4C-E8506699A443}"/>
              </a:ext>
            </a:extLst>
          </p:cNvPr>
          <p:cNvSpPr>
            <a:spLocks noGrp="1"/>
          </p:cNvSpPr>
          <p:nvPr/>
        </p:nvSpPr>
        <p:spPr>
          <a:xfrm>
            <a:off x="6187288" y="35341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AC5C4C1-7266-41CF-A6F3-FBC5A856F2E1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8DA6BEF-F2A9-4A67-9726-357566D2E143}"/>
              </a:ext>
            </a:extLst>
          </p:cNvPr>
          <p:cNvSpPr>
            <a:spLocks noGrp="1"/>
          </p:cNvSpPr>
          <p:nvPr/>
        </p:nvSpPr>
        <p:spPr>
          <a:xfrm>
            <a:off x="6333592" y="35890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خطوات تعلّم الآلة الخمس بالترتيب.‏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E7DF358-2FF8-4DD6-8292-DEFA8A7A9D54}"/>
              </a:ext>
            </a:extLst>
          </p:cNvPr>
          <p:cNvSpPr>
            <a:spLocks noGrp="1"/>
          </p:cNvSpPr>
          <p:nvPr/>
        </p:nvSpPr>
        <p:spPr>
          <a:xfrm>
            <a:off x="566928" y="35341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BBB78E1-0FAD-4412-AAD7-FD79CFFD1800}"/>
              </a:ext>
            </a:extLst>
          </p:cNvPr>
          <p:cNvSpPr>
            <a:spLocks noGrp="1"/>
          </p:cNvSpPr>
          <p:nvPr/>
        </p:nvSpPr>
        <p:spPr>
          <a:xfrm>
            <a:off x="5620360" y="37947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F92F4A6-62DE-4D31-B3F7-0A247AA47ED3}"/>
              </a:ext>
            </a:extLst>
          </p:cNvPr>
          <p:cNvSpPr>
            <a:spLocks noGrp="1"/>
          </p:cNvSpPr>
          <p:nvPr/>
        </p:nvSpPr>
        <p:spPr>
          <a:xfrm>
            <a:off x="713232" y="35890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بين AI و ML و DL والذكاء الاصطناعي التوليدي.‏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ADE30D8-071F-4A51-845D-BB8673BBD8D3}"/>
              </a:ext>
            </a:extLst>
          </p:cNvPr>
          <p:cNvSpPr>
            <a:spLocks noGrp="1"/>
          </p:cNvSpPr>
          <p:nvPr/>
        </p:nvSpPr>
        <p:spPr>
          <a:xfrm>
            <a:off x="6187288" y="44028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5F90256-8902-4DC8-A583-5C063F597762}"/>
              </a:ext>
            </a:extLst>
          </p:cNvPr>
          <p:cNvSpPr>
            <a:spLocks noGrp="1"/>
          </p:cNvSpPr>
          <p:nvPr/>
        </p:nvSpPr>
        <p:spPr>
          <a:xfrm>
            <a:off x="11240719" y="46634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956D7A5-D148-4BA9-A20B-0D3E988A3EC7}"/>
              </a:ext>
            </a:extLst>
          </p:cNvPr>
          <p:cNvSpPr>
            <a:spLocks noGrp="1"/>
          </p:cNvSpPr>
          <p:nvPr/>
        </p:nvSpPr>
        <p:spPr>
          <a:xfrm>
            <a:off x="6333592" y="44577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كيف يولّد النموذج اللغوي إجابته.‏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F09DA1F-9DCF-44F0-9797-826847903DFD}"/>
              </a:ext>
            </a:extLst>
          </p:cNvPr>
          <p:cNvSpPr>
            <a:spLocks noGrp="1"/>
          </p:cNvSpPr>
          <p:nvPr/>
        </p:nvSpPr>
        <p:spPr>
          <a:xfrm>
            <a:off x="566928" y="44028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812FE27-2404-4A5F-BD53-FE944E36ABC1}"/>
              </a:ext>
            </a:extLst>
          </p:cNvPr>
          <p:cNvSpPr>
            <a:spLocks noGrp="1"/>
          </p:cNvSpPr>
          <p:nvPr/>
        </p:nvSpPr>
        <p:spPr>
          <a:xfrm>
            <a:off x="5620360" y="46634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C917F19-D1E1-4C3F-8B62-7811E89674EC}"/>
              </a:ext>
            </a:extLst>
          </p:cNvPr>
          <p:cNvSpPr>
            <a:spLocks noGrp="1"/>
          </p:cNvSpPr>
          <p:nvPr/>
        </p:nvSpPr>
        <p:spPr>
          <a:xfrm>
            <a:off x="713232" y="44577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ثلاثة أشياء لا يفعلها الذكاء الاصطناعي.‏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82051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419E20-FD8F-4958-AE92-82FC55D7FFE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الأول  ·  28‏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B06BAB-4B72-4669-B3FC-2ADCC276E29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50FA591-9205-4919-B3ED-2893F7BA751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الأول‏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0393DA-B575-4146-A8C1-AC227F46546E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6B31E36-260B-4462-B769-DE38DB66BF4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B6509D8-8045-4BFE-8D93-3C722351AADD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4F9B5AE-F4EE-4B1A-A1BE-02775DDC8142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 الفارق الجوهري بين البرمجة التقليدية والذكاء الاصطناعي؟‏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8534842-87A5-4A80-997F-B9176DE39C2A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0DD8701-C61B-4E4E-ACD4-776DC1556C7A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سرعة التنفيذ‏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BA169ED-028A-46E6-B447-818C2186B6D8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5BF3A69-5A0B-4EF8-B60A-1034881BFD24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من يكتب القواعد: الإنسان أم النظام‏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2DDE269-641D-45DC-91B2-7DF9EE712646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D35A6B7-122F-45DB-9A21-76271EC839F2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لغة البرمجة المستخدمة‏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925AD3A-5D74-4EA3-8AF4-7FCCB0C731A6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74053A6-8426-4CE2-8FD0-70AF7479C5A6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الأساسية التي تدرّب عليها النموذج اللغوي الكبير هي:‏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ACC2159-886D-4310-9A51-D631D75483B1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5AE42F7-990D-4E19-9B60-FADA50128DB4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البحث في قاعدة بيانات‏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2FEE3A4-AA89-4865-B50B-1BF75D6E46FA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E733004-2DF6-4CE6-BC2A-09A864E62E7E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التنبؤ بالكلمة التالية‏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B9C5A6F-D683-42C3-8AAC-5B02517AB23A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A47F01E-CAD9-4604-960C-46CA2302839B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التحقق من صحة المعلومات‏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F6453C9-965A-4688-9FCF-53369C6D958F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1D08436-35AB-4941-A817-052CFBA4511B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مما يلي لا يستطيع الذكاء الاصطناعي التوليدي القيام به؟‏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F46433D-E1C3-4EDC-A26C-223B006D8D6E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E985C19-BDA1-48C4-9361-6D446DB5B143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تلخيص وثيقة طويلة‏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4B0145E-84FF-4CFF-83A8-038860351549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5B3C59D7-53DA-47BE-B9A7-A68EAA707989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تحمّل مسؤولية القرار الإداري‏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FC97EDE-EA93-40E2-AAE8-89D3146F17FA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A76E51B-2666-498C-8D62-3BCBA678EC10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إعادة صياغة نص بأسلوب رسمي‏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54695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07BEF99-A2A8-4B81-BEB7-B61553F217B2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160B8DA-3C17-4F89-98DB-8F02F6C6FE2A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3889175-0FA9-4897-9E6A-CE64D28BDAC4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369E28-26C3-4669-98A9-40CBE0B0BDDD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‏تطبيقات الذكاء الاصطناعي في أدوات العمل اليومية‏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31AC225-1B60-468F-84AC-8F7264B93CCB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‏الأدوات التي تستخدمها كل يوم أصبحت ذكية — فلنكتشف ما الذي تستطيع فعله بها.‏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15D7953-9BEE-40AE-9218-7B423CFFD18B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53B40CA-D32A-4AD5-AED3-DB07F9DBDB49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‏خريطة الأدوات‏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F2289A5-6E7E-4E5F-A540-00CB20810568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D9EFF1C-2E52-4A0F-8558-25BB15FC103C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داخل Microsoft 365‏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C447D77-6FE0-4F00-857A-CEDD776DD00B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4056511-B976-4375-95E5-FD907FA1DEEE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‏المساعدات المحادثية‏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CCFEEB0-8C87-4573-93FA-84048AEAB2C7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6067FA9-B446-435A-8E9B-333B38E92A67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‏كيف تختار الأداة المناسبة؟‏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54206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01A278-A637-44BE-B85C-DD50F64CDF2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6E3969A-F6BC-431A-B8EA-6C47CA91A085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4CBFEA-8482-44FD-AFA8-0E18DEB2911C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‏ماذا سنغطي في هذا المحور؟‏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B086B0F-8C71-4C14-BD63-F9E9EB6EECF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9C127B9-D70E-4B05-B7EC-C97DBB37BD4A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93C3EE5-CE5A-4539-AAB3-867AA580C954}"/>
              </a:ext>
            </a:extLst>
          </p:cNvPr>
          <p:cNvSpPr>
            <a:spLocks noGrp="1"/>
          </p:cNvSpPr>
          <p:nvPr/>
        </p:nvSpPr>
        <p:spPr>
          <a:xfrm>
            <a:off x="11313871" y="160934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48AE642-99D5-4014-B527-0F36546A568D}"/>
              </a:ext>
            </a:extLst>
          </p:cNvPr>
          <p:cNvSpPr>
            <a:spLocks noGrp="1"/>
          </p:cNvSpPr>
          <p:nvPr/>
        </p:nvSpPr>
        <p:spPr>
          <a:xfrm>
            <a:off x="11313871" y="1636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41D1F24-7EE3-4EA7-8765-3506D9DD066A}"/>
              </a:ext>
            </a:extLst>
          </p:cNvPr>
          <p:cNvSpPr>
            <a:spLocks noGrp="1"/>
          </p:cNvSpPr>
          <p:nvPr/>
        </p:nvSpPr>
        <p:spPr>
          <a:xfrm>
            <a:off x="566928" y="156362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الأدوات‏</a:t>
            </a:r>
            <a:endParaRPr sz="1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06312D1-A159-4419-ABDD-828AF74AA768}"/>
              </a:ext>
            </a:extLst>
          </p:cNvPr>
          <p:cNvSpPr>
            <a:spLocks noGrp="1"/>
          </p:cNvSpPr>
          <p:nvPr/>
        </p:nvSpPr>
        <p:spPr>
          <a:xfrm>
            <a:off x="566928" y="185623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‏تصنيف الأدوات التي يتعامل معها الموظف إلى أربع عائلات واضحة.‏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E2C187F-5D21-49BF-B7D4-30752F21ED70}"/>
              </a:ext>
            </a:extLst>
          </p:cNvPr>
          <p:cNvSpPr>
            <a:spLocks noGrp="1"/>
          </p:cNvSpPr>
          <p:nvPr/>
        </p:nvSpPr>
        <p:spPr>
          <a:xfrm>
            <a:off x="11313871" y="23652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A340622-DDD3-4831-BDA3-15A5B7019D84}"/>
              </a:ext>
            </a:extLst>
          </p:cNvPr>
          <p:cNvSpPr>
            <a:spLocks noGrp="1"/>
          </p:cNvSpPr>
          <p:nvPr/>
        </p:nvSpPr>
        <p:spPr>
          <a:xfrm>
            <a:off x="11313871" y="23926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342F090-5B48-457D-AE38-8D3978A5E383}"/>
              </a:ext>
            </a:extLst>
          </p:cNvPr>
          <p:cNvSpPr>
            <a:spLocks noGrp="1"/>
          </p:cNvSpPr>
          <p:nvPr/>
        </p:nvSpPr>
        <p:spPr>
          <a:xfrm>
            <a:off x="566928" y="23195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‏المساعدات المحادثية‏</a:t>
            </a:r>
            <a:endParaRPr sz="18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F16636-5C0E-4539-8E9E-79755D753308}"/>
              </a:ext>
            </a:extLst>
          </p:cNvPr>
          <p:cNvSpPr>
            <a:spLocks noGrp="1"/>
          </p:cNvSpPr>
          <p:nvPr/>
        </p:nvSpPr>
        <p:spPr>
          <a:xfrm>
            <a:off x="566928" y="2612136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‏ChatGPT و Microsoft Copilot و Google Gemini — القدرات والفروق.‏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530EC08-EEAB-41BD-B67C-643EBA91174D}"/>
              </a:ext>
            </a:extLst>
          </p:cNvPr>
          <p:cNvSpPr>
            <a:spLocks noGrp="1"/>
          </p:cNvSpPr>
          <p:nvPr/>
        </p:nvSpPr>
        <p:spPr>
          <a:xfrm>
            <a:off x="11313871" y="31211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9F3B87A-6F62-424E-84D9-B64C7D47C7D5}"/>
              </a:ext>
            </a:extLst>
          </p:cNvPr>
          <p:cNvSpPr>
            <a:spLocks noGrp="1"/>
          </p:cNvSpPr>
          <p:nvPr/>
        </p:nvSpPr>
        <p:spPr>
          <a:xfrm>
            <a:off x="11313871" y="31485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22DDD3D-0996-49C8-83D2-D3069CC8B79A}"/>
              </a:ext>
            </a:extLst>
          </p:cNvPr>
          <p:cNvSpPr>
            <a:spLocks noGrp="1"/>
          </p:cNvSpPr>
          <p:nvPr/>
        </p:nvSpPr>
        <p:spPr>
          <a:xfrm>
            <a:off x="566928" y="30754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‏الذكاء الاصطناعي المدمج‏</a:t>
            </a:r>
            <a:endParaRPr sz="18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896A618-71B0-4853-804C-336687E3E92C}"/>
              </a:ext>
            </a:extLst>
          </p:cNvPr>
          <p:cNvSpPr>
            <a:spLocks noGrp="1"/>
          </p:cNvSpPr>
          <p:nvPr/>
        </p:nvSpPr>
        <p:spPr>
          <a:xfrm>
            <a:off x="566928" y="3368040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أصبح متاحاً داخل Word و Excel و Outlook و Teams.‏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6647C75-4B0C-450F-AFE0-2F9FED7C82D9}"/>
              </a:ext>
            </a:extLst>
          </p:cNvPr>
          <p:cNvSpPr>
            <a:spLocks noGrp="1"/>
          </p:cNvSpPr>
          <p:nvPr/>
        </p:nvSpPr>
        <p:spPr>
          <a:xfrm>
            <a:off x="11313871" y="387705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8A84377-3519-41EE-948F-B354DB93329C}"/>
              </a:ext>
            </a:extLst>
          </p:cNvPr>
          <p:cNvSpPr>
            <a:spLocks noGrp="1"/>
          </p:cNvSpPr>
          <p:nvPr/>
        </p:nvSpPr>
        <p:spPr>
          <a:xfrm>
            <a:off x="11313871" y="39044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533377B-2992-405F-8EE0-0442BAB09B9E}"/>
              </a:ext>
            </a:extLst>
          </p:cNvPr>
          <p:cNvSpPr>
            <a:spLocks noGrp="1"/>
          </p:cNvSpPr>
          <p:nvPr/>
        </p:nvSpPr>
        <p:spPr>
          <a:xfrm>
            <a:off x="566928" y="383133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 حسب نوع المهمة‏</a:t>
            </a:r>
            <a:endParaRPr sz="18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7ECE5D0-8AC4-4D78-8633-AA4DB0756AF5}"/>
              </a:ext>
            </a:extLst>
          </p:cNvPr>
          <p:cNvSpPr>
            <a:spLocks noGrp="1"/>
          </p:cNvSpPr>
          <p:nvPr/>
        </p:nvSpPr>
        <p:spPr>
          <a:xfrm>
            <a:off x="566928" y="4123944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‏الكتابة، التلخيص، الترجمة، التنظيم، الاجتماعات، الوسائط.‏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CFDA581-7756-4391-989D-CBC0D3DB73BF}"/>
              </a:ext>
            </a:extLst>
          </p:cNvPr>
          <p:cNvSpPr>
            <a:spLocks noGrp="1"/>
          </p:cNvSpPr>
          <p:nvPr/>
        </p:nvSpPr>
        <p:spPr>
          <a:xfrm>
            <a:off x="11313871" y="463296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673B0B0-7F2E-4BBB-8087-D09AFED58AC7}"/>
              </a:ext>
            </a:extLst>
          </p:cNvPr>
          <p:cNvSpPr>
            <a:spLocks noGrp="1"/>
          </p:cNvSpPr>
          <p:nvPr/>
        </p:nvSpPr>
        <p:spPr>
          <a:xfrm>
            <a:off x="11313871" y="46603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B0AAA22C-CEDC-41C6-8BB6-D953FF3AED1E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‏مقارنة الأدوات‏</a:t>
            </a:r>
            <a:endParaRPr sz="18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6B7E971-B97D-4C03-BC86-F52ABA4615C3}"/>
              </a:ext>
            </a:extLst>
          </p:cNvPr>
          <p:cNvSpPr>
            <a:spLocks noGrp="1"/>
          </p:cNvSpPr>
          <p:nvPr/>
        </p:nvSpPr>
        <p:spPr>
          <a:xfrm>
            <a:off x="566928" y="4879848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‏جدول مقارنة عملي يساعدك على الاختيار الواعي.‏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64843CD-AE1A-4F6E-856F-B5E8FC1EC2A0}"/>
              </a:ext>
            </a:extLst>
          </p:cNvPr>
          <p:cNvSpPr>
            <a:spLocks noGrp="1"/>
          </p:cNvSpPr>
          <p:nvPr/>
        </p:nvSpPr>
        <p:spPr>
          <a:xfrm>
            <a:off x="11313871" y="53888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6FE416D-0D74-406A-A88F-CBF688A46BF4}"/>
              </a:ext>
            </a:extLst>
          </p:cNvPr>
          <p:cNvSpPr>
            <a:spLocks noGrp="1"/>
          </p:cNvSpPr>
          <p:nvPr/>
        </p:nvSpPr>
        <p:spPr>
          <a:xfrm>
            <a:off x="11313871" y="5416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68B6630-524F-4FCB-9CF2-69F27E97A1DE}"/>
              </a:ext>
            </a:extLst>
          </p:cNvPr>
          <p:cNvSpPr>
            <a:spLocks noGrp="1"/>
          </p:cNvSpPr>
          <p:nvPr/>
        </p:nvSpPr>
        <p:spPr>
          <a:xfrm>
            <a:off x="566928" y="53431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‏قاعدة الاختيار‏</a:t>
            </a:r>
            <a:endParaRPr sz="1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1176A30-0CFD-4202-8E3C-359EF05A85A0}"/>
              </a:ext>
            </a:extLst>
          </p:cNvPr>
          <p:cNvSpPr>
            <a:spLocks noGrp="1"/>
          </p:cNvSpPr>
          <p:nvPr/>
        </p:nvSpPr>
        <p:spPr>
          <a:xfrm>
            <a:off x="566928" y="563575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‏كيف تربط المهمة بالأداة المناسبة في ثلاث خطوات.‏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564343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164E473-3689-4E39-8C77-3008EA9D299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F061044-1337-4B70-88A3-A7FC895F586C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3E9AAA-6D9E-455D-B92F-C7FE87F5C03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أدوات الذكاء الاصطناعي في العمل‏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1194845-AC75-43BA-BA7A-643F88EF1C2B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6C0577F-AD0D-4A4F-A6B1-049BC19B5D3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2A0DF12-6904-4480-9988-DF1602C9B9EE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 عائلات تغطي معظم ما ستحتاجه كموظف غير تقني.‏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3DAF723-FD8D-4782-8762-133D1061C6E3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855B8AC-FCA3-42FA-9E20-247178892851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B80256E-5FA9-4E4C-8517-894C456C328E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4DD1C9-9ADF-4E48-986F-4A31CB4BA245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  ·  المساعدات المحادثية‏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A2DF6FD-0596-457A-B7AB-988FC190AAC8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‏واجهة حوار مفتوحة تكتب فيها ما تريد، وهي أوسع العائلات استخداماً وأكثرها مرونة. أشهرها ChatGPT و Microsoft Copilot و Google Gemini.‏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9950B63-22BE-480F-A575-C93225ABFF27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6530536-FCAC-4FDE-AD76-B968F17B3E26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AE4832B-0563-4F7F-B013-1CD8643E6059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10D6C12-DEEF-4FB5-8F92-786704B1DAF8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  ·  الذكاء المدمج في التطبيقات‏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0B2660D-316B-4EED-84CE-33C230D9E5C1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‏ميزات داخل الأدوات نفسها: صياغة في Word، تحليل في Excel، تلخيص في Outlook، محاضر في Teams.‏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2B472CF-7339-4C70-B88D-3FF81AD5D98F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7B1DEB0-CE3F-479F-8A23-5C97434FFCAD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157F7F1-3780-4264-89AD-C6B23E8E1EB2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DAD91B1-994B-4455-A82B-6D5DCBAF149F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  ·  أدوات الوسائط‏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FD35E8A-D659-454A-B024-C429B2829585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وتحرير الصور والعروض والفيديو والصوت، وتحويل النص إلى مرئيات.‏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CE2112B-2866-42CF-87B7-C037D1D1FDF7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750B4D0-FE44-4FD4-BB0D-0717FBDA02E1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940AC70-7AB7-4368-989B-8EBBB9A6F5F6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A64FED7-7E71-4E74-AF72-3B8B6838E7D9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  ·  أدوات متخصصة بالمهمة‏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A114BA5-C6CE-4F4F-B319-1D5AA859540B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‏تفريغ الاجتماعات، الترجمة، التدقيق اللغوي، البحث في المستندات، تنظيم المعرفة.‏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DD426D2-1A44-4D8E-B240-B00799CA7E50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E68C58C-C7B2-4A72-A10A-C4C356EC20CF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43900889-94D2-497E-9418-6D99C9F306D4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CB4DE63-B600-4DBC-878A-E82E2EA03C78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‏ابدأ بالعائلة الأولى — فهي وحدها تغطي أغلب مهامك اليومية.‏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075569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15030E3-1317-45E9-9838-01CED8257FA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58F0C5-2007-4143-9A48-1E87A8C4E97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51A8B0-137C-4937-B613-AB6FF22CEFB4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‏المساعدات المحادثية الأكثر شيوعاً‏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47B4343-1852-410E-874A-11C48450AB7F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5AFBB66-7A3B-4F08-805A-526E7277E25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A91A87-AC4F-4F16-AEE0-B42CE5E7D827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أدوات ستقابلها غالباً في بيئة العمل الحكومية.‏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E89E341-F0A1-4D36-A5ED-A107FEE95420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8A48C10-603F-4B66-A2D2-EE819B10DE2A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F4085BD-3F70-4C66-AC08-92FD63B8CF5C}"/>
              </a:ext>
            </a:extLst>
          </p:cNvPr>
          <p:cNvSpPr>
            <a:spLocks noGrp="1"/>
          </p:cNvSpPr>
          <p:nvPr/>
        </p:nvSpPr>
        <p:spPr>
          <a:xfrm>
            <a:off x="8048549" y="2962656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BAECFC4-D10D-4A22-9EF4-8B35668D00BD}"/>
              </a:ext>
            </a:extLst>
          </p:cNvPr>
          <p:cNvSpPr>
            <a:spLocks noGrp="1"/>
          </p:cNvSpPr>
          <p:nvPr/>
        </p:nvSpPr>
        <p:spPr>
          <a:xfrm>
            <a:off x="8194853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‏ChatGPT‏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9DCC9C8-1C2F-4EB2-A397-88046B401472}"/>
              </a:ext>
            </a:extLst>
          </p:cNvPr>
          <p:cNvSpPr>
            <a:spLocks noGrp="1"/>
          </p:cNvSpPr>
          <p:nvPr/>
        </p:nvSpPr>
        <p:spPr>
          <a:xfrm>
            <a:off x="8194853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الأوسع انتشاراً وأكثرها مرونة في الكتابة والتلخيص وتوليد الأفكار. يدعم رفع الملفات وتحليلها.‏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117A519-53C1-4EA7-9CD8-613D4A0EF54B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1968A13-FA33-4A1A-9CBE-BAB98A251F35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367834B-878C-4E05-B5D2-F86D298F22A3}"/>
              </a:ext>
            </a:extLst>
          </p:cNvPr>
          <p:cNvSpPr>
            <a:spLocks noGrp="1"/>
          </p:cNvSpPr>
          <p:nvPr/>
        </p:nvSpPr>
        <p:spPr>
          <a:xfrm>
            <a:off x="4307738" y="2962656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92BF193-2ED1-4FEA-88D5-0620E9485971}"/>
              </a:ext>
            </a:extLst>
          </p:cNvPr>
          <p:cNvSpPr>
            <a:spLocks noGrp="1"/>
          </p:cNvSpPr>
          <p:nvPr/>
        </p:nvSpPr>
        <p:spPr>
          <a:xfrm>
            <a:off x="445404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‏Microsoft Copilot‏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6769F32-4A0B-4AD0-8BC7-5628663B64BA}"/>
              </a:ext>
            </a:extLst>
          </p:cNvPr>
          <p:cNvSpPr>
            <a:spLocks noGrp="1"/>
          </p:cNvSpPr>
          <p:nvPr/>
        </p:nvSpPr>
        <p:spPr>
          <a:xfrm>
            <a:off x="445404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‏مدمج مع Microsoft 365، يصل إلى مستنداتك وبريدك واجتماعاتك ضمن نطاق الصلاحيات المعتمدة في جهتك.‏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B42518B-4C08-4FA4-A976-DE37F56C9A52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39807F5-25B0-4352-8036-A51B49FE8E84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0B3428D-5491-4FAF-90F8-74F28F1A8817}"/>
              </a:ext>
            </a:extLst>
          </p:cNvPr>
          <p:cNvSpPr>
            <a:spLocks noGrp="1"/>
          </p:cNvSpPr>
          <p:nvPr/>
        </p:nvSpPr>
        <p:spPr>
          <a:xfrm>
            <a:off x="566928" y="2962656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E728625-0435-4126-8FE9-2E5272850967}"/>
              </a:ext>
            </a:extLst>
          </p:cNvPr>
          <p:cNvSpPr>
            <a:spLocks noGrp="1"/>
          </p:cNvSpPr>
          <p:nvPr/>
        </p:nvSpPr>
        <p:spPr>
          <a:xfrm>
            <a:off x="71323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‏Google Gemini‏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6A9FD56-39AE-4493-A8DD-33A68276356A}"/>
              </a:ext>
            </a:extLst>
          </p:cNvPr>
          <p:cNvSpPr>
            <a:spLocks noGrp="1"/>
          </p:cNvSpPr>
          <p:nvPr/>
        </p:nvSpPr>
        <p:spPr>
          <a:xfrm>
            <a:off x="71323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‏مدمج مع منظومة Google، قوي في البحث والتلخيص ومعالجة المحتوى متعدد الأنماط.‏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10B7F04-EB34-44E6-8314-C1FEB36D286F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D0AE266-DD9C-4D9D-B7FF-8E8FDB53E901}"/>
              </a:ext>
            </a:extLst>
          </p:cNvPr>
          <p:cNvSpPr>
            <a:spLocks noGrp="1"/>
          </p:cNvSpPr>
          <p:nvPr/>
        </p:nvSpPr>
        <p:spPr>
          <a:xfrm>
            <a:off x="11094415" y="503834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F8EE6F9-3655-4501-94B6-418F981F409B}"/>
              </a:ext>
            </a:extLst>
          </p:cNvPr>
          <p:cNvSpPr>
            <a:spLocks noGrp="1"/>
          </p:cNvSpPr>
          <p:nvPr/>
        </p:nvSpPr>
        <p:spPr>
          <a:xfrm>
            <a:off x="11094415" y="506577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DD5500E-C186-4C72-B082-4D48403AD3BD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‏التزم دائماً بالأداة المعتمدة رسمياً في جهتك، ولا تُدخل بيانات العمل في أداة غير معتمدة.‏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902683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E18E201-52F9-4FD8-AE0A-3071CAE9BDD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3C6B54F-A239-44B3-B76B-8E495E2325D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F686438-B881-4FF7-9F8E-E1E84D8F2AD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‏الذكاء الاصطناعي داخل Microsoft 365‏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A27176-0B3D-4909-8F06-22ECE901EF5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9AF8840-A70F-449E-AE60-97B0651062E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06D6CA-2315-4DBC-B2B0-9C332400336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أصبح ممكناً داخل الأدوات التي تفتحها كل صباح؟‏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="566928" y="1883664"/>
          <a:ext cx="11064240" cy="34015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‏التطبيق‏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‏ما يستطيع فعله‏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‏مثال من عملك‏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‏Word‏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مسودة، إعادة صياغة، تلخيص، تحويل نقاط إلى نص‏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نقاط اجتماع إلى مذكرة رسمية‏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‏Excel‏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‏شرح المعادلات، اقتراح تحليلات، تلخيص جدول، اكتشاف أنماط‏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جدول طلبات تدريب في خمس نقاط‏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‏PowerPoint‏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‏اقتراح هيكل عرض، صياغة نص الشرائح، تلخيص وثيقة إلى شرائح‏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تقرير إلى عرض تقديمي أولي‏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‏Outlook‏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سلسلة رسائل، صياغة رد، ضبط النبرة‏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رد رسمي على استفسار متكرر‏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‏Teams‏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‏تفريغ الاجتماع، استخلاص القرارات والمهام‏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‏محضر اجتماع أولي فور انتهاء اللقاء‏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>
            <a:extLst>
              <a:ext uri="{FF2B5EF4-FFF2-40B4-BE49-F238E27FC236}">
                <a16:creationId xmlns:a16="http://schemas.microsoft.com/office/drawing/2014/main" id="{889EE10C-784D-44BF-9399-B52632928B66}"/>
              </a:ext>
            </a:extLst>
          </p:cNvPr>
          <p:cNvSpPr>
            <a:spLocks noGrp="1"/>
          </p:cNvSpPr>
          <p:nvPr/>
        </p:nvSpPr>
        <p:spPr>
          <a:xfrm>
            <a:off x="566928" y="555955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2678322-68D0-4705-BE6F-29C0ABB60994}"/>
              </a:ext>
            </a:extLst>
          </p:cNvPr>
          <p:cNvSpPr>
            <a:spLocks noGrp="1"/>
          </p:cNvSpPr>
          <p:nvPr/>
        </p:nvSpPr>
        <p:spPr>
          <a:xfrm>
            <a:off x="11094415" y="567842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6E5B61-1AA1-4525-9845-2117FD894FE0}"/>
              </a:ext>
            </a:extLst>
          </p:cNvPr>
          <p:cNvSpPr>
            <a:spLocks noGrp="1"/>
          </p:cNvSpPr>
          <p:nvPr/>
        </p:nvSpPr>
        <p:spPr>
          <a:xfrm>
            <a:off x="11094415" y="570585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6A07D0D-506C-4813-AACD-AD4DA51F31A0}"/>
              </a:ext>
            </a:extLst>
          </p:cNvPr>
          <p:cNvSpPr>
            <a:spLocks noGrp="1"/>
          </p:cNvSpPr>
          <p:nvPr/>
        </p:nvSpPr>
        <p:spPr>
          <a:xfrm>
            <a:off x="749808" y="560527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‏توافر هذه الميزات يعتمد على نوع الاشتراك والصلاحيات المعتمدة في جهتك.‏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54550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269015-B02F-4900-BAEE-EF37659A643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4EB816-91AF-4CEC-BEA7-ED90CC758C5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E263042-BAFB-4B80-ACCC-F43D2191949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الكتابة والصياغة‏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E102E65-4AF4-4AA7-9CCC-46EBEA1DB383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58CEB56-673B-46B0-BB70-07C5D0B72AC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B382CF7-57E3-4085-924B-803FB9082C60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830F138-1A43-4A91-8866-0D4ABCA561C1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0C246A-63E5-41B3-8F7A-478FE2600885}"/>
              </a:ext>
            </a:extLst>
          </p:cNvPr>
          <p:cNvSpPr>
            <a:spLocks noGrp="1"/>
          </p:cNvSpPr>
          <p:nvPr/>
        </p:nvSpPr>
        <p:spPr>
          <a:xfrm>
            <a:off x="8048549" y="260604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C8343F5-EDC2-49F0-ADD1-072C89A20B73}"/>
              </a:ext>
            </a:extLst>
          </p:cNvPr>
          <p:cNvSpPr>
            <a:spLocks noGrp="1"/>
          </p:cNvSpPr>
          <p:nvPr/>
        </p:nvSpPr>
        <p:spPr>
          <a:xfrm>
            <a:off x="8194853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‏مسودة أولى‏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0A0E760-E645-484A-965A-C2CE62E2B4EA}"/>
              </a:ext>
            </a:extLst>
          </p:cNvPr>
          <p:cNvSpPr>
            <a:spLocks noGrp="1"/>
          </p:cNvSpPr>
          <p:nvPr/>
        </p:nvSpPr>
        <p:spPr>
          <a:xfrm>
            <a:off x="8194853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‏اطلب مسودة لخطاب أو مذكرة أو تعميم، ثم حرّرها بخبرتك — توفير كبير في وقت البداية.‏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2F6FA90-534A-43F2-888A-F6FB997F2E7D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19DDC64-E560-4077-AE8B-7FFE1CAC2B3C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30F6D7B-8FE3-47A7-8C26-8A87E57AF77B}"/>
              </a:ext>
            </a:extLst>
          </p:cNvPr>
          <p:cNvSpPr>
            <a:spLocks noGrp="1"/>
          </p:cNvSpPr>
          <p:nvPr/>
        </p:nvSpPr>
        <p:spPr>
          <a:xfrm>
            <a:off x="4307738" y="260604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C6371C7-05A3-4D20-8FCF-C5D91D86ED76}"/>
              </a:ext>
            </a:extLst>
          </p:cNvPr>
          <p:cNvSpPr>
            <a:spLocks noGrp="1"/>
          </p:cNvSpPr>
          <p:nvPr/>
        </p:nvSpPr>
        <p:spPr>
          <a:xfrm>
            <a:off x="445404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‏إعادة الصياغة‏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EEB8779-648B-454A-A935-34ED5E3FE705}"/>
              </a:ext>
            </a:extLst>
          </p:cNvPr>
          <p:cNvSpPr>
            <a:spLocks noGrp="1"/>
          </p:cNvSpPr>
          <p:nvPr/>
        </p:nvSpPr>
        <p:spPr>
          <a:xfrm>
            <a:off x="445404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‏حوّل نصاً طويلاً إلى مختصر، أو نصاً غير رسمي إلى رسمي، أو العكس.‏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68DF6A3-7D00-4ADC-B0EE-2C84DB01D2CE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A7BA555-4C2B-415B-BBA9-DB9C8394F0A0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9D11B52-C065-42A1-BB59-F5B015FA71D8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1909FB3-ADD3-4752-8778-6CA04E757B2C}"/>
              </a:ext>
            </a:extLst>
          </p:cNvPr>
          <p:cNvSpPr>
            <a:spLocks noGrp="1"/>
          </p:cNvSpPr>
          <p:nvPr/>
        </p:nvSpPr>
        <p:spPr>
          <a:xfrm>
            <a:off x="71323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‏ضبط النبرة‏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966D45A-2743-4832-A149-AE01EE7777A0}"/>
              </a:ext>
            </a:extLst>
          </p:cNvPr>
          <p:cNvSpPr>
            <a:spLocks noGrp="1"/>
          </p:cNvSpPr>
          <p:nvPr/>
        </p:nvSpPr>
        <p:spPr>
          <a:xfrm>
            <a:off x="71323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‏اجعل الرد أكثر دبلوماسية، أو أكثر حزماً، أو أكثر ودّاً حسب المخاطب.‏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690426E-C531-4DFA-9735-D83D774A8164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7141F56-E904-4E3F-96B0-98318A9736D6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283E3D8-1EF9-4F46-94C0-7CA51945F371}"/>
              </a:ext>
            </a:extLst>
          </p:cNvPr>
          <p:cNvSpPr>
            <a:spLocks noGrp="1"/>
          </p:cNvSpPr>
          <p:nvPr/>
        </p:nvSpPr>
        <p:spPr>
          <a:xfrm>
            <a:off x="8048549" y="409651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038614D-B9E2-42D7-817B-5D167FC2D62F}"/>
              </a:ext>
            </a:extLst>
          </p:cNvPr>
          <p:cNvSpPr>
            <a:spLocks noGrp="1"/>
          </p:cNvSpPr>
          <p:nvPr/>
        </p:nvSpPr>
        <p:spPr>
          <a:xfrm>
            <a:off x="8194853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‏التدقيق اللغوي‏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D4418FB-B6AA-4622-BEAD-7A2BE45A5008}"/>
              </a:ext>
            </a:extLst>
          </p:cNvPr>
          <p:cNvSpPr>
            <a:spLocks noGrp="1"/>
          </p:cNvSpPr>
          <p:nvPr/>
        </p:nvSpPr>
        <p:spPr>
          <a:xfrm>
            <a:off x="8194853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‏مراجعة الإملاء والنحو وعلامات الترقيم، مع شرح سبب التصحيح.‏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2F723DC-B577-45BA-B8F7-75478A041FD5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A8E90E2-92F5-424C-B525-68D0BA786F84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A3A5CB9-77C6-42D9-BB07-75B89C81DFAB}"/>
              </a:ext>
            </a:extLst>
          </p:cNvPr>
          <p:cNvSpPr>
            <a:spLocks noGrp="1"/>
          </p:cNvSpPr>
          <p:nvPr/>
        </p:nvSpPr>
        <p:spPr>
          <a:xfrm>
            <a:off x="4307738" y="409651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CAC51B6-EC14-4033-B8B1-7AF471BA79AA}"/>
              </a:ext>
            </a:extLst>
          </p:cNvPr>
          <p:cNvSpPr>
            <a:spLocks noGrp="1"/>
          </p:cNvSpPr>
          <p:nvPr/>
        </p:nvSpPr>
        <p:spPr>
          <a:xfrm>
            <a:off x="445404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العناوين‏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761F317E-F70D-4A99-A247-3F68E3043C65}"/>
              </a:ext>
            </a:extLst>
          </p:cNvPr>
          <p:cNvSpPr>
            <a:spLocks noGrp="1"/>
          </p:cNvSpPr>
          <p:nvPr/>
        </p:nvSpPr>
        <p:spPr>
          <a:xfrm>
            <a:off x="445404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‏اقتراح عشرة عناوين بديلة لتقرير أو مبادرة أو حملة تواصل.‏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6A3C892B-5736-4032-8439-124426F33CDC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B509C4B-B832-415E-AD44-E3464ABB9EFB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A944144-00E0-4D32-9B19-28600099F2CB}"/>
              </a:ext>
            </a:extLst>
          </p:cNvPr>
          <p:cNvSpPr>
            <a:spLocks noGrp="1"/>
          </p:cNvSpPr>
          <p:nvPr/>
        </p:nvSpPr>
        <p:spPr>
          <a:xfrm>
            <a:off x="566928" y="409651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E5D4E96-4C1F-4304-8C9B-4CFA7C70EDCF}"/>
              </a:ext>
            </a:extLst>
          </p:cNvPr>
          <p:cNvSpPr>
            <a:spLocks noGrp="1"/>
          </p:cNvSpPr>
          <p:nvPr/>
        </p:nvSpPr>
        <p:spPr>
          <a:xfrm>
            <a:off x="71323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‏التوسعة والاختصار‏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8259FCE-471D-4CC1-BC1D-561BC329E03B}"/>
              </a:ext>
            </a:extLst>
          </p:cNvPr>
          <p:cNvSpPr>
            <a:spLocks noGrp="1"/>
          </p:cNvSpPr>
          <p:nvPr/>
        </p:nvSpPr>
        <p:spPr>
          <a:xfrm>
            <a:off x="71323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‏توسيع فكرة مقتضبة إلى فقرة، أو ضغط صفحة إلى ثلاث نقاط.‏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98379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84BCC6C-05D0-4054-BE1D-07EC2069DDB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94CE3CC-D9FC-4A86-B11E-577867A49BC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27FC58-ED49-47BD-9905-12390BE7C39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التلخيص والتحليل‏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E656585-E8A7-4498-9DC5-7C326F30BEF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7611223-3453-48B1-998F-11CB9F781BB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984D7DF-80F8-47EC-95DA-C2DF66EBA8A9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63A73F5-FC0B-474B-B25B-F4ACC97D2C59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1DA3743-14C9-4A43-9CFE-652A2A344F65}"/>
              </a:ext>
            </a:extLst>
          </p:cNvPr>
          <p:cNvSpPr>
            <a:spLocks noGrp="1"/>
          </p:cNvSpPr>
          <p:nvPr/>
        </p:nvSpPr>
        <p:spPr>
          <a:xfrm>
            <a:off x="8048549" y="23317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FF7E23-F9C4-4915-A2A0-1A23276EB5DA}"/>
              </a:ext>
            </a:extLst>
          </p:cNvPr>
          <p:cNvSpPr>
            <a:spLocks noGrp="1"/>
          </p:cNvSpPr>
          <p:nvPr/>
        </p:nvSpPr>
        <p:spPr>
          <a:xfrm>
            <a:off x="8194853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‏تلخيص الوثائق‏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0FC25EA-7CC6-445F-A9B2-577AA07FBAFF}"/>
              </a:ext>
            </a:extLst>
          </p:cNvPr>
          <p:cNvSpPr>
            <a:spLocks noGrp="1"/>
          </p:cNvSpPr>
          <p:nvPr/>
        </p:nvSpPr>
        <p:spPr>
          <a:xfrm>
            <a:off x="8194853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‏اختصار تقرير من ٤٠ صفحة إلى صفحة واحدة تحتوي أهم النقاط والقرارات.‏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E192C6F-151B-42D8-AB5F-7FB63737DFD3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513FE48-9FE4-473F-B89E-5DAEE7FEAF1E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21FA7CF-8A7D-4C81-879A-858E932D0AA6}"/>
              </a:ext>
            </a:extLst>
          </p:cNvPr>
          <p:cNvSpPr>
            <a:spLocks noGrp="1"/>
          </p:cNvSpPr>
          <p:nvPr/>
        </p:nvSpPr>
        <p:spPr>
          <a:xfrm>
            <a:off x="4307738" y="23317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36A6B0A-33E6-49DC-92E5-0FC35F162C90}"/>
              </a:ext>
            </a:extLst>
          </p:cNvPr>
          <p:cNvSpPr>
            <a:spLocks noGrp="1"/>
          </p:cNvSpPr>
          <p:nvPr/>
        </p:nvSpPr>
        <p:spPr>
          <a:xfrm>
            <a:off x="445404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‏استخلاص القرارات‏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D8B8C02-13CE-4343-8001-4318EDE970AB}"/>
              </a:ext>
            </a:extLst>
          </p:cNvPr>
          <p:cNvSpPr>
            <a:spLocks noGrp="1"/>
          </p:cNvSpPr>
          <p:nvPr/>
        </p:nvSpPr>
        <p:spPr>
          <a:xfrm>
            <a:off x="445404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‏استخراج القرارات والمهام والمسؤولين من محضر اجتماع طويل.‏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888E55F-DF91-429B-80D7-98A4EE24309A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EC1048D-DC99-4BDC-AE5C-A4BD13020513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140066E-7150-41DF-8E4B-149A221337AD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60A0425-ABDD-4A53-BF09-6AFF65871FE7}"/>
              </a:ext>
            </a:extLst>
          </p:cNvPr>
          <p:cNvSpPr>
            <a:spLocks noGrp="1"/>
          </p:cNvSpPr>
          <p:nvPr/>
        </p:nvSpPr>
        <p:spPr>
          <a:xfrm>
            <a:off x="71323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‏المقارنة‏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2B366F1-E968-4EDC-95FE-A4BE5A6DFF69}"/>
              </a:ext>
            </a:extLst>
          </p:cNvPr>
          <p:cNvSpPr>
            <a:spLocks noGrp="1"/>
          </p:cNvSpPr>
          <p:nvPr/>
        </p:nvSpPr>
        <p:spPr>
          <a:xfrm>
            <a:off x="71323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‏مقارنة عرضين أو وثيقتين وإبراز الفروق في جدول.‏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6CDE3D8-753D-4924-B204-3F1BD60B8B51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FC50DA5-D19C-4B58-903E-C5CE8E9651E5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15C0CF5-5DE5-4443-8316-1517C0AA0977}"/>
              </a:ext>
            </a:extLst>
          </p:cNvPr>
          <p:cNvSpPr>
            <a:spLocks noGrp="1"/>
          </p:cNvSpPr>
          <p:nvPr/>
        </p:nvSpPr>
        <p:spPr>
          <a:xfrm>
            <a:off x="8048549" y="38221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ECF9DB4-5138-45C6-BFC8-3C4E43319FDB}"/>
              </a:ext>
            </a:extLst>
          </p:cNvPr>
          <p:cNvSpPr>
            <a:spLocks noGrp="1"/>
          </p:cNvSpPr>
          <p:nvPr/>
        </p:nvSpPr>
        <p:spPr>
          <a:xfrm>
            <a:off x="8194853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‏التصنيف‏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7493666-71D2-4C5A-AB48-50FA643F8CA8}"/>
              </a:ext>
            </a:extLst>
          </p:cNvPr>
          <p:cNvSpPr>
            <a:spLocks noGrp="1"/>
          </p:cNvSpPr>
          <p:nvPr/>
        </p:nvSpPr>
        <p:spPr>
          <a:xfrm>
            <a:off x="8194853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‏تصنيف قائمة ملاحظات أو شكاوى إلى فئات متجانسة.‏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6AD63E0-F8EB-4225-B1E3-87D1703D5537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E9D1F68-DED4-43BC-8A14-447BFC2044E8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EE8A3C8-EE0E-48FE-9938-454D7C6135FA}"/>
              </a:ext>
            </a:extLst>
          </p:cNvPr>
          <p:cNvSpPr>
            <a:spLocks noGrp="1"/>
          </p:cNvSpPr>
          <p:nvPr/>
        </p:nvSpPr>
        <p:spPr>
          <a:xfrm>
            <a:off x="4307738" y="38221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E739B0D-7D04-4C29-A781-8AE6D9D7BEE1}"/>
              </a:ext>
            </a:extLst>
          </p:cNvPr>
          <p:cNvSpPr>
            <a:spLocks noGrp="1"/>
          </p:cNvSpPr>
          <p:nvPr/>
        </p:nvSpPr>
        <p:spPr>
          <a:xfrm>
            <a:off x="445404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‏استخراج البيانات‏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D2A191F-235A-4B00-B809-11FBCC9AF32F}"/>
              </a:ext>
            </a:extLst>
          </p:cNvPr>
          <p:cNvSpPr>
            <a:spLocks noGrp="1"/>
          </p:cNvSpPr>
          <p:nvPr/>
        </p:nvSpPr>
        <p:spPr>
          <a:xfrm>
            <a:off x="445404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نص غير منظّم إلى جدول منظّم بأعمدة محددة.‏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2FB95C7-8D1D-4980-A9D7-212C820DBA52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247D7C3-E98A-4CF1-B5A1-659AB966A57D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B8577129-6176-4DA2-8DF8-8250FC0A1C61}"/>
              </a:ext>
            </a:extLst>
          </p:cNvPr>
          <p:cNvSpPr>
            <a:spLocks noGrp="1"/>
          </p:cNvSpPr>
          <p:nvPr/>
        </p:nvSpPr>
        <p:spPr>
          <a:xfrm>
            <a:off x="566928" y="38221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3924407-2B29-4BB2-B1C6-57527EF1457C}"/>
              </a:ext>
            </a:extLst>
          </p:cNvPr>
          <p:cNvSpPr>
            <a:spLocks noGrp="1"/>
          </p:cNvSpPr>
          <p:nvPr/>
        </p:nvSpPr>
        <p:spPr>
          <a:xfrm>
            <a:off x="71323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‏الأسئلة على وثيقة‏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EAFB8CF-9F3D-42EB-913B-6C987BB9DB3B}"/>
              </a:ext>
            </a:extLst>
          </p:cNvPr>
          <p:cNvSpPr>
            <a:spLocks noGrp="1"/>
          </p:cNvSpPr>
          <p:nvPr/>
        </p:nvSpPr>
        <p:spPr>
          <a:xfrm>
            <a:off x="71323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‏رفع ملف وسؤاله مباشرة: «ما الالتزامات المالية الواردة فيه؟».‏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7F5D292-A474-416D-9F26-C9C00296A31E}"/>
              </a:ext>
            </a:extLst>
          </p:cNvPr>
          <p:cNvSpPr>
            <a:spLocks noGrp="1"/>
          </p:cNvSpPr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6FD7CA2A-910F-4C41-B8D0-D26047F7934F}"/>
              </a:ext>
            </a:extLst>
          </p:cNvPr>
          <p:cNvSpPr>
            <a:spLocks noGrp="1"/>
          </p:cNvSpPr>
          <p:nvPr/>
        </p:nvSpPr>
        <p:spPr>
          <a:xfrm>
            <a:off x="11094415" y="530352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8A263EE-125D-4F9C-9A23-161463B80AD4}"/>
              </a:ext>
            </a:extLst>
          </p:cNvPr>
          <p:cNvSpPr>
            <a:spLocks noGrp="1"/>
          </p:cNvSpPr>
          <p:nvPr/>
        </p:nvSpPr>
        <p:spPr>
          <a:xfrm>
            <a:off x="11094415" y="53309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38898670-0FAE-4B3E-9B41-374FE95674B4}"/>
              </a:ext>
            </a:extLst>
          </p:cNvPr>
          <p:cNvSpPr>
            <a:spLocks noGrp="1"/>
          </p:cNvSpPr>
          <p:nvPr/>
        </p:nvSpPr>
        <p:spPr>
          <a:xfrm>
            <a:off x="749808" y="523036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‏تحقّق دائماً من الأرقام المستخرجة بمقارنتها بالوثيقة الأصلية.‏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7818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781D944-84D7-4AAB-9272-E545F8B915C9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1AFA33-257D-4B4E-A108-DD684EA69493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5F29E4-773F-4414-8BD9-632430346F0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‏حالات الاستخدام: التنظيم والإنتاجية‏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88C6196-D8F3-418E-BF64-09BDA7B8E603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B9CD076-3FAD-4274-A477-8D5C89F1400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1F4B8E0-D0B5-40CB-95C8-E907EA7E1964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87C0341-87C6-4AE1-A001-2FCB8ABEB0D1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806FA5B-65F0-40B5-8A9E-C14EF02ED754}"/>
              </a:ext>
            </a:extLst>
          </p:cNvPr>
          <p:cNvSpPr>
            <a:spLocks noGrp="1"/>
          </p:cNvSpPr>
          <p:nvPr/>
        </p:nvSpPr>
        <p:spPr>
          <a:xfrm>
            <a:off x="8048549" y="260604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30A105D-53BC-43E8-AD6B-C40521A18925}"/>
              </a:ext>
            </a:extLst>
          </p:cNvPr>
          <p:cNvSpPr>
            <a:spLocks noGrp="1"/>
          </p:cNvSpPr>
          <p:nvPr/>
        </p:nvSpPr>
        <p:spPr>
          <a:xfrm>
            <a:off x="8194853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‏تنظيم الأفكار‏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EC9DA7A-2FDA-481F-8432-04D6FB5593B6}"/>
              </a:ext>
            </a:extLst>
          </p:cNvPr>
          <p:cNvSpPr>
            <a:spLocks noGrp="1"/>
          </p:cNvSpPr>
          <p:nvPr/>
        </p:nvSpPr>
        <p:spPr>
          <a:xfrm>
            <a:off x="8194853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قائمة أفكار متناثرة إلى هيكل منطقي مرتّب.‏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D58A001-0BCF-414D-8DF4-48E257FADFAC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017B53B-7C5F-4A9A-A942-A06033AE8084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64745A2-B353-47F7-A874-40D162996E34}"/>
              </a:ext>
            </a:extLst>
          </p:cNvPr>
          <p:cNvSpPr>
            <a:spLocks noGrp="1"/>
          </p:cNvSpPr>
          <p:nvPr/>
        </p:nvSpPr>
        <p:spPr>
          <a:xfrm>
            <a:off x="4307738" y="260604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B1775F0-8C36-4957-9C95-A43C004563CA}"/>
              </a:ext>
            </a:extLst>
          </p:cNvPr>
          <p:cNvSpPr>
            <a:spLocks noGrp="1"/>
          </p:cNvSpPr>
          <p:nvPr/>
        </p:nvSpPr>
        <p:spPr>
          <a:xfrm>
            <a:off x="445404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‏إعداد الأجندات‏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9491C1-31F6-4D8E-8892-D57C55ACC83A}"/>
              </a:ext>
            </a:extLst>
          </p:cNvPr>
          <p:cNvSpPr>
            <a:spLocks noGrp="1"/>
          </p:cNvSpPr>
          <p:nvPr/>
        </p:nvSpPr>
        <p:spPr>
          <a:xfrm>
            <a:off x="445404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‏صياغة أجندة اجتماع مع توزيع زمني مقترح لكل بند.‏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962A7F0-BD4F-4603-B4C8-DCB5E2B74A72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77BAC55-8F5F-4D05-A6F3-0778422EF562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BF2A499-DE0A-4992-A47F-ADC4A3365D50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0C7BCAA-58BC-4D9F-B757-3B19B4F112AE}"/>
              </a:ext>
            </a:extLst>
          </p:cNvPr>
          <p:cNvSpPr>
            <a:spLocks noGrp="1"/>
          </p:cNvSpPr>
          <p:nvPr/>
        </p:nvSpPr>
        <p:spPr>
          <a:xfrm>
            <a:off x="71323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‏قوائم التحقق‏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286FBDF-6E50-49B8-A87D-E8634F6A6CE7}"/>
              </a:ext>
            </a:extLst>
          </p:cNvPr>
          <p:cNvSpPr>
            <a:spLocks noGrp="1"/>
          </p:cNvSpPr>
          <p:nvPr/>
        </p:nvSpPr>
        <p:spPr>
          <a:xfrm>
            <a:off x="71323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قائمة تحقق لإجراء متكرر بناءً على وصفك له.‏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E77B1EE-3756-476A-A933-9A2193AD6E83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E17ABD4-8A37-43D4-88D0-5FDF2E4FDDE9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C207F96-6C23-47B4-8D9C-84DD67B6CE8D}"/>
              </a:ext>
            </a:extLst>
          </p:cNvPr>
          <p:cNvSpPr>
            <a:spLocks noGrp="1"/>
          </p:cNvSpPr>
          <p:nvPr/>
        </p:nvSpPr>
        <p:spPr>
          <a:xfrm>
            <a:off x="8048549" y="409651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32B5C2D-A35F-48DA-8741-723DC4B07147}"/>
              </a:ext>
            </a:extLst>
          </p:cNvPr>
          <p:cNvSpPr>
            <a:spLocks noGrp="1"/>
          </p:cNvSpPr>
          <p:nvPr/>
        </p:nvSpPr>
        <p:spPr>
          <a:xfrm>
            <a:off x="8194853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‏خطط العمل‏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DACADA8-BA82-4876-9332-D52DB81B2DA9}"/>
              </a:ext>
            </a:extLst>
          </p:cNvPr>
          <p:cNvSpPr>
            <a:spLocks noGrp="1"/>
          </p:cNvSpPr>
          <p:nvPr/>
        </p:nvSpPr>
        <p:spPr>
          <a:xfrm>
            <a:off x="8194853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‏تحويل هدف إلى خطة بمراحل ومهام ومسؤوليات مقترحة.‏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CD976FE-4BCE-4E15-A01B-F12C003581C8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6708393-C456-40F1-A3BB-401F89D61B01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42A6CCDF-0ABB-4173-9F80-9EB07D7FE510}"/>
              </a:ext>
            </a:extLst>
          </p:cNvPr>
          <p:cNvSpPr>
            <a:spLocks noGrp="1"/>
          </p:cNvSpPr>
          <p:nvPr/>
        </p:nvSpPr>
        <p:spPr>
          <a:xfrm>
            <a:off x="4307738" y="409651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FD64C0E-3632-4022-811F-122437780DBC}"/>
              </a:ext>
            </a:extLst>
          </p:cNvPr>
          <p:cNvSpPr>
            <a:spLocks noGrp="1"/>
          </p:cNvSpPr>
          <p:nvPr/>
        </p:nvSpPr>
        <p:spPr>
          <a:xfrm>
            <a:off x="445404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‏الترجمة‏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EFC2515-488E-4AE6-AA80-C0BCB25C23A6}"/>
              </a:ext>
            </a:extLst>
          </p:cNvPr>
          <p:cNvSpPr>
            <a:spLocks noGrp="1"/>
          </p:cNvSpPr>
          <p:nvPr/>
        </p:nvSpPr>
        <p:spPr>
          <a:xfrm>
            <a:off x="445404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‏ترجمة سريعة بين العربية والإنجليزية مع الحفاظ على النبرة الرسمية.‏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5C4A686-021B-4428-8396-D6EC10E3EEB2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E22948CF-4413-403C-B021-EEF22B56AC5C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D12B798-4AE4-41FF-BE65-11D269EF32F2}"/>
              </a:ext>
            </a:extLst>
          </p:cNvPr>
          <p:cNvSpPr>
            <a:spLocks noGrp="1"/>
          </p:cNvSpPr>
          <p:nvPr/>
        </p:nvSpPr>
        <p:spPr>
          <a:xfrm>
            <a:off x="566928" y="409651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F970166-E91C-4CB8-94C9-47E70920EEC3}"/>
              </a:ext>
            </a:extLst>
          </p:cNvPr>
          <p:cNvSpPr>
            <a:spLocks noGrp="1"/>
          </p:cNvSpPr>
          <p:nvPr/>
        </p:nvSpPr>
        <p:spPr>
          <a:xfrm>
            <a:off x="71323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‏الأسئلة الشائعة‏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BB3AE548-E8F5-4421-94A5-8B58B5F72C86}"/>
              </a:ext>
            </a:extLst>
          </p:cNvPr>
          <p:cNvSpPr>
            <a:spLocks noGrp="1"/>
          </p:cNvSpPr>
          <p:nvPr/>
        </p:nvSpPr>
        <p:spPr>
          <a:xfrm>
            <a:off x="71323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‏توليد أسئلة وأجوبة متوقعة لخدمة مستفيدين أو ورشة عمل.‏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69227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9BE1C40-F45E-42E2-967D-216515D2B6A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21A9541-5BEE-49A7-86D8-295F31F81F9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8125A23-A05C-4DB5-8196-A70B438E2B3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‏مقارنة عملية بين المساعدات المحادثية‏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C01A934-AEC3-41FA-83C2-94BEFA70D02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6B878AC-0A5C-4A52-B7F2-93A3DD2B14B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1" name="Table 0"/>
          <p:cNvGraphicFramePr/>
          <p:nvPr/>
        </p:nvGraphicFramePr>
        <p:xfrm>
          <a:off x="566928" y="1517904"/>
          <a:ext cx="1106424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‏المعيار‏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‏ChatGPT‏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‏Microsoft Copilot‏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‏Google Gemini‏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‏التكامل مع ملفاتك‏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‏رفع يدوي للملفات‏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‏تكامل مباشر مع Microsoft 365‏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‏تكامل مع Google Workspace‏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‏جودة الكتابة العربية‏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‏ممتازة‏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‏جيدة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‏جيدة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‏ملاءمة بيئة العمل الحكومية‏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‏حسب السياسة المعتمدة‏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‏الأقرب للاعتماد المؤسسي‏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‏حسب السياسة المعتمدة‏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‏الوصول إلى محتوى حديث‏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‏عبر البحث المدمج‏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‏الأنسب لـ‏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‏الصياغة وتوليد الأفكار‏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‏العمل داخل مستنداتك واجتماعاتك‏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‏البحث والتلخيص السريع‏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>
            <a:extLst>
              <a:ext uri="{FF2B5EF4-FFF2-40B4-BE49-F238E27FC236}">
                <a16:creationId xmlns:a16="http://schemas.microsoft.com/office/drawing/2014/main" id="{BF7A2A0D-3B87-45BE-96D2-1B735DCEEC1F}"/>
              </a:ext>
            </a:extLst>
          </p:cNvPr>
          <p:cNvSpPr>
            <a:spLocks noGrp="1"/>
          </p:cNvSpPr>
          <p:nvPr/>
        </p:nvSpPr>
        <p:spPr>
          <a:xfrm>
            <a:off x="566928" y="519379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C6CE122-B05E-49CB-A511-0355C1FE0605}"/>
              </a:ext>
            </a:extLst>
          </p:cNvPr>
          <p:cNvSpPr>
            <a:spLocks noGrp="1"/>
          </p:cNvSpPr>
          <p:nvPr/>
        </p:nvSpPr>
        <p:spPr>
          <a:xfrm>
            <a:off x="11094415" y="531266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8CA3D67-F736-4936-806A-5FC66DBB356E}"/>
              </a:ext>
            </a:extLst>
          </p:cNvPr>
          <p:cNvSpPr>
            <a:spLocks noGrp="1"/>
          </p:cNvSpPr>
          <p:nvPr/>
        </p:nvSpPr>
        <p:spPr>
          <a:xfrm>
            <a:off x="11094415" y="534009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460D6F9-A346-4941-8203-8EC6E314C6B7}"/>
              </a:ext>
            </a:extLst>
          </p:cNvPr>
          <p:cNvSpPr>
            <a:spLocks noGrp="1"/>
          </p:cNvSpPr>
          <p:nvPr/>
        </p:nvSpPr>
        <p:spPr>
          <a:xfrm>
            <a:off x="749808" y="523951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‏المقارنة إرشادية — القدرات تتغيّر بسرعة، والمعيار الحاسم هو ما اعتمدته جهتك.‏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308779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96D3C1D-1750-4E64-9930-9EA2EDCFD281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EE45D9-9A14-40DF-B0C9-B43F21437DA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E5166E-8861-4F8D-B623-4EC4C8C4F3C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‏كيف تختار الأداة المناسبة؟‏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99606F5-55BF-493F-AE01-E67CB4D26FF5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D3C87EB-4D4B-4CB2-B084-81D2A2D467A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AE203CC-DE5D-404D-BF74-753879F52ED9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خطوات قبل أن تفتح أي أداة.‏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AEAA57E-38FF-467E-861F-D806A7D0E682}"/>
              </a:ext>
            </a:extLst>
          </p:cNvPr>
          <p:cNvSpPr>
            <a:spLocks noGrp="1"/>
          </p:cNvSpPr>
          <p:nvPr/>
        </p:nvSpPr>
        <p:spPr>
          <a:xfrm>
            <a:off x="8970035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D91F8AB-9B82-4BBF-B3D4-A8974B32B9E1}"/>
              </a:ext>
            </a:extLst>
          </p:cNvPr>
          <p:cNvSpPr>
            <a:spLocks noGrp="1"/>
          </p:cNvSpPr>
          <p:nvPr/>
        </p:nvSpPr>
        <p:spPr>
          <a:xfrm>
            <a:off x="10013937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1603818-5F31-4FA0-894A-87225B0658AD}"/>
              </a:ext>
            </a:extLst>
          </p:cNvPr>
          <p:cNvSpPr>
            <a:spLocks noGrp="1"/>
          </p:cNvSpPr>
          <p:nvPr/>
        </p:nvSpPr>
        <p:spPr>
          <a:xfrm>
            <a:off x="10013937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00C1DFD-FD16-40D9-BB85-BEFFF028E3E1}"/>
              </a:ext>
            </a:extLst>
          </p:cNvPr>
          <p:cNvSpPr>
            <a:spLocks noGrp="1"/>
          </p:cNvSpPr>
          <p:nvPr/>
        </p:nvSpPr>
        <p:spPr>
          <a:xfrm>
            <a:off x="9079763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‏حدّد المهمة‏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BA3ED2D-2BE2-441C-9580-6D6521E7C494}"/>
              </a:ext>
            </a:extLst>
          </p:cNvPr>
          <p:cNvSpPr>
            <a:spLocks noGrp="1"/>
          </p:cNvSpPr>
          <p:nvPr/>
        </p:nvSpPr>
        <p:spPr>
          <a:xfrm>
            <a:off x="9088907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المطلوب بالضبط: كتابة؟ تلخيص؟ تحليل؟ ترجمة؟ تنظيم؟‏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954BD9C-891D-4CAB-861C-CF481B6E3B54}"/>
              </a:ext>
            </a:extLst>
          </p:cNvPr>
          <p:cNvSpPr>
            <a:spLocks noGrp="1"/>
          </p:cNvSpPr>
          <p:nvPr/>
        </p:nvSpPr>
        <p:spPr>
          <a:xfrm>
            <a:off x="6169000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291A7B1-0602-4640-BEE6-432EA2C70D44}"/>
              </a:ext>
            </a:extLst>
          </p:cNvPr>
          <p:cNvSpPr>
            <a:spLocks noGrp="1"/>
          </p:cNvSpPr>
          <p:nvPr/>
        </p:nvSpPr>
        <p:spPr>
          <a:xfrm>
            <a:off x="721290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B6D356-C981-44DA-95D2-2529D7085BEC}"/>
              </a:ext>
            </a:extLst>
          </p:cNvPr>
          <p:cNvSpPr>
            <a:spLocks noGrp="1"/>
          </p:cNvSpPr>
          <p:nvPr/>
        </p:nvSpPr>
        <p:spPr>
          <a:xfrm>
            <a:off x="721290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0146063-CF6A-43DF-98C4-64EED8AF353F}"/>
              </a:ext>
            </a:extLst>
          </p:cNvPr>
          <p:cNvSpPr>
            <a:spLocks noGrp="1"/>
          </p:cNvSpPr>
          <p:nvPr/>
        </p:nvSpPr>
        <p:spPr>
          <a:xfrm>
            <a:off x="6278728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‏قدّر الحساسية‏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0B5B0D0-16A8-4D7F-91D2-6CF2B9132766}"/>
              </a:ext>
            </a:extLst>
          </p:cNvPr>
          <p:cNvSpPr>
            <a:spLocks noGrp="1"/>
          </p:cNvSpPr>
          <p:nvPr/>
        </p:nvSpPr>
        <p:spPr>
          <a:xfrm>
            <a:off x="6287872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تتضمن المهمة بيانات شخصية أو سرية أو غير معلنة؟‏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D484EE9-8FFB-478F-AE31-5F850DFE569C}"/>
              </a:ext>
            </a:extLst>
          </p:cNvPr>
          <p:cNvSpPr>
            <a:spLocks noGrp="1"/>
          </p:cNvSpPr>
          <p:nvPr/>
        </p:nvSpPr>
        <p:spPr>
          <a:xfrm>
            <a:off x="3367964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F3153EB-C7AD-4F1A-964A-4E00D660589B}"/>
              </a:ext>
            </a:extLst>
          </p:cNvPr>
          <p:cNvSpPr>
            <a:spLocks noGrp="1"/>
          </p:cNvSpPr>
          <p:nvPr/>
        </p:nvSpPr>
        <p:spPr>
          <a:xfrm>
            <a:off x="4411866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DECA29B-BC30-4B3C-8BC3-A051F748A850}"/>
              </a:ext>
            </a:extLst>
          </p:cNvPr>
          <p:cNvSpPr>
            <a:spLocks noGrp="1"/>
          </p:cNvSpPr>
          <p:nvPr/>
        </p:nvSpPr>
        <p:spPr>
          <a:xfrm>
            <a:off x="441186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53821C0-B6BA-4EC2-AC3A-F2BA56C65337}"/>
              </a:ext>
            </a:extLst>
          </p:cNvPr>
          <p:cNvSpPr>
            <a:spLocks noGrp="1"/>
          </p:cNvSpPr>
          <p:nvPr/>
        </p:nvSpPr>
        <p:spPr>
          <a:xfrm>
            <a:off x="3477692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‏اختر الأداة‏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A63B01D-8E08-4FCA-AC29-0266AA25A7B8}"/>
              </a:ext>
            </a:extLst>
          </p:cNvPr>
          <p:cNvSpPr>
            <a:spLocks noGrp="1"/>
          </p:cNvSpPr>
          <p:nvPr/>
        </p:nvSpPr>
        <p:spPr>
          <a:xfrm>
            <a:off x="3486836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‏أداة معتمدة تناسب نوع المهمة ومستوى حساسية البيانات.‏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957098D-EA66-463D-9AA3-C9FE65B92BC2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3D90DE8-AE4B-4F82-928B-544A393DD2A7}"/>
              </a:ext>
            </a:extLst>
          </p:cNvPr>
          <p:cNvSpPr>
            <a:spLocks noGrp="1"/>
          </p:cNvSpPr>
          <p:nvPr/>
        </p:nvSpPr>
        <p:spPr>
          <a:xfrm>
            <a:off x="1610830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6DE9C67-95F5-4ACF-BA82-E41144E74615}"/>
              </a:ext>
            </a:extLst>
          </p:cNvPr>
          <p:cNvSpPr>
            <a:spLocks noGrp="1"/>
          </p:cNvSpPr>
          <p:nvPr/>
        </p:nvSpPr>
        <p:spPr>
          <a:xfrm>
            <a:off x="1610830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7953369-1843-4F84-915B-3E9898687D16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‏نفّذ وتحقّق‏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0ACE410-5D16-477E-AFC9-169241C16780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‏صُغ أمراً واضحاً، ثم راجع المخرج قبل اعتماده.‏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C66DF5E-FC13-459E-A005-EDD74472EEE4}"/>
              </a:ext>
            </a:extLst>
          </p:cNvPr>
          <p:cNvSpPr>
            <a:spLocks noGrp="1"/>
          </p:cNvSpPr>
          <p:nvPr/>
        </p:nvSpPr>
        <p:spPr>
          <a:xfrm>
            <a:off x="566928" y="410565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405008D3-41FB-4AB2-8745-F07D8E1E6C34}"/>
              </a:ext>
            </a:extLst>
          </p:cNvPr>
          <p:cNvSpPr>
            <a:spLocks noGrp="1"/>
          </p:cNvSpPr>
          <p:nvPr/>
        </p:nvSpPr>
        <p:spPr>
          <a:xfrm>
            <a:off x="11094415" y="422452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6A391EC-7D27-4B63-9D04-DA09A4666A8B}"/>
              </a:ext>
            </a:extLst>
          </p:cNvPr>
          <p:cNvSpPr>
            <a:spLocks noGrp="1"/>
          </p:cNvSpPr>
          <p:nvPr/>
        </p:nvSpPr>
        <p:spPr>
          <a:xfrm>
            <a:off x="11094415" y="42519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5A509D0-0E20-4A18-AD1C-4A4683E0E259}"/>
              </a:ext>
            </a:extLst>
          </p:cNvPr>
          <p:cNvSpPr>
            <a:spLocks noGrp="1"/>
          </p:cNvSpPr>
          <p:nvPr/>
        </p:nvSpPr>
        <p:spPr>
          <a:xfrm>
            <a:off x="749808" y="415137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‏إذا كانت البيانات حساسة ولا توجد أداة معتمدة — لا تستخدم الذكاء الاصطناعي في هذه المهمة.‏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3878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35E72D-3203-4437-9A62-002CE214C0A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39‏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1151E0-FFA1-4A3F-A284-B0BC285B1B0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الثاني  ·  أدوات العمل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8867AC6-23EA-41FD-A1D9-A31592E77D9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‏متى تستخدم؟ ومتى لا تستخدم؟‏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C66B730-BF08-445C-801C-18A27DAEF44E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46B47B2-BEAC-4C63-8D01-24D2F61D2D06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2C8141F-8C4C-4BEC-9984-9FE6EADA6A5C}"/>
              </a:ext>
            </a:extLst>
          </p:cNvPr>
          <p:cNvSpPr>
            <a:spLocks noGrp="1"/>
          </p:cNvSpPr>
          <p:nvPr/>
        </p:nvSpPr>
        <p:spPr>
          <a:xfrm>
            <a:off x="6205576" y="1499616"/>
            <a:ext cx="5419192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3AC8409-8FDD-46C9-A702-99C38E8E1898}"/>
              </a:ext>
            </a:extLst>
          </p:cNvPr>
          <p:cNvSpPr>
            <a:spLocks noGrp="1"/>
          </p:cNvSpPr>
          <p:nvPr/>
        </p:nvSpPr>
        <p:spPr>
          <a:xfrm>
            <a:off x="6205576" y="149961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A1D4E23-C00D-48DF-A904-DA82524260F3}"/>
              </a:ext>
            </a:extLst>
          </p:cNvPr>
          <p:cNvSpPr>
            <a:spLocks noGrp="1"/>
          </p:cNvSpPr>
          <p:nvPr/>
        </p:nvSpPr>
        <p:spPr>
          <a:xfrm>
            <a:off x="6205576" y="1773936"/>
            <a:ext cx="5419192" cy="256032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D14B8BA-12CE-47D9-A33E-825B98780094}"/>
              </a:ext>
            </a:extLst>
          </p:cNvPr>
          <p:cNvSpPr>
            <a:spLocks noGrp="1"/>
          </p:cNvSpPr>
          <p:nvPr/>
        </p:nvSpPr>
        <p:spPr>
          <a:xfrm>
            <a:off x="6370168" y="159105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‏استخدمها بثقة‏</a:t>
            </a:r>
            <a:endParaRPr sz="19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796D21C-ACE3-49C4-9305-4374636314FD}"/>
              </a:ext>
            </a:extLst>
          </p:cNvPr>
          <p:cNvSpPr>
            <a:spLocks noGrp="1"/>
          </p:cNvSpPr>
          <p:nvPr/>
        </p:nvSpPr>
        <p:spPr>
          <a:xfrm>
            <a:off x="11240719" y="2258568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27FD995-6C0C-4A53-84E0-9204EA41309C}"/>
              </a:ext>
            </a:extLst>
          </p:cNvPr>
          <p:cNvSpPr>
            <a:spLocks noGrp="1"/>
          </p:cNvSpPr>
          <p:nvPr/>
        </p:nvSpPr>
        <p:spPr>
          <a:xfrm>
            <a:off x="6370168" y="2167128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‏المسودات الأولى التي ستراجعها بنفسك.‏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EC81707-D6AE-4046-AEF2-368408907005}"/>
              </a:ext>
            </a:extLst>
          </p:cNvPr>
          <p:cNvSpPr>
            <a:spLocks noGrp="1"/>
          </p:cNvSpPr>
          <p:nvPr/>
        </p:nvSpPr>
        <p:spPr>
          <a:xfrm>
            <a:off x="11240719" y="2916936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40E8A06-2FED-495F-BC38-3945590BC020}"/>
              </a:ext>
            </a:extLst>
          </p:cNvPr>
          <p:cNvSpPr>
            <a:spLocks noGrp="1"/>
          </p:cNvSpPr>
          <p:nvPr/>
        </p:nvSpPr>
        <p:spPr>
          <a:xfrm>
            <a:off x="6370168" y="2825496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محتوى تملكه ولا يحوي بيانات سرية.‏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3257A3A-3D9D-48F6-9FB6-3D643967114B}"/>
              </a:ext>
            </a:extLst>
          </p:cNvPr>
          <p:cNvSpPr>
            <a:spLocks noGrp="1"/>
          </p:cNvSpPr>
          <p:nvPr/>
        </p:nvSpPr>
        <p:spPr>
          <a:xfrm>
            <a:off x="11240719" y="3575304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46A50C4-6A1D-4776-AA22-053B803C9219}"/>
              </a:ext>
            </a:extLst>
          </p:cNvPr>
          <p:cNvSpPr>
            <a:spLocks noGrp="1"/>
          </p:cNvSpPr>
          <p:nvPr/>
        </p:nvSpPr>
        <p:spPr>
          <a:xfrm>
            <a:off x="6370168" y="3483864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خيارات وأفكار متعددة للاختيار بينها.‏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7C0FE61-17A2-4927-AC95-16F4C2DEB5D9}"/>
              </a:ext>
            </a:extLst>
          </p:cNvPr>
          <p:cNvSpPr>
            <a:spLocks noGrp="1"/>
          </p:cNvSpPr>
          <p:nvPr/>
        </p:nvSpPr>
        <p:spPr>
          <a:xfrm>
            <a:off x="11240719" y="4233672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E95C28F-5BEA-498F-B23E-8D2004F57BFF}"/>
              </a:ext>
            </a:extLst>
          </p:cNvPr>
          <p:cNvSpPr>
            <a:spLocks noGrp="1"/>
          </p:cNvSpPr>
          <p:nvPr/>
        </p:nvSpPr>
        <p:spPr>
          <a:xfrm>
            <a:off x="6370168" y="4142232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الصياغة وضبط النبرة والتدقيق اللغوي.‏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4EBAE6B-1427-45CE-B3B2-1D8F7C0C348C}"/>
              </a:ext>
            </a:extLst>
          </p:cNvPr>
          <p:cNvSpPr>
            <a:spLocks noGrp="1"/>
          </p:cNvSpPr>
          <p:nvPr/>
        </p:nvSpPr>
        <p:spPr>
          <a:xfrm>
            <a:off x="11240719" y="4892040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288CD62-8303-432D-8E26-5695E5A2F541}"/>
              </a:ext>
            </a:extLst>
          </p:cNvPr>
          <p:cNvSpPr>
            <a:spLocks noGrp="1"/>
          </p:cNvSpPr>
          <p:nvPr/>
        </p:nvSpPr>
        <p:spPr>
          <a:xfrm>
            <a:off x="6370168" y="4800600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‏شرح مفهوم أو مصطلح لا تعرفه.‏</a:t>
            </a:r>
            <a:endParaRPr sz="15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33B6FC6-255B-4F48-8265-C5318E3C07AD}"/>
              </a:ext>
            </a:extLst>
          </p:cNvPr>
          <p:cNvSpPr>
            <a:spLocks noGrp="1"/>
          </p:cNvSpPr>
          <p:nvPr/>
        </p:nvSpPr>
        <p:spPr>
          <a:xfrm>
            <a:off x="566928" y="1499616"/>
            <a:ext cx="5419192" cy="4005072"/>
          </a:xfrm>
          <a:prstGeom prst="roundRect">
            <a:avLst>
              <a:gd name="adj" fmla="val 228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D99560B-C2BC-463B-AE7B-90D690203AD4}"/>
              </a:ext>
            </a:extLst>
          </p:cNvPr>
          <p:cNvSpPr>
            <a:spLocks noGrp="1"/>
          </p:cNvSpPr>
          <p:nvPr/>
        </p:nvSpPr>
        <p:spPr>
          <a:xfrm>
            <a:off x="566928" y="149961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93B8FC0-340B-47F5-9592-DBD0291BE398}"/>
              </a:ext>
            </a:extLst>
          </p:cNvPr>
          <p:cNvSpPr>
            <a:spLocks noGrp="1"/>
          </p:cNvSpPr>
          <p:nvPr/>
        </p:nvSpPr>
        <p:spPr>
          <a:xfrm>
            <a:off x="566928" y="1773936"/>
            <a:ext cx="5419192" cy="256032"/>
          </a:xfrm>
          <a:prstGeom prst="rect">
            <a:avLst/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534FDDD-1A12-4704-99D9-D4ADA93763E5}"/>
              </a:ext>
            </a:extLst>
          </p:cNvPr>
          <p:cNvSpPr>
            <a:spLocks noGrp="1"/>
          </p:cNvSpPr>
          <p:nvPr/>
        </p:nvSpPr>
        <p:spPr>
          <a:xfrm>
            <a:off x="731520" y="159105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‏توقّف وأعد التفكير‏</a:t>
            </a:r>
            <a:endParaRPr sz="19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364F170B-B4CE-4710-8B73-554C8021AB91}"/>
              </a:ext>
            </a:extLst>
          </p:cNvPr>
          <p:cNvSpPr>
            <a:spLocks noGrp="1"/>
          </p:cNvSpPr>
          <p:nvPr/>
        </p:nvSpPr>
        <p:spPr>
          <a:xfrm>
            <a:off x="5602072" y="2258568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48145C9-A23C-4E1E-B63D-49DCB88D47FA}"/>
              </a:ext>
            </a:extLst>
          </p:cNvPr>
          <p:cNvSpPr>
            <a:spLocks noGrp="1"/>
          </p:cNvSpPr>
          <p:nvPr/>
        </p:nvSpPr>
        <p:spPr>
          <a:xfrm>
            <a:off x="731520" y="2167128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‏بيانات شخصية أو مالية أو أمنية أو غير معلنة.‏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33599A8F-0079-4008-873F-7E37342ADC75}"/>
              </a:ext>
            </a:extLst>
          </p:cNvPr>
          <p:cNvSpPr>
            <a:spLocks noGrp="1"/>
          </p:cNvSpPr>
          <p:nvPr/>
        </p:nvSpPr>
        <p:spPr>
          <a:xfrm>
            <a:off x="5602072" y="2916936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83269AF-6CFD-4717-9EBC-5E877BB6E367}"/>
              </a:ext>
            </a:extLst>
          </p:cNvPr>
          <p:cNvSpPr>
            <a:spLocks noGrp="1"/>
          </p:cNvSpPr>
          <p:nvPr/>
        </p:nvSpPr>
        <p:spPr>
          <a:xfrm>
            <a:off x="731520" y="2825496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‏قرار نهائي يُعتمد دون مراجعة بشرية.‏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DC3CF01-A3A2-4836-B466-A52C275A5B98}"/>
              </a:ext>
            </a:extLst>
          </p:cNvPr>
          <p:cNvSpPr>
            <a:spLocks noGrp="1"/>
          </p:cNvSpPr>
          <p:nvPr/>
        </p:nvSpPr>
        <p:spPr>
          <a:xfrm>
            <a:off x="5602072" y="3575304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8E0FF30-F381-4F63-ADCB-4C62A8BBA7EB}"/>
              </a:ext>
            </a:extLst>
          </p:cNvPr>
          <p:cNvSpPr>
            <a:spLocks noGrp="1"/>
          </p:cNvSpPr>
          <p:nvPr/>
        </p:nvSpPr>
        <p:spPr>
          <a:xfrm>
            <a:off x="731520" y="3483864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‏أرقام وإحصاءات ستُنشر دون التحقق من مصدرها.‏</a:t>
            </a:r>
            <a:endParaRPr sz="155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F68721D1-9B8F-45DF-A4B2-B69E68759F86}"/>
              </a:ext>
            </a:extLst>
          </p:cNvPr>
          <p:cNvSpPr>
            <a:spLocks noGrp="1"/>
          </p:cNvSpPr>
          <p:nvPr/>
        </p:nvSpPr>
        <p:spPr>
          <a:xfrm>
            <a:off x="5602072" y="4233672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C2C0A7ED-A38C-44DB-A3DA-304F508DC4AB}"/>
              </a:ext>
            </a:extLst>
          </p:cNvPr>
          <p:cNvSpPr>
            <a:spLocks noGrp="1"/>
          </p:cNvSpPr>
          <p:nvPr/>
        </p:nvSpPr>
        <p:spPr>
          <a:xfrm>
            <a:off x="731520" y="4142232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‏رأي قانوني أو تنظيمي مُلزم.‏</a:t>
            </a:r>
            <a:endParaRPr sz="15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9FD7BC2-6F55-4DA7-8BE0-B9CD9E2BD4B6}"/>
              </a:ext>
            </a:extLst>
          </p:cNvPr>
          <p:cNvSpPr>
            <a:spLocks noGrp="1"/>
          </p:cNvSpPr>
          <p:nvPr/>
        </p:nvSpPr>
        <p:spPr>
          <a:xfrm>
            <a:off x="5602072" y="4892040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781E4B6-EAA8-4D48-A7BD-3F24E03BD429}"/>
              </a:ext>
            </a:extLst>
          </p:cNvPr>
          <p:cNvSpPr>
            <a:spLocks noGrp="1"/>
          </p:cNvSpPr>
          <p:nvPr/>
        </p:nvSpPr>
        <p:spPr>
          <a:xfrm>
            <a:off x="731520" y="4800600"/>
            <a:ext cx="4797400" cy="6035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‏محتوى يُنسب إلى جهة رسمية دون اعتماد.‏</a:t>
            </a:r>
            <a:endParaRPr sz="155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B72D5BE-6B78-4EC6-BD59-C8F5A35DFCBC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20EE1CC-D6E9-4DD0-83B6-2D7DB4FD2FD8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9BBEBEA-3D17-4F57-BFAC-F2FFD52A20CC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3E735D64-D724-4039-A7D3-0978F5B4720C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‏قاعدة عملية: إن كنت لن ترتاح لظهور المدخل في تقرير عام — لا تُدخله.‏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341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7C2D26D-59DC-4B45-9CF7-DE2B1705B626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D06966D-97B0-4F80-B61D-E05B2F44ADD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٢ · المحور الثاني‏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D70467-044A-4B25-B059-CA2B5AB0F41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‏مطابقة المهمة بالأداة‏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B393006-C54A-477E-90FD-40B7B15084B0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3ACF41F-72ED-4CC5-982E-D8984443CA67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E1B60BC-544A-433F-8EB0-7D2E1CB22E7F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51ACEA-F7C4-4B8A-97BE-1030F24CE04A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‏ستستلم ست مهام واقعية من بيئة العمل الحكومية. مهمتك تحديد الأداة المناسبة ومستوى الحساسية لكل منها.‏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56B94D6-3DDF-48A8-96CA-9065120431B1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BA99B09-BE25-472D-9767-B37EAA5A20B5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686C14-8148-4B14-9F42-3265852320DC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8964A7C-33D4-452F-B50F-2FD50969CCDE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المهام الست في ورقة التمرين مع مجموعتك.‏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C5E01C1-9775-4817-ABB8-57383E4BB4B4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EADDD3F-6851-4A5A-8932-69294E2CFA23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974E0F5-98F1-4292-938F-00C4B0A5E390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لكل مهمة: عائلة الأداة المناسبة من الأربع التي درسناها.‏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32C6EF3-B4D4-42B1-813B-24F90E234F4A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54D82CE-0C60-47D7-8492-6CA7C261FA82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16B8700-5ABB-45D4-AC7F-F78F72E0BF8D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‏صنّف مستوى حساسية البيانات: عام / داخلي / سري.‏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34D6203-A448-4E5C-A8AF-50CB60E881C3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71FD8F4-42AA-4091-9413-0447A1A92B2B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BBC279D-F737-4823-81EB-FFBD8F73AFE6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‏قرّر: نستخدم الذكاء الاصطناعي، أم نستخدمه بشروط، أم لا نستخدمه إطلاقاً؟‏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F9C0C0A-7D21-43DC-BA97-3E0E7CF6556C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5162F0E-CFA6-4FF8-A779-C49B8AA7CB98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21B314E-BF43-4DD9-9DEA-C2E5473BF14B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قرار مجموعتك في دقيقة واحدة مع تبرير واحد.‏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EC2E8C3-722C-42E0-8B9F-AFB44D9B5AD5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47D1F20-4326-4415-A27E-4FB53D2BDD2C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مصفوفة قرار من ست صفوف تُظهر أن الاختيار الصحيح يبدأ من المهمة لا من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5075702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DAFEAEF-825E-46CE-94D6-ABA7D658641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BBC322A-6466-4F53-B30D-78B2622D0F1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4557D67-2741-4D74-92FC-64F3009EE414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الثاني‏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A6AEDE9-B278-4980-8924-4165A291E6A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A0D66E3-38D4-4576-B8FB-6A428B49E929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DDD9547-B617-4D87-82A6-AF894E704B9E}"/>
              </a:ext>
            </a:extLst>
          </p:cNvPr>
          <p:cNvSpPr>
            <a:spLocks noGrp="1"/>
          </p:cNvSpPr>
          <p:nvPr/>
        </p:nvSpPr>
        <p:spPr>
          <a:xfrm>
            <a:off x="618728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EEDB4CF-249D-422B-B600-BDFC4BC4462C}"/>
              </a:ext>
            </a:extLst>
          </p:cNvPr>
          <p:cNvSpPr>
            <a:spLocks noGrp="1"/>
          </p:cNvSpPr>
          <p:nvPr/>
        </p:nvSpPr>
        <p:spPr>
          <a:xfrm>
            <a:off x="11240719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DF33585-208C-4224-83AA-73911072BDCB}"/>
              </a:ext>
            </a:extLst>
          </p:cNvPr>
          <p:cNvSpPr>
            <a:spLocks noGrp="1"/>
          </p:cNvSpPr>
          <p:nvPr/>
        </p:nvSpPr>
        <p:spPr>
          <a:xfrm>
            <a:off x="633359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‏أستطيع تسمية العائلات الأربع لأدوات الذكاء الاصطناعي.‏</a:t>
            </a:r>
            <a:endParaRPr sz="15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72CB33C-E770-4BAC-B59E-081915C98D02}"/>
              </a:ext>
            </a:extLst>
          </p:cNvPr>
          <p:cNvSpPr>
            <a:spLocks noGrp="1"/>
          </p:cNvSpPr>
          <p:nvPr/>
        </p:nvSpPr>
        <p:spPr>
          <a:xfrm>
            <a:off x="56692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75F9145-AC19-4FDE-AD10-6CCEF38B8D0B}"/>
              </a:ext>
            </a:extLst>
          </p:cNvPr>
          <p:cNvSpPr>
            <a:spLocks noGrp="1"/>
          </p:cNvSpPr>
          <p:nvPr/>
        </p:nvSpPr>
        <p:spPr>
          <a:xfrm>
            <a:off x="5620360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672B71C-7329-42D0-A195-1D7BBA88BE51}"/>
              </a:ext>
            </a:extLst>
          </p:cNvPr>
          <p:cNvSpPr>
            <a:spLocks noGrp="1"/>
          </p:cNvSpPr>
          <p:nvPr/>
        </p:nvSpPr>
        <p:spPr>
          <a:xfrm>
            <a:off x="71323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الفرق بين المساعد المحادثي والذكاء المدمج في التطبيق.‏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572003E-6996-4002-B7F8-3C3352AF6AD9}"/>
              </a:ext>
            </a:extLst>
          </p:cNvPr>
          <p:cNvSpPr>
            <a:spLocks noGrp="1"/>
          </p:cNvSpPr>
          <p:nvPr/>
        </p:nvSpPr>
        <p:spPr>
          <a:xfrm>
            <a:off x="618728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B0D725A-1854-477C-AD3F-3058766835A4}"/>
              </a:ext>
            </a:extLst>
          </p:cNvPr>
          <p:cNvSpPr>
            <a:spLocks noGrp="1"/>
          </p:cNvSpPr>
          <p:nvPr/>
        </p:nvSpPr>
        <p:spPr>
          <a:xfrm>
            <a:off x="11240719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57C54A9-2EBA-4A6F-AC82-B3B4FCC08599}"/>
              </a:ext>
            </a:extLst>
          </p:cNvPr>
          <p:cNvSpPr>
            <a:spLocks noGrp="1"/>
          </p:cNvSpPr>
          <p:nvPr/>
        </p:nvSpPr>
        <p:spPr>
          <a:xfrm>
            <a:off x="633359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ثلاث حالات استخدام في أدوات Microsoft 365.‏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A7C2526-C3EB-4185-B380-E742A011D485}"/>
              </a:ext>
            </a:extLst>
          </p:cNvPr>
          <p:cNvSpPr>
            <a:spLocks noGrp="1"/>
          </p:cNvSpPr>
          <p:nvPr/>
        </p:nvSpPr>
        <p:spPr>
          <a:xfrm>
            <a:off x="56692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5B691F2-A0A3-43D6-BECE-933DE6F8C83D}"/>
              </a:ext>
            </a:extLst>
          </p:cNvPr>
          <p:cNvSpPr>
            <a:spLocks noGrp="1"/>
          </p:cNvSpPr>
          <p:nvPr/>
        </p:nvSpPr>
        <p:spPr>
          <a:xfrm>
            <a:off x="5620360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336AFEC-1A54-4D6A-90F5-F1DF94A11760}"/>
              </a:ext>
            </a:extLst>
          </p:cNvPr>
          <p:cNvSpPr>
            <a:spLocks noGrp="1"/>
          </p:cNvSpPr>
          <p:nvPr/>
        </p:nvSpPr>
        <p:spPr>
          <a:xfrm>
            <a:off x="71323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‏أفرّق بين ChatGPT و Copilot و Gemini من حيث الأنسب لكل مهمة.‏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821E353-BCA9-490A-8473-D43100FFD7C9}"/>
              </a:ext>
            </a:extLst>
          </p:cNvPr>
          <p:cNvSpPr>
            <a:spLocks noGrp="1"/>
          </p:cNvSpPr>
          <p:nvPr/>
        </p:nvSpPr>
        <p:spPr>
          <a:xfrm>
            <a:off x="618728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34C7767-19B2-4B72-850A-FF2BE9EAB3CF}"/>
              </a:ext>
            </a:extLst>
          </p:cNvPr>
          <p:cNvSpPr>
            <a:spLocks noGrp="1"/>
          </p:cNvSpPr>
          <p:nvPr/>
        </p:nvSpPr>
        <p:spPr>
          <a:xfrm>
            <a:off x="11240719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E2F6A0E-A86D-46D9-ACE4-5025318D96AC}"/>
              </a:ext>
            </a:extLst>
          </p:cNvPr>
          <p:cNvSpPr>
            <a:spLocks noGrp="1"/>
          </p:cNvSpPr>
          <p:nvPr/>
        </p:nvSpPr>
        <p:spPr>
          <a:xfrm>
            <a:off x="633359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خطوات اختيار الأداة الأربع قبل البدء.‏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FEF0E81-35FD-4FB3-9F7B-215ECFB390F9}"/>
              </a:ext>
            </a:extLst>
          </p:cNvPr>
          <p:cNvSpPr>
            <a:spLocks noGrp="1"/>
          </p:cNvSpPr>
          <p:nvPr/>
        </p:nvSpPr>
        <p:spPr>
          <a:xfrm>
            <a:off x="56692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1ABA65-180D-419A-9CC8-2C0216333BEC}"/>
              </a:ext>
            </a:extLst>
          </p:cNvPr>
          <p:cNvSpPr>
            <a:spLocks noGrp="1"/>
          </p:cNvSpPr>
          <p:nvPr/>
        </p:nvSpPr>
        <p:spPr>
          <a:xfrm>
            <a:off x="5620360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AA2373A-2F56-408A-881E-8331DA270B34}"/>
              </a:ext>
            </a:extLst>
          </p:cNvPr>
          <p:cNvSpPr>
            <a:spLocks noGrp="1"/>
          </p:cNvSpPr>
          <p:nvPr/>
        </p:nvSpPr>
        <p:spPr>
          <a:xfrm>
            <a:off x="71323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الحالات التي يجب فيها التوقف عن استخدام الأداة.‏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327628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53D7449-3F42-4A11-A26A-41DA77DFA714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الثاني  ·  42‏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8518ED-A910-4651-96AD-3D697E34DF9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56F54B-4412-468C-88CA-C57C330C3F44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الثاني‏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7A4F53-5390-4031-845E-499EDE60E5BB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73E530-A652-429E-A342-B4170A5F79E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50D3A99-84A0-4803-A212-0E4B5259A3E8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2B65B2-AC4F-45C6-B58B-7923B4224098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أي أداة هي الأقرب للعمل مباشرة داخل مستنداتك وبريدك في Microsoft 365؟‏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2960FB5-5AFF-4E0A-BF57-806A0DF93180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45165B0-B41E-462F-9789-0D359D8145DF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ChatGPT‏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CD4CAB5-F5C4-44C1-BB71-A07240BCE32C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33EAD9-A160-4E47-B2AB-43EE5612F99A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Microsoft Copilot‏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F7ED797-DD0B-4D04-A9EA-44FF0B2A354F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306BE49-260F-478B-A855-42F18108F201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أداة تفريغ صوتي‏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9351C5A-E8D4-47B2-A1C4-59C6FC3DAB84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815A020-A57D-4523-93BB-8B03630C8DBA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الخطوة الأولى في اختيار الأداة المناسبة هي:‏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15D9DE9-E0AA-444B-8160-E81074F5AEAC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3A24BFB-1498-4DC7-A8C2-CE2B7918D13B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فتح الأداة الأشهر‏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2795547-E6F0-49A2-B3B2-81571095A2BB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CB9D0A7-3794-4CDC-88D5-5B3BD05D234B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تحديد المهمة المطلوبة بدقة‏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DA54797-E8F7-40DA-BC9C-0A84CC414077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09D7CAF-331F-4E51-A2F6-A03DEA7413B7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زميل عن تجربته‏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0A41B6D-7E48-4686-8378-0B2B4488F1D4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D8BD210-C32D-4B31-ADAD-1B9F37C4C434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الحالات التالية يجب التوقف فيها عن استخدام الذكاء الاصطناعي؟‏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CB068E7-C613-431B-98AC-40B8A04A6FA3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9F51C51-10EA-4647-A0DC-D8167B5B0AB2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تلخيص مقال عام منشور‏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504DD34-7123-41D8-8BFE-7CEDB1834DCF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328C5BA-0DD4-4506-9364-72ACA4E1E539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إدخال بيانات مستفيدين شخصية‏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E915A8C-6DCD-41B4-AA57-F041D8A9195C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F1FECF0-CC7C-4B3A-8911-C33A3848F7A9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إعادة صياغة مسودة داخلية‏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28198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A952F9F-647E-41D0-A4E2-2829E34226C6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425C2B-A1EC-45CB-A7D6-A681992251A0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83F7C5-828B-4164-9C77-EA7863043E7E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6119AF-A58D-42B6-976F-E70EDFFBA495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‏التطبيق العملي على المساعدات الذكية‏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7A56928-8153-442E-9DDC-10823EFC20FE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‏المهارة الجوهرية: أن تصف ما تريده بدقة — فجودة المخرج تتبع جودة الأمر.‏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DBCB78-1AB3-4393-B6E5-42FCAE66FDEA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57EE000-585C-4A1F-8F92-B7B71963C6E4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الأمر (Prompt)؟‏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D6A769C-69ED-4794-9532-2C61CF1DA496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2CB68B1-1164-4DB8-BB27-3D18F1125B08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‏إطار RICE‏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7D87A84-C1AB-409E-8449-0F87E1011228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A99FBF4-70C8-486F-A25D-18C94FB3948B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‏الحوار التكراري‏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7A43631-DBA5-442E-AF19-D7A0B6243324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EC2C6D7-99E8-45EB-BB16-9F65CA8D263F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‏مكتبة أوامر جاهزة‏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84820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7AC7FDD-9CCD-4177-9158-F551B01B2AB3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C60E2C9-3F72-4B3E-A9AC-3AE547E248C0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‏المساعد الذكي لا يقرأ أفكارك —</a:t>
            </a:r>
            <a:endParaRPr sz="3800"/>
          </a:p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يقرأ ما كتبته فقط.‏</a:t>
            </a:r>
            <a:endParaRPr sz="38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E79D89C-8B56-4672-B6C9-7E25E4E03242}"/>
              </a:ext>
            </a:extLst>
          </p:cNvPr>
          <p:cNvSpPr>
            <a:spLocks noGrp="1"/>
          </p:cNvSpPr>
          <p:nvPr/>
        </p:nvSpPr>
        <p:spPr>
          <a:xfrm>
            <a:off x="566928" y="431596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‏أغلب الإحباط من هذه الأدوات سببه أمر غامض، لا أداة ضعيفة. الفرق بين مخرج رديء ومخرج ممتاز غالباً ثلاث جمل إضافية في الأمر.‏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2629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CF675E8-9726-4676-B9E9-5EDD1A921A0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E246169-B4C2-4C18-B087-894C6D792C1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0490CE-388A-4458-9897-DBA447A91A6A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الأمر (Prompt)؟‏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41A3B00-4F51-42C9-80E3-93EA07C83C5F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ECC9620-C0CA-45D9-A0F0-CCB9BCD4166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8FE33A0-0D00-4271-8E07-D8659A8EF274}"/>
              </a:ext>
            </a:extLst>
          </p:cNvPr>
          <p:cNvSpPr>
            <a:spLocks noGrp="1"/>
          </p:cNvSpPr>
          <p:nvPr/>
        </p:nvSpPr>
        <p:spPr>
          <a:xfrm>
            <a:off x="11313871" y="160934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67B522F-7E68-4DEA-8C41-16255901F813}"/>
              </a:ext>
            </a:extLst>
          </p:cNvPr>
          <p:cNvSpPr>
            <a:spLocks noGrp="1"/>
          </p:cNvSpPr>
          <p:nvPr/>
        </p:nvSpPr>
        <p:spPr>
          <a:xfrm>
            <a:off x="11313871" y="163677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9CA226E-84C0-40EC-906E-B83137A4BA90}"/>
              </a:ext>
            </a:extLst>
          </p:cNvPr>
          <p:cNvSpPr>
            <a:spLocks noGrp="1"/>
          </p:cNvSpPr>
          <p:nvPr/>
        </p:nvSpPr>
        <p:spPr>
          <a:xfrm>
            <a:off x="566928" y="156362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هو التعليمة التي تكتبها للمساعد الذكي‏</a:t>
            </a:r>
            <a:endParaRPr sz="18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F62BF8B-AF89-422A-844F-485181293B00}"/>
              </a:ext>
            </a:extLst>
          </p:cNvPr>
          <p:cNvSpPr>
            <a:spLocks noGrp="1"/>
          </p:cNvSpPr>
          <p:nvPr/>
        </p:nvSpPr>
        <p:spPr>
          <a:xfrm>
            <a:off x="566928" y="185623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‏وهي المدخل الوحيد الذي يبني عليه إجابته.‏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1A70779-938B-484C-AF46-E76828774322}"/>
              </a:ext>
            </a:extLst>
          </p:cNvPr>
          <p:cNvSpPr>
            <a:spLocks noGrp="1"/>
          </p:cNvSpPr>
          <p:nvPr/>
        </p:nvSpPr>
        <p:spPr>
          <a:xfrm>
            <a:off x="11313871" y="23652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8E300BD-DAC6-4D94-BF40-C94550564899}"/>
              </a:ext>
            </a:extLst>
          </p:cNvPr>
          <p:cNvSpPr>
            <a:spLocks noGrp="1"/>
          </p:cNvSpPr>
          <p:nvPr/>
        </p:nvSpPr>
        <p:spPr>
          <a:xfrm>
            <a:off x="11313871" y="23926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BD0E10-BFE5-40A5-A487-62BA883AB917}"/>
              </a:ext>
            </a:extLst>
          </p:cNvPr>
          <p:cNvSpPr>
            <a:spLocks noGrp="1"/>
          </p:cNvSpPr>
          <p:nvPr/>
        </p:nvSpPr>
        <p:spPr>
          <a:xfrm>
            <a:off x="566928" y="23195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‏ليس سؤالاً فقط‏</a:t>
            </a:r>
            <a:endParaRPr sz="18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AD98E14-B7A9-4933-A0BA-216B7BBEABA6}"/>
              </a:ext>
            </a:extLst>
          </p:cNvPr>
          <p:cNvSpPr>
            <a:spLocks noGrp="1"/>
          </p:cNvSpPr>
          <p:nvPr/>
        </p:nvSpPr>
        <p:spPr>
          <a:xfrm>
            <a:off x="566928" y="2612136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‏بل وصف كامل للمهمة: من أنت، وماذا تريد، وفي أي سياق، وبأي صيغة.‏</a:t>
            </a:r>
            <a:endParaRPr sz="15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A72B10C-1EFA-4607-B681-69D199F963C8}"/>
              </a:ext>
            </a:extLst>
          </p:cNvPr>
          <p:cNvSpPr>
            <a:spLocks noGrp="1"/>
          </p:cNvSpPr>
          <p:nvPr/>
        </p:nvSpPr>
        <p:spPr>
          <a:xfrm>
            <a:off x="11313871" y="31211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AA7419C-AF1E-455C-8F7C-ABCA7B44A858}"/>
              </a:ext>
            </a:extLst>
          </p:cNvPr>
          <p:cNvSpPr>
            <a:spLocks noGrp="1"/>
          </p:cNvSpPr>
          <p:nvPr/>
        </p:nvSpPr>
        <p:spPr>
          <a:xfrm>
            <a:off x="11313871" y="31485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33D1240-94F7-43BF-B965-B824DE4D9780}"/>
              </a:ext>
            </a:extLst>
          </p:cNvPr>
          <p:cNvSpPr>
            <a:spLocks noGrp="1"/>
          </p:cNvSpPr>
          <p:nvPr/>
        </p:nvSpPr>
        <p:spPr>
          <a:xfrm>
            <a:off x="566928" y="30754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‏كلما زاد التحديد زادت الجودة‏</a:t>
            </a:r>
            <a:endParaRPr sz="18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900A695-F868-476D-BDB6-EF5338DC45B9}"/>
              </a:ext>
            </a:extLst>
          </p:cNvPr>
          <p:cNvSpPr>
            <a:spLocks noGrp="1"/>
          </p:cNvSpPr>
          <p:nvPr/>
        </p:nvSpPr>
        <p:spPr>
          <a:xfrm>
            <a:off x="566928" y="3368040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خطاباً» أمر غامض؛ «اكتب خطاب شكر رسمي في ١٢٠ كلمة لجهة حكومية» أمر واضح.‏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20399F1-A6DA-4604-9A6D-2C1AFE3FC64F}"/>
              </a:ext>
            </a:extLst>
          </p:cNvPr>
          <p:cNvSpPr>
            <a:spLocks noGrp="1"/>
          </p:cNvSpPr>
          <p:nvPr/>
        </p:nvSpPr>
        <p:spPr>
          <a:xfrm>
            <a:off x="11313871" y="387705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92F7BA7-4066-4004-BA14-87AFF47A36AD}"/>
              </a:ext>
            </a:extLst>
          </p:cNvPr>
          <p:cNvSpPr>
            <a:spLocks noGrp="1"/>
          </p:cNvSpPr>
          <p:nvPr/>
        </p:nvSpPr>
        <p:spPr>
          <a:xfrm>
            <a:off x="11313871" y="390448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3AD1C07-A4B9-4FDA-B024-AACE250B3D70}"/>
              </a:ext>
            </a:extLst>
          </p:cNvPr>
          <p:cNvSpPr>
            <a:spLocks noGrp="1"/>
          </p:cNvSpPr>
          <p:nvPr/>
        </p:nvSpPr>
        <p:spPr>
          <a:xfrm>
            <a:off x="566928" y="383133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قابل للتحسين والتكرار‏</a:t>
            </a:r>
            <a:endParaRPr sz="18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87B688E-403C-4F7D-94A7-102A746B1332}"/>
              </a:ext>
            </a:extLst>
          </p:cNvPr>
          <p:cNvSpPr>
            <a:spLocks noGrp="1"/>
          </p:cNvSpPr>
          <p:nvPr/>
        </p:nvSpPr>
        <p:spPr>
          <a:xfrm>
            <a:off x="566928" y="4123944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‏لست ملزماً بالإجابة الأولى — أعد التوجيه حتى تصل للمطلوب.‏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63F2CBC-44AD-44BC-ACC4-7296AF551001}"/>
              </a:ext>
            </a:extLst>
          </p:cNvPr>
          <p:cNvSpPr>
            <a:spLocks noGrp="1"/>
          </p:cNvSpPr>
          <p:nvPr/>
        </p:nvSpPr>
        <p:spPr>
          <a:xfrm>
            <a:off x="11313871" y="463296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72338BC-69EF-4C6C-8101-D11145DD6329}"/>
              </a:ext>
            </a:extLst>
          </p:cNvPr>
          <p:cNvSpPr>
            <a:spLocks noGrp="1"/>
          </p:cNvSpPr>
          <p:nvPr/>
        </p:nvSpPr>
        <p:spPr>
          <a:xfrm>
            <a:off x="11313871" y="46603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E963AA3B-CC1B-4D3F-B204-3515FA2DA7D2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‏الأوامر الجيدة قابلة لإعادة الاستخدام‏</a:t>
            </a:r>
            <a:endParaRPr sz="18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463F3D9-CC30-4C47-AAF9-E659AAF3CF7E}"/>
              </a:ext>
            </a:extLst>
          </p:cNvPr>
          <p:cNvSpPr>
            <a:spLocks noGrp="1"/>
          </p:cNvSpPr>
          <p:nvPr/>
        </p:nvSpPr>
        <p:spPr>
          <a:xfrm>
            <a:off x="566928" y="4879848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بها في ملف شخصي وأعد استخدامها في المهام المتكررة.‏</a:t>
            </a:r>
            <a:endParaRPr sz="15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13CC52E-015F-4061-A1EC-DFA953F16723}"/>
              </a:ext>
            </a:extLst>
          </p:cNvPr>
          <p:cNvSpPr>
            <a:spLocks noGrp="1"/>
          </p:cNvSpPr>
          <p:nvPr/>
        </p:nvSpPr>
        <p:spPr>
          <a:xfrm>
            <a:off x="11313871" y="53888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FFE247F0-AFF4-45C0-899F-BD27E2B597FB}"/>
              </a:ext>
            </a:extLst>
          </p:cNvPr>
          <p:cNvSpPr>
            <a:spLocks noGrp="1"/>
          </p:cNvSpPr>
          <p:nvPr/>
        </p:nvSpPr>
        <p:spPr>
          <a:xfrm>
            <a:off x="11313871" y="5416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AE70DC8-668B-4CB4-89F4-5EC2A14B9528}"/>
              </a:ext>
            </a:extLst>
          </p:cNvPr>
          <p:cNvSpPr>
            <a:spLocks noGrp="1"/>
          </p:cNvSpPr>
          <p:nvPr/>
        </p:nvSpPr>
        <p:spPr>
          <a:xfrm>
            <a:off x="566928" y="53431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‏الأمر مسؤوليتك‏</a:t>
            </a:r>
            <a:endParaRPr sz="185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48C73721-18EA-47C0-AF3F-DF4865FD33BF}"/>
              </a:ext>
            </a:extLst>
          </p:cNvPr>
          <p:cNvSpPr>
            <a:spLocks noGrp="1"/>
          </p:cNvSpPr>
          <p:nvPr/>
        </p:nvSpPr>
        <p:spPr>
          <a:xfrm>
            <a:off x="566928" y="5635752"/>
            <a:ext cx="10582351" cy="3901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تكتبه فيه يخضع لسياسات جهتك في حماية البيانات.‏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526640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E552978-64A9-4BD6-B477-1DEA4203064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B52BE2D-F7AF-4A34-B6FA-1CA32D4FC8E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42F08F-BE29-43B4-8D06-C79CE223BFB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‏إطار بسيط لصياغة الأوامر‏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9693C71-576F-40ED-B595-565AE3FD26B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876EFEB-E286-4F57-8642-E9C70260CE7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BEA2EC7-5CD4-4F53-A5D7-89751B52D99B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‏أربعة عناصر عملية تكفي لمعظم مهام العمل اليومية.‏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CBFD461-F863-4936-B30B-3A281E90B9CC}"/>
              </a:ext>
            </a:extLst>
          </p:cNvPr>
          <p:cNvSpPr>
            <a:spLocks noGrp="1"/>
          </p:cNvSpPr>
          <p:nvPr/>
        </p:nvSpPr>
        <p:spPr>
          <a:xfrm>
            <a:off x="8970035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AADF4C8-F1DB-41FD-BF72-5A9C27CB6385}"/>
              </a:ext>
            </a:extLst>
          </p:cNvPr>
          <p:cNvSpPr>
            <a:spLocks noGrp="1"/>
          </p:cNvSpPr>
          <p:nvPr/>
        </p:nvSpPr>
        <p:spPr>
          <a:xfrm>
            <a:off x="10013937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04A2242-775D-49A2-B565-35FA446F6615}"/>
              </a:ext>
            </a:extLst>
          </p:cNvPr>
          <p:cNvSpPr>
            <a:spLocks noGrp="1"/>
          </p:cNvSpPr>
          <p:nvPr/>
        </p:nvSpPr>
        <p:spPr>
          <a:xfrm>
            <a:off x="10013937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9A44B78-2266-47EE-8954-E5799A2C431C}"/>
              </a:ext>
            </a:extLst>
          </p:cNvPr>
          <p:cNvSpPr>
            <a:spLocks noGrp="1"/>
          </p:cNvSpPr>
          <p:nvPr/>
        </p:nvSpPr>
        <p:spPr>
          <a:xfrm>
            <a:off x="9079763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‏١  ·  المهمة‏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ED64A35-A4F0-4D4D-80C4-D32E132F59E2}"/>
              </a:ext>
            </a:extLst>
          </p:cNvPr>
          <p:cNvSpPr>
            <a:spLocks noGrp="1"/>
          </p:cNvSpPr>
          <p:nvPr/>
        </p:nvSpPr>
        <p:spPr>
          <a:xfrm>
            <a:off x="9088907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تريد إنجازه؟ استخدم فعلاً واضحاً مثل: لخّص، صنّف، قارن، أو أعد الصياغة.‏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0097FF4-1200-4B1C-9DD7-C1E6EB7CDABE}"/>
              </a:ext>
            </a:extLst>
          </p:cNvPr>
          <p:cNvSpPr>
            <a:spLocks noGrp="1"/>
          </p:cNvSpPr>
          <p:nvPr/>
        </p:nvSpPr>
        <p:spPr>
          <a:xfrm>
            <a:off x="6169000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F820A73-8FE3-429B-AC1D-5E04A8C5322F}"/>
              </a:ext>
            </a:extLst>
          </p:cNvPr>
          <p:cNvSpPr>
            <a:spLocks noGrp="1"/>
          </p:cNvSpPr>
          <p:nvPr/>
        </p:nvSpPr>
        <p:spPr>
          <a:xfrm>
            <a:off x="721290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2A00350-C276-4745-B334-DA011B565D6E}"/>
              </a:ext>
            </a:extLst>
          </p:cNvPr>
          <p:cNvSpPr>
            <a:spLocks noGrp="1"/>
          </p:cNvSpPr>
          <p:nvPr/>
        </p:nvSpPr>
        <p:spPr>
          <a:xfrm>
            <a:off x="721290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CF842E9-C922-4D40-9A3A-29981E63A83A}"/>
              </a:ext>
            </a:extLst>
          </p:cNvPr>
          <p:cNvSpPr>
            <a:spLocks noGrp="1"/>
          </p:cNvSpPr>
          <p:nvPr/>
        </p:nvSpPr>
        <p:spPr>
          <a:xfrm>
            <a:off x="6278728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‏٢  ·  السياق‏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1774446-2493-4E7D-A2EF-C0448B8C078C}"/>
              </a:ext>
            </a:extLst>
          </p:cNvPr>
          <p:cNvSpPr>
            <a:spLocks noGrp="1"/>
          </p:cNvSpPr>
          <p:nvPr/>
        </p:nvSpPr>
        <p:spPr>
          <a:xfrm>
            <a:off x="6287872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‏لمن سيُستخدم المخرج؟ ما غرضه وقيوده ونبرته؟‏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001FCA0-FBDB-4A10-B9C2-CE6794368CD2}"/>
              </a:ext>
            </a:extLst>
          </p:cNvPr>
          <p:cNvSpPr>
            <a:spLocks noGrp="1"/>
          </p:cNvSpPr>
          <p:nvPr/>
        </p:nvSpPr>
        <p:spPr>
          <a:xfrm>
            <a:off x="3367964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12C85BD-0576-4D97-8436-2A49A3CAE50B}"/>
              </a:ext>
            </a:extLst>
          </p:cNvPr>
          <p:cNvSpPr>
            <a:spLocks noGrp="1"/>
          </p:cNvSpPr>
          <p:nvPr/>
        </p:nvSpPr>
        <p:spPr>
          <a:xfrm>
            <a:off x="4411866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846367E-F0D2-43EB-A517-72AD853CDE80}"/>
              </a:ext>
            </a:extLst>
          </p:cNvPr>
          <p:cNvSpPr>
            <a:spLocks noGrp="1"/>
          </p:cNvSpPr>
          <p:nvPr/>
        </p:nvSpPr>
        <p:spPr>
          <a:xfrm>
            <a:off x="441186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66D918F-6B03-4125-9700-53E034B86220}"/>
              </a:ext>
            </a:extLst>
          </p:cNvPr>
          <p:cNvSpPr>
            <a:spLocks noGrp="1"/>
          </p:cNvSpPr>
          <p:nvPr/>
        </p:nvSpPr>
        <p:spPr>
          <a:xfrm>
            <a:off x="3477692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‏٣  ·  المدخلات‏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04BCD00-372B-4AEC-8031-5867AC264A28}"/>
              </a:ext>
            </a:extLst>
          </p:cNvPr>
          <p:cNvSpPr>
            <a:spLocks noGrp="1"/>
          </p:cNvSpPr>
          <p:nvPr/>
        </p:nvSpPr>
        <p:spPr>
          <a:xfrm>
            <a:off x="3486836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النص أو الملف الذي يجب أن يعتمد عليه؟ لا تطلب منه تخمين المصدر.‏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D693DE7-516C-477A-80C7-9D1CDFD71931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654732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C8956DD-0CEA-457D-BD0D-C4B0C776A71C}"/>
              </a:ext>
            </a:extLst>
          </p:cNvPr>
          <p:cNvSpPr>
            <a:spLocks noGrp="1"/>
          </p:cNvSpPr>
          <p:nvPr/>
        </p:nvSpPr>
        <p:spPr>
          <a:xfrm>
            <a:off x="1610830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9B24E13-38AE-4FD3-BE36-175F9CBAFB01}"/>
              </a:ext>
            </a:extLst>
          </p:cNvPr>
          <p:cNvSpPr>
            <a:spLocks noGrp="1"/>
          </p:cNvSpPr>
          <p:nvPr/>
        </p:nvSpPr>
        <p:spPr>
          <a:xfrm>
            <a:off x="1610830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C0ACECD-2C7F-4491-904B-31D14B0C705D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243527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‏٤  ·  شكل المخرج‏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82C6E84-3264-4A18-AA9F-E9F52A6F971A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2416988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الطول والبنية واللغة، واذكر الحقول أو الأعمدة المطلوبة.‏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E2585B8-730C-43BD-822F-435C72B27B20}"/>
              </a:ext>
            </a:extLst>
          </p:cNvPr>
          <p:cNvSpPr>
            <a:spLocks noGrp="1"/>
          </p:cNvSpPr>
          <p:nvPr/>
        </p:nvSpPr>
        <p:spPr>
          <a:xfrm>
            <a:off x="566928" y="410565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78E764C-1E1B-474A-881C-F8C00F6D3F83}"/>
              </a:ext>
            </a:extLst>
          </p:cNvPr>
          <p:cNvSpPr>
            <a:spLocks noGrp="1"/>
          </p:cNvSpPr>
          <p:nvPr/>
        </p:nvSpPr>
        <p:spPr>
          <a:xfrm>
            <a:off x="11094415" y="422452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E7E1854F-D67A-475A-B8A4-CEDADEF5DDE8}"/>
              </a:ext>
            </a:extLst>
          </p:cNvPr>
          <p:cNvSpPr>
            <a:spLocks noGrp="1"/>
          </p:cNvSpPr>
          <p:nvPr/>
        </p:nvSpPr>
        <p:spPr>
          <a:xfrm>
            <a:off x="11094415" y="42519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51C5B50-7895-40F8-939E-77B7D9DB4F65}"/>
              </a:ext>
            </a:extLst>
          </p:cNvPr>
          <p:cNvSpPr>
            <a:spLocks noGrp="1"/>
          </p:cNvSpPr>
          <p:nvPr/>
        </p:nvSpPr>
        <p:spPr>
          <a:xfrm>
            <a:off x="749808" y="415137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‏اكتب طلبك المعتاد، ثم أضف العناصر الأربعة وقارن النتيجتين.‏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067339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4931E0E-7C9D-44AB-BD2E-5958ED332016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3DCC1D-F3CA-4119-A6B9-07EC82831FEE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421641-6848-4869-A7D7-3A6077FCCBC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والدور المناسب‏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73A9799-6F3E-4EBA-9AF1-DA47B7DBF6C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D3E747B-D72A-46D6-9B9E-DC7BB2826D61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78FB29D-C494-4515-AECD-A033303D58F2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‏تحديد الدور يضبط المفردات والنبرة ومستوى التفصيل تلقائياً.‏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B3BD65A-B258-4636-87E3-7E96C08B53A3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C572BB2-3B5C-4E85-8ED8-196B33080B0B}"/>
              </a:ext>
            </a:extLst>
          </p:cNvPr>
          <p:cNvSpPr>
            <a:spLocks noGrp="1"/>
          </p:cNvSpPr>
          <p:nvPr/>
        </p:nvSpPr>
        <p:spPr>
          <a:xfrm>
            <a:off x="8048549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89F7CAF-6D9E-47BD-9BEE-C796C38DCA34}"/>
              </a:ext>
            </a:extLst>
          </p:cNvPr>
          <p:cNvSpPr>
            <a:spLocks noGrp="1"/>
          </p:cNvSpPr>
          <p:nvPr/>
        </p:nvSpPr>
        <p:spPr>
          <a:xfrm>
            <a:off x="8048549" y="2962656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1778481-C0A0-4D91-B4AC-4E67230C859B}"/>
              </a:ext>
            </a:extLst>
          </p:cNvPr>
          <p:cNvSpPr>
            <a:spLocks noGrp="1"/>
          </p:cNvSpPr>
          <p:nvPr/>
        </p:nvSpPr>
        <p:spPr>
          <a:xfrm>
            <a:off x="8194853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‏بدون دور‏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37D2295-35A1-4019-A49E-77257A66BAF2}"/>
              </a:ext>
            </a:extLst>
          </p:cNvPr>
          <p:cNvSpPr>
            <a:spLocks noGrp="1"/>
          </p:cNvSpPr>
          <p:nvPr/>
        </p:nvSpPr>
        <p:spPr>
          <a:xfrm>
            <a:off x="8194853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لي عن التدريب» — إجابة عامة صالحة لأي جهة وأي سياق، وبالتالي غير صالحة لك.‏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9FA4062-099C-4C46-8C95-F9860915845F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CECE2A3-852D-422B-A45D-126AB44A0D1F}"/>
              </a:ext>
            </a:extLst>
          </p:cNvPr>
          <p:cNvSpPr>
            <a:spLocks noGrp="1"/>
          </p:cNvSpPr>
          <p:nvPr/>
        </p:nvSpPr>
        <p:spPr>
          <a:xfrm>
            <a:off x="430773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30C0426-FB68-4B21-B462-F1BC7DED4CFA}"/>
              </a:ext>
            </a:extLst>
          </p:cNvPr>
          <p:cNvSpPr>
            <a:spLocks noGrp="1"/>
          </p:cNvSpPr>
          <p:nvPr/>
        </p:nvSpPr>
        <p:spPr>
          <a:xfrm>
            <a:off x="4307738" y="2962656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DF2A311-A3DE-410F-A0B1-5B04155A3967}"/>
              </a:ext>
            </a:extLst>
          </p:cNvPr>
          <p:cNvSpPr>
            <a:spLocks noGrp="1"/>
          </p:cNvSpPr>
          <p:nvPr/>
        </p:nvSpPr>
        <p:spPr>
          <a:xfrm>
            <a:off x="445404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‏بدور عام‏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568EB40-0EB3-4B4A-AFB1-622AB257F939}"/>
              </a:ext>
            </a:extLst>
          </p:cNvPr>
          <p:cNvSpPr>
            <a:spLocks noGrp="1"/>
          </p:cNvSpPr>
          <p:nvPr/>
        </p:nvSpPr>
        <p:spPr>
          <a:xfrm>
            <a:off x="445404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‏«أنت كاتب محتوى» — تحسّن ملحوظ لكنه ما زال بعيداً عن سياقك المهني.‏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8B34AB4-0F65-4C62-ABEE-5452EB5BE558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DADD1D4-DCFB-4616-BD86-2239C3BDE0A4}"/>
              </a:ext>
            </a:extLst>
          </p:cNvPr>
          <p:cNvSpPr>
            <a:spLocks noGrp="1"/>
          </p:cNvSpPr>
          <p:nvPr/>
        </p:nvSpPr>
        <p:spPr>
          <a:xfrm>
            <a:off x="566928" y="2724912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D12206F-6DD9-4CD0-8FD3-EEE1BBF3B0DB}"/>
              </a:ext>
            </a:extLst>
          </p:cNvPr>
          <p:cNvSpPr>
            <a:spLocks noGrp="1"/>
          </p:cNvSpPr>
          <p:nvPr/>
        </p:nvSpPr>
        <p:spPr>
          <a:xfrm>
            <a:off x="566928" y="2962656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1D3B94D-8298-410F-8D6F-8D65E1BAF1D7}"/>
              </a:ext>
            </a:extLst>
          </p:cNvPr>
          <p:cNvSpPr>
            <a:spLocks noGrp="1"/>
          </p:cNvSpPr>
          <p:nvPr/>
        </p:nvSpPr>
        <p:spPr>
          <a:xfrm>
            <a:off x="713232" y="2779776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‏بدور دقيق‏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E1A3E81-579A-4282-9F2F-EE1B0C31C7EF}"/>
              </a:ext>
            </a:extLst>
          </p:cNvPr>
          <p:cNvSpPr>
            <a:spLocks noGrp="1"/>
          </p:cNvSpPr>
          <p:nvPr/>
        </p:nvSpPr>
        <p:spPr>
          <a:xfrm>
            <a:off x="713232" y="3291840"/>
            <a:ext cx="3283610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‏«أنت أخصائي تطوير برامج تدريبية في جهة حكومية سعودية» — مفردات ونبرة مناسبة فوراً.‏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7BAF29E-44A3-4D0F-B395-1F617C8B80BF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B7923D0-3415-4D34-BAAE-F30E4A4AD301}"/>
              </a:ext>
            </a:extLst>
          </p:cNvPr>
          <p:cNvSpPr>
            <a:spLocks noGrp="1"/>
          </p:cNvSpPr>
          <p:nvPr/>
        </p:nvSpPr>
        <p:spPr>
          <a:xfrm>
            <a:off x="11094415" y="503834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A74133F-4625-45FD-92AD-05D877FAD5B0}"/>
              </a:ext>
            </a:extLst>
          </p:cNvPr>
          <p:cNvSpPr>
            <a:spLocks noGrp="1"/>
          </p:cNvSpPr>
          <p:nvPr/>
        </p:nvSpPr>
        <p:spPr>
          <a:xfrm>
            <a:off x="11094415" y="506577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23D7F7D-1D61-4F94-8F12-EF6C14BDA229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‏أضف خبرة الدور عند الحاجة: «بخبرة عشر سنوات في تصميم البرامج التدريبية».‏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08527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F2DA348-92B6-49D0-8863-CC8BDD101DC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71861D-3CB0-4021-8B2A-B432688A782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‏قبل / بعد‏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40A35A-0D0C-486A-BD94-3DE69058A70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‏مثال ١: صياغة بريد رسمي‏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BEA1AAA-CB40-4F8A-B548-B9A6C835C19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321D82A-B0FB-4E2D-9600-0BC81DA97E9A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F786DCF-6152-4D3D-AB72-8B39DF5CF83E}"/>
              </a:ext>
            </a:extLst>
          </p:cNvPr>
          <p:cNvSpPr>
            <a:spLocks noGrp="1"/>
          </p:cNvSpPr>
          <p:nvPr/>
        </p:nvSpPr>
        <p:spPr>
          <a:xfrm>
            <a:off x="6205576" y="1499616"/>
            <a:ext cx="5419192" cy="3364992"/>
          </a:xfrm>
          <a:prstGeom prst="roundRect">
            <a:avLst>
              <a:gd name="adj" fmla="val 2717"/>
            </a:avLst>
          </a:prstGeom>
          <a:solidFill>
            <a:srgbClr val="FDF2F0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ED3F8DA-B05A-4B7E-8417-23D855CB6157}"/>
              </a:ext>
            </a:extLst>
          </p:cNvPr>
          <p:cNvSpPr>
            <a:spLocks noGrp="1"/>
          </p:cNvSpPr>
          <p:nvPr/>
        </p:nvSpPr>
        <p:spPr>
          <a:xfrm>
            <a:off x="6370168" y="1609344"/>
            <a:ext cx="50900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D65B4A"/>
                </a:solidFill>
                <a:latin typeface="Markazi Text"/>
                <a:ea typeface="Markazi Text"/>
                <a:cs typeface="Markazi Text"/>
              </a:rPr>
              <a:t>‏✗   أمر ضعيف‏</a:t>
            </a:r>
            <a:endParaRPr sz="17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B33A9E0-8F17-446C-AF02-D8E985BD7A88}"/>
              </a:ext>
            </a:extLst>
          </p:cNvPr>
          <p:cNvSpPr>
            <a:spLocks noGrp="1"/>
          </p:cNvSpPr>
          <p:nvPr/>
        </p:nvSpPr>
        <p:spPr>
          <a:xfrm>
            <a:off x="6370168" y="2011680"/>
            <a:ext cx="5090008" cy="2706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500"/>
              </a:lnSpc>
              <a:buNone/>
            </a:pPr>
            <a:r>
              <a:rPr sz="1650">
                <a:solidFill>
                  <a:srgbClr val="7A2E22"/>
                </a:solidFill>
                <a:latin typeface="Markazi Text"/>
                <a:ea typeface="Markazi Text"/>
                <a:cs typeface="Markazi Text"/>
              </a:rPr>
              <a:t>‏اكتب إيميل عن تأجيل الاجتماع.‏</a:t>
            </a:r>
            <a:endParaRPr sz="16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2740F49-0C4A-4F9E-BDFC-9550DB2C14D5}"/>
              </a:ext>
            </a:extLst>
          </p:cNvPr>
          <p:cNvSpPr>
            <a:spLocks noGrp="1"/>
          </p:cNvSpPr>
          <p:nvPr/>
        </p:nvSpPr>
        <p:spPr>
          <a:xfrm>
            <a:off x="566928" y="1499616"/>
            <a:ext cx="5419192" cy="3364992"/>
          </a:xfrm>
          <a:prstGeom prst="roundRect">
            <a:avLst>
              <a:gd name="adj" fmla="val 2717"/>
            </a:avLst>
          </a:prstGeom>
          <a:solidFill>
            <a:srgbClr val="EDF8F3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5889B0B-5CFC-4BE2-BAC8-6F4623802051}"/>
              </a:ext>
            </a:extLst>
          </p:cNvPr>
          <p:cNvSpPr>
            <a:spLocks noGrp="1"/>
          </p:cNvSpPr>
          <p:nvPr/>
        </p:nvSpPr>
        <p:spPr>
          <a:xfrm>
            <a:off x="731520" y="1609344"/>
            <a:ext cx="50900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‏✓   أمر فعّال‏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2EECDE9-3C78-4641-AF09-89B05EB8613D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5090008" cy="2706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‏أنت مساعد إداري في جهة حكومية سعودية.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اكتب بريداً رسمياً بالعربية لإبلاغ أعضاء لجنة داخلية بتأجيل اجتماعهم من الثلاثاء إلى الخميس بسبب ارتباط طارئ لرئيس اللجنة.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الجمهور: ثمانية أعضاء من مستوى مدير إدارة.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النبرة: رسمية موجزة مع اعتذار مهني.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الطول: لا يتجاوز ١٢٠ كلمة.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الصيغة: موضوع + تحية + فقرتان + خاتمة.‏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C48ED5D-EF45-4862-A409-4F7FDAF79E65}"/>
              </a:ext>
            </a:extLst>
          </p:cNvPr>
          <p:cNvSpPr>
            <a:spLocks noGrp="1"/>
          </p:cNvSpPr>
          <p:nvPr/>
        </p:nvSpPr>
        <p:spPr>
          <a:xfrm>
            <a:off x="566928" y="502920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179A564-3418-4D6E-89A4-8C903638F6D0}"/>
              </a:ext>
            </a:extLst>
          </p:cNvPr>
          <p:cNvSpPr>
            <a:spLocks noGrp="1"/>
          </p:cNvSpPr>
          <p:nvPr/>
        </p:nvSpPr>
        <p:spPr>
          <a:xfrm>
            <a:off x="786384" y="5138928"/>
            <a:ext cx="10618927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300"/>
              </a:lnSpc>
              <a:buNone/>
            </a:pPr>
            <a:r>
              <a:rPr sz="160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‏لماذا؟  الأمر الثاني حدّد الدور والجمهور والسبب والنبرة والطول والصيغة — فلم يعد أمام النموذج مجال للتخمين.‏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834199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AB44888-BAF6-420F-A6CA-95EF55C2294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49‏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8AA71CB-7199-4282-8C33-D097B0586562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DE673A-0CB2-453F-A45A-891E637954C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الواضحة‏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F6F2CEE-9315-4F1E-85EE-87783B41DAB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7413F5C-78D3-4CBF-860F-96F5133CCA27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B36A36-A1AA-4850-A46D-51D6B4738F5D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‏فعل واحد محدد أفضل من ثلاثة أفعال غامضة.‏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52F6B2B-7A37-49B0-A834-38033D8F8386}"/>
              </a:ext>
            </a:extLst>
          </p:cNvPr>
          <p:cNvSpPr>
            <a:spLocks noGrp="1"/>
          </p:cNvSpPr>
          <p:nvPr/>
        </p:nvSpPr>
        <p:spPr>
          <a:xfrm>
            <a:off x="6178144" y="25511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523BD66-6D93-4532-8DC2-7FB4935B9AC1}"/>
              </a:ext>
            </a:extLst>
          </p:cNvPr>
          <p:cNvSpPr>
            <a:spLocks noGrp="1"/>
          </p:cNvSpPr>
          <p:nvPr/>
        </p:nvSpPr>
        <p:spPr>
          <a:xfrm>
            <a:off x="6178144" y="25511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2A5A1D5-0461-4618-BA90-E9823CC6F99E}"/>
              </a:ext>
            </a:extLst>
          </p:cNvPr>
          <p:cNvSpPr>
            <a:spLocks noGrp="1"/>
          </p:cNvSpPr>
          <p:nvPr/>
        </p:nvSpPr>
        <p:spPr>
          <a:xfrm>
            <a:off x="6178144" y="278892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7E12B1D-9086-420B-9B85-78849EFE8904}"/>
              </a:ext>
            </a:extLst>
          </p:cNvPr>
          <p:cNvSpPr>
            <a:spLocks noGrp="1"/>
          </p:cNvSpPr>
          <p:nvPr/>
        </p:nvSpPr>
        <p:spPr>
          <a:xfrm>
            <a:off x="6324448" y="26060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‏أفعال واضحة تعطي نتائج دقيقة‏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19A350F-6BF7-4CA5-8ABE-EE23AF19E3CF}"/>
              </a:ext>
            </a:extLst>
          </p:cNvPr>
          <p:cNvSpPr>
            <a:spLocks noGrp="1"/>
          </p:cNvSpPr>
          <p:nvPr/>
        </p:nvSpPr>
        <p:spPr>
          <a:xfrm>
            <a:off x="6324448" y="31181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‏لخّص · صنّف · قارن · أعد صياغة · استخرج · حوّل إلى جدول · رتّب حسب الأولوية · اقترح عشرة بدائل.‏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219B581-1C70-4D48-82DA-5D997591C0D0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AAAE68B-77F9-4347-BEA6-0C95894EE798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6DD0C41-A1F2-4302-8F7A-8C765A84B316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E344D73-D7CE-4D43-9C34-6D8F0C34A761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‏أفعال غامضة تعطي نتائج عامة‏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616874E-E62F-4554-8529-504E6A60888F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‏ساعدني · حسّن · اهتم بـ · انظر في · اعمل شيئاً عن · أعطني معلومات.‏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737C040-B5AC-43B8-9C48-842D87AB66A6}"/>
              </a:ext>
            </a:extLst>
          </p:cNvPr>
          <p:cNvSpPr>
            <a:spLocks noGrp="1"/>
          </p:cNvSpPr>
          <p:nvPr/>
        </p:nvSpPr>
        <p:spPr>
          <a:xfrm>
            <a:off x="6178144" y="40416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C394BFD-6CEA-4A72-9288-9846AD262738}"/>
              </a:ext>
            </a:extLst>
          </p:cNvPr>
          <p:cNvSpPr>
            <a:spLocks noGrp="1"/>
          </p:cNvSpPr>
          <p:nvPr/>
        </p:nvSpPr>
        <p:spPr>
          <a:xfrm>
            <a:off x="6178144" y="40416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CE1372D-750B-4371-A120-62DA29D7B431}"/>
              </a:ext>
            </a:extLst>
          </p:cNvPr>
          <p:cNvSpPr>
            <a:spLocks noGrp="1"/>
          </p:cNvSpPr>
          <p:nvPr/>
        </p:nvSpPr>
        <p:spPr>
          <a:xfrm>
            <a:off x="6178144" y="427939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77A4241-4960-4EA3-B6E2-0D847D7F3060}"/>
              </a:ext>
            </a:extLst>
          </p:cNvPr>
          <p:cNvSpPr>
            <a:spLocks noGrp="1"/>
          </p:cNvSpPr>
          <p:nvPr/>
        </p:nvSpPr>
        <p:spPr>
          <a:xfrm>
            <a:off x="6324448" y="40965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‏حدّد الكمّ‏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6AE5175-0391-42B8-964D-2B6246AA6D63}"/>
              </a:ext>
            </a:extLst>
          </p:cNvPr>
          <p:cNvSpPr>
            <a:spLocks noGrp="1"/>
          </p:cNvSpPr>
          <p:nvPr/>
        </p:nvSpPr>
        <p:spPr>
          <a:xfrm>
            <a:off x="6324448" y="46085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‏«اقترح خمسة عناوين» أدق من «اقترح عناوين». الرقم يحدّ من الإسهاب.‏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9AF4678-505B-4FF7-868B-EC44EC6BD4BD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663E311-BCAC-4130-8894-27FCC76CF457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3D04120-0968-4860-B12F-61B32C68712B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C50F164-C909-4761-86AB-05D48C567209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ما لا تريده‏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08865DA-8943-4299-82D0-406602C18D15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‏«دون مقدمات إنشائية» و«دون تكرار محتوى المصدر» توجيهان فعّالان جداً.‏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936039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1FEE3F-75CA-4D81-A33C-75F5765B1F89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6BA2A8F-78ED-4B5A-8003-3DADFD4EFD6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69B870-8939-4BF1-BF0D-23B0BB44020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 والمدخلات‏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EAC9DA7-280B-43C3-A621-EF662692AA1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90FF4EB-28E8-4E35-8347-321D8FC035F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9F9C063-7F4E-472C-AACE-DAFBCB6D923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‏النموذج لا يعرف شيئاً عن جهتك — أخبره بما يحتاجه فقط.‏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23EDD33-F838-4504-819C-F8CF2F1DF1C2}"/>
              </a:ext>
            </a:extLst>
          </p:cNvPr>
          <p:cNvSpPr>
            <a:spLocks noGrp="1"/>
          </p:cNvSpPr>
          <p:nvPr/>
        </p:nvSpPr>
        <p:spPr>
          <a:xfrm>
            <a:off x="8048549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5289EFD-0C05-4958-A17B-A0E222539D54}"/>
              </a:ext>
            </a:extLst>
          </p:cNvPr>
          <p:cNvSpPr>
            <a:spLocks noGrp="1"/>
          </p:cNvSpPr>
          <p:nvPr/>
        </p:nvSpPr>
        <p:spPr>
          <a:xfrm>
            <a:off x="8048549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1237EB0-2999-40E6-A4EC-EB9053CDF367}"/>
              </a:ext>
            </a:extLst>
          </p:cNvPr>
          <p:cNvSpPr>
            <a:spLocks noGrp="1"/>
          </p:cNvSpPr>
          <p:nvPr/>
        </p:nvSpPr>
        <p:spPr>
          <a:xfrm>
            <a:off x="8048549" y="251460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4C1440-77D7-4294-97B7-6F8B5C9D16E1}"/>
              </a:ext>
            </a:extLst>
          </p:cNvPr>
          <p:cNvSpPr>
            <a:spLocks noGrp="1"/>
          </p:cNvSpPr>
          <p:nvPr/>
        </p:nvSpPr>
        <p:spPr>
          <a:xfrm>
            <a:off x="8194853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‏الجمهور‏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1CF333C-576E-4BD2-AE51-62E4AEAD675E}"/>
              </a:ext>
            </a:extLst>
          </p:cNvPr>
          <p:cNvSpPr>
            <a:spLocks noGrp="1"/>
          </p:cNvSpPr>
          <p:nvPr/>
        </p:nvSpPr>
        <p:spPr>
          <a:xfrm>
            <a:off x="8194853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‏لمن يُوجّه المخرج؟ قيادة تنفيذية، موظفون، مستفيدون، جهة خارجية.‏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0DB6699-1B5F-4A21-A00A-FCC9C5480F38}"/>
              </a:ext>
            </a:extLst>
          </p:cNvPr>
          <p:cNvSpPr>
            <a:spLocks noGrp="1"/>
          </p:cNvSpPr>
          <p:nvPr/>
        </p:nvSpPr>
        <p:spPr>
          <a:xfrm>
            <a:off x="4307738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862682C-3258-443A-A4A7-D18EC7E6FDCB}"/>
              </a:ext>
            </a:extLst>
          </p:cNvPr>
          <p:cNvSpPr>
            <a:spLocks noGrp="1"/>
          </p:cNvSpPr>
          <p:nvPr/>
        </p:nvSpPr>
        <p:spPr>
          <a:xfrm>
            <a:off x="4307738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7FEAE0C-E86A-4C48-AFE1-06CE315220A8}"/>
              </a:ext>
            </a:extLst>
          </p:cNvPr>
          <p:cNvSpPr>
            <a:spLocks noGrp="1"/>
          </p:cNvSpPr>
          <p:nvPr/>
        </p:nvSpPr>
        <p:spPr>
          <a:xfrm>
            <a:off x="4307738" y="251460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ABDEA9E-93DE-4D4B-90D9-217A23755B39}"/>
              </a:ext>
            </a:extLst>
          </p:cNvPr>
          <p:cNvSpPr>
            <a:spLocks noGrp="1"/>
          </p:cNvSpPr>
          <p:nvPr/>
        </p:nvSpPr>
        <p:spPr>
          <a:xfrm>
            <a:off x="4454042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‏الغرض‏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65ADE4B-9FEC-4984-9B53-50BE6188709A}"/>
              </a:ext>
            </a:extLst>
          </p:cNvPr>
          <p:cNvSpPr>
            <a:spLocks noGrp="1"/>
          </p:cNvSpPr>
          <p:nvPr/>
        </p:nvSpPr>
        <p:spPr>
          <a:xfrm>
            <a:off x="4454042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‏لماذا تكتبه؟ للاعتماد، للإعلان، للنقاش، للأرشفة، لاتخاذ قرار.‏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0530D38-9127-428A-BBAC-BC7650D7CACC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8D8C1F0-EA7B-4D0A-BC6F-7940E331A3AF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BB916A9-798A-46A7-84D3-17ED38B75A80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EAA83CB-4F14-458F-8F96-580C428058EE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‏المرجع‏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0CA3872-5E6E-4EA3-94A6-66A98B88ACA5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‏ألصق النص أو الوثيقة التي يجب أن يعتمد عليها بدل تركه يخمّن.‏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773723F-02D5-431D-BD67-08AD1E9FCCED}"/>
              </a:ext>
            </a:extLst>
          </p:cNvPr>
          <p:cNvSpPr>
            <a:spLocks noGrp="1"/>
          </p:cNvSpPr>
          <p:nvPr/>
        </p:nvSpPr>
        <p:spPr>
          <a:xfrm>
            <a:off x="8048549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5B2CD60-1701-461A-9DD9-702B95D0C51C}"/>
              </a:ext>
            </a:extLst>
          </p:cNvPr>
          <p:cNvSpPr>
            <a:spLocks noGrp="1"/>
          </p:cNvSpPr>
          <p:nvPr/>
        </p:nvSpPr>
        <p:spPr>
          <a:xfrm>
            <a:off x="8048549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9AAC3CD-CADB-4B13-98DE-77CA38479B21}"/>
              </a:ext>
            </a:extLst>
          </p:cNvPr>
          <p:cNvSpPr>
            <a:spLocks noGrp="1"/>
          </p:cNvSpPr>
          <p:nvPr/>
        </p:nvSpPr>
        <p:spPr>
          <a:xfrm>
            <a:off x="8048549" y="400507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EE08DF6-EF03-4A07-8B10-21A31B6BB602}"/>
              </a:ext>
            </a:extLst>
          </p:cNvPr>
          <p:cNvSpPr>
            <a:spLocks noGrp="1"/>
          </p:cNvSpPr>
          <p:nvPr/>
        </p:nvSpPr>
        <p:spPr>
          <a:xfrm>
            <a:off x="8194853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‏القيود‏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16B166A-A348-470C-A04E-3CCD46D1A1AA}"/>
              </a:ext>
            </a:extLst>
          </p:cNvPr>
          <p:cNvSpPr>
            <a:spLocks noGrp="1"/>
          </p:cNvSpPr>
          <p:nvPr/>
        </p:nvSpPr>
        <p:spPr>
          <a:xfrm>
            <a:off x="8194853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يجب تجنّبه؟ مصطلحات، وعود، أرقام غير مؤكدة، أسماء.‏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DA1356B-5B71-4BE9-A555-8386EFE17038}"/>
              </a:ext>
            </a:extLst>
          </p:cNvPr>
          <p:cNvSpPr>
            <a:spLocks noGrp="1"/>
          </p:cNvSpPr>
          <p:nvPr/>
        </p:nvSpPr>
        <p:spPr>
          <a:xfrm>
            <a:off x="4307738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ECB6F48-C81D-4979-8642-BA2D629330A3}"/>
              </a:ext>
            </a:extLst>
          </p:cNvPr>
          <p:cNvSpPr>
            <a:spLocks noGrp="1"/>
          </p:cNvSpPr>
          <p:nvPr/>
        </p:nvSpPr>
        <p:spPr>
          <a:xfrm>
            <a:off x="4307738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A3128DDB-42FC-47BA-BB4C-D2D276DDB7F3}"/>
              </a:ext>
            </a:extLst>
          </p:cNvPr>
          <p:cNvSpPr>
            <a:spLocks noGrp="1"/>
          </p:cNvSpPr>
          <p:nvPr/>
        </p:nvSpPr>
        <p:spPr>
          <a:xfrm>
            <a:off x="4307738" y="400507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19578EA-F944-41AE-83FD-172FD8E86D89}"/>
              </a:ext>
            </a:extLst>
          </p:cNvPr>
          <p:cNvSpPr>
            <a:spLocks noGrp="1"/>
          </p:cNvSpPr>
          <p:nvPr/>
        </p:nvSpPr>
        <p:spPr>
          <a:xfrm>
            <a:off x="4454042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‏النبرة المؤسسية‏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CAA9E780-95F4-4725-84E8-E5AEF31F6AB6}"/>
              </a:ext>
            </a:extLst>
          </p:cNvPr>
          <p:cNvSpPr>
            <a:spLocks noGrp="1"/>
          </p:cNvSpPr>
          <p:nvPr/>
        </p:nvSpPr>
        <p:spPr>
          <a:xfrm>
            <a:off x="4454042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‏رسمية، مباشرة، تحفيزية، تعليمية — اذكرها صراحة.‏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67D0A1C-2E12-4453-B31C-C317A26EB3F5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33C7A019-0A50-4A8D-8F5F-7C2F0062BAA9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C29A5DD1-3882-40B9-80C4-6BCC957F8334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6BFA17C-3EE3-4E94-B007-0F4E5D748BEF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‏ما الذي لا يُذكر‏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CB74A75-718A-42B6-8423-047B54DE57BE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بيانات شخصية أو سرية ضمن السياق مهما كان مفيداً.‏</a:t>
            </a:r>
            <a:endParaRPr sz="145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D9B415F7-5E0B-4633-AC29-296EE4BA2F6B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EAC44184-162B-4546-8F51-88B99997E0C2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58336DAA-80A4-4716-A930-6AFBBDA6A343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2D475C34-D0A8-4557-BC91-611B148CDB25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‏قاعدة ذهبية: ألصق المصدر بدل أن تطلب من النموذج أن يتذكّره — هكذا تتجنّب الهلوسة.‏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051032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16CA205-AD97-41AB-9305-A90E5F55E6D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8FACA3-9BB3-4FEF-B0B2-CEA651DE9F6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‏قبل / بعد‏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783F60-404E-45D9-AB41-235FBAE69B6C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‏مثال ٢: تلخيص وثيقة‏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1904B1F-F72A-4AFA-BC1B-5874B0D00D1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08C9AEC-D1C1-4875-B2D1-44BDF884DE7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51F3DC8-B372-449A-9D84-D9E9EDB8F121}"/>
              </a:ext>
            </a:extLst>
          </p:cNvPr>
          <p:cNvSpPr>
            <a:spLocks noGrp="1"/>
          </p:cNvSpPr>
          <p:nvPr/>
        </p:nvSpPr>
        <p:spPr>
          <a:xfrm>
            <a:off x="6205576" y="1499616"/>
            <a:ext cx="5419192" cy="3364992"/>
          </a:xfrm>
          <a:prstGeom prst="roundRect">
            <a:avLst>
              <a:gd name="adj" fmla="val 2717"/>
            </a:avLst>
          </a:prstGeom>
          <a:solidFill>
            <a:srgbClr val="FDF2F0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AADDF67-8496-4E19-B23D-FDA14831BEAC}"/>
              </a:ext>
            </a:extLst>
          </p:cNvPr>
          <p:cNvSpPr>
            <a:spLocks noGrp="1"/>
          </p:cNvSpPr>
          <p:nvPr/>
        </p:nvSpPr>
        <p:spPr>
          <a:xfrm>
            <a:off x="6370168" y="1609344"/>
            <a:ext cx="50900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D65B4A"/>
                </a:solidFill>
                <a:latin typeface="Markazi Text"/>
                <a:ea typeface="Markazi Text"/>
                <a:cs typeface="Markazi Text"/>
              </a:rPr>
              <a:t>‏✗   أمر ضعيف‏</a:t>
            </a:r>
            <a:endParaRPr sz="17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56D9210-6957-4BD0-AB0F-350689D482B9}"/>
              </a:ext>
            </a:extLst>
          </p:cNvPr>
          <p:cNvSpPr>
            <a:spLocks noGrp="1"/>
          </p:cNvSpPr>
          <p:nvPr/>
        </p:nvSpPr>
        <p:spPr>
          <a:xfrm>
            <a:off x="6370168" y="2011680"/>
            <a:ext cx="5090008" cy="2706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500"/>
              </a:lnSpc>
              <a:buNone/>
            </a:pPr>
            <a:r>
              <a:rPr sz="1650">
                <a:solidFill>
                  <a:srgbClr val="7A2E22"/>
                </a:solidFill>
                <a:latin typeface="Markazi Text"/>
                <a:ea typeface="Markazi Text"/>
                <a:cs typeface="Markazi Text"/>
              </a:rPr>
              <a:t>‏لخص لي هذا التقرير.‏</a:t>
            </a:r>
            <a:endParaRPr sz="16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515B2B0-CC84-4C48-B569-80133626DC5F}"/>
              </a:ext>
            </a:extLst>
          </p:cNvPr>
          <p:cNvSpPr>
            <a:spLocks noGrp="1"/>
          </p:cNvSpPr>
          <p:nvPr/>
        </p:nvSpPr>
        <p:spPr>
          <a:xfrm>
            <a:off x="566928" y="1499616"/>
            <a:ext cx="5419192" cy="3364992"/>
          </a:xfrm>
          <a:prstGeom prst="roundRect">
            <a:avLst>
              <a:gd name="adj" fmla="val 2717"/>
            </a:avLst>
          </a:prstGeom>
          <a:solidFill>
            <a:srgbClr val="EDF8F3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15FCD24-2552-4D2D-B480-B1DD9C4850A2}"/>
              </a:ext>
            </a:extLst>
          </p:cNvPr>
          <p:cNvSpPr>
            <a:spLocks noGrp="1"/>
          </p:cNvSpPr>
          <p:nvPr/>
        </p:nvSpPr>
        <p:spPr>
          <a:xfrm>
            <a:off x="731520" y="1609344"/>
            <a:ext cx="5090008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‏✓   أمر فعّال‏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6CD44B3-477F-40AB-A6DF-3124FF65353E}"/>
              </a:ext>
            </a:extLst>
          </p:cNvPr>
          <p:cNvSpPr>
            <a:spLocks noGrp="1"/>
          </p:cNvSpPr>
          <p:nvPr/>
        </p:nvSpPr>
        <p:spPr>
          <a:xfrm>
            <a:off x="731520" y="2011680"/>
            <a:ext cx="5090008" cy="2706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‏لخّص التقرير المُرفق لعرضه على لجنة تنفيذية لديها خمس دقائق فقط.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المطلوب: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خمس نقاط رئيسية كحد أقصى.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كل نقطة في سطر واحد لا يتجاوز ٢٠ كلمة.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أضف في النهاية «القرار المطلوب» في جملة واحدة.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اعتمد على النص المرفق حصراً، ولا تضف أي معلومة من خارجه.</a:t>
            </a:r>
            <a:endParaRPr sz="1550"/>
          </a:p>
          <a:p>
            <a:pPr marL="0" indent="0" algn="r">
              <a:lnSpc>
                <a:spcPts val="2300"/>
              </a:lnSpc>
              <a:buNone/>
            </a:pPr>
            <a:r>
              <a:rPr sz="1550">
                <a:solidFill>
                  <a:srgbClr val="15503A"/>
                </a:solidFill>
                <a:latin typeface="Markazi Text"/>
                <a:ea typeface="Markazi Text"/>
                <a:cs typeface="Markazi Text"/>
              </a:rPr>
              <a:t>· إن ورد رقم غير واضح في النص، أشر إليه بدل تقديره.‏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293FE82-A0FE-4915-813C-C7D2E2C6D3B6}"/>
              </a:ext>
            </a:extLst>
          </p:cNvPr>
          <p:cNvSpPr>
            <a:spLocks noGrp="1"/>
          </p:cNvSpPr>
          <p:nvPr/>
        </p:nvSpPr>
        <p:spPr>
          <a:xfrm>
            <a:off x="566928" y="502920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26E9D4F-FCBF-4B29-98D3-40AFA5A5D059}"/>
              </a:ext>
            </a:extLst>
          </p:cNvPr>
          <p:cNvSpPr>
            <a:spLocks noGrp="1"/>
          </p:cNvSpPr>
          <p:nvPr/>
        </p:nvSpPr>
        <p:spPr>
          <a:xfrm>
            <a:off x="786384" y="5138928"/>
            <a:ext cx="10618927" cy="7863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300"/>
              </a:lnSpc>
              <a:buNone/>
            </a:pPr>
            <a:r>
              <a:rPr sz="1600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‏لماذا؟  حدّدنا الجمهور والزمن المتاح وعدد النقاط وطولها والمخرج الإضافي — وقيّدنا المصدر لمنع الإضافات المخترَعة.‏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422340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85CF9BB-5A9D-4A4F-B501-C965D5944FB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EEEA78E-3D8B-4BA0-94FD-A4B238B9938E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13F3577-EF2F-4638-A7B7-D20822BF8F0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‏شكل المخرج‏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28F08F8-9167-468C-81BD-7853CC9A8F14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0CDE8DC-7C52-4453-887F-221B16CA39D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4F34099-585F-4E80-93F6-617657CDA246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‏إن لم تحدّد الشكل، سيختار النموذج شكلاً قد لا يناسبك.‏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1B3FAAF-40E5-41C4-AB19-7E7E1DE4DC58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DF36E18-D5A2-4D9B-841F-BB9FBA49E4B2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759B5E5-C179-49D5-8FCB-BA5B87040A5E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0555B13-616F-4414-BE0D-4B7DE7223712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‏الطول‏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2C80C04-BA1C-4D4A-BA99-A146AE7138E9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‏عدد الكلمات أو الأسطر أو الفقرات — «في حدود ١٥٠ كلمة».‏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6AF929F-BE60-43F4-9DB4-63134EA93B23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C93E790-0618-4BA9-9DB1-CA386B77FAE5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F7DBF52F-6E8D-4C56-A352-852873DAC72C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8E27D84-5267-4E6C-A205-6DD978CE8BF6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‏الهيكل‏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9E0A194-39C8-4A47-A367-B76FBEC6BEFE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‏نقاط، جدول، فقرات، خطاب رسمي، عرض شرائح، سؤال وجواب.‏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60B7903-39A7-4FEC-920B-9C330AB20505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7DADCC8-823C-4AE6-8FF7-F11B76DD6350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0B8DEF9-0E9E-429C-86F4-AF6F3D370D68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B765B73-E441-465F-B116-88A6B35D1FA8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‏اللغة‏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5DA12D0-D808-4BDC-A10F-5B66F22F27F8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‏العربية الفصحى، أو ثنائي اللغة، أو مع إبقاء المصطلحات التقنية بالإنجليزية.‏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9DDAA7C-FA2C-43F4-B76E-9973AEB3D266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3EA13E4-3631-424A-B706-62FE2B4162F1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521A3E8-7F7C-4E88-97E0-75B200E3AA07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4B36C3D-674C-443D-B96D-AA741B76553E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‏النبرة‏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813C9A9-1C18-49EC-93F6-B96927DC7C8A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‏رسمية، ودّية، تحفيزية، محايدة، مباشرة دون إنشاء.‏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5C45745-4B5F-4E20-9239-378B08E8D551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72A863E-52B9-45CA-A63D-E39C06E13473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1FEA750-E5A5-4EB4-BFA4-9DA00199843D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E3592DA-79EF-464A-A325-2DAB3890466C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‏الجدول‏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52DB6C4-F683-451D-9937-95EF7F4B1F5F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الأعمدة بالاسم: «جدول بأعمدة: البند، المسؤول، الموعد».‏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E7E8DE12-4B6C-43BA-817F-07238F0CA6EE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3034437-F2EC-4F5D-BAEE-03AED77866C4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0997B22-A41E-421C-9076-C5E93AA49F09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E8A018CB-833E-4121-884E-72715DB71557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‏البدائل‏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058806C-097B-407C-A05D-91733F2CD450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‏اطلب أكثر من خيار: «أعطني ثلاث صياغات مختلفة النبرة».‏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351422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94ED765-D195-4187-BC10-958F635CC84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8F89079-DB04-4656-B180-BA82151A985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276721A-5E4F-4169-82E0-751249094EA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‏الحوار التكراري: لا تقبل الإجابة الأولى‏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740655E-3BD5-476A-8865-97B8D6296D2B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B93E80E-F03E-44D0-A91E-21E5EACDAA4D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66E2535-2199-4EBD-BB21-F522CA8EED77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‏أقوى ما في هذه الأدوات ليس الإجابة الأولى، بل قدرتك على تحسينها.‏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67E5681-5ABE-4A55-9835-FE7FCFD224E0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A334763-A1CE-42C4-9550-2055216798A3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8D73526-A370-43BB-8236-BB40C6B5885E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A252A1D-3FBB-4119-80E2-B921C88BA664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‏اطلب‏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62BA4F2-5060-433B-8695-26C843677320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‏أرسل أمرك الأول بأفضل صياغة تستطيعها.‏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689FB34-0376-454E-9477-F123F2D4FF15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B02ED8B-6C39-4CF0-A030-567F21C53227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57E5CAB-2D4D-4BFB-A0D0-B2C928E30F3B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07543C9-4698-4CB0-8A10-00993DF5C704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‏قيّم‏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4C5C6EE-2F22-4D44-96BD-71846A439E34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الجيد فيه؟ وما الناقص أو الزائد أو الخاطئ؟‏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AE4C58C-6F14-4239-A9B3-BA34B9E41A55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CBB3906E-C528-412E-A01D-8BA2096636D2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67CACF3-70A6-4C34-87A3-C356A7438C4F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FAA3B9A-6223-4E69-B4FA-86D010839621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‏وجّه‏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F90BDC7-ED2B-4A97-AD72-F111CFF8AC65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‏«اجعل الفقرة الثانية أقصر» · «احذف المقدمة» · «أضف رقم المرجع».‏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65CC333-1E62-4585-AD65-57F910827A9D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A4FB60A-435B-476B-8262-5326A1846001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0735309-6101-4FCB-B1F3-60506C4BD7B2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50031D1-8AD3-4699-A52C-6DB78D7F36FD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‏كرّر‏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41E9318-92FB-4649-9DA3-7E997F9790D8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‏ثلاث جولات عادةً كافية للوصول إلى مخرج قابل للاعتماد.‏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C42E145-09F1-4592-8F43-BC1E1ECD2711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FB34525-70E7-4961-85B9-93D74B595389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9C7208A-B71C-4534-9B16-6AE86664F7AF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F29E99B-9F2D-41A5-9C48-55EAE94D9105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‏احفظ‏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38768EC-762D-4B0E-B016-250253970D0E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بالأمر النهائي في مكتبتك الشخصية لإعادة استخدامه.‏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3ED3C7EB-9DB5-4D79-A7AA-6E27D389E86A}"/>
              </a:ext>
            </a:extLst>
          </p:cNvPr>
          <p:cNvSpPr>
            <a:spLocks noGrp="1"/>
          </p:cNvSpPr>
          <p:nvPr/>
        </p:nvSpPr>
        <p:spPr>
          <a:xfrm>
            <a:off x="566928" y="428853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A30743E1-A3D0-4D6E-BCCF-7708AE8B4261}"/>
              </a:ext>
            </a:extLst>
          </p:cNvPr>
          <p:cNvSpPr>
            <a:spLocks noGrp="1"/>
          </p:cNvSpPr>
          <p:nvPr/>
        </p:nvSpPr>
        <p:spPr>
          <a:xfrm>
            <a:off x="11094415" y="440740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FFA4560-96A1-47E2-880C-F4EBBE62662F}"/>
              </a:ext>
            </a:extLst>
          </p:cNvPr>
          <p:cNvSpPr>
            <a:spLocks noGrp="1"/>
          </p:cNvSpPr>
          <p:nvPr/>
        </p:nvSpPr>
        <p:spPr>
          <a:xfrm>
            <a:off x="11094415" y="443484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118C76B-4DE0-4FAE-8958-2B21DC469543}"/>
              </a:ext>
            </a:extLst>
          </p:cNvPr>
          <p:cNvSpPr>
            <a:spLocks noGrp="1"/>
          </p:cNvSpPr>
          <p:nvPr/>
        </p:nvSpPr>
        <p:spPr>
          <a:xfrm>
            <a:off x="749808" y="433425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‏التحسين بالحوار أسرع من إعادة كتابة الأمر من الصفر.‏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57463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8F7652B-40A2-46D1-8C6E-05575DDE2482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6C5BDD-31A0-4D1F-9138-3084CE90A850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9C73173-0BF9-4A82-945E-6BA7BB9C485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‏أخطاء شائعة في صياغة الأوامر‏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C6714EF-E316-416E-B588-832E0F5C7E0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23FA4DB-782C-4953-816A-6A87D707EAA1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EAFDB4C-93E3-4622-956B-446B85AED4F2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F2B90F0-AC87-4D90-A3FD-8B2368053A69}"/>
              </a:ext>
            </a:extLst>
          </p:cNvPr>
          <p:cNvSpPr>
            <a:spLocks noGrp="1"/>
          </p:cNvSpPr>
          <p:nvPr/>
        </p:nvSpPr>
        <p:spPr>
          <a:xfrm>
            <a:off x="8048549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306C042-909E-42F3-B15B-EF538A79B563}"/>
              </a:ext>
            </a:extLst>
          </p:cNvPr>
          <p:cNvSpPr>
            <a:spLocks noGrp="1"/>
          </p:cNvSpPr>
          <p:nvPr/>
        </p:nvSpPr>
        <p:spPr>
          <a:xfrm>
            <a:off x="8048549" y="260604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DB9261B-2374-4706-A923-1FFD62714F49}"/>
              </a:ext>
            </a:extLst>
          </p:cNvPr>
          <p:cNvSpPr>
            <a:spLocks noGrp="1"/>
          </p:cNvSpPr>
          <p:nvPr/>
        </p:nvSpPr>
        <p:spPr>
          <a:xfrm>
            <a:off x="8194853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‏أمر مختصر جداً‏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36E9C3D-C1B5-4159-A6C7-3AEB67080537}"/>
              </a:ext>
            </a:extLst>
          </p:cNvPr>
          <p:cNvSpPr>
            <a:spLocks noGrp="1"/>
          </p:cNvSpPr>
          <p:nvPr/>
        </p:nvSpPr>
        <p:spPr>
          <a:xfrm>
            <a:off x="8194853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‏«اكتب تقريراً» — النموذج سيخمّن كل شيء، والنتيجة عامة بلا قيمة.‏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642F57C-8EE5-42AC-A6E3-C8CBC4151FDC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B4BFB5D-0492-4967-A3AA-02D0EE6D3D8B}"/>
              </a:ext>
            </a:extLst>
          </p:cNvPr>
          <p:cNvSpPr>
            <a:spLocks noGrp="1"/>
          </p:cNvSpPr>
          <p:nvPr/>
        </p:nvSpPr>
        <p:spPr>
          <a:xfrm>
            <a:off x="430773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32EEB0D-61B7-4CA9-8A7C-A5F8CF71DDD8}"/>
              </a:ext>
            </a:extLst>
          </p:cNvPr>
          <p:cNvSpPr>
            <a:spLocks noGrp="1"/>
          </p:cNvSpPr>
          <p:nvPr/>
        </p:nvSpPr>
        <p:spPr>
          <a:xfrm>
            <a:off x="4307738" y="260604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5FE367C-94F4-418E-B421-76F1A7A28C5A}"/>
              </a:ext>
            </a:extLst>
          </p:cNvPr>
          <p:cNvSpPr>
            <a:spLocks noGrp="1"/>
          </p:cNvSpPr>
          <p:nvPr/>
        </p:nvSpPr>
        <p:spPr>
          <a:xfrm>
            <a:off x="445404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‏خلط عدة مهام‏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35EC7B4-58C3-47AF-9868-2BAE26C41F1F}"/>
              </a:ext>
            </a:extLst>
          </p:cNvPr>
          <p:cNvSpPr>
            <a:spLocks noGrp="1"/>
          </p:cNvSpPr>
          <p:nvPr/>
        </p:nvSpPr>
        <p:spPr>
          <a:xfrm>
            <a:off x="445404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‏طلب التلخيص والترجمة والتحليل في أمر واحد يضعف كل واحدة منها.‏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9A0404C-C65C-47D5-A15D-B16A91B78978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D75FCAA-B35F-4DCC-BD11-FE7E39208DE3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8432083-6753-4B47-8660-757672B22F4A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C8BBA4D-A0AE-427E-84A7-4DB355A63FE6}"/>
              </a:ext>
            </a:extLst>
          </p:cNvPr>
          <p:cNvSpPr>
            <a:spLocks noGrp="1"/>
          </p:cNvSpPr>
          <p:nvPr/>
        </p:nvSpPr>
        <p:spPr>
          <a:xfrm>
            <a:off x="713232" y="242316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‏عدم تحديد الجمهور‏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7FCF470-1768-42BE-B1C0-6CC05064105B}"/>
              </a:ext>
            </a:extLst>
          </p:cNvPr>
          <p:cNvSpPr>
            <a:spLocks noGrp="1"/>
          </p:cNvSpPr>
          <p:nvPr/>
        </p:nvSpPr>
        <p:spPr>
          <a:xfrm>
            <a:off x="713232" y="293522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‏المخرج نفسه لا يصلح للقيادة والموظفين والمستفيدين في آن واحد.‏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0DBAB61-B961-46FE-9621-3F87BFE11612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E8E307E-AAC1-45C1-8A3B-0F7CBBDE7FDC}"/>
              </a:ext>
            </a:extLst>
          </p:cNvPr>
          <p:cNvSpPr>
            <a:spLocks noGrp="1"/>
          </p:cNvSpPr>
          <p:nvPr/>
        </p:nvSpPr>
        <p:spPr>
          <a:xfrm>
            <a:off x="8048549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0AA535B-1A37-4AA8-9CB8-8EF1E5784529}"/>
              </a:ext>
            </a:extLst>
          </p:cNvPr>
          <p:cNvSpPr>
            <a:spLocks noGrp="1"/>
          </p:cNvSpPr>
          <p:nvPr/>
        </p:nvSpPr>
        <p:spPr>
          <a:xfrm>
            <a:off x="8048549" y="409651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969FD9D-3613-4DFC-9E8E-98B70A4F0758}"/>
              </a:ext>
            </a:extLst>
          </p:cNvPr>
          <p:cNvSpPr>
            <a:spLocks noGrp="1"/>
          </p:cNvSpPr>
          <p:nvPr/>
        </p:nvSpPr>
        <p:spPr>
          <a:xfrm>
            <a:off x="8194853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‏الاعتماد على معرفة النموذج‏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74746E3-2A10-487C-BA6A-A193EFE23901}"/>
              </a:ext>
            </a:extLst>
          </p:cNvPr>
          <p:cNvSpPr>
            <a:spLocks noGrp="1"/>
          </p:cNvSpPr>
          <p:nvPr/>
        </p:nvSpPr>
        <p:spPr>
          <a:xfrm>
            <a:off x="8194853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‏طلب أرقام أو أنظمة أو مراجع دون إلصاقها = مخاطرة عالية بالهلوسة.‏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952CF68-5240-4867-B57D-387BC99B4811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2D7B2FF-1EE2-4534-B3E5-18E2E1060E2A}"/>
              </a:ext>
            </a:extLst>
          </p:cNvPr>
          <p:cNvSpPr>
            <a:spLocks noGrp="1"/>
          </p:cNvSpPr>
          <p:nvPr/>
        </p:nvSpPr>
        <p:spPr>
          <a:xfrm>
            <a:off x="430773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DA0B999-2F5E-4CDE-A143-5065F0C68346}"/>
              </a:ext>
            </a:extLst>
          </p:cNvPr>
          <p:cNvSpPr>
            <a:spLocks noGrp="1"/>
          </p:cNvSpPr>
          <p:nvPr/>
        </p:nvSpPr>
        <p:spPr>
          <a:xfrm>
            <a:off x="4307738" y="409651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180BD36-F2B5-4A9D-B1E6-1ADAC2063A41}"/>
              </a:ext>
            </a:extLst>
          </p:cNvPr>
          <p:cNvSpPr>
            <a:spLocks noGrp="1"/>
          </p:cNvSpPr>
          <p:nvPr/>
        </p:nvSpPr>
        <p:spPr>
          <a:xfrm>
            <a:off x="445404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‏قبول الإجابة الأولى‏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80F689B-DE43-4786-91D5-61EF613596A3}"/>
              </a:ext>
            </a:extLst>
          </p:cNvPr>
          <p:cNvSpPr>
            <a:spLocks noGrp="1"/>
          </p:cNvSpPr>
          <p:nvPr/>
        </p:nvSpPr>
        <p:spPr>
          <a:xfrm>
            <a:off x="445404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‏أغلب المخرجات تتحسّن جوهرياً بعد جولة أو جولتين من التوجيه.‏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AFC8AE82-1B19-4D41-9C00-7AF79B35FBE7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2E14475-0796-4FAD-A8CA-354486AC3117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DC01B1E0-C30B-4401-A197-DFE3216F0C02}"/>
              </a:ext>
            </a:extLst>
          </p:cNvPr>
          <p:cNvSpPr>
            <a:spLocks noGrp="1"/>
          </p:cNvSpPr>
          <p:nvPr/>
        </p:nvSpPr>
        <p:spPr>
          <a:xfrm>
            <a:off x="566928" y="409651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DC311C8-A2AF-4FEB-B479-3AA96E95D6F4}"/>
              </a:ext>
            </a:extLst>
          </p:cNvPr>
          <p:cNvSpPr>
            <a:spLocks noGrp="1"/>
          </p:cNvSpPr>
          <p:nvPr/>
        </p:nvSpPr>
        <p:spPr>
          <a:xfrm>
            <a:off x="713232" y="391363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‏إدخال بيانات حساسة‏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4930262-071F-43E9-8A2F-DD34D583E70B}"/>
              </a:ext>
            </a:extLst>
          </p:cNvPr>
          <p:cNvSpPr>
            <a:spLocks noGrp="1"/>
          </p:cNvSpPr>
          <p:nvPr/>
        </p:nvSpPr>
        <p:spPr>
          <a:xfrm>
            <a:off x="713232" y="442569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‏أخطر الأخطاء على الإطلاق — وأكثرها شيوعاً تحت ضغط الوقت.‏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06175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A668FC-BD30-499D-9606-C2E7E5CBC88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75B726-4098-4C43-8251-F776E1A3C3AE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الثالث  ·  التطبيق العملي‏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556115A-5210-4D09-85E5-DCEAFDAA603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‏مكتبة أوامر جاهزة للموظف‏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EFCE39E-F5FF-44EE-B400-BC296ED04AF6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09A56DF-3B36-489B-9452-27C6A905862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2C534CC-A1DD-4A84-BD44-5AF17660A6BB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‏انسخها، وعدّل ما بين القوسين، واستخدمها فوراً.‏</a:t>
            </a:r>
            <a:endParaRPr sz="1600"/>
          </a:p>
        </p:txBody>
      </p:sp>
      <p:graphicFrame>
        <p:nvGraphicFramePr>
          <p:cNvPr id="18" name="Table 0"/>
          <p:cNvGraphicFramePr/>
          <p:nvPr/>
        </p:nvGraphicFramePr>
        <p:xfrm>
          <a:off x="566928" y="1883664"/>
          <a:ext cx="11064240" cy="340156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‏المهمة‏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‏الأمر الجاهز‏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وثيقة‏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‏لخّص النص المرفق في (٥) نقاط لا تتجاوز كل منها (٢٠) كلمة، لجمهور (قيادي)، دون إضافة أي معلومة من خارج النص.‏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بريد‏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‏أنت مساعد إداري في جهة حكومية. اكتب بريداً رسمياً بالعربية إلى (الجهة) بشأن (الموضوع)، بنبرة (رسمية موجزة)، في حدود (١٢٠) كلمة.‏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‏محضر اجتماع‏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‏حوّل الملاحظات المرفقة إلى محضر اجتماع بجدول أعمدته: البند، النقاش، القرار، المسؤول، الموعد. لا تضف قرارات غير مذكورة.‏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‏إعادة صياغة‏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‏أعد صياغة النص التالي بنبرة (رسمية) وبطول (نصف الطول الحالي)، مع الحفاظ على جميع المعلومات الرقمية كما هي.‏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‏توليد بدائل‏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‏اقترح (٧) عناوين مختلفة لـ (المبادرة)، متنوعة بين المباشر والتحفيزي، كل عنوان لا يتجاوز (٨) كلمات.‏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938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C622867-8769-460A-9A21-68704652AB2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84DCEE4-A6B8-42C2-B781-597E9119A48C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٣ · المحور الثالث‏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C4D5C16-E4D3-4003-828E-E66846B636E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‏صياغة بريد رسمي بإطار العناصر الأربعة‏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CE597E7-A519-47BC-A019-E11B7EF059A2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C9003C9-D9BD-4BFE-AD6C-3D93CB0A6C04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872CACF-E977-43ED-A5F2-A287253004AB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6D67AC-2371-49EE-94DA-677BBED22F61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‏ستكتب طلباً من المهمة والسياق والمدخلات وشكل المخرج، ثم تقارنه بطلب مختصر.‏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CA1816B-65C5-4FCB-A293-CD7C62B4608F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140DDD5-0D03-4AD8-970C-FC4C9C14075B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AB54BB7-69E5-4410-9337-91567D28E02B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3F10448-6C77-494D-BC79-81E09B5EB879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‏اختر موقفاً حقيقياً من عملك يحتاج بريداً رسمياً (دون بيانات حقيقية سرية).‏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A8BC6E1-0522-473E-947F-FBA875A2075A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949B7EA-059B-4A92-9288-A79BA74F6D41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729223A-FFF9-4E4E-9827-B39708AB341F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أمراً مختصراً من سطر واحد، واحفظ المخرج.‏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C5D98B7-0564-4AEB-BBCD-6F689CAE7081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E66EBFA-1E95-419F-A39F-77B4FD62A518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7F751FD-B72B-48AA-9116-57CB97BC39FF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‏أعد كتابة الطلب مستخدماً العناصر الأربعة: المهمة، السياق، المدخلات، وشكل المخرج.‏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AE72BDE-B9E3-4C6E-9EFD-81EFF01A08F5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E78A439-2C6A-40ED-BAAA-7883ED861C63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2BDAB75-5FA6-4993-BDC7-07020696DCDB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 المخرجين: أيهما أقرب للاعتماد؟ وكم دقيقة وفّر عليك؟‏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923E8EF-EB3F-4B42-A8B5-55880A477D48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2B98E87-0361-4443-B7BB-FABF049C8899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DEBA82C-6720-4553-A1D3-500FA5F566D4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‏حسّن المخرج الثاني بجولتي توجيه، ثم احفظ الأمر النهائي.‏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DEAE8B2-C494-41CD-9BAF-498256107F61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C91D7BD-063C-4A34-BF02-CFA74650428F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أمر جاهز محفوظ في مكتبتك الشخصية، ومخرج بريد قابل للاعتماد بعد مراجعتك.‏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3845042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A2978A9-038A-48D3-B4DE-8FCF32309D8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FFD628D-B162-4D8D-9878-70395F24B31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٤ · المحور الثالث‏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6CFB8A2-B8BA-4BA0-BBD6-9E082F7A9B6C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‏تلخيص وثيقة لعرضها على قيادي‏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BD5B34-8C40-4398-8A0C-D941F3CF08CF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D2E704C-EDE8-46E2-AE6F-03947D8160DA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655BCFE-C120-4EFD-B764-B6C2E302833D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F01946A-AD42-4D86-B97A-9E99246C274A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‏ستحوّل وثيقة طويلة إلى ملخص تنفيذي من خمس نقاط وقرار مطلوب واحد.‏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5A09D7D-ACF1-4241-A71E-DC5CDB8E0CE2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5D2381A-8220-464A-9992-2372724EB2FF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76C455B-F9D6-401D-98EB-0D4C364D898D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8402970-4AB6-4D4C-A34E-E9104AB529CA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الوثيقة النموذجية الموزّعة (لا تستخدم وثيقة سرية من عملك).‏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13CA2BD-21CB-4E3F-B0B6-0536A387CF3F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2FFCBE8-9D27-4D18-A2F8-8DC63C37E58F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846BD93-C49A-4088-A7BE-8B52A750D93A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أمر التلخيص مع تقييد المصدر: «اعتمد على النص المرفق حصراً».‏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6695715-97D9-41E2-8CB0-A04727912F30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B867C39-0561-43D1-90F2-2060D13CE32F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69B3F22-B3B8-412D-9050-ECED51ED502C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الملخص وقارنه بالوثيقة: هل كل رقم صحيح؟ هل أُضيفت معلومة غير موجودة؟‏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14E85E2-B7A3-4224-BBBF-DE9DEFA2AF45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0B0AAEF-8E88-4566-9EFE-AECC293D791D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8E6D495-C4FE-4793-9629-B37212CB1DF8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‏صحّح ما وجدته عبر توجيه إضافي للنموذج.‏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2EEDC0D-A516-440F-B792-225F53A2C0BA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7DDDD297-7B61-46C2-B8E1-51DA762F98F3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234BD00-84DF-4330-9317-4AFDEFE0E63E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سطر «القرار المطلوب» واعرضه على مجموعتك.‏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CED91F7-DEF0-44C3-8159-CB69A242BE05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0329773-E1FE-4BBC-B6BB-D26B2C1DA01D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ملخص تنفيذي من صفحة واحدة، مع قائمة بما تطلّب تصحيحاً — وهو مدخل المحور الرابع.‏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7117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1B7FE43-C294-4BB2-A872-AA88ECE1A86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51E5CD4-4AF6-48EC-9625-25B9A3CF2A13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٥ · المحور الثالث‏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06C8091-0CE3-4F7A-AC76-755F6D2A04A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‏إعداد محضر اجتماع‏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BCD4EE9-1207-41EB-9842-BE3936958FFD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20AE6AB-0715-4A22-B2B5-18A9A140356F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E604545-C821-4071-B4E6-B4F908B0DA9A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3BA5E34-7857-4BED-B873-6831C29E6FF5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‏من ملاحظات متناثرة إلى محضر منظّم بجدول قرارات ومهام — أحد أكثر الاستخدامات توفيراً للوقت.‏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22835B4-2B7D-4128-B47A-211E5DDD3BCB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7BCF337-B662-4D76-9C6E-5D3CDA8BD507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5B820AB-7DAF-421B-977D-3952D59851B7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E06DAAA-80F4-424D-AD8B-1690DE26F9B9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ملاحظات الاجتماع النموذجية الموزّعة عليك.‏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CA76440-F4A3-4B91-9E72-DCDE75D436B9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EF972C1-4D7E-489D-89F2-48610762255B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E0A32DF-8443-4B48-8407-3D2011DC0715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تحويلها إلى جدول بأعمدة: البند، النقاش، القرار، المسؤول، الموعد.‏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CC783014-A103-4D10-AC2D-A47FEE34A094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BF23809-D406-4E96-9510-668143ABE22A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1FB156C-039F-4EBD-A173-62AA88AAC614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قيداً صريحاً: «لا تستنتج قرارات غير مذكورة في الملاحظات».‏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ACF2F05-3702-4B33-A52B-9385383C804A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17E981D-751F-445F-AF9E-E4D71B5FABD5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8756334-68D1-4106-AADB-6728015C7502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الجدول: هل نُسب قرار لشخص لم يُذكر؟ هل اختُرع موعد؟‏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141B25A-71B7-474F-98A5-C72C34914BB3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AE77F1D-2CBC-44AD-982C-EB869515A85F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A5C9D4C-0DA3-4A33-AE02-7D18219F041C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صياغة رسالة متابعة قصيرة للمشاركين بناءً على الجدول.‏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DB41B54-8056-4D8B-9B0F-6DE491E1729B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6CFC5ED-1259-4FA0-80ED-6A3D25EFACCE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محضر منظّم + رسالة متابعة، مع وعي مباشر بخطر «استنتاج» ما لم يُقل.‏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2652085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04FBD75-D42A-4D32-B827-EDC82B22FBD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59‏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5E1177A-CAF4-46D7-95FD-90C0BF3E6170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‏ورقة عمل · احتفظ بها‏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85A130E-F743-4C31-A46D-215C3A23E6B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الأمر الجيد‏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B0965DA-0A38-47EE-9D43-53367A18062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3648F20-AD51-4744-9A49-736373CACBD6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EB916D2-CAA2-4C39-9459-0A459556A0A8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هذه البطاقة قبل إرسال أي أمر مهم.‏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459EA3C-2A03-4A4A-81A4-BDD186EDCD95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72B6AE-E3E7-47F1-8409-774B3D5A089D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2CFFE85-AD23-4A2B-9016-ADD302648EC0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حدّدت الدور الذي يجب أن يتقمّصه المساعد؟‏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2EF61CC-EFAD-4C48-900F-FB5C2DC8BEBC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5BA067A-F5F6-4A59-9829-2E231647CA2B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60BD2FD-AF17-48DC-BC46-82A0D39ED11E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التعليمة فعل واحد واضح لا عدة أفعال مختلطة؟‏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FD86CE5-32B0-48A0-B09C-BDD0070453ED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8F9EE75-92DE-4582-8CB6-7FBE3E3299A3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7FAFCE0-E10E-46A7-9462-2E98D18EE92E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ذكرت الجمهور المستهدف والغرض من المخرج؟‏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B22983A-0894-4677-BAF6-D3E87A15AED1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2BFC2D7-F9EB-491A-9618-40EF49CF9638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BF766DF-0AD0-4EF3-BE23-8EDF253BD730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ألصقت المصدر بدل الاعتماد على معرفة النموذج؟‏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DABCDF8-625F-400C-8E02-FB5D599BA84E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1D72A01-A5AF-4DE0-9583-E2B09C7CAACA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EF8A8ED-0E4C-497C-8BC5-0055DBA0DFF9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حدّدت الطول والصيغة والنبرة واللغة؟‏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4AE069E-850E-42A1-83EC-79A86758BF10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8CA319B-DBBD-445B-8D16-7233FDE0E72C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BCD2C7B-28EE-4004-9898-2FABD81DBCD5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ذكرت ما يجب تجنّبه صراحةً؟‏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ACFA237-16C0-4545-86C4-355F901F8D23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65C2EDA5-ED6E-4404-BD6A-470C57EDB70D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223A35B-63A5-46EC-9D74-6F472DB2C1DE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تأكّدت أن الأمر خالٍ من أي بيانات سرية أو شخصية؟‏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6203187-8F6C-4CB1-A1F2-FCEBA4D86990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36381D5-4490-4DB2-B767-C8783B064FF0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92E8E2A-1123-4A0A-AED2-CCC0E205EF92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‏هل أنت مستعد لجولتي تحسين بدل قبول الإجابة الأولى؟‏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965167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3CC17F6-D771-4E9D-8D18-02D9FE70FE7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الثالث  ·  60‏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43227D-F3B3-4C42-8E3F-E25170A1D767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716A171-59FC-4202-81DF-9C3D48060601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الثالث‏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E8A110E-8417-4B23-A83D-C4E75E5064EF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1236A19-DB33-479F-932E-9DB03357A046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C6BF046-F2D2-4C2D-99CB-472D9F836C08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E9A6381-CB7D-4D3A-9DB9-58523257FBA5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ماذا يمثّل الحرف C في إطار RICE؟‏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5E2E349-296D-47DE-8F7A-29F77BB9DD51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BC670E-220A-45F1-803F-24C0A674E6B1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الوضوح (Clarity)‏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3087310-AEBB-49CD-88F5-286E68DAA3AE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7A87710-5E82-476A-B7E9-41C67BA1BFE0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السياق (Context)‏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1F1AA9E-7544-449B-BCD9-C3A031C7D3CB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70BEE4-D853-4FE8-B57A-B1FF9419BE5F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الإبداع (Creativity)‏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028AE20-BF6E-4371-8A0B-6321D12C15B2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C7C40E9-080E-43B0-AFFB-36EEC7BF0285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أفضل طريقة لتجنّب المعلومات المخترَعة في التلخيص هي:‏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E5CB0D6-C295-4C22-89D3-41BB1BB46875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8F2226C-B1E7-4855-A0FC-E93FFE6CA677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طلب التلخيص مرتين‏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46A6037-1B46-47CA-B4C5-CCA48437C146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7CF1BA3-4225-4A0D-8BC2-3A1225F14F40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إلصاق النص المصدر وتقييد النموذج به‏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5E6D27C-DFF1-4BAC-8B10-8D0D27EC771B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F19439D-B4E2-40DD-A8DB-E4D140E6394B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استخدام أداة أخرى‏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FBED60E-3763-4DE0-89C4-359CF80F7264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B6C4BDF-F0CE-439F-9C2C-D40733797DB5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مما يلي أمر فعّال؟‏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93D7861-7F2C-4C6C-BE8F-82EAEEB6601F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2384289-6CB6-452D-A502-9EF21FF42087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«ساعدني في التقرير»‏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9DEDB76-143A-4D1E-AE23-6B5C5E3BB636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B883015-A1F7-4CAC-B6B9-62B51F66CD8E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«لخّص النص المرفق في ٥ نقاط لجمهور قيادي»‏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87F492E-58A1-449E-87CD-DB5AFDC83226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5BA32DC-C4D2-4FED-B5AA-75413CAFA2B2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«اكتب شيئاً جيداً»‏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99990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86335D8-2FAF-47DF-9445-5AC734D03C15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B399DA7-34E0-4941-9298-DFC81AA0AA69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‏٤‏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2B84275-E8A9-491D-86DE-F996F195E224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94C759B-128A-4EE0-B933-FA55F6A7DC3D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‏حدود الذكاء الاصطناعي والتحقق من المخرجات‏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0B858D8-49EB-4A57-A713-B03ECA450BB5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‏الأداة التي لا تعرف حدودها تصبح خطراً — والتحقق ليس خطوة إضافية بل جزء من العمل.‏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F5A2EBD-DC7C-478D-B7D9-1FB3FA9FA8A2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223DE85-2F1C-4616-9D19-B919FE6C5EC0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‏لماذا يخطئ؟‏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78E9A8-9D75-4E59-B448-299F72FAAFB4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5EB30E6-3EAF-4D27-BF61-DFD439E6AA0A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‏الهلوسة والتحيّز‏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0949A11-3292-4A4C-B758-281DBD82B277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74716F1-63B3-4904-AEC7-6C6716C77AFF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‏منهجية التحقق الخماسية‏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58CAD2D-384F-46A3-8A85-5A16CAED3BD8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AEB8E93-B432-4A12-89B7-61CA915F785E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‏مستويات المخاطر‏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5713471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09629ED-4A91-4940-8FB8-75062692053B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F29AAF6-D37C-4AF1-94E0-C6DB98D7984E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‏الذكاء الاصطناعي يخطئ بثقة تامة —</a:t>
            </a:r>
            <a:endParaRPr sz="3800"/>
          </a:p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ولا يخبرك متى يخطئ.‏</a:t>
            </a:r>
            <a:endParaRPr sz="38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E8596E-2AE6-4370-934C-55D2F44DC2C2}"/>
              </a:ext>
            </a:extLst>
          </p:cNvPr>
          <p:cNvSpPr>
            <a:spLocks noGrp="1"/>
          </p:cNvSpPr>
          <p:nvPr/>
        </p:nvSpPr>
        <p:spPr>
          <a:xfrm>
            <a:off x="566928" y="431596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‏لا توجد إشارة تحذير في المخرج. النص الخاطئ يبدو بالثقة نفسها التي يبدو بها النص الصحيح. لهذا التحقق مسؤوليتك وحدك، ولا يمكن تفويضه للأداة.‏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484222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A6323F-3816-4F5B-A219-5D5009DE5123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07C9BF9-153D-42C3-832D-0AB5F12379D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41D6676-8C18-4BD0-B38C-92911847CED5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‏لماذا يخطئ الذكاء الاصطناعي؟‏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6FA8CE-5EB6-4B63-AFD0-411FB1BDD16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6E0A3A2-A67D-4A8F-87E2-6947770C2B2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B5329AE-2135-41F1-B6B8-70F76F9E0582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‏ستة أسباب جذرية — فهمها يجعل التحقق موجّهاً لا عشوائياً.‏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FE61D90-505D-4690-9B00-2A5D819831D1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8A4FF30-67B1-4287-BBEA-0154B40CA96F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FDBD144-8476-4CBE-9042-4F8F699E0575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A5D1C6-670D-4B87-961B-2660896669FA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‏طبيعته الاحتمالية‏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601AAD1-D5F6-4879-8AC0-D77640C5B1E9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‏يختار أرجح كلمة تالية لا أصحّها. «الأرجح لغوياً» ليس دائماً «الصحيح واقعياً».‏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FB5F3FF-7C3D-4F1D-9B52-B93800E885CB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EE44DC0-00D7-4424-80E4-6102EF995ECC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1AF7C72-852B-4FA0-8E03-6D063F8C166E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24F0B6F-23B9-473D-A601-0C29197AF16D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يملك مصدراً يرجع إليه‏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96CCA5B-D000-4853-B6D4-F73FBE396C2E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‏المعرفة مضغوطة في معاملاته الرقمية، لا في قاعدة بيانات قابلة للتدقيق.‏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97F4712-FC58-438E-9F6B-D924EE427707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1014E33-67E7-4042-B9EF-16B10C8B7802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597705F-4AB4-4A3F-8FA8-8D1259EC70CF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4CF31BB-275A-4E3E-80B6-4833CACEAD23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‏حدود المعرفة الزمنية‏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AE18D55-DFC8-42B0-B949-D2337AFEB5EC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‏تدرّب حتى تاريخ معيّن، وما بعده لا يعرفه إلا إذا بحث في الوقت الحالي.‏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EF7F382-8199-4954-A022-D1589061C7B3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4E44037-A753-404C-800C-E43444CA67E8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CE2CC16-EED6-4529-885C-0A6478712D51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FA5B89C-CF64-41C5-A297-257E1D0C2009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‏تحيّز البيانات‏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6D818E8-FC3A-45E2-AD4B-985FE27970F5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‏يعكس أنماط البيانات التي تدرّب عليها، بما فيها من اختلالات تمثيل.‏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510BBB28-7417-461D-8E0B-112CA103F6CD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920519A-B466-4613-A422-AD5D966D3C81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EF809CF-0350-4041-A4F1-D2EAA95E02EA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C283F99-B8A9-4B07-B3A0-F09F510BFFC3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‏ضعف الحساب الدقيق‏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B7061AF-51AA-4796-8EF8-DF1B5B793AD4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‏ليس آلة حاسبة؛ قد يخطئ في العمليات والنسب والجمع عبر جدول طويل.‏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D5AB63C-729E-46CE-A980-3EEDBF51CB90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81EC440-FDDC-4005-A56C-87117F9B273F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9ED897F3-0E04-4A2C-A794-C272FA30951F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E9F8456-79FF-48E8-8C0A-AD6D15F6B112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‏جهله بسياقك التنظيمي‏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3FBDD073-8DA2-481D-8182-43BAF2AF9431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يعرف أنظمة جهتك ولا صلاحياتها ولا قراراتها الداخلية.‏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0120225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3158226-3E1A-41C1-8087-ADB6553B1B6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2DFD50-04A9-4416-93BC-584107E4441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D449227-FE15-48FB-9EC2-3A7BE29D82F4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‏الهلوسة (Hallucination)‏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94DBBF9-9426-44EE-B90D-0205B8742DF5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8CD5090-3DBE-45BD-8E63-65693036A2D8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005E88-1C9B-44E6-966D-58EE1701C68B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‏أشهر أنواع الخطأ وأخطرها: إنتاج معلومة تبدو صحيحة تماماً وهي غير موجودة.‏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9A35BCB-0A82-4E98-9D17-A56FFC4FF226}"/>
              </a:ext>
            </a:extLst>
          </p:cNvPr>
          <p:cNvSpPr>
            <a:spLocks noGrp="1"/>
          </p:cNvSpPr>
          <p:nvPr/>
        </p:nvSpPr>
        <p:spPr>
          <a:xfrm>
            <a:off x="11313871" y="197510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0E8E26C-5657-4761-93B7-F9A1407A697E}"/>
              </a:ext>
            </a:extLst>
          </p:cNvPr>
          <p:cNvSpPr>
            <a:spLocks noGrp="1"/>
          </p:cNvSpPr>
          <p:nvPr/>
        </p:nvSpPr>
        <p:spPr>
          <a:xfrm>
            <a:off x="11313871" y="200253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6CDADF-7046-42B3-80DE-AB1E51BB49C0}"/>
              </a:ext>
            </a:extLst>
          </p:cNvPr>
          <p:cNvSpPr>
            <a:spLocks noGrp="1"/>
          </p:cNvSpPr>
          <p:nvPr/>
        </p:nvSpPr>
        <p:spPr>
          <a:xfrm>
            <a:off x="566928" y="192938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‏مراجع لا وجود لها‏</a:t>
            </a:r>
            <a:endParaRPr sz="18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233F513-ADE6-4D03-AF5B-5D84561063CB}"/>
              </a:ext>
            </a:extLst>
          </p:cNvPr>
          <p:cNvSpPr>
            <a:spLocks noGrp="1"/>
          </p:cNvSpPr>
          <p:nvPr/>
        </p:nvSpPr>
        <p:spPr>
          <a:xfrm>
            <a:off x="566928" y="2221992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‏عنوان دراسة واسم باحث وسنة نشر — كلها مصاغة بإتقان وغير موجودة إطلاقاً.‏</a:t>
            </a:r>
            <a:endParaRPr sz="15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21047C4-0C97-4C80-81A6-04BA9ECB8F35}"/>
              </a:ext>
            </a:extLst>
          </p:cNvPr>
          <p:cNvSpPr>
            <a:spLocks noGrp="1"/>
          </p:cNvSpPr>
          <p:nvPr/>
        </p:nvSpPr>
        <p:spPr>
          <a:xfrm>
            <a:off x="11313871" y="256641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62BF89D-F165-46E3-9EEC-59559EA05F32}"/>
              </a:ext>
            </a:extLst>
          </p:cNvPr>
          <p:cNvSpPr>
            <a:spLocks noGrp="1"/>
          </p:cNvSpPr>
          <p:nvPr/>
        </p:nvSpPr>
        <p:spPr>
          <a:xfrm>
            <a:off x="11313871" y="259384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9DBDCA6-73E3-4FE0-A9B3-C304688E09E0}"/>
              </a:ext>
            </a:extLst>
          </p:cNvPr>
          <p:cNvSpPr>
            <a:spLocks noGrp="1"/>
          </p:cNvSpPr>
          <p:nvPr/>
        </p:nvSpPr>
        <p:spPr>
          <a:xfrm>
            <a:off x="566928" y="252069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‏أرقام وإحصاءات مخترَعة‏</a:t>
            </a:r>
            <a:endParaRPr sz="18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E9D5D96-26E4-4F28-ADB9-EB02228AE3C2}"/>
              </a:ext>
            </a:extLst>
          </p:cNvPr>
          <p:cNvSpPr>
            <a:spLocks noGrp="1"/>
          </p:cNvSpPr>
          <p:nvPr/>
        </p:nvSpPr>
        <p:spPr>
          <a:xfrm>
            <a:off x="566928" y="2813304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‏نسبة مئوية أو مبلغ يبدو معقولاً تماماً في سياقه، دون أي مصدر حقيقي.‏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3D5816C-EEC1-4ED2-97F9-26D4110A9B2B}"/>
              </a:ext>
            </a:extLst>
          </p:cNvPr>
          <p:cNvSpPr>
            <a:spLocks noGrp="1"/>
          </p:cNvSpPr>
          <p:nvPr/>
        </p:nvSpPr>
        <p:spPr>
          <a:xfrm>
            <a:off x="11313871" y="3157728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ECB6416-7F2C-4279-94B2-E62E225E5C8D}"/>
              </a:ext>
            </a:extLst>
          </p:cNvPr>
          <p:cNvSpPr>
            <a:spLocks noGrp="1"/>
          </p:cNvSpPr>
          <p:nvPr/>
        </p:nvSpPr>
        <p:spPr>
          <a:xfrm>
            <a:off x="11313871" y="318516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30E2D05-D0F5-4147-B9C6-073FACDA4725}"/>
              </a:ext>
            </a:extLst>
          </p:cNvPr>
          <p:cNvSpPr>
            <a:spLocks noGrp="1"/>
          </p:cNvSpPr>
          <p:nvPr/>
        </p:nvSpPr>
        <p:spPr>
          <a:xfrm>
            <a:off x="566928" y="311200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‏مواد أنظمة غير صحيحة‏</a:t>
            </a:r>
            <a:endParaRPr sz="18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CEEEED6-F939-4FE3-8970-1246221A56C0}"/>
              </a:ext>
            </a:extLst>
          </p:cNvPr>
          <p:cNvSpPr>
            <a:spLocks noGrp="1"/>
          </p:cNvSpPr>
          <p:nvPr/>
        </p:nvSpPr>
        <p:spPr>
          <a:xfrm>
            <a:off x="566928" y="3404616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‏إحالة إلى «المادة الثانية عشرة» من نظام لا تحتوي هذا النص.‏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78D4AE4-BA19-4A49-A7E8-1C4B0B26EB26}"/>
              </a:ext>
            </a:extLst>
          </p:cNvPr>
          <p:cNvSpPr>
            <a:spLocks noGrp="1"/>
          </p:cNvSpPr>
          <p:nvPr/>
        </p:nvSpPr>
        <p:spPr>
          <a:xfrm>
            <a:off x="11313871" y="3749040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956CA06-D667-4356-A35A-D4DDB7FE9825}"/>
              </a:ext>
            </a:extLst>
          </p:cNvPr>
          <p:cNvSpPr>
            <a:spLocks noGrp="1"/>
          </p:cNvSpPr>
          <p:nvPr/>
        </p:nvSpPr>
        <p:spPr>
          <a:xfrm>
            <a:off x="11313871" y="377647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CB26CD0-FC5B-4E16-B77E-2735E3F33774}"/>
              </a:ext>
            </a:extLst>
          </p:cNvPr>
          <p:cNvSpPr>
            <a:spLocks noGrp="1"/>
          </p:cNvSpPr>
          <p:nvPr/>
        </p:nvSpPr>
        <p:spPr>
          <a:xfrm>
            <a:off x="566928" y="370332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‏اقتباسات منسوبة خطأً‏</a:t>
            </a:r>
            <a:endParaRPr sz="18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1732278-FFD3-4F6F-B2EC-C71F242556D9}"/>
              </a:ext>
            </a:extLst>
          </p:cNvPr>
          <p:cNvSpPr>
            <a:spLocks noGrp="1"/>
          </p:cNvSpPr>
          <p:nvPr/>
        </p:nvSpPr>
        <p:spPr>
          <a:xfrm>
            <a:off x="566928" y="3995928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‏عبارة تُنسب إلى شخصية أو جهة لم تقلها قط.‏</a:t>
            </a:r>
            <a:endParaRPr sz="155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782A688-D742-45B1-B94D-4B30EB6569BB}"/>
              </a:ext>
            </a:extLst>
          </p:cNvPr>
          <p:cNvSpPr>
            <a:spLocks noGrp="1"/>
          </p:cNvSpPr>
          <p:nvPr/>
        </p:nvSpPr>
        <p:spPr>
          <a:xfrm>
            <a:off x="11313871" y="434035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14C8FA1-6D29-4777-A467-72BB2A3645C9}"/>
              </a:ext>
            </a:extLst>
          </p:cNvPr>
          <p:cNvSpPr>
            <a:spLocks noGrp="1"/>
          </p:cNvSpPr>
          <p:nvPr/>
        </p:nvSpPr>
        <p:spPr>
          <a:xfrm>
            <a:off x="11313871" y="43677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0A976F8-50DB-43EB-B470-988F90ECD143}"/>
              </a:ext>
            </a:extLst>
          </p:cNvPr>
          <p:cNvSpPr>
            <a:spLocks noGrp="1"/>
          </p:cNvSpPr>
          <p:nvPr/>
        </p:nvSpPr>
        <p:spPr>
          <a:xfrm>
            <a:off x="566928" y="429463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‏روابط لا تعمل‏</a:t>
            </a:r>
            <a:endParaRPr sz="18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7D3F23C-CB02-442D-8376-FFEADA792F8A}"/>
              </a:ext>
            </a:extLst>
          </p:cNvPr>
          <p:cNvSpPr>
            <a:spLocks noGrp="1"/>
          </p:cNvSpPr>
          <p:nvPr/>
        </p:nvSpPr>
        <p:spPr>
          <a:xfrm>
            <a:off x="566928" y="4587240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‏عناوين مواقع مركّبة الشكل وغير موجودة على الإنترنت.‏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90D0C690-6D6E-4148-AAE9-C1E97C117987}"/>
              </a:ext>
            </a:extLst>
          </p:cNvPr>
          <p:cNvSpPr>
            <a:spLocks noGrp="1"/>
          </p:cNvSpPr>
          <p:nvPr/>
        </p:nvSpPr>
        <p:spPr>
          <a:xfrm>
            <a:off x="11313871" y="493166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3572E07-5B87-486F-BF66-8D49B8225083}"/>
              </a:ext>
            </a:extLst>
          </p:cNvPr>
          <p:cNvSpPr>
            <a:spLocks noGrp="1"/>
          </p:cNvSpPr>
          <p:nvPr/>
        </p:nvSpPr>
        <p:spPr>
          <a:xfrm>
            <a:off x="11313871" y="49590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179C0DF-C31F-4477-8286-AACAC1F3DC34}"/>
              </a:ext>
            </a:extLst>
          </p:cNvPr>
          <p:cNvSpPr>
            <a:spLocks noGrp="1"/>
          </p:cNvSpPr>
          <p:nvPr/>
        </p:nvSpPr>
        <p:spPr>
          <a:xfrm>
            <a:off x="566928" y="488594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‏تفاصيل مضافة في التلخيص‏</a:t>
            </a:r>
            <a:endParaRPr sz="18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21E1EA1-8D1D-4A16-93E4-242572BCC8FC}"/>
              </a:ext>
            </a:extLst>
          </p:cNvPr>
          <p:cNvSpPr>
            <a:spLocks noGrp="1"/>
          </p:cNvSpPr>
          <p:nvPr/>
        </p:nvSpPr>
        <p:spPr>
          <a:xfrm>
            <a:off x="566928" y="5178552"/>
            <a:ext cx="10582351" cy="2255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‏معلومة لم ترد في الوثيقة الأصلية أُقحمت في الملخص.‏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2D8ADA56-9AEE-4684-9A4D-9E7B751BA402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5763A02-C874-4552-A135-120E90A362B4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0A3C755B-C247-49F9-8BA3-0B223B4A8F0A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08226B1-D243-439C-B034-F1EA0BBB9B49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‏كلما ابتعد سؤالك عن نص ألصقته بنفسك، ارتفع احتمال الهلوسة.‏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326711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921EC81-B5CE-4C99-97A8-2D3EDE7FC4A2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75724A5-23E6-4303-AB84-CC94B3DF5B3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BD77755-34BC-4416-9B52-C65A1979E395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‏التحيّز في المخرجات‏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3B2EF4A-85E4-4E21-BC0B-A3A30B7CB9EF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1FBA212-8C9E-41D2-B86E-D6FD6BC6D4F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69EFB6B-C19F-4BA6-B016-8B5C9F0DE805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‏خطأ أهدأ من الهلوسة وأصعب في الاكتشاف — لأنه لا يبدو خطأً.‏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1895A6F-28D4-4426-A46B-E2B7DAD80BAE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23658F3-DD90-4B1C-8ED8-4C3D3A4CCCC9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EEE566C-0E24-47B0-99E7-A656941617F0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F85C299-5736-4F6B-829A-51C56F076D44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التمثيل‏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7475E98-7CBC-4CC0-BABD-0F9E794A26A0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‏إن كانت بيانات التدريب تمثّل فئة أو لغة أو ثقافة أكثر من غيرها، انعكس ذلك على الأمثلة والافتراضات في المخرج.‏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371E99D-FD0D-453D-A791-D35152DA998A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35A0673-B8EA-4789-A7D5-005E0360F136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48DB090-8CE0-45C5-A288-18159E088411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5339E6E-B6E0-4CB8-8BCF-8D3B920F6525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الصياغة‏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447F1B3-40C8-4C88-AF16-D3CA1B7251B5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‏طريقة صياغتك للسؤال قد توجّه الإجابة: «لماذا هذا القرار سيئ؟» تنتج إجابة مختلفة عن «قيّم هذا القرار».‏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965947C4-D65B-43F1-95DA-CD0EEBB25162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2C70D5B-A640-4D3F-ACC7-9DDE85BCF48E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AED875D-0D48-44A9-966E-C1F0217FBFD1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2FAD41B-31D6-4361-B763-D87059414C64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‏تحيّز السياق الثقافي‏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912E116-6A74-49B9-A9AD-48DE476E085B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 تأتي الأمثلة والمسميات من سياقات غير محلية لا تناسب البيئة السعودية أو الحكومية.‏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A5CCE0DA-01DB-4A10-94B7-F9F7ECC8CE46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FE8CAF1-2CDE-4B1A-BC73-BFE72012175A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44ED20C-C037-48C7-9316-5A2D0567ED60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2D22799-5FDA-44F7-A7E8-4F27FDB6034F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‏تحيّز التأكيد‏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5A31CD98-693A-4C78-ACF3-612795F6B34E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‏يميل النموذج إلى مجاراة ما يبدو أنك تريد سماعه بدل مخالفتك — فاطلب منه صراحة الرأي المخالف.‏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625A39A-E02C-4AAE-BD23-FD51EDCC555F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960ACEF-F6D3-42C1-A81B-E043ABD9B029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39DA7B3-F19C-4407-B677-F8E3DCCE601A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B0192D0-B5C8-4D43-9051-BC6988125ACA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‏علاج عملي: اطلب «اذكر ثلاث حجج مضادة» في نهاية كل أمر تحليلي.‏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010450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1C5FEAC-25E2-4F66-B0F6-7CE288F7161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843F464-DC28-49D1-B47A-2CB762FF4D8D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7159739-4B11-4646-8821-BE11775C8BC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التحقق الخماسية‏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3308A02-6E05-45D2-93C9-6DFD9A37EB1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A97541B-65E1-4290-81F2-F0F7864A149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A01DCAA-EF47-4AD3-B7C4-497EEE3CDD07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‏خمس فحوص سريعة قبل اعتماد أي مخرج — لا تستغرق أكثر من دقيقتين.‏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DD65BA-B6C8-4C14-A347-1FC55E39AE9F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FC91F81-3940-4C26-ACCA-A707954A1184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EAAAA08-D8A3-4AF0-B8E6-B1F3BD13090C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FE1C488-6122-4E2F-B950-1D4821FB90BA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‏المصدر‏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73DADC-5331-48D2-A424-99FE779BB275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أين جاءت المعلومة؟ هل من نص ألصقته أم من ذاكرة النموذج؟‏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01BD009-5AE9-49CC-8888-527C72B49639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40F7696-B4C3-4945-B0DA-CB24CBE10734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7F3C599-7213-4B82-BF85-C7D6183F7E85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40D8DF6-DB4D-4055-B799-FAE2B77CFFB8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‏المنطق‏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BF7DBFF-4A01-4528-AB95-D308432CEBBC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الاستنتاج يتبع فعلاً من المقدمات؟ هل توجد قفزة منطقية؟‏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0077CB3-F062-4030-B794-2278331495BD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BE07181-7D12-4C0E-8C8D-BCEC95D13768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B633A88-C867-4D96-A187-F3F183154C18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1028CBA-2FA9-4939-8550-1CB1CDF42E5C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‏الأرقام‏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F036C86-0646-4735-B64C-670D5B066A99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‏أعد حساب كل رقم بنفسك أو بآلة حاسبة. لا تثق برقم غير محسوب.‏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90AF707-F38F-42A5-9FBC-7504B0B4AE7B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110D71B-95AF-4546-A165-4D32BED98089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EACA3CC-E337-4A2B-8645-3DE6AF36B822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4A2AA56-5716-4052-9829-A449F6C76D72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‏السياق‏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D1090A2-D980-4E9D-81C5-30FB0411BFA8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يناسب أنظمة جهتك ولغتها وثقافتها المؤسسية؟‏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FBE8AAC-F180-4692-B64B-366C7DB4931A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10D584FE-3FFB-4127-87D7-DDE86E7F4DE7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2CBF1FF-AD77-4525-84E4-B545A7259B51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AEFA943-C814-49F3-9BAC-E296E5241B9D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‏المسؤولية‏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306F47C-69BA-4AA1-9BFB-176DEFE11CEF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أنا مستعد لتوقيع هذا المخرج باسمي؟ إن لا — راجع أكثر.‏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573F1582-BA48-44B6-BC91-DCB2DC9F28A8}"/>
              </a:ext>
            </a:extLst>
          </p:cNvPr>
          <p:cNvSpPr>
            <a:spLocks noGrp="1"/>
          </p:cNvSpPr>
          <p:nvPr/>
        </p:nvSpPr>
        <p:spPr>
          <a:xfrm>
            <a:off x="566928" y="428853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4A1413B-0DBE-4A7F-A79A-97877EB1720D}"/>
              </a:ext>
            </a:extLst>
          </p:cNvPr>
          <p:cNvSpPr>
            <a:spLocks noGrp="1"/>
          </p:cNvSpPr>
          <p:nvPr/>
        </p:nvSpPr>
        <p:spPr>
          <a:xfrm>
            <a:off x="11094415" y="440740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9B25A761-D23D-4C7D-B5BC-3BEA7BF3A384}"/>
              </a:ext>
            </a:extLst>
          </p:cNvPr>
          <p:cNvSpPr>
            <a:spLocks noGrp="1"/>
          </p:cNvSpPr>
          <p:nvPr/>
        </p:nvSpPr>
        <p:spPr>
          <a:xfrm>
            <a:off x="11094415" y="443484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C1BBC63-9F96-42EE-AECD-DEC50C0D41F1}"/>
              </a:ext>
            </a:extLst>
          </p:cNvPr>
          <p:cNvSpPr>
            <a:spLocks noGrp="1"/>
          </p:cNvSpPr>
          <p:nvPr/>
        </p:nvSpPr>
        <p:spPr>
          <a:xfrm>
            <a:off x="749808" y="433425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‏المخرج غير المتحقَّق منه ليس مخرجاً — بل مسودة فقط.‏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431423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8F1226E-A143-4EB5-9BF2-40BE44BB598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20D982-67BF-4967-B20F-415B754B53CA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DE84D8-FD5F-44CB-8FCF-7DAFAE41304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‏مستويات المخاطر: أخضر / أصفر / أحمر‏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CA105BA-E22C-408C-BF8E-360FDEF537F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12D5D9C-7350-4E07-82E3-578E29D1A68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F02E100-6B53-4026-B684-8A1C3D504994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‏صنّف كل مهمة قبل أن تبدأ، ولتكن هذه المصفوفة أمامك دائماً.‏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="566928" y="1883664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‏المستوى‏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‏وصف الحالة‏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‏الإجراء المطلوب‏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‏🟢 أخضر‏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عام، لا بيانات حساسة، أثر الخطأ محدود ويمكن تصحيحه‏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‏استخدم بحرية مع مراجعة سريعة قبل الاعتماد‏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‏🟡 أصفر‏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داخلي، أو أرقام ستُعرض، أو مخرج سيصل لجهة أخرى‏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‏تحقّق كامل بالمنهجية الخماسية + مراجعة زميل‏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‏🔴 أحمر‏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شخصية أو سرية، أو قرار مُلزم، أو رأي نظامي‏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‏لا تستخدم الأداة — أو استخدمها فقط بموافقة وسياسة معتمدة‏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‏⚫ ممنوع‏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مصنّفة، أمنية، أو محظورة نظاماً‏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‏ممنوع منعاً باتاً في أي أداة خارجية‏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>
            <a:extLst>
              <a:ext uri="{FF2B5EF4-FFF2-40B4-BE49-F238E27FC236}">
                <a16:creationId xmlns:a16="http://schemas.microsoft.com/office/drawing/2014/main" id="{7BB0088F-E114-4166-AA08-4C9182FABB70}"/>
              </a:ext>
            </a:extLst>
          </p:cNvPr>
          <p:cNvSpPr>
            <a:spLocks noGrp="1"/>
          </p:cNvSpPr>
          <p:nvPr/>
        </p:nvSpPr>
        <p:spPr>
          <a:xfrm>
            <a:off x="566928" y="4992624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14900B9-F8D3-4150-92E1-848DED82672F}"/>
              </a:ext>
            </a:extLst>
          </p:cNvPr>
          <p:cNvSpPr>
            <a:spLocks noGrp="1"/>
          </p:cNvSpPr>
          <p:nvPr/>
        </p:nvSpPr>
        <p:spPr>
          <a:xfrm>
            <a:off x="11094415" y="5111496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9A1B73D-8F35-408C-AF7C-3986276AECE9}"/>
              </a:ext>
            </a:extLst>
          </p:cNvPr>
          <p:cNvSpPr>
            <a:spLocks noGrp="1"/>
          </p:cNvSpPr>
          <p:nvPr/>
        </p:nvSpPr>
        <p:spPr>
          <a:xfrm>
            <a:off x="11094415" y="51389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5722A51-0C46-40EA-A6BE-3A69E6A03331}"/>
              </a:ext>
            </a:extLst>
          </p:cNvPr>
          <p:cNvSpPr>
            <a:spLocks noGrp="1"/>
          </p:cNvSpPr>
          <p:nvPr/>
        </p:nvSpPr>
        <p:spPr>
          <a:xfrm>
            <a:off x="749808" y="5038344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‏عند الشك في التصنيف — ارفعه درجة، لا تخفضه.‏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097857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C2BC531-18D5-45BF-B290-EBFC5201B910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3435B91-CB16-4896-BA5E-9B30FF44FF5C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‏ورقة عمل · احتفظ بها‏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DF6FAB-823A-4F9F-B987-847458E731C5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‏قائمة التحقق قبل الاعتماد‏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DBF71E2-46E9-47A4-BEA7-BF1D1CA383F5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109AE89-0B1B-4A81-BB69-30006FF5F524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10A759-8E75-4DF2-844A-DDA6ABA85DDF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يُعتمد أي مخرج قبل أن تُجاب كل هذه الأسئلة بـ«نعم».‏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5587173-DB38-4184-A654-870798D532F6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6BB2157-E622-46B9-A749-8CE9E43D25B7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430E9EB-32C5-4C7F-9F54-5C883A0DD235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‏راجعت كل رقم ونسبة ورد في المخرج بنفسي.‏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BA0B807-B0F4-4ACE-A75C-738DF067C32A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87D411E-DDB9-499F-961F-2E5CB0567276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3E3A75C-E59E-40C2-AB27-D9F7ABE6025C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‏تحقّقت من وجود كل مرجع أو نظام أو مادة ذُكرت.‏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F8416ED-1CFA-4667-86AC-3D77A64A37E6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3D820F6-02A4-4998-920A-01EF099426E9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6FB2AC8-C54A-4194-A115-5B2C7DA736CF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‏قارنت الملخص بالنص الأصلي ولم أجد معلومة مضافة.‏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CF2A713-5F8D-4B2B-9EB5-9AF37ECEAC3B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AA5D527-3613-47D9-8332-A9DA5ABFE099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451D429-F20C-4683-A12F-0660148B78BB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‏تأكّدت أن المخرج يوافق أنظمة جهتي وسياساتها.‏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FF1596A-B0C2-43F8-880E-5709D6FCA7CA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B99C29FA-2EAE-4E11-A526-1B4D9213E305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3772D50-C31D-43C0-9881-F369A61B9CD0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‏راجعت اللغة والمصطلحات لتناسب السياق المؤسسي.‏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EBD6DED-398A-4417-A309-0B74E3741891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F6D755B1-333F-4C2A-B71D-262950DED65D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241D8C4-542E-4B82-AFE1-C5942AF7FD85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‏لم أُدخل أي بيانات شخصية أو سرية في الأداة.‏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0F4E188-FFB8-4B5A-AE97-E3BE78B27A26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4A71F3A7-6632-4090-A5A3-3E11609692AC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6FE3CF9-3292-4948-83C9-2DB3C9BC1EDD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‏حدّدت مستوى المخاطر واتخذت الإجراء المناسب له.‏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9721855-42AE-4175-9DA5-F2A24AA0288C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6D0CE00-2094-4DE8-8A00-7F98AFC24C76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A5D4493-97E9-4453-9AEB-5C63C36E27AA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‏أنا مستعد لتحمّل مسؤولية هذا المخرج باسمي.‏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0471770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68E718-9FAC-4828-BC8B-27D45F2AA78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69‏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4FA0942-50F2-4E1A-A2FB-0BC7E8AEA82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الرابع  ·  الحدود والتحقق‏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BC4551-9147-4A3A-8728-B98CC017C36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‏دراسة حالة: خطأ مكلف‏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F0F53E1-5D42-453C-BD0E-58552605799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BFCBC27-4645-4387-9AC6-93B1C8033ED4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BB5DE4-CB25-4B9E-B7DD-FA0B4C69D4F5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‏حالة موجزة تُبيّن كيف يتحوّل خطأ صغير في التحقق إلى مشكلة مؤسسية.‏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E5D4F06-32AF-4BD0-96DA-5757EA9FF2B4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828FE2-FC16-4476-A2AB-38894962D888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3F68983-E67E-485F-B2A2-8CFAD47B3E9D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E3763C4-D47E-456B-AF24-A65E3ABF5177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حدث‏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956F0AB-4371-4E37-A749-4F19D3812808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CB7A63D-A5D0-4C57-B1FF-C96CBC67EBD7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‏موظف طُلب منه إعداد مذكرة عاجلة عن تجارب دولية في التدريب.‏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D74C692-8A2A-4DC5-90EB-DCE1D1D735C6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C8859B4-E0E1-46C3-A009-FD5DD952E027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مساعداً ذكياً وطلب «أمثلة عالمية مع الأرقام والمصادر».‏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E731923-9AA5-48B1-B4A9-1F87CAA2EA88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1FD7EC3-8253-4BB3-80B3-191609ADA910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‏أنتج المساعد ثلاث تجارب بأسماء برامج وأرقام ومراجع تبدو دقيقة.‏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3DAB8CA-1E9B-4BCF-A972-FF907A13791F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6ED6D34-5849-42A6-A60F-D1D4BEFC6CEA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‏أُدرجت المذكرة في عرض قيادي دون التحقق من المراجع.‏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0FE29D9-145E-47D0-9A7C-8E8D9B72D31D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A8824AA-EBB1-415E-98F9-308D74219D70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‏تبيّن لاحقاً أن مرجعين غير موجودين ورقماً واحداً مبالغاً فيه.‏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C3819EF-E6A1-4394-A7F4-5E6B5B0CB50A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EF49DB3-D101-432B-AD49-A13AA4680AD9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B3BC561-0CBB-4405-9845-D8107FF5CA54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3D04682-3A4C-45C4-81B6-350DBBF381D7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كان يجب فعله‏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1280D11-175C-47BA-B1D7-E72473144811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ED69927-4D39-4B4C-843F-E370FF3883FE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‏إلصاق المصادر الموثوقة وتقييد النموذج بها بدل طلب «أمثلة».‏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7C996261-DE10-4934-8D16-AFA381966C54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47BDE3A-269E-4D46-9373-E1DB9BDC27A2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‏التحقق من كل مرجع بالبحث عنه قبل إدراجه.‏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FAF4F9E-894C-4CB7-8987-AD9EA881E46F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2ECCE59-DEF1-44E4-A895-473A8EE683CD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حساب كل رقم ومطابقته بمصدره الأصلي.‏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A4030353-9B0A-4564-B345-416F2BCF98F0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6B74FCC-2591-4C8F-B468-EDF501270D6D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‏وضع علامة على أي معلومة غير متحقَّق منها قبل الرفع.‏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842473C-1158-4C36-A495-03A134E5F8C8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B5BAE0A-86E5-48EE-ACAC-8A5E51AFA699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‏تصنيف المهمة «أصفر» واعتماد مراجعة زميل قبل العرض.‏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CDA62F3-952C-4377-9992-82A3B412E615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4F04DE2-ACD8-4541-99D1-299ACE937381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80CC2AD-A7DD-41CB-B2D6-51DC85B343AD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0D5613E0-9045-4C6C-8BB1-E42DED13FBF5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‏الدرس: السرعة التي توفّرها الأداة لا تعوّض دقيقتين من التحقق.‏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901627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9EA8635-08D2-4EE5-B5D0-D36D2581BC3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1FEC36-89D5-4E2C-AA4B-1AFB686CB27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٦ · المحور الرابع‏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FA5AF0-3017-4191-B768-030C36F5850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‏اكتشف الخطأ‏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CA4D7A0-FEC3-45A6-AF4F-B9A88BB17932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568810-2E5C-4CE2-A942-1226B8A0F4BF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20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6B38DE3-E72F-4524-91AC-9C897BF6889D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F50206E-101E-4AC3-A6BF-C9256B9BC56B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‏ستستلم خمسة مخرجات: صحيح، ورقم مختلق، ومصدر غير موجود، واستنتاج غير مبرر، وإجابة صحيحة لا تناسب السياق.‏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C7E4093-3343-45B4-B050-E5F2A702A8DB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1EE6CDA-AB0D-44C3-8D66-BD30462DB42D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C53AAC-B87F-4D27-A84B-C80A231139FC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D7CD6B-C87B-4D93-B50A-814940640E8F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كل مخرج مع مصدره، وحدّد الادعاءات التي تحتاج دليلاً.‏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820D79F-F7D4-4D7A-95AB-B11F089732B6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44D224A-0CB2-4A20-929F-A3A81E8E6BCF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60F4441-29AC-4F38-84F6-E2579C9F0BEE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إلى المصدر وطابق الأرقام والأسماء والقيود.‏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0E5D26D-4EBF-4F90-9282-BBE131077540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A82C326-21CF-47E9-816C-D23141A731C9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07817CB-936E-4CB4-A40C-90218789BC12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‏ميّز الحقيقة الصريحة عن استنتاج الأداة.‏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671FD2B-68A5-4222-A69C-68C3F40984DA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956643E-43BD-48B4-9020-2212935EC586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FB31967-002D-45C7-A0AB-0B7EDD528DBD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‏صنّف كل مخرج: استخدم، تحقّق، أو ارفض.‏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1FCC7F4-A10F-4772-A608-8DEF677A3418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74A45C0-CD58-452A-B30D-19C2DF8A0C3B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B70C158-8B4C-4764-B8FF-954A73CDD8C0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‏اكتب نسخة قابلة للاعتماد، واذكر ما تغيّر ولماذا.‏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B0FBE9E-922E-47F9-8555-10CC8360A1E9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8D8E7D0-A279-4DFF-9E28-84908D58BDCF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خمس قرارات موثّقة ونسخة مصحّحة. مخرج الذكاء الاصطناعي لا يساوي معلومة متحقّقاً منها.‏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910662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E36EE85-5815-49E0-A348-123BF797BD9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15341FA-5B05-4345-99FB-1E5FE1FA9E0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098FC74-F5DD-462C-AA91-746E7DC352A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الرابع‏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4422795-3839-4E8B-90F6-D275EDD9F22C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CB69DCA-E2A6-4261-ABB5-C6A2E20520B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05FA645-6C1B-4225-A9BE-5E1F3B9396F1}"/>
              </a:ext>
            </a:extLst>
          </p:cNvPr>
          <p:cNvSpPr>
            <a:spLocks noGrp="1"/>
          </p:cNvSpPr>
          <p:nvPr/>
        </p:nvSpPr>
        <p:spPr>
          <a:xfrm>
            <a:off x="618728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117269E-5EB4-48DA-A706-8157FCEC1894}"/>
              </a:ext>
            </a:extLst>
          </p:cNvPr>
          <p:cNvSpPr>
            <a:spLocks noGrp="1"/>
          </p:cNvSpPr>
          <p:nvPr/>
        </p:nvSpPr>
        <p:spPr>
          <a:xfrm>
            <a:off x="11240719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4D0AA26-C01B-4122-8B8A-4C2178E54623}"/>
              </a:ext>
            </a:extLst>
          </p:cNvPr>
          <p:cNvSpPr>
            <a:spLocks noGrp="1"/>
          </p:cNvSpPr>
          <p:nvPr/>
        </p:nvSpPr>
        <p:spPr>
          <a:xfrm>
            <a:off x="633359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ثلاثة أسباب جذرية لخطأ الذكاء الاصطناعي.‏</a:t>
            </a:r>
            <a:endParaRPr sz="15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912A722-8CE0-4165-9955-B53F57890500}"/>
              </a:ext>
            </a:extLst>
          </p:cNvPr>
          <p:cNvSpPr>
            <a:spLocks noGrp="1"/>
          </p:cNvSpPr>
          <p:nvPr/>
        </p:nvSpPr>
        <p:spPr>
          <a:xfrm>
            <a:off x="56692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0C69B46-40EC-482D-96F4-9BC83ED7A0BF}"/>
              </a:ext>
            </a:extLst>
          </p:cNvPr>
          <p:cNvSpPr>
            <a:spLocks noGrp="1"/>
          </p:cNvSpPr>
          <p:nvPr/>
        </p:nvSpPr>
        <p:spPr>
          <a:xfrm>
            <a:off x="5620360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BEDFE63-A40D-4AF1-B473-A3C64096B92C}"/>
              </a:ext>
            </a:extLst>
          </p:cNvPr>
          <p:cNvSpPr>
            <a:spLocks noGrp="1"/>
          </p:cNvSpPr>
          <p:nvPr/>
        </p:nvSpPr>
        <p:spPr>
          <a:xfrm>
            <a:off x="71323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‏أعرّف الهلوسة وأذكر ثلاثة أشكال لها.‏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93C0F84-AE14-4CA3-89F7-2A21A8B37F15}"/>
              </a:ext>
            </a:extLst>
          </p:cNvPr>
          <p:cNvSpPr>
            <a:spLocks noGrp="1"/>
          </p:cNvSpPr>
          <p:nvPr/>
        </p:nvSpPr>
        <p:spPr>
          <a:xfrm>
            <a:off x="618728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5265419-5CC2-4EEF-8088-9A2651C1C326}"/>
              </a:ext>
            </a:extLst>
          </p:cNvPr>
          <p:cNvSpPr>
            <a:spLocks noGrp="1"/>
          </p:cNvSpPr>
          <p:nvPr/>
        </p:nvSpPr>
        <p:spPr>
          <a:xfrm>
            <a:off x="11240719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B766E89-88AE-444C-8407-8D86C9767EB0}"/>
              </a:ext>
            </a:extLst>
          </p:cNvPr>
          <p:cNvSpPr>
            <a:spLocks noGrp="1"/>
          </p:cNvSpPr>
          <p:nvPr/>
        </p:nvSpPr>
        <p:spPr>
          <a:xfrm>
            <a:off x="633359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‏أميّز أنواع التحيّز في المخرجات وأعرف علاجاً عملياً لها.‏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15C692E-039E-4E41-BA49-2B66CBA4457D}"/>
              </a:ext>
            </a:extLst>
          </p:cNvPr>
          <p:cNvSpPr>
            <a:spLocks noGrp="1"/>
          </p:cNvSpPr>
          <p:nvPr/>
        </p:nvSpPr>
        <p:spPr>
          <a:xfrm>
            <a:off x="56692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70FE880-872E-436D-84F5-E38785E50272}"/>
              </a:ext>
            </a:extLst>
          </p:cNvPr>
          <p:cNvSpPr>
            <a:spLocks noGrp="1"/>
          </p:cNvSpPr>
          <p:nvPr/>
        </p:nvSpPr>
        <p:spPr>
          <a:xfrm>
            <a:off x="5620360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8234DF2-5954-48AB-A366-CC6BD3CF3B83}"/>
              </a:ext>
            </a:extLst>
          </p:cNvPr>
          <p:cNvSpPr>
            <a:spLocks noGrp="1"/>
          </p:cNvSpPr>
          <p:nvPr/>
        </p:nvSpPr>
        <p:spPr>
          <a:xfrm>
            <a:off x="71323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منهجية التحقق الخماسية على أي مخرج.‏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47BC9B2-1ABB-4FB8-82E4-B89C5FB74C91}"/>
              </a:ext>
            </a:extLst>
          </p:cNvPr>
          <p:cNvSpPr>
            <a:spLocks noGrp="1"/>
          </p:cNvSpPr>
          <p:nvPr/>
        </p:nvSpPr>
        <p:spPr>
          <a:xfrm>
            <a:off x="618728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1A1F087-A91C-4696-AB7F-B14F64F56B1A}"/>
              </a:ext>
            </a:extLst>
          </p:cNvPr>
          <p:cNvSpPr>
            <a:spLocks noGrp="1"/>
          </p:cNvSpPr>
          <p:nvPr/>
        </p:nvSpPr>
        <p:spPr>
          <a:xfrm>
            <a:off x="11240719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C914635-AC1C-4D98-8A7D-E94911177AF8}"/>
              </a:ext>
            </a:extLst>
          </p:cNvPr>
          <p:cNvSpPr>
            <a:spLocks noGrp="1"/>
          </p:cNvSpPr>
          <p:nvPr/>
        </p:nvSpPr>
        <p:spPr>
          <a:xfrm>
            <a:off x="633359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‏أصنّف المهمة إلى أخضر أو أصفر أو أحمر قبل البدء.‏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C5372E9-9985-49E0-943A-C08C4105CDED}"/>
              </a:ext>
            </a:extLst>
          </p:cNvPr>
          <p:cNvSpPr>
            <a:spLocks noGrp="1"/>
          </p:cNvSpPr>
          <p:nvPr/>
        </p:nvSpPr>
        <p:spPr>
          <a:xfrm>
            <a:off x="56692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D83CBF1-E31E-4E86-B9D0-E2F9995D3A0F}"/>
              </a:ext>
            </a:extLst>
          </p:cNvPr>
          <p:cNvSpPr>
            <a:spLocks noGrp="1"/>
          </p:cNvSpPr>
          <p:nvPr/>
        </p:nvSpPr>
        <p:spPr>
          <a:xfrm>
            <a:off x="5620360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D914465-AF5A-4291-9D2F-30A056CCAB12}"/>
              </a:ext>
            </a:extLst>
          </p:cNvPr>
          <p:cNvSpPr>
            <a:spLocks noGrp="1"/>
          </p:cNvSpPr>
          <p:nvPr/>
        </p:nvSpPr>
        <p:spPr>
          <a:xfrm>
            <a:off x="71323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‏أستخدم قائمة التحقق قبل اعتماد أي مخرج باسمي.‏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060761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0ED632-0484-4759-9933-ACC727309E74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الرابع  ·  72‏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3A160EE-684E-47C4-8CA0-8247869F2A0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28DC00-F1E3-4FCB-BFF6-5C01B86B4F3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الرابع‏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12047CD-4CB2-4045-9399-4BEC673D1A68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444CD88-75AD-495E-BCD5-80DB6AEB9BA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5C6169D-3ACA-4697-857D-ADA228805637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0178EEA-568A-4CD2-8DE4-7A9C7A0AC8F1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«الهلوسة» في مخرجات الذكاء الاصطناعي تعني:‏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2F53ADA-C33E-4AA4-AD65-1272D268D8B6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98A6F9E-3080-45BB-84DE-C5224D919E5B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بطء في الاستجابة‏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E9B0D16-AA70-413C-B459-8AEEBC4655BC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6692BF3-0691-4A42-BD48-AC413F0438A3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إنتاج معلومة تبدو صحيحة وهي غير موجودة‏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72D3922-1656-42AF-A121-DF19309F2E7E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947F519-5813-486C-ACA9-1274D5F0A711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رفض الإجابة عن السؤال‏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7E520B7-3B59-4846-9187-24665E558172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87E3CF4-02DD-4443-95C5-7F3088569D4B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أي عنصر ليس من عناصر منهجية التحقق الخماسية؟‏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ADD85E5-E5BD-4D22-87CD-DE3D225E18A8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161A9A5-1EE8-46B3-95FE-9EC18541F350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الأرقام‏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DB824BA-89CD-4193-A671-FF8DC790B7E9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77E6101-E06C-4C0F-AB2C-DE364BF68524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سرعة الاستجابة‏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A036FA1-D18A-47EA-91EF-F0E98D109517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6643CE8-EE0B-44DC-9F18-030D447EE8F9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المسؤولية‏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BC36F95-3D80-45D1-A870-866DCDBE3540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78BFF45-4DB7-4AE2-9B18-3C3367DEC145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مهمة تتضمن بيانات مستفيدين شخصية تُصنّف:‏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158E2F3-0EC0-4E70-A945-0FDBA757B51B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37A04558-84CC-4B6E-8E31-A973DD3D9DF1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أخضر‏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54850C0-1DAB-4BCE-9F6F-3C052E49E520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E76D9B2-3E70-45BA-ACA9-52FB40922987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أصفر‏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3C8DBA2-82AA-460F-9731-B2CF19E8AA7E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D53478D-1CAD-4BBE-948F-0F4B3F360F74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‏ج.  أحمر‏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88231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C86B1AC-A838-4C6F-991F-617A0C53B095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B7B002C-08A3-48FE-9DD1-EBEC9689881E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‏٥‏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DB553B7-AA87-479D-80C0-8885576105FF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B7E0763-9E04-48EE-8CF5-2B1F4667B4DE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‏الاستخدام الآمن والمسؤول للذكاء الاصطناعي‏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CA2BA0A-E52D-4754-8324-0E15B7F8C3F6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‏ما تُدخله في الأداة يخرج من نطاق سيطرتك — والمسؤولية تبقى عليك في كل الأحوال.‏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ABD67D7-4D34-4666-AE3E-648FDF80987E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871FA65-002B-4B2B-85DD-BA0584F7B909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لا يُدخل أبداً‏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B22383C-F79A-4810-9043-57DCCE3835B0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06E3C6B-9FD9-4070-9334-6DDBCF75F6D8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‏تصنيف البيانات‏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96AB4CB-1E9C-4D10-B5D6-D4C6E140A523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2A0199A-DFEB-4FE9-A4C9-CAD59C9C0181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‏المبادئ الأخلاقية‏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96CC777-78ED-4F6D-8155-301CB2648950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40557F6-AA84-4F01-BB4F-D57087510220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‏سياسة الاستخدام في الجهة‏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864767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9E59020-ED9B-493A-8B17-831211E1311B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39580E7-9D0D-4620-8671-F8547CF02809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‏كل ما تكتبه في أداة خارجية</a:t>
            </a:r>
            <a:endParaRPr sz="3800"/>
          </a:p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قد يخرج من نطاق سيطرة جهتك.‏</a:t>
            </a:r>
            <a:endParaRPr sz="38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6E474BE-8917-4FF3-82BE-1AD3E956C6E4}"/>
              </a:ext>
            </a:extLst>
          </p:cNvPr>
          <p:cNvSpPr>
            <a:spLocks noGrp="1"/>
          </p:cNvSpPr>
          <p:nvPr/>
        </p:nvSpPr>
        <p:spPr>
          <a:xfrm>
            <a:off x="566928" y="431596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‏قد يُخزَّن، وقد يُراجَع بشرياً لتحسين الخدمة، وقد يُستخدم في التدريب حسب سياسة المزوّد. القاعدة الآمنة: لا تُدخل ما لا تقبل ظهوره خارج جهتك.‏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5770805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9C7A3D1-CE14-420C-8CB5-3600126190E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FDA5986-719A-46BB-B0F9-3C5A231F376D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5689C46-8018-4DB9-9983-806A0E66FCD8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‏ما الذي لا يُدخل في أي أداة خارجية؟‏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688E58D-0A7B-4F04-B40F-93D8948662D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A17DAFF-DA27-408E-B6F4-82955FFFA57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359FD6A-00B9-47CD-9266-E50137DE326A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‏ست فئات ممنوعة — احفظها كما تحفظ كلمة المرور.‏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1C5B0DE-E36C-4290-B967-63D545005ACA}"/>
              </a:ext>
            </a:extLst>
          </p:cNvPr>
          <p:cNvSpPr>
            <a:spLocks noGrp="1"/>
          </p:cNvSpPr>
          <p:nvPr/>
        </p:nvSpPr>
        <p:spPr>
          <a:xfrm>
            <a:off x="8048549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C32B383-A676-4042-8A63-B48519CDE89E}"/>
              </a:ext>
            </a:extLst>
          </p:cNvPr>
          <p:cNvSpPr>
            <a:spLocks noGrp="1"/>
          </p:cNvSpPr>
          <p:nvPr/>
        </p:nvSpPr>
        <p:spPr>
          <a:xfrm>
            <a:off x="8048549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38E4C88-ED94-4767-85C0-9ACF56ECC391}"/>
              </a:ext>
            </a:extLst>
          </p:cNvPr>
          <p:cNvSpPr>
            <a:spLocks noGrp="1"/>
          </p:cNvSpPr>
          <p:nvPr/>
        </p:nvSpPr>
        <p:spPr>
          <a:xfrm>
            <a:off x="8048549" y="251460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EAF9A33-53BA-48C7-A714-0685FFC51FB4}"/>
              </a:ext>
            </a:extLst>
          </p:cNvPr>
          <p:cNvSpPr>
            <a:spLocks noGrp="1"/>
          </p:cNvSpPr>
          <p:nvPr/>
        </p:nvSpPr>
        <p:spPr>
          <a:xfrm>
            <a:off x="8194853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الشخصية‏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B674B8A-E285-4593-92ED-D2BA06C185AE}"/>
              </a:ext>
            </a:extLst>
          </p:cNvPr>
          <p:cNvSpPr>
            <a:spLocks noGrp="1"/>
          </p:cNvSpPr>
          <p:nvPr/>
        </p:nvSpPr>
        <p:spPr>
          <a:xfrm>
            <a:off x="8194853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‏الأسماء الكاملة، الهويات، أرقام الجوال، العناوين، البريد، بيانات الموظفين والمستفيدين.‏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3407112-5720-4631-830F-FEFAA057BBEE}"/>
              </a:ext>
            </a:extLst>
          </p:cNvPr>
          <p:cNvSpPr>
            <a:spLocks noGrp="1"/>
          </p:cNvSpPr>
          <p:nvPr/>
        </p:nvSpPr>
        <p:spPr>
          <a:xfrm>
            <a:off x="4307738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17ADE38-F6B5-4C7D-944B-AB4D3E77B6FB}"/>
              </a:ext>
            </a:extLst>
          </p:cNvPr>
          <p:cNvSpPr>
            <a:spLocks noGrp="1"/>
          </p:cNvSpPr>
          <p:nvPr/>
        </p:nvSpPr>
        <p:spPr>
          <a:xfrm>
            <a:off x="4307738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C0F7D02-DE7E-4DB6-999E-B82490E0B7FA}"/>
              </a:ext>
            </a:extLst>
          </p:cNvPr>
          <p:cNvSpPr>
            <a:spLocks noGrp="1"/>
          </p:cNvSpPr>
          <p:nvPr/>
        </p:nvSpPr>
        <p:spPr>
          <a:xfrm>
            <a:off x="4307738" y="251460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E8ECE7D-BC37-4373-AA60-A6FC10A2ED1F}"/>
              </a:ext>
            </a:extLst>
          </p:cNvPr>
          <p:cNvSpPr>
            <a:spLocks noGrp="1"/>
          </p:cNvSpPr>
          <p:nvPr/>
        </p:nvSpPr>
        <p:spPr>
          <a:xfrm>
            <a:off x="4454042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المالية‏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7E7D8AA-CA7D-4515-BDDB-D21DE8D51E83}"/>
              </a:ext>
            </a:extLst>
          </p:cNvPr>
          <p:cNvSpPr>
            <a:spLocks noGrp="1"/>
          </p:cNvSpPr>
          <p:nvPr/>
        </p:nvSpPr>
        <p:spPr>
          <a:xfrm>
            <a:off x="4454042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‏أرقام الحسابات، الميزانيات غير المعلنة، العقود، الأسعار قبل الإعلان، بيانات المنافسات.‏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189013B-F020-42FA-9E4E-16E73A021838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12E21D5-B875-4DBD-9FEA-2338D672450E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D2F8C9A-3F6F-433D-8198-630393737452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66B9F94-B5A4-48C9-B31B-24B916F5B42A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‏البيانات المصنّفة‏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85FBBD1-C91C-4A85-A056-4971DC19B379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‏كل ما صُنّف سرياً أو مقيّداً أو داخلياً وفق تصنيف جهتك للبيانات.‏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86794A-1003-4C47-9A09-A25E5CE09C27}"/>
              </a:ext>
            </a:extLst>
          </p:cNvPr>
          <p:cNvSpPr>
            <a:spLocks noGrp="1"/>
          </p:cNvSpPr>
          <p:nvPr/>
        </p:nvSpPr>
        <p:spPr>
          <a:xfrm>
            <a:off x="8048549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CC6C022-AD47-4784-8A17-35D8C7F8C2BC}"/>
              </a:ext>
            </a:extLst>
          </p:cNvPr>
          <p:cNvSpPr>
            <a:spLocks noGrp="1"/>
          </p:cNvSpPr>
          <p:nvPr/>
        </p:nvSpPr>
        <p:spPr>
          <a:xfrm>
            <a:off x="8048549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A8CCE3A-A75F-40BC-B514-0B012E9543A7}"/>
              </a:ext>
            </a:extLst>
          </p:cNvPr>
          <p:cNvSpPr>
            <a:spLocks noGrp="1"/>
          </p:cNvSpPr>
          <p:nvPr/>
        </p:nvSpPr>
        <p:spPr>
          <a:xfrm>
            <a:off x="8048549" y="400507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5AEB405-DAEA-47DD-86C2-7F430D104943}"/>
              </a:ext>
            </a:extLst>
          </p:cNvPr>
          <p:cNvSpPr>
            <a:spLocks noGrp="1"/>
          </p:cNvSpPr>
          <p:nvPr/>
        </p:nvSpPr>
        <p:spPr>
          <a:xfrm>
            <a:off x="8194853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‏كلمات المرور والوصول‏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0C5846F-32D4-4150-B84B-FFB620CDF1C0}"/>
              </a:ext>
            </a:extLst>
          </p:cNvPr>
          <p:cNvSpPr>
            <a:spLocks noGrp="1"/>
          </p:cNvSpPr>
          <p:nvPr/>
        </p:nvSpPr>
        <p:spPr>
          <a:xfrm>
            <a:off x="8194853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 بيانات دخول أو مفاتيح أو روابط داخلية أو أسماء أنظمة وصلاحيات.‏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D33D84A-6F26-42BB-B903-12958D8EDD65}"/>
              </a:ext>
            </a:extLst>
          </p:cNvPr>
          <p:cNvSpPr>
            <a:spLocks noGrp="1"/>
          </p:cNvSpPr>
          <p:nvPr/>
        </p:nvSpPr>
        <p:spPr>
          <a:xfrm>
            <a:off x="4307738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746E7AEE-62C3-4A1F-BEA1-48549C6B5CA4}"/>
              </a:ext>
            </a:extLst>
          </p:cNvPr>
          <p:cNvSpPr>
            <a:spLocks noGrp="1"/>
          </p:cNvSpPr>
          <p:nvPr/>
        </p:nvSpPr>
        <p:spPr>
          <a:xfrm>
            <a:off x="4307738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E27150B-3C21-4A1D-9476-996DE671063A}"/>
              </a:ext>
            </a:extLst>
          </p:cNvPr>
          <p:cNvSpPr>
            <a:spLocks noGrp="1"/>
          </p:cNvSpPr>
          <p:nvPr/>
        </p:nvSpPr>
        <p:spPr>
          <a:xfrm>
            <a:off x="4307738" y="400507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1965DD9-6302-422B-AD03-5BE5F9C18329}"/>
              </a:ext>
            </a:extLst>
          </p:cNvPr>
          <p:cNvSpPr>
            <a:spLocks noGrp="1"/>
          </p:cNvSpPr>
          <p:nvPr/>
        </p:nvSpPr>
        <p:spPr>
          <a:xfrm>
            <a:off x="4454042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‏المسودات غير المعتمدة‏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6DE5949-4908-4410-B381-DC208823CEB6}"/>
              </a:ext>
            </a:extLst>
          </p:cNvPr>
          <p:cNvSpPr>
            <a:spLocks noGrp="1"/>
          </p:cNvSpPr>
          <p:nvPr/>
        </p:nvSpPr>
        <p:spPr>
          <a:xfrm>
            <a:off x="4454042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‏القرارات والأنظمة والسياسات قبل إقرارها والإعلان عنها رسمياً.‏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13A7E34-C4DE-4C88-A262-5C9F9C88DC11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A515A1DE-3089-475B-A19F-53DA0867B1D8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CA69F33E-D8FD-4561-B785-9CF3CEC2F17D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F0534400-2417-4305-887A-04CE03024EC1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‏البيانات الصحية والحساسة‏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D575C040-9B52-4C2A-9453-C890FADAA929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‏أي معلومة عن صحة أو ظروف شخص بعينه، أو بيانات تخصّ فئات محمية.‏</a:t>
            </a:r>
            <a:endParaRPr sz="145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7EB5425-B548-420D-A191-F6E8C524CEAF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FDC2972A-0E86-4814-A9AA-ABE539A8CB99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E9EDFE4F-1CD1-456F-905C-C98D1C775AEA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76A9E097-77F6-47A9-A99A-AC43400D6CB8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‏إن اضطررت للسياق، استبدل البيانات الحقيقية ببيانات وهمية: «الجهة (أ)»، «الموظف (١)».‏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454009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F500FB-D797-4217-972E-703B2226EF61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44F4E2A-80C8-41CB-9380-FBA8C86B5AEC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191F368-B75F-4A56-9FF9-E697F36893F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‏تصنيف البيانات وقرار الاستخدام‏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89CAC2E-AFCD-4B33-9FEC-36C56D13A35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742B39C-3447-4908-9835-251FE6055B8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1357BD4-2018-4F6C-8390-D0309EE6BF7E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‏اربط تصنيف البيانات بقرار واضح قبل أن تفتح أي أداة.‏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="566928" y="1883664"/>
          <a:ext cx="11064240" cy="28346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‏التصنيف‏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‏أمثلة‏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‏قرار الاستخدام‏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‏محتوى منشور على موقع الجهة، أنظمة معلنة، أخبار رسمية‏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‏مسموح في الأدوات المعتمدة وغيرها‏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‏داخلي‏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‏مذكرات إدارية عامة، إجراءات تشغيلية غير سرية‏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‏الأدوات المعتمدة فقط، مع إخفاء التفاصيل المميِّزة‏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‏مقيّد‏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أداء، تقارير غير معلنة، مسودات قرارات‏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‏لا يُدخل — إلا بموافقة وسياسة معتمدة صراحةً‏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‏سري‏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‏بيانات شخصية، مالية، تعاقدية، أمنية‏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‏ممنوع في أي أداة خارجية دون استثناء‏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>
            <a:extLst>
              <a:ext uri="{FF2B5EF4-FFF2-40B4-BE49-F238E27FC236}">
                <a16:creationId xmlns:a16="http://schemas.microsoft.com/office/drawing/2014/main" id="{5D7E6594-EEE3-4314-95AE-4D258069833C}"/>
              </a:ext>
            </a:extLst>
          </p:cNvPr>
          <p:cNvSpPr>
            <a:spLocks noGrp="1"/>
          </p:cNvSpPr>
          <p:nvPr/>
        </p:nvSpPr>
        <p:spPr>
          <a:xfrm>
            <a:off x="566928" y="4992624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965A362-8CBA-473B-8E3D-5453ED22DD72}"/>
              </a:ext>
            </a:extLst>
          </p:cNvPr>
          <p:cNvSpPr>
            <a:spLocks noGrp="1"/>
          </p:cNvSpPr>
          <p:nvPr/>
        </p:nvSpPr>
        <p:spPr>
          <a:xfrm>
            <a:off x="11094415" y="5111496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879E976-CF0F-46C4-A364-8F9C6548D94B}"/>
              </a:ext>
            </a:extLst>
          </p:cNvPr>
          <p:cNvSpPr>
            <a:spLocks noGrp="1"/>
          </p:cNvSpPr>
          <p:nvPr/>
        </p:nvSpPr>
        <p:spPr>
          <a:xfrm>
            <a:off x="11094415" y="513892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24FF901-7C7E-4A8F-9C17-2587ECBAD10A}"/>
              </a:ext>
            </a:extLst>
          </p:cNvPr>
          <p:cNvSpPr>
            <a:spLocks noGrp="1"/>
          </p:cNvSpPr>
          <p:nvPr/>
        </p:nvSpPr>
        <p:spPr>
          <a:xfrm>
            <a:off x="749808" y="5038344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‏إن لم تعرف تصنيف البيانات التي بين يديك — اسأل مسؤول أمن المعلومات في جهتك قبل الاستخدام.‏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74010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F31044-1A4C-47CA-82DB-14B696D2A3B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0B731F0-21ED-4765-842F-1753D72CD37E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F99E15E-5EEF-4B3C-B570-9C48A74F900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‏المبادئ الأخلاقية للذكاء الاصطناعي‏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23DB9F2-8FD6-421D-9AD7-1B8B0B780E75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5E91AC3-7133-4309-90B4-FA3363CD0F07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6BA1D9B-3208-4072-B6D9-17D66C1BE48A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‏مبادئ ناظمة تنسجم مع الإطار الوطني لأخلاقيات الذكاء الاصطناعي.‏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8A49D59-8031-4FDB-AF08-057597BB19DD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B07C45C-684E-41F8-9CCA-34F733D4C658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C1B0373-1F41-44FD-AD89-16FEA675261B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2C7CBE6-A10A-48FE-B8E3-A9446F144291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‏العدالة‏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C7B6BB3-C272-4352-AB17-34AA622D8B16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‏ألا يؤدي استخدام الأداة إلى تمييز أو إجحاف بحق فئة أو فرد.‏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B085D60-4778-4223-A420-F563607A2C2F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A798F61-8F70-431F-9084-599C3E90FAD8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33134E9-152D-4C53-8E7B-AEEB2CADFF87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2AFC88A-E556-43C7-AD31-D47D637ACC82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‏الشفافية‏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EF7A82A-CD94-4C8E-9F8A-3C0B311B7922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 يكون واضحاً متى استُخدم الذكاء الاصطناعي، خاصة في المحتوى الرسمي.‏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EE8CCDD-F67A-4BE3-88CA-CA92E021480B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AE63BCA-2979-4416-97C6-33819D66B9B3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47528AE-0207-4BBE-B955-7CC85296E9E2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A147D5E-8A59-4E5B-A315-9C3272A58F31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‏المساءلة‏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58527E7-E1F0-4606-B699-A276E90369EC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‏وجود مسؤول بشري واضح عن كل مخرج — الأداة لا تُساءَل.‏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2C3750C-F688-4847-AB85-D3927DC602D0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B1C0526-810B-4FBF-BCB4-B013CFD0D0E7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5A743BBC-87A2-4D00-B4E6-43DF7DD63195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152D5F-40F9-4B12-800C-6EABEDC6DFB6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‏الخصوصية والأمن‏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1649F01-0E0E-484E-986C-5FCC0D8452E7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‏حماية بيانات الأفراد والجهة في كل خطوة من الاستخدام.‏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D18DE47E-A0B2-4869-AF1D-6597B773FBAA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A9B0D38-9F3A-45D5-ADBF-71D54B7A2FCF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511799C0-9752-4CDE-AF35-E8B2B293DE83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4E494CB-59CD-4288-BF03-EFE49832FC24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‏الموثوقية والسلامة‏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B369CDE-66F1-4ABD-BDB9-25D4E45B6FDF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‏التأكد من دقة المخرج وسلامته قبل بنائه في قرار أو خدمة.‏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02749F6-EFDF-4DD7-B85E-C770AE870474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CF2BF595-65CA-4F7F-95BA-33E2A8FAFDB1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5CC50881-FC8A-4A56-A2DD-2346CC9C96AA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094F55E2-01D6-4F25-8198-CB5A4D8D54C8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‏النفع الاجتماعي‏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42116096-35DE-4F9E-9357-7FC70B989682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 يخدم الاستخدام مصلحة المستفيد والصالح العام لا مجرد السرعة.‏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3118477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62CB2AE-282B-4966-A697-5D42F4816E6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F9ACEFC-3AFC-4967-8910-AFA4EB54EF95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AA48AA5-BAC0-40F7-AE0D-3EB4173ED190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‏الرقابة البشرية والمساءلة‏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02A26FD-80A2-45B2-9234-B18282A588A3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DB662F7-0F78-4B3E-AC88-48CFBF91FA8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12D2911-6725-4516-8066-B80A08566724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‏المبدأ الذي لا يُساوَم عليه في العمل الحكومي.‏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F8B3C44-C1EC-4369-94DC-DC916E4BAA98}"/>
              </a:ext>
            </a:extLst>
          </p:cNvPr>
          <p:cNvSpPr>
            <a:spLocks noGrp="1"/>
          </p:cNvSpPr>
          <p:nvPr/>
        </p:nvSpPr>
        <p:spPr>
          <a:xfrm>
            <a:off x="11313871" y="197510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943468B-2C7A-4DFB-A9B4-C61E56DB0E90}"/>
              </a:ext>
            </a:extLst>
          </p:cNvPr>
          <p:cNvSpPr>
            <a:spLocks noGrp="1"/>
          </p:cNvSpPr>
          <p:nvPr/>
        </p:nvSpPr>
        <p:spPr>
          <a:xfrm>
            <a:off x="11313871" y="200253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189F79A-D7EF-4F47-A833-61C14CA8EFD5}"/>
              </a:ext>
            </a:extLst>
          </p:cNvPr>
          <p:cNvSpPr>
            <a:spLocks noGrp="1"/>
          </p:cNvSpPr>
          <p:nvPr/>
        </p:nvSpPr>
        <p:spPr>
          <a:xfrm>
            <a:off x="566928" y="192938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‏الإنسان في الحلقة دائماً‏</a:t>
            </a:r>
            <a:endParaRPr sz="18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C7B6C51-3179-4080-8572-578073D180E7}"/>
              </a:ext>
            </a:extLst>
          </p:cNvPr>
          <p:cNvSpPr>
            <a:spLocks noGrp="1"/>
          </p:cNvSpPr>
          <p:nvPr/>
        </p:nvSpPr>
        <p:spPr>
          <a:xfrm>
            <a:off x="566928" y="222199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‏كل مخرج يمرّ بمراجعة بشرية قبل الاعتماد، بلا استثناء.‏</a:t>
            </a:r>
            <a:endParaRPr sz="15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AD944C0-FC05-48C4-922C-5834FBFBE913}"/>
              </a:ext>
            </a:extLst>
          </p:cNvPr>
          <p:cNvSpPr>
            <a:spLocks noGrp="1"/>
          </p:cNvSpPr>
          <p:nvPr/>
        </p:nvSpPr>
        <p:spPr>
          <a:xfrm>
            <a:off x="11313871" y="26700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AB57581-4B9F-4596-B8C6-4399BBE18BEE}"/>
              </a:ext>
            </a:extLst>
          </p:cNvPr>
          <p:cNvSpPr>
            <a:spLocks noGrp="1"/>
          </p:cNvSpPr>
          <p:nvPr/>
        </p:nvSpPr>
        <p:spPr>
          <a:xfrm>
            <a:off x="11313871" y="26974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AACB28D-6C54-481E-B53A-5A1E577BC66A}"/>
              </a:ext>
            </a:extLst>
          </p:cNvPr>
          <p:cNvSpPr>
            <a:spLocks noGrp="1"/>
          </p:cNvSpPr>
          <p:nvPr/>
        </p:nvSpPr>
        <p:spPr>
          <a:xfrm>
            <a:off x="566928" y="26243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‏المسؤولية لا تُفوَّض للأداة‏</a:t>
            </a:r>
            <a:endParaRPr sz="18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CD7495C-A7AD-4172-B410-768334CAC339}"/>
              </a:ext>
            </a:extLst>
          </p:cNvPr>
          <p:cNvSpPr>
            <a:spLocks noGrp="1"/>
          </p:cNvSpPr>
          <p:nvPr/>
        </p:nvSpPr>
        <p:spPr>
          <a:xfrm>
            <a:off x="566928" y="2916936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‏«المساعد الذكي هو من كتبها» ليس تبريراً مقبولاً مهنياً ولا نظاماً.‏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E8CDA8A-36B3-4350-81F1-0A7DCA0F905D}"/>
              </a:ext>
            </a:extLst>
          </p:cNvPr>
          <p:cNvSpPr>
            <a:spLocks noGrp="1"/>
          </p:cNvSpPr>
          <p:nvPr/>
        </p:nvSpPr>
        <p:spPr>
          <a:xfrm>
            <a:off x="11313871" y="336499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C9EF294-B55D-4A00-BAE1-2307F033D9B3}"/>
              </a:ext>
            </a:extLst>
          </p:cNvPr>
          <p:cNvSpPr>
            <a:spLocks noGrp="1"/>
          </p:cNvSpPr>
          <p:nvPr/>
        </p:nvSpPr>
        <p:spPr>
          <a:xfrm>
            <a:off x="11313871" y="33924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4E729EF-7B03-4069-AAC7-894122EC7D64}"/>
              </a:ext>
            </a:extLst>
          </p:cNvPr>
          <p:cNvSpPr>
            <a:spLocks noGrp="1"/>
          </p:cNvSpPr>
          <p:nvPr/>
        </p:nvSpPr>
        <p:spPr>
          <a:xfrm>
            <a:off x="566928" y="331927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‏التوقيع يعني التحقق‏</a:t>
            </a:r>
            <a:endParaRPr sz="18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13F4C25-51C8-4DE6-9C77-0B097D45F391}"/>
              </a:ext>
            </a:extLst>
          </p:cNvPr>
          <p:cNvSpPr>
            <a:spLocks noGrp="1"/>
          </p:cNvSpPr>
          <p:nvPr/>
        </p:nvSpPr>
        <p:spPr>
          <a:xfrm>
            <a:off x="566928" y="3611880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‏من يوقّع أو يعتمد مخرجاً يقرّ ضمناً بأنه راجعه وتحقّق منه.‏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E05F498-CC02-4114-80E9-BE5039FFC7CB}"/>
              </a:ext>
            </a:extLst>
          </p:cNvPr>
          <p:cNvSpPr>
            <a:spLocks noGrp="1"/>
          </p:cNvSpPr>
          <p:nvPr/>
        </p:nvSpPr>
        <p:spPr>
          <a:xfrm>
            <a:off x="11313871" y="405993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CE8E4F0-D4F4-40C6-B4E4-23C9C20481C6}"/>
              </a:ext>
            </a:extLst>
          </p:cNvPr>
          <p:cNvSpPr>
            <a:spLocks noGrp="1"/>
          </p:cNvSpPr>
          <p:nvPr/>
        </p:nvSpPr>
        <p:spPr>
          <a:xfrm>
            <a:off x="11313871" y="40873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707BCCD-3F04-40FE-83F5-97B0582636EC}"/>
              </a:ext>
            </a:extLst>
          </p:cNvPr>
          <p:cNvSpPr>
            <a:spLocks noGrp="1"/>
          </p:cNvSpPr>
          <p:nvPr/>
        </p:nvSpPr>
        <p:spPr>
          <a:xfrm>
            <a:off x="566928" y="401421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‏كلما زاد أثر القرار زادت المراجعة‏</a:t>
            </a:r>
            <a:endParaRPr sz="18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DB07EE2-1A3E-4032-9783-6615E71B42C5}"/>
              </a:ext>
            </a:extLst>
          </p:cNvPr>
          <p:cNvSpPr>
            <a:spLocks noGrp="1"/>
          </p:cNvSpPr>
          <p:nvPr/>
        </p:nvSpPr>
        <p:spPr>
          <a:xfrm>
            <a:off x="566928" y="4306824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‏القرارات المؤثرة على الأفراد تحتاج مراجعة مضاعفة.‏</a:t>
            </a:r>
            <a:endParaRPr sz="155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B6E183E-3F19-4FF6-A502-BCEC4A1D03AC}"/>
              </a:ext>
            </a:extLst>
          </p:cNvPr>
          <p:cNvSpPr>
            <a:spLocks noGrp="1"/>
          </p:cNvSpPr>
          <p:nvPr/>
        </p:nvSpPr>
        <p:spPr>
          <a:xfrm>
            <a:off x="11313871" y="475488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026286D-66AF-43A6-9B74-F9F0E901956B}"/>
              </a:ext>
            </a:extLst>
          </p:cNvPr>
          <p:cNvSpPr>
            <a:spLocks noGrp="1"/>
          </p:cNvSpPr>
          <p:nvPr/>
        </p:nvSpPr>
        <p:spPr>
          <a:xfrm>
            <a:off x="11313871" y="47823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22EC388-EB50-454A-B3DD-F9D194BB4E32}"/>
              </a:ext>
            </a:extLst>
          </p:cNvPr>
          <p:cNvSpPr>
            <a:spLocks noGrp="1"/>
          </p:cNvSpPr>
          <p:nvPr/>
        </p:nvSpPr>
        <p:spPr>
          <a:xfrm>
            <a:off x="566928" y="470916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‏وثّق ما استُخدم فيه الذكاء الاصطناعي‏</a:t>
            </a:r>
            <a:endParaRPr sz="18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6A1EE66-4BB3-4090-960A-759AB7029C7A}"/>
              </a:ext>
            </a:extLst>
          </p:cNvPr>
          <p:cNvSpPr>
            <a:spLocks noGrp="1"/>
          </p:cNvSpPr>
          <p:nvPr/>
        </p:nvSpPr>
        <p:spPr>
          <a:xfrm>
            <a:off x="566928" y="5001768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‏سجل بسيط يحفظ حق الجهة وحقك عند المساءلة.‏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0AC22DCD-363B-4B14-B4D8-1097117D588A}"/>
              </a:ext>
            </a:extLst>
          </p:cNvPr>
          <p:cNvSpPr>
            <a:spLocks noGrp="1"/>
          </p:cNvSpPr>
          <p:nvPr/>
        </p:nvSpPr>
        <p:spPr>
          <a:xfrm>
            <a:off x="11313871" y="544982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C5A581D-2CF8-4D8C-9CF4-8A358BC29B74}"/>
              </a:ext>
            </a:extLst>
          </p:cNvPr>
          <p:cNvSpPr>
            <a:spLocks noGrp="1"/>
          </p:cNvSpPr>
          <p:nvPr/>
        </p:nvSpPr>
        <p:spPr>
          <a:xfrm>
            <a:off x="11313871" y="54772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E4CB096-D382-445E-AEA6-575777A0756D}"/>
              </a:ext>
            </a:extLst>
          </p:cNvPr>
          <p:cNvSpPr>
            <a:spLocks noGrp="1"/>
          </p:cNvSpPr>
          <p:nvPr/>
        </p:nvSpPr>
        <p:spPr>
          <a:xfrm>
            <a:off x="566928" y="540410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‏راجع ولا تكتفِ بالقراءة السريعة‏</a:t>
            </a:r>
            <a:endParaRPr sz="18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8344143-70B0-4BDA-989D-7A189B66F368}"/>
              </a:ext>
            </a:extLst>
          </p:cNvPr>
          <p:cNvSpPr>
            <a:spLocks noGrp="1"/>
          </p:cNvSpPr>
          <p:nvPr/>
        </p:nvSpPr>
        <p:spPr>
          <a:xfrm>
            <a:off x="566928" y="569671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‏المخرج المصقول لغوياً يخدع العين ويقلّل يقظة المراجع.‏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6744133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230C802-EB30-4379-813B-D51A210BBE3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79‏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99A7C89-DE0C-408E-98A2-1CB98D9CF1D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13CC04-6BEE-4976-9830-58800E394E7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‏الشفافية والإفصاح‏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3490E59-72E4-4F15-A35D-F809ACC5F1C6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BB3B205-FB27-49A3-B2D9-1EB17CAC2FA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C2B61CE-7664-4C76-9D7A-725BB60A01E4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‏متى يجب أن تُعلن أن الذكاء الاصطناعي شارك في إنتاج المحتوى؟‏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FA9A939-8025-4049-AE6E-ACB2C05D8C28}"/>
              </a:ext>
            </a:extLst>
          </p:cNvPr>
          <p:cNvSpPr>
            <a:spLocks noGrp="1"/>
          </p:cNvSpPr>
          <p:nvPr/>
        </p:nvSpPr>
        <p:spPr>
          <a:xfrm>
            <a:off x="6178144" y="25511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332CD70-403C-4594-BC1A-948FCDEFA497}"/>
              </a:ext>
            </a:extLst>
          </p:cNvPr>
          <p:cNvSpPr>
            <a:spLocks noGrp="1"/>
          </p:cNvSpPr>
          <p:nvPr/>
        </p:nvSpPr>
        <p:spPr>
          <a:xfrm>
            <a:off x="6178144" y="25511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C26EAC8-2588-4C43-B263-D01EA1C7B7F6}"/>
              </a:ext>
            </a:extLst>
          </p:cNvPr>
          <p:cNvSpPr>
            <a:spLocks noGrp="1"/>
          </p:cNvSpPr>
          <p:nvPr/>
        </p:nvSpPr>
        <p:spPr>
          <a:xfrm>
            <a:off x="6178144" y="278892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988F7E9-7423-44A9-B136-B72D88A873D0}"/>
              </a:ext>
            </a:extLst>
          </p:cNvPr>
          <p:cNvSpPr>
            <a:spLocks noGrp="1"/>
          </p:cNvSpPr>
          <p:nvPr/>
        </p:nvSpPr>
        <p:spPr>
          <a:xfrm>
            <a:off x="6324448" y="26060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‏يُفصح عنه‏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01DB082-D374-4233-BC91-DBF46A4CA184}"/>
              </a:ext>
            </a:extLst>
          </p:cNvPr>
          <p:cNvSpPr>
            <a:spLocks noGrp="1"/>
          </p:cNvSpPr>
          <p:nvPr/>
        </p:nvSpPr>
        <p:spPr>
          <a:xfrm>
            <a:off x="6324448" y="31181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‏المحتوى المنشور للجمهور، التقارير الرسمية، المواد التدريبية، الردود الآلية على المستفيدين، والمحتوى المرئي المولّد.‏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97010F3-DEA1-4423-83B2-6BD787309BB8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A10E235-F9D7-4A95-9F18-DFDDC0F8FCC2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461C1C2-0AB1-4598-9C7D-A3BD79B932F6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5F42B4A-0409-46E1-857B-61245EC6F1AD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يلزم الإفصاح عادة‏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A93B4E5-27F1-4EB4-A5CB-155BA9D460B3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‏المسودات الشخصية، تنظيم أفكارك، التدقيق اللغوي لنص كتبته أنت، وترجمة داخلية للفهم فقط.‏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42290BF-18EC-4F95-BBE3-F6170DA97FE8}"/>
              </a:ext>
            </a:extLst>
          </p:cNvPr>
          <p:cNvSpPr>
            <a:spLocks noGrp="1"/>
          </p:cNvSpPr>
          <p:nvPr/>
        </p:nvSpPr>
        <p:spPr>
          <a:xfrm>
            <a:off x="6178144" y="40416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C0E039C-DDA8-43C9-8A92-11EF007924FF}"/>
              </a:ext>
            </a:extLst>
          </p:cNvPr>
          <p:cNvSpPr>
            <a:spLocks noGrp="1"/>
          </p:cNvSpPr>
          <p:nvPr/>
        </p:nvSpPr>
        <p:spPr>
          <a:xfrm>
            <a:off x="6178144" y="40416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7673FE0-317C-46CE-8124-ACB13D13680A}"/>
              </a:ext>
            </a:extLst>
          </p:cNvPr>
          <p:cNvSpPr>
            <a:spLocks noGrp="1"/>
          </p:cNvSpPr>
          <p:nvPr/>
        </p:nvSpPr>
        <p:spPr>
          <a:xfrm>
            <a:off x="6178144" y="427939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C84A808-914B-4915-AEA2-C6C828F393FE}"/>
              </a:ext>
            </a:extLst>
          </p:cNvPr>
          <p:cNvSpPr>
            <a:spLocks noGrp="1"/>
          </p:cNvSpPr>
          <p:nvPr/>
        </p:nvSpPr>
        <p:spPr>
          <a:xfrm>
            <a:off x="6324448" y="40965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‏يُذكر في المحاضر‏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2E7C0C8-7EF0-4EED-8A3C-5F45BE072B32}"/>
              </a:ext>
            </a:extLst>
          </p:cNvPr>
          <p:cNvSpPr>
            <a:spLocks noGrp="1"/>
          </p:cNvSpPr>
          <p:nvPr/>
        </p:nvSpPr>
        <p:spPr>
          <a:xfrm>
            <a:off x="6324448" y="46085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‏استخدام أدوات التفريغ الصوتي في الاجتماعات يُذكر للحاضرين مسبقاً.‏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240A4CC-5410-4B99-A2EA-28AE81D66CE4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E49E9DE-117B-4172-A8EA-213CF4B82DB7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88C14956-D687-4AF8-B25E-847E2B23754C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211A63E-C2D9-4B6A-B945-15A637170989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لسياسة جهتك‏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4D15DCF-CE36-4C5D-B461-662080513895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‏الإفصاح مسألة سياسة مؤسسية — التزم بما اعتمدته جهتك، وعند غيابها اسأل قبل النشر.‏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0002781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0C7268B-BC6E-4554-A7FE-396255D73E6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0395C1C-564B-41AD-B5C4-EEE061272B7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460D936-1E70-4013-9B2A-F3EF784FB101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‏الخصوصية وحماية البيانات‏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3C6A04C-9A86-4756-832D-3E6D778031DE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7B773C7-A251-4CE4-9A40-20942D7C5F89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02E5BAD-D4B2-4370-B77D-253EEE048599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‏الالتزام بحماية البيانات الشخصية ليس خياراً بل التزام نظامي.‏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DB7C7F5-8B86-48BB-9E92-8B57C6D4CE95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A40D31F-4394-45EC-A190-59927ED0BCE0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ECF6C8E-17B1-44D7-912E-3CCA09151C87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4498D8F-D18C-4FF4-8E53-BF0AFB500D47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‏مبدأ التقليل‏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5642E86-77AD-4A4C-8AAE-037375510734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من البيانات إلا أقلّ ما تحتاجه المهمة فعلاً — والأصل ألا تُدخل شيئاً.‏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04A64AF-8609-49E2-B7E7-1E44F773FAD0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D5DFB5B-ED8C-4C22-B06F-FD2565D097E0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28D03AC-8228-4CFC-85D3-84330948B2FB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DCF63D6-1EB2-4B01-B9ED-A8B4A943A207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‏إخفاء الهوية‏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8F84D1A-9F7F-4EF9-9DDE-C085889D1724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‏استبدل الأسماء والأرقام المميِّزة برموز قبل أي معالجة: «المستفيد أ»، «الجهة ب».‏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74C2E1F-5DF6-4327-BD77-325FA08C4A7D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10E8DEF-5B7A-471B-B0E1-9669C7C988B2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25C8D5F-39AF-4C8B-9723-F556A4091062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661669A-6288-4FFF-984B-09ABCAB8132E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‏تحديد الغرض‏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760FB64-A881-47D5-997D-B1A66D5E6578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‏استخدم البيانات للغرض الذي جُمعت من أجله فقط، لا لأي استخدام إضافي.‏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B908A68-CF10-4AE1-B360-00FECABABB8F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B441F3B-D8ED-4C13-9CB5-4FFC71152349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E0E6C0D-D336-4A73-B93F-7F1300BB7907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4EEAA7A-9DB1-4F1A-9EDC-302C5975FC5A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‏حدود الاحتفاظ‏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4EFB597-E883-472D-BE5D-37CCCC1FF527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تترك بيانات العمل في محادثات مخزّنة لدى مزوّد خارجي دون حاجة.‏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C19785E-513F-4786-8FA0-1A22BA18833F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48F06074-0F2E-48F2-99FC-27E1B06153A5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90B74014-309D-497D-AA30-3BCF3613CE77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0B61FC5-8AC7-4BAC-9261-DF9D1C361A48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C3E75381-D286-4974-9728-01ECE24B4A98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‏الإطار التشريعي الحاكم في المملكة — يسري على استخدامك للأدوات كما يسري على الأنظمة.‏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8E162F5-5DF0-40D9-8B1C-3B87496CCCD4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550714C-C07C-4D5E-96FA-3870129F1BF1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7D9C515B-33EE-41E4-B014-D49060C49192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CBA2640-DC6C-4CFD-A894-44715BB5F2C5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‏عند الشك‏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DBD336A-C12F-4EB6-9740-EAF6734261BC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مسؤول حماية البيانات أو أمن المعلومات في جهتك قبل الاستخدام لا بعده.‏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9121767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F6C8E2A-55A7-4985-8A2A-CB545BB815C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7611792-041D-450B-A246-4636FB3BFBBD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CEB2AA-02D8-4383-8553-13EDB9525E0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‏الملكية الفكرية وحقوق المحتوى‏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1A90E08-A6CB-408C-867D-3A1EB981E8CB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E808D7F-B3D9-42EC-A288-9F1D31FFC92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783661E-9D04-4683-838B-73CAED079845}"/>
              </a:ext>
            </a:extLst>
          </p:cNvPr>
          <p:cNvSpPr>
            <a:spLocks noGrp="1"/>
          </p:cNvSpPr>
          <p:nvPr/>
        </p:nvSpPr>
        <p:spPr>
          <a:xfrm>
            <a:off x="6178144" y="20939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A7281B1-DF27-42DE-AFF8-E8503BD7D8B4}"/>
              </a:ext>
            </a:extLst>
          </p:cNvPr>
          <p:cNvSpPr>
            <a:spLocks noGrp="1"/>
          </p:cNvSpPr>
          <p:nvPr/>
        </p:nvSpPr>
        <p:spPr>
          <a:xfrm>
            <a:off x="6178144" y="20939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D78F3E5-12E8-4BBF-9C49-834A27FB0B1B}"/>
              </a:ext>
            </a:extLst>
          </p:cNvPr>
          <p:cNvSpPr>
            <a:spLocks noGrp="1"/>
          </p:cNvSpPr>
          <p:nvPr/>
        </p:nvSpPr>
        <p:spPr>
          <a:xfrm>
            <a:off x="6178144" y="233172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E8D8776-D7BB-4C5D-9CF6-BD95CDD79839}"/>
              </a:ext>
            </a:extLst>
          </p:cNvPr>
          <p:cNvSpPr>
            <a:spLocks noGrp="1"/>
          </p:cNvSpPr>
          <p:nvPr/>
        </p:nvSpPr>
        <p:spPr>
          <a:xfrm>
            <a:off x="6324448" y="21488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‏محتوى الآخرين‏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8B6A552-2B4D-4A88-BDE5-DBCB0A4A064B}"/>
              </a:ext>
            </a:extLst>
          </p:cNvPr>
          <p:cNvSpPr>
            <a:spLocks noGrp="1"/>
          </p:cNvSpPr>
          <p:nvPr/>
        </p:nvSpPr>
        <p:spPr>
          <a:xfrm>
            <a:off x="6324448" y="26609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ترفع وثائق أو مواد مملوكة لجهة أخرى دون إذن — الرفع نفسه قد يكون مخالفة.‏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BEDD299-4EF3-489C-8545-23BE733FF4A7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08ED089-E7EA-44B7-8C46-05A113BC2CA7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926F1AA-4F4C-4542-9008-64DB089DF88F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0F45A21-C0C8-4702-8191-2EC70295BE4A}"/>
              </a:ext>
            </a:extLst>
          </p:cNvPr>
          <p:cNvSpPr>
            <a:spLocks noGrp="1"/>
          </p:cNvSpPr>
          <p:nvPr/>
        </p:nvSpPr>
        <p:spPr>
          <a:xfrm>
            <a:off x="713232" y="214884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‏مخرجات الأدوات‏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EB61110-02A4-4771-BA97-EAA005B31F3D}"/>
              </a:ext>
            </a:extLst>
          </p:cNvPr>
          <p:cNvSpPr>
            <a:spLocks noGrp="1"/>
          </p:cNvSpPr>
          <p:nvPr/>
        </p:nvSpPr>
        <p:spPr>
          <a:xfrm>
            <a:off x="713232" y="266090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 تتشابه مع محتوى قائم؛ راجع الأصالة قبل النشر باسم جهتك.‏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BAA42C1-EFFB-48EA-A75D-17E435CE0A3B}"/>
              </a:ext>
            </a:extLst>
          </p:cNvPr>
          <p:cNvSpPr>
            <a:spLocks noGrp="1"/>
          </p:cNvSpPr>
          <p:nvPr/>
        </p:nvSpPr>
        <p:spPr>
          <a:xfrm>
            <a:off x="6178144" y="35844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469888A-BA5A-46C1-8464-BAA53DEB8CCC}"/>
              </a:ext>
            </a:extLst>
          </p:cNvPr>
          <p:cNvSpPr>
            <a:spLocks noGrp="1"/>
          </p:cNvSpPr>
          <p:nvPr/>
        </p:nvSpPr>
        <p:spPr>
          <a:xfrm>
            <a:off x="6178144" y="35844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6AA0B0F-E3AC-410F-8A58-F690AE1478F6}"/>
              </a:ext>
            </a:extLst>
          </p:cNvPr>
          <p:cNvSpPr>
            <a:spLocks noGrp="1"/>
          </p:cNvSpPr>
          <p:nvPr/>
        </p:nvSpPr>
        <p:spPr>
          <a:xfrm>
            <a:off x="6178144" y="382219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CF6C340-790E-4E73-8B24-592377FEDCE6}"/>
              </a:ext>
            </a:extLst>
          </p:cNvPr>
          <p:cNvSpPr>
            <a:spLocks noGrp="1"/>
          </p:cNvSpPr>
          <p:nvPr/>
        </p:nvSpPr>
        <p:spPr>
          <a:xfrm>
            <a:off x="6324448" y="36393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‏الصور المولّدة‏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7A28790-AF70-45F4-9A5F-EF256716987D}"/>
              </a:ext>
            </a:extLst>
          </p:cNvPr>
          <p:cNvSpPr>
            <a:spLocks noGrp="1"/>
          </p:cNvSpPr>
          <p:nvPr/>
        </p:nvSpPr>
        <p:spPr>
          <a:xfrm>
            <a:off x="6324448" y="41513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‏تحقّق من شروط الاستخدام التجاري والرسمي للأداة قبل نشر أي صورة مولّدة.‏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5F2DD85-7787-46F5-9EB8-06F9A3983C20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D189F9A-09A8-465F-AB5A-FDF05EF84E28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C70E82B-50E8-402E-A4B5-5575C88BC646}"/>
              </a:ext>
            </a:extLst>
          </p:cNvPr>
          <p:cNvSpPr>
            <a:spLocks noGrp="1"/>
          </p:cNvSpPr>
          <p:nvPr/>
        </p:nvSpPr>
        <p:spPr>
          <a:xfrm>
            <a:off x="566928" y="382219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454DA2F-F9AD-4F88-9A08-B6B3DA116FBF}"/>
              </a:ext>
            </a:extLst>
          </p:cNvPr>
          <p:cNvSpPr>
            <a:spLocks noGrp="1"/>
          </p:cNvSpPr>
          <p:nvPr/>
        </p:nvSpPr>
        <p:spPr>
          <a:xfrm>
            <a:off x="713232" y="363931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‏النسبة والاعتماد‏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1352DB0-007B-4897-89B5-26D46DE5D985}"/>
              </a:ext>
            </a:extLst>
          </p:cNvPr>
          <p:cNvSpPr>
            <a:spLocks noGrp="1"/>
          </p:cNvSpPr>
          <p:nvPr/>
        </p:nvSpPr>
        <p:spPr>
          <a:xfrm>
            <a:off x="713232" y="415137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تنسب مخرجاً كاملاً لنفسك إن كان مولّداً؛ ولا تنسبه للأداة إن كنت أعدت بناءه.‏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5AAE677-F1C7-4CE6-BAF7-B899ACE27DE0}"/>
              </a:ext>
            </a:extLst>
          </p:cNvPr>
          <p:cNvSpPr>
            <a:spLocks noGrp="1"/>
          </p:cNvSpPr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FDBCC76-9479-4700-A32F-835D078DE0B4}"/>
              </a:ext>
            </a:extLst>
          </p:cNvPr>
          <p:cNvSpPr>
            <a:spLocks noGrp="1"/>
          </p:cNvSpPr>
          <p:nvPr/>
        </p:nvSpPr>
        <p:spPr>
          <a:xfrm>
            <a:off x="11094415" y="530352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2BB3B455-E9B5-4B60-8543-1007540443ED}"/>
              </a:ext>
            </a:extLst>
          </p:cNvPr>
          <p:cNvSpPr>
            <a:spLocks noGrp="1"/>
          </p:cNvSpPr>
          <p:nvPr/>
        </p:nvSpPr>
        <p:spPr>
          <a:xfrm>
            <a:off x="11094415" y="53309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7A43DDC-9E6F-4083-9B81-9C13EAE5835A}"/>
              </a:ext>
            </a:extLst>
          </p:cNvPr>
          <p:cNvSpPr>
            <a:spLocks noGrp="1"/>
          </p:cNvSpPr>
          <p:nvPr/>
        </p:nvSpPr>
        <p:spPr>
          <a:xfrm>
            <a:off x="749808" y="523036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‏الأصل: المخرج مسودة تملك أنت مسؤوليتها بعد المراجعة والتعديل الجوهري.‏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867583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B23A113-AB71-4E53-9897-EA344CEE6F2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0380EA3-790A-4FC4-9DCE-267F0A23D1B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‏مقترح للفريق · ورقة عمل‏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F3A09AD-C47A-4841-9292-70080D8F02B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‏نموذج سياسة استخدام مبسّطة‏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5CFA9A5-3613-470D-B30B-16B3C4255A6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8EF73CA-E2B5-49CC-BCA2-EF4497AE8C61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1C5B940-BF63-4738-88AB-E2509BE44299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‏ثمانية بنود يمكن لأي إدارة اعتمادها كسياسة داخلية أولية.‏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35F533A-8250-485A-9FBA-14B3A35AFF61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F449E5A-75CF-4BEC-9D4A-CB13579C5FF5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227AD3F-91A0-48F8-A09E-DF2E282B868B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‏نستخدم فقط الأدوات المعتمدة رسمياً من الجهة.‏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C41850A-084C-4327-AE16-C78A8A9BBE5C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D67F0ED-9F0D-4BC6-B9B8-26F861CEE758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A3CC34-1BF4-42C5-8EDD-6185D08EE0EC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نُدخل بيانات مصنّفة مقيّدة أو سرية في أي أداة خارجية.‏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C4A1F9F-0521-4D4A-95C3-D10BCA8E35E1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6DBF6F9-0DD6-4E77-B117-07C7F0C6D88C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353A1CD-EDE1-46F2-BF82-5B9D9636F03B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‏نُخفي هوية أي بيانات قبل استخدامها للسياق.‏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43457C9-6CE5-4CF9-9F7C-A6C159EBDD17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4815A54-7195-4B52-8531-370A94DD2C3F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95214A9-E404-42A0-95FB-0C89FE1C0394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‏كل مخرج يمرّ بمراجعة بشرية موثّقة قبل الاعتماد.‏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9114F71-A309-4310-AC2D-0B421C8AE9F4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583A6A5-99AC-476E-A54A-9F057D4B4E93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3672E3B-7B3A-4914-9E89-82045F592F61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‏نُفصح عن استخدام الذكاء الاصطناعي في المحتوى المنشور.‏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2C017DE1-C37B-4B00-95EE-12C6DEAC6AA9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388713F-261F-45F1-B7A2-5D4AD6236EC9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B264122-DA01-44C0-BCEC-088307B26A2C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‏نتحقّق من كل رقم ومرجع قبل الإدراج في أي وثيقة رسمية.‏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EEDD0BD-28C7-453F-A97F-29E6D75E3B92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A44A480-6013-49D3-90FD-B6AF650BA0EF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9A0EB61-0887-4267-9718-0D00CE9C96DF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‏نصنّف كل مهمة إلى أخضر أو أصفر أو أحمر قبل البدء.‏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BE3ADE9-C9FB-4DBC-9F69-319043AC3F9F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B7DDC772-1791-4325-B568-DD75E5B60A75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6517CD3-71C7-4519-A600-BA79692926AA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‏نبلّغ عن أي حادثة تسرّب بيانات فوراً وفق إجراءات الجهة.‏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9737717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6375EB-63D6-4541-A239-EA18A1E4215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3CA899A-0294-49A8-A351-34575CE5166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الخامس  ·  الاستخدام الآمن والمسؤول‏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6F814D-0765-48E7-B8FC-3696FA10124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‏سيناريوهات للنقاش‏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339974-4033-4D3E-989F-E5037E71A5B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9EDD5F-05AD-43CC-8F54-81BF7DE6114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ED14D07-1C68-422C-8722-F2CBA67443A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 حالات واقعية — ما القرار الصحيح في كل منها؟‏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BF49C97-24A4-44B5-ADE5-2CEA652B0F1C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ADA9EEC-2D87-486B-9E3D-AE33DBACAF0A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FB9A389-AF58-4F9C-8E7F-63799B458E87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585D44-0F66-4EF9-B39D-43B0847762BD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الأول‏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E7F356B-9D96-46F7-8D1B-44921DF83C54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‏زميل يرفع ملف قائمة موظفي الإدارة إلى مساعد ذكي ليطلب تحليل توزيع الأعمار. هل هذا مقبول؟ ولماذا؟‏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B8A8226-3D53-447D-9F10-3C609FB69F28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C086CDF-BC81-43E8-ACCE-C83BD7980F48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53E2137-85CA-4399-AE80-8BDA67B18EA2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CB32672-FBFD-44DC-9853-09391313A1B9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الثاني‏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CE83DBE-3F9F-44EB-A1FD-55F4C2DBBAFC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‏موظف يستخدم أداة تفريغ صوتي في اجتماع دون إبلاغ الحاضرين. ما الإشكال الأخلاقي والنظامي؟‏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D6EFD4A-32F9-4E74-B7ED-340530A41B10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BCD2BBF-7133-44B1-837A-DF9D390DC70D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D42334D-47E0-47B3-B756-5348025C5E6F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A65B64B-C1DD-41C7-9537-CA141102DF1C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‏السيناريو الثالث‏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5F00BCF-A84F-4833-A604-22D96A57C7EE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‏مذكرة أعدّها مساعد ذكي رُفعت للاعتماد وفيها رقم إحصائي غير متحقَّق منه. من المسؤول؟‏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D7895D9-E359-4D8B-9743-780A4C4F88B3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9E40BC5-BD30-4BEA-A7CF-190F5BD32F84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CC77155-1707-404F-9F62-C18848253761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B87A9E4-A5DD-4DC8-9843-97483FED9350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‏السيناريو الرابع‏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3339D76-B8FE-4FB0-82FC-518E82800977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‏إدارة تنشر مقالاً كاملاً على حساب الجهة مولّداً بالذكاء الاصطناعي دون إفصاح ودون مراجعة. ما المخاطر؟‏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CD872ED-18CF-4776-9AF2-722BD75A4D2E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9EBF8CC-3972-4E26-8649-B07C3AB31F75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B937351-1BB4-48BA-AC0F-451AE9A9ACC1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E8419B7-7C12-4679-AD30-A60DD317DDF7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‏ناقش كل سيناريو في مجموعتك: ما الخطأ؟ ما البديل الصحيح؟ ما البند الوقائي؟‏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271406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9737F0-5363-48DD-8784-2424C05CB3D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E259D52-CFDA-4C2D-BEF3-14C9A1096FF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‏تمرين ٧ · المحور الخامس‏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3D7613-D62B-486A-A942-3DB3D62BB2B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‏تصنيف الحالات واتخاذ القرار‏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55E5B6C-642E-44C5-B24B-EA9D5F6BC4CE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7C9B486-6950-4DD2-8310-2D0AEECB42E1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15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9AE1B85-B74F-4503-8C6E-A01B6663035A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A31175A-22C3-418F-B09B-77250CE6B173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 حالات استخدام من بيئة العمل الحكومية — صنّفها واتخذ قراراً مبرّراً لكل منها.‏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C073C8D-A558-4ECB-9991-B9E9AE11D6AD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4BB0F66-9888-4B7B-95A0-CCC7B427D7A5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DC5F042-D8C3-4E47-9ADC-23FD8D6ED5B2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E6764AB-C2FE-4F92-B745-89635C80B058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‏اقرأ الحالات الست في ورقة التمرين.‏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E5B227D-E4A0-434D-984A-6E77B03A9406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95A2866-A21F-4127-A56E-7ACFAC3EB8CF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13A5BEB-5BE8-402C-8B65-810742296DA3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تصنيف البيانات لكل حالة: عام / داخلي / مقيّد / سري.‏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613BAC4-A575-40FA-ACE5-23F0C83C93C1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E851BE5-7908-4AC1-BAAA-91B4EA1A6C52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2D701F5-C398-4A59-AF32-F0B4C3FFD9C6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‏حدّد مستوى المخاطر: أخضر / أصفر / أحمر.‏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1A345EAC-D68A-41E6-A00F-65EE9B38C7C1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9D1D700-A0CD-4301-BBEC-6ADFC56067DA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245CB7C5-08DC-490D-81B1-41D9CCD1CBD6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‏اتخذ القرار: نستخدم، نستخدم بشروط، لا نستخدم — مع ذكر الشرط أو السبب.‏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5CC3C40-1AE1-47AF-9940-66D9C76B497B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FB26FCA-137C-4843-A663-9510619A7600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745B235-8072-4728-B043-C248C4F065A4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‏اقترح بديلاً آمناً للحالات التي رفضتها (إخفاء هوية، بيانات وهمية، أداة معتمدة).‏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502E642-77E8-47C7-AB33-739C05C784AB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D13F728-7864-456C-8281-8639FDB73541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مصفوفة قرار من ست صفوف تصلح كمرجع سريع في عملك اليومي.‏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0571450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F883FA-7579-4664-A124-8D73A704A51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A50FA4-183B-4B54-BA33-AF982F4589F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‏راجع نفسك‏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048A6A-6747-4258-9549-4B2943EE118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‏خلاصة المحور الخامس‏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086165A-C31D-435A-8B78-B46D99E00FF2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384C4D2-4766-4EB3-9D19-A47D85BA7D2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F677586-E5F4-4CB4-8A42-F174EDC4BF4A}"/>
              </a:ext>
            </a:extLst>
          </p:cNvPr>
          <p:cNvSpPr>
            <a:spLocks noGrp="1"/>
          </p:cNvSpPr>
          <p:nvPr/>
        </p:nvSpPr>
        <p:spPr>
          <a:xfrm>
            <a:off x="618728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5CC4E1A-466D-43CF-9970-132C646A76E9}"/>
              </a:ext>
            </a:extLst>
          </p:cNvPr>
          <p:cNvSpPr>
            <a:spLocks noGrp="1"/>
          </p:cNvSpPr>
          <p:nvPr/>
        </p:nvSpPr>
        <p:spPr>
          <a:xfrm>
            <a:off x="11240719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DAA34E4-EA4D-46C1-9EF3-DA847E427F38}"/>
              </a:ext>
            </a:extLst>
          </p:cNvPr>
          <p:cNvSpPr>
            <a:spLocks noGrp="1"/>
          </p:cNvSpPr>
          <p:nvPr/>
        </p:nvSpPr>
        <p:spPr>
          <a:xfrm>
            <a:off x="633359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‏أذكر ست فئات بيانات لا تُدخل في أي أداة خارجية.‏</a:t>
            </a:r>
            <a:endParaRPr sz="15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487649C-DBE8-495E-92D8-7719708631D7}"/>
              </a:ext>
            </a:extLst>
          </p:cNvPr>
          <p:cNvSpPr>
            <a:spLocks noGrp="1"/>
          </p:cNvSpPr>
          <p:nvPr/>
        </p:nvSpPr>
        <p:spPr>
          <a:xfrm>
            <a:off x="566928" y="24825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207B793-6A72-4646-824C-43D5248ED6F0}"/>
              </a:ext>
            </a:extLst>
          </p:cNvPr>
          <p:cNvSpPr>
            <a:spLocks noGrp="1"/>
          </p:cNvSpPr>
          <p:nvPr/>
        </p:nvSpPr>
        <p:spPr>
          <a:xfrm>
            <a:off x="5620360" y="2743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BED611-3065-4BB1-B185-7DA90CBC062C}"/>
              </a:ext>
            </a:extLst>
          </p:cNvPr>
          <p:cNvSpPr>
            <a:spLocks noGrp="1"/>
          </p:cNvSpPr>
          <p:nvPr/>
        </p:nvSpPr>
        <p:spPr>
          <a:xfrm>
            <a:off x="713232" y="25374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‏أصنّف البيانات إلى عام وداخلي ومقيّد وسري.‏</a:t>
            </a:r>
            <a:endParaRPr sz="15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760F817-5400-4EDE-8CEA-96C8320F7E00}"/>
              </a:ext>
            </a:extLst>
          </p:cNvPr>
          <p:cNvSpPr>
            <a:spLocks noGrp="1"/>
          </p:cNvSpPr>
          <p:nvPr/>
        </p:nvSpPr>
        <p:spPr>
          <a:xfrm>
            <a:off x="618728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C46633B-D710-4A59-9645-CB88D4CE9B87}"/>
              </a:ext>
            </a:extLst>
          </p:cNvPr>
          <p:cNvSpPr>
            <a:spLocks noGrp="1"/>
          </p:cNvSpPr>
          <p:nvPr/>
        </p:nvSpPr>
        <p:spPr>
          <a:xfrm>
            <a:off x="11240719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A053086-8BDF-43CC-8E17-3311DB6538E0}"/>
              </a:ext>
            </a:extLst>
          </p:cNvPr>
          <p:cNvSpPr>
            <a:spLocks noGrp="1"/>
          </p:cNvSpPr>
          <p:nvPr/>
        </p:nvSpPr>
        <p:spPr>
          <a:xfrm>
            <a:off x="633359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‏أشرح المبادئ الأخلاقية الستة للاستخدام المسؤول.‏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49E7B60-5153-448B-B11D-4D67DF1B1901}"/>
              </a:ext>
            </a:extLst>
          </p:cNvPr>
          <p:cNvSpPr>
            <a:spLocks noGrp="1"/>
          </p:cNvSpPr>
          <p:nvPr/>
        </p:nvSpPr>
        <p:spPr>
          <a:xfrm>
            <a:off x="566928" y="33512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C6230A9-2726-4DC0-A1FC-2065F7E3034B}"/>
              </a:ext>
            </a:extLst>
          </p:cNvPr>
          <p:cNvSpPr>
            <a:spLocks noGrp="1"/>
          </p:cNvSpPr>
          <p:nvPr/>
        </p:nvSpPr>
        <p:spPr>
          <a:xfrm>
            <a:off x="5620360" y="36118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E680FB4-ADD8-4050-83CD-383038A58B8C}"/>
              </a:ext>
            </a:extLst>
          </p:cNvPr>
          <p:cNvSpPr>
            <a:spLocks noGrp="1"/>
          </p:cNvSpPr>
          <p:nvPr/>
        </p:nvSpPr>
        <p:spPr>
          <a:xfrm>
            <a:off x="713232" y="34061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متى يجب الإفصاح عن استخدام الذكاء الاصطناعي.‏</a:t>
            </a:r>
            <a:endParaRPr sz="15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F640C5F-7A6C-4F8A-9249-ECD789A0FB91}"/>
              </a:ext>
            </a:extLst>
          </p:cNvPr>
          <p:cNvSpPr>
            <a:spLocks noGrp="1"/>
          </p:cNvSpPr>
          <p:nvPr/>
        </p:nvSpPr>
        <p:spPr>
          <a:xfrm>
            <a:off x="618728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4601C49-5464-40E6-B4B8-9B9C342282BE}"/>
              </a:ext>
            </a:extLst>
          </p:cNvPr>
          <p:cNvSpPr>
            <a:spLocks noGrp="1"/>
          </p:cNvSpPr>
          <p:nvPr/>
        </p:nvSpPr>
        <p:spPr>
          <a:xfrm>
            <a:off x="11240719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DEAFAAE-4258-4A7C-A8A0-E6DBE8246397}"/>
              </a:ext>
            </a:extLst>
          </p:cNvPr>
          <p:cNvSpPr>
            <a:spLocks noGrp="1"/>
          </p:cNvSpPr>
          <p:nvPr/>
        </p:nvSpPr>
        <p:spPr>
          <a:xfrm>
            <a:off x="633359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‏أطبّق مبدأ التقليل وإخفاء الهوية عملياً.‏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9C312E88-6778-43D8-8642-E8910C34F739}"/>
              </a:ext>
            </a:extLst>
          </p:cNvPr>
          <p:cNvSpPr>
            <a:spLocks noGrp="1"/>
          </p:cNvSpPr>
          <p:nvPr/>
        </p:nvSpPr>
        <p:spPr>
          <a:xfrm>
            <a:off x="566928" y="421995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9C17490-768D-4ABF-8B00-A35F31602897}"/>
              </a:ext>
            </a:extLst>
          </p:cNvPr>
          <p:cNvSpPr>
            <a:spLocks noGrp="1"/>
          </p:cNvSpPr>
          <p:nvPr/>
        </p:nvSpPr>
        <p:spPr>
          <a:xfrm>
            <a:off x="5620360" y="4480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81627874-ECAB-468F-B9C6-85F18EBC6E12}"/>
              </a:ext>
            </a:extLst>
          </p:cNvPr>
          <p:cNvSpPr>
            <a:spLocks noGrp="1"/>
          </p:cNvSpPr>
          <p:nvPr/>
        </p:nvSpPr>
        <p:spPr>
          <a:xfrm>
            <a:off x="713232" y="427482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‏أعرف أن المسؤولية بشرية ولا تُفوَّض للأداة.‏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503279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644C608-078A-4C6F-B445-FD780412AA2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الخامس  ·  86‏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3B142BE-1F73-4F4C-9C51-00FDDA889B43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F75170C-3EB9-4AA8-A0DB-8B1AB3733CD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الخامس‏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594972D-A783-4ECE-8764-DF11193845E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65FA720-64E9-48E0-9EE4-9C5B6E5DE91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5B3DF71-6269-45F5-80EE-E11F5C0FC690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BB8ECAC-A659-4396-8B1B-108EB299CD43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ما الإجراء الصحيح إن احتجت سياقاً يتضمن أسماء موظفين؟‏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151AA18-29A1-44DF-AD5D-3F78AB69E2D9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6FF2BBE-56B4-46C0-9F8F-3B49B11D20F7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أدخلها كما هي للدقة‏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EDCDA90-41BE-401A-972A-194C7DB20108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87230C8-A414-4DC4-ABBE-C101D03B242F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استبدلها برموز وبيانات وهمية‏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A051EDF-D9A8-45B2-9430-EBA7BD00B8E6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F7CECB7-2486-4441-96C0-78E1539049BE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أدخل الأسماء الأولى فقط‏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97521B7-1BF1-48A3-854D-59841902A488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972EB35-4807-476D-83CF-3D0F345C7737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من يتحمّل مسؤولية خطأ في مذكرة أعدّها مساعد ذكي واعتُمدت؟‏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1A5C2B7-4012-4496-8085-B89ECDD58C4E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010F7BD-8CE8-43E3-9AF4-CA727C91AA1B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مزوّد الأداة‏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36957EE-7C39-4DD3-BDB7-2594B38B56D2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B21BA6F-795A-45BE-B53B-299132BFB1EF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الموظف الذي أعدّها والمعتمِد‏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A5648B8F-BAA9-4850-9108-4EE4D571FC04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FEFD12B-B5E4-4736-8029-46DC777B0759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لا أحد — الخطأ تقني‏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CBC447B-A3D2-4C22-A2FD-7E09380EFCE1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E2D0F24-22AC-4D0F-B84E-10BFA8BE5A49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المحتوى المنشور للجمهور والمولّد بالذكاء الاصطناعي:‏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326ABD4-E5DF-4C86-9D78-F7286D9C38F0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3D043BE-938D-476C-89BC-8C9DEC767AB1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لا يحتاج أي إجراء‏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520382B-628D-4C63-91BB-C41D1E0A0245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168F412-5C69-4D40-9A97-76A601C840C5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يُفصح عنه ويُراجع بشرياً‏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2977EB5-C65A-4853-9DAE-1627101B8D64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C594DF0-C667-4B5E-B4DE-DE2580BD3C97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يُنشر ثم يُراجع لاحقاً‏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4612543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AED41D5F-3463-44FB-AF4D-7E6C290EE720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2A7E351-889D-40F5-9875-A3EF813D56E7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C8D0D89-2102-4C93-84D0-47FF8310847B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940CB5-3D06-42F4-8188-A501753A66E4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‏توظيف الذكاء الاصطناعي في المهام اليومية‏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C53CA68-4ECC-43A3-9D86-CBE0087F7DE6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‏من المعرفة إلى العادة: كيف تحوّل ما تعلّمته إلى أثر ملموس على وقتك وجودة عملك؟‏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C6EB11B-D589-4657-98A3-84B5EF53E0DA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EACBF1A-5D2B-4095-80C5-4678C39E3B90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‏منهجية اكتشاف الفرص‏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BB772CE-FC2A-4465-88B3-C800EEA58B0B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2A37DB4-2A8B-4DA9-8684-08E352350778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‏مصفوفة الأولوية‏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68D6821-2DD3-4B9C-BD71-AFABC087ABA3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1367C0-BD61-408E-9C62-CF00FAEA9078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‏قياس الأثر‏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623667-BD04-412E-AFD5-60304BE58FC5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16A27B7-DDCD-462F-AF13-D60962D17A28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‏خطة الثلاثين يوماً‏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2357667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8EC0E3C-BC88-438E-9519-CC4EC6472F98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‏الفكرة المركزية‏</a:t>
            </a:r>
            <a:endParaRPr sz="15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65EB32-D006-4406-A64F-F3A6EF22A556}"/>
              </a:ext>
            </a:extLst>
          </p:cNvPr>
          <p:cNvSpPr>
            <a:spLocks noGrp="1"/>
          </p:cNvSpPr>
          <p:nvPr/>
        </p:nvSpPr>
        <p:spPr>
          <a:xfrm>
            <a:off x="566928" y="1965960"/>
            <a:ext cx="11057839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‏لا تبدأ من الأداة —</a:t>
            </a:r>
            <a:endParaRPr sz="3800"/>
          </a:p>
          <a:p>
            <a:pPr marL="0" indent="0" algn="r">
              <a:lnSpc>
                <a:spcPts val="5000"/>
              </a:lnSpc>
              <a:buNone/>
            </a:pPr>
            <a:r>
              <a:rPr sz="38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ابدأ من المهمة التي تستنزف وقتك.‏</a:t>
            </a:r>
            <a:endParaRPr sz="38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763081D-5A2B-4E7E-82F1-142CDFA22776}"/>
              </a:ext>
            </a:extLst>
          </p:cNvPr>
          <p:cNvSpPr>
            <a:spLocks noGrp="1"/>
          </p:cNvSpPr>
          <p:nvPr/>
        </p:nvSpPr>
        <p:spPr>
          <a:xfrm>
            <a:off x="566928" y="4315968"/>
            <a:ext cx="9960559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sz="1800">
                <a:solidFill>
                  <a:srgbClr val="C2C9E6"/>
                </a:solidFill>
                <a:latin typeface="Markazi Text"/>
                <a:ea typeface="Markazi Text"/>
                <a:cs typeface="Markazi Text"/>
              </a:rPr>
              <a:t>‏أكثر من يفشل في تبنّي هذه الأدوات هو من يبحث عن «ماذا أفعل بها»؛ وأكثر من ينجح هو من يبدأ من مهمة متكررة مزعجة ويسأل: هل يمكن اختصارها؟‏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253048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C4B8CD9-CA03-45E4-A7F3-B446063B170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89‏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C474F3F-93BF-4B77-A85A-E4D3AE458DB3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48B3A9-1585-4DF1-A5C1-C779C838425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‏منهجية اكتشاف فرص الاستخدام‏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A833801-472D-4E86-AE7A-E1DC11F2044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0565246-EBA4-4310-9C2F-FFB90D6AE216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AAFFB5-4CE5-4428-B27F-861A1BB6F9FA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‏خمس خطوات تنتقل بك من الحماس العام إلى فرصة محددة قابلة للتنفيذ.‏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5C7D182-13FF-4D4F-B6AA-C055DBCDCC0D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C54A498-8AC7-490E-9A14-AAB72DA956B1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66D394B-16D9-4416-9D90-1769892631C2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00D48E8-D8ED-4210-983F-2820F4C05B3B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‏حصر‏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02F89E1-F1AC-4D4E-939D-B135BCA1CC3B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‏اكتب كل مهامك المتكررة خلال أسبوع عمل نموذجي.‏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176E947-2341-407C-9E1F-752476748DE9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D41BF09C-410D-4137-8103-2D158A205D83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12EB035-B594-4797-8B55-6EE05C64EB95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D127F81-E2B8-423C-A61D-3F3F2814AFE2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‏تقييم‏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EBE0837-0008-4E32-9BCC-45F61BF2AA69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‏قدّر لكل مهمة: التكرار، الوقت المستهلك، ومستوى المخاطر.‏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69D9D99-44F5-49D1-95A9-709E373AFF28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AA0FC96-B1C4-4C8D-80B2-A4F9BC3BE66F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955A5E0-BC8A-44CF-B695-98AB5C607DB8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9FF8BEA-2D57-457A-8744-1002BDECC471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‏اختيار‏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D523ACF-2C38-4B10-A67C-EBE73FC8C60D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‏رتّب المهام على مصفوفة الأثر × السهولة واختر أعلاها.‏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9F4DA6C-910E-4BA4-BBEB-32D70367483B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4A180254-DB8B-4ADE-9EB9-FF7AAC987BC9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2870C0B-280F-478A-AEA3-4A80EA6A4574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5353AFC-6161-486F-A43C-D9FF4A9557D8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‏تجربة‏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0718B23-4615-4FF6-86B9-5BEB44B52B8C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‏جرّب على المهمة المختارة أسبوعاً كاملاً وسجّل النتائج.‏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60C735A7-F451-4E34-8F19-131E4A4C1916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600200"/>
          </a:xfrm>
          <a:prstGeom prst="roundRect">
            <a:avLst>
              <a:gd name="adj" fmla="val 5714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02FEADE-6759-4A07-B3A4-4B5B8D2E3A5A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913E454-7AB3-4156-A6F3-F9061406556F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003F4D3-DE7D-437A-A60B-B01B956C7EE9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‏تعميم‏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F5A4DE0-88E0-461C-8E7E-26B2F4F1B4C8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7040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‏وثّق الأمر الناجح وشاركه مع فريقك ليستفيد منه.‏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903B681F-BD98-42A4-986D-277CC30CED82}"/>
              </a:ext>
            </a:extLst>
          </p:cNvPr>
          <p:cNvSpPr>
            <a:spLocks noGrp="1"/>
          </p:cNvSpPr>
          <p:nvPr/>
        </p:nvSpPr>
        <p:spPr>
          <a:xfrm>
            <a:off x="566928" y="410565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2AC765FB-6C65-4630-94D5-582728639A35}"/>
              </a:ext>
            </a:extLst>
          </p:cNvPr>
          <p:cNvSpPr>
            <a:spLocks noGrp="1"/>
          </p:cNvSpPr>
          <p:nvPr/>
        </p:nvSpPr>
        <p:spPr>
          <a:xfrm>
            <a:off x="11094415" y="422452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527D663-CD60-460F-B7EA-2526C5921E48}"/>
              </a:ext>
            </a:extLst>
          </p:cNvPr>
          <p:cNvSpPr>
            <a:spLocks noGrp="1"/>
          </p:cNvSpPr>
          <p:nvPr/>
        </p:nvSpPr>
        <p:spPr>
          <a:xfrm>
            <a:off x="11094415" y="425196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0F30D928-8D2C-45D5-A9A6-DD19D689A9C5}"/>
              </a:ext>
            </a:extLst>
          </p:cNvPr>
          <p:cNvSpPr>
            <a:spLocks noGrp="1"/>
          </p:cNvSpPr>
          <p:nvPr/>
        </p:nvSpPr>
        <p:spPr>
          <a:xfrm>
            <a:off x="749808" y="415137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‏ابدأ بمهمة واحدة فقط — التبنّي الناجح تدريجي لا شامل.‏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4200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042547-4601-4BA8-8ED0-39B9779403B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3A60336-2FFA-4A13-B3B1-619D63C9EEAA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10C7CBB-F069-41B3-AC77-680B84FAFC5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‏خريطة مهامك الأسبوعية‏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4ED5BF3-FEB2-40ED-8F82-9E8797DB464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3056E50-EEA7-40D1-8EF0-95388ED86CD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C3C506-6DEC-4CAD-8A5A-597F350CAB50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‏صنّف مهامك إلى ست عائلات ثم ابحث عن الفرص داخل كل عائلة.‏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F25D81A-0320-46A0-9AFE-4BAF5E4BE0DF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785E822-A3A6-4D19-A953-98E4DAAD8DC0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5E69814-453F-45CC-A2E3-AEA72916F921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8E99104-B7E9-46F4-9505-BCBC76F29824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‏الكتابة والمراسلات‏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A04641-8FAA-481B-84EF-33A395DC2E0C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‏الخطابات، المذكرات، الردود، التعاميم، محتوى التواصل الداخلي.‏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CD488AA-86C6-4167-9BD6-A7B635C1E601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37DFB7F-C611-4373-A118-498A2FB50583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E3438F0E-7500-40CC-A678-C21B2DC3AAB9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9CF7343-9250-471E-8077-09B9471F6873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‏القراءة والتلخيص‏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F984827-8F22-4775-9F3D-0F095A94DF63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‏التقارير الواردة، الدراسات، المحاضر، العروض، الوثائق الطويلة.‏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8358D0C-EA6D-4C6D-AF19-D9B54628EC2B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DCA2393-03B1-44B3-A101-E4F67131352A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999972F-CBB3-415A-8DC3-AB6BE340E8B0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E554196-6CAE-478E-818D-0FCD76C013FF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‏التنظيم والتخطيط‏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A62E826-B07A-4225-B94B-C450F4403702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‏الأجندات، خطط العمل، قوائم المهام، التقويم، المتابعة.‏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BDC5F69-F0F9-489E-AB1F-6D3173C70E99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94BB4FB-0C46-46AB-8FF4-E7AE50746A93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0B096B7-DB78-4614-BD45-DE6577FFCEFE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7FBCE10-EB84-448A-A495-3358D614BDFC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‏البيانات والجداول‏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0DF5330-B2D4-4919-AC06-A28C8E7EB9F0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‏التقارير الدورية، الإحصاءات، التصنيف، المقارنة، الاستخلاص.‏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2B62E21-3164-4D60-A2A2-F0ED6BB98215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CEE1B5C-34D5-487E-8932-3ECDDF8460F6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BFFBA46-F75C-4EBD-8C93-A3E8A5299703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BF346F-81AD-4433-8624-1B723A067656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‏الاجتماعات‏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FA97FAB1-CDB7-48BD-BBF2-A7BB1CC88006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‏التحضير، التفريغ، المحاضر، القرارات، رسائل المتابعة.‏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658F8E58-C065-4471-99DF-598A4A477B7B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28DF9160-666D-48A2-B9A3-8ABF486B1295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E48616E9-8010-4705-8AF8-BADCDD6E944A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4FE39F-2370-4C7A-9424-E2C39451E189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‏التواصل مع المستفيدين‏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7C5B615-BC0B-4FAA-99F5-701317D10A72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‏الردود المتكررة، الأسئلة الشائعة، أدلة الخدمة، رسائل الإشعار.‏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0143789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39091AD-B427-4B98-83CE-49F4FF5E88CC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AB6FBD-B66F-4A6F-863C-5653BE9F8A00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9ACACF-B274-4828-BA88-12667646F961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‏معايير اختيار المهمة المناسبة‏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02BDB4E-EFDF-41A2-B9C3-BCD312DC5300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6CEC3EB-3583-44FB-9683-2DF234E8FB90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22A1BDF-02A3-4F03-A12B-882A1B4333AA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‏أربعة معايير تميّز الفرصة الجيدة عن المضيعة للوقت.‏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B0AA731-85A7-471A-80E5-6C0F0EFCAF16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B5784EE-EA7C-4C4B-B514-872C7D76ACB0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4F87D05-E9D3-40CE-BE7C-E02CAA7DDF0E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63EF38E-CF0E-4286-989B-78BF573F6A8E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‏التكرار العالي‏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1954F30-27AC-41D0-8175-81F8A175D0F1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تتكرر أسبوعياً أو يومياً — العائد يتضاعف مع كل تكرار، والتعلّم يتراكم.‏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D93A36E-9895-4697-9FC0-41279B96023F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5FF5624-19CD-4112-ADA1-234238F40B29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20F0820-77AC-4B83-91FE-33BFBB31314E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0C54D9C-A5A4-4A4B-9E02-76772C2596E5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‏الوقت المستهلك‏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972DC1-EFF9-4EEC-888D-B9AD54F18BE9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تستهلك وقتاً أطول مما تستحق مقارنةً بقيمتها الفعلية.‏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C8185C9-2058-4ABB-8A1D-FF9752A7F224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3BFCFC7-FFA1-4403-8673-B5B26B6D5B88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9765A36-6761-4AFC-BC32-9E84B617725A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EF382DB-86B2-4030-901E-C04D59ABAADD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‏المخاطر المنخفضة‏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EE52FF7-55AC-4E98-8AFB-B51AFA1896F2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‏خطؤها قابل للاكتشاف والتصحيح قبل أن يصل لأي جهة أو قرار.‏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062A191-1CD2-4568-B303-F1DCC673B8BB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7BD70E5-158B-4BE2-90F6-4C3A3C1B89E7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590ADE2-3E8F-4A23-91E9-5CC0EDEAFE77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F2E62F5-4D0F-4CAD-B926-D9088F9DF3BD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‏قابلية الوصف‏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DB40F94-04B9-4D36-B7F4-36A9B8B9D4DA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‏تستطيع شرحها لزميل جديد في خمس جمل — إن استطعت، يستطيع النموذج تنفيذها.‏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6C244EF-37CB-41C9-88D5-2B5A6F333846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E2F3163-0CAF-48EA-85B2-BCAC16A25CB3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1E1193C-A817-406C-B4EE-FB411D91008D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A7553E3-7F9A-45DC-B209-FE8AB7EF5EF2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‏المهمة المثالية للبداية: متكررة، مستهلكة للوقت، منخفضة المخاطر، وسهلة الوصف.‏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649328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F0DF808-4EB7-4B4D-A667-332E7033003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747C17-5DBA-4F7D-AD75-93981E3268F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CD81AAA-FAC9-4F86-935F-AEB06D1BD150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‏مصفوفة الأولوية: الأثر × السهولة‏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7CC5C4D-69FB-49D5-B5E6-1431A7BA11F3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1574DFA-9FCD-4A5E-BB6C-29B5E968C1D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0746DF-406E-4C05-B8FC-24D50D6B1E48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‏رتّب فرصك بدل تجريبها كلها في وقت واحد.‏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88FDF43-E2FE-4522-BD01-E8640314E70B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0658A88-707B-427B-9B35-EF184BB8808C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0FBF325-14CF-4C9F-8A62-01D01AF0F784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9FF8B54-6EFA-464F-AAA6-C8003497DCAF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‏ابدأ هنا — أثر عالٍ وسهولة عالية‏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9EF4D05-D887-45E2-B5AA-255279C03CCC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A2C1301-50BB-41FD-81FC-10F4B1B703C7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‏صياغة الردود المتكررة على الاستفسارات.‏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675EE45-84CE-4809-996B-4A7041163299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4659044-D956-4BBA-885D-AD24D1EF4850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‏تلخيص التقارير الواردة قبل قراءتها كاملة.‏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FB54442-030A-4A11-BD67-13D3C3C0D314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4DAFCDE-FCB3-4D0B-9B54-BA08627403B9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‏تحويل ملاحظات الاجتماعات إلى محاضر.‏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218CC99-78C8-4E3E-9058-D89E10083AD8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7E403CF-BD91-4513-9EEE-A8914F78E7E7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‏إعادة صياغة المسودات وضبط نبرتها.‏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C873601-A70D-44D9-837A-7A7F95AD7F3B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8B1021C-CC3D-4F48-9B0A-58426EDC6CBE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‏توليد بدائل للعناوين والصياغات.‏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649D2CB-025A-46D4-A1B8-8AD06DE4FEA3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9B8F35E-EFED-493C-8ED6-817141A1BDA6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F84FC67-11CF-4B8C-A208-69051095BF9D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78C54F-B26D-4DD5-A879-835040B5B9E1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‏أجّلها — أثر عالٍ وصعوبة عالية‏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6DFAD53-2BDA-478B-BE85-661DA9AFA373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6258A6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C18EBD4-584D-4511-9764-F91ED9E24F7E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‏أتمتة إجراء كامل عبر عدة أنظمة.‏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45FE311F-7B11-40CF-BC89-C9F9066DE8E7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6258A6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7C7CB70-8CE0-42B7-A7AD-AB227FAF5F3D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‏تحليل بيانات مصنّفة أو حساسة.‏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8B13934C-D0BC-4DF7-9235-FF5604929960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6258A6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98E72A5-2E86-478A-9F2D-C1CF3FF23B27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‏إنتاج محتوى رسمي يُنشر دون مراجعة.‏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BC15B21F-E6B0-4ACA-A1B3-3FC81CB85904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6258A6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86C8E3C-2AB1-426F-8EEB-09D9BC9384CC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‏مهام تتطلب ربطاً بأنظمة الجهة الداخلية.‏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61EB48D-0CB7-4D36-B0B4-0C049B334B8F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6258A6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F0D7589-AC2E-4793-A4B8-1F3F7A80E264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‏ما يحتاج موافقات وسياسات لم تُعتمد بعد.‏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CACB1D70-4AD8-457B-9E39-0E21484C0CD9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7C1EAD9-CDEA-4135-8B35-32F859153A72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64432D1-AD79-48D7-B1D3-D08DEA00C9C9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B85EF828-C1EB-4683-97DE-ED014F662AB8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‏الفرص منخفضة الأثر — مهما كانت سهلة — تُترك تماماً في المرحلة الأولى.‏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395778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CDACD23-B812-4F85-AAD6-4B3D3F58BD26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07DAF1-0241-4A47-AD60-E9CBF91408C7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17C4F66-05D2-410E-B429-C2D7E96C37FC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‏أمثلة حسب طبيعة الوظيفة‏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2CCE84E-910E-4A20-8F3C-6B1AE195C07C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8B5F193-D0FC-4E14-86D8-227AC6258DF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FD4C618-99B4-46BD-914D-B1AC86601CDC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‏ابحث عن وظيفتك أو أقربها، وابدأ من الفرصة المقترحة.‏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="566928" y="1883664"/>
          <a:ext cx="11064240" cy="35844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‏المجال الوظيفي‏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‏فرصة سريعة للبدء‏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‏الوقت المتوقع توفيره‏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‏الموارد البشرية‏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‏صياغة إعلانات وظيفية وردود متكررة على استفسارات الموظفين‏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‏٢–٣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‏المالية والمشتريات‏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‏تلخيص كراسات الشروط ومقارنة العروض في جدول موحّد‏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‏الاتصال المؤسسي‏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‏توليد بدائل للعناوين وصياغة محتوى داخلي ومسودات إعلانات‏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‏خدمة المستفيدين‏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‏بناء أسئلة شائعة وصياغة ردود موحّدة النبرة‏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‏٣–٥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‏التخطيط والمتابعة‏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التقارير الدورية إلى ملخصات تنفيذية موحّدة‏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‏٢–٣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‏الدعم الإداري‏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‏تحويل ملاحظات الاجتماعات إلى محاضر ورسائل متابعة‏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‏٣–٤ ساعات أسبوعياً‏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>
            <a:extLst>
              <a:ext uri="{FF2B5EF4-FFF2-40B4-BE49-F238E27FC236}">
                <a16:creationId xmlns:a16="http://schemas.microsoft.com/office/drawing/2014/main" id="{1E42239B-1FDB-416B-AC6A-EDEE69B71857}"/>
              </a:ext>
            </a:extLst>
          </p:cNvPr>
          <p:cNvSpPr>
            <a:spLocks noGrp="1"/>
          </p:cNvSpPr>
          <p:nvPr/>
        </p:nvSpPr>
        <p:spPr>
          <a:xfrm>
            <a:off x="566928" y="55961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AA87C23-40E5-49D0-BA91-51F0BD4C77DD}"/>
              </a:ext>
            </a:extLst>
          </p:cNvPr>
          <p:cNvSpPr>
            <a:spLocks noGrp="1"/>
          </p:cNvSpPr>
          <p:nvPr/>
        </p:nvSpPr>
        <p:spPr>
          <a:xfrm>
            <a:off x="11094415" y="57150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B31227C-37D5-4E81-A452-B9E0573A4FD4}"/>
              </a:ext>
            </a:extLst>
          </p:cNvPr>
          <p:cNvSpPr>
            <a:spLocks noGrp="1"/>
          </p:cNvSpPr>
          <p:nvPr/>
        </p:nvSpPr>
        <p:spPr>
          <a:xfrm>
            <a:off x="11094415" y="57424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0C1B82D-6998-45C5-9CB0-72596B5CA1B5}"/>
              </a:ext>
            </a:extLst>
          </p:cNvPr>
          <p:cNvSpPr>
            <a:spLocks noGrp="1"/>
          </p:cNvSpPr>
          <p:nvPr/>
        </p:nvSpPr>
        <p:spPr>
          <a:xfrm>
            <a:off x="749808" y="56418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‏الأرقام تقديرية للتخطيط — قِس أثرك الفعلي بنفسك خلال أسبوع التجربة.‏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59885999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531D019-D5A6-4FA9-A6CC-950DA192488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1D3B182-FE61-4DE9-93B9-3DAE7390604D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4AC5A07-EE5E-4765-942C-66B35CA4BE44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‏قياس الأثر‏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6FC6216-E43E-4B66-99D2-B79DCF9EE287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AE35625-2F31-45C5-9CE5-5265982EE46C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322CEA-A7EF-4ADF-9171-71D416DAFF30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لا يُقاس لا يُتبنّى مؤسسياً — قياس بسيط يكفي.‏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C99B9D4-67E2-4FB6-8F5A-C959A0CBF745}"/>
              </a:ext>
            </a:extLst>
          </p:cNvPr>
          <p:cNvSpPr>
            <a:spLocks noGrp="1"/>
          </p:cNvSpPr>
          <p:nvPr/>
        </p:nvSpPr>
        <p:spPr>
          <a:xfrm>
            <a:off x="9530243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748DDBD-F7EC-432B-8B88-B2902E8605CD}"/>
              </a:ext>
            </a:extLst>
          </p:cNvPr>
          <p:cNvSpPr>
            <a:spLocks noGrp="1"/>
          </p:cNvSpPr>
          <p:nvPr/>
        </p:nvSpPr>
        <p:spPr>
          <a:xfrm>
            <a:off x="10294041" y="1947672"/>
            <a:ext cx="566928" cy="566928"/>
          </a:xfrm>
          <a:prstGeom prst="ellipse">
            <a:avLst/>
          </a:prstGeom>
          <a:solidFill>
            <a:srgbClr val="27337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391B34C-C3F3-4D5E-B6A8-809322933C26}"/>
              </a:ext>
            </a:extLst>
          </p:cNvPr>
          <p:cNvSpPr>
            <a:spLocks noGrp="1"/>
          </p:cNvSpPr>
          <p:nvPr/>
        </p:nvSpPr>
        <p:spPr>
          <a:xfrm>
            <a:off x="10294041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9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3D7D3AF-0780-44CD-9FBF-049D81165B91}"/>
              </a:ext>
            </a:extLst>
          </p:cNvPr>
          <p:cNvSpPr>
            <a:spLocks noGrp="1"/>
          </p:cNvSpPr>
          <p:nvPr/>
        </p:nvSpPr>
        <p:spPr>
          <a:xfrm>
            <a:off x="9639971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‏قِس قبل‏</a:t>
            </a:r>
            <a:endParaRPr sz="17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15126C6-9FE0-46DC-BEA5-16D8E05728B9}"/>
              </a:ext>
            </a:extLst>
          </p:cNvPr>
          <p:cNvSpPr>
            <a:spLocks noGrp="1"/>
          </p:cNvSpPr>
          <p:nvPr/>
        </p:nvSpPr>
        <p:spPr>
          <a:xfrm>
            <a:off x="9649115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‏كم دقيقة تستغرق المهمة اليوم؟ سجّل ثلاث مرات وخذ المتوسط.‏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A9C256E-FBFE-4B94-A567-6636B41B9F9D}"/>
              </a:ext>
            </a:extLst>
          </p:cNvPr>
          <p:cNvSpPr>
            <a:spLocks noGrp="1"/>
          </p:cNvSpPr>
          <p:nvPr/>
        </p:nvSpPr>
        <p:spPr>
          <a:xfrm>
            <a:off x="7289414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C12E047-DD94-49A6-A95D-BE363AD6E2A2}"/>
              </a:ext>
            </a:extLst>
          </p:cNvPr>
          <p:cNvSpPr>
            <a:spLocks noGrp="1"/>
          </p:cNvSpPr>
          <p:nvPr/>
        </p:nvSpPr>
        <p:spPr>
          <a:xfrm>
            <a:off x="8053212" y="1947672"/>
            <a:ext cx="566928" cy="566928"/>
          </a:xfrm>
          <a:prstGeom prst="ellipse">
            <a:avLst/>
          </a:prstGeom>
          <a:solidFill>
            <a:srgbClr val="4B4190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6F165B8-08BC-4382-9C45-CEF282C1EBFF}"/>
              </a:ext>
            </a:extLst>
          </p:cNvPr>
          <p:cNvSpPr>
            <a:spLocks noGrp="1"/>
          </p:cNvSpPr>
          <p:nvPr/>
        </p:nvSpPr>
        <p:spPr>
          <a:xfrm>
            <a:off x="8053212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9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EB8AC61-D408-4F50-9D68-DB9ADCFE804B}"/>
              </a:ext>
            </a:extLst>
          </p:cNvPr>
          <p:cNvSpPr>
            <a:spLocks noGrp="1"/>
          </p:cNvSpPr>
          <p:nvPr/>
        </p:nvSpPr>
        <p:spPr>
          <a:xfrm>
            <a:off x="7399142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‏نفّذ‏</a:t>
            </a:r>
            <a:endParaRPr sz="17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0BF2BA6-4A5D-4EDF-B7E7-ED8763C23D1D}"/>
              </a:ext>
            </a:extLst>
          </p:cNvPr>
          <p:cNvSpPr>
            <a:spLocks noGrp="1"/>
          </p:cNvSpPr>
          <p:nvPr/>
        </p:nvSpPr>
        <p:spPr>
          <a:xfrm>
            <a:off x="7408286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‏أنجز المهمة بالأداة أسبوعاً كاملاً بالطريقة الجديدة.‏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D343909-AC05-46FD-BCEB-51148F117DF1}"/>
              </a:ext>
            </a:extLst>
          </p:cNvPr>
          <p:cNvSpPr>
            <a:spLocks noGrp="1"/>
          </p:cNvSpPr>
          <p:nvPr/>
        </p:nvSpPr>
        <p:spPr>
          <a:xfrm>
            <a:off x="5048585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FB84A13-195D-49C1-809B-D1F3F7F84644}"/>
              </a:ext>
            </a:extLst>
          </p:cNvPr>
          <p:cNvSpPr>
            <a:spLocks noGrp="1"/>
          </p:cNvSpPr>
          <p:nvPr/>
        </p:nvSpPr>
        <p:spPr>
          <a:xfrm>
            <a:off x="5812384" y="1947672"/>
            <a:ext cx="566928" cy="566928"/>
          </a:xfrm>
          <a:prstGeom prst="ellipse">
            <a:avLst/>
          </a:prstGeom>
          <a:solidFill>
            <a:srgbClr val="505F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D244327-3E6D-48CD-A056-7C2F9D8D3D87}"/>
              </a:ext>
            </a:extLst>
          </p:cNvPr>
          <p:cNvSpPr>
            <a:spLocks noGrp="1"/>
          </p:cNvSpPr>
          <p:nvPr/>
        </p:nvSpPr>
        <p:spPr>
          <a:xfrm>
            <a:off x="5812384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90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4AFB9C2-4486-4EFA-930A-A7E1BB80B93A}"/>
              </a:ext>
            </a:extLst>
          </p:cNvPr>
          <p:cNvSpPr>
            <a:spLocks noGrp="1"/>
          </p:cNvSpPr>
          <p:nvPr/>
        </p:nvSpPr>
        <p:spPr>
          <a:xfrm>
            <a:off x="5158313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‏قِس بعد‏</a:t>
            </a:r>
            <a:endParaRPr sz="17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9FCD9E1-5DAE-4E43-9DCE-73C1860BD4B3}"/>
              </a:ext>
            </a:extLst>
          </p:cNvPr>
          <p:cNvSpPr>
            <a:spLocks noGrp="1"/>
          </p:cNvSpPr>
          <p:nvPr/>
        </p:nvSpPr>
        <p:spPr>
          <a:xfrm>
            <a:off x="5167457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‏الزمن الجديد شاملاً وقت الصياغة والمراجعة والتصحيح.‏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C451312-96F3-434C-AD77-21FC1720DDBE}"/>
              </a:ext>
            </a:extLst>
          </p:cNvPr>
          <p:cNvSpPr>
            <a:spLocks noGrp="1"/>
          </p:cNvSpPr>
          <p:nvPr/>
        </p:nvSpPr>
        <p:spPr>
          <a:xfrm>
            <a:off x="2807757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291B5A6-1D73-44B5-B3B1-C125C16DB943}"/>
              </a:ext>
            </a:extLst>
          </p:cNvPr>
          <p:cNvSpPr>
            <a:spLocks noGrp="1"/>
          </p:cNvSpPr>
          <p:nvPr/>
        </p:nvSpPr>
        <p:spPr>
          <a:xfrm>
            <a:off x="3571555" y="1947672"/>
            <a:ext cx="566928" cy="566928"/>
          </a:xfrm>
          <a:prstGeom prst="ellipse">
            <a:avLst/>
          </a:prstGeom>
          <a:solidFill>
            <a:srgbClr val="13774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4C7F48C-6CE3-4BDE-8A48-343D60777E4C}"/>
              </a:ext>
            </a:extLst>
          </p:cNvPr>
          <p:cNvSpPr>
            <a:spLocks noGrp="1"/>
          </p:cNvSpPr>
          <p:nvPr/>
        </p:nvSpPr>
        <p:spPr>
          <a:xfrm>
            <a:off x="3571555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9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963CEBA-03A2-4414-9F35-C893EB392A9E}"/>
              </a:ext>
            </a:extLst>
          </p:cNvPr>
          <p:cNvSpPr>
            <a:spLocks noGrp="1"/>
          </p:cNvSpPr>
          <p:nvPr/>
        </p:nvSpPr>
        <p:spPr>
          <a:xfrm>
            <a:off x="2917485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‏قيّم الجودة‏</a:t>
            </a:r>
            <a:endParaRPr sz="17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4412EED-8623-4050-8A34-0ADF9666AA87}"/>
              </a:ext>
            </a:extLst>
          </p:cNvPr>
          <p:cNvSpPr>
            <a:spLocks noGrp="1"/>
          </p:cNvSpPr>
          <p:nvPr/>
        </p:nvSpPr>
        <p:spPr>
          <a:xfrm>
            <a:off x="2926629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‏هل تحسّنت الجودة أم تراجعت؟ لا تحتسب توفيراً على حساب الجودة.‏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C6B0346-EC0C-498D-889E-59A9CCCD8C55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2094525" cy="1783080"/>
          </a:xfrm>
          <a:prstGeom prst="roundRect">
            <a:avLst>
              <a:gd name="adj" fmla="val 5128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C4310E6-808A-4EB0-A100-4A041B42D8A4}"/>
              </a:ext>
            </a:extLst>
          </p:cNvPr>
          <p:cNvSpPr>
            <a:spLocks noGrp="1"/>
          </p:cNvSpPr>
          <p:nvPr/>
        </p:nvSpPr>
        <p:spPr>
          <a:xfrm>
            <a:off x="1330726" y="1947672"/>
            <a:ext cx="566928" cy="566928"/>
          </a:xfrm>
          <a:prstGeom prst="ellipse">
            <a:avLst/>
          </a:prstGeom>
          <a:solidFill>
            <a:srgbClr val="A96B0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DB1F5FD-8447-467A-9416-A3852719C7EC}"/>
              </a:ext>
            </a:extLst>
          </p:cNvPr>
          <p:cNvSpPr>
            <a:spLocks noGrp="1"/>
          </p:cNvSpPr>
          <p:nvPr/>
        </p:nvSpPr>
        <p:spPr>
          <a:xfrm>
            <a:off x="1330726" y="2048256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9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62E9E2B-66DD-4F15-9C90-B64EAE0351B8}"/>
              </a:ext>
            </a:extLst>
          </p:cNvPr>
          <p:cNvSpPr>
            <a:spLocks noGrp="1"/>
          </p:cNvSpPr>
          <p:nvPr/>
        </p:nvSpPr>
        <p:spPr>
          <a:xfrm>
            <a:off x="676656" y="2615184"/>
            <a:ext cx="187506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‏قرّر‏</a:t>
            </a:r>
            <a:endParaRPr sz="170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3BA21C1-0E77-4FEC-A86B-B9D134D17B1D}"/>
              </a:ext>
            </a:extLst>
          </p:cNvPr>
          <p:cNvSpPr>
            <a:spLocks noGrp="1"/>
          </p:cNvSpPr>
          <p:nvPr/>
        </p:nvSpPr>
        <p:spPr>
          <a:xfrm>
            <a:off x="685800" y="3017520"/>
            <a:ext cx="1856781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‏اعتمدها كعادة، أو عدّل الأمر، أو أعدها إلى الطريقة السابقة.‏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EEBFC78A-E06B-4D37-886B-488775A728A2}"/>
              </a:ext>
            </a:extLst>
          </p:cNvPr>
          <p:cNvSpPr>
            <a:spLocks noGrp="1"/>
          </p:cNvSpPr>
          <p:nvPr/>
        </p:nvSpPr>
        <p:spPr>
          <a:xfrm>
            <a:off x="566928" y="428853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2EE1554-AAA0-48BB-86BB-F35735D792A8}"/>
              </a:ext>
            </a:extLst>
          </p:cNvPr>
          <p:cNvSpPr>
            <a:spLocks noGrp="1"/>
          </p:cNvSpPr>
          <p:nvPr/>
        </p:nvSpPr>
        <p:spPr>
          <a:xfrm>
            <a:off x="11094415" y="440740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DED5E73-50E0-4B63-969C-CCCAD8FC9849}"/>
              </a:ext>
            </a:extLst>
          </p:cNvPr>
          <p:cNvSpPr>
            <a:spLocks noGrp="1"/>
          </p:cNvSpPr>
          <p:nvPr/>
        </p:nvSpPr>
        <p:spPr>
          <a:xfrm>
            <a:off x="11094415" y="443484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56C8061C-BE78-403A-808A-76A381583110}"/>
              </a:ext>
            </a:extLst>
          </p:cNvPr>
          <p:cNvSpPr>
            <a:spLocks noGrp="1"/>
          </p:cNvSpPr>
          <p:nvPr/>
        </p:nvSpPr>
        <p:spPr>
          <a:xfrm>
            <a:off x="749808" y="433425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‏مؤشر بسيط: الدقائق الموفَّرة أسبوعياً × عدد أسابيع السنة = ساعات معادة لعملك الأهم.‏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134103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1CCCF46-DB1B-42E8-8657-BD1CD45ABD0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CC5312-3AFA-48F8-8A9D-778FED0C7E63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03FAED9-3B86-4D42-8DCC-0F8D2C2117A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‏بناء العادة‏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29C08CD-ABBD-4081-978F-2B9BA0DDC436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B285CE7-53D5-430F-AC08-80547EF773E1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F4E80A-ED04-465F-ABAF-642F69491578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‏الفجوة بين من حضر برنامجاً وبين من غيّر طريقة عمله هي العادة.‏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FABD640-042B-46AB-BAF8-074351216CE6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CD973E6-489B-405C-99D2-4692125DCDE8}"/>
              </a:ext>
            </a:extLst>
          </p:cNvPr>
          <p:cNvSpPr>
            <a:spLocks noGrp="1"/>
          </p:cNvSpPr>
          <p:nvPr/>
        </p:nvSpPr>
        <p:spPr>
          <a:xfrm>
            <a:off x="8048549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C2514E2-F2B3-4112-A96C-FAD3E345CAE7}"/>
              </a:ext>
            </a:extLst>
          </p:cNvPr>
          <p:cNvSpPr>
            <a:spLocks noGrp="1"/>
          </p:cNvSpPr>
          <p:nvPr/>
        </p:nvSpPr>
        <p:spPr>
          <a:xfrm>
            <a:off x="8048549" y="27889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51E9AB6-6425-47FB-A9CE-C88349DBE2EE}"/>
              </a:ext>
            </a:extLst>
          </p:cNvPr>
          <p:cNvSpPr>
            <a:spLocks noGrp="1"/>
          </p:cNvSpPr>
          <p:nvPr/>
        </p:nvSpPr>
        <p:spPr>
          <a:xfrm>
            <a:off x="8194853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‏اربطها بمُحفّز‏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A41C4A8-73CB-4C9D-9DCB-1367A3EDB761}"/>
              </a:ext>
            </a:extLst>
          </p:cNvPr>
          <p:cNvSpPr>
            <a:spLocks noGrp="1"/>
          </p:cNvSpPr>
          <p:nvPr/>
        </p:nvSpPr>
        <p:spPr>
          <a:xfrm>
            <a:off x="8194853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‏حدّد لحظة ثابتة: «كل تقرير وارد ← ألخّصه قبل قراءته كاملاً».‏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88E7B7C-C52F-4F23-8372-7C6A7A1B85E3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D0EAA82-2300-4765-8DCB-2587F021EBEA}"/>
              </a:ext>
            </a:extLst>
          </p:cNvPr>
          <p:cNvSpPr>
            <a:spLocks noGrp="1"/>
          </p:cNvSpPr>
          <p:nvPr/>
        </p:nvSpPr>
        <p:spPr>
          <a:xfrm>
            <a:off x="430773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43F963F-9D46-4C4A-BC4E-EC884F00F3EF}"/>
              </a:ext>
            </a:extLst>
          </p:cNvPr>
          <p:cNvSpPr>
            <a:spLocks noGrp="1"/>
          </p:cNvSpPr>
          <p:nvPr/>
        </p:nvSpPr>
        <p:spPr>
          <a:xfrm>
            <a:off x="4307738" y="27889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6FA78C5-389C-4F46-ACF9-D9D335F31388}"/>
              </a:ext>
            </a:extLst>
          </p:cNvPr>
          <p:cNvSpPr>
            <a:spLocks noGrp="1"/>
          </p:cNvSpPr>
          <p:nvPr/>
        </p:nvSpPr>
        <p:spPr>
          <a:xfrm>
            <a:off x="445404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‏ابدأ صغيراً‏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993AAFC-DA09-4406-807B-BBC4ED82836B}"/>
              </a:ext>
            </a:extLst>
          </p:cNvPr>
          <p:cNvSpPr>
            <a:spLocks noGrp="1"/>
          </p:cNvSpPr>
          <p:nvPr/>
        </p:nvSpPr>
        <p:spPr>
          <a:xfrm>
            <a:off x="445404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‏مهمة واحدة لمدة أسبوعين قبل إضافة الثانية.‏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0E9183BA-2C08-4960-ACCC-A126C066C73C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9D60E09-4832-414C-9F37-A2072333D94C}"/>
              </a:ext>
            </a:extLst>
          </p:cNvPr>
          <p:cNvSpPr>
            <a:spLocks noGrp="1"/>
          </p:cNvSpPr>
          <p:nvPr/>
        </p:nvSpPr>
        <p:spPr>
          <a:xfrm>
            <a:off x="566928" y="25511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DCA7C54-B046-4CD6-B673-0779D11B706B}"/>
              </a:ext>
            </a:extLst>
          </p:cNvPr>
          <p:cNvSpPr>
            <a:spLocks noGrp="1"/>
          </p:cNvSpPr>
          <p:nvPr/>
        </p:nvSpPr>
        <p:spPr>
          <a:xfrm>
            <a:off x="566928" y="27889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C5B5F3C-AB59-4240-AD81-1268C2692284}"/>
              </a:ext>
            </a:extLst>
          </p:cNvPr>
          <p:cNvSpPr>
            <a:spLocks noGrp="1"/>
          </p:cNvSpPr>
          <p:nvPr/>
        </p:nvSpPr>
        <p:spPr>
          <a:xfrm>
            <a:off x="713232" y="26060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‏خفّض الاحتكاك‏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5306816-20A0-475A-912A-A5A35A4E3463}"/>
              </a:ext>
            </a:extLst>
          </p:cNvPr>
          <p:cNvSpPr>
            <a:spLocks noGrp="1"/>
          </p:cNvSpPr>
          <p:nvPr/>
        </p:nvSpPr>
        <p:spPr>
          <a:xfrm>
            <a:off x="713232" y="31181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‏احتفظ بأوامرك الجاهزة في ملف واحد سهل الوصول.‏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590FB5F-4E00-434F-AC79-A5970079C165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0CE58A8-3467-4C61-B59E-4DEFC20F1A20}"/>
              </a:ext>
            </a:extLst>
          </p:cNvPr>
          <p:cNvSpPr>
            <a:spLocks noGrp="1"/>
          </p:cNvSpPr>
          <p:nvPr/>
        </p:nvSpPr>
        <p:spPr>
          <a:xfrm>
            <a:off x="8048549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1FC4FC40-4FD1-49AE-8A3A-99108F47783E}"/>
              </a:ext>
            </a:extLst>
          </p:cNvPr>
          <p:cNvSpPr>
            <a:spLocks noGrp="1"/>
          </p:cNvSpPr>
          <p:nvPr/>
        </p:nvSpPr>
        <p:spPr>
          <a:xfrm>
            <a:off x="8048549" y="42793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2CB23D3-F8D5-4200-B390-2B382C7639F6}"/>
              </a:ext>
            </a:extLst>
          </p:cNvPr>
          <p:cNvSpPr>
            <a:spLocks noGrp="1"/>
          </p:cNvSpPr>
          <p:nvPr/>
        </p:nvSpPr>
        <p:spPr>
          <a:xfrm>
            <a:off x="8194853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‏سجّل الأثر‏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2FC32EC-92EB-46EC-AF23-90582EC15FF7}"/>
              </a:ext>
            </a:extLst>
          </p:cNvPr>
          <p:cNvSpPr>
            <a:spLocks noGrp="1"/>
          </p:cNvSpPr>
          <p:nvPr/>
        </p:nvSpPr>
        <p:spPr>
          <a:xfrm>
            <a:off x="8194853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‏دوّن الوقت الموفَّر أسبوعياً — الدليل يحافظ على الدافع.‏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1F38ADA-975E-435B-AE58-0A3AA9CA041F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3FE4AF1-DC6B-4F57-A41A-0918D65672D2}"/>
              </a:ext>
            </a:extLst>
          </p:cNvPr>
          <p:cNvSpPr>
            <a:spLocks noGrp="1"/>
          </p:cNvSpPr>
          <p:nvPr/>
        </p:nvSpPr>
        <p:spPr>
          <a:xfrm>
            <a:off x="430773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E0788CF-DF18-4A6A-A573-753352409935}"/>
              </a:ext>
            </a:extLst>
          </p:cNvPr>
          <p:cNvSpPr>
            <a:spLocks noGrp="1"/>
          </p:cNvSpPr>
          <p:nvPr/>
        </p:nvSpPr>
        <p:spPr>
          <a:xfrm>
            <a:off x="4307738" y="42793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72CC327-2A95-4621-B5B2-9760FFFA1CB5}"/>
              </a:ext>
            </a:extLst>
          </p:cNvPr>
          <p:cNvSpPr>
            <a:spLocks noGrp="1"/>
          </p:cNvSpPr>
          <p:nvPr/>
        </p:nvSpPr>
        <p:spPr>
          <a:xfrm>
            <a:off x="445404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فريقك‏</a:t>
            </a:r>
            <a:endParaRPr sz="165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42A8245-5C3B-4563-8DF4-B52E90C51862}"/>
              </a:ext>
            </a:extLst>
          </p:cNvPr>
          <p:cNvSpPr>
            <a:spLocks noGrp="1"/>
          </p:cNvSpPr>
          <p:nvPr/>
        </p:nvSpPr>
        <p:spPr>
          <a:xfrm>
            <a:off x="445404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‏الأمر الناجح لديك يوفّر وقت زملائك أيضاً.‏</a:t>
            </a:r>
            <a:endParaRPr sz="145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BC8C7F7-158D-499C-A168-A5E6DB78A02F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A95ED091-CD5C-488A-BB82-8AE451976C2E}"/>
              </a:ext>
            </a:extLst>
          </p:cNvPr>
          <p:cNvSpPr>
            <a:spLocks noGrp="1"/>
          </p:cNvSpPr>
          <p:nvPr/>
        </p:nvSpPr>
        <p:spPr>
          <a:xfrm>
            <a:off x="566928" y="40416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29FDE66D-05B5-4DEF-B521-F531006AECD0}"/>
              </a:ext>
            </a:extLst>
          </p:cNvPr>
          <p:cNvSpPr>
            <a:spLocks noGrp="1"/>
          </p:cNvSpPr>
          <p:nvPr/>
        </p:nvSpPr>
        <p:spPr>
          <a:xfrm>
            <a:off x="566928" y="42793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2DA19811-B250-4576-A616-391DC1BA49D4}"/>
              </a:ext>
            </a:extLst>
          </p:cNvPr>
          <p:cNvSpPr>
            <a:spLocks noGrp="1"/>
          </p:cNvSpPr>
          <p:nvPr/>
        </p:nvSpPr>
        <p:spPr>
          <a:xfrm>
            <a:off x="713232" y="40965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شهرياً‏</a:t>
            </a:r>
            <a:endParaRPr sz="165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C69C17D6-74DC-4C67-B875-4F3320983410}"/>
              </a:ext>
            </a:extLst>
          </p:cNvPr>
          <p:cNvSpPr>
            <a:spLocks noGrp="1"/>
          </p:cNvSpPr>
          <p:nvPr/>
        </p:nvSpPr>
        <p:spPr>
          <a:xfrm>
            <a:off x="713232" y="46085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‏ما الذي نجح؟ ما الذي لم ينجح؟ ما الفرصة التالية؟‏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1735909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758EAC-7BB1-492B-9175-0B84520A9626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B742843-97DD-4820-8611-0455B0F8D440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3892644-25BE-440C-B5EB-E6661170691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‏خطة الثلاثين يوماً‏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121C553-2D00-4D9C-BD27-5BE31EC766C3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84BDBB1-8431-4AB7-9AE4-E0DA3486F6F5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933017-3338-4066-A47E-CA9B9589C21D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‏خارطة تنفيذية واضحة تبدأ من الغد.‏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A62703D-67D4-4E51-A341-C1A0455BBAE2}"/>
              </a:ext>
            </a:extLst>
          </p:cNvPr>
          <p:cNvSpPr>
            <a:spLocks noGrp="1"/>
          </p:cNvSpPr>
          <p:nvPr/>
        </p:nvSpPr>
        <p:spPr>
          <a:xfrm>
            <a:off x="566928" y="1847088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68A59CD-01F4-4169-9245-6602FD86AF10}"/>
              </a:ext>
            </a:extLst>
          </p:cNvPr>
          <p:cNvSpPr>
            <a:spLocks noGrp="1"/>
          </p:cNvSpPr>
          <p:nvPr/>
        </p:nvSpPr>
        <p:spPr>
          <a:xfrm>
            <a:off x="10143439" y="1901952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273370"/>
          </a:solidFill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EE28C52-F9A0-48F5-BF52-4178090A8154}"/>
              </a:ext>
            </a:extLst>
          </p:cNvPr>
          <p:cNvSpPr>
            <a:spLocks noGrp="1"/>
          </p:cNvSpPr>
          <p:nvPr/>
        </p:nvSpPr>
        <p:spPr>
          <a:xfrm>
            <a:off x="10143439" y="1901952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١-٣</a:t>
            </a:r>
            <a:endParaRPr sz="13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93B74C-E2A7-4F66-A51C-6958745CED05}"/>
              </a:ext>
            </a:extLst>
          </p:cNvPr>
          <p:cNvSpPr>
            <a:spLocks noGrp="1"/>
          </p:cNvSpPr>
          <p:nvPr/>
        </p:nvSpPr>
        <p:spPr>
          <a:xfrm>
            <a:off x="749808" y="1874520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‏احصر مهامك المتكررة واختر مهمة واحدة منخفضة المخاطر للبدء‏</a:t>
            </a:r>
            <a:endParaRPr sz="16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34E36AC-F097-4AE7-8236-587FEB99929E}"/>
              </a:ext>
            </a:extLst>
          </p:cNvPr>
          <p:cNvSpPr>
            <a:spLocks noGrp="1"/>
          </p:cNvSpPr>
          <p:nvPr/>
        </p:nvSpPr>
        <p:spPr>
          <a:xfrm>
            <a:off x="566928" y="2377440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C96CA90-788B-4A81-A899-BBA1BEB26471}"/>
              </a:ext>
            </a:extLst>
          </p:cNvPr>
          <p:cNvSpPr>
            <a:spLocks noGrp="1"/>
          </p:cNvSpPr>
          <p:nvPr/>
        </p:nvSpPr>
        <p:spPr>
          <a:xfrm>
            <a:off x="10143439" y="2432304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87C5312-650E-44A2-BC8E-A4B4D0F936A1}"/>
              </a:ext>
            </a:extLst>
          </p:cNvPr>
          <p:cNvSpPr>
            <a:spLocks noGrp="1"/>
          </p:cNvSpPr>
          <p:nvPr/>
        </p:nvSpPr>
        <p:spPr>
          <a:xfrm>
            <a:off x="10143439" y="2432304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٤-٧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CBBD990-3E3D-4220-85BA-91F1BCB80720}"/>
              </a:ext>
            </a:extLst>
          </p:cNvPr>
          <p:cNvSpPr>
            <a:spLocks noGrp="1"/>
          </p:cNvSpPr>
          <p:nvPr/>
        </p:nvSpPr>
        <p:spPr>
          <a:xfrm>
            <a:off x="749808" y="2404872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‏قِس الزمن الحالي للمهمة ثلاث مرات، وصُغ أمرك الأول بإطار RICE‏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EC8A344-51F5-4CCB-8817-07560DBC9073}"/>
              </a:ext>
            </a:extLst>
          </p:cNvPr>
          <p:cNvSpPr>
            <a:spLocks noGrp="1"/>
          </p:cNvSpPr>
          <p:nvPr/>
        </p:nvSpPr>
        <p:spPr>
          <a:xfrm>
            <a:off x="566928" y="2907792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C26CA0E-C9DC-4AD7-8EE7-E83FCF0743F8}"/>
              </a:ext>
            </a:extLst>
          </p:cNvPr>
          <p:cNvSpPr>
            <a:spLocks noGrp="1"/>
          </p:cNvSpPr>
          <p:nvPr/>
        </p:nvSpPr>
        <p:spPr>
          <a:xfrm>
            <a:off x="10143439" y="2962656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273370"/>
          </a:solidFill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FF31D01-7A2D-446C-93E4-9ADA352E496C}"/>
              </a:ext>
            </a:extLst>
          </p:cNvPr>
          <p:cNvSpPr>
            <a:spLocks noGrp="1"/>
          </p:cNvSpPr>
          <p:nvPr/>
        </p:nvSpPr>
        <p:spPr>
          <a:xfrm>
            <a:off x="10143439" y="2962656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٨-١٤</a:t>
            </a:r>
            <a:endParaRPr sz="13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91F8006-B887-49CB-B480-B05F11DEDC9B}"/>
              </a:ext>
            </a:extLst>
          </p:cNvPr>
          <p:cNvSpPr>
            <a:spLocks noGrp="1"/>
          </p:cNvSpPr>
          <p:nvPr/>
        </p:nvSpPr>
        <p:spPr>
          <a:xfrm>
            <a:off x="749808" y="2935224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‏طبّق يومياً، حسّن الأمر بالحوار التكراري، واحفظ النسخة النهائية‏</a:t>
            </a:r>
            <a:endParaRPr sz="160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C652A61-969F-4DDE-BFC6-7535B0CE4A1B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3D5DAB5-7EFD-4023-82C6-5DF1F1247F85}"/>
              </a:ext>
            </a:extLst>
          </p:cNvPr>
          <p:cNvSpPr>
            <a:spLocks noGrp="1"/>
          </p:cNvSpPr>
          <p:nvPr/>
        </p:nvSpPr>
        <p:spPr>
          <a:xfrm>
            <a:off x="10143439" y="3493008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696969"/>
          </a:solidFill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3F82275-537E-4571-BB6C-208691723029}"/>
              </a:ext>
            </a:extLst>
          </p:cNvPr>
          <p:cNvSpPr>
            <a:spLocks noGrp="1"/>
          </p:cNvSpPr>
          <p:nvPr/>
        </p:nvSpPr>
        <p:spPr>
          <a:xfrm>
            <a:off x="10143439" y="3493008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١٥</a:t>
            </a:r>
            <a:endParaRPr sz="13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0AABD962-0707-4D91-B91D-3085502F1520}"/>
              </a:ext>
            </a:extLst>
          </p:cNvPr>
          <p:cNvSpPr>
            <a:spLocks noGrp="1"/>
          </p:cNvSpPr>
          <p:nvPr/>
        </p:nvSpPr>
        <p:spPr>
          <a:xfrm>
            <a:off x="749808" y="3465576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‏قِس الأثر: الزمن الجديد وجودة المخرج مقارنةً بالسابق‏</a:t>
            </a:r>
            <a:endParaRPr sz="16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02CE820B-4F83-448D-B7A0-BFFC3CAD9441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B580E65-FFF4-4838-B707-2FBBD8C6182D}"/>
              </a:ext>
            </a:extLst>
          </p:cNvPr>
          <p:cNvSpPr>
            <a:spLocks noGrp="1"/>
          </p:cNvSpPr>
          <p:nvPr/>
        </p:nvSpPr>
        <p:spPr>
          <a:xfrm>
            <a:off x="10143439" y="4023360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273370"/>
          </a:solidFill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0F42C019-B1BC-457D-AC1D-2658EBF65328}"/>
              </a:ext>
            </a:extLst>
          </p:cNvPr>
          <p:cNvSpPr>
            <a:spLocks noGrp="1"/>
          </p:cNvSpPr>
          <p:nvPr/>
        </p:nvSpPr>
        <p:spPr>
          <a:xfrm>
            <a:off x="10143439" y="4023360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١٦-٢٢</a:t>
            </a:r>
            <a:endParaRPr sz="13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3A541BC-51E3-49AE-BC77-C0421FB65DEC}"/>
              </a:ext>
            </a:extLst>
          </p:cNvPr>
          <p:cNvSpPr>
            <a:spLocks noGrp="1"/>
          </p:cNvSpPr>
          <p:nvPr/>
        </p:nvSpPr>
        <p:spPr>
          <a:xfrm>
            <a:off x="749808" y="3995928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‏أضف المهمة الثانية، وطبّق قائمة التحقق قبل كل اعتماد‏</a:t>
            </a:r>
            <a:endParaRPr sz="160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026041A1-5129-407F-A183-AA8B8C60E173}"/>
              </a:ext>
            </a:extLst>
          </p:cNvPr>
          <p:cNvSpPr>
            <a:spLocks noGrp="1"/>
          </p:cNvSpPr>
          <p:nvPr/>
        </p:nvSpPr>
        <p:spPr>
          <a:xfrm>
            <a:off x="566928" y="4498848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DD035AD-BFE2-4454-B88F-76C61C3A516D}"/>
              </a:ext>
            </a:extLst>
          </p:cNvPr>
          <p:cNvSpPr>
            <a:spLocks noGrp="1"/>
          </p:cNvSpPr>
          <p:nvPr/>
        </p:nvSpPr>
        <p:spPr>
          <a:xfrm>
            <a:off x="10143439" y="4553712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273370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93FC34F-95A4-4D7F-A8A1-307F95F07A1F}"/>
              </a:ext>
            </a:extLst>
          </p:cNvPr>
          <p:cNvSpPr>
            <a:spLocks noGrp="1"/>
          </p:cNvSpPr>
          <p:nvPr/>
        </p:nvSpPr>
        <p:spPr>
          <a:xfrm>
            <a:off x="10143439" y="4553712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٢٣-٢٩</a:t>
            </a:r>
            <a:endParaRPr sz="13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974DE6D-FF2D-47BC-A4D2-065D1F1861D2}"/>
              </a:ext>
            </a:extLst>
          </p:cNvPr>
          <p:cNvSpPr>
            <a:spLocks noGrp="1"/>
          </p:cNvSpPr>
          <p:nvPr/>
        </p:nvSpPr>
        <p:spPr>
          <a:xfrm>
            <a:off x="749808" y="4526280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‏شارك أوامرك مع فريقك واجمع ملاحظاتهم على المخرجات‏</a:t>
            </a:r>
            <a:endParaRPr sz="160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3089C73-756F-424F-AF41-C1BBF11F1A9A}"/>
              </a:ext>
            </a:extLst>
          </p:cNvPr>
          <p:cNvSpPr>
            <a:spLocks noGrp="1"/>
          </p:cNvSpPr>
          <p:nvPr/>
        </p:nvSpPr>
        <p:spPr>
          <a:xfrm>
            <a:off x="566928" y="5029200"/>
            <a:ext cx="11057839" cy="448056"/>
          </a:xfrm>
          <a:prstGeom prst="roundRect">
            <a:avLst>
              <a:gd name="adj" fmla="val 14286"/>
            </a:avLst>
          </a:prstGeom>
          <a:solidFill>
            <a:srgbClr val="F1F1F2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219E7C8-D763-4590-BAC8-DE8DC376C1B6}"/>
              </a:ext>
            </a:extLst>
          </p:cNvPr>
          <p:cNvSpPr>
            <a:spLocks noGrp="1"/>
          </p:cNvSpPr>
          <p:nvPr/>
        </p:nvSpPr>
        <p:spPr>
          <a:xfrm>
            <a:off x="10143439" y="5084064"/>
            <a:ext cx="1371600" cy="338328"/>
          </a:xfrm>
          <a:prstGeom prst="roundRect">
            <a:avLst>
              <a:gd name="adj" fmla="val 13514"/>
            </a:avLst>
          </a:prstGeom>
          <a:solidFill>
            <a:srgbClr val="696969"/>
          </a:solidFill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EE443CB-F2DC-4B36-B77D-7128CFE31A0A}"/>
              </a:ext>
            </a:extLst>
          </p:cNvPr>
          <p:cNvSpPr>
            <a:spLocks noGrp="1"/>
          </p:cNvSpPr>
          <p:nvPr/>
        </p:nvSpPr>
        <p:spPr>
          <a:xfrm>
            <a:off x="10143439" y="5084064"/>
            <a:ext cx="1371600" cy="3383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اليوم ٣٠</a:t>
            </a:r>
            <a:endParaRPr sz="135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DCDEDDB-BC5F-4B99-9ACF-42618CE6F1F1}"/>
              </a:ext>
            </a:extLst>
          </p:cNvPr>
          <p:cNvSpPr>
            <a:spLocks noGrp="1"/>
          </p:cNvSpPr>
          <p:nvPr/>
        </p:nvSpPr>
        <p:spPr>
          <a:xfrm>
            <a:off x="749808" y="5056632"/>
            <a:ext cx="9229039" cy="3931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0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الأثر التراكمي واختر فرصتك التالية للشهر القادم‏</a:t>
            </a:r>
            <a:endParaRPr sz="160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FDFA51D-2C6E-4C56-9820-079AAF353940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03750C00-160D-4166-B140-AB0C65F8AEF1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9ECA549-C84E-4AF7-9489-1EE2F0925776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5972A625-7BFD-4A10-B927-A52D523D5AA2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‏مهمتان متقنتان في ثلاثين يوماً أفضل من عشر تجارب متقطعة غير مكتملة.‏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052392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51C87BD-E435-4D75-80CC-B8013F892EF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362BE64-5D5F-4ED1-94D2-A241E8CE8E1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‏AI Workplace Challenge‏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CC8C8B2-AE9A-41D9-9CF1-7CDC8BCF2F37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‏بطاقة تحويل مهمة عمل إلى حالة استخدام‏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4BD871E-7D85-45C6-A4D4-0664D2B2499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2131D4B-A279-4607-9032-5355E37F00AA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B7D8D43-A608-4472-BF8E-91442C52CABF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‏اختر مهمة متكررة حقيقية، ثم املأ البطاقة دون إدخال بيانات حساسة.‏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DDF1DC-04F9-4635-BB30-061DA1D41CA8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CA6B270-7925-442F-B7BE-5D1DD45295B6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684F5F9-D440-42B8-AAB1-02DD5779C2E5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‏المهمة الحالية: ما الذي أنجزه اليوم؟ ........................................‏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159A21F-73CE-4097-832F-DC35686AE4EC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554B664-4184-42D2-9A45-3E39755F3822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C5884C0-346C-4471-805D-2C844CAE5F7C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‏الجهد الحالي: التكرار والوقت في كل مرة ................................‏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A087C06-9F1B-4A32-891A-B6C54AC24223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2A1784F-DC53-4016-A559-F35246F0D8E9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26E9C0E-6495-4BC4-984C-4C8FD3C2292C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‏نقطة الألم: ما الذي يبطئ المهمة أو يضعف جودتها؟ .....................‏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3215F64-2C41-46C1-9C06-4D4D68E1A6C9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550DD2B-95A8-4322-A8F4-001462760760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E724949A-7BB0-4A9E-B330-EB5480B6A1BF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‏دور الذكاء الاصطناعي: توليد / تلخيص / تحليل / تصنيف / صياغة‏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0F610B20-6888-4324-93FC-C511C61695E1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1DA02A0B-4FC3-4D3E-AA8E-133818E323C2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F5EA3D5-2852-494A-9594-B455940593C9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‏حساسية البيانات: عام / داخلي / سري / شخصي‏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DC4D707-5EB1-4972-B1FB-73DB583F1355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A29A718-37E0-4FE9-82B3-E041678D8205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3AA1C01-A059-4098-9B85-DA48C71AFA51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‏نقطة المراجعة البشرية: من يراجع؟ ومتى يتوقف الاستخدام؟ ..........‏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972DB49-F4A5-4193-8D51-C20004469A0F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1B8DA75-097B-425D-A832-AD2B735C0061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5581373-B92F-4621-9614-1F05E57CF15A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‏المنفعة المتوقعة: وقت / جودة / اتساق / أفكار ........................‏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A36E8DFA-1D50-43B6-982E-48D91FB63EBB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7CA1DAF7-8164-4FF9-8E45-59B09937431A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FA8C527-3948-4455-8355-62638D317903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‏أول تجربة آمنة سأجريها هذا الأسبوع: .....................................‏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134670207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F43981-709F-4D10-815D-955FE091601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98‏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2209CAC-CA5B-4AD7-A115-7A2258BA3178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‏مشروع · المحور السادس‏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E83609A-6AA0-46EF-9AC7-B799344FB64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‏المشروع الختامي: حالة استخدام من عملك‏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D63230-CD5D-48BB-893F-A606FCE4356D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3576A3B-CB37-4880-B58E-67564FCC9D03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25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ADF3586-826E-47F9-BAC4-0FF42EA43032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20F3A87-C189-4FD3-AC67-7EB0778B3748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‏ستقدّم حالة استخدام واحدة من عملك الفعلي، مطبّقاً فيها كل ما تعلّمته في اليومين — دون أي بيانات حقيقية سرية.‏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25588E7-C0FB-4530-88BC-6412FA39729C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2F21C02-7C88-4CF8-8BF0-F4ED173F1175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90FFFB6-36D7-408B-896D-55DAEAA8FC56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457EFBF-0ED4-48F5-A2B5-D18C211B9EB7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‏اختر المهمة من ورقة خطتك الشخصية وصفها في ثلاث جمل.‏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D6F4499-F3F9-4160-B35D-170CAF7F0521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5BB1755-5577-4427-8BB4-8780FA7707C7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5DEC4D2-241E-44D0-A897-1F24B442A927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طلبك بالعناصر الأربعة، وبيّن كيف حسّنته بعد مراجعة المخرج.‏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168D8CC-F828-4717-8BAD-1F43731B7368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3F13A2F-B89F-4A10-879A-01712797F1D4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EFF6E38-34F4-4EA9-B3F7-D514B9CCFDE7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‏اعرض المخرج قبل المراجعة وبعدها، وبيّن ما صحّحته ولماذا.‏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2DD8FBE-8994-43EC-9B1E-957ED53D69FF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BF677F2-26CA-45D8-9399-F139FB259FFC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9A78ABD-5384-4A1F-9C2A-9C2680B29917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‏اذكر تصنيف البيانات ومستوى المخاطر والإجراء الوقائي الذي اتخذته.‏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5615F48-8B26-472F-A22D-085588B222B3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CF8C7A8B-51E1-4E56-9819-32F72480A3D9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CFEF5DD5-295C-4ACF-A958-09CFF8CF8E87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‏قدّر الوقت الموفَّر أسبوعياً وسنوياً، واذكر أثر ذلك على عملك الأهم.‏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939DEF5-0622-4E3E-898D-7F004D6FB085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0AD3F01-DD62-4F2F-8418-93A28BE967A2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 عرض من ثلاث دقائق أمام المجموعة — وحالة استخدام جاهزة للتطبيق فور عودتك لمكتبك.‏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360653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F7DCAE9-0560-446F-99E2-6DC62F271492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99‏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33AA13C-08A4-4AC5-B705-7C3B8E124DC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‏المحور السادس  ·  التوظيف في المهام اليومية‏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D3A1076-EB80-4DF5-ABF6-6049CA448F8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‏معايير تقييم المشروع الختامي‏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0248671-7CB7-4D6A-A772-F9CBECD76D0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94A211E-D621-4B63-9DED-8AFDDC585592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21" name="Table 0"/>
          <p:cNvGraphicFramePr/>
          <p:nvPr/>
        </p:nvGraphicFramePr>
        <p:xfrm>
          <a:off x="566928" y="1517904"/>
          <a:ext cx="11064240" cy="34015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‏المعيار‏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‏ما يُنظر إليه‏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‏الوزن‏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‏واقعية الحالة‏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‏مهمة حقيقية متكررة من عمل المشارك لا مثال افتراضي‏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‏جودة الأمر‏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‏اكتمال عناصر RICE ووضوح التعليمة وتقييد المصدر‏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‏التحقق من المخرج‏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‏تطبيق المنهجية الخماسية وبيان ما صُحِّح ولماذا‏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‏٢٥٪‏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‏الالتزام بالضوابط‏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‏تصنيف البيانات، مستوى المخاطر، والإجراء الوقائي‏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‏١٥٪‏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‏قياس الأثر‏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‏تقدير مبني على قياس فعلي لا انطباع عام‏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‏١٠٪‏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>
            <a:extLst>
              <a:ext uri="{FF2B5EF4-FFF2-40B4-BE49-F238E27FC236}">
                <a16:creationId xmlns:a16="http://schemas.microsoft.com/office/drawing/2014/main" id="{5A103390-7EF5-492E-858C-4933053E2981}"/>
              </a:ext>
            </a:extLst>
          </p:cNvPr>
          <p:cNvSpPr>
            <a:spLocks noGrp="1"/>
          </p:cNvSpPr>
          <p:nvPr/>
        </p:nvSpPr>
        <p:spPr>
          <a:xfrm>
            <a:off x="566928" y="519379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D1C78A8-19EB-4522-B0B7-BEF3C42CCF1E}"/>
              </a:ext>
            </a:extLst>
          </p:cNvPr>
          <p:cNvSpPr>
            <a:spLocks noGrp="1"/>
          </p:cNvSpPr>
          <p:nvPr/>
        </p:nvSpPr>
        <p:spPr>
          <a:xfrm>
            <a:off x="11094415" y="531266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BCB5E5F-3BE7-4BF2-8B79-CADFCC54593F}"/>
              </a:ext>
            </a:extLst>
          </p:cNvPr>
          <p:cNvSpPr>
            <a:spLocks noGrp="1"/>
          </p:cNvSpPr>
          <p:nvPr/>
        </p:nvSpPr>
        <p:spPr>
          <a:xfrm>
            <a:off x="11094415" y="534009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20C9762-CDF3-4BAA-B819-5C4E1A24DD79}"/>
              </a:ext>
            </a:extLst>
          </p:cNvPr>
          <p:cNvSpPr>
            <a:spLocks noGrp="1"/>
          </p:cNvSpPr>
          <p:nvPr/>
        </p:nvSpPr>
        <p:spPr>
          <a:xfrm>
            <a:off x="749808" y="523951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‏الاجتياز بنسبة ٦٠٪ فأعلى مع حضور لا يقل عن ٨٠٪ من ساعات البرنامج.‏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4702362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50328BE-D48D-4189-81F5-D618CF89002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‏المحور السادس  ·  100‏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90F35AC-AF2E-4DAA-BC78-6B2700588694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‏ثلاثة أسئلة‏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472F34-7EE4-4621-A2FF-9A1C72E9BD1F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‏تقويم سريع — المحور السادس‏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3E21FBF-988E-4257-B561-F6BFA8FDC4D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0456D94-8A16-4DB1-8255-B943F10F635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9FD63E6-FA80-41F6-999F-7A2EDD8E6802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0268B44-5B3D-40B7-8983-C584A841D0E7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نقطة البداية الصحيحة لتبنّي الذكاء الاصطناعي في عملك هي:‏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D8B8443-FFE2-4C7E-B2B9-8EF0B48B9CBB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73358DF-3BD0-4E71-9972-A8A56737AD03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اختيار أحدث أداة‏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889452A-9942-4D91-B8C8-694BDBEB149A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0C15AA7-658A-46D8-A561-38B1C980AAF9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تحديد مهمة متكررة تستنزف وقتك‏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9CCD51F-AB7A-4B27-805B-FCE51D079D97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C71C12-F117-4E69-BD5B-9F5147EA4069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حضور دورات إضافية‏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153CA88-A0FE-4B99-B50E-73833CBFB043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7B6AFDF-930F-42CB-9CCB-3BCBC507A7BA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المثالية للبدء تكون:‏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D67CFA8-AB2E-453B-88B7-0405734F6716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99DE2E0F-B710-41EE-8BBB-4FA8CD0BDDBC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نادرة وعالية المخاطر‏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8F5FEE2-1B15-41E6-8A8C-76FF408F00DD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2C76526-97FE-4A51-BB9F-83060AFEA3A1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متكررة ومنخفضة المخاطر وسهلة الوصف‏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DACC505-AFD2-4E18-B9FB-2EF6E87435CB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A67523A-0E6F-494C-84D0-6943B94E8470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معقّدة وتحتاج عدة أنظمة‏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1C53EF3-9612-4F1E-814E-12B1C7D24E94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5FAD155-546B-44D5-81EC-D92585D2AD58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قياس الأثر يبدأ بـ:‏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B81ED03-4840-4B3F-8966-CDC248D66124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8A54916-FEE7-4E13-9321-623010E7FFCD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قياس الزمن قبل الاستخدام‏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075FBDF-6E6F-415F-A577-4D5E412905E3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08EB329-04C8-4036-9322-86F8BE5CE55F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قياس الزمن بعد الاستخدام‏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8E54DC9E-5C6B-4226-840F-91EBA1747F2D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C3836C5-B9B4-4BE1-8B5F-EF9381338EFA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الزملاء عن انطباعهم‏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617098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358F276-4909-44EF-8079-B20B959B13D9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41090C4-BDF3-4731-95B1-58B24F6B4A82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‏٧‏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C372117-05AB-4DDA-AA99-713C304BCD05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‏المحور‏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EF1F343-06F4-4698-98B5-5E97B07BE0E5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‏الخلاصة والتقييم الختامي‏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1017C1-4B4F-432E-AEEC-17416A46562C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‏مراجعة نواتج التعلّم، التقويم النهائي، والمسار التالي في أكاديمية سدايا.‏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497EFB6-C79D-4EE8-995A-DBAF2ECB7A13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A327A46-882A-4321-8D5D-66635081BFD1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‏مراجعة نواتج التعلّم‏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AFE1B73-A828-488B-A7FF-E2267C4FF2A4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2CADD2F-11D5-44B0-ACE7-608CEF1940F1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‏التقييم الختامي‏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E9FD0A6-08EB-43A8-B3B5-38568283902F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BBA90F1-BDB0-4496-A407-14138CB1D681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‏المسار التالي‏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B504AEC-78C9-4F39-A585-F943F5100403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C3403FC-D567-4274-B13A-69035306E130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‏الشهادة والمصادر‏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063278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86D05BA-AE34-476A-952D-CFF60019D9DB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5EAC74C-81A4-4B1B-B5D4-9803C0F5B04B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‏هل تحقّقت؟‏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E6516F0-DC11-4CE1-92E6-74562D9705E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‏مراجعة نواتج التعلّم‏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394A969-4F95-4E94-916F-4830988B53F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169C5B6-3A6C-4D78-8F07-07DE7C3433B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8253450-CF5C-4B73-B315-765F855D9E97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‏راجع كل ناتج وقيّم مستوى إتقانك له من ١ إلى ٥.‏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E6D4A2C-EAAD-4E7C-8D01-8041AE83958F}"/>
              </a:ext>
            </a:extLst>
          </p:cNvPr>
          <p:cNvSpPr>
            <a:spLocks noGrp="1"/>
          </p:cNvSpPr>
          <p:nvPr/>
        </p:nvSpPr>
        <p:spPr>
          <a:xfrm>
            <a:off x="11313871" y="1975104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1C56699-98C9-412D-BC83-0F2B089D95D2}"/>
              </a:ext>
            </a:extLst>
          </p:cNvPr>
          <p:cNvSpPr>
            <a:spLocks noGrp="1"/>
          </p:cNvSpPr>
          <p:nvPr/>
        </p:nvSpPr>
        <p:spPr>
          <a:xfrm>
            <a:off x="11313871" y="200253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0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6586822-7B5A-4414-9E63-B88D848A49D0}"/>
              </a:ext>
            </a:extLst>
          </p:cNvPr>
          <p:cNvSpPr>
            <a:spLocks noGrp="1"/>
          </p:cNvSpPr>
          <p:nvPr/>
        </p:nvSpPr>
        <p:spPr>
          <a:xfrm>
            <a:off x="566928" y="192938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‏شرح مفهوم الذكاء الاصطناعي‏</a:t>
            </a:r>
            <a:endParaRPr sz="18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8DD08A0-69CF-4880-A2F0-498F64812980}"/>
              </a:ext>
            </a:extLst>
          </p:cNvPr>
          <p:cNvSpPr>
            <a:spLocks noGrp="1"/>
          </p:cNvSpPr>
          <p:nvPr/>
        </p:nvSpPr>
        <p:spPr>
          <a:xfrm>
            <a:off x="566928" y="222199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الأول — التعريف، تعلّم الآلة، النماذج اللغوية، وتصحيح المفاهيم.‏</a:t>
            </a:r>
            <a:endParaRPr sz="15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A4215F3-D92F-4C76-9C5A-987DD5180042}"/>
              </a:ext>
            </a:extLst>
          </p:cNvPr>
          <p:cNvSpPr>
            <a:spLocks noGrp="1"/>
          </p:cNvSpPr>
          <p:nvPr/>
        </p:nvSpPr>
        <p:spPr>
          <a:xfrm>
            <a:off x="11313871" y="2670048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FE96686-6E5D-4FBC-87CA-CBDC67DADB00}"/>
              </a:ext>
            </a:extLst>
          </p:cNvPr>
          <p:cNvSpPr>
            <a:spLocks noGrp="1"/>
          </p:cNvSpPr>
          <p:nvPr/>
        </p:nvSpPr>
        <p:spPr>
          <a:xfrm>
            <a:off x="11313871" y="269748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379AB8B-7B6C-4F96-84F4-E5E30BCE7D43}"/>
              </a:ext>
            </a:extLst>
          </p:cNvPr>
          <p:cNvSpPr>
            <a:spLocks noGrp="1"/>
          </p:cNvSpPr>
          <p:nvPr/>
        </p:nvSpPr>
        <p:spPr>
          <a:xfrm>
            <a:off x="566928" y="2624328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‏التمييز بين أنواع التطبيقات‏</a:t>
            </a:r>
            <a:endParaRPr sz="18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1F594B7-5D1D-48CE-ABC9-9394F41B44CA}"/>
              </a:ext>
            </a:extLst>
          </p:cNvPr>
          <p:cNvSpPr>
            <a:spLocks noGrp="1"/>
          </p:cNvSpPr>
          <p:nvPr/>
        </p:nvSpPr>
        <p:spPr>
          <a:xfrm>
            <a:off x="566928" y="2916936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الثاني — العائلات الأربع والمساعدات المحادثية والذكاء المدمج.‏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8867956-F57E-4760-AA03-D35359F4B99C}"/>
              </a:ext>
            </a:extLst>
          </p:cNvPr>
          <p:cNvSpPr>
            <a:spLocks noGrp="1"/>
          </p:cNvSpPr>
          <p:nvPr/>
        </p:nvSpPr>
        <p:spPr>
          <a:xfrm>
            <a:off x="11313871" y="3364992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DFD2E6B-092A-4E82-9654-2E410343B818}"/>
              </a:ext>
            </a:extLst>
          </p:cNvPr>
          <p:cNvSpPr>
            <a:spLocks noGrp="1"/>
          </p:cNvSpPr>
          <p:nvPr/>
        </p:nvSpPr>
        <p:spPr>
          <a:xfrm>
            <a:off x="11313871" y="33924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E37629D-BE96-413E-8A5E-C35AD4B4CF95}"/>
              </a:ext>
            </a:extLst>
          </p:cNvPr>
          <p:cNvSpPr>
            <a:spLocks noGrp="1"/>
          </p:cNvSpPr>
          <p:nvPr/>
        </p:nvSpPr>
        <p:spPr>
          <a:xfrm>
            <a:off x="566928" y="3319272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‏تحديد الفرص العملية‏</a:t>
            </a:r>
            <a:endParaRPr sz="185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0A287DC-5537-4152-AD2D-2B8EF645B006}"/>
              </a:ext>
            </a:extLst>
          </p:cNvPr>
          <p:cNvSpPr>
            <a:spLocks noGrp="1"/>
          </p:cNvSpPr>
          <p:nvPr/>
        </p:nvSpPr>
        <p:spPr>
          <a:xfrm>
            <a:off x="566928" y="3611880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السادس — منهجية الاكتشاف ومصفوفة الأولوية وخريطة المهام.‏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B51A68CA-4388-41A6-89D9-B7E526B68B50}"/>
              </a:ext>
            </a:extLst>
          </p:cNvPr>
          <p:cNvSpPr>
            <a:spLocks noGrp="1"/>
          </p:cNvSpPr>
          <p:nvPr/>
        </p:nvSpPr>
        <p:spPr>
          <a:xfrm>
            <a:off x="11313871" y="4059936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353C251-1DCC-481F-888E-9938BE43D11E}"/>
              </a:ext>
            </a:extLst>
          </p:cNvPr>
          <p:cNvSpPr>
            <a:spLocks noGrp="1"/>
          </p:cNvSpPr>
          <p:nvPr/>
        </p:nvSpPr>
        <p:spPr>
          <a:xfrm>
            <a:off x="11313871" y="40873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68ADBFA-63F7-43AF-BFC6-E0B97F2576B9}"/>
              </a:ext>
            </a:extLst>
          </p:cNvPr>
          <p:cNvSpPr>
            <a:spLocks noGrp="1"/>
          </p:cNvSpPr>
          <p:nvPr/>
        </p:nvSpPr>
        <p:spPr>
          <a:xfrm>
            <a:off x="566928" y="4014216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‏استخدام المساعدات الذكية‏</a:t>
            </a:r>
            <a:endParaRPr sz="185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C1A9679-989D-4BAC-A87A-040AF5FA14CA}"/>
              </a:ext>
            </a:extLst>
          </p:cNvPr>
          <p:cNvSpPr>
            <a:spLocks noGrp="1"/>
          </p:cNvSpPr>
          <p:nvPr/>
        </p:nvSpPr>
        <p:spPr>
          <a:xfrm>
            <a:off x="566928" y="4306824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الثالث — إطار RICE والحوار التكراري ومكتبة الأوامر.‏</a:t>
            </a:r>
            <a:endParaRPr sz="155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A6B1083-75AB-41DF-8AA2-7BC26D93899C}"/>
              </a:ext>
            </a:extLst>
          </p:cNvPr>
          <p:cNvSpPr>
            <a:spLocks noGrp="1"/>
          </p:cNvSpPr>
          <p:nvPr/>
        </p:nvSpPr>
        <p:spPr>
          <a:xfrm>
            <a:off x="11313871" y="4754880"/>
            <a:ext cx="310896" cy="310896"/>
          </a:xfrm>
          <a:prstGeom prst="ellipse">
            <a:avLst/>
          </a:prstGeom>
          <a:solidFill>
            <a:srgbClr val="273370"/>
          </a:solidFill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C41CA2B-87A0-4CDE-B140-C98290F692FB}"/>
              </a:ext>
            </a:extLst>
          </p:cNvPr>
          <p:cNvSpPr>
            <a:spLocks noGrp="1"/>
          </p:cNvSpPr>
          <p:nvPr/>
        </p:nvSpPr>
        <p:spPr>
          <a:xfrm>
            <a:off x="11313871" y="47823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4EF4EB8-F0A5-45F9-9618-BAFD41A5B67E}"/>
              </a:ext>
            </a:extLst>
          </p:cNvPr>
          <p:cNvSpPr>
            <a:spLocks noGrp="1"/>
          </p:cNvSpPr>
          <p:nvPr/>
        </p:nvSpPr>
        <p:spPr>
          <a:xfrm>
            <a:off x="566928" y="4709160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‏إدراك الحدود والتحقق‏</a:t>
            </a:r>
            <a:endParaRPr sz="18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85DA4F9-EEB4-45CE-AA23-78DE3ADF7F3D}"/>
              </a:ext>
            </a:extLst>
          </p:cNvPr>
          <p:cNvSpPr>
            <a:spLocks noGrp="1"/>
          </p:cNvSpPr>
          <p:nvPr/>
        </p:nvSpPr>
        <p:spPr>
          <a:xfrm>
            <a:off x="566928" y="5001768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الرابع — الهلوسة والتحيّز والمنهجية الخماسية ومستويات المخاطر.‏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8ECDD99-77CA-4527-9414-6A887B43B3F7}"/>
              </a:ext>
            </a:extLst>
          </p:cNvPr>
          <p:cNvSpPr>
            <a:spLocks noGrp="1"/>
          </p:cNvSpPr>
          <p:nvPr/>
        </p:nvSpPr>
        <p:spPr>
          <a:xfrm>
            <a:off x="11313871" y="5449824"/>
            <a:ext cx="310896" cy="310896"/>
          </a:xfrm>
          <a:prstGeom prst="ellipse">
            <a:avLst/>
          </a:prstGeom>
          <a:solidFill>
            <a:srgbClr val="13774A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A279ABD8-A0C1-45D8-841A-D1BB442F64E5}"/>
              </a:ext>
            </a:extLst>
          </p:cNvPr>
          <p:cNvSpPr>
            <a:spLocks noGrp="1"/>
          </p:cNvSpPr>
          <p:nvPr/>
        </p:nvSpPr>
        <p:spPr>
          <a:xfrm>
            <a:off x="11313871" y="54772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‏6‏</a:t>
            </a:r>
            <a:endParaRPr sz="13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B3274A9-12C0-48DE-A71F-2187B42E682B}"/>
              </a:ext>
            </a:extLst>
          </p:cNvPr>
          <p:cNvSpPr>
            <a:spLocks noGrp="1"/>
          </p:cNvSpPr>
          <p:nvPr/>
        </p:nvSpPr>
        <p:spPr>
          <a:xfrm>
            <a:off x="566928" y="5404104"/>
            <a:ext cx="10582351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‏تطبيق الممارسات الآمنة‏</a:t>
            </a:r>
            <a:endParaRPr sz="18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015EC1F-A1A7-4315-962A-0513670AFB15}"/>
              </a:ext>
            </a:extLst>
          </p:cNvPr>
          <p:cNvSpPr>
            <a:spLocks noGrp="1"/>
          </p:cNvSpPr>
          <p:nvPr/>
        </p:nvSpPr>
        <p:spPr>
          <a:xfrm>
            <a:off x="566928" y="5696712"/>
            <a:ext cx="10582351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‏المحور الخامس — تصنيف البيانات والمبادئ الأخلاقية وسياسة الاستخدام.‏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7352476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98E9771-B1E0-45AB-B250-145D203E77D9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103‏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C3A7954-605E-4962-8E2B-FC7A5764FD6A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‏خلاصة اليومين‏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2C4313-D7A1-4254-817D-D388803EB3F2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‏عشر رسائل تخرج بها‏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472F8EC-AB47-4831-80C3-E66CB3679514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AE229A4-77B1-41CC-B993-630B6E6BCF89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033292E-1DA2-4527-B37A-FB0E8B38742B}"/>
              </a:ext>
            </a:extLst>
          </p:cNvPr>
          <p:cNvSpPr>
            <a:spLocks noGrp="1"/>
          </p:cNvSpPr>
          <p:nvPr/>
        </p:nvSpPr>
        <p:spPr>
          <a:xfrm>
            <a:off x="9544873" y="2368296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F53DCB6-41B6-47DD-8D5A-43F7B5E43633}"/>
              </a:ext>
            </a:extLst>
          </p:cNvPr>
          <p:cNvSpPr>
            <a:spLocks noGrp="1"/>
          </p:cNvSpPr>
          <p:nvPr/>
        </p:nvSpPr>
        <p:spPr>
          <a:xfrm>
            <a:off x="9544873" y="2368296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EA359D-E4EC-4C61-AD08-ED677F4F16BA}"/>
              </a:ext>
            </a:extLst>
          </p:cNvPr>
          <p:cNvSpPr>
            <a:spLocks noGrp="1"/>
          </p:cNvSpPr>
          <p:nvPr/>
        </p:nvSpPr>
        <p:spPr>
          <a:xfrm>
            <a:off x="9544873" y="2606040"/>
            <a:ext cx="207989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9759DA9-06FD-4AC7-B732-48D01A66742B}"/>
              </a:ext>
            </a:extLst>
          </p:cNvPr>
          <p:cNvSpPr>
            <a:spLocks noGrp="1"/>
          </p:cNvSpPr>
          <p:nvPr/>
        </p:nvSpPr>
        <p:spPr>
          <a:xfrm>
            <a:off x="9691177" y="2423160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‏١‏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13988E9-DB25-4B0F-A50C-E5138947443E}"/>
              </a:ext>
            </a:extLst>
          </p:cNvPr>
          <p:cNvSpPr>
            <a:spLocks noGrp="1"/>
          </p:cNvSpPr>
          <p:nvPr/>
        </p:nvSpPr>
        <p:spPr>
          <a:xfrm>
            <a:off x="9691177" y="2935224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‏الذكاء الاصطناعي أداة عمل لا تخصصاً تقنياً.‏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47BD4DA-962A-4E82-A4AC-EB6B32504439}"/>
              </a:ext>
            </a:extLst>
          </p:cNvPr>
          <p:cNvSpPr>
            <a:spLocks noGrp="1"/>
          </p:cNvSpPr>
          <p:nvPr/>
        </p:nvSpPr>
        <p:spPr>
          <a:xfrm>
            <a:off x="7300387" y="2368296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0DD74CA-5F8B-4DC7-9760-647E3B2EF446}"/>
              </a:ext>
            </a:extLst>
          </p:cNvPr>
          <p:cNvSpPr>
            <a:spLocks noGrp="1"/>
          </p:cNvSpPr>
          <p:nvPr/>
        </p:nvSpPr>
        <p:spPr>
          <a:xfrm>
            <a:off x="7300387" y="2368296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F3DA8208-6C67-4C0A-8F23-E2843B46000F}"/>
              </a:ext>
            </a:extLst>
          </p:cNvPr>
          <p:cNvSpPr>
            <a:spLocks noGrp="1"/>
          </p:cNvSpPr>
          <p:nvPr/>
        </p:nvSpPr>
        <p:spPr>
          <a:xfrm>
            <a:off x="7300387" y="2606040"/>
            <a:ext cx="207989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6898E8B-D04F-40F2-A604-9798F196A007}"/>
              </a:ext>
            </a:extLst>
          </p:cNvPr>
          <p:cNvSpPr>
            <a:spLocks noGrp="1"/>
          </p:cNvSpPr>
          <p:nvPr/>
        </p:nvSpPr>
        <p:spPr>
          <a:xfrm>
            <a:off x="7446691" y="2423160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‏٢‏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B7F59D3-C234-42A3-85B2-1F183C8BB6C2}"/>
              </a:ext>
            </a:extLst>
          </p:cNvPr>
          <p:cNvSpPr>
            <a:spLocks noGrp="1"/>
          </p:cNvSpPr>
          <p:nvPr/>
        </p:nvSpPr>
        <p:spPr>
          <a:xfrm>
            <a:off x="7446691" y="2935224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‏ابدأ من المهمة لا من الأداة.‏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32C13FB-20C1-4C49-B7EF-4AFC83CF9E52}"/>
              </a:ext>
            </a:extLst>
          </p:cNvPr>
          <p:cNvSpPr>
            <a:spLocks noGrp="1"/>
          </p:cNvSpPr>
          <p:nvPr/>
        </p:nvSpPr>
        <p:spPr>
          <a:xfrm>
            <a:off x="5055900" y="2368296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D7CC03C-9E5E-4361-BB17-A220FDF69341}"/>
              </a:ext>
            </a:extLst>
          </p:cNvPr>
          <p:cNvSpPr>
            <a:spLocks noGrp="1"/>
          </p:cNvSpPr>
          <p:nvPr/>
        </p:nvSpPr>
        <p:spPr>
          <a:xfrm>
            <a:off x="5055900" y="2368296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0C2282E-7BB1-4FED-B946-7A9C749A4A44}"/>
              </a:ext>
            </a:extLst>
          </p:cNvPr>
          <p:cNvSpPr>
            <a:spLocks noGrp="1"/>
          </p:cNvSpPr>
          <p:nvPr/>
        </p:nvSpPr>
        <p:spPr>
          <a:xfrm>
            <a:off x="5055900" y="2606040"/>
            <a:ext cx="207989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1591C61-5200-4626-9E6F-3171EC3AC64F}"/>
              </a:ext>
            </a:extLst>
          </p:cNvPr>
          <p:cNvSpPr>
            <a:spLocks noGrp="1"/>
          </p:cNvSpPr>
          <p:nvPr/>
        </p:nvSpPr>
        <p:spPr>
          <a:xfrm>
            <a:off x="5202204" y="2423160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‏٣‏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0D8D07D-8619-4DB0-8EC9-B045B23C831F}"/>
              </a:ext>
            </a:extLst>
          </p:cNvPr>
          <p:cNvSpPr>
            <a:spLocks noGrp="1"/>
          </p:cNvSpPr>
          <p:nvPr/>
        </p:nvSpPr>
        <p:spPr>
          <a:xfrm>
            <a:off x="5202204" y="2935224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‏جودة المخرج تتبع جودة الأمر.‏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DA3E53E-3EEA-43FF-A6BE-AF5A6EAA4952}"/>
              </a:ext>
            </a:extLst>
          </p:cNvPr>
          <p:cNvSpPr>
            <a:spLocks noGrp="1"/>
          </p:cNvSpPr>
          <p:nvPr/>
        </p:nvSpPr>
        <p:spPr>
          <a:xfrm>
            <a:off x="2811414" y="2368296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BB57115-B9C1-4144-94A6-6D060937704F}"/>
              </a:ext>
            </a:extLst>
          </p:cNvPr>
          <p:cNvSpPr>
            <a:spLocks noGrp="1"/>
          </p:cNvSpPr>
          <p:nvPr/>
        </p:nvSpPr>
        <p:spPr>
          <a:xfrm>
            <a:off x="2811414" y="2368296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57E22AD-F0B2-45B9-BD0E-0DAB2A5A2F10}"/>
              </a:ext>
            </a:extLst>
          </p:cNvPr>
          <p:cNvSpPr>
            <a:spLocks noGrp="1"/>
          </p:cNvSpPr>
          <p:nvPr/>
        </p:nvSpPr>
        <p:spPr>
          <a:xfrm>
            <a:off x="2811414" y="2606040"/>
            <a:ext cx="207989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4E36A87-5D30-41CE-ACEB-3C850EFFCA44}"/>
              </a:ext>
            </a:extLst>
          </p:cNvPr>
          <p:cNvSpPr>
            <a:spLocks noGrp="1"/>
          </p:cNvSpPr>
          <p:nvPr/>
        </p:nvSpPr>
        <p:spPr>
          <a:xfrm>
            <a:off x="2957718" y="2423160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‏٤‏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954E781-7983-4AB1-A738-F2FC99F9BC78}"/>
              </a:ext>
            </a:extLst>
          </p:cNvPr>
          <p:cNvSpPr>
            <a:spLocks noGrp="1"/>
          </p:cNvSpPr>
          <p:nvPr/>
        </p:nvSpPr>
        <p:spPr>
          <a:xfrm>
            <a:off x="2957718" y="2935224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‏إطار RICE هو صديقك الدائم.‏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A3B5D2A2-5143-41FC-9D8C-1D7C20D99A09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22CEBB95-8A63-40BF-AB52-4EEA78E2ADB2}"/>
              </a:ext>
            </a:extLst>
          </p:cNvPr>
          <p:cNvSpPr>
            <a:spLocks noGrp="1"/>
          </p:cNvSpPr>
          <p:nvPr/>
        </p:nvSpPr>
        <p:spPr>
          <a:xfrm>
            <a:off x="566928" y="2368296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3456F39-9A66-4443-8B46-376061A3A026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2079894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5F241659-D23A-4FF7-AB7F-FD595224D746}"/>
              </a:ext>
            </a:extLst>
          </p:cNvPr>
          <p:cNvSpPr>
            <a:spLocks noGrp="1"/>
          </p:cNvSpPr>
          <p:nvPr/>
        </p:nvSpPr>
        <p:spPr>
          <a:xfrm>
            <a:off x="713232" y="2423160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‏٥‏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F51791C-C1BE-4F81-81C1-F69E1AF9455D}"/>
              </a:ext>
            </a:extLst>
          </p:cNvPr>
          <p:cNvSpPr>
            <a:spLocks noGrp="1"/>
          </p:cNvSpPr>
          <p:nvPr/>
        </p:nvSpPr>
        <p:spPr>
          <a:xfrm>
            <a:off x="713232" y="2935224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تقبل الإجابة الأولى.‏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0F32C234-A8B3-4D84-AE18-E19A63915AA6}"/>
              </a:ext>
            </a:extLst>
          </p:cNvPr>
          <p:cNvSpPr>
            <a:spLocks noGrp="1"/>
          </p:cNvSpPr>
          <p:nvPr/>
        </p:nvSpPr>
        <p:spPr>
          <a:xfrm>
            <a:off x="9544873" y="3858768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38BAEDE-4EBE-4E07-A4CE-F46A595592FA}"/>
              </a:ext>
            </a:extLst>
          </p:cNvPr>
          <p:cNvSpPr>
            <a:spLocks noGrp="1"/>
          </p:cNvSpPr>
          <p:nvPr/>
        </p:nvSpPr>
        <p:spPr>
          <a:xfrm>
            <a:off x="9544873" y="3858768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3C2D59BC-9A58-45CE-ADCE-1F5EBF7D3F83}"/>
              </a:ext>
            </a:extLst>
          </p:cNvPr>
          <p:cNvSpPr>
            <a:spLocks noGrp="1"/>
          </p:cNvSpPr>
          <p:nvPr/>
        </p:nvSpPr>
        <p:spPr>
          <a:xfrm>
            <a:off x="9544873" y="4096512"/>
            <a:ext cx="2079894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F799A69-E2A7-4C61-9FB2-6720A6739E5C}"/>
              </a:ext>
            </a:extLst>
          </p:cNvPr>
          <p:cNvSpPr>
            <a:spLocks noGrp="1"/>
          </p:cNvSpPr>
          <p:nvPr/>
        </p:nvSpPr>
        <p:spPr>
          <a:xfrm>
            <a:off x="9691177" y="3913632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‏٦‏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3B325FC-529A-41CE-BB6E-37B9CD565CB2}"/>
              </a:ext>
            </a:extLst>
          </p:cNvPr>
          <p:cNvSpPr>
            <a:spLocks noGrp="1"/>
          </p:cNvSpPr>
          <p:nvPr/>
        </p:nvSpPr>
        <p:spPr>
          <a:xfrm>
            <a:off x="9691177" y="4425696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‏الأداة تخطئ بثقة ولا تحذّرك.‏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92CF837-A773-4334-A170-C08947A49FF8}"/>
              </a:ext>
            </a:extLst>
          </p:cNvPr>
          <p:cNvSpPr>
            <a:spLocks noGrp="1"/>
          </p:cNvSpPr>
          <p:nvPr/>
        </p:nvSpPr>
        <p:spPr>
          <a:xfrm>
            <a:off x="7300387" y="3858768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554128AC-794F-4463-B44F-508708EE067A}"/>
              </a:ext>
            </a:extLst>
          </p:cNvPr>
          <p:cNvSpPr>
            <a:spLocks noGrp="1"/>
          </p:cNvSpPr>
          <p:nvPr/>
        </p:nvSpPr>
        <p:spPr>
          <a:xfrm>
            <a:off x="7300387" y="3858768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17793C8D-E0A7-4A6A-8C87-3613B2B11D4D}"/>
              </a:ext>
            </a:extLst>
          </p:cNvPr>
          <p:cNvSpPr>
            <a:spLocks noGrp="1"/>
          </p:cNvSpPr>
          <p:nvPr/>
        </p:nvSpPr>
        <p:spPr>
          <a:xfrm>
            <a:off x="7300387" y="4096512"/>
            <a:ext cx="207989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430BB31E-AAF0-493F-A72A-819CED41E3DB}"/>
              </a:ext>
            </a:extLst>
          </p:cNvPr>
          <p:cNvSpPr>
            <a:spLocks noGrp="1"/>
          </p:cNvSpPr>
          <p:nvPr/>
        </p:nvSpPr>
        <p:spPr>
          <a:xfrm>
            <a:off x="7446691" y="3913632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‏٧‏</a:t>
            </a:r>
            <a:endParaRPr sz="165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223533F9-349A-476A-9F80-D46AA676E87B}"/>
              </a:ext>
            </a:extLst>
          </p:cNvPr>
          <p:cNvSpPr>
            <a:spLocks noGrp="1"/>
          </p:cNvSpPr>
          <p:nvPr/>
        </p:nvSpPr>
        <p:spPr>
          <a:xfrm>
            <a:off x="7446691" y="4425696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‏التحقق جزء من العمل لا إضافة له.‏</a:t>
            </a:r>
            <a:endParaRPr sz="145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404F8E5-3D1C-4F5A-8BCF-6337DE6E6069}"/>
              </a:ext>
            </a:extLst>
          </p:cNvPr>
          <p:cNvSpPr>
            <a:spLocks noGrp="1"/>
          </p:cNvSpPr>
          <p:nvPr/>
        </p:nvSpPr>
        <p:spPr>
          <a:xfrm>
            <a:off x="5055900" y="3858768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9457428C-5FAB-44CA-AFC6-06B4DC55AA42}"/>
              </a:ext>
            </a:extLst>
          </p:cNvPr>
          <p:cNvSpPr>
            <a:spLocks noGrp="1"/>
          </p:cNvSpPr>
          <p:nvPr/>
        </p:nvSpPr>
        <p:spPr>
          <a:xfrm>
            <a:off x="5055900" y="3858768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947D3D24-34D5-4D27-8FC0-D3B14A03B6FB}"/>
              </a:ext>
            </a:extLst>
          </p:cNvPr>
          <p:cNvSpPr>
            <a:spLocks noGrp="1"/>
          </p:cNvSpPr>
          <p:nvPr/>
        </p:nvSpPr>
        <p:spPr>
          <a:xfrm>
            <a:off x="5055900" y="4096512"/>
            <a:ext cx="207989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B6CDC254-156B-4645-A3C7-AC77870389C8}"/>
              </a:ext>
            </a:extLst>
          </p:cNvPr>
          <p:cNvSpPr>
            <a:spLocks noGrp="1"/>
          </p:cNvSpPr>
          <p:nvPr/>
        </p:nvSpPr>
        <p:spPr>
          <a:xfrm>
            <a:off x="5202204" y="3913632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‏٨‏</a:t>
            </a:r>
            <a:endParaRPr sz="165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B1306C13-F7D5-40C1-A887-9476BE75C2D7}"/>
              </a:ext>
            </a:extLst>
          </p:cNvPr>
          <p:cNvSpPr>
            <a:spLocks noGrp="1"/>
          </p:cNvSpPr>
          <p:nvPr/>
        </p:nvSpPr>
        <p:spPr>
          <a:xfrm>
            <a:off x="5202204" y="4425696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‏لا تُدخل ما لا تقبل ظهوره خارج جهتك.‏</a:t>
            </a:r>
            <a:endParaRPr sz="145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B81568D7-3422-45C7-87F2-A7A3D906472A}"/>
              </a:ext>
            </a:extLst>
          </p:cNvPr>
          <p:cNvSpPr>
            <a:spLocks noGrp="1"/>
          </p:cNvSpPr>
          <p:nvPr/>
        </p:nvSpPr>
        <p:spPr>
          <a:xfrm>
            <a:off x="2811414" y="3858768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F4A5F996-1DBD-446A-8B55-AC8C7061FBBA}"/>
              </a:ext>
            </a:extLst>
          </p:cNvPr>
          <p:cNvSpPr>
            <a:spLocks noGrp="1"/>
          </p:cNvSpPr>
          <p:nvPr/>
        </p:nvSpPr>
        <p:spPr>
          <a:xfrm>
            <a:off x="2811414" y="3858768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0E9E6032-7BA8-4A7C-ACC8-C6FCF5831180}"/>
              </a:ext>
            </a:extLst>
          </p:cNvPr>
          <p:cNvSpPr>
            <a:spLocks noGrp="1"/>
          </p:cNvSpPr>
          <p:nvPr/>
        </p:nvSpPr>
        <p:spPr>
          <a:xfrm>
            <a:off x="2811414" y="4096512"/>
            <a:ext cx="207989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4C72B31B-2811-40B5-ABD1-AE83EE2BDB89}"/>
              </a:ext>
            </a:extLst>
          </p:cNvPr>
          <p:cNvSpPr>
            <a:spLocks noGrp="1"/>
          </p:cNvSpPr>
          <p:nvPr/>
        </p:nvSpPr>
        <p:spPr>
          <a:xfrm>
            <a:off x="2957718" y="3913632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‏٩‏</a:t>
            </a:r>
            <a:endParaRPr sz="165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F6252AF9-2E43-4934-AE1B-7494FB1A850F}"/>
              </a:ext>
            </a:extLst>
          </p:cNvPr>
          <p:cNvSpPr>
            <a:spLocks noGrp="1"/>
          </p:cNvSpPr>
          <p:nvPr/>
        </p:nvSpPr>
        <p:spPr>
          <a:xfrm>
            <a:off x="2957718" y="4425696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‏المسؤولية بشرية ولا تُفوَّض.‏</a:t>
            </a:r>
            <a:endParaRPr sz="145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2E7AE3E6-3E39-4E13-A156-81EDBA31A44C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207989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E6305D9F-DDDB-4381-9D0F-F0DB84C44988}"/>
              </a:ext>
            </a:extLst>
          </p:cNvPr>
          <p:cNvSpPr>
            <a:spLocks noGrp="1"/>
          </p:cNvSpPr>
          <p:nvPr/>
        </p:nvSpPr>
        <p:spPr>
          <a:xfrm>
            <a:off x="566928" y="3858768"/>
            <a:ext cx="207989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7A719D32-13D1-4980-A803-F9F577D72540}"/>
              </a:ext>
            </a:extLst>
          </p:cNvPr>
          <p:cNvSpPr>
            <a:spLocks noGrp="1"/>
          </p:cNvSpPr>
          <p:nvPr/>
        </p:nvSpPr>
        <p:spPr>
          <a:xfrm>
            <a:off x="566928" y="4096512"/>
            <a:ext cx="207989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D2FC24C7-7545-499A-9E32-36EA467138DE}"/>
              </a:ext>
            </a:extLst>
          </p:cNvPr>
          <p:cNvSpPr>
            <a:spLocks noGrp="1"/>
          </p:cNvSpPr>
          <p:nvPr/>
        </p:nvSpPr>
        <p:spPr>
          <a:xfrm>
            <a:off x="713232" y="3913632"/>
            <a:ext cx="178728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‏١٠‏</a:t>
            </a:r>
            <a:endParaRPr sz="165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B022AD0D-4080-4EBE-B663-570D99E99CDD}"/>
              </a:ext>
            </a:extLst>
          </p:cNvPr>
          <p:cNvSpPr>
            <a:spLocks noGrp="1"/>
          </p:cNvSpPr>
          <p:nvPr/>
        </p:nvSpPr>
        <p:spPr>
          <a:xfrm>
            <a:off x="713232" y="4425696"/>
            <a:ext cx="178728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‏العادة الصغيرة المستمرة تتفوّق على الحماس المؤقت.‏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77893974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97F228-ABA4-4A77-B804-176902E4DA5D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104‏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D6A2DEC-5413-4F3A-8719-6D51260C5032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788978-6CD8-455E-BA44-200F6A14B79B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(١ من ٣)‏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56F7945-1F23-440E-9D6A-53694DBE650C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93769D-5AD3-49C5-A3D2-21ED3C8145AE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5F4D105-468F-47C0-B2DF-C06CDFB2C4B3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458C950-8CF1-44EB-A361-C4F680BD7D01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الفارق الجوهري بين البرمجة التقليدية والذكاء الاصطناعي هو:‏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4E23EF9-03B4-477E-94DE-40857467BCDE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CD28F7-4D12-4AF0-99AF-80F57982E484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سرعة المعالجة‏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740E33F-A864-4B75-B37D-45076A7785D2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B502D3-1A5B-4E97-A0BB-6B137444A976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من يكتب القواعد: الإنسان أم النظام‏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38F9447-0A24-49C4-863C-7B4F3D1F0B38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88ED2FA-97F8-4EAE-B270-119A507FCC9B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حجم الملفات‏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001DCFA-9EB3-469B-89C2-B07E5453DBCA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8334EAE-B3FF-4763-8532-B3B566E1A495}"/>
              </a:ext>
            </a:extLst>
          </p:cNvPr>
          <p:cNvSpPr>
            <a:spLocks noGrp="1"/>
          </p:cNvSpPr>
          <p:nvPr/>
        </p:nvSpPr>
        <p:spPr>
          <a:xfrm>
            <a:off x="749808" y="2697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المهمة التي تدرّب عليها النموذج اللغوي الكبير أساساً هي:‏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25BAB2C-B189-40D1-89A7-391DC24427F0}"/>
              </a:ext>
            </a:extLst>
          </p:cNvPr>
          <p:cNvSpPr>
            <a:spLocks noGrp="1"/>
          </p:cNvSpPr>
          <p:nvPr/>
        </p:nvSpPr>
        <p:spPr>
          <a:xfrm>
            <a:off x="7969301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25105252-A330-4F04-B73C-040315020C00}"/>
              </a:ext>
            </a:extLst>
          </p:cNvPr>
          <p:cNvSpPr>
            <a:spLocks noGrp="1"/>
          </p:cNvSpPr>
          <p:nvPr/>
        </p:nvSpPr>
        <p:spPr>
          <a:xfrm>
            <a:off x="8079029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التنبؤ بالكلمة التالية‏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2D3B61E-E2E0-47EE-9B67-F9F4D18A0FE4}"/>
              </a:ext>
            </a:extLst>
          </p:cNvPr>
          <p:cNvSpPr>
            <a:spLocks noGrp="1"/>
          </p:cNvSpPr>
          <p:nvPr/>
        </p:nvSpPr>
        <p:spPr>
          <a:xfrm>
            <a:off x="4359554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1E3BF76-529B-4EC6-B6F4-4973C3BD6FA8}"/>
              </a:ext>
            </a:extLst>
          </p:cNvPr>
          <p:cNvSpPr>
            <a:spLocks noGrp="1"/>
          </p:cNvSpPr>
          <p:nvPr/>
        </p:nvSpPr>
        <p:spPr>
          <a:xfrm>
            <a:off x="4469282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البحث في قواعد البيانات‏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CA7E410C-B62C-4AC8-9AA9-CD8B39A7BFA3}"/>
              </a:ext>
            </a:extLst>
          </p:cNvPr>
          <p:cNvSpPr>
            <a:spLocks noGrp="1"/>
          </p:cNvSpPr>
          <p:nvPr/>
        </p:nvSpPr>
        <p:spPr>
          <a:xfrm>
            <a:off x="749808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5303CE9-7904-46AB-A43B-4D41EBB07060}"/>
              </a:ext>
            </a:extLst>
          </p:cNvPr>
          <p:cNvSpPr>
            <a:spLocks noGrp="1"/>
          </p:cNvSpPr>
          <p:nvPr/>
        </p:nvSpPr>
        <p:spPr>
          <a:xfrm>
            <a:off x="859536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التحقق من صحة المعلومات‏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E0E3B85-FCC4-45A9-B17C-14D67C842A7B}"/>
              </a:ext>
            </a:extLst>
          </p:cNvPr>
          <p:cNvSpPr>
            <a:spLocks noGrp="1"/>
          </p:cNvSpPr>
          <p:nvPr/>
        </p:nvSpPr>
        <p:spPr>
          <a:xfrm>
            <a:off x="566928" y="3749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55836E43-E2DC-40D9-93A8-C6454A1CCA4B}"/>
              </a:ext>
            </a:extLst>
          </p:cNvPr>
          <p:cNvSpPr>
            <a:spLocks noGrp="1"/>
          </p:cNvSpPr>
          <p:nvPr/>
        </p:nvSpPr>
        <p:spPr>
          <a:xfrm>
            <a:off x="749808" y="3840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أي أداة تتكامل مباشرة مع مستنداتك في Microsoft 365؟‏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5C5CA910-5A5F-4B07-A373-B0D58CA922C8}"/>
              </a:ext>
            </a:extLst>
          </p:cNvPr>
          <p:cNvSpPr>
            <a:spLocks noGrp="1"/>
          </p:cNvSpPr>
          <p:nvPr/>
        </p:nvSpPr>
        <p:spPr>
          <a:xfrm>
            <a:off x="7969301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0D427A5-B8BC-4940-A3AC-8E85E6DA3EA5}"/>
              </a:ext>
            </a:extLst>
          </p:cNvPr>
          <p:cNvSpPr>
            <a:spLocks noGrp="1"/>
          </p:cNvSpPr>
          <p:nvPr/>
        </p:nvSpPr>
        <p:spPr>
          <a:xfrm>
            <a:off x="8079029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ChatGPT‏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A3D1431-CCF6-482D-9C33-E151342EBAD5}"/>
              </a:ext>
            </a:extLst>
          </p:cNvPr>
          <p:cNvSpPr>
            <a:spLocks noGrp="1"/>
          </p:cNvSpPr>
          <p:nvPr/>
        </p:nvSpPr>
        <p:spPr>
          <a:xfrm>
            <a:off x="4359554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2690DF3-BEAE-4E5B-8973-0050C5FF1B0C}"/>
              </a:ext>
            </a:extLst>
          </p:cNvPr>
          <p:cNvSpPr>
            <a:spLocks noGrp="1"/>
          </p:cNvSpPr>
          <p:nvPr/>
        </p:nvSpPr>
        <p:spPr>
          <a:xfrm>
            <a:off x="4469282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Microsoft Copilot‏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B2CED28-62BE-4B06-A25F-8E170BADFE29}"/>
              </a:ext>
            </a:extLst>
          </p:cNvPr>
          <p:cNvSpPr>
            <a:spLocks noGrp="1"/>
          </p:cNvSpPr>
          <p:nvPr/>
        </p:nvSpPr>
        <p:spPr>
          <a:xfrm>
            <a:off x="749808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729968D-3077-47EE-AB5F-838F4A74EAEA}"/>
              </a:ext>
            </a:extLst>
          </p:cNvPr>
          <p:cNvSpPr>
            <a:spLocks noGrp="1"/>
          </p:cNvSpPr>
          <p:nvPr/>
        </p:nvSpPr>
        <p:spPr>
          <a:xfrm>
            <a:off x="859536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أداة تفريغ صوتي‏</a:t>
            </a:r>
            <a:endParaRPr sz="145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5E2A6990-4D68-44E0-9D1B-DA7FAE8727D1}"/>
              </a:ext>
            </a:extLst>
          </p:cNvPr>
          <p:cNvSpPr>
            <a:spLocks noGrp="1"/>
          </p:cNvSpPr>
          <p:nvPr/>
        </p:nvSpPr>
        <p:spPr>
          <a:xfrm>
            <a:off x="566928" y="4892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213A5AC-5865-40FB-A272-BB2EAF8908DB}"/>
              </a:ext>
            </a:extLst>
          </p:cNvPr>
          <p:cNvSpPr>
            <a:spLocks noGrp="1"/>
          </p:cNvSpPr>
          <p:nvPr/>
        </p:nvSpPr>
        <p:spPr>
          <a:xfrm>
            <a:off x="749808" y="4983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‏س4.  ماذا يمثّل الحرف R في إطار RICE؟‏</a:t>
            </a:r>
            <a:endParaRPr sz="170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0058FC0-8BF1-42EE-9CA7-730ADDC17925}"/>
              </a:ext>
            </a:extLst>
          </p:cNvPr>
          <p:cNvSpPr>
            <a:spLocks noGrp="1"/>
          </p:cNvSpPr>
          <p:nvPr/>
        </p:nvSpPr>
        <p:spPr>
          <a:xfrm>
            <a:off x="7969301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69EE93EE-2DF8-42CC-B684-88C6733B60C9}"/>
              </a:ext>
            </a:extLst>
          </p:cNvPr>
          <p:cNvSpPr>
            <a:spLocks noGrp="1"/>
          </p:cNvSpPr>
          <p:nvPr/>
        </p:nvSpPr>
        <p:spPr>
          <a:xfrm>
            <a:off x="8079029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الدور (Role)‏</a:t>
            </a:r>
            <a:endParaRPr sz="145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3EABB4B-6F02-4A28-84D2-8C9300008E82}"/>
              </a:ext>
            </a:extLst>
          </p:cNvPr>
          <p:cNvSpPr>
            <a:spLocks noGrp="1"/>
          </p:cNvSpPr>
          <p:nvPr/>
        </p:nvSpPr>
        <p:spPr>
          <a:xfrm>
            <a:off x="4359554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921E1D9-D817-4329-8CB1-F4FA897B042A}"/>
              </a:ext>
            </a:extLst>
          </p:cNvPr>
          <p:cNvSpPr>
            <a:spLocks noGrp="1"/>
          </p:cNvSpPr>
          <p:nvPr/>
        </p:nvSpPr>
        <p:spPr>
          <a:xfrm>
            <a:off x="4469282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المراجعة (Review)‏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4E31059-1591-4CA5-BBB9-2A6C8C6A0D4E}"/>
              </a:ext>
            </a:extLst>
          </p:cNvPr>
          <p:cNvSpPr>
            <a:spLocks noGrp="1"/>
          </p:cNvSpPr>
          <p:nvPr/>
        </p:nvSpPr>
        <p:spPr>
          <a:xfrm>
            <a:off x="749808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E329E90A-2738-4C0D-A09D-ABD16EFB1696}"/>
              </a:ext>
            </a:extLst>
          </p:cNvPr>
          <p:cNvSpPr>
            <a:spLocks noGrp="1"/>
          </p:cNvSpPr>
          <p:nvPr/>
        </p:nvSpPr>
        <p:spPr>
          <a:xfrm>
            <a:off x="859536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النتيجة (Result)‏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0805156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94B7109-D277-4EFB-9C9D-A2AA45E281A7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105‏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46D33EC-9843-4036-83B5-FCFEC3762C3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87C84E7-0CA5-4D6A-B541-F1CF7886757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(٢ من ٣)‏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3B68400-749B-4F27-8E50-9DA7ABEC6A1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D8062F9-6F7E-4133-A632-709BE0EAFA83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5E26EB9-CFBC-4E2F-A752-E69048E0A976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6CE8F3E-D92C-4C7F-86C9-12A915D81F7E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«الهلوسة» تعني:‏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D74ABDC-1F95-4D7F-9D67-9C2C3F264029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B729F7-67F3-41CB-90DF-6DF4A5182EBF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بطء في الاستجابة‏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9E8F4A8-1DF9-485E-871A-BFD7D672C8BD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6B181AD-4972-4A6E-B035-A16B7B2E394D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إنتاج معلومة تبدو صحيحة وهي غير موجودة‏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F2E67EC-2F5D-4300-8E35-25C1336C3F62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7AB3A33-9C60-40BC-9090-8122A96374B4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رفض الإجابة‏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F7EA1E1-646F-4804-9D41-7E3323D0BC21}"/>
              </a:ext>
            </a:extLst>
          </p:cNvPr>
          <p:cNvSpPr>
            <a:spLocks noGrp="1"/>
          </p:cNvSpPr>
          <p:nvPr/>
        </p:nvSpPr>
        <p:spPr>
          <a:xfrm>
            <a:off x="566928" y="2606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E56345A-E60D-4235-B1CB-A16A71C27748}"/>
              </a:ext>
            </a:extLst>
          </p:cNvPr>
          <p:cNvSpPr>
            <a:spLocks noGrp="1"/>
          </p:cNvSpPr>
          <p:nvPr/>
        </p:nvSpPr>
        <p:spPr>
          <a:xfrm>
            <a:off x="749808" y="2697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أفضل وسيلة لتقليل الهلوسة في التلخيص:‏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AFFF08D2-A108-406F-A729-08C429D796DF}"/>
              </a:ext>
            </a:extLst>
          </p:cNvPr>
          <p:cNvSpPr>
            <a:spLocks noGrp="1"/>
          </p:cNvSpPr>
          <p:nvPr/>
        </p:nvSpPr>
        <p:spPr>
          <a:xfrm>
            <a:off x="7969301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DA29561-CE1D-483A-B609-F4F25D8FADD3}"/>
              </a:ext>
            </a:extLst>
          </p:cNvPr>
          <p:cNvSpPr>
            <a:spLocks noGrp="1"/>
          </p:cNvSpPr>
          <p:nvPr/>
        </p:nvSpPr>
        <p:spPr>
          <a:xfrm>
            <a:off x="8079029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طلب التلخيص مرتين‏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948D63B-D96C-46D3-8D87-10A9ECDBADD1}"/>
              </a:ext>
            </a:extLst>
          </p:cNvPr>
          <p:cNvSpPr>
            <a:spLocks noGrp="1"/>
          </p:cNvSpPr>
          <p:nvPr/>
        </p:nvSpPr>
        <p:spPr>
          <a:xfrm>
            <a:off x="4359554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58952DA-9F7F-46D9-8F6D-348DC0516A72}"/>
              </a:ext>
            </a:extLst>
          </p:cNvPr>
          <p:cNvSpPr>
            <a:spLocks noGrp="1"/>
          </p:cNvSpPr>
          <p:nvPr/>
        </p:nvSpPr>
        <p:spPr>
          <a:xfrm>
            <a:off x="4469282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إلصاق النص وتقييد النموذج به حصراً‏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A1A45C5-CBA5-4C2C-8A4E-3821A5A43284}"/>
              </a:ext>
            </a:extLst>
          </p:cNvPr>
          <p:cNvSpPr>
            <a:spLocks noGrp="1"/>
          </p:cNvSpPr>
          <p:nvPr/>
        </p:nvSpPr>
        <p:spPr>
          <a:xfrm>
            <a:off x="749808" y="3063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C9AF9BC0-8B45-4F9E-B96B-6E87830E7872}"/>
              </a:ext>
            </a:extLst>
          </p:cNvPr>
          <p:cNvSpPr>
            <a:spLocks noGrp="1"/>
          </p:cNvSpPr>
          <p:nvPr/>
        </p:nvSpPr>
        <p:spPr>
          <a:xfrm>
            <a:off x="859536" y="3118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استخدام أداة أخرى‏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E33DF4F-D592-4221-BBB5-89650FAD5E1A}"/>
              </a:ext>
            </a:extLst>
          </p:cNvPr>
          <p:cNvSpPr>
            <a:spLocks noGrp="1"/>
          </p:cNvSpPr>
          <p:nvPr/>
        </p:nvSpPr>
        <p:spPr>
          <a:xfrm>
            <a:off x="566928" y="3749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D767D7C-4A5B-4C38-8F1C-C6AF6567734C}"/>
              </a:ext>
            </a:extLst>
          </p:cNvPr>
          <p:cNvSpPr>
            <a:spLocks noGrp="1"/>
          </p:cNvSpPr>
          <p:nvPr/>
        </p:nvSpPr>
        <p:spPr>
          <a:xfrm>
            <a:off x="749808" y="3840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مهمة تتضمن بيانات مستفيدين شخصية تُصنّف:‏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45FC2D3-0B6B-4511-A644-F9648F2D8A17}"/>
              </a:ext>
            </a:extLst>
          </p:cNvPr>
          <p:cNvSpPr>
            <a:spLocks noGrp="1"/>
          </p:cNvSpPr>
          <p:nvPr/>
        </p:nvSpPr>
        <p:spPr>
          <a:xfrm>
            <a:off x="7969301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647A9E0B-A650-431F-98DC-47E293844EE9}"/>
              </a:ext>
            </a:extLst>
          </p:cNvPr>
          <p:cNvSpPr>
            <a:spLocks noGrp="1"/>
          </p:cNvSpPr>
          <p:nvPr/>
        </p:nvSpPr>
        <p:spPr>
          <a:xfrm>
            <a:off x="8079029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أخضر‏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54E793C-FEBB-4020-9CC4-AC797542AAF0}"/>
              </a:ext>
            </a:extLst>
          </p:cNvPr>
          <p:cNvSpPr>
            <a:spLocks noGrp="1"/>
          </p:cNvSpPr>
          <p:nvPr/>
        </p:nvSpPr>
        <p:spPr>
          <a:xfrm>
            <a:off x="4359554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80F4533-8362-400B-A4A2-29758F24472B}"/>
              </a:ext>
            </a:extLst>
          </p:cNvPr>
          <p:cNvSpPr>
            <a:spLocks noGrp="1"/>
          </p:cNvSpPr>
          <p:nvPr/>
        </p:nvSpPr>
        <p:spPr>
          <a:xfrm>
            <a:off x="4469282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أصفر‏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E1638C56-0D46-411A-B3AD-7CD18B822281}"/>
              </a:ext>
            </a:extLst>
          </p:cNvPr>
          <p:cNvSpPr>
            <a:spLocks noGrp="1"/>
          </p:cNvSpPr>
          <p:nvPr/>
        </p:nvSpPr>
        <p:spPr>
          <a:xfrm>
            <a:off x="749808" y="4206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0C745E3F-B534-4B5C-B84F-A2F0EC718268}"/>
              </a:ext>
            </a:extLst>
          </p:cNvPr>
          <p:cNvSpPr>
            <a:spLocks noGrp="1"/>
          </p:cNvSpPr>
          <p:nvPr/>
        </p:nvSpPr>
        <p:spPr>
          <a:xfrm>
            <a:off x="859536" y="4261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‏ج.  أحمر‏</a:t>
            </a:r>
            <a:endParaRPr sz="145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43E42273-BB2D-43E3-A3A6-EE711D46DD23}"/>
              </a:ext>
            </a:extLst>
          </p:cNvPr>
          <p:cNvSpPr>
            <a:spLocks noGrp="1"/>
          </p:cNvSpPr>
          <p:nvPr/>
        </p:nvSpPr>
        <p:spPr>
          <a:xfrm>
            <a:off x="566928" y="4892040"/>
            <a:ext cx="11057839" cy="1014984"/>
          </a:xfrm>
          <a:prstGeom prst="roundRect">
            <a:avLst>
              <a:gd name="adj" fmla="val 8108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28E4631-C664-4F2D-89BD-0012D1F02012}"/>
              </a:ext>
            </a:extLst>
          </p:cNvPr>
          <p:cNvSpPr>
            <a:spLocks noGrp="1"/>
          </p:cNvSpPr>
          <p:nvPr/>
        </p:nvSpPr>
        <p:spPr>
          <a:xfrm>
            <a:off x="749808" y="4983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‏س4.  مسؤولية الخطأ في مذكرة أعدّها مساعد ذكي واعتُمدت تقع على:‏</a:t>
            </a:r>
            <a:endParaRPr sz="170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70622AED-7C97-4891-BD00-29B4C91E154D}"/>
              </a:ext>
            </a:extLst>
          </p:cNvPr>
          <p:cNvSpPr>
            <a:spLocks noGrp="1"/>
          </p:cNvSpPr>
          <p:nvPr/>
        </p:nvSpPr>
        <p:spPr>
          <a:xfrm>
            <a:off x="7969301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FB00243-9CAF-4995-9074-A19CEA3E944A}"/>
              </a:ext>
            </a:extLst>
          </p:cNvPr>
          <p:cNvSpPr>
            <a:spLocks noGrp="1"/>
          </p:cNvSpPr>
          <p:nvPr/>
        </p:nvSpPr>
        <p:spPr>
          <a:xfrm>
            <a:off x="8079029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مزوّد الأداة‏</a:t>
            </a:r>
            <a:endParaRPr sz="145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723D3EE-C860-477F-AC47-D8A2AEAF0D32}"/>
              </a:ext>
            </a:extLst>
          </p:cNvPr>
          <p:cNvSpPr>
            <a:spLocks noGrp="1"/>
          </p:cNvSpPr>
          <p:nvPr/>
        </p:nvSpPr>
        <p:spPr>
          <a:xfrm>
            <a:off x="4359554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D76CDFEA-4DFB-4E22-8343-354E08AD03F3}"/>
              </a:ext>
            </a:extLst>
          </p:cNvPr>
          <p:cNvSpPr>
            <a:spLocks noGrp="1"/>
          </p:cNvSpPr>
          <p:nvPr/>
        </p:nvSpPr>
        <p:spPr>
          <a:xfrm>
            <a:off x="4469282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الموظف المُعِدّ والمعتمِد‏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CC96A51-FC8B-4C97-93CF-3A87007C7C43}"/>
              </a:ext>
            </a:extLst>
          </p:cNvPr>
          <p:cNvSpPr>
            <a:spLocks noGrp="1"/>
          </p:cNvSpPr>
          <p:nvPr/>
        </p:nvSpPr>
        <p:spPr>
          <a:xfrm>
            <a:off x="749808" y="5349240"/>
            <a:ext cx="3472586" cy="484632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1326CD7-8454-4651-99E8-71ACD9008DC2}"/>
              </a:ext>
            </a:extLst>
          </p:cNvPr>
          <p:cNvSpPr>
            <a:spLocks noGrp="1"/>
          </p:cNvSpPr>
          <p:nvPr/>
        </p:nvSpPr>
        <p:spPr>
          <a:xfrm>
            <a:off x="859536" y="5404104"/>
            <a:ext cx="3253130" cy="374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لا أحد‏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161181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FA1AC4E-716F-455A-98A1-32709387F915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106‏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71C2172-745A-487C-9F6D-44226BA459E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‏اختر الإجابة الصحيحة‏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2A9C40C-6B4B-4948-A5B8-9099A43CE91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‏التقييم الختامي (٣ من ٣)‏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4B0CE78-61E6-4F4D-968A-D7DF793AFDD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E2D3CF0-CF2A-4F8A-A20B-F97164AC9FC1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C512B76-3669-4219-8CED-32E4611A91FD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A85C8CD-2BDB-46C1-9BC0-D5C22E9CA7E4}"/>
              </a:ext>
            </a:extLst>
          </p:cNvPr>
          <p:cNvSpPr>
            <a:spLocks noGrp="1"/>
          </p:cNvSpPr>
          <p:nvPr/>
        </p:nvSpPr>
        <p:spPr>
          <a:xfrm>
            <a:off x="749808" y="1554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‏س1.  المهمة المثالية للبدء في توظيف الذكاء الاصطناعي هي:‏</a:t>
            </a:r>
            <a:endParaRPr sz="17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6EDD04A-C160-48F5-BC32-DCC390E0E025}"/>
              </a:ext>
            </a:extLst>
          </p:cNvPr>
          <p:cNvSpPr>
            <a:spLocks noGrp="1"/>
          </p:cNvSpPr>
          <p:nvPr/>
        </p:nvSpPr>
        <p:spPr>
          <a:xfrm>
            <a:off x="7969301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0FCF0D2-7297-4DAA-ACB7-41A9322E5382}"/>
              </a:ext>
            </a:extLst>
          </p:cNvPr>
          <p:cNvSpPr>
            <a:spLocks noGrp="1"/>
          </p:cNvSpPr>
          <p:nvPr/>
        </p:nvSpPr>
        <p:spPr>
          <a:xfrm>
            <a:off x="8079029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نادرة وعالية المخاطر‏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AD88DAF-59BA-4826-A2A9-74519D9232A4}"/>
              </a:ext>
            </a:extLst>
          </p:cNvPr>
          <p:cNvSpPr>
            <a:spLocks noGrp="1"/>
          </p:cNvSpPr>
          <p:nvPr/>
        </p:nvSpPr>
        <p:spPr>
          <a:xfrm>
            <a:off x="4359554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AEAED71-75EC-4862-ABBF-9F185231367A}"/>
              </a:ext>
            </a:extLst>
          </p:cNvPr>
          <p:cNvSpPr>
            <a:spLocks noGrp="1"/>
          </p:cNvSpPr>
          <p:nvPr/>
        </p:nvSpPr>
        <p:spPr>
          <a:xfrm>
            <a:off x="4469282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متكررة ومنخفضة المخاطر وسهلة الوصف‏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6103F3A-5AC9-4D78-92E9-D9B231191172}"/>
              </a:ext>
            </a:extLst>
          </p:cNvPr>
          <p:cNvSpPr>
            <a:spLocks noGrp="1"/>
          </p:cNvSpPr>
          <p:nvPr/>
        </p:nvSpPr>
        <p:spPr>
          <a:xfrm>
            <a:off x="749808" y="1920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66BCC24-14F6-419D-AEA6-381ABDE56CD8}"/>
              </a:ext>
            </a:extLst>
          </p:cNvPr>
          <p:cNvSpPr>
            <a:spLocks noGrp="1"/>
          </p:cNvSpPr>
          <p:nvPr/>
        </p:nvSpPr>
        <p:spPr>
          <a:xfrm>
            <a:off x="859536" y="1975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معقّدة تحتاج عدة أنظمة‏</a:t>
            </a:r>
            <a:endParaRPr sz="145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9B2BD927-ACC4-4C5E-A0BA-F62C173F7A66}"/>
              </a:ext>
            </a:extLst>
          </p:cNvPr>
          <p:cNvSpPr>
            <a:spLocks noGrp="1"/>
          </p:cNvSpPr>
          <p:nvPr/>
        </p:nvSpPr>
        <p:spPr>
          <a:xfrm>
            <a:off x="566928" y="2987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61F86BD-5C0E-4411-9025-EB4005973669}"/>
              </a:ext>
            </a:extLst>
          </p:cNvPr>
          <p:cNvSpPr>
            <a:spLocks noGrp="1"/>
          </p:cNvSpPr>
          <p:nvPr/>
        </p:nvSpPr>
        <p:spPr>
          <a:xfrm>
            <a:off x="749808" y="3078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‏س2.  قياس أثر الاستخدام يبدأ بـ:‏</a:t>
            </a:r>
            <a:endParaRPr sz="17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245CF47-06C7-486A-B22A-6990E59F824A}"/>
              </a:ext>
            </a:extLst>
          </p:cNvPr>
          <p:cNvSpPr>
            <a:spLocks noGrp="1"/>
          </p:cNvSpPr>
          <p:nvPr/>
        </p:nvSpPr>
        <p:spPr>
          <a:xfrm>
            <a:off x="7969301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79E7A6C-AAD2-49D6-AFF3-8238E4CCC445}"/>
              </a:ext>
            </a:extLst>
          </p:cNvPr>
          <p:cNvSpPr>
            <a:spLocks noGrp="1"/>
          </p:cNvSpPr>
          <p:nvPr/>
        </p:nvSpPr>
        <p:spPr>
          <a:xfrm>
            <a:off x="8079029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‏أ.  قياس الزمن قبل الاستخدام‏</a:t>
            </a:r>
            <a:endParaRPr sz="14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7AF6A36-1A2D-4C77-A523-1707A79F7D69}"/>
              </a:ext>
            </a:extLst>
          </p:cNvPr>
          <p:cNvSpPr>
            <a:spLocks noGrp="1"/>
          </p:cNvSpPr>
          <p:nvPr/>
        </p:nvSpPr>
        <p:spPr>
          <a:xfrm>
            <a:off x="4359554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B18F869-40E4-490E-8125-545827EC3573}"/>
              </a:ext>
            </a:extLst>
          </p:cNvPr>
          <p:cNvSpPr>
            <a:spLocks noGrp="1"/>
          </p:cNvSpPr>
          <p:nvPr/>
        </p:nvSpPr>
        <p:spPr>
          <a:xfrm>
            <a:off x="4469282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‏ب.  قياس الزمن بعده‏</a:t>
            </a:r>
            <a:endParaRPr sz="145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3E9550D-39B1-41B9-9B3C-18BC47A187E8}"/>
              </a:ext>
            </a:extLst>
          </p:cNvPr>
          <p:cNvSpPr>
            <a:spLocks noGrp="1"/>
          </p:cNvSpPr>
          <p:nvPr/>
        </p:nvSpPr>
        <p:spPr>
          <a:xfrm>
            <a:off x="749808" y="3444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0CFD491-311B-4A39-BC05-1868806B0C14}"/>
              </a:ext>
            </a:extLst>
          </p:cNvPr>
          <p:cNvSpPr>
            <a:spLocks noGrp="1"/>
          </p:cNvSpPr>
          <p:nvPr/>
        </p:nvSpPr>
        <p:spPr>
          <a:xfrm>
            <a:off x="859536" y="3499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سؤال الزملاء‏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BA207D0-80D5-4EF7-A5B7-BCBFB668397D}"/>
              </a:ext>
            </a:extLst>
          </p:cNvPr>
          <p:cNvSpPr>
            <a:spLocks noGrp="1"/>
          </p:cNvSpPr>
          <p:nvPr/>
        </p:nvSpPr>
        <p:spPr>
          <a:xfrm>
            <a:off x="566928" y="4511040"/>
            <a:ext cx="11057839" cy="1395984"/>
          </a:xfrm>
          <a:prstGeom prst="roundRect">
            <a:avLst>
              <a:gd name="adj" fmla="val 5895"/>
            </a:avLst>
          </a:prstGeom>
          <a:solidFill>
            <a:srgbClr val="F7F8FB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AEE30E7-F4C0-42C2-8B9E-ED064838A968}"/>
              </a:ext>
            </a:extLst>
          </p:cNvPr>
          <p:cNvSpPr>
            <a:spLocks noGrp="1"/>
          </p:cNvSpPr>
          <p:nvPr/>
        </p:nvSpPr>
        <p:spPr>
          <a:xfrm>
            <a:off x="749808" y="4602480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‏س3.  المحتوى الرسمي المنشور والمولّد بالذكاء الاصطناعي:‏</a:t>
            </a:r>
            <a:endParaRPr sz="17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4AEF486C-B353-4C32-A26B-A3C176E1C944}"/>
              </a:ext>
            </a:extLst>
          </p:cNvPr>
          <p:cNvSpPr>
            <a:spLocks noGrp="1"/>
          </p:cNvSpPr>
          <p:nvPr/>
        </p:nvSpPr>
        <p:spPr>
          <a:xfrm>
            <a:off x="7969301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F3B1028-0808-405A-A02D-EE35216E0EAB}"/>
              </a:ext>
            </a:extLst>
          </p:cNvPr>
          <p:cNvSpPr>
            <a:spLocks noGrp="1"/>
          </p:cNvSpPr>
          <p:nvPr/>
        </p:nvSpPr>
        <p:spPr>
          <a:xfrm>
            <a:off x="8079029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‏أ.  يُنشر مباشرة‏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3775AD0-B415-4AE7-B466-A3E6A4E6784B}"/>
              </a:ext>
            </a:extLst>
          </p:cNvPr>
          <p:cNvSpPr>
            <a:spLocks noGrp="1"/>
          </p:cNvSpPr>
          <p:nvPr/>
        </p:nvSpPr>
        <p:spPr>
          <a:xfrm>
            <a:off x="4359554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E8F7F0"/>
          </a:solidFill>
          <a:ln w="19050">
            <a:solidFill>
              <a:srgbClr val="29BA74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B33AB9DF-A5B0-4671-ABC4-DBA3FD309D90}"/>
              </a:ext>
            </a:extLst>
          </p:cNvPr>
          <p:cNvSpPr>
            <a:spLocks noGrp="1"/>
          </p:cNvSpPr>
          <p:nvPr/>
        </p:nvSpPr>
        <p:spPr>
          <a:xfrm>
            <a:off x="4469282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‏ب.  يُفصح عنه ويُراجع بشرياً‏</a:t>
            </a:r>
            <a:endParaRPr sz="14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DB960BD-33EE-4672-AA25-46B23E049BD6}"/>
              </a:ext>
            </a:extLst>
          </p:cNvPr>
          <p:cNvSpPr>
            <a:spLocks noGrp="1"/>
          </p:cNvSpPr>
          <p:nvPr/>
        </p:nvSpPr>
        <p:spPr>
          <a:xfrm>
            <a:off x="749808" y="4968240"/>
            <a:ext cx="3472586" cy="865632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3BD5D3B-ACF3-4604-B948-6E1C30A2AE3B}"/>
              </a:ext>
            </a:extLst>
          </p:cNvPr>
          <p:cNvSpPr>
            <a:spLocks noGrp="1"/>
          </p:cNvSpPr>
          <p:nvPr/>
        </p:nvSpPr>
        <p:spPr>
          <a:xfrm>
            <a:off x="859536" y="5023104"/>
            <a:ext cx="3253130" cy="7559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‏ج.  يُراجع بعد النشر‏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173797063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A73309A-A52D-4720-8091-1D3256187A2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107‏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AD1D17F-A2AD-4E23-93A3-F205511C197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‏التقييم الختامي — أحد عشر سؤالاً‏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086CC4F-C1D4-43C4-AC40-6E921090C45E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‏مفاتيح الإجابة‏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3C636D0-F7F6-443A-ABF4-558DB1C3D949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C66B754-76D5-4BE1-9AED-4617177C91EB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F24AEF7-8F52-4CCF-BD96-E50EF9F71862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‏صحّح إجابتك بنفسك، والاجتياز بسبع إجابات صحيحة فأكثر.‏</a:t>
            </a:r>
            <a:endParaRPr sz="1600"/>
          </a:p>
        </p:txBody>
      </p:sp>
      <p:graphicFrame>
        <p:nvGraphicFramePr>
          <p:cNvPr id="23" name="Table 0"/>
          <p:cNvGraphicFramePr/>
          <p:nvPr/>
        </p:nvGraphicFramePr>
        <p:xfrm>
          <a:off x="566928" y="1883664"/>
          <a:ext cx="11064240" cy="35844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‏الإجابات الصحيحة‏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 المرجعي‏</a:t>
                      </a:r>
                      <a:endParaRPr sz="155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2733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الأول (٤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أ  ·  س٣: ب  ·  س٤: أ‏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‏المحاور الأول والثاني والثالث‏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الثاني (٤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ب  ·  س٣: ج  ·  س٤: ب‏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‏المحوران الرابع والخامس‏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‏الجزء الثالث (٣ أسئلة)‏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‏س١: ب  ·  س٢: أ  ·  س٣: ب‏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‏المحوران الخامس والسادس‏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ممتاز‏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‏عشر إجابات صحيحة فأكثر‏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‏إتقان كامل لنواتج التعلّم‏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جيد جداً‏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‏ثماني أو تسع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‏مراجعة خفيفة للمحور الأضعف‏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‏التقدير: اجتياز‏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‏سبع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‏مراجعة المحاور ذات الإجابات الخاطئة‏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7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‏أقل من الاجتياز‏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‏أقل من سبع إجابات صحيحة‏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400">
                          <a:solidFill>
                            <a:srgbClr val="1A1F3C"/>
                          </a:solidFill>
                          <a:latin typeface="Markazi Text"/>
                          <a:ea typeface="Markazi Text"/>
                          <a:cs typeface="Markazi Text"/>
                        </a:rPr>
                        <a:t>‏يُعاد التقويم بعد مراجعة الحقيبة‏</a:t>
                      </a:r>
                      <a:endParaRPr sz="1400">
                        <a:latin typeface="Markazi Text"/>
                        <a:ea typeface="Markazi Text"/>
                        <a:cs typeface="Markazi Text"/>
                      </a:endParaRPr>
                    </a:p>
                  </a:txBody>
                  <a:tcPr marL="101600" marR="101600" marT="50800" marB="50800" anchor="ctr">
                    <a:lnL w="12700" cmpd="sng">
                      <a:solidFill>
                        <a:srgbClr val="DDE0EA"/>
                      </a:solidFill>
                      <a:prstDash val="solid"/>
                    </a:lnL>
                    <a:lnR w="12700" cmpd="sng">
                      <a:solidFill>
                        <a:srgbClr val="DDE0EA"/>
                      </a:solidFill>
                      <a:prstDash val="solid"/>
                    </a:lnR>
                    <a:lnT w="12700" cmpd="sng">
                      <a:solidFill>
                        <a:srgbClr val="DDE0EA"/>
                      </a:solidFill>
                      <a:prstDash val="solid"/>
                    </a:lnT>
                    <a:lnB w="12700" cmpd="sng">
                      <a:solidFill>
                        <a:srgbClr val="DDE0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6">
            <a:extLst>
              <a:ext uri="{FF2B5EF4-FFF2-40B4-BE49-F238E27FC236}">
                <a16:creationId xmlns:a16="http://schemas.microsoft.com/office/drawing/2014/main" id="{FF86485F-68BF-4C2A-BC26-62F859CE8666}"/>
              </a:ext>
            </a:extLst>
          </p:cNvPr>
          <p:cNvSpPr>
            <a:spLocks noGrp="1"/>
          </p:cNvSpPr>
          <p:nvPr/>
        </p:nvSpPr>
        <p:spPr>
          <a:xfrm>
            <a:off x="566928" y="55961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57E0C62-D8A5-413E-8F4C-F563FC60C148}"/>
              </a:ext>
            </a:extLst>
          </p:cNvPr>
          <p:cNvSpPr>
            <a:spLocks noGrp="1"/>
          </p:cNvSpPr>
          <p:nvPr/>
        </p:nvSpPr>
        <p:spPr>
          <a:xfrm>
            <a:off x="11094415" y="57150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D16D06D-7184-4404-AFF3-03BF64E2013D}"/>
              </a:ext>
            </a:extLst>
          </p:cNvPr>
          <p:cNvSpPr>
            <a:spLocks noGrp="1"/>
          </p:cNvSpPr>
          <p:nvPr/>
        </p:nvSpPr>
        <p:spPr>
          <a:xfrm>
            <a:off x="11094415" y="57424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B5EF9C6-53E8-4DE8-BBC7-69DBA73E972D}"/>
              </a:ext>
            </a:extLst>
          </p:cNvPr>
          <p:cNvSpPr>
            <a:spLocks noGrp="1"/>
          </p:cNvSpPr>
          <p:nvPr/>
        </p:nvSpPr>
        <p:spPr>
          <a:xfrm>
            <a:off x="749808" y="56418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‏شرط الاجتياز الكامل: ٦٠٪ فأعلى في التقويم، وحضور لا يقل عن ٨٠٪، وتسليم المشروع الختامي.‏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09193327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EB0DAF2-CF5C-4392-9A8F-B21010BDC15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110‏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90BCCD3-54CC-42FB-8F31-7D4AA394426E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‏أين ينطبق ما تعلّمته؟‏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79265D6-261C-4F80-BB16-902413392425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‏الصلة بالقطاعات‏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406E3A2-73CF-4E36-9100-E8C8FABC9EE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CAEBA82-F513-4BE8-A789-6ACD2E7009D7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EB9414E-25B1-4597-979F-360E166AC850}"/>
              </a:ext>
            </a:extLst>
          </p:cNvPr>
          <p:cNvSpPr>
            <a:spLocks noGrp="1"/>
          </p:cNvSpPr>
          <p:nvPr/>
        </p:nvSpPr>
        <p:spPr>
          <a:xfrm>
            <a:off x="8983751" y="2542032"/>
            <a:ext cx="264101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C5DCDEE-FAB1-48A4-B60E-3070D2931E59}"/>
              </a:ext>
            </a:extLst>
          </p:cNvPr>
          <p:cNvSpPr>
            <a:spLocks noGrp="1"/>
          </p:cNvSpPr>
          <p:nvPr/>
        </p:nvSpPr>
        <p:spPr>
          <a:xfrm>
            <a:off x="8983751" y="2542032"/>
            <a:ext cx="2641016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C2B1E32-CDA7-4EC7-A6B0-CE0A0483A747}"/>
              </a:ext>
            </a:extLst>
          </p:cNvPr>
          <p:cNvSpPr>
            <a:spLocks noGrp="1"/>
          </p:cNvSpPr>
          <p:nvPr/>
        </p:nvSpPr>
        <p:spPr>
          <a:xfrm>
            <a:off x="8983751" y="2779776"/>
            <a:ext cx="2641016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3C4C245-2D20-4E0C-A530-89D2CD46B5F3}"/>
              </a:ext>
            </a:extLst>
          </p:cNvPr>
          <p:cNvSpPr>
            <a:spLocks noGrp="1"/>
          </p:cNvSpPr>
          <p:nvPr/>
        </p:nvSpPr>
        <p:spPr>
          <a:xfrm>
            <a:off x="9130055" y="2596896"/>
            <a:ext cx="2348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‏الخدمات الحكومية‏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1B2E02E-19AE-406B-A495-E193D173DBF2}"/>
              </a:ext>
            </a:extLst>
          </p:cNvPr>
          <p:cNvSpPr>
            <a:spLocks noGrp="1"/>
          </p:cNvSpPr>
          <p:nvPr/>
        </p:nvSpPr>
        <p:spPr>
          <a:xfrm>
            <a:off x="9130055" y="3108960"/>
            <a:ext cx="2348408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‏المراسلات، المحاضر، الردود على المستفيدين، التقارير الدورية، وأدلة الخدمة.‏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6E929D5-6E20-4C6F-988A-7F28131079FB}"/>
              </a:ext>
            </a:extLst>
          </p:cNvPr>
          <p:cNvSpPr>
            <a:spLocks noGrp="1"/>
          </p:cNvSpPr>
          <p:nvPr/>
        </p:nvSpPr>
        <p:spPr>
          <a:xfrm>
            <a:off x="6178144" y="2542032"/>
            <a:ext cx="264101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ED81ACB-D422-4306-801B-0C02794FF04F}"/>
              </a:ext>
            </a:extLst>
          </p:cNvPr>
          <p:cNvSpPr>
            <a:spLocks noGrp="1"/>
          </p:cNvSpPr>
          <p:nvPr/>
        </p:nvSpPr>
        <p:spPr>
          <a:xfrm>
            <a:off x="6178144" y="2542032"/>
            <a:ext cx="2641016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D91D02D-EBED-423B-A661-DB8C88814944}"/>
              </a:ext>
            </a:extLst>
          </p:cNvPr>
          <p:cNvSpPr>
            <a:spLocks noGrp="1"/>
          </p:cNvSpPr>
          <p:nvPr/>
        </p:nvSpPr>
        <p:spPr>
          <a:xfrm>
            <a:off x="6178144" y="2779776"/>
            <a:ext cx="2641016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B8FAB8B-0131-4947-8AC1-2B08CC47E454}"/>
              </a:ext>
            </a:extLst>
          </p:cNvPr>
          <p:cNvSpPr>
            <a:spLocks noGrp="1"/>
          </p:cNvSpPr>
          <p:nvPr/>
        </p:nvSpPr>
        <p:spPr>
          <a:xfrm>
            <a:off x="6324448" y="2596896"/>
            <a:ext cx="2348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‏التعليم‏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E07CEC2-2D89-4A34-8FA0-47D9E30C7C3A}"/>
              </a:ext>
            </a:extLst>
          </p:cNvPr>
          <p:cNvSpPr>
            <a:spLocks noGrp="1"/>
          </p:cNvSpPr>
          <p:nvPr/>
        </p:nvSpPr>
        <p:spPr>
          <a:xfrm>
            <a:off x="6324448" y="3108960"/>
            <a:ext cx="2348408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‏إعداد المواد، تلخيص الأبحاث، صياغة الاختبارات، والتواصل مع المستفيدين.‏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CBA505E7-2556-4646-962F-97D8FBC50FEE}"/>
              </a:ext>
            </a:extLst>
          </p:cNvPr>
          <p:cNvSpPr>
            <a:spLocks noGrp="1"/>
          </p:cNvSpPr>
          <p:nvPr/>
        </p:nvSpPr>
        <p:spPr>
          <a:xfrm>
            <a:off x="3372536" y="2542032"/>
            <a:ext cx="264101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857218-000F-4615-B312-9433D4EE30A1}"/>
              </a:ext>
            </a:extLst>
          </p:cNvPr>
          <p:cNvSpPr>
            <a:spLocks noGrp="1"/>
          </p:cNvSpPr>
          <p:nvPr/>
        </p:nvSpPr>
        <p:spPr>
          <a:xfrm>
            <a:off x="3372536" y="2542032"/>
            <a:ext cx="2641016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EFB8279-9F33-4F88-9551-6FD7C0801745}"/>
              </a:ext>
            </a:extLst>
          </p:cNvPr>
          <p:cNvSpPr>
            <a:spLocks noGrp="1"/>
          </p:cNvSpPr>
          <p:nvPr/>
        </p:nvSpPr>
        <p:spPr>
          <a:xfrm>
            <a:off x="3372536" y="2779776"/>
            <a:ext cx="2641016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9EF8113-9245-4131-B6D8-D91363112C97}"/>
              </a:ext>
            </a:extLst>
          </p:cNvPr>
          <p:cNvSpPr>
            <a:spLocks noGrp="1"/>
          </p:cNvSpPr>
          <p:nvPr/>
        </p:nvSpPr>
        <p:spPr>
          <a:xfrm>
            <a:off x="3518840" y="2596896"/>
            <a:ext cx="2348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‏الرعاية الصحية‏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20DDA54-D30F-4A62-8EDB-F269C64182EC}"/>
              </a:ext>
            </a:extLst>
          </p:cNvPr>
          <p:cNvSpPr>
            <a:spLocks noGrp="1"/>
          </p:cNvSpPr>
          <p:nvPr/>
        </p:nvSpPr>
        <p:spPr>
          <a:xfrm>
            <a:off x="3518840" y="3108960"/>
            <a:ext cx="2348408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‏المهام الإدارية والتوعوية — مع ضوابط مشددة على البيانات الصحية.‏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2A0C107-90FB-4E44-BFB0-B3C7F8A6F8F4}"/>
              </a:ext>
            </a:extLst>
          </p:cNvPr>
          <p:cNvSpPr>
            <a:spLocks noGrp="1"/>
          </p:cNvSpPr>
          <p:nvPr/>
        </p:nvSpPr>
        <p:spPr>
          <a:xfrm>
            <a:off x="566928" y="2542032"/>
            <a:ext cx="2641016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6C682006-A085-42BA-AEDB-B8D6EB3E8474}"/>
              </a:ext>
            </a:extLst>
          </p:cNvPr>
          <p:cNvSpPr>
            <a:spLocks noGrp="1"/>
          </p:cNvSpPr>
          <p:nvPr/>
        </p:nvSpPr>
        <p:spPr>
          <a:xfrm>
            <a:off x="566928" y="2542032"/>
            <a:ext cx="2641016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A0F4F04-A74A-4B0F-8448-171CF46C9397}"/>
              </a:ext>
            </a:extLst>
          </p:cNvPr>
          <p:cNvSpPr>
            <a:spLocks noGrp="1"/>
          </p:cNvSpPr>
          <p:nvPr/>
        </p:nvSpPr>
        <p:spPr>
          <a:xfrm>
            <a:off x="566928" y="2779776"/>
            <a:ext cx="2641016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C9877842-6328-4712-ABC8-4D6D4FF11830}"/>
              </a:ext>
            </a:extLst>
          </p:cNvPr>
          <p:cNvSpPr>
            <a:spLocks noGrp="1"/>
          </p:cNvSpPr>
          <p:nvPr/>
        </p:nvSpPr>
        <p:spPr>
          <a:xfrm>
            <a:off x="713232" y="2596896"/>
            <a:ext cx="2348408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‏الخدمات المالية‏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31780C0-C7FD-4E25-896B-C1933947EBD7}"/>
              </a:ext>
            </a:extLst>
          </p:cNvPr>
          <p:cNvSpPr>
            <a:spLocks noGrp="1"/>
          </p:cNvSpPr>
          <p:nvPr/>
        </p:nvSpPr>
        <p:spPr>
          <a:xfrm>
            <a:off x="713232" y="3108960"/>
            <a:ext cx="2348408" cy="12252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‏تلخيص التقارير، صياغة المراسلات، وتحليل الوثائق غير الحساسة.‏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2F221591-8B60-4D15-8FFD-5B8E0412DD58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3E3057FF-10B7-46B3-B55B-213724E86697}"/>
              </a:ext>
            </a:extLst>
          </p:cNvPr>
          <p:cNvSpPr>
            <a:spLocks noGrp="1"/>
          </p:cNvSpPr>
          <p:nvPr/>
        </p:nvSpPr>
        <p:spPr>
          <a:xfrm>
            <a:off x="11094415" y="4855464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94B3998-B8D8-4A12-9343-E8432BB06BC7}"/>
              </a:ext>
            </a:extLst>
          </p:cNvPr>
          <p:cNvSpPr>
            <a:spLocks noGrp="1"/>
          </p:cNvSpPr>
          <p:nvPr/>
        </p:nvSpPr>
        <p:spPr>
          <a:xfrm>
            <a:off x="11094415" y="488289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EBDBD88-C6C0-468A-A1C9-648161AA5CBF}"/>
              </a:ext>
            </a:extLst>
          </p:cNvPr>
          <p:cNvSpPr>
            <a:spLocks noGrp="1"/>
          </p:cNvSpPr>
          <p:nvPr/>
        </p:nvSpPr>
        <p:spPr>
          <a:xfrm>
            <a:off x="749808" y="4782312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‏كلما ارتفعت حساسية القطاع، ارتفعت صرامة الضوابط — والمبادئ نفسها تظل سارية.‏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946542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E86E7B-958C-48D0-894E-3C0F868556A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111‏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4FB94E-125C-4A0C-8CE2-DF81191A7D4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‏أدوات جاهزة للاستخدام‏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02BC3F7-FED6-49DF-B5DB-4C8A7E56EF8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‏قائمة ما تأخذه معك‏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CEC740-4760-4FDA-A22D-A55C6974F90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7F6FF28-A0A6-4676-B375-1E6ED66FA0BE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B7D298-DFBF-42B4-976D-98DDAD8BC6A6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‏ثمانية مخرجات ملموسة تخرج بها من هذا البرنامج.‏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D1F99BB-3351-4385-9F78-DDBE1996F034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3174C63-DDE4-4019-936E-66EA293C06EA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9F7741-DCF5-4F15-93E9-758852760D08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‏بطاقة العناصر الأربعة لصياغة الطلب.‏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E9F5686-782D-4AF6-B346-DEEF92A266DD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6B8E80F-B595-4776-8EB7-1D5D29858D85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57BD8B1-3D25-4C0A-A941-588DA27BDB0D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‏عشرون طلب بداية للمهام الشائعة.‏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95A74D5-24C3-4771-B030-79318E66026E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5558D8E-2271-437D-9F5D-6BA7348D24AD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B255A4-6DC8-44A2-8696-22B537CF1E8A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‏بطاقات حالات استخدام حسب الوظيفة والقطاع.‏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23D3C05-BFC7-4D89-A140-D7307753E3C5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682ADF4-D550-46F4-BE39-65231A4F419D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9F5FB00-815D-44B4-B3BA-A2921C1C435A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‏تحدّي التحقق بخمسة مخرجات مقصودة الخطأ.‏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AFB8369-6400-4FA8-A853-B168F7452F5F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3D400AE-6807-4B96-826A-EE5E5DAAD375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F67AFFA-2154-4335-AA05-876CEADEEC5E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‏قائمة التحقق قبل اعتماد أي مخرج.‏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AD2BA0B-7A0C-4A01-8EEC-2FA207A3C322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34A69DB-F252-48A6-B801-D13FE2EBD34E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D9D0CB5-93E6-490A-9C3F-013934FBEFC4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‏قائمة الاستخدام الآمن وما لا يجوز إدخاله.‏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6CC6CFE-85D8-40E6-91C1-3E1CCD81C091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529E5DE1-84F1-428E-B97C-3ABB191842F0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BBF7125-B6A6-4E8E-BD83-83C5C37698DD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‏بطاقة مهمة العمل وخطة الثلاثين يوماً.‏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64B79D6-446C-441E-920D-E48EEA14AA2E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47F1065-7B32-4E3E-8E98-7D4124334FA4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91B59E0-0D5E-4890-AAA7-BF39EE4F3638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‏حزمة بيانات مصطنعة وتمارين قبل الاستخدام وبعده.‏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8182544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E91D371-00D5-465E-87FA-D4E33DDFC7DA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‏الختام  ·  112‏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CEAE579-C4E1-4D26-A3AA-28277811DABF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‏للاستزادة‏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E5D32BE-0448-4A2E-AAA3-9F79C7038C76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‏المصادر والمراجع‏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D51E34A-21FA-419A-8170-B802D68ABBF4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CE9823-634F-4D65-AFD0-52DF87D0B71A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2E02353-EDE7-4735-B0A9-698FAE241F11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40C0A01-7194-4336-A590-A66DAC20FD63}"/>
              </a:ext>
            </a:extLst>
          </p:cNvPr>
          <p:cNvSpPr>
            <a:spLocks noGrp="1"/>
          </p:cNvSpPr>
          <p:nvPr/>
        </p:nvSpPr>
        <p:spPr>
          <a:xfrm>
            <a:off x="8048549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01568FB-AE00-45F7-8CA0-D995E8B08CEE}"/>
              </a:ext>
            </a:extLst>
          </p:cNvPr>
          <p:cNvSpPr>
            <a:spLocks noGrp="1"/>
          </p:cNvSpPr>
          <p:nvPr/>
        </p:nvSpPr>
        <p:spPr>
          <a:xfrm>
            <a:off x="8048549" y="2331720"/>
            <a:ext cx="3576218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8AC3564-9637-4A4D-A3D2-71EA0C7A67D4}"/>
              </a:ext>
            </a:extLst>
          </p:cNvPr>
          <p:cNvSpPr>
            <a:spLocks noGrp="1"/>
          </p:cNvSpPr>
          <p:nvPr/>
        </p:nvSpPr>
        <p:spPr>
          <a:xfrm>
            <a:off x="8194853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65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34C95E-4774-4FD6-AC2D-4AAD31FEEB25}"/>
              </a:ext>
            </a:extLst>
          </p:cNvPr>
          <p:cNvSpPr>
            <a:spLocks noGrp="1"/>
          </p:cNvSpPr>
          <p:nvPr/>
        </p:nvSpPr>
        <p:spPr>
          <a:xfrm>
            <a:off x="8194853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‏الاستراتيجية الوطنية للبيانات والذكاء الاصطناعي، والمبادئ الأخلاقية للذكاء الاصطناعي.‏</a:t>
            </a:r>
            <a:endParaRPr sz="145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B55140-2ECB-4B1E-BB00-0211D0E1F4E3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92A3967-28F4-47A2-901D-EB69935B0614}"/>
              </a:ext>
            </a:extLst>
          </p:cNvPr>
          <p:cNvSpPr>
            <a:spLocks noGrp="1"/>
          </p:cNvSpPr>
          <p:nvPr/>
        </p:nvSpPr>
        <p:spPr>
          <a:xfrm>
            <a:off x="430773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D599182-3B8E-4831-AC8D-26C45C895CDB}"/>
              </a:ext>
            </a:extLst>
          </p:cNvPr>
          <p:cNvSpPr>
            <a:spLocks noGrp="1"/>
          </p:cNvSpPr>
          <p:nvPr/>
        </p:nvSpPr>
        <p:spPr>
          <a:xfrm>
            <a:off x="4307738" y="2331720"/>
            <a:ext cx="3576218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750F3B0-8C0F-495F-9276-1E9A59447486}"/>
              </a:ext>
            </a:extLst>
          </p:cNvPr>
          <p:cNvSpPr>
            <a:spLocks noGrp="1"/>
          </p:cNvSpPr>
          <p:nvPr/>
        </p:nvSpPr>
        <p:spPr>
          <a:xfrm>
            <a:off x="445404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‏نظام حماية البيانات الشخصية‏</a:t>
            </a:r>
            <a:endParaRPr sz="165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F05187E-829E-4934-95EE-5618CB120D71}"/>
              </a:ext>
            </a:extLst>
          </p:cNvPr>
          <p:cNvSpPr>
            <a:spLocks noGrp="1"/>
          </p:cNvSpPr>
          <p:nvPr/>
        </p:nvSpPr>
        <p:spPr>
          <a:xfrm>
            <a:off x="445404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‏النظام ولائحته التنفيذية — الإطار الحاكم للتعامل مع البيانات الشخصية في المملكة.‏</a:t>
            </a:r>
            <a:endParaRPr sz="14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0819DB0-2A33-40B1-8A07-086402A31875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C024685-AFB3-4F24-8E0F-1F88B1FDDB54}"/>
              </a:ext>
            </a:extLst>
          </p:cNvPr>
          <p:cNvSpPr>
            <a:spLocks noGrp="1"/>
          </p:cNvSpPr>
          <p:nvPr/>
        </p:nvSpPr>
        <p:spPr>
          <a:xfrm>
            <a:off x="566928" y="2093976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E7ADEA1-640F-478D-B504-CC4B79ADCEC5}"/>
              </a:ext>
            </a:extLst>
          </p:cNvPr>
          <p:cNvSpPr>
            <a:spLocks noGrp="1"/>
          </p:cNvSpPr>
          <p:nvPr/>
        </p:nvSpPr>
        <p:spPr>
          <a:xfrm>
            <a:off x="566928" y="2331720"/>
            <a:ext cx="3576218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8DB1CB5-8C9B-4361-9360-CC7391408EF2}"/>
              </a:ext>
            </a:extLst>
          </p:cNvPr>
          <p:cNvSpPr>
            <a:spLocks noGrp="1"/>
          </p:cNvSpPr>
          <p:nvPr/>
        </p:nvSpPr>
        <p:spPr>
          <a:xfrm>
            <a:off x="713232" y="2148840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16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1ED49E1-F5B3-446A-8F4F-35460463280A}"/>
              </a:ext>
            </a:extLst>
          </p:cNvPr>
          <p:cNvSpPr>
            <a:spLocks noGrp="1"/>
          </p:cNvSpPr>
          <p:nvPr/>
        </p:nvSpPr>
        <p:spPr>
          <a:xfrm>
            <a:off x="713232" y="2660904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‏حقيبة البرامج التدريبية ومسارات التعلّم المتدرجة والشارات الرقمية.‏</a:t>
            </a:r>
            <a:endParaRPr sz="14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B13CE06-3EDC-4A78-8119-C397A9A6A89C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52B7C60-3305-4BAE-8C42-2AEA3D613A36}"/>
              </a:ext>
            </a:extLst>
          </p:cNvPr>
          <p:cNvSpPr>
            <a:spLocks noGrp="1"/>
          </p:cNvSpPr>
          <p:nvPr/>
        </p:nvSpPr>
        <p:spPr>
          <a:xfrm>
            <a:off x="8048549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1EDE555-3752-4033-8280-C83B8BC5C4EB}"/>
              </a:ext>
            </a:extLst>
          </p:cNvPr>
          <p:cNvSpPr>
            <a:spLocks noGrp="1"/>
          </p:cNvSpPr>
          <p:nvPr/>
        </p:nvSpPr>
        <p:spPr>
          <a:xfrm>
            <a:off x="8048549" y="3822192"/>
            <a:ext cx="3576218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559B509-7583-4401-9069-8316EE8ABB13}"/>
              </a:ext>
            </a:extLst>
          </p:cNvPr>
          <p:cNvSpPr>
            <a:spLocks noGrp="1"/>
          </p:cNvSpPr>
          <p:nvPr/>
        </p:nvSpPr>
        <p:spPr>
          <a:xfrm>
            <a:off x="8194853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‏وثائق مزوّدي الأدوات‏</a:t>
            </a:r>
            <a:endParaRPr sz="165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1B8723F7-992F-4092-8F1D-ABCD4D6336E4}"/>
              </a:ext>
            </a:extLst>
          </p:cNvPr>
          <p:cNvSpPr>
            <a:spLocks noGrp="1"/>
          </p:cNvSpPr>
          <p:nvPr/>
        </p:nvSpPr>
        <p:spPr>
          <a:xfrm>
            <a:off x="8194853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‏سياسات الخصوصية وشروط الاستخدام لكل أداة قبل اعتمادها في العمل.‏</a:t>
            </a:r>
            <a:endParaRPr sz="145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F948684-16F9-4A39-A31F-D6515FE2D69E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B67A98E5-674D-4386-8E76-A002789FD07F}"/>
              </a:ext>
            </a:extLst>
          </p:cNvPr>
          <p:cNvSpPr>
            <a:spLocks noGrp="1"/>
          </p:cNvSpPr>
          <p:nvPr/>
        </p:nvSpPr>
        <p:spPr>
          <a:xfrm>
            <a:off x="430773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B2B0593A-CC01-4AA3-B378-B7E02A427F5B}"/>
              </a:ext>
            </a:extLst>
          </p:cNvPr>
          <p:cNvSpPr>
            <a:spLocks noGrp="1"/>
          </p:cNvSpPr>
          <p:nvPr/>
        </p:nvSpPr>
        <p:spPr>
          <a:xfrm>
            <a:off x="4307738" y="3822192"/>
            <a:ext cx="3576218" cy="219456"/>
          </a:xfrm>
          <a:prstGeom prst="rect">
            <a:avLst/>
          </a:prstGeom>
          <a:solidFill>
            <a:srgbClr val="67CCFF"/>
          </a:solidFill>
          <a:ln w="12700">
            <a:solidFill>
              <a:srgbClr val="67CCFF"/>
            </a:solidFill>
            <a:prstDash val="solid"/>
          </a:ln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1D87C9F-C4A3-4E72-A024-A4D81CC50FD7}"/>
              </a:ext>
            </a:extLst>
          </p:cNvPr>
          <p:cNvSpPr>
            <a:spLocks noGrp="1"/>
          </p:cNvSpPr>
          <p:nvPr/>
        </p:nvSpPr>
        <p:spPr>
          <a:xfrm>
            <a:off x="445404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‏سياسات جهتك الداخلية‏</a:t>
            </a:r>
            <a:endParaRPr sz="165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EC65004-3CDE-446F-9EAB-1E4307DF7016}"/>
              </a:ext>
            </a:extLst>
          </p:cNvPr>
          <p:cNvSpPr>
            <a:spLocks noGrp="1"/>
          </p:cNvSpPr>
          <p:nvPr/>
        </p:nvSpPr>
        <p:spPr>
          <a:xfrm>
            <a:off x="445404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‏سياسة أمن المعلومات وتصنيف البيانات والاستخدام المقبول للتقنية.‏</a:t>
            </a:r>
            <a:endParaRPr sz="14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C9502C54-342C-45C6-9F1E-49C27795EA6E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80B7495-98E4-4E30-A02E-A2200D356B8D}"/>
              </a:ext>
            </a:extLst>
          </p:cNvPr>
          <p:cNvSpPr>
            <a:spLocks noGrp="1"/>
          </p:cNvSpPr>
          <p:nvPr/>
        </p:nvSpPr>
        <p:spPr>
          <a:xfrm>
            <a:off x="566928" y="3584448"/>
            <a:ext cx="3576218" cy="457200"/>
          </a:xfrm>
          <a:prstGeom prst="roundRect">
            <a:avLst>
              <a:gd name="adj" fmla="val 20000"/>
            </a:avLst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13FD1FD3-2141-4F8F-A8DE-066E8100DA09}"/>
              </a:ext>
            </a:extLst>
          </p:cNvPr>
          <p:cNvSpPr>
            <a:spLocks noGrp="1"/>
          </p:cNvSpPr>
          <p:nvPr/>
        </p:nvSpPr>
        <p:spPr>
          <a:xfrm>
            <a:off x="566928" y="3822192"/>
            <a:ext cx="3576218" cy="219456"/>
          </a:xfrm>
          <a:prstGeom prst="rect">
            <a:avLst/>
          </a:prstGeom>
          <a:solidFill>
            <a:srgbClr val="94A0DA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DD996C4-1720-40F3-922D-203CAD19711D}"/>
              </a:ext>
            </a:extLst>
          </p:cNvPr>
          <p:cNvSpPr>
            <a:spLocks noGrp="1"/>
          </p:cNvSpPr>
          <p:nvPr/>
        </p:nvSpPr>
        <p:spPr>
          <a:xfrm>
            <a:off x="713232" y="3639312"/>
            <a:ext cx="328361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‏مراجع التصميم والأدلة‏</a:t>
            </a:r>
            <a:endParaRPr sz="165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3B56358E-F684-44CB-AC00-A412EB58E661}"/>
              </a:ext>
            </a:extLst>
          </p:cNvPr>
          <p:cNvSpPr>
            <a:spLocks noGrp="1"/>
          </p:cNvSpPr>
          <p:nvPr/>
        </p:nvSpPr>
        <p:spPr>
          <a:xfrm>
            <a:off x="713232" y="4151376"/>
            <a:ext cx="3283610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‏OpenAI Academy، Google AI Essentials، Microsoft Learn، NBER، ودراسة HBS وBCG عن الحدود المتعرجة.‏</a:t>
            </a:r>
            <a:endParaRPr sz="145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8B08B1E9-8DA4-4C68-AAAB-21006788DB76}"/>
              </a:ext>
            </a:extLst>
          </p:cNvPr>
          <p:cNvSpPr>
            <a:spLocks noGrp="1"/>
          </p:cNvSpPr>
          <p:nvPr/>
        </p:nvSpPr>
        <p:spPr>
          <a:xfrm>
            <a:off x="566928" y="518464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EFB3213-B6E1-45DC-9F5C-8C09ACFB6364}"/>
              </a:ext>
            </a:extLst>
          </p:cNvPr>
          <p:cNvSpPr>
            <a:spLocks noGrp="1"/>
          </p:cNvSpPr>
          <p:nvPr/>
        </p:nvSpPr>
        <p:spPr>
          <a:xfrm>
            <a:off x="11094415" y="530352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D5CEBFA-7C78-4A60-8F49-D2DAA55BDA25}"/>
              </a:ext>
            </a:extLst>
          </p:cNvPr>
          <p:cNvSpPr>
            <a:spLocks noGrp="1"/>
          </p:cNvSpPr>
          <p:nvPr/>
        </p:nvSpPr>
        <p:spPr>
          <a:xfrm>
            <a:off x="11094415" y="533095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B250F47-31D2-4FB0-9F6A-0F9DB3C19A50}"/>
              </a:ext>
            </a:extLst>
          </p:cNvPr>
          <p:cNvSpPr>
            <a:spLocks noGrp="1"/>
          </p:cNvSpPr>
          <p:nvPr/>
        </p:nvSpPr>
        <p:spPr>
          <a:xfrm>
            <a:off x="749808" y="523036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‏الأدوات تتغيّر بسرعة — راجع سياسات جهتك ومزوّد الأداة دورياً.‏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9490237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053328"/>
            <a:ext cx="438912" cy="393192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358F276-4909-44EF-8079-B20B959B13D9}"/>
              </a:ext>
            </a:extLst>
          </p:cNvPr>
          <p:cNvSpPr>
            <a:spLocks noGrp="1"/>
          </p:cNvSpPr>
          <p:nvPr/>
        </p:nvSpPr>
        <p:spPr>
          <a:xfrm>
            <a:off x="10298887" y="932688"/>
            <a:ext cx="1325880" cy="1325880"/>
          </a:xfrm>
          <a:prstGeom prst="roundRect">
            <a:avLst>
              <a:gd name="adj" fmla="val 11034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CBD4C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41090C4-BDF3-4731-95B1-58B24F6B4A82}"/>
              </a:ext>
            </a:extLst>
          </p:cNvPr>
          <p:cNvSpPr>
            <a:spLocks noGrp="1"/>
          </p:cNvSpPr>
          <p:nvPr/>
        </p:nvSpPr>
        <p:spPr>
          <a:xfrm>
            <a:off x="10298887" y="1060704"/>
            <a:ext cx="132588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‏٨‏</a:t>
            </a:r>
            <a:endParaRPr sz="60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C372117-05AB-4DDA-AA99-713C304BCD05}"/>
              </a:ext>
            </a:extLst>
          </p:cNvPr>
          <p:cNvSpPr>
            <a:spLocks noGrp="1"/>
          </p:cNvSpPr>
          <p:nvPr/>
        </p:nvSpPr>
        <p:spPr>
          <a:xfrm>
            <a:off x="8698687" y="24871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5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‏ملحق‏</a:t>
            </a:r>
            <a:endParaRPr sz="15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EF1F343-06F4-4698-98B5-5E97B07BE0E5}"/>
              </a:ext>
            </a:extLst>
          </p:cNvPr>
          <p:cNvSpPr>
            <a:spLocks noGrp="1"/>
          </p:cNvSpPr>
          <p:nvPr/>
        </p:nvSpPr>
        <p:spPr>
          <a:xfrm>
            <a:off x="566928" y="2798064"/>
            <a:ext cx="11057839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5000"/>
              </a:lnSpc>
              <a:buNone/>
            </a:pPr>
            <a:r>
              <a:rPr sz="42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‏مختبرات الذكاء الاصطناعي في العمل‏</a:t>
            </a:r>
            <a:endParaRPr sz="42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1017C1-4B4F-432E-AEEC-17416A46562C}"/>
              </a:ext>
            </a:extLst>
          </p:cNvPr>
          <p:cNvSpPr>
            <a:spLocks noGrp="1"/>
          </p:cNvSpPr>
          <p:nvPr/>
        </p:nvSpPr>
        <p:spPr>
          <a:xfrm>
            <a:off x="566928" y="3794760"/>
            <a:ext cx="9777679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700">
                <a:solidFill>
                  <a:srgbClr val="BFC7E4"/>
                </a:solidFill>
                <a:latin typeface="Markazi Text"/>
                <a:ea typeface="Markazi Text"/>
                <a:cs typeface="Markazi Text"/>
              </a:rPr>
              <a:t>‏أربع تجارب قصيرة تربط الدليل بالممارسة، وتصلح للتنفيذ داخل القاعة أو كأنشطة اختيارية.‏</a:t>
            </a:r>
            <a:endParaRPr sz="17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497EFB6-C79D-4EE8-995A-DBAF2ECB7A13}"/>
              </a:ext>
            </a:extLst>
          </p:cNvPr>
          <p:cNvSpPr>
            <a:spLocks noGrp="1"/>
          </p:cNvSpPr>
          <p:nvPr/>
        </p:nvSpPr>
        <p:spPr>
          <a:xfrm>
            <a:off x="8970035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A327A46-882A-4321-8D5D-66635081BFD1}"/>
              </a:ext>
            </a:extLst>
          </p:cNvPr>
          <p:cNvSpPr>
            <a:spLocks noGrp="1"/>
          </p:cNvSpPr>
          <p:nvPr/>
        </p:nvSpPr>
        <p:spPr>
          <a:xfrm>
            <a:off x="9116339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‏خدمة العملاء‏</a:t>
            </a:r>
            <a:endParaRPr sz="145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AFE1B73-A828-488B-A7FF-E2267C4FF2A4}"/>
              </a:ext>
            </a:extLst>
          </p:cNvPr>
          <p:cNvSpPr>
            <a:spLocks noGrp="1"/>
          </p:cNvSpPr>
          <p:nvPr/>
        </p:nvSpPr>
        <p:spPr>
          <a:xfrm>
            <a:off x="6169000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2CADD2F-11D5-44B0-ACE7-608CEF1940F1}"/>
              </a:ext>
            </a:extLst>
          </p:cNvPr>
          <p:cNvSpPr>
            <a:spLocks noGrp="1"/>
          </p:cNvSpPr>
          <p:nvPr/>
        </p:nvSpPr>
        <p:spPr>
          <a:xfrm>
            <a:off x="6315304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‏الحدود المتعرجة‏</a:t>
            </a:r>
            <a:endParaRPr sz="14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E9FD0A6-08EB-43A8-B3B5-38568283902F}"/>
              </a:ext>
            </a:extLst>
          </p:cNvPr>
          <p:cNvSpPr>
            <a:spLocks noGrp="1"/>
          </p:cNvSpPr>
          <p:nvPr/>
        </p:nvSpPr>
        <p:spPr>
          <a:xfrm>
            <a:off x="3367964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BBA90F1-BDB0-4496-A407-14138CB1D681}"/>
              </a:ext>
            </a:extLst>
          </p:cNvPr>
          <p:cNvSpPr>
            <a:spLocks noGrp="1"/>
          </p:cNvSpPr>
          <p:nvPr/>
        </p:nvSpPr>
        <p:spPr>
          <a:xfrm>
            <a:off x="3514268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‏التحقق من الملخص‏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B504AEC-78C9-4F39-A585-F943F5100403}"/>
              </a:ext>
            </a:extLst>
          </p:cNvPr>
          <p:cNvSpPr>
            <a:spLocks noGrp="1"/>
          </p:cNvSpPr>
          <p:nvPr/>
        </p:nvSpPr>
        <p:spPr>
          <a:xfrm>
            <a:off x="566928" y="4736592"/>
            <a:ext cx="2654732" cy="82296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C3403FC-D567-4274-B13A-69035306E130}"/>
              </a:ext>
            </a:extLst>
          </p:cNvPr>
          <p:cNvSpPr>
            <a:spLocks noGrp="1"/>
          </p:cNvSpPr>
          <p:nvPr/>
        </p:nvSpPr>
        <p:spPr>
          <a:xfrm>
            <a:off x="713232" y="4882896"/>
            <a:ext cx="236212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45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‏حزمة بيانات تدريبية‏</a:t>
            </a:r>
            <a:endParaRPr sz="1450"/>
          </a:p>
        </p:txBody>
      </p:sp>
    </p:spTree>
    <p:extLst>
      <p:ext uri="{BB962C8B-B14F-4D97-AF65-F5344CB8AC3E}">
        <p14:creationId xmlns:p14="http://schemas.microsoft.com/office/powerpoint/2010/main" val="8806327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D68E718-9FAC-4828-BC8B-27D45F2AA78F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١١٤‏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4FA0942-50F2-4E1A-A2FB-0BC7E8AEA829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‏دراسة حالة ١  ·  خدمة العملاء‏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EBC4551-9147-4A3A-8728-B98CC017C36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‏المساعد الذكي يرفع الإنتاجية عندما تبقى المراجعة بشرية‏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F0F53E1-5D42-453C-BD0E-585526057991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BFCBC27-4645-4387-9AC6-93B1C8033ED4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BB5DE4-CB25-4B9E-B7DD-FA0B4C69D4F5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‏تجربة ميدانية على ٥٬١٧٩ موظف دعم تقني تربط المكسب السريع بنقل الخبرة إلى الموظفين الأقل خبرة.‏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E5D4F06-32AF-4BD0-96DA-5757EA9FF2B4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828FE2-FC16-4476-A2AB-38894962D888}"/>
              </a:ext>
            </a:extLst>
          </p:cNvPr>
          <p:cNvSpPr>
            <a:spLocks noGrp="1"/>
          </p:cNvSpPr>
          <p:nvPr/>
        </p:nvSpPr>
        <p:spPr>
          <a:xfrm>
            <a:off x="6205576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3F68983-E67E-485F-B2A2-8CFAD47B3E9D}"/>
              </a:ext>
            </a:extLst>
          </p:cNvPr>
          <p:cNvSpPr>
            <a:spLocks noGrp="1"/>
          </p:cNvSpPr>
          <p:nvPr/>
        </p:nvSpPr>
        <p:spPr>
          <a:xfrm>
            <a:off x="6205576" y="2139696"/>
            <a:ext cx="5419192" cy="256032"/>
          </a:xfrm>
          <a:prstGeom prst="rect">
            <a:avLst/>
          </a:prstGeom>
          <a:solidFill>
            <a:srgbClr val="D65B4A"/>
          </a:solidFill>
          <a:ln w="12700">
            <a:solidFill>
              <a:srgbClr val="D65B4A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E3763C4-D47E-456B-AF24-A65E3ABF5177}"/>
              </a:ext>
            </a:extLst>
          </p:cNvPr>
          <p:cNvSpPr>
            <a:spLocks noGrp="1"/>
          </p:cNvSpPr>
          <p:nvPr/>
        </p:nvSpPr>
        <p:spPr>
          <a:xfrm>
            <a:off x="6370168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‏النشاط‏</a:t>
            </a:r>
            <a:endParaRPr sz="19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956F0AB-4371-4E37-A749-4F19D3812808}"/>
              </a:ext>
            </a:extLst>
          </p:cNvPr>
          <p:cNvSpPr>
            <a:spLocks noGrp="1"/>
          </p:cNvSpPr>
          <p:nvPr/>
        </p:nvSpPr>
        <p:spPr>
          <a:xfrm>
            <a:off x="11240719" y="2624328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CB7A63D-A5D0-4C57-B1FF-C96CBC67EBD7}"/>
              </a:ext>
            </a:extLst>
          </p:cNvPr>
          <p:cNvSpPr>
            <a:spLocks noGrp="1"/>
          </p:cNvSpPr>
          <p:nvPr/>
        </p:nvSpPr>
        <p:spPr>
          <a:xfrm>
            <a:off x="6370168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‏وزّع ثمانية طلبات عملاء مصطنعة على كل فريق.‏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4D74C692-8A2A-4DC5-90EB-DCE1D1D735C6}"/>
              </a:ext>
            </a:extLst>
          </p:cNvPr>
          <p:cNvSpPr>
            <a:spLocks noGrp="1"/>
          </p:cNvSpPr>
          <p:nvPr/>
        </p:nvSpPr>
        <p:spPr>
          <a:xfrm>
            <a:off x="11240719" y="3209544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C8859B4-E0E1-46C3-A009-FD5DD952E027}"/>
              </a:ext>
            </a:extLst>
          </p:cNvPr>
          <p:cNvSpPr>
            <a:spLocks noGrp="1"/>
          </p:cNvSpPr>
          <p:nvPr/>
        </p:nvSpPr>
        <p:spPr>
          <a:xfrm>
            <a:off x="6370168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‏استخدم أداة معتمدة لإعداد مسودة رد لكل طلب.‏</a:t>
            </a:r>
            <a:endParaRPr sz="155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E731923-9AA5-48B1-B4A9-1F87CAA2EA88}"/>
              </a:ext>
            </a:extLst>
          </p:cNvPr>
          <p:cNvSpPr>
            <a:spLocks noGrp="1"/>
          </p:cNvSpPr>
          <p:nvPr/>
        </p:nvSpPr>
        <p:spPr>
          <a:xfrm>
            <a:off x="11240719" y="3794760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1FD7EC3-8253-4BB3-80B3-191609ADA910}"/>
              </a:ext>
            </a:extLst>
          </p:cNvPr>
          <p:cNvSpPr>
            <a:spLocks noGrp="1"/>
          </p:cNvSpPr>
          <p:nvPr/>
        </p:nvSpPr>
        <p:spPr>
          <a:xfrm>
            <a:off x="6370168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‏راجع الدقة والنبرة والسياسة قبل اعتماد الرد.‏</a:t>
            </a:r>
            <a:endParaRPr sz="15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3DAB8CA-1E9B-4BCF-A972-FF907A13791F}"/>
              </a:ext>
            </a:extLst>
          </p:cNvPr>
          <p:cNvSpPr>
            <a:spLocks noGrp="1"/>
          </p:cNvSpPr>
          <p:nvPr/>
        </p:nvSpPr>
        <p:spPr>
          <a:xfrm>
            <a:off x="11240719" y="4379976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6ED6D34-5849-42A6-A60F-D1D4BEFC6CEA}"/>
              </a:ext>
            </a:extLst>
          </p:cNvPr>
          <p:cNvSpPr>
            <a:spLocks noGrp="1"/>
          </p:cNvSpPr>
          <p:nvPr/>
        </p:nvSpPr>
        <p:spPr>
          <a:xfrm>
            <a:off x="6370168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‏صحّح الردود وسجّل سبب كل تعديل.‏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0FE29D9-145E-47D0-9A7C-8E8D9B72D31D}"/>
              </a:ext>
            </a:extLst>
          </p:cNvPr>
          <p:cNvSpPr>
            <a:spLocks noGrp="1"/>
          </p:cNvSpPr>
          <p:nvPr/>
        </p:nvSpPr>
        <p:spPr>
          <a:xfrm>
            <a:off x="11240719" y="4965192"/>
            <a:ext cx="137160" cy="137160"/>
          </a:xfrm>
          <a:prstGeom prst="ellipse">
            <a:avLst/>
          </a:prstGeom>
          <a:solidFill>
            <a:srgbClr val="D65B4A"/>
          </a:solidFill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A8824AA-EBB1-415E-98F9-308D74219D70}"/>
              </a:ext>
            </a:extLst>
          </p:cNvPr>
          <p:cNvSpPr>
            <a:spLocks noGrp="1"/>
          </p:cNvSpPr>
          <p:nvPr/>
        </p:nvSpPr>
        <p:spPr>
          <a:xfrm>
            <a:off x="6370168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‏قارن الوقت والجودة بين العمل اليدوي والعمل المدعوم.‏</a:t>
            </a:r>
            <a:endParaRPr sz="155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C3819EF-E6A1-4394-A7F4-5E6B5B0CB50A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4000"/>
              </a:srgbClr>
            </a:outerShdw>
          </a:effectLst>
        </p:spPr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CEF49DB3-D101-432B-AD49-A13AA4680AD9}"/>
              </a:ext>
            </a:extLst>
          </p:cNvPr>
          <p:cNvSpPr>
            <a:spLocks noGrp="1"/>
          </p:cNvSpPr>
          <p:nvPr/>
        </p:nvSpPr>
        <p:spPr>
          <a:xfrm>
            <a:off x="566928" y="1865376"/>
            <a:ext cx="5419192" cy="530352"/>
          </a:xfrm>
          <a:prstGeom prst="roundRect">
            <a:avLst>
              <a:gd name="adj" fmla="val 17241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1B3BC561-0CBB-4405-9845-D8107FF5CA54}"/>
              </a:ext>
            </a:extLst>
          </p:cNvPr>
          <p:cNvSpPr>
            <a:spLocks noGrp="1"/>
          </p:cNvSpPr>
          <p:nvPr/>
        </p:nvSpPr>
        <p:spPr>
          <a:xfrm>
            <a:off x="566928" y="2139696"/>
            <a:ext cx="5419192" cy="256032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3D04682-3A4C-45C4-81B6-350DBBF381D7}"/>
              </a:ext>
            </a:extLst>
          </p:cNvPr>
          <p:cNvSpPr>
            <a:spLocks noGrp="1"/>
          </p:cNvSpPr>
          <p:nvPr/>
        </p:nvSpPr>
        <p:spPr>
          <a:xfrm>
            <a:off x="731520" y="1956816"/>
            <a:ext cx="5090008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‏ما تقوله الأدلة‏</a:t>
            </a:r>
            <a:endParaRPr sz="190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81280D11-175C-47BA-B1D7-E72473144811}"/>
              </a:ext>
            </a:extLst>
          </p:cNvPr>
          <p:cNvSpPr>
            <a:spLocks noGrp="1"/>
          </p:cNvSpPr>
          <p:nvPr/>
        </p:nvSpPr>
        <p:spPr>
          <a:xfrm>
            <a:off x="5602072" y="2624328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ED69927-4D39-4B4C-843F-E370FF3883FE}"/>
              </a:ext>
            </a:extLst>
          </p:cNvPr>
          <p:cNvSpPr>
            <a:spLocks noGrp="1"/>
          </p:cNvSpPr>
          <p:nvPr/>
        </p:nvSpPr>
        <p:spPr>
          <a:xfrm>
            <a:off x="731520" y="2532888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‏ارتفع متوسط الإنتاجية بنحو ١٤٪.‏</a:t>
            </a:r>
            <a:endParaRPr sz="15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7C996261-DE10-4934-8D16-AFA381966C54}"/>
              </a:ext>
            </a:extLst>
          </p:cNvPr>
          <p:cNvSpPr>
            <a:spLocks noGrp="1"/>
          </p:cNvSpPr>
          <p:nvPr/>
        </p:nvSpPr>
        <p:spPr>
          <a:xfrm>
            <a:off x="5602072" y="3209544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47BDE3A-269E-4D46-9373-E1DB9BDC27A2}"/>
              </a:ext>
            </a:extLst>
          </p:cNvPr>
          <p:cNvSpPr>
            <a:spLocks noGrp="1"/>
          </p:cNvSpPr>
          <p:nvPr/>
        </p:nvSpPr>
        <p:spPr>
          <a:xfrm>
            <a:off x="731520" y="3118104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‏بلغ الأثر نحو ٣٤٪ لدى الأقل خبرة والمهارة.‏</a:t>
            </a:r>
            <a:endParaRPr sz="155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FAF4F9E-894C-4CB7-8987-AD9EA881E46F}"/>
              </a:ext>
            </a:extLst>
          </p:cNvPr>
          <p:cNvSpPr>
            <a:spLocks noGrp="1"/>
          </p:cNvSpPr>
          <p:nvPr/>
        </p:nvSpPr>
        <p:spPr>
          <a:xfrm>
            <a:off x="5602072" y="3794760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2ECCE59-DEF1-44E4-A895-473A8EE683CD}"/>
              </a:ext>
            </a:extLst>
          </p:cNvPr>
          <p:cNvSpPr>
            <a:spLocks noGrp="1"/>
          </p:cNvSpPr>
          <p:nvPr/>
        </p:nvSpPr>
        <p:spPr>
          <a:xfrm>
            <a:off x="731520" y="3703320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‏ساعدت الأداة في نشر ممارسات الموظفين الأكثر خبرة.‏</a:t>
            </a:r>
            <a:endParaRPr sz="155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A4030353-9B0A-4564-B345-416F2BCF98F0}"/>
              </a:ext>
            </a:extLst>
          </p:cNvPr>
          <p:cNvSpPr>
            <a:spLocks noGrp="1"/>
          </p:cNvSpPr>
          <p:nvPr/>
        </p:nvSpPr>
        <p:spPr>
          <a:xfrm>
            <a:off x="5602072" y="4379976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6B74FCC-2591-4C8F-B468-EDF501270D6D}"/>
              </a:ext>
            </a:extLst>
          </p:cNvPr>
          <p:cNvSpPr>
            <a:spLocks noGrp="1"/>
          </p:cNvSpPr>
          <p:nvPr/>
        </p:nvSpPr>
        <p:spPr>
          <a:xfrm>
            <a:off x="731520" y="4288536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‏تفاوت الأثر بين الموظفين، لذلك لا يكفي رقم متوسط واحد.‏</a:t>
            </a:r>
            <a:endParaRPr sz="155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8842473C-1158-4C36-A495-03A134E5F8C8}"/>
              </a:ext>
            </a:extLst>
          </p:cNvPr>
          <p:cNvSpPr>
            <a:spLocks noGrp="1"/>
          </p:cNvSpPr>
          <p:nvPr/>
        </p:nvSpPr>
        <p:spPr>
          <a:xfrm>
            <a:off x="5602072" y="4965192"/>
            <a:ext cx="137160" cy="137160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B5BAE0A-86E5-48EE-ACAC-8A5E51AFA699}"/>
              </a:ext>
            </a:extLst>
          </p:cNvPr>
          <p:cNvSpPr>
            <a:spLocks noGrp="1"/>
          </p:cNvSpPr>
          <p:nvPr/>
        </p:nvSpPr>
        <p:spPr>
          <a:xfrm>
            <a:off x="731520" y="4873752"/>
            <a:ext cx="4797400" cy="5303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‏يبقى الموظف مسؤولاً عن الرد النهائي قبل الإرسال.‏</a:t>
            </a:r>
            <a:endParaRPr sz="155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ACDA62F3-952C-4377-9992-82A3B412E615}"/>
              </a:ext>
            </a:extLst>
          </p:cNvPr>
          <p:cNvSpPr>
            <a:spLocks noGrp="1"/>
          </p:cNvSpPr>
          <p:nvPr/>
        </p:nvSpPr>
        <p:spPr>
          <a:xfrm>
            <a:off x="566928" y="5614416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A4F04DE2-ACD8-4541-99D1-299ACE937381}"/>
              </a:ext>
            </a:extLst>
          </p:cNvPr>
          <p:cNvSpPr>
            <a:spLocks noGrp="1"/>
          </p:cNvSpPr>
          <p:nvPr/>
        </p:nvSpPr>
        <p:spPr>
          <a:xfrm>
            <a:off x="11094415" y="5733288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80CC2AD-A7DD-41CB-B2D6-51DC85B343AD}"/>
              </a:ext>
            </a:extLst>
          </p:cNvPr>
          <p:cNvSpPr>
            <a:spLocks noGrp="1"/>
          </p:cNvSpPr>
          <p:nvPr/>
        </p:nvSpPr>
        <p:spPr>
          <a:xfrm>
            <a:off x="11094415" y="576072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0D5613E0-9045-4C6C-8BB1-E42DED13FBF5}"/>
              </a:ext>
            </a:extLst>
          </p:cNvPr>
          <p:cNvSpPr>
            <a:spLocks noGrp="1"/>
          </p:cNvSpPr>
          <p:nvPr/>
        </p:nvSpPr>
        <p:spPr>
          <a:xfrm>
            <a:off x="749808" y="5660136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‏سؤال النقاش: هل جاءت القيمة من السرعة، أم الجودة، أم نقل الخبرة؟‏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9901627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66375EB-63D6-4541-A239-EA18A1E4215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١١٥‏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3CA899A-0294-49A8-A351-34575CE51661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‏دراسة حالة ٢  ·  الحدود المتعرجة‏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6F814D-0765-48E7-B8FC-3696FA101249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‏المهمة تحدد دور الذكاء الاصطناعي‏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1339974-4033-4D3E-989F-E5037E71A5BA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29EDD5F-05AD-43CC-8F54-81BF7DE6114F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ED14D07-1C68-422C-8722-F2CBA67443A3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‏في تجربة شملت ٧٥٨ مستشاراً، تحسّن الأداء في المهام الواقعة داخل حدود قدرة الأداة، بينما انخفضت الدقة في مهمة خارجها.‏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BF49C97-24A4-44B5-ADE5-2CEA652B0F1C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ADA9EEC-2D87-486B-9E3D-AE33DBACAF0A}"/>
              </a:ext>
            </a:extLst>
          </p:cNvPr>
          <p:cNvSpPr>
            <a:spLocks noGrp="1"/>
          </p:cNvSpPr>
          <p:nvPr/>
        </p:nvSpPr>
        <p:spPr>
          <a:xfrm>
            <a:off x="6178144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3FB9A389-AF58-4F9C-8E7F-63799B458E87}"/>
              </a:ext>
            </a:extLst>
          </p:cNvPr>
          <p:cNvSpPr>
            <a:spLocks noGrp="1"/>
          </p:cNvSpPr>
          <p:nvPr/>
        </p:nvSpPr>
        <p:spPr>
          <a:xfrm>
            <a:off x="6178144" y="2514600"/>
            <a:ext cx="5446624" cy="219456"/>
          </a:xfrm>
          <a:prstGeom prst="rect">
            <a:avLst/>
          </a:prstGeom>
          <a:solidFill>
            <a:srgbClr val="273370"/>
          </a:solidFill>
          <a:ln w="12700">
            <a:solidFill>
              <a:srgbClr val="273370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585D44-0F66-4EF9-B39D-43B0847762BD}"/>
              </a:ext>
            </a:extLst>
          </p:cNvPr>
          <p:cNvSpPr>
            <a:spLocks noGrp="1"/>
          </p:cNvSpPr>
          <p:nvPr/>
        </p:nvSpPr>
        <p:spPr>
          <a:xfrm>
            <a:off x="6324448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‏ينفّذ‏</a:t>
            </a:r>
            <a:endParaRPr sz="16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E7F356B-9D96-46F7-8D1B-44921DF83C54}"/>
              </a:ext>
            </a:extLst>
          </p:cNvPr>
          <p:cNvSpPr>
            <a:spLocks noGrp="1"/>
          </p:cNvSpPr>
          <p:nvPr/>
        </p:nvSpPr>
        <p:spPr>
          <a:xfrm>
            <a:off x="6324448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‏مسودة خطاب، عناوين مبادرة، أو ترجمة أولية منخفضة المخاطر.‏</a:t>
            </a:r>
            <a:endParaRPr sz="145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BB8A8226-3D53-447D-9F10-3C609FB69F28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C086CDF-BC81-43E8-ACCE-C83BD7980F48}"/>
              </a:ext>
            </a:extLst>
          </p:cNvPr>
          <p:cNvSpPr>
            <a:spLocks noGrp="1"/>
          </p:cNvSpPr>
          <p:nvPr/>
        </p:nvSpPr>
        <p:spPr>
          <a:xfrm>
            <a:off x="566928" y="2276856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853E2137-85CA-4399-AE80-8BDA67B18EA2}"/>
              </a:ext>
            </a:extLst>
          </p:cNvPr>
          <p:cNvSpPr>
            <a:spLocks noGrp="1"/>
          </p:cNvSpPr>
          <p:nvPr/>
        </p:nvSpPr>
        <p:spPr>
          <a:xfrm>
            <a:off x="566928" y="2514600"/>
            <a:ext cx="5446624" cy="219456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CB32672-FBFD-44DC-9853-09391313A1B9}"/>
              </a:ext>
            </a:extLst>
          </p:cNvPr>
          <p:cNvSpPr>
            <a:spLocks noGrp="1"/>
          </p:cNvSpPr>
          <p:nvPr/>
        </p:nvSpPr>
        <p:spPr>
          <a:xfrm>
            <a:off x="713232" y="2331720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‏يساعد‏</a:t>
            </a:r>
            <a:endParaRPr sz="16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CE83DBE-3F9F-44EB-A1FD-55F4C2DBBAFC}"/>
              </a:ext>
            </a:extLst>
          </p:cNvPr>
          <p:cNvSpPr>
            <a:spLocks noGrp="1"/>
          </p:cNvSpPr>
          <p:nvPr/>
        </p:nvSpPr>
        <p:spPr>
          <a:xfrm>
            <a:off x="713232" y="2843784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‏تلخيص تقرير، تحليل شكوى، أو تنظيم جدول مع مراجعة بشرية.‏</a:t>
            </a:r>
            <a:endParaRPr sz="145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D6EFD4A-32F9-4E74-B7ED-340530A41B10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BCD2BBF-7133-44B1-837A-DF9D390DC70D}"/>
              </a:ext>
            </a:extLst>
          </p:cNvPr>
          <p:cNvSpPr>
            <a:spLocks noGrp="1"/>
          </p:cNvSpPr>
          <p:nvPr/>
        </p:nvSpPr>
        <p:spPr>
          <a:xfrm>
            <a:off x="6178144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D42334D-47E0-47B3-B756-5348025C5E6F}"/>
              </a:ext>
            </a:extLst>
          </p:cNvPr>
          <p:cNvSpPr>
            <a:spLocks noGrp="1"/>
          </p:cNvSpPr>
          <p:nvPr/>
        </p:nvSpPr>
        <p:spPr>
          <a:xfrm>
            <a:off x="6178144" y="4005072"/>
            <a:ext cx="5446624" cy="219456"/>
          </a:xfrm>
          <a:prstGeom prst="rect">
            <a:avLst/>
          </a:prstGeom>
          <a:solidFill>
            <a:srgbClr val="6258A6"/>
          </a:solidFill>
          <a:ln w="12700">
            <a:solidFill>
              <a:srgbClr val="6258A6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BA65B64B-C1DD-41C7-9537-CA141102DF1C}"/>
              </a:ext>
            </a:extLst>
          </p:cNvPr>
          <p:cNvSpPr>
            <a:spLocks noGrp="1"/>
          </p:cNvSpPr>
          <p:nvPr/>
        </p:nvSpPr>
        <p:spPr>
          <a:xfrm>
            <a:off x="6324448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‏يقود الإنسان‏</a:t>
            </a:r>
            <a:endParaRPr sz="165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5F00BCF-A84F-4833-A604-22D96A57C7EE}"/>
              </a:ext>
            </a:extLst>
          </p:cNvPr>
          <p:cNvSpPr>
            <a:spLocks noGrp="1"/>
          </p:cNvSpPr>
          <p:nvPr/>
        </p:nvSpPr>
        <p:spPr>
          <a:xfrm>
            <a:off x="6324448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‏اختيار مرشح، تفسير سياسة، أو قرار يؤثر في الأفراد.‏</a:t>
            </a:r>
            <a:endParaRPr sz="14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D7895D9-E359-4D8B-9743-780A4C4F88B3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  <a:effectLst>
            <a:outerShdw blurRad="127000" dist="25400" dir="5400000" algn="bl" rotWithShape="0">
              <a:srgbClr val="9AA0B5">
                <a:alpha val="16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9E40BC5-BD30-4BEA-A7CF-190F5BD32F84}"/>
              </a:ext>
            </a:extLst>
          </p:cNvPr>
          <p:cNvSpPr>
            <a:spLocks noGrp="1"/>
          </p:cNvSpPr>
          <p:nvPr/>
        </p:nvSpPr>
        <p:spPr>
          <a:xfrm>
            <a:off x="566928" y="3767328"/>
            <a:ext cx="5446624" cy="457200"/>
          </a:xfrm>
          <a:prstGeom prst="roundRect">
            <a:avLst>
              <a:gd name="adj" fmla="val 20000"/>
            </a:avLst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CC77155-1707-404F-9F62-C18848253761}"/>
              </a:ext>
            </a:extLst>
          </p:cNvPr>
          <p:cNvSpPr>
            <a:spLocks noGrp="1"/>
          </p:cNvSpPr>
          <p:nvPr/>
        </p:nvSpPr>
        <p:spPr>
          <a:xfrm>
            <a:off x="566928" y="4005072"/>
            <a:ext cx="5446624" cy="219456"/>
          </a:xfrm>
          <a:prstGeom prst="rect">
            <a:avLst/>
          </a:prstGeom>
          <a:solidFill>
            <a:srgbClr val="FCBD4C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B87A9E4-A5DD-4DC8-9843-97483FED9350}"/>
              </a:ext>
            </a:extLst>
          </p:cNvPr>
          <p:cNvSpPr>
            <a:spLocks noGrp="1"/>
          </p:cNvSpPr>
          <p:nvPr/>
        </p:nvSpPr>
        <p:spPr>
          <a:xfrm>
            <a:off x="713232" y="3822192"/>
            <a:ext cx="5154016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650" b="1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‏لا يُستخدم‏</a:t>
            </a:r>
            <a:endParaRPr sz="165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33339D76-B8FE-4FB0-82FC-518E82800977}"/>
              </a:ext>
            </a:extLst>
          </p:cNvPr>
          <p:cNvSpPr>
            <a:spLocks noGrp="1"/>
          </p:cNvSpPr>
          <p:nvPr/>
        </p:nvSpPr>
        <p:spPr>
          <a:xfrm>
            <a:off x="713232" y="4334256"/>
            <a:ext cx="5154016" cy="6309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450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‏قرار طبي أو قانوني ملزم، أو معالجة بيانات سرية في أداة عامة.‏</a:t>
            </a:r>
            <a:endParaRPr sz="145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ECD872ED-18CF-4776-9AF2-722BD75A4D2E}"/>
              </a:ext>
            </a:extLst>
          </p:cNvPr>
          <p:cNvSpPr>
            <a:spLocks noGrp="1"/>
          </p:cNvSpPr>
          <p:nvPr/>
        </p:nvSpPr>
        <p:spPr>
          <a:xfrm>
            <a:off x="566928" y="5367528"/>
            <a:ext cx="11057839" cy="512064"/>
          </a:xfrm>
          <a:prstGeom prst="roundRect">
            <a:avLst>
              <a:gd name="adj" fmla="val 14286"/>
            </a:avLst>
          </a:prstGeom>
          <a:solidFill>
            <a:srgbClr val="EEF7F2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99EBF8CC-3972-4E26-8649-B07C3AB31F75}"/>
              </a:ext>
            </a:extLst>
          </p:cNvPr>
          <p:cNvSpPr>
            <a:spLocks noGrp="1"/>
          </p:cNvSpPr>
          <p:nvPr/>
        </p:nvSpPr>
        <p:spPr>
          <a:xfrm>
            <a:off x="11094415" y="5486400"/>
            <a:ext cx="292608" cy="292608"/>
          </a:xfrm>
          <a:prstGeom prst="ellipse">
            <a:avLst/>
          </a:prstGeom>
          <a:solidFill>
            <a:srgbClr val="29BA74"/>
          </a:solidFill>
        </p:spPr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3B937351-1BB4-48BA-AC0F-451AE9A9ACC1}"/>
              </a:ext>
            </a:extLst>
          </p:cNvPr>
          <p:cNvSpPr>
            <a:spLocks noGrp="1"/>
          </p:cNvSpPr>
          <p:nvPr/>
        </p:nvSpPr>
        <p:spPr>
          <a:xfrm>
            <a:off x="11094415" y="551383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4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✓</a:t>
            </a:r>
            <a:endParaRPr sz="1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E8419B7-7C12-4679-AD30-A60DD317DDF7}"/>
              </a:ext>
            </a:extLst>
          </p:cNvPr>
          <p:cNvSpPr>
            <a:spLocks noGrp="1"/>
          </p:cNvSpPr>
          <p:nvPr/>
        </p:nvSpPr>
        <p:spPr>
          <a:xfrm>
            <a:off x="749808" y="5413248"/>
            <a:ext cx="10180015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00">
                <a:solidFill>
                  <a:srgbClr val="1E6B48"/>
                </a:solidFill>
                <a:latin typeface="Markazi Text"/>
                <a:ea typeface="Markazi Text"/>
                <a:cs typeface="Markazi Text"/>
              </a:rPr>
              <a:t>‏النشاط: صنّف عشر مهام، ثم اكتب سبب التصنيف ونقطة التدخل البشري.‏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2714061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9EA8635-08D2-4EE5-B5D0-D36D2581BC3E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١١٦‏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1FEC36-89D5-4E2C-AA4B-1AFB686CB27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FCBD4C"/>
                </a:solidFill>
                <a:latin typeface="Markazi Text"/>
                <a:ea typeface="Markazi Text"/>
                <a:cs typeface="Markazi Text"/>
              </a:rPr>
              <a:t>‏مختبر تحقق  ·  20 دقيقة‏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BFA5AF0-3017-4191-B768-030C36F58503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9320479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2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‏الملخص التنفيذي الذي كاد أن يُعتمد‏</a:t>
            </a:r>
            <a:endParaRPr sz="32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CA4D7A0-FEC3-45A6-AF4F-B9A88BB17932}"/>
              </a:ext>
            </a:extLst>
          </p:cNvPr>
          <p:cNvSpPr>
            <a:spLocks noGrp="1"/>
          </p:cNvSpPr>
          <p:nvPr/>
        </p:nvSpPr>
        <p:spPr>
          <a:xfrm>
            <a:off x="566928" y="457200"/>
            <a:ext cx="1572768" cy="658368"/>
          </a:xfrm>
          <a:prstGeom prst="roundRect">
            <a:avLst>
              <a:gd name="adj" fmla="val 13889"/>
            </a:avLst>
          </a:prstGeom>
          <a:solidFill>
            <a:srgbClr val="FCBD4C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568810-2E5C-4CE2-A942-1226B8A0F4BF}"/>
              </a:ext>
            </a:extLst>
          </p:cNvPr>
          <p:cNvSpPr>
            <a:spLocks noGrp="1"/>
          </p:cNvSpPr>
          <p:nvPr/>
        </p:nvSpPr>
        <p:spPr>
          <a:xfrm>
            <a:off x="566928" y="566928"/>
            <a:ext cx="1572768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600" b="1">
                <a:solidFill>
                  <a:srgbClr val="4A3200"/>
                </a:solidFill>
                <a:latin typeface="Markazi Text"/>
                <a:ea typeface="Markazi Text"/>
                <a:cs typeface="Markazi Text"/>
              </a:rPr>
              <a:t>‏⏱  20 دقيقة‏</a:t>
            </a:r>
            <a:endParaRPr sz="16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6B38DE3-E72F-4524-91AC-9C897BF6889D}"/>
              </a:ext>
            </a:extLst>
          </p:cNvPr>
          <p:cNvSpPr>
            <a:spLocks noGrp="1"/>
          </p:cNvSpPr>
          <p:nvPr/>
        </p:nvSpPr>
        <p:spPr>
          <a:xfrm>
            <a:off x="566928" y="1463040"/>
            <a:ext cx="11057839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FCBD4C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F50206E-101E-4AC3-A6BF-C9256B9BC56B}"/>
              </a:ext>
            </a:extLst>
          </p:cNvPr>
          <p:cNvSpPr>
            <a:spLocks noGrp="1"/>
          </p:cNvSpPr>
          <p:nvPr/>
        </p:nvSpPr>
        <p:spPr>
          <a:xfrm>
            <a:off x="768096" y="1572768"/>
            <a:ext cx="10655503" cy="6583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400"/>
              </a:lnSpc>
              <a:buNone/>
            </a:pPr>
            <a:r>
              <a:rPr sz="1650">
                <a:solidFill>
                  <a:srgbClr val="5A4210"/>
                </a:solidFill>
                <a:latin typeface="Markazi Text"/>
                <a:ea typeface="Markazi Text"/>
                <a:cs typeface="Markazi Text"/>
              </a:rPr>
              <a:t>‏يعمل كل فريق على تقرير مصطنع من ثلاث صفحات يحتوي رقمين متشابهين، ثم يراجع ملخصاً توليدياً زرع فيه خطأ واحد.‏</a:t>
            </a:r>
            <a:endParaRPr sz="165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C7E4093-3343-45B4-B050-E5F2A702A8DB}"/>
              </a:ext>
            </a:extLst>
          </p:cNvPr>
          <p:cNvSpPr>
            <a:spLocks noGrp="1"/>
          </p:cNvSpPr>
          <p:nvPr/>
        </p:nvSpPr>
        <p:spPr>
          <a:xfrm>
            <a:off x="566928" y="2487168"/>
            <a:ext cx="11057839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8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‏خطوات التنفيذ‏</a:t>
            </a:r>
            <a:endParaRPr sz="18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1EE6CDA-AB0D-44C3-8D66-BD30462DB42D}"/>
              </a:ext>
            </a:extLst>
          </p:cNvPr>
          <p:cNvSpPr>
            <a:spLocks noGrp="1"/>
          </p:cNvSpPr>
          <p:nvPr/>
        </p:nvSpPr>
        <p:spPr>
          <a:xfrm>
            <a:off x="11295583" y="29443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DC53AAC-B87F-4D27-A84B-C80A231139FC}"/>
              </a:ext>
            </a:extLst>
          </p:cNvPr>
          <p:cNvSpPr>
            <a:spLocks noGrp="1"/>
          </p:cNvSpPr>
          <p:nvPr/>
        </p:nvSpPr>
        <p:spPr>
          <a:xfrm>
            <a:off x="11295583" y="2980944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‏1‏</a:t>
            </a:r>
            <a:endParaRPr sz="135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D7CD6B-C87B-4D93-B50A-814940640E8F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‏اطلب ملخصاً تنفيذياً من خمس نقاط وقرار مطلوب واحد.‏</a:t>
            </a:r>
            <a:endParaRPr sz="16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5820D79F-F7D4-4D7A-95AB-B11F089732B6}"/>
              </a:ext>
            </a:extLst>
          </p:cNvPr>
          <p:cNvSpPr>
            <a:spLocks noGrp="1"/>
          </p:cNvSpPr>
          <p:nvPr/>
        </p:nvSpPr>
        <p:spPr>
          <a:xfrm>
            <a:off x="11295583" y="343814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44D224A-0CB2-4A20-929F-A3A81E8E6BCF}"/>
              </a:ext>
            </a:extLst>
          </p:cNvPr>
          <p:cNvSpPr>
            <a:spLocks noGrp="1"/>
          </p:cNvSpPr>
          <p:nvPr/>
        </p:nvSpPr>
        <p:spPr>
          <a:xfrm>
            <a:off x="11295583" y="3474720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‏2‏</a:t>
            </a:r>
            <a:endParaRPr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60F4441-29AC-4F38-84F6-E2579C9F0BEE}"/>
              </a:ext>
            </a:extLst>
          </p:cNvPr>
          <p:cNvSpPr>
            <a:spLocks noGrp="1"/>
          </p:cNvSpPr>
          <p:nvPr/>
        </p:nvSpPr>
        <p:spPr>
          <a:xfrm>
            <a:off x="566928" y="3438144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‏ضع خطاً تحت كل ادعاء ورقم واسم في الملخص.‏</a:t>
            </a:r>
            <a:endParaRPr sz="16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0E5D26D-4EBF-4F90-9282-BBE131077540}"/>
              </a:ext>
            </a:extLst>
          </p:cNvPr>
          <p:cNvSpPr>
            <a:spLocks noGrp="1"/>
          </p:cNvSpPr>
          <p:nvPr/>
        </p:nvSpPr>
        <p:spPr>
          <a:xfrm>
            <a:off x="11295583" y="3931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A82C326-21CF-47E9-816C-D23141A731C9}"/>
              </a:ext>
            </a:extLst>
          </p:cNvPr>
          <p:cNvSpPr>
            <a:spLocks noGrp="1"/>
          </p:cNvSpPr>
          <p:nvPr/>
        </p:nvSpPr>
        <p:spPr>
          <a:xfrm>
            <a:off x="11295583" y="3968496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‏3‏</a:t>
            </a:r>
            <a:endParaRPr sz="135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07817CB-936E-4CB4-A40C-90218789BC12}"/>
              </a:ext>
            </a:extLst>
          </p:cNvPr>
          <p:cNvSpPr>
            <a:spLocks noGrp="1"/>
          </p:cNvSpPr>
          <p:nvPr/>
        </p:nvSpPr>
        <p:spPr>
          <a:xfrm>
            <a:off x="566928" y="3931920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‏ارجع إلى المصدر، وسجّل موضع الدليل لكل ادعاء.‏</a:t>
            </a:r>
            <a:endParaRPr sz="160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671FD2B-68A5-4222-A69C-68C3F40984DA}"/>
              </a:ext>
            </a:extLst>
          </p:cNvPr>
          <p:cNvSpPr>
            <a:spLocks noGrp="1"/>
          </p:cNvSpPr>
          <p:nvPr/>
        </p:nvSpPr>
        <p:spPr>
          <a:xfrm>
            <a:off x="11295583" y="4425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9956643E-43BD-48B4-9020-2212935EC586}"/>
              </a:ext>
            </a:extLst>
          </p:cNvPr>
          <p:cNvSpPr>
            <a:spLocks noGrp="1"/>
          </p:cNvSpPr>
          <p:nvPr/>
        </p:nvSpPr>
        <p:spPr>
          <a:xfrm>
            <a:off x="11295583" y="4462272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‏4‏</a:t>
            </a:r>
            <a:endParaRPr sz="13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AFB31967-002D-45C7-A0AB-0B7EDD528DBD}"/>
              </a:ext>
            </a:extLst>
          </p:cNvPr>
          <p:cNvSpPr>
            <a:spLocks noGrp="1"/>
          </p:cNvSpPr>
          <p:nvPr/>
        </p:nvSpPr>
        <p:spPr>
          <a:xfrm>
            <a:off x="566928" y="4425696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‏ميّز ما ورد في المصدر عن استنتاج الأداة.‏</a:t>
            </a:r>
            <a:endParaRPr sz="16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1FCC7F4-A10F-4772-A608-8DEF677A3418}"/>
              </a:ext>
            </a:extLst>
          </p:cNvPr>
          <p:cNvSpPr>
            <a:spLocks noGrp="1"/>
          </p:cNvSpPr>
          <p:nvPr/>
        </p:nvSpPr>
        <p:spPr>
          <a:xfrm>
            <a:off x="11295583" y="491947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73370"/>
          </a:solidFill>
        </p:spPr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74A45C0-CD58-452A-B30D-19C2DF8A0C3B}"/>
              </a:ext>
            </a:extLst>
          </p:cNvPr>
          <p:cNvSpPr>
            <a:spLocks noGrp="1"/>
          </p:cNvSpPr>
          <p:nvPr/>
        </p:nvSpPr>
        <p:spPr>
          <a:xfrm>
            <a:off x="11295583" y="4956048"/>
            <a:ext cx="329184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‏5‏</a:t>
            </a:r>
            <a:endParaRPr sz="135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AB70C158-8B4C-4764-B8FF-954A73CDD8C0}"/>
              </a:ext>
            </a:extLst>
          </p:cNvPr>
          <p:cNvSpPr>
            <a:spLocks noGrp="1"/>
          </p:cNvSpPr>
          <p:nvPr/>
        </p:nvSpPr>
        <p:spPr>
          <a:xfrm>
            <a:off x="566928" y="4919472"/>
            <a:ext cx="10564063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sz="160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‏أنتج نسخة قابلة للاعتماد مع الإشارة إلى أي معلومة ناقصة.‏</a:t>
            </a:r>
            <a:endParaRPr sz="16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B0FBE9E-922E-47F9-8555-10CC8360A1E9}"/>
              </a:ext>
            </a:extLst>
          </p:cNvPr>
          <p:cNvSpPr>
            <a:spLocks noGrp="1"/>
          </p:cNvSpPr>
          <p:nvPr/>
        </p:nvSpPr>
        <p:spPr>
          <a:xfrm>
            <a:off x="566928" y="5504688"/>
            <a:ext cx="11057839" cy="530352"/>
          </a:xfrm>
          <a:prstGeom prst="roundRect">
            <a:avLst>
              <a:gd name="adj" fmla="val 13793"/>
            </a:avLst>
          </a:prstGeom>
          <a:solidFill>
            <a:srgbClr val="EEF1F9"/>
          </a:solidFill>
          <a:ln w="12700">
            <a:solidFill>
              <a:srgbClr val="94A0DA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8D8E7D0-A279-4DFF-9E28-84908D58BDCF}"/>
              </a:ext>
            </a:extLst>
          </p:cNvPr>
          <p:cNvSpPr>
            <a:spLocks noGrp="1"/>
          </p:cNvSpPr>
          <p:nvPr/>
        </p:nvSpPr>
        <p:spPr>
          <a:xfrm>
            <a:off x="768096" y="5559552"/>
            <a:ext cx="10655503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55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‏المخرج المتوقع: ملخص مصحّح، وجدول ادعاء ومصدر، وقرار موثّق: استخدم أو تحقّق أو ارفض.‏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49106629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245352"/>
            <a:ext cx="457200" cy="41148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AE86E7B-958C-48D0-894E-3C0F868556A8}"/>
              </a:ext>
            </a:extLst>
          </p:cNvPr>
          <p:cNvSpPr>
            <a:spLocks noGrp="1"/>
          </p:cNvSpPr>
          <p:nvPr/>
        </p:nvSpPr>
        <p:spPr>
          <a:xfrm>
            <a:off x="7784287" y="63367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100">
                <a:solidFill>
                  <a:srgbClr val="A0A5B8"/>
                </a:solidFill>
                <a:latin typeface="Markazi Text"/>
                <a:ea typeface="Markazi Text"/>
                <a:cs typeface="Markazi Text"/>
              </a:rPr>
              <a:t>‏الملحق التطبيقي  ·  ١١٧‏</a:t>
            </a:r>
            <a:endParaRPr sz="11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4FB94E-125C-4A0C-8CE2-DF81191A7D46}"/>
              </a:ext>
            </a:extLst>
          </p:cNvPr>
          <p:cNvSpPr>
            <a:spLocks noGrp="1"/>
          </p:cNvSpPr>
          <p:nvPr/>
        </p:nvSpPr>
        <p:spPr>
          <a:xfrm>
            <a:off x="566928" y="420624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400" b="1">
                <a:solidFill>
                  <a:srgbClr val="29BA74"/>
                </a:solidFill>
                <a:latin typeface="Markazi Text"/>
                <a:ea typeface="Markazi Text"/>
                <a:cs typeface="Markazi Text"/>
              </a:rPr>
              <a:t>‏حزمة بيانات مصطنعة‏</a:t>
            </a:r>
            <a:endParaRPr sz="140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02BC3F7-FED6-49DF-B5DB-4C8A7E56EF8D}"/>
              </a:ext>
            </a:extLst>
          </p:cNvPr>
          <p:cNvSpPr>
            <a:spLocks noGrp="1"/>
          </p:cNvSpPr>
          <p:nvPr/>
        </p:nvSpPr>
        <p:spPr>
          <a:xfrm>
            <a:off x="566928" y="694944"/>
            <a:ext cx="11057839" cy="6583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3300" b="1">
                <a:solidFill>
                  <a:srgbClr val="273370"/>
                </a:solidFill>
                <a:latin typeface="Markazi Text"/>
                <a:ea typeface="Markazi Text"/>
                <a:cs typeface="Markazi Text"/>
              </a:rPr>
              <a:t>‏ثمانية ملفات صغيرة لتمارين واقعية وآمنة‏</a:t>
            </a:r>
            <a:endParaRPr sz="33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DCEC740-4760-4FDA-A22D-A55C6974F90D}"/>
              </a:ext>
            </a:extLst>
          </p:cNvPr>
          <p:cNvSpPr>
            <a:spLocks noGrp="1"/>
          </p:cNvSpPr>
          <p:nvPr/>
        </p:nvSpPr>
        <p:spPr>
          <a:xfrm rot="2700000">
            <a:off x="566928" y="566928"/>
            <a:ext cx="182880" cy="182880"/>
          </a:xfrm>
          <a:prstGeom prst="rect">
            <a:avLst/>
          </a:prstGeom>
          <a:solidFill>
            <a:srgbClr val="FCB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7F6FF28-A0A6-4676-B375-1E6ED66FA0BE}"/>
              </a:ext>
            </a:extLst>
          </p:cNvPr>
          <p:cNvSpPr>
            <a:spLocks noGrp="1"/>
          </p:cNvSpPr>
          <p:nvPr/>
        </p:nvSpPr>
        <p:spPr>
          <a:xfrm rot="2700000">
            <a:off x="822960" y="658368"/>
            <a:ext cx="118872" cy="118872"/>
          </a:xfrm>
          <a:prstGeom prst="rect">
            <a:avLst/>
          </a:prstGeom>
          <a:solidFill>
            <a:srgbClr val="29BA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B7D298-DFBF-42B4-976D-98DDAD8BC6A6}"/>
              </a:ext>
            </a:extLst>
          </p:cNvPr>
          <p:cNvSpPr>
            <a:spLocks noGrp="1"/>
          </p:cNvSpPr>
          <p:nvPr/>
        </p:nvSpPr>
        <p:spPr>
          <a:xfrm>
            <a:off x="566928" y="1316736"/>
            <a:ext cx="11057839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1600" i="1">
                <a:solidFill>
                  <a:srgbClr val="696969"/>
                </a:solidFill>
                <a:latin typeface="Markazi Text"/>
                <a:ea typeface="Markazi Text"/>
                <a:cs typeface="Markazi Text"/>
              </a:rPr>
              <a:t>‏يفهم المتدرب كل ملف خلال دقيقتين، ولا يحتوي أي بيانات حقيقية أو شخصية.‏</a:t>
            </a:r>
            <a:endParaRPr sz="16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D1F99BB-3351-4385-9F78-DDBE1996F034}"/>
              </a:ext>
            </a:extLst>
          </p:cNvPr>
          <p:cNvSpPr>
            <a:spLocks noGrp="1"/>
          </p:cNvSpPr>
          <p:nvPr/>
        </p:nvSpPr>
        <p:spPr>
          <a:xfrm>
            <a:off x="618728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3174C63-DDE4-4019-936E-66EA293C06EA}"/>
              </a:ext>
            </a:extLst>
          </p:cNvPr>
          <p:cNvSpPr>
            <a:spLocks noGrp="1"/>
          </p:cNvSpPr>
          <p:nvPr/>
        </p:nvSpPr>
        <p:spPr>
          <a:xfrm>
            <a:off x="11240719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9F7741-DCF5-4F15-93E9-758852760D08}"/>
              </a:ext>
            </a:extLst>
          </p:cNvPr>
          <p:cNvSpPr>
            <a:spLocks noGrp="1"/>
          </p:cNvSpPr>
          <p:nvPr/>
        </p:nvSpPr>
        <p:spPr>
          <a:xfrm>
            <a:off x="633359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‏customer_feedback.csv  ·  تصنيف ٨٠ تعليقاً واستخراج أهم المشكلات.‏</a:t>
            </a:r>
            <a:endParaRPr sz="155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E9F5686-782D-4AF6-B346-DEEF92A266DD}"/>
              </a:ext>
            </a:extLst>
          </p:cNvPr>
          <p:cNvSpPr>
            <a:spLocks noGrp="1"/>
          </p:cNvSpPr>
          <p:nvPr/>
        </p:nvSpPr>
        <p:spPr>
          <a:xfrm>
            <a:off x="566928" y="223113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6B8E80F-B595-4776-8EB7-1D5D29858D85}"/>
              </a:ext>
            </a:extLst>
          </p:cNvPr>
          <p:cNvSpPr>
            <a:spLocks noGrp="1"/>
          </p:cNvSpPr>
          <p:nvPr/>
        </p:nvSpPr>
        <p:spPr>
          <a:xfrm>
            <a:off x="5620360" y="24917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57BD8B1-3D25-4C0A-A941-588DA27BDB0D}"/>
              </a:ext>
            </a:extLst>
          </p:cNvPr>
          <p:cNvSpPr>
            <a:spLocks noGrp="1"/>
          </p:cNvSpPr>
          <p:nvPr/>
        </p:nvSpPr>
        <p:spPr>
          <a:xfrm>
            <a:off x="713232" y="228600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‏service_requests.xlsx  ·  اكتشاف الأنماط وكتابة ملخص تنفيذي.‏</a:t>
            </a:r>
            <a:endParaRPr sz="155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95A74D5-24C3-4771-B030-79318E66026E}"/>
              </a:ext>
            </a:extLst>
          </p:cNvPr>
          <p:cNvSpPr>
            <a:spLocks noGrp="1"/>
          </p:cNvSpPr>
          <p:nvPr/>
        </p:nvSpPr>
        <p:spPr>
          <a:xfrm>
            <a:off x="618728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05558D8E-2271-437D-9F5D-6BA7348D24AD}"/>
              </a:ext>
            </a:extLst>
          </p:cNvPr>
          <p:cNvSpPr>
            <a:spLocks noGrp="1"/>
          </p:cNvSpPr>
          <p:nvPr/>
        </p:nvSpPr>
        <p:spPr>
          <a:xfrm>
            <a:off x="11240719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B255A4-6DC8-44A2-8696-22B537CF1E8A}"/>
              </a:ext>
            </a:extLst>
          </p:cNvPr>
          <p:cNvSpPr>
            <a:spLocks noGrp="1"/>
          </p:cNvSpPr>
          <p:nvPr/>
        </p:nvSpPr>
        <p:spPr>
          <a:xfrm>
            <a:off x="633359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‏meeting_notes.docx  ·  استخراج القرارات والإجراءات والمسؤولين.‏</a:t>
            </a:r>
            <a:endParaRPr sz="15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23D3C05-BFC7-4D89-A140-D7307753E3C5}"/>
              </a:ext>
            </a:extLst>
          </p:cNvPr>
          <p:cNvSpPr>
            <a:spLocks noGrp="1"/>
          </p:cNvSpPr>
          <p:nvPr/>
        </p:nvSpPr>
        <p:spPr>
          <a:xfrm>
            <a:off x="566928" y="309981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682ADF4-D550-46F4-BE39-65231A4F419D}"/>
              </a:ext>
            </a:extLst>
          </p:cNvPr>
          <p:cNvSpPr>
            <a:spLocks noGrp="1"/>
          </p:cNvSpPr>
          <p:nvPr/>
        </p:nvSpPr>
        <p:spPr>
          <a:xfrm>
            <a:off x="5620360" y="33604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9F5FB00-815D-44B4-B3BA-A2921C1C435A}"/>
              </a:ext>
            </a:extLst>
          </p:cNvPr>
          <p:cNvSpPr>
            <a:spLocks noGrp="1"/>
          </p:cNvSpPr>
          <p:nvPr/>
        </p:nvSpPr>
        <p:spPr>
          <a:xfrm>
            <a:off x="713232" y="315468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‏policy_document.pdf  ·  سؤال وجواب مع إظهار موضع المصدر.‏</a:t>
            </a:r>
            <a:endParaRPr sz="155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AFB8369-6400-4FA8-A853-B168F7452F5F}"/>
              </a:ext>
            </a:extLst>
          </p:cNvPr>
          <p:cNvSpPr>
            <a:spLocks noGrp="1"/>
          </p:cNvSpPr>
          <p:nvPr/>
        </p:nvSpPr>
        <p:spPr>
          <a:xfrm>
            <a:off x="618728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33D400AE-6807-4B96-826A-EE5E5DAAD375}"/>
              </a:ext>
            </a:extLst>
          </p:cNvPr>
          <p:cNvSpPr>
            <a:spLocks noGrp="1"/>
          </p:cNvSpPr>
          <p:nvPr/>
        </p:nvSpPr>
        <p:spPr>
          <a:xfrm>
            <a:off x="11240719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F67AFFA-2154-4335-AA05-876CEADEEC5E}"/>
              </a:ext>
            </a:extLst>
          </p:cNvPr>
          <p:cNvSpPr>
            <a:spLocks noGrp="1"/>
          </p:cNvSpPr>
          <p:nvPr/>
        </p:nvSpPr>
        <p:spPr>
          <a:xfrm>
            <a:off x="633359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‏employee_survey.csv  ·  تلخيص الاتجاهات دون تحليل معقد.‏</a:t>
            </a:r>
            <a:endParaRPr sz="155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AD2BA0B-7A0C-4A01-8EEC-2FA207A3C322}"/>
              </a:ext>
            </a:extLst>
          </p:cNvPr>
          <p:cNvSpPr>
            <a:spLocks noGrp="1"/>
          </p:cNvSpPr>
          <p:nvPr/>
        </p:nvSpPr>
        <p:spPr>
          <a:xfrm>
            <a:off x="566928" y="396849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34A69DB-F252-48A6-B801-D13FE2EBD34E}"/>
              </a:ext>
            </a:extLst>
          </p:cNvPr>
          <p:cNvSpPr>
            <a:spLocks noGrp="1"/>
          </p:cNvSpPr>
          <p:nvPr/>
        </p:nvSpPr>
        <p:spPr>
          <a:xfrm>
            <a:off x="5620360" y="42291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D9D0CB5-93E6-490A-9C3F-013934FBEFC4}"/>
              </a:ext>
            </a:extLst>
          </p:cNvPr>
          <p:cNvSpPr>
            <a:spLocks noGrp="1"/>
          </p:cNvSpPr>
          <p:nvPr/>
        </p:nvSpPr>
        <p:spPr>
          <a:xfrm>
            <a:off x="713232" y="402336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‏project_updates.docx  ·  إنتاج تقرير إدارة من صفحة واحدة.‏</a:t>
            </a:r>
            <a:endParaRPr sz="155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F6CC6CFE-85D8-40E6-91C1-3E1CCD81C091}"/>
              </a:ext>
            </a:extLst>
          </p:cNvPr>
          <p:cNvSpPr>
            <a:spLocks noGrp="1"/>
          </p:cNvSpPr>
          <p:nvPr/>
        </p:nvSpPr>
        <p:spPr>
          <a:xfrm>
            <a:off x="618728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529E5DE1-84F1-428E-B97C-3ABB191842F0}"/>
              </a:ext>
            </a:extLst>
          </p:cNvPr>
          <p:cNvSpPr>
            <a:spLocks noGrp="1"/>
          </p:cNvSpPr>
          <p:nvPr/>
        </p:nvSpPr>
        <p:spPr>
          <a:xfrm>
            <a:off x="11240719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DBBF7125-B6A6-4E8E-BD83-83C5C37698DD}"/>
              </a:ext>
            </a:extLst>
          </p:cNvPr>
          <p:cNvSpPr>
            <a:spLocks noGrp="1"/>
          </p:cNvSpPr>
          <p:nvPr/>
        </p:nvSpPr>
        <p:spPr>
          <a:xfrm>
            <a:off x="633359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‏verification_answers.docx  ·  خمسة مخرجات بدرجات مختلفة من الصحة.‏</a:t>
            </a:r>
            <a:endParaRPr sz="155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64B79D6-446C-441E-920D-E48EEA14AA2E}"/>
              </a:ext>
            </a:extLst>
          </p:cNvPr>
          <p:cNvSpPr>
            <a:spLocks noGrp="1"/>
          </p:cNvSpPr>
          <p:nvPr/>
        </p:nvSpPr>
        <p:spPr>
          <a:xfrm>
            <a:off x="566928" y="4837176"/>
            <a:ext cx="5437480" cy="777240"/>
          </a:xfrm>
          <a:prstGeom prst="roundRect">
            <a:avLst>
              <a:gd name="adj" fmla="val 8235"/>
            </a:avLst>
          </a:prstGeom>
          <a:solidFill>
            <a:srgbClr val="FAFBFD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F47F1065-7B32-4E3E-8E98-7D4124334FA4}"/>
              </a:ext>
            </a:extLst>
          </p:cNvPr>
          <p:cNvSpPr>
            <a:spLocks noGrp="1"/>
          </p:cNvSpPr>
          <p:nvPr/>
        </p:nvSpPr>
        <p:spPr>
          <a:xfrm>
            <a:off x="5620360" y="50977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875">
            <a:solidFill>
              <a:srgbClr val="273370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91B59E0-0D5E-4890-AAA7-BF39EE4F3638}"/>
              </a:ext>
            </a:extLst>
          </p:cNvPr>
          <p:cNvSpPr>
            <a:spLocks noGrp="1"/>
          </p:cNvSpPr>
          <p:nvPr/>
        </p:nvSpPr>
        <p:spPr>
          <a:xfrm>
            <a:off x="713232" y="4892040"/>
            <a:ext cx="4833976" cy="6675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sz="1550">
                <a:solidFill>
                  <a:srgbClr val="1A1F3C"/>
                </a:solidFill>
                <a:latin typeface="Markazi Text"/>
                <a:ea typeface="Markazi Text"/>
                <a:cs typeface="Markazi Text"/>
              </a:rPr>
              <a:t>‏risk_cards.pptx  ·  سيناريوهات خصوصية ومساءلة لاتخاذ القرار.‏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8182544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5532120"/>
            <a:ext cx="914400" cy="82296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09CB07-0F2C-48A0-96D5-5D38C6D5E488}"/>
              </a:ext>
            </a:extLst>
          </p:cNvPr>
          <p:cNvSpPr>
            <a:spLocks noGrp="1"/>
          </p:cNvSpPr>
          <p:nvPr/>
        </p:nvSpPr>
        <p:spPr>
          <a:xfrm>
            <a:off x="3395167" y="20116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buNone/>
            </a:pPr>
            <a:r>
              <a:rPr sz="4400" b="1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‏شكراً لحضوركم‏</a:t>
            </a:r>
            <a:endParaRPr sz="4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1D3C712-7C96-4AE6-8517-D7173BE88360}"/>
              </a:ext>
            </a:extLst>
          </p:cNvPr>
          <p:cNvSpPr>
            <a:spLocks noGrp="1"/>
          </p:cNvSpPr>
          <p:nvPr/>
        </p:nvSpPr>
        <p:spPr>
          <a:xfrm>
            <a:off x="3943807" y="30632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sz="19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‏أساسيات الذكاء الاصطناعي في بيئة العمل  ·  SDA-FAE-100</a:t>
            </a:r>
            <a:endParaRPr sz="1900"/>
          </a:p>
          <a:p>
            <a:pPr marL="0" indent="0" algn="r">
              <a:lnSpc>
                <a:spcPts val="2800"/>
              </a:lnSpc>
              <a:buNone/>
            </a:pPr>
            <a:r>
              <a:rPr sz="1900">
                <a:solidFill>
                  <a:srgbClr val="C9CFE8"/>
                </a:solidFill>
                <a:latin typeface="Markazi Text"/>
                <a:ea typeface="Markazi Text"/>
                <a:cs typeface="Markazi Text"/>
              </a:rPr>
              <a:t>نتطلّع لرؤية أثر ما تعلّمتموه في مهامكم اليومية.‏</a:t>
            </a:r>
            <a:endParaRPr sz="19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15F59E-9950-4D0F-B668-C32518AFAA65}"/>
              </a:ext>
            </a:extLst>
          </p:cNvPr>
          <p:cNvSpPr>
            <a:spLocks noGrp="1"/>
          </p:cNvSpPr>
          <p:nvPr/>
        </p:nvSpPr>
        <p:spPr>
          <a:xfrm>
            <a:off x="9247327" y="4114800"/>
            <a:ext cx="237744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046460-B044-4D46-8D81-51A54CF52D20}"/>
              </a:ext>
            </a:extLst>
          </p:cNvPr>
          <p:cNvSpPr>
            <a:spLocks noGrp="1"/>
          </p:cNvSpPr>
          <p:nvPr/>
        </p:nvSpPr>
        <p:spPr>
          <a:xfrm>
            <a:off x="9375343" y="4206240"/>
            <a:ext cx="212140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‏أكاديمية سدايا‏</a:t>
            </a:r>
            <a:endParaRPr sz="15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663DAE-1EF9-4F06-8EE0-780F6BA868B8}"/>
              </a:ext>
            </a:extLst>
          </p:cNvPr>
          <p:cNvSpPr>
            <a:spLocks noGrp="1"/>
          </p:cNvSpPr>
          <p:nvPr/>
        </p:nvSpPr>
        <p:spPr>
          <a:xfrm>
            <a:off x="6741871" y="4114800"/>
            <a:ext cx="237744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F52B318-4CB2-40A9-9E7D-9BE1DCE1A6C7}"/>
              </a:ext>
            </a:extLst>
          </p:cNvPr>
          <p:cNvSpPr>
            <a:spLocks noGrp="1"/>
          </p:cNvSpPr>
          <p:nvPr/>
        </p:nvSpPr>
        <p:spPr>
          <a:xfrm>
            <a:off x="6869887" y="4206240"/>
            <a:ext cx="212140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‏قطاع بناء القدرات‏</a:t>
            </a:r>
            <a:endParaRPr sz="150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3DD8D9C-B3A0-4D4C-BC77-577A995EEA45}"/>
              </a:ext>
            </a:extLst>
          </p:cNvPr>
          <p:cNvSpPr>
            <a:spLocks noGrp="1"/>
          </p:cNvSpPr>
          <p:nvPr/>
        </p:nvSpPr>
        <p:spPr>
          <a:xfrm>
            <a:off x="4236415" y="4114800"/>
            <a:ext cx="2377440" cy="713232"/>
          </a:xfrm>
          <a:prstGeom prst="roundRect">
            <a:avLst>
              <a:gd name="adj" fmla="val 11538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5A7BB9B-E9F2-456C-A709-3D3F15E92857}"/>
              </a:ext>
            </a:extLst>
          </p:cNvPr>
          <p:cNvSpPr>
            <a:spLocks noGrp="1"/>
          </p:cNvSpPr>
          <p:nvPr/>
        </p:nvSpPr>
        <p:spPr>
          <a:xfrm>
            <a:off x="4364431" y="4206240"/>
            <a:ext cx="2121408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>
                <a:solidFill>
                  <a:srgbClr val="FFFFFF"/>
                </a:solidFill>
                <a:latin typeface="Markazi Text"/>
                <a:ea typeface="Markazi Text"/>
                <a:cs typeface="Markazi Text"/>
              </a:rPr>
              <a:t>‏الهيئة السعودية للبيانات والذكاء الاصطناعي‏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3129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15150</Words>
  <Application>Microsoft Office PowerPoint</Application>
  <DocSecurity>0</DocSecurity>
  <PresentationFormat>Widescreen</PresentationFormat>
  <Paragraphs>1809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0" baseType="lpstr">
      <vt:lpstr>Arial</vt:lpstr>
      <vt:lpstr>Calibri</vt:lpstr>
      <vt:lpstr>Markazi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Mamdouh Alenezi</cp:lastModifiedBy>
  <cp:revision>7</cp:revision>
  <dcterms:created xsi:type="dcterms:W3CDTF">2026-09-06T04:40:09Z</dcterms:created>
  <dcterms:modified xsi:type="dcterms:W3CDTF">2026-09-06T04:51:07Z</dcterms:modified>
</cp:coreProperties>
</file>