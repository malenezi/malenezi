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d8bb6ade34406" /><Relationship Type="http://schemas.openxmlformats.org/officeDocument/2006/relationships/extended-properties" Target="/docProps/app.xml" Id="R3b819936e5de4b82" /><Relationship Type="http://schemas.openxmlformats.org/officeDocument/2006/relationships/officeDocument" Target="/ppt/presentation.xml" Id="Rc78b92fb503e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795e941fb495a"/>
  </p:sldMasterIdLst>
  <p:notesMasterIdLst>
    <p:notesMasterId xmlns:r="http://schemas.openxmlformats.org/officeDocument/2006/relationships" r:id="R266f4748b8a6466c"/>
  </p:notesMasterIdLst>
  <p:sldIdLst>
    <p:sldId xmlns:r="http://schemas.openxmlformats.org/officeDocument/2006/relationships" id="256" r:id="R572e6ce9c2e4496e"/>
    <p:sldId xmlns:r="http://schemas.openxmlformats.org/officeDocument/2006/relationships" id="257" r:id="Rf3a80cabb8b347de"/>
    <p:sldId xmlns:r="http://schemas.openxmlformats.org/officeDocument/2006/relationships" id="258" r:id="R4a6c2989f7c54efc"/>
    <p:sldId xmlns:r="http://schemas.openxmlformats.org/officeDocument/2006/relationships" id="259" r:id="Red0aa97bb22e4b73"/>
    <p:sldId xmlns:r="http://schemas.openxmlformats.org/officeDocument/2006/relationships" id="260" r:id="R00db589a41db48d6"/>
    <p:sldId xmlns:r="http://schemas.openxmlformats.org/officeDocument/2006/relationships" id="261" r:id="R47a73a7831144040"/>
    <p:sldId xmlns:r="http://schemas.openxmlformats.org/officeDocument/2006/relationships" id="262" r:id="R8e1a8b75a3be4137"/>
    <p:sldId xmlns:r="http://schemas.openxmlformats.org/officeDocument/2006/relationships" id="263" r:id="Ra104d35af5ee4a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ccd0810504768" /><Relationship Type="http://schemas.openxmlformats.org/officeDocument/2006/relationships/slideMaster" Target="/ppt/slideMasters/slideMaster1.xml" Id="R60a795e941fb495a" /><Relationship Type="http://schemas.openxmlformats.org/officeDocument/2006/relationships/notesMaster" Target="/ppt/notesMasters/notesMaster1.xml" Id="R266f4748b8a6466c" /><Relationship Type="http://schemas.openxmlformats.org/officeDocument/2006/relationships/presProps" Target="/ppt/presProps.xml" Id="Rb8130e1c25bf44d0" /><Relationship Type="http://schemas.openxmlformats.org/officeDocument/2006/relationships/tableStyles" Target="/ppt/tableStyles.xml" Id="R57e47fd685e7418e" /><Relationship Type="http://schemas.openxmlformats.org/officeDocument/2006/relationships/slide" Target="/ppt/slides/slide1.xml" Id="R572e6ce9c2e4496e" /><Relationship Type="http://schemas.openxmlformats.org/officeDocument/2006/relationships/slide" Target="/ppt/slides/slide2.xml" Id="Rf3a80cabb8b347de" /><Relationship Type="http://schemas.openxmlformats.org/officeDocument/2006/relationships/slide" Target="/ppt/slides/slide3.xml" Id="R4a6c2989f7c54efc" /><Relationship Type="http://schemas.openxmlformats.org/officeDocument/2006/relationships/slide" Target="/ppt/slides/slide4.xml" Id="Red0aa97bb22e4b73" /><Relationship Type="http://schemas.openxmlformats.org/officeDocument/2006/relationships/slide" Target="/ppt/slides/slide5.xml" Id="R00db589a41db48d6" /><Relationship Type="http://schemas.openxmlformats.org/officeDocument/2006/relationships/slide" Target="/ppt/slides/slide6.xml" Id="R47a73a7831144040" /><Relationship Type="http://schemas.openxmlformats.org/officeDocument/2006/relationships/slide" Target="/ppt/slides/slide7.xml" Id="R8e1a8b75a3be4137" /><Relationship Type="http://schemas.openxmlformats.org/officeDocument/2006/relationships/slide" Target="/ppt/slides/slide8.xml" Id="Ra104d35af5ee4a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b6dc1191e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cdf1f7906430e" /><Relationship Type="http://schemas.openxmlformats.org/officeDocument/2006/relationships/notesMaster" Target="/ppt/notesMasters/notesMaster1.xml" Id="Rb4353d3c6ae449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c3a3992c54d0e" /><Relationship Type="http://schemas.openxmlformats.org/officeDocument/2006/relationships/notesMaster" Target="/ppt/notesMasters/notesMaster1.xml" Id="Reb15c3a2b4fd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0ded24903d4e69" /><Relationship Type="http://schemas.openxmlformats.org/officeDocument/2006/relationships/notesMaster" Target="/ppt/notesMasters/notesMaster1.xml" Id="R9d938e4d628b43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d7d6bc70f14a26" /><Relationship Type="http://schemas.openxmlformats.org/officeDocument/2006/relationships/notesMaster" Target="/ppt/notesMasters/notesMaster1.xml" Id="R1203c58aaa2e46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a4836253c4317" /><Relationship Type="http://schemas.openxmlformats.org/officeDocument/2006/relationships/notesMaster" Target="/ppt/notesMasters/notesMaster1.xml" Id="R46e097a1a286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322c80884a4860" /><Relationship Type="http://schemas.openxmlformats.org/officeDocument/2006/relationships/notesMaster" Target="/ppt/notesMasters/notesMaster1.xml" Id="R408a8442f16a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7b65fb69e4452" /><Relationship Type="http://schemas.openxmlformats.org/officeDocument/2006/relationships/notesMaster" Target="/ppt/notesMasters/notesMaster1.xml" Id="R24597dff09b546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3820ddeffa4998" /><Relationship Type="http://schemas.openxmlformats.org/officeDocument/2006/relationships/notesMaster" Target="/ppt/notesMasters/notesMaster1.xml" Id="Ra60cc6da9ebb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قسّم المشاركين إلى مجموعات. اعرض بطاقة واحدة لكل مجموعة ثم بدّل البطاقات بعد ست دقائق.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تكشف الإجابات النموذجية قبل انتهاء تبادل البطاقات. اطلب من كل مجموعة تبرير التصنيف قبل ذكر الأداة.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عام. المخاطر: أخضر. القرار: يمكن الاستخدام في أداة معتمدة مع مراجعة النبرة والحقائق قبل النشر.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داخلي. المخاطر: أصفر. القرار: أداة مؤسسية معتمدة فقط، مع تقليل الأسماء ومراجعة القرارات والمواعيد.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بيانات شخصية وسرية. المخاطر: أحمر. القرار: لا تستخدم الأداة العامة. أزل الهوية أو استخدم نظاماً مؤسسياً معتمداً وفق السياسة.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داخلي. المخاطر: أصفر. القرار: استخدم بيانات مختصرة في أداة معتمدة، ولا تطلب من النموذج اتخاذ قرار ترشيح نهائي.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قد يكون المصدر عاماً، لكن أثر القرار مرتفع. المخاطر: أحمر. القرار: يستخدم المساعد للبحث الأولي فقط، مع مراجعة قانونية ومصدر رسمي.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التصنيف المرجح: عام أو داخلي منخفض الحساسية. المخاطر: أخضر إلى أصفر. القرار: يمكن الاستخدام في أداة معتمدة، ثم يختبر الفريق الأفكار ويتحقق من ملاءمتها.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c4a313d4841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878ed57624fc3" /><Relationship Type="http://schemas.openxmlformats.org/officeDocument/2006/relationships/slideLayout" Target="/ppt/slideLayouts/slideLayout1.xml" Id="Rbfe16f90ada140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16f90ada140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d915830854385" /><Relationship Type="http://schemas.openxmlformats.org/officeDocument/2006/relationships/notesSlide" Target="/ppt/notesSlides/notesSlide1.xml" Id="R0c967181e456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79ebb6ce94699" /><Relationship Type="http://schemas.openxmlformats.org/officeDocument/2006/relationships/notesSlide" Target="/ppt/notesSlides/notesSlide2.xml" Id="R9d096e5d0be5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44bb2d0004161" /><Relationship Type="http://schemas.openxmlformats.org/officeDocument/2006/relationships/notesSlide" Target="/ppt/notesSlides/notesSlide3.xml" Id="R5faf904b80f0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ba3ab2e09415d" /><Relationship Type="http://schemas.openxmlformats.org/officeDocument/2006/relationships/notesSlide" Target="/ppt/notesSlides/notesSlide4.xml" Id="R40c073703f2840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126a9c804132" /><Relationship Type="http://schemas.openxmlformats.org/officeDocument/2006/relationships/notesSlide" Target="/ppt/notesSlides/notesSlide5.xml" Id="Rab0dd68e0afc4a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959767d784a85" /><Relationship Type="http://schemas.openxmlformats.org/officeDocument/2006/relationships/notesSlide" Target="/ppt/notesSlides/notesSlide6.xml" Id="R17466062a04e49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cc4bd2403405d" /><Relationship Type="http://schemas.openxmlformats.org/officeDocument/2006/relationships/notesSlide" Target="/ppt/notesSlides/notesSlide7.xml" Id="Rd0f681ea4e1a43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18b5b1e574d4d" /><Relationship Type="http://schemas.openxmlformats.org/officeDocument/2006/relationships/notesSlide" Target="/ppt/notesSlides/notesSlide8.xml" Id="Rf3df4b3fa95d4c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C3A4-D086-4C03-A3C4-AFF8909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defRPr>
            </a:pPr>
            <a:r>
              <a:rPr sz="3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بطاقات قرار الاستخدام الآمن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2E561-12A8-4D98-9D5E-6BAF82D1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DDE7FF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DDE7FF"/>
                </a:solidFill>
                <a:latin typeface="Markazi Text"/>
                <a:ea typeface="Markazi Text"/>
                <a:cs typeface="Markazi Text"/>
              </a:rPr>
              <a:t>ست حالات مصطنعة لتصنيف البيانات والمخاطر واتخاذ القرار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62420-0B82-41AF-BA19-51CC5A4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5B642"/>
                </a:solidFill>
                <a:latin typeface="Markazi Text"/>
                <a:ea typeface="Markazi Text"/>
                <a:cs typeface="Markazi Text"/>
              </a:defRPr>
            </a:pPr>
            <a:r>
              <a:rPr sz="1800" b="0">
                <a:solidFill>
                  <a:srgbClr val="F5B642"/>
                </a:solidFill>
                <a:latin typeface="Markazi Text"/>
                <a:ea typeface="Markazi Text"/>
                <a:cs typeface="Markazi Text"/>
              </a:rPr>
              <a:t>SDA-FAE-100</a:t>
            </a:r>
          </a:p>
        </p:txBody>
      </p:sp>
    </p:spTree>
    <p:extLst>
      <p:ext uri="{BB962C8B-B14F-4D97-AF65-F5344CB8AC3E}">
        <p14:creationId xmlns:p14="http://schemas.microsoft.com/office/powerpoint/2010/main" val="906516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8AEF-15B7-46B8-A551-56BE835E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300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طريقة استخدام البطاقات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BF7FC-5C9F-4BBF-B1C1-D59DEA4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اقرأ الحالة ثم اتفق مع مجموعتك على أربعة عناصر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D67A-8BFE-4324-BF13-8C84F991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38375"/>
            <a:ext cx="895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1. تصنيف البيانات: عام أو داخلي أو مقيّد أو سري</a:t>
            </a:r>
          </a:p>
          <a:p xmlns:a="http://schemas.openxmlformats.org/drawingml/2006/main">
            <a:pPr algn="r">
              <a:def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2. مستوى المخاطر: أخضر أو أصفر أو أحمر</a:t>
            </a:r>
          </a:p>
          <a:p xmlns:a="http://schemas.openxmlformats.org/drawingml/2006/main">
            <a:pPr algn="r">
              <a:def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3. القرار: نستخدم أو نستخدم بشروط أو لا نستخدم</a:t>
            </a:r>
          </a:p>
          <a:p xmlns:a="http://schemas.openxmlformats.org/drawingml/2006/main">
            <a:pPr algn="r">
              <a:def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4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4. بديل آمن عند الرفض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46829-1516-49AF-BD5B-E3E64A7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اكتب سبباً واحداً واضحاً لكل قرار</a:t>
            </a:r>
          </a:p>
        </p:txBody>
      </p:sp>
    </p:spTree>
    <p:extLst>
      <p:ext uri="{BB962C8B-B14F-4D97-AF65-F5344CB8AC3E}">
        <p14:creationId xmlns:p14="http://schemas.microsoft.com/office/powerpoint/2010/main" val="586756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1E40E-6DE0-456A-84CC-7CEAA380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1 - صياغة إعلان عام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14B14-3F8D-4697-B737-490F90D4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0D25C-9C43-4FBA-9661-3022CACC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يريد فريق التواصل صياغة إعلان عن موعد فعالية منشور في الموقع العام. لا يحتوي النص على أسماء أو بيانات داخلية.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6249B-9255-4A6A-B704-18B15421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C2FF0-62C4-4CEC-9F02-CD69225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17A0A-2AC4-4BE3-A374-17E259DB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90EE-7139-4A58-974B-8EF158E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1 من 6</a:t>
            </a:r>
          </a:p>
        </p:txBody>
      </p:sp>
    </p:spTree>
    <p:extLst>
      <p:ext uri="{BB962C8B-B14F-4D97-AF65-F5344CB8AC3E}">
        <p14:creationId xmlns:p14="http://schemas.microsoft.com/office/powerpoint/2010/main" val="1032906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14400-88AE-426B-98DA-2B4F9D4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2 - تلخيص محضر داخلي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24A35-F22C-4306-851F-CBD5CB5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167DB-CDB3-4512-98CF-0BA9346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يريد مدير إدارة تلخيص محضر اجتماع داخلي يتضمن أولويات العمل وأسماء المسؤولين والمواعيد القادمة.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EFF7-EE32-4986-BF89-E2B8A39F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2A48C-C4CD-498C-A285-F4428118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77A8B-A5FF-495F-A32B-B5056A4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F4115-3DD8-48F6-97EE-848B73E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2 من 6</a:t>
            </a:r>
          </a:p>
        </p:txBody>
      </p:sp>
    </p:spTree>
    <p:extLst>
      <p:ext uri="{BB962C8B-B14F-4D97-AF65-F5344CB8AC3E}">
        <p14:creationId xmlns:p14="http://schemas.microsoft.com/office/powerpoint/2010/main" val="684670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4DE23-344E-45F4-BCA5-C427415B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3 - رد على شكوى مستفيد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B43D0-CC93-43B6-99CF-B3E5385F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25A98-46BD-46DC-B3D9-FD49B82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يريد موظف نسخ شكوى تتضمن اسم المستفيد ورقم الهوية ورقم الهاتف إلى مساعد عام لصياغة الرد.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594C-A940-4136-8C66-F3B87387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7E34A-5D67-4275-86D6-D71A51C0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3DCBA-E45F-4322-9468-D258A39B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202CE-8ED9-41E0-8B69-4366800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3 من 6</a:t>
            </a:r>
          </a:p>
        </p:txBody>
      </p:sp>
    </p:spTree>
    <p:extLst>
      <p:ext uri="{BB962C8B-B14F-4D97-AF65-F5344CB8AC3E}">
        <p14:creationId xmlns:p14="http://schemas.microsoft.com/office/powerpoint/2010/main" val="117969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3077D-97EC-4FDA-BE7A-B98B5F69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4 - فرز طلبات تدريب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DF387-F3FE-47E3-87D4-1261118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F5361-848D-44C7-96E8-CD969DA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لدى الإدارة قائمة داخلية بطلبات تدريب تحتوي المسمى الوظيفي والإدارة والدورة المطلوبة، من دون أرقام هوية أو معلومات اتصال.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DA37E-17A0-4278-B787-8FD158B9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73C32-075F-4467-B2B7-FADFDC97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8470E-E4CC-42D1-8518-732E7303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A7119-42A9-4B19-A8D3-50A57441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4 من 6</a:t>
            </a:r>
          </a:p>
        </p:txBody>
      </p:sp>
    </p:spTree>
    <p:extLst>
      <p:ext uri="{BB962C8B-B14F-4D97-AF65-F5344CB8AC3E}">
        <p14:creationId xmlns:p14="http://schemas.microsoft.com/office/powerpoint/2010/main" val="1066514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38539-0ACC-4344-90F3-6D9D083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5 - تفسير مادة نظامية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6BB65-38E4-4CC6-A432-BA482648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7E31E-1969-4005-A75A-651FADF4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يريد موظف الاعتماد على إجابة المساعد لتحديد ما إذا كانت مادة نظامية تسمح باتخاذ إجراء ملزم ضد مورد.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2E44C-7F4E-4B71-9DBC-2C82E81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0F50A-BD7D-4CA7-A784-0A9CF07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AD027-2FD0-4625-8E2E-9D2783D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4B259-3980-40ED-97F4-3797A758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5 من 6</a:t>
            </a:r>
          </a:p>
        </p:txBody>
      </p:sp>
    </p:spTree>
    <p:extLst>
      <p:ext uri="{BB962C8B-B14F-4D97-AF65-F5344CB8AC3E}">
        <p14:creationId xmlns:p14="http://schemas.microsoft.com/office/powerpoint/2010/main" val="347156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2EC65-92BD-4AF3-9322-67783329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850" b="1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بطاقة 6 - أفكار لتحسين خدمة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1D105-E9CC-4ECD-8B57-16023C7C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14804A"/>
                </a:solidFill>
                <a:latin typeface="Markazi Text"/>
                <a:ea typeface="Markazi Text"/>
                <a:cs typeface="Markazi Text"/>
              </a:rPr>
              <a:t>الحالة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84059-E62C-4331-8281-D312161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25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يريد فريق تجربة المستفيد توليد أفكار لتحسين رحلة خدمة باستخدام وصف عام للمشكلة وبيانات أداء مجمعة لا تحدد أشخاصاً.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6AC9-2921-4A21-8A04-ABC3557A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defRPr>
            </a:pPr>
            <a:r>
              <a:rPr sz="1950" b="1">
                <a:solidFill>
                  <a:srgbClr val="6D4FC2"/>
                </a:solidFill>
                <a:latin typeface="Markazi Text"/>
                <a:ea typeface="Markazi Text"/>
                <a:cs typeface="Markazi Text"/>
              </a:rPr>
              <a:t>قرار المجموعة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35D28-7F0F-40AC-B96E-362FA34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تصنيف البيانات: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مستوى المخاطر: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القرار: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defRPr>
            </a:pPr>
            <a:r>
              <a:rPr sz="2100" b="0">
                <a:solidFill>
                  <a:srgbClr val="172554"/>
                </a:solidFill>
                <a:latin typeface="Markazi Text"/>
                <a:ea typeface="Markazi Text"/>
                <a:cs typeface="Markazi Text"/>
              </a:rPr>
              <a:t>السبب أو البديل الآمن: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205A8-776E-4720-B77B-F2D9671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defRPr>
            </a:pPr>
            <a:r>
              <a:rPr sz="1875" b="0">
                <a:solidFill>
                  <a:srgbClr val="475569"/>
                </a:solidFill>
                <a:latin typeface="Markazi Text"/>
                <a:ea typeface="Markazi Text"/>
                <a:cs typeface="Markazi Text"/>
              </a:rPr>
              <a:t>عام  داخلي  مقيّد  سري     أخضر  أصفر  أحمر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D9E06-4DDC-4080-8E7D-3F6AFB00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defRPr>
            </a:pPr>
            <a:r>
              <a:rPr sz="1350" b="0">
                <a:solidFill>
                  <a:srgbClr val="94A3B8"/>
                </a:solidFill>
                <a:latin typeface="Markazi Text"/>
                <a:ea typeface="Markazi Text"/>
                <a:cs typeface="Markazi Text"/>
              </a:rPr>
              <a:t>SDA-FAE-100  |  بطاقة 6 من 6</a:t>
            </a:r>
          </a:p>
        </p:txBody>
      </p:sp>
    </p:spTree>
    <p:extLst>
      <p:ext uri="{BB962C8B-B14F-4D97-AF65-F5344CB8AC3E}">
        <p14:creationId xmlns:p14="http://schemas.microsoft.com/office/powerpoint/2010/main" val="811780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2026-09-10T19:31:56.1610000Z</dcterms:created>
  <dcterms:modified xsi:type="dcterms:W3CDTF">2026-09-10T19:31:56.1610000Z</dcterms:modified>
</coreProperties>
</file>