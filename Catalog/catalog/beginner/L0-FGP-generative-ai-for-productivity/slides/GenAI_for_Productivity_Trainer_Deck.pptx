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Lst>
  <p:notesMasterIdLst>
    <p:notesMasterId r:id="rId7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notesMaster" Target="notesMasters/notesMaster1.xml"/><Relationship Id="rId78" Type="http://schemas.openxmlformats.org/officeDocument/2006/relationships/presProps" Target="presProps.xml"/><Relationship Id="rId79" Type="http://schemas.openxmlformats.org/officeDocument/2006/relationships/viewProps" Target="viewProps.xml"/><Relationship Id="rId80" Type="http://schemas.openxmlformats.org/officeDocument/2006/relationships/theme" Target="theme/theme1.xml"/><Relationship Id="rId8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participants as they arrive. Confirm everyone has access to at least one AI tool (ChatGPT, Copilot, or Gemini) on their own device BEFORE starting - this is the single most important setup step. Wi-Fi details on screen or whiteboard.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this is a practical program, not a technology course. Participants leave with working prompts and a personal prompt library they will actually use on Sunday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objectives quickly - do not dwell. Ask the room: 'Which of these six matters most to YOUR job?' Take 3-4 answers; refer back to them during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room during setup check. Anyone without tool access pairs with a neighbour for Day 1 morning while access is fixed at the first break. Record which tool each table is mainly using - you will reference it during demos.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Times assume Dhuhr prayer ~12:00-12:30; adjust to local prayer times. Build in flexibility: Activity 1.3 can be shortened to 30 min if the morning runs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non-technical. Key sentence: 'It predicts plausible text - it does not look up verified facts in a database.' That one idea explains both why it is so fluent AND why it can be confidently wrong. You will return to it on Day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card, give a 5-second local example: 'Drafting - the reply to that angry supplier. Summarising - the 40-page committee report you were sent on Thursday afternoon.' Ask the room which of the six they would use TODAY if they could.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soften this slide. Participants who leave believing AI output can be trusted unreviewed are worse off than before training. Tease Day 3: 'We dedicate half of Day 3 to catching these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references are on the final References slide. The honest framing: research shows big average gains on suitable tasks, and it also shows quality can DROP when AI is used on tasks beyond its ability without review - motivation for Day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by show of hands which tools participants have access to, and note it. All exercises in this program work in ANY of the three chat tools; Copilot-specific integrations are covered on Day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live in whichever tool most of the room uses. If the demo output is mediocre - perfect! Use it: 'See, even trainers get drafts, not miracles.' Timing: 10 minutes maximum, then straight into Activity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constantly. Common issue: participants pick confidential tasks - redirect them to the fictional materials or a generic version. The 'ask the AI what it needs' trick reliably unblocks strugglers. 2-minute warning before debrief.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one answer per question, from different tables. Capture good 'surprises' on a flipchart titled WINS - you will revisit it at the close of Day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aid: R-T-C-F-E-X. Task and Context are the non-negotiables; the rest are amplifiers. Warn against over-engineering: a two-line prompt with great context beats a ten-line 'magic template' with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demo works because the material comes from the room. Ask for a volunteer's weak prompt at the end of the break so you are ready. Keep energy high - 10 minutes max.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answers for all four prompts are in the Answer Key document. During circulation, push pairs beyond 'add more detail' - ask WHICH block is missing, by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hidden lesson is consistency - teams that don't share context between members produce announcements with three different launch dates. Surface this in the debrief: at work, share your PROMPTS with colleagues, not just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Q1-B, Q2-C, Q3-B. Run as show-of-hands or paper. Full rationale in the Answer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Q4-C, Q5-C.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sprint: 'In 5 minutes, get AI to produce the best possible one-paragraph summary of what you learned yesterday - best one read aloud.' Fast, fun, reactivates Day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card's italic text is a paste-ready prompt pattern. Point out the constraint in the de-escalation card ('without admitting legal liability') - constraints protect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micro-demo if time allows: take the tone-control message and ask for a formal Arabic version plus an internal Arabic version - discuss the register difference. Hijri date warning always lands well; give an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8-10 minutes. Deliberately leave one weakness in the final draft (e.g., no specific date) and ask the room to catch it - primes the verification mindset.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replies in the Answer Key. Watch for over-apologising in the supplier reply and defensiveness in the parking reply - both are teachable moments for constraint prompts.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MOMENT of Day 2: chat tools can miscount when given raw tables as text. Some participants WILL find discrepancies in Step 2 - celebrate them loudly. Reference figures for the dataset are in the Answer Key. Copilot-in-Excel users: let them compare the experience with paste-into-chat users in the debrief.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demo a FRAGMENT of the notes - participants need the full document fresh for Activity 2.3. The over-smoothing question matters: formal minutes can hide real disagreement that leadership should know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minutes with the expected [CHECK] flags are in the Answer Key (6 genuine ambiguities: budget figure, e-signature license, Yousef's phone item, projector dependency, retender criteria, certificate backlog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single right answer - A is stronger on data residency and Arabic; B on price, analytics and flexibility. The Answer Key has a full worked comparison including the hidden differences. Groups that reach different conclusions with good reasoning = perfect debrief material. Data residency discussion is your bridge to Day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Q1-B, Q2-C, Q3-B.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Q4-B, Q5-C.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Ideas remain suggestions until a human selects and owns them. AI brainstorms wide; it cannot know which ideas fit your politics, budget or culture.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whatever your venue's licences allow: a Teams recap or a Copilot-in-Word summary are the crowd-pleasers. If no Copilot licence is available, show screenshots and demo the equivalent flow in the chat tools. Key advantage to emphasise: enterprise tools keep content inside the organisation's environment - bridge to this afternoon's responsible-use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program's mini-capstone - it integrates prompting, planning, drafting, data use and consistency. Push groups to actually query the survey CSV; the 'Not sure it is allowed' barrier finding should shape their workshop agenda (a responsible-use segment). That realisation is gold for the debrief.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real silent working time here - this is the artefact they take back to work. The shared team library suggestion often becomes the first post-training initiative; plant it deliberately.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back to Day 1: 'It predicts, it does not know.' Hallucination is the same mechanism that makes it fluent. Share a public example of fabricated citations (e.g., widely reported court filings with invented case law) - without naming individuals.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Scale CHECK to stakes: a quick internal email gets a 30-second C and K; a report to leadership gets all five passes. AI can help with E ('critique this draft') but never with C and H - verification must be independent of the tool that produced the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Rehearse this demo beforehand - results vary by tool and day. If the model answers correctly with a real source, excellent: show the verification WORKFLOW anyway and say 'today it was right - the point is you didn't know that until you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answer key: 9 problems - (1) 452 vs 412 trained; (2) 'exceeding annual target' - 450 was the annual target and H1 is below it; (3) 87% vs 78% completion; (4) satisfaction 4.2 spun as 'every participant fully satisfied'; (5) fabricated 'Global Institute for Workforce Excellence' benchmark; (6) 13 vs 31 withdrawals + unverifiable 'lowest in GCC'; (7) 65% vs 77.5% budget utilisation; (8) biased claim about administrative staff; (9) wrong year (Q3 2025) + 'no risks foreseen' overconfidence. Pairs typically find 5-7 manually; the AI audit usually adds 1-2 more and misses the bias one - discuss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positively: these rules EXIST so employees can use AI confidently, not to stop them. The guidelines are practical documents with scenarios - encourage participants to actually read them (linked in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common question: 'But Copilot IS approved, so can I put anything in?' Answer: enterprise deployment changes WHERE data goes, not WHETHER you may process it - PDPL and classification rules still apply. Red stays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verdicts (full reasoning in Answer Key): 1-RED (personal data, unapproved tool). 2-GREEN/AMBER (approved tool, internal data - fine if classification allows). 3-RED as framed (AI must not decide people's evaluations; could become AMBER only as a drafting aid on the manager's own written judgements, human decision retained). 4-GREEN (published text + verification - model practice). 5-RED (confidential pricing, personal account, procurement integrity). 6-AMBER (verified &amp; approved is good; disclosure depends on org policy - discuss transparency). Scenarios 3 and 6 generate the best debates - give them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Assessment + full answer rationale are in the Answer Key document. Mark quickly while participants complete the action plan; review answers as a group before the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return to the WINS flipchart from Day 1, celebrate 2-3 highlights, and remind participants of Week 1 of their action plan. Collect feedback forms before they leave.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1.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1.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slideLayout" Target="../slideLayouts/slideLayout1.xml"/><Relationship Id="rId6"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slideLayout" Target="../slideLayouts/slideLayout1.xml"/><Relationship Id="rId6"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slideLayout" Target="../slideLayouts/slideLayout1.xml"/><Relationship Id="rId6"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slideLayout" Target="../slideLayouts/slideLayout1.xml"/><Relationship Id="rId6"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Slide-53-image-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image" Target="../media/image-55-3.png"/><Relationship Id="rId4" Type="http://schemas.openxmlformats.org/officeDocument/2006/relationships/image" Target="../media/image-55-4.png"/><Relationship Id="rId5" Type="http://schemas.openxmlformats.org/officeDocument/2006/relationships/slideLayout" Target="../slideLayouts/slideLayout1.xml"/><Relationship Id="rId6"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image" Target="../media/image-59-3.png"/><Relationship Id="rId4" Type="http://schemas.openxmlformats.org/officeDocument/2006/relationships/image" Target="../media/image-59-4.png"/><Relationship Id="rId5" Type="http://schemas.openxmlformats.org/officeDocument/2006/relationships/slideLayout" Target="../slideLayouts/slideLayout1.xml"/><Relationship Id="rId6"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image" Target="../media/image-65-3.png"/><Relationship Id="rId4" Type="http://schemas.openxmlformats.org/officeDocument/2006/relationships/image" Target="../media/image-65-4.png"/><Relationship Id="rId5" Type="http://schemas.openxmlformats.org/officeDocument/2006/relationships/slideLayout" Target="../slideLayouts/slideLayout1.xml"/><Relationship Id="rId6"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image" Target="../media/image-70-2.png"/><Relationship Id="rId3" Type="http://schemas.openxmlformats.org/officeDocument/2006/relationships/image" Target="../media/image-70-3.png"/><Relationship Id="rId4" Type="http://schemas.openxmlformats.org/officeDocument/2006/relationships/image" Target="../media/image-70-4.png"/><Relationship Id="rId5" Type="http://schemas.openxmlformats.org/officeDocument/2006/relationships/slideLayout" Target="../slideLayouts/slideLayout1.xml"/><Relationship Id="rId6"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image" Target="../media/image-73-3.png"/><Relationship Id="rId4" Type="http://schemas.openxmlformats.org/officeDocument/2006/relationships/image" Target="../media/image-73-4.png"/><Relationship Id="rId5" Type="http://schemas.openxmlformats.org/officeDocument/2006/relationships/image" Target="../media/image-73-5.png"/><Relationship Id="rId6" Type="http://schemas.openxmlformats.org/officeDocument/2006/relationships/slideLayout" Target="../slideLayouts/slideLayout1.xml"/><Relationship Id="rId7"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Slide-75-image-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1371600"/>
            <a:ext cx="7315200" cy="457200"/>
          </a:xfrm>
          <a:prstGeom prst="rect">
            <a:avLst/>
          </a:prstGeom>
          <a:noFill/>
          <a:ln/>
        </p:spPr>
        <p:txBody>
          <a:bodyPr wrap="square" lIns="0" tIns="0" rIns="0" bIns="0" rtlCol="0" anchor="ctr"/>
          <a:lstStyle/>
          <a:p>
            <a:pPr indent="0" marL="0">
              <a:buNone/>
            </a:pPr>
            <a:r>
              <a:rPr lang="en-US" sz="1800" b="1" spc="400" kern="0" dirty="0">
                <a:solidFill>
                  <a:srgbClr val="FCBD4C"/>
                </a:solidFill>
                <a:latin typeface="Calibri" pitchFamily="34" charset="0"/>
                <a:ea typeface="Calibri" pitchFamily="34" charset="-122"/>
                <a:cs typeface="Calibri" pitchFamily="34" charset="-120"/>
              </a:rPr>
              <a:t>SDAIA ACADEMY</a:t>
            </a:r>
            <a:endParaRPr lang="en-US" sz="1800" dirty="0"/>
          </a:p>
        </p:txBody>
      </p:sp>
      <p:sp>
        <p:nvSpPr>
          <p:cNvPr id="3" name="Text 1"/>
          <p:cNvSpPr txBox="1"/>
          <p:nvPr/>
        </p:nvSpPr>
        <p:spPr>
          <a:xfrm>
            <a:off x="731520" y="1874520"/>
            <a:ext cx="10515600" cy="146304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Generative AI for Productivity</a:t>
            </a:r>
            <a:endParaRPr lang="en-US" sz="5400" dirty="0"/>
          </a:p>
        </p:txBody>
      </p:sp>
      <p:sp>
        <p:nvSpPr>
          <p:cNvPr id="4" name="Text 2"/>
          <p:cNvSpPr txBox="1"/>
          <p:nvPr/>
        </p:nvSpPr>
        <p:spPr>
          <a:xfrm>
            <a:off x="731520" y="3291840"/>
            <a:ext cx="9144000" cy="457200"/>
          </a:xfrm>
          <a:prstGeom prst="rect">
            <a:avLst/>
          </a:prstGeom>
          <a:noFill/>
          <a:ln/>
        </p:spPr>
        <p:txBody>
          <a:bodyPr wrap="square" lIns="0" tIns="0" rIns="0" bIns="0" rtlCol="0" anchor="ctr"/>
          <a:lstStyle/>
          <a:p>
            <a:pPr indent="0" marL="0">
              <a:buNone/>
            </a:pPr>
            <a:r>
              <a:rPr lang="en-US" sz="2000" dirty="0">
                <a:solidFill>
                  <a:srgbClr val="C9D2F2"/>
                </a:solidFill>
                <a:latin typeface="Calibri" pitchFamily="34" charset="0"/>
                <a:ea typeface="Calibri" pitchFamily="34" charset="-122"/>
                <a:cs typeface="Calibri" pitchFamily="34" charset="-120"/>
              </a:rPr>
              <a:t>A hands-on, three-day program for the modern Saudi workplace</a:t>
            </a:r>
            <a:endParaRPr lang="en-US" sz="2000" dirty="0"/>
          </a:p>
        </p:txBody>
      </p:sp>
      <p:sp>
        <p:nvSpPr>
          <p:cNvPr id="5" name="Text 3"/>
          <p:cNvSpPr txBox="1"/>
          <p:nvPr/>
        </p:nvSpPr>
        <p:spPr>
          <a:xfrm>
            <a:off x="731520" y="3977640"/>
            <a:ext cx="9144000" cy="731520"/>
          </a:xfrm>
          <a:prstGeom prst="rect">
            <a:avLst/>
          </a:prstGeom>
          <a:noFill/>
          <a:ln/>
        </p:spPr>
        <p:txBody>
          <a:bodyPr wrap="square" lIns="0" tIns="0" rIns="0" bIns="0" rtlCol="0" anchor="ctr"/>
          <a:lstStyle/>
          <a:p>
            <a:pPr indent="0" marL="0">
              <a:lnSpc>
                <a:spcPct val="130000"/>
              </a:lnSpc>
              <a:buNone/>
            </a:pPr>
            <a:r>
              <a:rPr lang="en-US" sz="1400" dirty="0">
                <a:solidFill>
                  <a:srgbClr val="9AA6D8"/>
                </a:solidFill>
                <a:latin typeface="Calibri" pitchFamily="34" charset="0"/>
                <a:ea typeface="Calibri" pitchFamily="34" charset="-122"/>
                <a:cs typeface="Calibri" pitchFamily="34" charset="-120"/>
              </a:rPr>
              <a:t>Instructor-led  •  3 days / 15 hours  •  Awareness micro-credential (Digital Badge)</a:t>
            </a:r>
            <a:endParaRPr lang="en-US" sz="1400" dirty="0"/>
          </a:p>
          <a:p>
            <a:pPr indent="0" marL="0">
              <a:lnSpc>
                <a:spcPct val="130000"/>
              </a:lnSpc>
              <a:buNone/>
            </a:pPr>
            <a:r>
              <a:rPr lang="en-US" sz="1400" dirty="0">
                <a:solidFill>
                  <a:srgbClr val="9AA6D8"/>
                </a:solidFill>
                <a:latin typeface="Calibri" pitchFamily="34" charset="0"/>
                <a:ea typeface="Calibri" pitchFamily="34" charset="-122"/>
                <a:cs typeface="Calibri" pitchFamily="34" charset="-120"/>
              </a:rPr>
              <a:t>Trainer Delivery Deck  •  v1.0  •  August 2026</a:t>
            </a:r>
            <a:endParaRPr lang="en-US" sz="1400" dirty="0"/>
          </a:p>
        </p:txBody>
      </p:sp>
      <p:sp>
        <p:nvSpPr>
          <p:cNvPr id="6" name="Text 4"/>
          <p:cNvSpPr txBox="1"/>
          <p:nvPr/>
        </p:nvSpPr>
        <p:spPr>
          <a:xfrm>
            <a:off x="320040" y="6355080"/>
            <a:ext cx="3657600" cy="320040"/>
          </a:xfrm>
          <a:prstGeom prst="rect">
            <a:avLst/>
          </a:prstGeom>
          <a:noFill/>
          <a:ln/>
        </p:spPr>
        <p:txBody>
          <a:bodyPr wrap="square" lIns="0" tIns="0" rIns="0" bIns="0" rtlCol="0" anchor="ctr"/>
          <a:lstStyle/>
          <a:p>
            <a:pPr indent="0" marL="0">
              <a:buNone/>
            </a:pPr>
            <a:r>
              <a:rPr lang="en-US" sz="1200" b="1" dirty="0">
                <a:solidFill>
                  <a:srgbClr val="273370"/>
                </a:solidFill>
                <a:latin typeface="Calibri" pitchFamily="34" charset="0"/>
                <a:ea typeface="Calibri" pitchFamily="34" charset="-122"/>
                <a:cs typeface="Calibri" pitchFamily="34" charset="-120"/>
              </a:rPr>
              <a:t>Capacity Building Sector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347472"/>
            <a:ext cx="1115568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Program at a glance</a:t>
            </a:r>
            <a:endParaRPr lang="en-US" sz="3000" dirty="0"/>
          </a:p>
        </p:txBody>
      </p:sp>
      <p:sp>
        <p:nvSpPr>
          <p:cNvPr id="3" name="Shape 1"/>
          <p:cNvSpPr/>
          <p:nvPr/>
        </p:nvSpPr>
        <p:spPr>
          <a:xfrm>
            <a:off x="502920" y="1417320"/>
            <a:ext cx="5440680" cy="2148840"/>
          </a:xfrm>
          <a:prstGeom prst="roundRect">
            <a:avLst>
              <a:gd name="adj" fmla="val 3404"/>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4" name="Shape 2"/>
          <p:cNvSpPr/>
          <p:nvPr/>
        </p:nvSpPr>
        <p:spPr>
          <a:xfrm>
            <a:off x="758952" y="1709928"/>
            <a:ext cx="658368" cy="658368"/>
          </a:xfrm>
          <a:prstGeom prst="roundRect">
            <a:avLst>
              <a:gd name="adj" fmla="val 12500"/>
            </a:avLst>
          </a:prstGeom>
          <a:solidFill>
            <a:srgbClr val="273370"/>
          </a:solidFill>
          <a:ln/>
        </p:spPr>
      </p:sp>
      <p:pic>
        <p:nvPicPr>
          <p:cNvPr id="5" name="Image 0" descr="preencoded.png">    </p:cNvPr>
          <p:cNvPicPr>
            <a:picLocks noChangeAspect="1"/>
          </p:cNvPicPr>
          <p:nvPr/>
        </p:nvPicPr>
        <p:blipFill>
          <a:blip r:embed="rId1"/>
          <a:stretch>
            <a:fillRect/>
          </a:stretch>
        </p:blipFill>
        <p:spPr>
          <a:xfrm>
            <a:off x="903793" y="1854769"/>
            <a:ext cx="368686" cy="368686"/>
          </a:xfrm>
          <a:prstGeom prst="rect">
            <a:avLst/>
          </a:prstGeom>
        </p:spPr>
      </p:pic>
      <p:sp>
        <p:nvSpPr>
          <p:cNvPr id="6" name="Text 3"/>
          <p:cNvSpPr txBox="1"/>
          <p:nvPr/>
        </p:nvSpPr>
        <p:spPr>
          <a:xfrm>
            <a:off x="1645920" y="1673352"/>
            <a:ext cx="4114800" cy="411480"/>
          </a:xfrm>
          <a:prstGeom prst="rect">
            <a:avLst/>
          </a:prstGeom>
          <a:noFill/>
          <a:ln/>
        </p:spPr>
        <p:txBody>
          <a:bodyPr wrap="square" lIns="0" tIns="0" rIns="0" bIns="0" rtlCol="0" anchor="ctr"/>
          <a:lstStyle/>
          <a:p>
            <a:pPr indent="0" marL="0">
              <a:buNone/>
            </a:pPr>
            <a:r>
              <a:rPr lang="en-US" sz="1700" b="1" dirty="0">
                <a:solidFill>
                  <a:srgbClr val="273370"/>
                </a:solidFill>
                <a:latin typeface="Calibri" pitchFamily="34" charset="0"/>
                <a:ea typeface="Calibri" pitchFamily="34" charset="-122"/>
                <a:cs typeface="Calibri" pitchFamily="34" charset="-120"/>
              </a:rPr>
              <a:t>Who this is for</a:t>
            </a:r>
            <a:endParaRPr lang="en-US" sz="1700" dirty="0"/>
          </a:p>
        </p:txBody>
      </p:sp>
      <p:sp>
        <p:nvSpPr>
          <p:cNvPr id="7" name="Text 4"/>
          <p:cNvSpPr txBox="1"/>
          <p:nvPr/>
        </p:nvSpPr>
        <p:spPr>
          <a:xfrm>
            <a:off x="1645920" y="2130552"/>
            <a:ext cx="4069080" cy="1325880"/>
          </a:xfrm>
          <a:prstGeom prst="rect">
            <a:avLst/>
          </a:prstGeom>
          <a:noFill/>
          <a:ln/>
        </p:spPr>
        <p:txBody>
          <a:bodyPr wrap="square" lIns="0" tIns="0" rIns="0" bIns="0" rtlCol="0" anchor="ctr"/>
          <a:lstStyle/>
          <a:p>
            <a:pPr indent="0" marL="0">
              <a:lnSpc>
                <a:spcPct val="108000"/>
              </a:lnSpc>
              <a:buNone/>
            </a:pPr>
            <a:r>
              <a:rPr lang="en-US" sz="1250" dirty="0">
                <a:solidFill>
                  <a:srgbClr val="22252B"/>
                </a:solidFill>
                <a:latin typeface="Calibri" pitchFamily="34" charset="0"/>
                <a:ea typeface="Calibri" pitchFamily="34" charset="-122"/>
                <a:cs typeface="Calibri" pitchFamily="34" charset="-120"/>
              </a:rPr>
              <a:t>Non-technical professionals: administrative and communications staff, managers, team leaders and knowledge workers. No technical background required.</a:t>
            </a:r>
            <a:endParaRPr lang="en-US" sz="1250" dirty="0"/>
          </a:p>
        </p:txBody>
      </p:sp>
      <p:sp>
        <p:nvSpPr>
          <p:cNvPr id="8" name="Shape 5"/>
          <p:cNvSpPr/>
          <p:nvPr/>
        </p:nvSpPr>
        <p:spPr>
          <a:xfrm>
            <a:off x="6217920" y="1417320"/>
            <a:ext cx="5440680" cy="2148840"/>
          </a:xfrm>
          <a:prstGeom prst="roundRect">
            <a:avLst>
              <a:gd name="adj" fmla="val 3404"/>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9" name="Shape 6"/>
          <p:cNvSpPr/>
          <p:nvPr/>
        </p:nvSpPr>
        <p:spPr>
          <a:xfrm>
            <a:off x="6473952" y="1709928"/>
            <a:ext cx="658368" cy="658368"/>
          </a:xfrm>
          <a:prstGeom prst="roundRect">
            <a:avLst>
              <a:gd name="adj" fmla="val 12500"/>
            </a:avLst>
          </a:prstGeom>
          <a:solidFill>
            <a:srgbClr val="29BA74"/>
          </a:solidFill>
          <a:ln/>
        </p:spPr>
      </p:sp>
      <p:pic>
        <p:nvPicPr>
          <p:cNvPr id="10" name="Image 1" descr="preencoded.png">    </p:cNvPr>
          <p:cNvPicPr>
            <a:picLocks noChangeAspect="1"/>
          </p:cNvPicPr>
          <p:nvPr/>
        </p:nvPicPr>
        <p:blipFill>
          <a:blip r:embed="rId2"/>
          <a:stretch>
            <a:fillRect/>
          </a:stretch>
        </p:blipFill>
        <p:spPr>
          <a:xfrm>
            <a:off x="6618793" y="1854769"/>
            <a:ext cx="368686" cy="368686"/>
          </a:xfrm>
          <a:prstGeom prst="rect">
            <a:avLst/>
          </a:prstGeom>
        </p:spPr>
      </p:pic>
      <p:sp>
        <p:nvSpPr>
          <p:cNvPr id="11" name="Text 7"/>
          <p:cNvSpPr txBox="1"/>
          <p:nvPr/>
        </p:nvSpPr>
        <p:spPr>
          <a:xfrm>
            <a:off x="7360920" y="1673352"/>
            <a:ext cx="4114800" cy="411480"/>
          </a:xfrm>
          <a:prstGeom prst="rect">
            <a:avLst/>
          </a:prstGeom>
          <a:noFill/>
          <a:ln/>
        </p:spPr>
        <p:txBody>
          <a:bodyPr wrap="square" lIns="0" tIns="0" rIns="0" bIns="0" rtlCol="0" anchor="ctr"/>
          <a:lstStyle/>
          <a:p>
            <a:pPr indent="0" marL="0">
              <a:buNone/>
            </a:pPr>
            <a:r>
              <a:rPr lang="en-US" sz="1700" b="1" dirty="0">
                <a:solidFill>
                  <a:srgbClr val="273370"/>
                </a:solidFill>
                <a:latin typeface="Calibri" pitchFamily="34" charset="0"/>
                <a:ea typeface="Calibri" pitchFamily="34" charset="-122"/>
                <a:cs typeface="Calibri" pitchFamily="34" charset="-120"/>
              </a:rPr>
              <a:t>Format &amp; duration</a:t>
            </a:r>
            <a:endParaRPr lang="en-US" sz="1700" dirty="0"/>
          </a:p>
        </p:txBody>
      </p:sp>
      <p:sp>
        <p:nvSpPr>
          <p:cNvPr id="12" name="Text 8"/>
          <p:cNvSpPr txBox="1"/>
          <p:nvPr/>
        </p:nvSpPr>
        <p:spPr>
          <a:xfrm>
            <a:off x="7360920" y="2130552"/>
            <a:ext cx="4069080" cy="1325880"/>
          </a:xfrm>
          <a:prstGeom prst="rect">
            <a:avLst/>
          </a:prstGeom>
          <a:noFill/>
          <a:ln/>
        </p:spPr>
        <p:txBody>
          <a:bodyPr wrap="square" lIns="0" tIns="0" rIns="0" bIns="0" rtlCol="0" anchor="ctr"/>
          <a:lstStyle/>
          <a:p>
            <a:pPr indent="0" marL="0">
              <a:lnSpc>
                <a:spcPct val="108000"/>
              </a:lnSpc>
              <a:buNone/>
            </a:pPr>
            <a:r>
              <a:rPr lang="en-US" sz="1250" dirty="0">
                <a:solidFill>
                  <a:srgbClr val="22252B"/>
                </a:solidFill>
                <a:latin typeface="Calibri" pitchFamily="34" charset="0"/>
                <a:ea typeface="Calibri" pitchFamily="34" charset="-122"/>
                <a:cs typeface="Calibri" pitchFamily="34" charset="-120"/>
              </a:rPr>
              <a:t>Instructor-led, 3 days, 15 instructional hours. Roughly 60% hands-on practice, 40% guided concepts and demonstrations.</a:t>
            </a:r>
            <a:endParaRPr lang="en-US" sz="1250" dirty="0"/>
          </a:p>
        </p:txBody>
      </p:sp>
      <p:sp>
        <p:nvSpPr>
          <p:cNvPr id="13" name="Shape 9"/>
          <p:cNvSpPr/>
          <p:nvPr/>
        </p:nvSpPr>
        <p:spPr>
          <a:xfrm>
            <a:off x="502920" y="3813048"/>
            <a:ext cx="5440680" cy="2148840"/>
          </a:xfrm>
          <a:prstGeom prst="roundRect">
            <a:avLst>
              <a:gd name="adj" fmla="val 3404"/>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4" name="Shape 10"/>
          <p:cNvSpPr/>
          <p:nvPr/>
        </p:nvSpPr>
        <p:spPr>
          <a:xfrm>
            <a:off x="758952" y="4105656"/>
            <a:ext cx="658368" cy="658368"/>
          </a:xfrm>
          <a:prstGeom prst="roundRect">
            <a:avLst>
              <a:gd name="adj" fmla="val 12500"/>
            </a:avLst>
          </a:prstGeom>
          <a:solidFill>
            <a:srgbClr val="6258A6"/>
          </a:solidFill>
          <a:ln/>
        </p:spPr>
      </p:sp>
      <p:pic>
        <p:nvPicPr>
          <p:cNvPr id="15" name="Image 2" descr="preencoded.png">    </p:cNvPr>
          <p:cNvPicPr>
            <a:picLocks noChangeAspect="1"/>
          </p:cNvPicPr>
          <p:nvPr/>
        </p:nvPicPr>
        <p:blipFill>
          <a:blip r:embed="rId3"/>
          <a:stretch>
            <a:fillRect/>
          </a:stretch>
        </p:blipFill>
        <p:spPr>
          <a:xfrm>
            <a:off x="903793" y="4250497"/>
            <a:ext cx="368686" cy="368686"/>
          </a:xfrm>
          <a:prstGeom prst="rect">
            <a:avLst/>
          </a:prstGeom>
        </p:spPr>
      </p:pic>
      <p:sp>
        <p:nvSpPr>
          <p:cNvPr id="16" name="Text 11"/>
          <p:cNvSpPr txBox="1"/>
          <p:nvPr/>
        </p:nvSpPr>
        <p:spPr>
          <a:xfrm>
            <a:off x="1645920" y="4069080"/>
            <a:ext cx="4114800" cy="411480"/>
          </a:xfrm>
          <a:prstGeom prst="rect">
            <a:avLst/>
          </a:prstGeom>
          <a:noFill/>
          <a:ln/>
        </p:spPr>
        <p:txBody>
          <a:bodyPr wrap="square" lIns="0" tIns="0" rIns="0" bIns="0" rtlCol="0" anchor="ctr"/>
          <a:lstStyle/>
          <a:p>
            <a:pPr indent="0" marL="0">
              <a:buNone/>
            </a:pPr>
            <a:r>
              <a:rPr lang="en-US" sz="1700" b="1" dirty="0">
                <a:solidFill>
                  <a:srgbClr val="273370"/>
                </a:solidFill>
                <a:latin typeface="Calibri" pitchFamily="34" charset="0"/>
                <a:ea typeface="Calibri" pitchFamily="34" charset="-122"/>
                <a:cs typeface="Calibri" pitchFamily="34" charset="-120"/>
              </a:rPr>
              <a:t>Credential</a:t>
            </a:r>
            <a:endParaRPr lang="en-US" sz="1700" dirty="0"/>
          </a:p>
        </p:txBody>
      </p:sp>
      <p:sp>
        <p:nvSpPr>
          <p:cNvPr id="17" name="Text 12"/>
          <p:cNvSpPr txBox="1"/>
          <p:nvPr/>
        </p:nvSpPr>
        <p:spPr>
          <a:xfrm>
            <a:off x="1645920" y="4526280"/>
            <a:ext cx="4069080" cy="1325880"/>
          </a:xfrm>
          <a:prstGeom prst="rect">
            <a:avLst/>
          </a:prstGeom>
          <a:noFill/>
          <a:ln/>
        </p:spPr>
        <p:txBody>
          <a:bodyPr wrap="square" lIns="0" tIns="0" rIns="0" bIns="0" rtlCol="0" anchor="ctr"/>
          <a:lstStyle/>
          <a:p>
            <a:pPr indent="0" marL="0">
              <a:lnSpc>
                <a:spcPct val="108000"/>
              </a:lnSpc>
              <a:buNone/>
            </a:pPr>
            <a:r>
              <a:rPr lang="en-US" sz="1250" dirty="0">
                <a:solidFill>
                  <a:srgbClr val="22252B"/>
                </a:solidFill>
                <a:latin typeface="Calibri" pitchFamily="34" charset="0"/>
                <a:ea typeface="Calibri" pitchFamily="34" charset="-122"/>
                <a:cs typeface="Calibri" pitchFamily="34" charset="-120"/>
              </a:rPr>
              <a:t>SDAIA Academy Digital Badge — Awareness micro-credential, awarded on attendance, exercise completion and final assessment.</a:t>
            </a:r>
            <a:endParaRPr lang="en-US" sz="1250" dirty="0"/>
          </a:p>
        </p:txBody>
      </p:sp>
      <p:sp>
        <p:nvSpPr>
          <p:cNvPr id="18" name="Shape 13"/>
          <p:cNvSpPr/>
          <p:nvPr/>
        </p:nvSpPr>
        <p:spPr>
          <a:xfrm>
            <a:off x="6217920" y="3813048"/>
            <a:ext cx="5440680" cy="2148840"/>
          </a:xfrm>
          <a:prstGeom prst="roundRect">
            <a:avLst>
              <a:gd name="adj" fmla="val 3404"/>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9" name="Shape 14"/>
          <p:cNvSpPr/>
          <p:nvPr/>
        </p:nvSpPr>
        <p:spPr>
          <a:xfrm>
            <a:off x="6473952" y="4105656"/>
            <a:ext cx="658368" cy="658368"/>
          </a:xfrm>
          <a:prstGeom prst="roundRect">
            <a:avLst>
              <a:gd name="adj" fmla="val 12500"/>
            </a:avLst>
          </a:prstGeom>
          <a:solidFill>
            <a:srgbClr val="FCBD4C"/>
          </a:solidFill>
          <a:ln/>
        </p:spPr>
      </p:sp>
      <p:pic>
        <p:nvPicPr>
          <p:cNvPr id="20" name="Image 3" descr="preencoded.png">    </p:cNvPr>
          <p:cNvPicPr>
            <a:picLocks noChangeAspect="1"/>
          </p:cNvPicPr>
          <p:nvPr/>
        </p:nvPicPr>
        <p:blipFill>
          <a:blip r:embed="rId4"/>
          <a:stretch>
            <a:fillRect/>
          </a:stretch>
        </p:blipFill>
        <p:spPr>
          <a:xfrm>
            <a:off x="6618793" y="4250497"/>
            <a:ext cx="368686" cy="368686"/>
          </a:xfrm>
          <a:prstGeom prst="rect">
            <a:avLst/>
          </a:prstGeom>
        </p:spPr>
      </p:pic>
      <p:sp>
        <p:nvSpPr>
          <p:cNvPr id="21" name="Text 15"/>
          <p:cNvSpPr txBox="1"/>
          <p:nvPr/>
        </p:nvSpPr>
        <p:spPr>
          <a:xfrm>
            <a:off x="7360920" y="4069080"/>
            <a:ext cx="4114800" cy="411480"/>
          </a:xfrm>
          <a:prstGeom prst="rect">
            <a:avLst/>
          </a:prstGeom>
          <a:noFill/>
          <a:ln/>
        </p:spPr>
        <p:txBody>
          <a:bodyPr wrap="square" lIns="0" tIns="0" rIns="0" bIns="0" rtlCol="0" anchor="ctr"/>
          <a:lstStyle/>
          <a:p>
            <a:pPr indent="0" marL="0">
              <a:buNone/>
            </a:pPr>
            <a:r>
              <a:rPr lang="en-US" sz="1700" b="1" dirty="0">
                <a:solidFill>
                  <a:srgbClr val="273370"/>
                </a:solidFill>
                <a:latin typeface="Calibri" pitchFamily="34" charset="0"/>
                <a:ea typeface="Calibri" pitchFamily="34" charset="-122"/>
                <a:cs typeface="Calibri" pitchFamily="34" charset="-120"/>
              </a:rPr>
              <a:t>Tools you will use</a:t>
            </a:r>
            <a:endParaRPr lang="en-US" sz="1700" dirty="0"/>
          </a:p>
        </p:txBody>
      </p:sp>
      <p:sp>
        <p:nvSpPr>
          <p:cNvPr id="22" name="Text 16"/>
          <p:cNvSpPr txBox="1"/>
          <p:nvPr/>
        </p:nvSpPr>
        <p:spPr>
          <a:xfrm>
            <a:off x="7360920" y="4526280"/>
            <a:ext cx="4069080" cy="1325880"/>
          </a:xfrm>
          <a:prstGeom prst="rect">
            <a:avLst/>
          </a:prstGeom>
          <a:noFill/>
          <a:ln/>
        </p:spPr>
        <p:txBody>
          <a:bodyPr wrap="square" lIns="0" tIns="0" rIns="0" bIns="0" rtlCol="0" anchor="ctr"/>
          <a:lstStyle/>
          <a:p>
            <a:pPr indent="0" marL="0">
              <a:lnSpc>
                <a:spcPct val="108000"/>
              </a:lnSpc>
              <a:buNone/>
            </a:pPr>
            <a:r>
              <a:rPr lang="en-US" sz="1250" dirty="0">
                <a:solidFill>
                  <a:srgbClr val="22252B"/>
                </a:solidFill>
                <a:latin typeface="Calibri" pitchFamily="34" charset="0"/>
                <a:ea typeface="Calibri" pitchFamily="34" charset="-122"/>
                <a:cs typeface="Calibri" pitchFamily="34" charset="-120"/>
              </a:rPr>
              <a:t>ChatGPT, Microsoft Copilot, Google Gemini, and AI features inside Microsoft 365 — using the tools your organisation makes available.</a:t>
            </a:r>
            <a:endParaRPr lang="en-US" sz="1250" dirty="0"/>
          </a:p>
        </p:txBody>
      </p:sp>
      <p:sp>
        <p:nvSpPr>
          <p:cNvPr id="23" name="Text 17"/>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24" name="Text 18"/>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347472"/>
            <a:ext cx="1115568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Learning objectives</a:t>
            </a:r>
            <a:endParaRPr lang="en-US" sz="3000" dirty="0"/>
          </a:p>
        </p:txBody>
      </p:sp>
      <p:sp>
        <p:nvSpPr>
          <p:cNvPr id="3" name="Text 1"/>
          <p:cNvSpPr txBox="1"/>
          <p:nvPr/>
        </p:nvSpPr>
        <p:spPr>
          <a:xfrm>
            <a:off x="502920" y="987552"/>
            <a:ext cx="11155680" cy="365760"/>
          </a:xfrm>
          <a:prstGeom prst="rect">
            <a:avLst/>
          </a:prstGeom>
          <a:noFill/>
          <a:ln/>
        </p:spPr>
        <p:txBody>
          <a:bodyPr wrap="square" lIns="0" tIns="0" rIns="0" bIns="0" rtlCol="0" anchor="ctr"/>
          <a:lstStyle/>
          <a:p>
            <a:pPr indent="0" marL="0">
              <a:buNone/>
            </a:pPr>
            <a:r>
              <a:rPr lang="en-US" sz="1400" dirty="0">
                <a:solidFill>
                  <a:srgbClr val="696969"/>
                </a:solidFill>
                <a:latin typeface="Calibri" pitchFamily="34" charset="0"/>
                <a:ea typeface="Calibri" pitchFamily="34" charset="-122"/>
                <a:cs typeface="Calibri" pitchFamily="34" charset="-120"/>
              </a:rPr>
              <a:t>By the end of this program, you will be able to…</a:t>
            </a:r>
            <a:endParaRPr lang="en-US" sz="1400" dirty="0"/>
          </a:p>
        </p:txBody>
      </p:sp>
      <p:sp>
        <p:nvSpPr>
          <p:cNvPr id="4" name="Shape 2"/>
          <p:cNvSpPr/>
          <p:nvPr/>
        </p:nvSpPr>
        <p:spPr>
          <a:xfrm>
            <a:off x="502920" y="1618488"/>
            <a:ext cx="566928" cy="566928"/>
          </a:xfrm>
          <a:prstGeom prst="roundRect">
            <a:avLst>
              <a:gd name="adj" fmla="val 14516"/>
            </a:avLst>
          </a:prstGeom>
          <a:solidFill>
            <a:srgbClr val="94A0DA"/>
          </a:solidFill>
          <a:ln/>
        </p:spPr>
      </p:sp>
      <p:pic>
        <p:nvPicPr>
          <p:cNvPr id="5" name="Image 0" descr="preencoded.png">    </p:cNvPr>
          <p:cNvPicPr>
            <a:picLocks noChangeAspect="1"/>
          </p:cNvPicPr>
          <p:nvPr/>
        </p:nvPicPr>
        <p:blipFill>
          <a:blip r:embed="rId1"/>
          <a:stretch>
            <a:fillRect/>
          </a:stretch>
        </p:blipFill>
        <p:spPr>
          <a:xfrm>
            <a:off x="627644" y="1743212"/>
            <a:ext cx="317480" cy="317480"/>
          </a:xfrm>
          <a:prstGeom prst="rect">
            <a:avLst/>
          </a:prstGeom>
        </p:spPr>
      </p:pic>
      <p:sp>
        <p:nvSpPr>
          <p:cNvPr id="6" name="Text 3"/>
          <p:cNvSpPr txBox="1"/>
          <p:nvPr/>
        </p:nvSpPr>
        <p:spPr>
          <a:xfrm>
            <a:off x="1280160" y="1508760"/>
            <a:ext cx="4846320" cy="1417320"/>
          </a:xfrm>
          <a:prstGeom prst="rect">
            <a:avLst/>
          </a:prstGeom>
          <a:noFill/>
          <a:ln/>
        </p:spPr>
        <p:txBody>
          <a:bodyPr wrap="square" lIns="0" tIns="0" rIns="0" bIns="0" rtlCol="0" anchor="ctr"/>
          <a:lstStyle/>
          <a:p>
            <a:pPr indent="0" marL="0">
              <a:lnSpc>
                <a:spcPct val="108000"/>
              </a:lnSpc>
              <a:buNone/>
            </a:pPr>
            <a:r>
              <a:rPr lang="en-US" sz="1350" dirty="0">
                <a:solidFill>
                  <a:srgbClr val="22252B"/>
                </a:solidFill>
                <a:latin typeface="Calibri" pitchFamily="34" charset="0"/>
                <a:ea typeface="Calibri" pitchFamily="34" charset="-122"/>
                <a:cs typeface="Calibri" pitchFamily="34" charset="-120"/>
              </a:rPr>
              <a:t>Explain what generative AI is, what it does well, and where it fails — in plain language.</a:t>
            </a:r>
            <a:endParaRPr lang="en-US" sz="1350" dirty="0"/>
          </a:p>
        </p:txBody>
      </p:sp>
      <p:sp>
        <p:nvSpPr>
          <p:cNvPr id="7" name="Shape 4"/>
          <p:cNvSpPr/>
          <p:nvPr/>
        </p:nvSpPr>
        <p:spPr>
          <a:xfrm>
            <a:off x="6217920" y="1618488"/>
            <a:ext cx="566928" cy="566928"/>
          </a:xfrm>
          <a:prstGeom prst="roundRect">
            <a:avLst>
              <a:gd name="adj" fmla="val 14516"/>
            </a:avLst>
          </a:prstGeom>
          <a:solidFill>
            <a:srgbClr val="273370"/>
          </a:solidFill>
          <a:ln/>
        </p:spPr>
      </p:sp>
      <p:pic>
        <p:nvPicPr>
          <p:cNvPr id="8" name="Image 1" descr="preencoded.png">    </p:cNvPr>
          <p:cNvPicPr>
            <a:picLocks noChangeAspect="1"/>
          </p:cNvPicPr>
          <p:nvPr/>
        </p:nvPicPr>
        <p:blipFill>
          <a:blip r:embed="rId2"/>
          <a:stretch>
            <a:fillRect/>
          </a:stretch>
        </p:blipFill>
        <p:spPr>
          <a:xfrm>
            <a:off x="6342644" y="1743212"/>
            <a:ext cx="317480" cy="317480"/>
          </a:xfrm>
          <a:prstGeom prst="rect">
            <a:avLst/>
          </a:prstGeom>
        </p:spPr>
      </p:pic>
      <p:sp>
        <p:nvSpPr>
          <p:cNvPr id="9" name="Text 5"/>
          <p:cNvSpPr txBox="1"/>
          <p:nvPr/>
        </p:nvSpPr>
        <p:spPr>
          <a:xfrm>
            <a:off x="6995160" y="1508760"/>
            <a:ext cx="4846320" cy="1417320"/>
          </a:xfrm>
          <a:prstGeom prst="rect">
            <a:avLst/>
          </a:prstGeom>
          <a:noFill/>
          <a:ln/>
        </p:spPr>
        <p:txBody>
          <a:bodyPr wrap="square" lIns="0" tIns="0" rIns="0" bIns="0" rtlCol="0" anchor="ctr"/>
          <a:lstStyle/>
          <a:p>
            <a:pPr indent="0" marL="0">
              <a:lnSpc>
                <a:spcPct val="108000"/>
              </a:lnSpc>
              <a:buNone/>
            </a:pPr>
            <a:r>
              <a:rPr lang="en-US" sz="1350" dirty="0">
                <a:solidFill>
                  <a:srgbClr val="22252B"/>
                </a:solidFill>
                <a:latin typeface="Calibri" pitchFamily="34" charset="0"/>
                <a:ea typeface="Calibri" pitchFamily="34" charset="-122"/>
                <a:cs typeface="Calibri" pitchFamily="34" charset="-120"/>
              </a:rPr>
              <a:t>Write clear, structured prompts and iterate on them to get reliable, high-quality outputs.</a:t>
            </a:r>
            <a:endParaRPr lang="en-US" sz="1350" dirty="0"/>
          </a:p>
        </p:txBody>
      </p:sp>
      <p:sp>
        <p:nvSpPr>
          <p:cNvPr id="10" name="Shape 6"/>
          <p:cNvSpPr/>
          <p:nvPr/>
        </p:nvSpPr>
        <p:spPr>
          <a:xfrm>
            <a:off x="502920" y="3191256"/>
            <a:ext cx="566928" cy="566928"/>
          </a:xfrm>
          <a:prstGeom prst="roundRect">
            <a:avLst>
              <a:gd name="adj" fmla="val 14516"/>
            </a:avLst>
          </a:prstGeom>
          <a:solidFill>
            <a:srgbClr val="29BA74"/>
          </a:solidFill>
          <a:ln/>
        </p:spPr>
      </p:sp>
      <p:pic>
        <p:nvPicPr>
          <p:cNvPr id="11" name="Image 2" descr="preencoded.png">    </p:cNvPr>
          <p:cNvPicPr>
            <a:picLocks noChangeAspect="1"/>
          </p:cNvPicPr>
          <p:nvPr/>
        </p:nvPicPr>
        <p:blipFill>
          <a:blip r:embed="rId3"/>
          <a:stretch>
            <a:fillRect/>
          </a:stretch>
        </p:blipFill>
        <p:spPr>
          <a:xfrm>
            <a:off x="627644" y="3315980"/>
            <a:ext cx="317480" cy="317480"/>
          </a:xfrm>
          <a:prstGeom prst="rect">
            <a:avLst/>
          </a:prstGeom>
        </p:spPr>
      </p:pic>
      <p:sp>
        <p:nvSpPr>
          <p:cNvPr id="12" name="Text 7"/>
          <p:cNvSpPr txBox="1"/>
          <p:nvPr/>
        </p:nvSpPr>
        <p:spPr>
          <a:xfrm>
            <a:off x="1280160" y="3081528"/>
            <a:ext cx="4846320" cy="1417320"/>
          </a:xfrm>
          <a:prstGeom prst="rect">
            <a:avLst/>
          </a:prstGeom>
          <a:noFill/>
          <a:ln/>
        </p:spPr>
        <p:txBody>
          <a:bodyPr wrap="square" lIns="0" tIns="0" rIns="0" bIns="0" rtlCol="0" anchor="ctr"/>
          <a:lstStyle/>
          <a:p>
            <a:pPr indent="0" marL="0">
              <a:lnSpc>
                <a:spcPct val="108000"/>
              </a:lnSpc>
              <a:buNone/>
            </a:pPr>
            <a:r>
              <a:rPr lang="en-US" sz="1350" dirty="0">
                <a:solidFill>
                  <a:srgbClr val="22252B"/>
                </a:solidFill>
                <a:latin typeface="Calibri" pitchFamily="34" charset="0"/>
                <a:ea typeface="Calibri" pitchFamily="34" charset="-122"/>
                <a:cs typeface="Calibri" pitchFamily="34" charset="-120"/>
              </a:rPr>
              <a:t>Use AI to draft, rewrite and polish emails, letters, reports and other professional communication.</a:t>
            </a:r>
            <a:endParaRPr lang="en-US" sz="1350" dirty="0"/>
          </a:p>
        </p:txBody>
      </p:sp>
      <p:sp>
        <p:nvSpPr>
          <p:cNvPr id="13" name="Shape 8"/>
          <p:cNvSpPr/>
          <p:nvPr/>
        </p:nvSpPr>
        <p:spPr>
          <a:xfrm>
            <a:off x="6217920" y="3191256"/>
            <a:ext cx="566928" cy="566928"/>
          </a:xfrm>
          <a:prstGeom prst="roundRect">
            <a:avLst>
              <a:gd name="adj" fmla="val 14516"/>
            </a:avLst>
          </a:prstGeom>
          <a:solidFill>
            <a:srgbClr val="67CCFF"/>
          </a:solidFill>
          <a:ln/>
        </p:spPr>
      </p:sp>
      <p:pic>
        <p:nvPicPr>
          <p:cNvPr id="14" name="Image 3" descr="preencoded.png">    </p:cNvPr>
          <p:cNvPicPr>
            <a:picLocks noChangeAspect="1"/>
          </p:cNvPicPr>
          <p:nvPr/>
        </p:nvPicPr>
        <p:blipFill>
          <a:blip r:embed="rId4"/>
          <a:stretch>
            <a:fillRect/>
          </a:stretch>
        </p:blipFill>
        <p:spPr>
          <a:xfrm>
            <a:off x="6342644" y="3315980"/>
            <a:ext cx="317480" cy="317480"/>
          </a:xfrm>
          <a:prstGeom prst="rect">
            <a:avLst/>
          </a:prstGeom>
        </p:spPr>
      </p:pic>
      <p:sp>
        <p:nvSpPr>
          <p:cNvPr id="15" name="Text 9"/>
          <p:cNvSpPr txBox="1"/>
          <p:nvPr/>
        </p:nvSpPr>
        <p:spPr>
          <a:xfrm>
            <a:off x="6995160" y="3081528"/>
            <a:ext cx="4846320" cy="1417320"/>
          </a:xfrm>
          <a:prstGeom prst="rect">
            <a:avLst/>
          </a:prstGeom>
          <a:noFill/>
          <a:ln/>
        </p:spPr>
        <p:txBody>
          <a:bodyPr wrap="square" lIns="0" tIns="0" rIns="0" bIns="0" rtlCol="0" anchor="ctr"/>
          <a:lstStyle/>
          <a:p>
            <a:pPr indent="0" marL="0">
              <a:lnSpc>
                <a:spcPct val="108000"/>
              </a:lnSpc>
              <a:buNone/>
            </a:pPr>
            <a:r>
              <a:rPr lang="en-US" sz="1350" dirty="0">
                <a:solidFill>
                  <a:srgbClr val="22252B"/>
                </a:solidFill>
                <a:latin typeface="Calibri" pitchFamily="34" charset="0"/>
                <a:ea typeface="Calibri" pitchFamily="34" charset="-122"/>
                <a:cs typeface="Calibri" pitchFamily="34" charset="-120"/>
              </a:rPr>
              <a:t>Summarise, extract, compare and synthesise information from documents, notes and data.</a:t>
            </a:r>
            <a:endParaRPr lang="en-US" sz="1350" dirty="0"/>
          </a:p>
        </p:txBody>
      </p:sp>
      <p:sp>
        <p:nvSpPr>
          <p:cNvPr id="16" name="Shape 10"/>
          <p:cNvSpPr/>
          <p:nvPr/>
        </p:nvSpPr>
        <p:spPr>
          <a:xfrm>
            <a:off x="502920" y="4764024"/>
            <a:ext cx="566928" cy="566928"/>
          </a:xfrm>
          <a:prstGeom prst="roundRect">
            <a:avLst>
              <a:gd name="adj" fmla="val 14516"/>
            </a:avLst>
          </a:prstGeom>
          <a:solidFill>
            <a:srgbClr val="FCBD4C"/>
          </a:solidFill>
          <a:ln/>
        </p:spPr>
      </p:sp>
      <p:pic>
        <p:nvPicPr>
          <p:cNvPr id="17" name="Image 4" descr="preencoded.png">    </p:cNvPr>
          <p:cNvPicPr>
            <a:picLocks noChangeAspect="1"/>
          </p:cNvPicPr>
          <p:nvPr/>
        </p:nvPicPr>
        <p:blipFill>
          <a:blip r:embed="rId5"/>
          <a:stretch>
            <a:fillRect/>
          </a:stretch>
        </p:blipFill>
        <p:spPr>
          <a:xfrm>
            <a:off x="627644" y="4888748"/>
            <a:ext cx="317480" cy="317480"/>
          </a:xfrm>
          <a:prstGeom prst="rect">
            <a:avLst/>
          </a:prstGeom>
        </p:spPr>
      </p:pic>
      <p:sp>
        <p:nvSpPr>
          <p:cNvPr id="18" name="Text 11"/>
          <p:cNvSpPr txBox="1"/>
          <p:nvPr/>
        </p:nvSpPr>
        <p:spPr>
          <a:xfrm>
            <a:off x="1280160" y="4654296"/>
            <a:ext cx="4846320" cy="1417320"/>
          </a:xfrm>
          <a:prstGeom prst="rect">
            <a:avLst/>
          </a:prstGeom>
          <a:noFill/>
          <a:ln/>
        </p:spPr>
        <p:txBody>
          <a:bodyPr wrap="square" lIns="0" tIns="0" rIns="0" bIns="0" rtlCol="0" anchor="ctr"/>
          <a:lstStyle/>
          <a:p>
            <a:pPr indent="0" marL="0">
              <a:lnSpc>
                <a:spcPct val="108000"/>
              </a:lnSpc>
              <a:buNone/>
            </a:pPr>
            <a:r>
              <a:rPr lang="en-US" sz="1350" dirty="0">
                <a:solidFill>
                  <a:srgbClr val="22252B"/>
                </a:solidFill>
                <a:latin typeface="Calibri" pitchFamily="34" charset="0"/>
                <a:ea typeface="Calibri" pitchFamily="34" charset="-122"/>
                <a:cs typeface="Calibri" pitchFamily="34" charset="-120"/>
              </a:rPr>
              <a:t>Apply AI to brainstorming, planning, task organisation and everyday productivity workflows.</a:t>
            </a:r>
            <a:endParaRPr lang="en-US" sz="1350" dirty="0"/>
          </a:p>
        </p:txBody>
      </p:sp>
      <p:sp>
        <p:nvSpPr>
          <p:cNvPr id="19" name="Shape 12"/>
          <p:cNvSpPr/>
          <p:nvPr/>
        </p:nvSpPr>
        <p:spPr>
          <a:xfrm>
            <a:off x="6217920" y="4764024"/>
            <a:ext cx="566928" cy="566928"/>
          </a:xfrm>
          <a:prstGeom prst="roundRect">
            <a:avLst>
              <a:gd name="adj" fmla="val 14516"/>
            </a:avLst>
          </a:prstGeom>
          <a:solidFill>
            <a:srgbClr val="6258A6"/>
          </a:solidFill>
          <a:ln/>
        </p:spPr>
      </p:sp>
      <p:pic>
        <p:nvPicPr>
          <p:cNvPr id="20" name="Image 5" descr="preencoded.png">    </p:cNvPr>
          <p:cNvPicPr>
            <a:picLocks noChangeAspect="1"/>
          </p:cNvPicPr>
          <p:nvPr/>
        </p:nvPicPr>
        <p:blipFill>
          <a:blip r:embed="rId6"/>
          <a:stretch>
            <a:fillRect/>
          </a:stretch>
        </p:blipFill>
        <p:spPr>
          <a:xfrm>
            <a:off x="6342644" y="4888748"/>
            <a:ext cx="317480" cy="317480"/>
          </a:xfrm>
          <a:prstGeom prst="rect">
            <a:avLst/>
          </a:prstGeom>
        </p:spPr>
      </p:pic>
      <p:sp>
        <p:nvSpPr>
          <p:cNvPr id="21" name="Text 13"/>
          <p:cNvSpPr txBox="1"/>
          <p:nvPr/>
        </p:nvSpPr>
        <p:spPr>
          <a:xfrm>
            <a:off x="6995160" y="4654296"/>
            <a:ext cx="4846320" cy="1417320"/>
          </a:xfrm>
          <a:prstGeom prst="rect">
            <a:avLst/>
          </a:prstGeom>
          <a:noFill/>
          <a:ln/>
        </p:spPr>
        <p:txBody>
          <a:bodyPr wrap="square" lIns="0" tIns="0" rIns="0" bIns="0" rtlCol="0" anchor="ctr"/>
          <a:lstStyle/>
          <a:p>
            <a:pPr indent="0" marL="0">
              <a:lnSpc>
                <a:spcPct val="108000"/>
              </a:lnSpc>
              <a:buNone/>
            </a:pPr>
            <a:r>
              <a:rPr lang="en-US" sz="1350" dirty="0">
                <a:solidFill>
                  <a:srgbClr val="22252B"/>
                </a:solidFill>
                <a:latin typeface="Calibri" pitchFamily="34" charset="0"/>
                <a:ea typeface="Calibri" pitchFamily="34" charset="-122"/>
                <a:cs typeface="Calibri" pitchFamily="34" charset="-120"/>
              </a:rPr>
              <a:t>Review, fact-check and validate AI outputs, and use AI safely within privacy, confidentiality and accountability rules.</a:t>
            </a:r>
            <a:endParaRPr lang="en-US" sz="1350" dirty="0"/>
          </a:p>
        </p:txBody>
      </p:sp>
      <p:sp>
        <p:nvSpPr>
          <p:cNvPr id="22" name="Text 14"/>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23" name="Text 15"/>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347472"/>
            <a:ext cx="1115568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Your three-day learning journey</a:t>
            </a:r>
            <a:endParaRPr lang="en-US" sz="3000" dirty="0"/>
          </a:p>
        </p:txBody>
      </p:sp>
      <p:sp>
        <p:nvSpPr>
          <p:cNvPr id="3" name="Shape 1"/>
          <p:cNvSpPr/>
          <p:nvPr/>
        </p:nvSpPr>
        <p:spPr>
          <a:xfrm>
            <a:off x="502920" y="1463040"/>
            <a:ext cx="3703320" cy="4663440"/>
          </a:xfrm>
          <a:prstGeom prst="roundRect">
            <a:avLst>
              <a:gd name="adj" fmla="val 1975"/>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4" name="Shape 2"/>
          <p:cNvSpPr/>
          <p:nvPr/>
        </p:nvSpPr>
        <p:spPr>
          <a:xfrm>
            <a:off x="502920" y="1463040"/>
            <a:ext cx="3703320" cy="420624"/>
          </a:xfrm>
          <a:prstGeom prst="roundRect">
            <a:avLst>
              <a:gd name="adj" fmla="val 17391"/>
            </a:avLst>
          </a:prstGeom>
          <a:solidFill>
            <a:srgbClr val="273370"/>
          </a:solidFill>
          <a:ln/>
        </p:spPr>
      </p:sp>
      <p:sp>
        <p:nvSpPr>
          <p:cNvPr id="5" name="Shape 3"/>
          <p:cNvSpPr/>
          <p:nvPr/>
        </p:nvSpPr>
        <p:spPr>
          <a:xfrm>
            <a:off x="502920" y="1673352"/>
            <a:ext cx="3703320" cy="210312"/>
          </a:xfrm>
          <a:prstGeom prst="rect">
            <a:avLst/>
          </a:prstGeom>
          <a:solidFill>
            <a:srgbClr val="273370"/>
          </a:solidFill>
          <a:ln/>
        </p:spPr>
      </p:sp>
      <p:sp>
        <p:nvSpPr>
          <p:cNvPr id="6" name="Text 4"/>
          <p:cNvSpPr txBox="1"/>
          <p:nvPr/>
        </p:nvSpPr>
        <p:spPr>
          <a:xfrm>
            <a:off x="640080" y="1463040"/>
            <a:ext cx="342900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DAY 1  —  Foundations</a:t>
            </a:r>
            <a:endParaRPr lang="en-US" sz="1400" dirty="0"/>
          </a:p>
        </p:txBody>
      </p:sp>
      <p:sp>
        <p:nvSpPr>
          <p:cNvPr id="7" name="Text 5"/>
          <p:cNvSpPr txBox="1"/>
          <p:nvPr/>
        </p:nvSpPr>
        <p:spPr>
          <a:xfrm>
            <a:off x="731520" y="2057400"/>
            <a:ext cx="3291840" cy="685800"/>
          </a:xfrm>
          <a:prstGeom prst="rect">
            <a:avLst/>
          </a:prstGeom>
          <a:noFill/>
          <a:ln/>
        </p:spPr>
        <p:txBody>
          <a:bodyPr wrap="square" lIns="0" tIns="0" rIns="0" bIns="0" rtlCol="0" anchor="ctr"/>
          <a:lstStyle/>
          <a:p>
            <a:pPr indent="0" marL="0">
              <a:buNone/>
            </a:pPr>
            <a:r>
              <a:rPr lang="en-US" sz="1500" b="1" dirty="0">
                <a:solidFill>
                  <a:srgbClr val="273370"/>
                </a:solidFill>
                <a:latin typeface="Calibri" pitchFamily="34" charset="0"/>
                <a:ea typeface="Calibri" pitchFamily="34" charset="-122"/>
                <a:cs typeface="Calibri" pitchFamily="34" charset="-120"/>
              </a:rPr>
              <a:t>Foundations &amp; Prompting</a:t>
            </a:r>
            <a:endParaRPr lang="en-US" sz="1500" dirty="0"/>
          </a:p>
        </p:txBody>
      </p:sp>
      <p:sp>
        <p:nvSpPr>
          <p:cNvPr id="8" name="Text 6"/>
          <p:cNvSpPr txBox="1"/>
          <p:nvPr/>
        </p:nvSpPr>
        <p:spPr>
          <a:xfrm>
            <a:off x="731520" y="2834640"/>
            <a:ext cx="3291840" cy="3108960"/>
          </a:xfrm>
          <a:prstGeom prst="rect">
            <a:avLst/>
          </a:prstGeom>
          <a:noFill/>
          <a:ln/>
        </p:spPr>
        <p:txBody>
          <a:bodyPr wrap="square" lIns="0" tIns="0" rIns="0" bIns="0" rtlCol="0" anchor="t"/>
          <a:lstStyle/>
          <a:p>
            <a:pPr marL="152400" indent="-152400">
              <a:lnSpc>
                <a:spcPct val="105000"/>
              </a:lnSpc>
              <a:spcAft>
                <a:spcPts val="900"/>
              </a:spcAft>
              <a:buSzPct val="100000"/>
              <a:buChar char="•"/>
            </a:pPr>
            <a:r>
              <a:rPr lang="en-US" sz="1250" dirty="0">
                <a:solidFill>
                  <a:srgbClr val="22252B"/>
                </a:solidFill>
                <a:latin typeface="Calibri" pitchFamily="34" charset="0"/>
                <a:ea typeface="Calibri" pitchFamily="34" charset="-122"/>
                <a:cs typeface="Calibri" pitchFamily="34" charset="-120"/>
              </a:rPr>
              <a:t>What generative AI is — and is not</a:t>
            </a:r>
            <a:endParaRPr lang="en-US" sz="1250" dirty="0"/>
          </a:p>
          <a:p>
            <a:pPr marL="152400" indent="-152400">
              <a:lnSpc>
                <a:spcPct val="105000"/>
              </a:lnSpc>
              <a:spcAft>
                <a:spcPts val="900"/>
              </a:spcAft>
              <a:buSzPct val="100000"/>
              <a:buChar char="•"/>
            </a:pPr>
            <a:r>
              <a:rPr lang="en-US" sz="1250" dirty="0">
                <a:solidFill>
                  <a:srgbClr val="22252B"/>
                </a:solidFill>
                <a:latin typeface="Calibri" pitchFamily="34" charset="0"/>
                <a:ea typeface="Calibri" pitchFamily="34" charset="-122"/>
                <a:cs typeface="Calibri" pitchFamily="34" charset="-120"/>
              </a:rPr>
              <a:t>Capabilities, limitations, tool landscape</a:t>
            </a:r>
            <a:endParaRPr lang="en-US" sz="1250" dirty="0"/>
          </a:p>
          <a:p>
            <a:pPr marL="152400" indent="-152400">
              <a:lnSpc>
                <a:spcPct val="105000"/>
              </a:lnSpc>
              <a:spcAft>
                <a:spcPts val="900"/>
              </a:spcAft>
              <a:buSzPct val="100000"/>
              <a:buChar char="•"/>
            </a:pPr>
            <a:r>
              <a:rPr lang="en-US" sz="1250" dirty="0">
                <a:solidFill>
                  <a:srgbClr val="22252B"/>
                </a:solidFill>
                <a:latin typeface="Calibri" pitchFamily="34" charset="0"/>
                <a:ea typeface="Calibri" pitchFamily="34" charset="-122"/>
                <a:cs typeface="Calibri" pitchFamily="34" charset="-120"/>
              </a:rPr>
              <a:t>The anatomy of an effective prompt</a:t>
            </a:r>
            <a:endParaRPr lang="en-US" sz="1250" dirty="0"/>
          </a:p>
          <a:p>
            <a:pPr marL="152400" indent="-152400">
              <a:lnSpc>
                <a:spcPct val="105000"/>
              </a:lnSpc>
              <a:spcAft>
                <a:spcPts val="900"/>
              </a:spcAft>
              <a:buSzPct val="100000"/>
              <a:buChar char="•"/>
            </a:pPr>
            <a:r>
              <a:rPr lang="en-US" sz="1250" dirty="0">
                <a:solidFill>
                  <a:srgbClr val="22252B"/>
                </a:solidFill>
                <a:latin typeface="Calibri" pitchFamily="34" charset="0"/>
                <a:ea typeface="Calibri" pitchFamily="34" charset="-122"/>
                <a:cs typeface="Calibri" pitchFamily="34" charset="-120"/>
              </a:rPr>
              <a:t>Reusable prompt structures</a:t>
            </a:r>
            <a:endParaRPr lang="en-US" sz="1250" dirty="0"/>
          </a:p>
          <a:p>
            <a:pPr marL="152400" indent="-152400">
              <a:lnSpc>
                <a:spcPct val="105000"/>
              </a:lnSpc>
              <a:spcAft>
                <a:spcPts val="900"/>
              </a:spcAft>
              <a:buSzPct val="100000"/>
              <a:buChar char="•"/>
            </a:pPr>
            <a:r>
              <a:rPr lang="en-US" sz="1250" dirty="0">
                <a:solidFill>
                  <a:srgbClr val="22252B"/>
                </a:solidFill>
                <a:latin typeface="Calibri" pitchFamily="34" charset="0"/>
                <a:ea typeface="Calibri" pitchFamily="34" charset="-122"/>
                <a:cs typeface="Calibri" pitchFamily="34" charset="-120"/>
              </a:rPr>
              <a:t>3 hands-on activities + quiz</a:t>
            </a:r>
            <a:endParaRPr lang="en-US" sz="1250" dirty="0"/>
          </a:p>
        </p:txBody>
      </p:sp>
      <p:sp>
        <p:nvSpPr>
          <p:cNvPr id="9" name="Shape 7"/>
          <p:cNvSpPr/>
          <p:nvPr/>
        </p:nvSpPr>
        <p:spPr>
          <a:xfrm>
            <a:off x="4453128" y="1463040"/>
            <a:ext cx="3703320" cy="4663440"/>
          </a:xfrm>
          <a:prstGeom prst="roundRect">
            <a:avLst>
              <a:gd name="adj" fmla="val 1975"/>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0" name="Shape 8"/>
          <p:cNvSpPr/>
          <p:nvPr/>
        </p:nvSpPr>
        <p:spPr>
          <a:xfrm>
            <a:off x="4453128" y="1463040"/>
            <a:ext cx="3703320" cy="420624"/>
          </a:xfrm>
          <a:prstGeom prst="roundRect">
            <a:avLst>
              <a:gd name="adj" fmla="val 17391"/>
            </a:avLst>
          </a:prstGeom>
          <a:solidFill>
            <a:srgbClr val="29BA74"/>
          </a:solidFill>
          <a:ln/>
        </p:spPr>
      </p:sp>
      <p:sp>
        <p:nvSpPr>
          <p:cNvPr id="11" name="Shape 9"/>
          <p:cNvSpPr/>
          <p:nvPr/>
        </p:nvSpPr>
        <p:spPr>
          <a:xfrm>
            <a:off x="4453128" y="1673352"/>
            <a:ext cx="3703320" cy="210312"/>
          </a:xfrm>
          <a:prstGeom prst="rect">
            <a:avLst/>
          </a:prstGeom>
          <a:solidFill>
            <a:srgbClr val="29BA74"/>
          </a:solidFill>
          <a:ln/>
        </p:spPr>
      </p:sp>
      <p:sp>
        <p:nvSpPr>
          <p:cNvPr id="12" name="Text 10"/>
          <p:cNvSpPr txBox="1"/>
          <p:nvPr/>
        </p:nvSpPr>
        <p:spPr>
          <a:xfrm>
            <a:off x="4590288" y="1463040"/>
            <a:ext cx="342900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DAY 2  —  Writing</a:t>
            </a:r>
            <a:endParaRPr lang="en-US" sz="1400" dirty="0"/>
          </a:p>
        </p:txBody>
      </p:sp>
      <p:sp>
        <p:nvSpPr>
          <p:cNvPr id="13" name="Text 11"/>
          <p:cNvSpPr txBox="1"/>
          <p:nvPr/>
        </p:nvSpPr>
        <p:spPr>
          <a:xfrm>
            <a:off x="4681728" y="2057400"/>
            <a:ext cx="3291840" cy="685800"/>
          </a:xfrm>
          <a:prstGeom prst="rect">
            <a:avLst/>
          </a:prstGeom>
          <a:noFill/>
          <a:ln/>
        </p:spPr>
        <p:txBody>
          <a:bodyPr wrap="square" lIns="0" tIns="0" rIns="0" bIns="0" rtlCol="0" anchor="ctr"/>
          <a:lstStyle/>
          <a:p>
            <a:pPr indent="0" marL="0">
              <a:buNone/>
            </a:pPr>
            <a:r>
              <a:rPr lang="en-US" sz="1500" b="1" dirty="0">
                <a:solidFill>
                  <a:srgbClr val="273370"/>
                </a:solidFill>
                <a:latin typeface="Calibri" pitchFamily="34" charset="0"/>
                <a:ea typeface="Calibri" pitchFamily="34" charset="-122"/>
                <a:cs typeface="Calibri" pitchFamily="34" charset="-120"/>
              </a:rPr>
              <a:t>Writing &amp; Working with Information</a:t>
            </a:r>
            <a:endParaRPr lang="en-US" sz="1500" dirty="0"/>
          </a:p>
        </p:txBody>
      </p:sp>
      <p:sp>
        <p:nvSpPr>
          <p:cNvPr id="14" name="Text 12"/>
          <p:cNvSpPr txBox="1"/>
          <p:nvPr/>
        </p:nvSpPr>
        <p:spPr>
          <a:xfrm>
            <a:off x="4681728" y="2834640"/>
            <a:ext cx="3291840" cy="3108960"/>
          </a:xfrm>
          <a:prstGeom prst="rect">
            <a:avLst/>
          </a:prstGeom>
          <a:noFill/>
          <a:ln/>
        </p:spPr>
        <p:txBody>
          <a:bodyPr wrap="square" lIns="0" tIns="0" rIns="0" bIns="0" rtlCol="0" anchor="t"/>
          <a:lstStyle/>
          <a:p>
            <a:pPr marL="152400" indent="-152400">
              <a:lnSpc>
                <a:spcPct val="105000"/>
              </a:lnSpc>
              <a:spcAft>
                <a:spcPts val="900"/>
              </a:spcAft>
              <a:buSzPct val="100000"/>
              <a:buChar char="•"/>
            </a:pPr>
            <a:r>
              <a:rPr lang="en-US" sz="1250" dirty="0">
                <a:solidFill>
                  <a:srgbClr val="22252B"/>
                </a:solidFill>
                <a:latin typeface="Calibri" pitchFamily="34" charset="0"/>
                <a:ea typeface="Calibri" pitchFamily="34" charset="-122"/>
                <a:cs typeface="Calibri" pitchFamily="34" charset="-120"/>
              </a:rPr>
              <a:t>Emails, correspondence &amp; tone control</a:t>
            </a:r>
            <a:endParaRPr lang="en-US" sz="1250" dirty="0"/>
          </a:p>
          <a:p>
            <a:pPr marL="152400" indent="-152400">
              <a:lnSpc>
                <a:spcPct val="105000"/>
              </a:lnSpc>
              <a:spcAft>
                <a:spcPts val="900"/>
              </a:spcAft>
              <a:buSzPct val="100000"/>
              <a:buChar char="•"/>
            </a:pPr>
            <a:r>
              <a:rPr lang="en-US" sz="1250" dirty="0">
                <a:solidFill>
                  <a:srgbClr val="22252B"/>
                </a:solidFill>
                <a:latin typeface="Calibri" pitchFamily="34" charset="0"/>
                <a:ea typeface="Calibri" pitchFamily="34" charset="-122"/>
                <a:cs typeface="Calibri" pitchFamily="34" charset="-120"/>
              </a:rPr>
              <a:t>Reports and longer documents</a:t>
            </a:r>
            <a:endParaRPr lang="en-US" sz="1250" dirty="0"/>
          </a:p>
          <a:p>
            <a:pPr marL="152400" indent="-152400">
              <a:lnSpc>
                <a:spcPct val="105000"/>
              </a:lnSpc>
              <a:spcAft>
                <a:spcPts val="900"/>
              </a:spcAft>
              <a:buSzPct val="100000"/>
              <a:buChar char="•"/>
            </a:pPr>
            <a:r>
              <a:rPr lang="en-US" sz="1250" dirty="0">
                <a:solidFill>
                  <a:srgbClr val="22252B"/>
                </a:solidFill>
                <a:latin typeface="Calibri" pitchFamily="34" charset="0"/>
                <a:ea typeface="Calibri" pitchFamily="34" charset="-122"/>
                <a:cs typeface="Calibri" pitchFamily="34" charset="-120"/>
              </a:rPr>
              <a:t>Summarisation &amp; information extraction</a:t>
            </a:r>
            <a:endParaRPr lang="en-US" sz="1250" dirty="0"/>
          </a:p>
          <a:p>
            <a:pPr marL="152400" indent="-152400">
              <a:lnSpc>
                <a:spcPct val="105000"/>
              </a:lnSpc>
              <a:spcAft>
                <a:spcPts val="900"/>
              </a:spcAft>
              <a:buSzPct val="100000"/>
              <a:buChar char="•"/>
            </a:pPr>
            <a:r>
              <a:rPr lang="en-US" sz="1250" dirty="0">
                <a:solidFill>
                  <a:srgbClr val="22252B"/>
                </a:solidFill>
                <a:latin typeface="Calibri" pitchFamily="34" charset="0"/>
                <a:ea typeface="Calibri" pitchFamily="34" charset="-122"/>
                <a:cs typeface="Calibri" pitchFamily="34" charset="-120"/>
              </a:rPr>
              <a:t>Comparing &amp; synthesising documents</a:t>
            </a:r>
            <a:endParaRPr lang="en-US" sz="1250" dirty="0"/>
          </a:p>
          <a:p>
            <a:pPr marL="152400" indent="-152400">
              <a:lnSpc>
                <a:spcPct val="105000"/>
              </a:lnSpc>
              <a:spcAft>
                <a:spcPts val="900"/>
              </a:spcAft>
              <a:buSzPct val="100000"/>
              <a:buChar char="•"/>
            </a:pPr>
            <a:r>
              <a:rPr lang="en-US" sz="1250" dirty="0">
                <a:solidFill>
                  <a:srgbClr val="22252B"/>
                </a:solidFill>
                <a:latin typeface="Calibri" pitchFamily="34" charset="0"/>
                <a:ea typeface="Calibri" pitchFamily="34" charset="-122"/>
                <a:cs typeface="Calibri" pitchFamily="34" charset="-120"/>
              </a:rPr>
              <a:t>4 hands-on activities + quiz</a:t>
            </a:r>
            <a:endParaRPr lang="en-US" sz="1250" dirty="0"/>
          </a:p>
        </p:txBody>
      </p:sp>
      <p:sp>
        <p:nvSpPr>
          <p:cNvPr id="15" name="Shape 13"/>
          <p:cNvSpPr/>
          <p:nvPr/>
        </p:nvSpPr>
        <p:spPr>
          <a:xfrm>
            <a:off x="8403336" y="1463040"/>
            <a:ext cx="3703320" cy="4663440"/>
          </a:xfrm>
          <a:prstGeom prst="roundRect">
            <a:avLst>
              <a:gd name="adj" fmla="val 1975"/>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6" name="Shape 14"/>
          <p:cNvSpPr/>
          <p:nvPr/>
        </p:nvSpPr>
        <p:spPr>
          <a:xfrm>
            <a:off x="8403336" y="1463040"/>
            <a:ext cx="3703320" cy="420624"/>
          </a:xfrm>
          <a:prstGeom prst="roundRect">
            <a:avLst>
              <a:gd name="adj" fmla="val 17391"/>
            </a:avLst>
          </a:prstGeom>
          <a:solidFill>
            <a:srgbClr val="6258A6"/>
          </a:solidFill>
          <a:ln/>
        </p:spPr>
      </p:sp>
      <p:sp>
        <p:nvSpPr>
          <p:cNvPr id="17" name="Shape 15"/>
          <p:cNvSpPr/>
          <p:nvPr/>
        </p:nvSpPr>
        <p:spPr>
          <a:xfrm>
            <a:off x="8403336" y="1673352"/>
            <a:ext cx="3703320" cy="210312"/>
          </a:xfrm>
          <a:prstGeom prst="rect">
            <a:avLst/>
          </a:prstGeom>
          <a:solidFill>
            <a:srgbClr val="6258A6"/>
          </a:solidFill>
          <a:ln/>
        </p:spPr>
      </p:sp>
      <p:sp>
        <p:nvSpPr>
          <p:cNvPr id="18" name="Text 16"/>
          <p:cNvSpPr txBox="1"/>
          <p:nvPr/>
        </p:nvSpPr>
        <p:spPr>
          <a:xfrm>
            <a:off x="8540496" y="1463040"/>
            <a:ext cx="342900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DAY 3  —  Workflows, Verification</a:t>
            </a:r>
            <a:endParaRPr lang="en-US" sz="1400" dirty="0"/>
          </a:p>
        </p:txBody>
      </p:sp>
      <p:sp>
        <p:nvSpPr>
          <p:cNvPr id="19" name="Text 17"/>
          <p:cNvSpPr txBox="1"/>
          <p:nvPr/>
        </p:nvSpPr>
        <p:spPr>
          <a:xfrm>
            <a:off x="8631936" y="2057400"/>
            <a:ext cx="3291840" cy="685800"/>
          </a:xfrm>
          <a:prstGeom prst="rect">
            <a:avLst/>
          </a:prstGeom>
          <a:noFill/>
          <a:ln/>
        </p:spPr>
        <p:txBody>
          <a:bodyPr wrap="square" lIns="0" tIns="0" rIns="0" bIns="0" rtlCol="0" anchor="ctr"/>
          <a:lstStyle/>
          <a:p>
            <a:pPr indent="0" marL="0">
              <a:buNone/>
            </a:pPr>
            <a:r>
              <a:rPr lang="en-US" sz="1500" b="1" dirty="0">
                <a:solidFill>
                  <a:srgbClr val="273370"/>
                </a:solidFill>
                <a:latin typeface="Calibri" pitchFamily="34" charset="0"/>
                <a:ea typeface="Calibri" pitchFamily="34" charset="-122"/>
                <a:cs typeface="Calibri" pitchFamily="34" charset="-120"/>
              </a:rPr>
              <a:t>Workflows, Verification &amp; Responsible Use</a:t>
            </a:r>
            <a:endParaRPr lang="en-US" sz="1500" dirty="0"/>
          </a:p>
        </p:txBody>
      </p:sp>
      <p:sp>
        <p:nvSpPr>
          <p:cNvPr id="20" name="Text 18"/>
          <p:cNvSpPr txBox="1"/>
          <p:nvPr/>
        </p:nvSpPr>
        <p:spPr>
          <a:xfrm>
            <a:off x="8631936" y="2834640"/>
            <a:ext cx="3291840" cy="3108960"/>
          </a:xfrm>
          <a:prstGeom prst="rect">
            <a:avLst/>
          </a:prstGeom>
          <a:noFill/>
          <a:ln/>
        </p:spPr>
        <p:txBody>
          <a:bodyPr wrap="square" lIns="0" tIns="0" rIns="0" bIns="0" rtlCol="0" anchor="t"/>
          <a:lstStyle/>
          <a:p>
            <a:pPr marL="152400" indent="-152400">
              <a:lnSpc>
                <a:spcPct val="105000"/>
              </a:lnSpc>
              <a:spcAft>
                <a:spcPts val="900"/>
              </a:spcAft>
              <a:buSzPct val="100000"/>
              <a:buChar char="•"/>
            </a:pPr>
            <a:r>
              <a:rPr lang="en-US" sz="1250" dirty="0">
                <a:solidFill>
                  <a:srgbClr val="22252B"/>
                </a:solidFill>
                <a:latin typeface="Calibri" pitchFamily="34" charset="0"/>
                <a:ea typeface="Calibri" pitchFamily="34" charset="-122"/>
                <a:cs typeface="Calibri" pitchFamily="34" charset="-120"/>
              </a:rPr>
              <a:t>Brainstorming, planning &amp; organisation</a:t>
            </a:r>
            <a:endParaRPr lang="en-US" sz="1250" dirty="0"/>
          </a:p>
          <a:p>
            <a:pPr marL="152400" indent="-152400">
              <a:lnSpc>
                <a:spcPct val="105000"/>
              </a:lnSpc>
              <a:spcAft>
                <a:spcPts val="900"/>
              </a:spcAft>
              <a:buSzPct val="100000"/>
              <a:buChar char="•"/>
            </a:pPr>
            <a:r>
              <a:rPr lang="en-US" sz="1250" dirty="0">
                <a:solidFill>
                  <a:srgbClr val="22252B"/>
                </a:solidFill>
                <a:latin typeface="Calibri" pitchFamily="34" charset="0"/>
                <a:ea typeface="Calibri" pitchFamily="34" charset="-122"/>
                <a:cs typeface="Calibri" pitchFamily="34" charset="-120"/>
              </a:rPr>
              <a:t>Copilot, Gemini &amp; Microsoft 365 workflows</a:t>
            </a:r>
            <a:endParaRPr lang="en-US" sz="1250" dirty="0"/>
          </a:p>
          <a:p>
            <a:pPr marL="152400" indent="-152400">
              <a:lnSpc>
                <a:spcPct val="105000"/>
              </a:lnSpc>
              <a:spcAft>
                <a:spcPts val="900"/>
              </a:spcAft>
              <a:buSzPct val="100000"/>
              <a:buChar char="•"/>
            </a:pPr>
            <a:r>
              <a:rPr lang="en-US" sz="1250" dirty="0">
                <a:solidFill>
                  <a:srgbClr val="22252B"/>
                </a:solidFill>
                <a:latin typeface="Calibri" pitchFamily="34" charset="0"/>
                <a:ea typeface="Calibri" pitchFamily="34" charset="-122"/>
                <a:cs typeface="Calibri" pitchFamily="34" charset="-120"/>
              </a:rPr>
              <a:t>Fact-checking and validating AI output</a:t>
            </a:r>
            <a:endParaRPr lang="en-US" sz="1250" dirty="0"/>
          </a:p>
          <a:p>
            <a:pPr marL="152400" indent="-152400">
              <a:lnSpc>
                <a:spcPct val="105000"/>
              </a:lnSpc>
              <a:spcAft>
                <a:spcPts val="900"/>
              </a:spcAft>
              <a:buSzPct val="100000"/>
              <a:buChar char="•"/>
            </a:pPr>
            <a:r>
              <a:rPr lang="en-US" sz="1250" dirty="0">
                <a:solidFill>
                  <a:srgbClr val="22252B"/>
                </a:solidFill>
                <a:latin typeface="Calibri" pitchFamily="34" charset="0"/>
                <a:ea typeface="Calibri" pitchFamily="34" charset="-122"/>
                <a:cs typeface="Calibri" pitchFamily="34" charset="-120"/>
              </a:rPr>
              <a:t>Privacy, confidentiality &amp; accountability</a:t>
            </a:r>
            <a:endParaRPr lang="en-US" sz="1250" dirty="0"/>
          </a:p>
          <a:p>
            <a:pPr marL="152400" indent="-152400">
              <a:lnSpc>
                <a:spcPct val="105000"/>
              </a:lnSpc>
              <a:spcAft>
                <a:spcPts val="900"/>
              </a:spcAft>
              <a:buSzPct val="100000"/>
              <a:buChar char="•"/>
            </a:pPr>
            <a:r>
              <a:rPr lang="en-US" sz="1250" dirty="0">
                <a:solidFill>
                  <a:srgbClr val="22252B"/>
                </a:solidFill>
                <a:latin typeface="Calibri" pitchFamily="34" charset="0"/>
                <a:ea typeface="Calibri" pitchFamily="34" charset="-122"/>
                <a:cs typeface="Calibri" pitchFamily="34" charset="-120"/>
              </a:rPr>
              <a:t>Personal Prompt Library + action plan</a:t>
            </a:r>
            <a:endParaRPr lang="en-US" sz="1250" dirty="0"/>
          </a:p>
        </p:txBody>
      </p:sp>
      <p:sp>
        <p:nvSpPr>
          <p:cNvPr id="21" name="Text 19"/>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22" name="Text 20"/>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02920" y="347472"/>
            <a:ext cx="1115568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How we will work together</a:t>
            </a:r>
            <a:endParaRPr lang="en-US" sz="3000" dirty="0"/>
          </a:p>
        </p:txBody>
      </p:sp>
      <p:sp>
        <p:nvSpPr>
          <p:cNvPr id="3" name="Shape 1"/>
          <p:cNvSpPr/>
          <p:nvPr/>
        </p:nvSpPr>
        <p:spPr>
          <a:xfrm>
            <a:off x="502920" y="1417320"/>
            <a:ext cx="5532120" cy="4709160"/>
          </a:xfrm>
          <a:prstGeom prst="roundRect">
            <a:avLst>
              <a:gd name="adj" fmla="val 1553"/>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4" name="Shape 2"/>
          <p:cNvSpPr/>
          <p:nvPr/>
        </p:nvSpPr>
        <p:spPr>
          <a:xfrm>
            <a:off x="502920" y="1417320"/>
            <a:ext cx="5532120" cy="420624"/>
          </a:xfrm>
          <a:prstGeom prst="roundRect">
            <a:avLst>
              <a:gd name="adj" fmla="val 17391"/>
            </a:avLst>
          </a:prstGeom>
          <a:solidFill>
            <a:srgbClr val="273370"/>
          </a:solidFill>
          <a:ln/>
        </p:spPr>
      </p:sp>
      <p:sp>
        <p:nvSpPr>
          <p:cNvPr id="5" name="Shape 3"/>
          <p:cNvSpPr/>
          <p:nvPr/>
        </p:nvSpPr>
        <p:spPr>
          <a:xfrm>
            <a:off x="502920" y="1627632"/>
            <a:ext cx="5532120" cy="210312"/>
          </a:xfrm>
          <a:prstGeom prst="rect">
            <a:avLst/>
          </a:prstGeom>
          <a:solidFill>
            <a:srgbClr val="273370"/>
          </a:solidFill>
          <a:ln/>
        </p:spPr>
      </p:sp>
      <p:sp>
        <p:nvSpPr>
          <p:cNvPr id="6" name="Text 4"/>
          <p:cNvSpPr txBox="1"/>
          <p:nvPr/>
        </p:nvSpPr>
        <p:spPr>
          <a:xfrm>
            <a:off x="640080" y="1417320"/>
            <a:ext cx="525780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Ground rules</a:t>
            </a:r>
            <a:endParaRPr lang="en-US" sz="1400" dirty="0"/>
          </a:p>
        </p:txBody>
      </p:sp>
      <p:sp>
        <p:nvSpPr>
          <p:cNvPr id="7" name="Text 5"/>
          <p:cNvSpPr txBox="1"/>
          <p:nvPr/>
        </p:nvSpPr>
        <p:spPr>
          <a:xfrm>
            <a:off x="777240" y="2011680"/>
            <a:ext cx="5029200" cy="3931920"/>
          </a:xfrm>
          <a:prstGeom prst="rect">
            <a:avLst/>
          </a:prstGeom>
          <a:noFill/>
          <a:ln/>
        </p:spPr>
        <p:txBody>
          <a:bodyPr wrap="square" lIns="0" tIns="0" rIns="0" bIns="0" rtlCol="0" anchor="t"/>
          <a:lstStyle/>
          <a:p>
            <a:pPr marL="152400" indent="-152400">
              <a:lnSpc>
                <a:spcPct val="105000"/>
              </a:lnSpc>
              <a:spcAft>
                <a:spcPts val="1000"/>
              </a:spcAft>
              <a:buSzPct val="100000"/>
              <a:buChar char="•"/>
            </a:pPr>
            <a:r>
              <a:rPr lang="en-US" sz="1300" dirty="0">
                <a:solidFill>
                  <a:srgbClr val="22252B"/>
                </a:solidFill>
                <a:latin typeface="Calibri" pitchFamily="34" charset="0"/>
                <a:ea typeface="Calibri" pitchFamily="34" charset="-122"/>
                <a:cs typeface="Calibri" pitchFamily="34" charset="-120"/>
              </a:rPr>
              <a:t>Hands-on first: you will spend most of each day using the tools, not watching slides.</a:t>
            </a:r>
            <a:endParaRPr lang="en-US" sz="1300" dirty="0"/>
          </a:p>
          <a:p>
            <a:pPr marL="152400" indent="-152400">
              <a:lnSpc>
                <a:spcPct val="105000"/>
              </a:lnSpc>
              <a:spcAft>
                <a:spcPts val="1000"/>
              </a:spcAft>
              <a:buSzPct val="100000"/>
              <a:buChar char="•"/>
            </a:pPr>
            <a:r>
              <a:rPr lang="en-US" sz="1300" dirty="0">
                <a:solidFill>
                  <a:srgbClr val="22252B"/>
                </a:solidFill>
                <a:latin typeface="Calibri" pitchFamily="34" charset="0"/>
                <a:ea typeface="Calibri" pitchFamily="34" charset="-122"/>
                <a:cs typeface="Calibri" pitchFamily="34" charset="-120"/>
              </a:rPr>
              <a:t>There are no silly questions — this program assumes zero prior AI experience.</a:t>
            </a:r>
            <a:endParaRPr lang="en-US" sz="1300" dirty="0"/>
          </a:p>
          <a:p>
            <a:pPr marL="152400" indent="-152400">
              <a:lnSpc>
                <a:spcPct val="105000"/>
              </a:lnSpc>
              <a:spcAft>
                <a:spcPts val="1000"/>
              </a:spcAft>
              <a:buSzPct val="100000"/>
              <a:buChar char="•"/>
            </a:pPr>
            <a:r>
              <a:rPr lang="en-US" sz="1300" dirty="0">
                <a:solidFill>
                  <a:srgbClr val="22252B"/>
                </a:solidFill>
                <a:latin typeface="Calibri" pitchFamily="34" charset="0"/>
                <a:ea typeface="Calibri" pitchFamily="34" charset="-122"/>
                <a:cs typeface="Calibri" pitchFamily="34" charset="-120"/>
              </a:rPr>
              <a:t>Experiment freely: a “bad” prompt that teaches you something is a good prompt.</a:t>
            </a:r>
            <a:endParaRPr lang="en-US" sz="1300" dirty="0"/>
          </a:p>
          <a:p>
            <a:pPr marL="152400" indent="-152400">
              <a:lnSpc>
                <a:spcPct val="105000"/>
              </a:lnSpc>
              <a:spcAft>
                <a:spcPts val="1000"/>
              </a:spcAft>
              <a:buSzPct val="100000"/>
              <a:buChar char="•"/>
            </a:pPr>
            <a:r>
              <a:rPr lang="en-US" sz="1300" dirty="0">
                <a:solidFill>
                  <a:srgbClr val="22252B"/>
                </a:solidFill>
                <a:latin typeface="Calibri" pitchFamily="34" charset="0"/>
                <a:ea typeface="Calibri" pitchFamily="34" charset="-122"/>
                <a:cs typeface="Calibri" pitchFamily="34" charset="-120"/>
              </a:rPr>
              <a:t>Share what works: when a prompt gives a great result, show your table.</a:t>
            </a:r>
            <a:endParaRPr lang="en-US" sz="1300" dirty="0"/>
          </a:p>
          <a:p>
            <a:pPr marL="152400" indent="-152400">
              <a:lnSpc>
                <a:spcPct val="105000"/>
              </a:lnSpc>
              <a:spcAft>
                <a:spcPts val="1000"/>
              </a:spcAft>
              <a:buSzPct val="100000"/>
              <a:buChar char="•"/>
            </a:pPr>
            <a:r>
              <a:rPr lang="en-US" sz="1300" dirty="0">
                <a:solidFill>
                  <a:srgbClr val="22252B"/>
                </a:solidFill>
                <a:latin typeface="Calibri" pitchFamily="34" charset="0"/>
                <a:ea typeface="Calibri" pitchFamily="34" charset="-122"/>
                <a:cs typeface="Calibri" pitchFamily="34" charset="-120"/>
              </a:rPr>
              <a:t>During exercises, use ONLY the fictional training materials provided — never real work documents or personal data.</a:t>
            </a:r>
            <a:endParaRPr lang="en-US" sz="1300" dirty="0"/>
          </a:p>
          <a:p>
            <a:pPr marL="152400" indent="-152400">
              <a:lnSpc>
                <a:spcPct val="105000"/>
              </a:lnSpc>
              <a:spcAft>
                <a:spcPts val="1000"/>
              </a:spcAft>
              <a:buSzPct val="100000"/>
              <a:buChar char="•"/>
            </a:pPr>
            <a:r>
              <a:rPr lang="en-US" sz="1300" dirty="0">
                <a:solidFill>
                  <a:srgbClr val="22252B"/>
                </a:solidFill>
                <a:latin typeface="Calibri" pitchFamily="34" charset="0"/>
                <a:ea typeface="Calibri" pitchFamily="34" charset="-122"/>
                <a:cs typeface="Calibri" pitchFamily="34" charset="-120"/>
              </a:rPr>
              <a:t>Phones welcome (they run AI tools!) — calls outside, please.</a:t>
            </a:r>
            <a:endParaRPr lang="en-US" sz="1300" dirty="0"/>
          </a:p>
        </p:txBody>
      </p:sp>
      <p:sp>
        <p:nvSpPr>
          <p:cNvPr id="8" name="Shape 6"/>
          <p:cNvSpPr/>
          <p:nvPr/>
        </p:nvSpPr>
        <p:spPr>
          <a:xfrm>
            <a:off x="6263640" y="1417320"/>
            <a:ext cx="5440680" cy="4709160"/>
          </a:xfrm>
          <a:prstGeom prst="roundRect">
            <a:avLst>
              <a:gd name="adj" fmla="val 1553"/>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6263640" y="1417320"/>
            <a:ext cx="5440680" cy="420624"/>
          </a:xfrm>
          <a:prstGeom prst="roundRect">
            <a:avLst>
              <a:gd name="adj" fmla="val 17391"/>
            </a:avLst>
          </a:prstGeom>
          <a:solidFill>
            <a:srgbClr val="29BA74"/>
          </a:solidFill>
          <a:ln/>
        </p:spPr>
      </p:sp>
      <p:sp>
        <p:nvSpPr>
          <p:cNvPr id="10" name="Shape 8"/>
          <p:cNvSpPr/>
          <p:nvPr/>
        </p:nvSpPr>
        <p:spPr>
          <a:xfrm>
            <a:off x="6263640" y="1627632"/>
            <a:ext cx="5440680" cy="210312"/>
          </a:xfrm>
          <a:prstGeom prst="rect">
            <a:avLst/>
          </a:prstGeom>
          <a:solidFill>
            <a:srgbClr val="29BA74"/>
          </a:solidFill>
          <a:ln/>
        </p:spPr>
      </p:sp>
      <p:sp>
        <p:nvSpPr>
          <p:cNvPr id="11" name="Text 9"/>
          <p:cNvSpPr txBox="1"/>
          <p:nvPr/>
        </p:nvSpPr>
        <p:spPr>
          <a:xfrm>
            <a:off x="6400800" y="1417320"/>
            <a:ext cx="516636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Setup check — before we start</a:t>
            </a:r>
            <a:endParaRPr lang="en-US" sz="1400" dirty="0"/>
          </a:p>
        </p:txBody>
      </p:sp>
      <p:sp>
        <p:nvSpPr>
          <p:cNvPr id="12" name="Text 10"/>
          <p:cNvSpPr txBox="1"/>
          <p:nvPr/>
        </p:nvSpPr>
        <p:spPr>
          <a:xfrm>
            <a:off x="6537960" y="2011680"/>
            <a:ext cx="4937760" cy="3931920"/>
          </a:xfrm>
          <a:prstGeom prst="rect">
            <a:avLst/>
          </a:prstGeom>
          <a:noFill/>
          <a:ln/>
        </p:spPr>
        <p:txBody>
          <a:bodyPr wrap="square" lIns="0" tIns="0" rIns="0" bIns="0" rtlCol="0" anchor="t"/>
          <a:lstStyle/>
          <a:p>
            <a:pPr marL="152400" indent="-152400">
              <a:lnSpc>
                <a:spcPct val="105000"/>
              </a:lnSpc>
              <a:spcAft>
                <a:spcPts val="1000"/>
              </a:spcAft>
              <a:buSzPct val="100000"/>
              <a:buChar char="•"/>
            </a:pPr>
            <a:r>
              <a:rPr lang="en-US" sz="1300" dirty="0">
                <a:solidFill>
                  <a:srgbClr val="22252B"/>
                </a:solidFill>
                <a:latin typeface="Calibri" pitchFamily="34" charset="0"/>
                <a:ea typeface="Calibri" pitchFamily="34" charset="-122"/>
                <a:cs typeface="Calibri" pitchFamily="34" charset="-120"/>
              </a:rPr>
              <a:t>You can log in to at least one of: ChatGPT, Microsoft Copilot, Google Gemini.</a:t>
            </a:r>
            <a:endParaRPr lang="en-US" sz="1300" dirty="0"/>
          </a:p>
          <a:p>
            <a:pPr marL="152400" indent="-152400">
              <a:lnSpc>
                <a:spcPct val="105000"/>
              </a:lnSpc>
              <a:spcAft>
                <a:spcPts val="1000"/>
              </a:spcAft>
              <a:buSzPct val="100000"/>
              <a:buChar char="•"/>
            </a:pPr>
            <a:r>
              <a:rPr lang="en-US" sz="1300" dirty="0">
                <a:solidFill>
                  <a:srgbClr val="22252B"/>
                </a:solidFill>
                <a:latin typeface="Calibri" pitchFamily="34" charset="0"/>
                <a:ea typeface="Calibri" pitchFamily="34" charset="-122"/>
                <a:cs typeface="Calibri" pitchFamily="34" charset="-120"/>
              </a:rPr>
              <a:t>You know which tools your organisation has approved for work use.</a:t>
            </a:r>
            <a:endParaRPr lang="en-US" sz="1300" dirty="0"/>
          </a:p>
          <a:p>
            <a:pPr marL="152400" indent="-152400">
              <a:lnSpc>
                <a:spcPct val="105000"/>
              </a:lnSpc>
              <a:spcAft>
                <a:spcPts val="1000"/>
              </a:spcAft>
              <a:buSzPct val="100000"/>
              <a:buChar char="•"/>
            </a:pPr>
            <a:r>
              <a:rPr lang="en-US" sz="1300" dirty="0">
                <a:solidFill>
                  <a:srgbClr val="22252B"/>
                </a:solidFill>
                <a:latin typeface="Calibri" pitchFamily="34" charset="0"/>
                <a:ea typeface="Calibri" pitchFamily="34" charset="-122"/>
                <a:cs typeface="Calibri" pitchFamily="34" charset="-120"/>
              </a:rPr>
              <a:t>You have the exercise pack: sample emails, meeting notes, vendor proposals, datasets, draft report.</a:t>
            </a:r>
            <a:endParaRPr lang="en-US" sz="1300" dirty="0"/>
          </a:p>
          <a:p>
            <a:pPr marL="152400" indent="-152400">
              <a:lnSpc>
                <a:spcPct val="105000"/>
              </a:lnSpc>
              <a:spcAft>
                <a:spcPts val="1000"/>
              </a:spcAft>
              <a:buSzPct val="100000"/>
              <a:buChar char="•"/>
            </a:pPr>
            <a:r>
              <a:rPr lang="en-US" sz="1300" dirty="0">
                <a:solidFill>
                  <a:srgbClr val="22252B"/>
                </a:solidFill>
                <a:latin typeface="Calibri" pitchFamily="34" charset="0"/>
                <a:ea typeface="Calibri" pitchFamily="34" charset="-122"/>
                <a:cs typeface="Calibri" pitchFamily="34" charset="-120"/>
              </a:rPr>
              <a:t>You have your Participant Workbook (paper or digital).</a:t>
            </a:r>
            <a:endParaRPr lang="en-US" sz="1300" dirty="0"/>
          </a:p>
          <a:p>
            <a:pPr marL="152400" indent="-152400">
              <a:lnSpc>
                <a:spcPct val="105000"/>
              </a:lnSpc>
              <a:spcAft>
                <a:spcPts val="1000"/>
              </a:spcAft>
              <a:buSzPct val="100000"/>
              <a:buChar char="•"/>
            </a:pPr>
            <a:r>
              <a:rPr lang="en-US" sz="1300" dirty="0">
                <a:solidFill>
                  <a:srgbClr val="22252B"/>
                </a:solidFill>
                <a:latin typeface="Calibri" pitchFamily="34" charset="0"/>
                <a:ea typeface="Calibri" pitchFamily="34" charset="-122"/>
                <a:cs typeface="Calibri" pitchFamily="34" charset="-120"/>
              </a:rPr>
              <a:t>You have opened the Personal Prompt Library template (Excel).</a:t>
            </a:r>
            <a:endParaRPr lang="en-US" sz="1300" dirty="0"/>
          </a:p>
          <a:p>
            <a:pPr marL="152400" indent="-152400">
              <a:lnSpc>
                <a:spcPct val="105000"/>
              </a:lnSpc>
              <a:spcAft>
                <a:spcPts val="1000"/>
              </a:spcAft>
              <a:buSzPct val="100000"/>
              <a:buChar char="•"/>
            </a:pPr>
            <a:r>
              <a:rPr lang="en-US" sz="1300" dirty="0">
                <a:solidFill>
                  <a:srgbClr val="22252B"/>
                </a:solidFill>
                <a:latin typeface="Calibri" pitchFamily="34" charset="0"/>
                <a:ea typeface="Calibri" pitchFamily="34" charset="-122"/>
                <a:cs typeface="Calibri" pitchFamily="34" charset="-120"/>
              </a:rPr>
              <a:t>Wi-Fi connected on the device you will use for exercises.</a:t>
            </a:r>
            <a:endParaRPr lang="en-US" sz="1300" dirty="0"/>
          </a:p>
        </p:txBody>
      </p:sp>
      <p:sp>
        <p:nvSpPr>
          <p:cNvPr id="13" name="Text 11"/>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14" name="Text 12"/>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1737360"/>
            <a:ext cx="3657600" cy="548640"/>
          </a:xfrm>
          <a:prstGeom prst="rect">
            <a:avLst/>
          </a:prstGeom>
          <a:noFill/>
          <a:ln/>
        </p:spPr>
        <p:txBody>
          <a:bodyPr wrap="square" lIns="0" tIns="0" rIns="0" bIns="0" rtlCol="0" anchor="ctr"/>
          <a:lstStyle/>
          <a:p>
            <a:pPr indent="0" marL="0">
              <a:buNone/>
            </a:pPr>
            <a:r>
              <a:rPr lang="en-US" sz="2200" b="1" spc="500" kern="0" dirty="0">
                <a:solidFill>
                  <a:srgbClr val="FCBD4C"/>
                </a:solidFill>
                <a:latin typeface="Calibri" pitchFamily="34" charset="0"/>
                <a:ea typeface="Calibri" pitchFamily="34" charset="-122"/>
                <a:cs typeface="Calibri" pitchFamily="34" charset="-120"/>
              </a:rPr>
              <a:t>DAY 1</a:t>
            </a:r>
            <a:endParaRPr lang="en-US" sz="2200" dirty="0"/>
          </a:p>
        </p:txBody>
      </p:sp>
      <p:sp>
        <p:nvSpPr>
          <p:cNvPr id="3" name="Text 1"/>
          <p:cNvSpPr txBox="1"/>
          <p:nvPr/>
        </p:nvSpPr>
        <p:spPr>
          <a:xfrm>
            <a:off x="731520" y="2286000"/>
            <a:ext cx="10058400" cy="100584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Foundations &amp; Prompting</a:t>
            </a:r>
            <a:endParaRPr lang="en-US" sz="4400" dirty="0"/>
          </a:p>
        </p:txBody>
      </p:sp>
      <p:sp>
        <p:nvSpPr>
          <p:cNvPr id="4" name="Text 2"/>
          <p:cNvSpPr txBox="1"/>
          <p:nvPr/>
        </p:nvSpPr>
        <p:spPr>
          <a:xfrm>
            <a:off x="777240" y="3520440"/>
            <a:ext cx="9601200" cy="1645920"/>
          </a:xfrm>
          <a:prstGeom prst="rect">
            <a:avLst/>
          </a:prstGeom>
          <a:noFill/>
          <a:ln/>
        </p:spPr>
        <p:txBody>
          <a:bodyPr wrap="square" lIns="0" tIns="0" rIns="0" bIns="0" rtlCol="0" anchor="ctr"/>
          <a:lstStyle/>
          <a:p>
            <a:pPr marL="152400" indent="-152400">
              <a:spcAft>
                <a:spcPts val="800"/>
              </a:spcAft>
              <a:buSzPct val="100000"/>
              <a:buChar char="•"/>
            </a:pPr>
            <a:r>
              <a:rPr lang="en-US" sz="1600" dirty="0">
                <a:solidFill>
                  <a:srgbClr val="C9D2F2"/>
                </a:solidFill>
                <a:latin typeface="Calibri" pitchFamily="34" charset="0"/>
                <a:ea typeface="Calibri" pitchFamily="34" charset="-122"/>
                <a:cs typeface="Calibri" pitchFamily="34" charset="-120"/>
              </a:rPr>
              <a:t>Understand what generative AI can — and cannot — do for your work</a:t>
            </a:r>
            <a:endParaRPr lang="en-US" sz="1600" dirty="0"/>
          </a:p>
          <a:p>
            <a:pPr marL="152400" indent="-152400">
              <a:spcAft>
                <a:spcPts val="800"/>
              </a:spcAft>
              <a:buSzPct val="100000"/>
              <a:buChar char="•"/>
            </a:pPr>
            <a:r>
              <a:rPr lang="en-US" sz="1600" dirty="0">
                <a:solidFill>
                  <a:srgbClr val="C9D2F2"/>
                </a:solidFill>
                <a:latin typeface="Calibri" pitchFamily="34" charset="0"/>
                <a:ea typeface="Calibri" pitchFamily="34" charset="-122"/>
                <a:cs typeface="Calibri" pitchFamily="34" charset="-120"/>
              </a:rPr>
              <a:t>Meet the tools: ChatGPT, Microsoft Copilot, Google Gemini, Microsoft 365</a:t>
            </a:r>
            <a:endParaRPr lang="en-US" sz="1600" dirty="0"/>
          </a:p>
          <a:p>
            <a:pPr marL="152400" indent="-152400">
              <a:buSzPct val="100000"/>
              <a:buChar char="•"/>
            </a:pPr>
            <a:r>
              <a:rPr lang="en-US" sz="1600" dirty="0">
                <a:solidFill>
                  <a:srgbClr val="C9D2F2"/>
                </a:solidFill>
                <a:latin typeface="Calibri" pitchFamily="34" charset="0"/>
                <a:ea typeface="Calibri" pitchFamily="34" charset="-122"/>
                <a:cs typeface="Calibri" pitchFamily="34" charset="-120"/>
              </a:rPr>
              <a:t>Master the anatomy of an effective prompt — and build your first reusable structures</a:t>
            </a:r>
            <a:endParaRPr lang="en-US" sz="1600" dirty="0"/>
          </a:p>
        </p:txBody>
      </p:sp>
      <p:sp>
        <p:nvSpPr>
          <p:cNvPr id="5" name="Text 3"/>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 </a:t>
            </a:r>
            <a:endParaRPr lang="en-US" sz="900" dirty="0"/>
          </a:p>
        </p:txBody>
      </p:sp>
      <p:sp>
        <p:nvSpPr>
          <p:cNvPr id="6" name="Text 4"/>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347472"/>
            <a:ext cx="1115568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Day 1 agenda</a:t>
            </a:r>
            <a:endParaRPr lang="en-US" sz="3000" dirty="0"/>
          </a:p>
        </p:txBody>
      </p:sp>
      <p:sp>
        <p:nvSpPr>
          <p:cNvPr id="3" name="Text 1"/>
          <p:cNvSpPr txBox="1"/>
          <p:nvPr/>
        </p:nvSpPr>
        <p:spPr>
          <a:xfrm>
            <a:off x="502920" y="987552"/>
            <a:ext cx="11155680" cy="365760"/>
          </a:xfrm>
          <a:prstGeom prst="rect">
            <a:avLst/>
          </a:prstGeom>
          <a:noFill/>
          <a:ln/>
        </p:spPr>
        <p:txBody>
          <a:bodyPr wrap="square" lIns="0" tIns="0" rIns="0" bIns="0" rtlCol="0" anchor="ctr"/>
          <a:lstStyle/>
          <a:p>
            <a:pPr indent="0" marL="0">
              <a:buNone/>
            </a:pPr>
            <a:r>
              <a:rPr lang="en-US" sz="1400" dirty="0">
                <a:solidFill>
                  <a:srgbClr val="696969"/>
                </a:solidFill>
                <a:latin typeface="Calibri" pitchFamily="34" charset="0"/>
                <a:ea typeface="Calibri" pitchFamily="34" charset="-122"/>
                <a:cs typeface="Calibri" pitchFamily="34" charset="-120"/>
              </a:rPr>
              <a:t>08:30 – 14:30  •  ~5 instructional hours</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11155680" cy="914400"/>
        </p:xfrm>
        <a:graphic>
          <a:graphicData uri="http://schemas.openxmlformats.org/drawingml/2006/table">
            <a:tbl>
              <a:tblPr/>
              <a:tblGrid>
                <a:gridCol w="1188720"/>
                <a:gridCol w="6949440"/>
                <a:gridCol w="1371600"/>
                <a:gridCol w="164592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Time</a:t>
                      </a:r>
                      <a:endParaRPr lang="en-US" sz="1200" dirty="0">
                        <a:latin typeface="Calibri" charset="0"/>
                        <a:ea typeface="Calibri" charset="0"/>
                        <a:cs typeface="Calibri" charset="0"/>
                      </a:endParaRPr>
                    </a:p>
                  </a:txBody>
                  <a:tcPr marL="54864" marR="54864" marT="54864" marB="54864"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27337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Segment</a:t>
                      </a:r>
                      <a:endParaRPr lang="en-US" sz="1200" dirty="0">
                        <a:latin typeface="Calibri" charset="0"/>
                        <a:ea typeface="Calibri" charset="0"/>
                        <a:cs typeface="Calibri" charset="0"/>
                      </a:endParaRPr>
                    </a:p>
                  </a:txBody>
                  <a:tcPr marL="54864" marR="54864" marT="54864" marB="54864"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27337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Duration</a:t>
                      </a:r>
                      <a:endParaRPr lang="en-US" sz="1200" dirty="0">
                        <a:latin typeface="Calibri" charset="0"/>
                        <a:ea typeface="Calibri" charset="0"/>
                        <a:cs typeface="Calibri" charset="0"/>
                      </a:endParaRPr>
                    </a:p>
                  </a:txBody>
                  <a:tcPr marL="54864" marR="54864" marT="54864" marB="54864"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27337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marL="54864" marR="54864" marT="54864" marB="54864"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273370"/>
                    </a:solidFill>
                  </a:tcPr>
                </a:tc>
              </a:tr>
              <a:tr h="384048">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08:30</a:t>
                      </a:r>
                      <a:endParaRPr lang="en-US" sz="1200" dirty="0">
                        <a:latin typeface="Calibri" charset="0"/>
                        <a:ea typeface="Calibri" charset="0"/>
                        <a:cs typeface="Calibri" charset="0"/>
                      </a:endParaRPr>
                    </a:p>
                  </a:txBody>
                  <a:tcPr marL="54864" marR="54864" marT="54864" marB="54864"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Welcome, objectives, tool setup check</a:t>
                      </a:r>
                      <a:endParaRPr lang="en-US" sz="1200" dirty="0">
                        <a:latin typeface="Calibri" charset="0"/>
                        <a:ea typeface="Calibri" charset="0"/>
                        <a:cs typeface="Calibri" charset="0"/>
                      </a:endParaRPr>
                    </a:p>
                  </a:txBody>
                  <a:tcPr marL="54864" marR="54864" marT="54864" marB="54864"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30 min</a:t>
                      </a:r>
                      <a:endParaRPr lang="en-US" sz="1200" dirty="0">
                        <a:latin typeface="Calibri" charset="0"/>
                        <a:ea typeface="Calibri" charset="0"/>
                        <a:cs typeface="Calibri" charset="0"/>
                      </a:endParaRPr>
                    </a:p>
                  </a:txBody>
                  <a:tcPr marL="54864" marR="54864" marT="54864" marB="54864"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Session</a:t>
                      </a:r>
                      <a:endParaRPr lang="en-US" sz="1200" dirty="0">
                        <a:latin typeface="Calibri" charset="0"/>
                        <a:ea typeface="Calibri" charset="0"/>
                        <a:cs typeface="Calibri" charset="0"/>
                      </a:endParaRPr>
                    </a:p>
                  </a:txBody>
                  <a:tcPr marL="54864" marR="54864" marT="54864" marB="54864"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09:00</a:t>
                      </a:r>
                      <a:endParaRPr lang="en-US" sz="1200" dirty="0">
                        <a:latin typeface="Calibri" charset="0"/>
                        <a:ea typeface="Calibri" charset="0"/>
                        <a:cs typeface="Calibri" charset="0"/>
                      </a:endParaRPr>
                    </a:p>
                  </a:txBody>
                  <a:tcPr marL="54864" marR="54864" marT="54864" marB="54864"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Understanding generative AI: how it works, capabilities &amp; limits</a:t>
                      </a:r>
                      <a:endParaRPr lang="en-US" sz="1200" dirty="0">
                        <a:latin typeface="Calibri" charset="0"/>
                        <a:ea typeface="Calibri" charset="0"/>
                        <a:cs typeface="Calibri" charset="0"/>
                      </a:endParaRPr>
                    </a:p>
                  </a:txBody>
                  <a:tcPr marL="54864" marR="54864" marT="54864" marB="54864"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45 min</a:t>
                      </a:r>
                      <a:endParaRPr lang="en-US" sz="1200" dirty="0">
                        <a:latin typeface="Calibri" charset="0"/>
                        <a:ea typeface="Calibri" charset="0"/>
                        <a:cs typeface="Calibri" charset="0"/>
                      </a:endParaRPr>
                    </a:p>
                  </a:txBody>
                  <a:tcPr marL="54864" marR="54864" marT="54864" marB="54864"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Concept + demo</a:t>
                      </a:r>
                      <a:endParaRPr lang="en-US" sz="1200" dirty="0">
                        <a:latin typeface="Calibri" charset="0"/>
                        <a:ea typeface="Calibri" charset="0"/>
                        <a:cs typeface="Calibri" charset="0"/>
                      </a:endParaRPr>
                    </a:p>
                  </a:txBody>
                  <a:tcPr marL="54864" marR="54864" marT="54864" marB="54864"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r>
              <a:tr h="384048">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09:45</a:t>
                      </a:r>
                      <a:endParaRPr lang="en-US" sz="1200" dirty="0">
                        <a:latin typeface="Calibri" charset="0"/>
                        <a:ea typeface="Calibri" charset="0"/>
                        <a:cs typeface="Calibri" charset="0"/>
                      </a:endParaRPr>
                    </a:p>
                  </a:txBody>
                  <a:tcPr marL="54864" marR="54864" marT="54864" marB="54864"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Demo 1 + Activity 1.1 — Your first working conversation</a:t>
                      </a:r>
                      <a:endParaRPr lang="en-US" sz="1200" dirty="0">
                        <a:latin typeface="Calibri" charset="0"/>
                        <a:ea typeface="Calibri" charset="0"/>
                        <a:cs typeface="Calibri" charset="0"/>
                      </a:endParaRPr>
                    </a:p>
                  </a:txBody>
                  <a:tcPr marL="54864" marR="54864" marT="54864" marB="54864"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45 min</a:t>
                      </a:r>
                      <a:endParaRPr lang="en-US" sz="1200" dirty="0">
                        <a:latin typeface="Calibri" charset="0"/>
                        <a:ea typeface="Calibri" charset="0"/>
                        <a:cs typeface="Calibri" charset="0"/>
                      </a:endParaRPr>
                    </a:p>
                  </a:txBody>
                  <a:tcPr marL="54864" marR="54864" marT="54864" marB="54864"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Hands-on</a:t>
                      </a:r>
                      <a:endParaRPr lang="en-US" sz="1200" dirty="0">
                        <a:latin typeface="Calibri" charset="0"/>
                        <a:ea typeface="Calibri" charset="0"/>
                        <a:cs typeface="Calibri" charset="0"/>
                      </a:endParaRPr>
                    </a:p>
                  </a:txBody>
                  <a:tcPr marL="54864" marR="54864" marT="54864" marB="54864"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10:30</a:t>
                      </a:r>
                      <a:endParaRPr lang="en-US" sz="1200" dirty="0">
                        <a:latin typeface="Calibri" charset="0"/>
                        <a:ea typeface="Calibri" charset="0"/>
                        <a:cs typeface="Calibri" charset="0"/>
                      </a:endParaRPr>
                    </a:p>
                  </a:txBody>
                  <a:tcPr marL="54864" marR="54864" marT="54864" marB="54864"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E8ECF6"/>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Break</a:t>
                      </a:r>
                      <a:endParaRPr lang="en-US" sz="1200" dirty="0">
                        <a:latin typeface="Calibri" charset="0"/>
                        <a:ea typeface="Calibri" charset="0"/>
                        <a:cs typeface="Calibri" charset="0"/>
                      </a:endParaRPr>
                    </a:p>
                  </a:txBody>
                  <a:tcPr marL="54864" marR="54864" marT="54864" marB="54864"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E8ECF6"/>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15 min</a:t>
                      </a:r>
                      <a:endParaRPr lang="en-US" sz="1200" dirty="0">
                        <a:latin typeface="Calibri" charset="0"/>
                        <a:ea typeface="Calibri" charset="0"/>
                        <a:cs typeface="Calibri" charset="0"/>
                      </a:endParaRPr>
                    </a:p>
                  </a:txBody>
                  <a:tcPr marL="54864" marR="54864" marT="54864" marB="54864"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E8ECF6"/>
                    </a:solidFill>
                  </a:tcPr>
                </a:tc>
                <a:tc>
                  <a:txBody>
                    <a:bodyPr/>
                    <a:lstStyle/>
                    <a:p>
                      <a:pPr indent="0" marL="0">
                        <a:buNone/>
                      </a:pPr>
                      <a:endParaRPr lang="en-US" sz="1200" dirty="0">
                        <a:latin typeface="Calibri" charset="0"/>
                        <a:ea typeface="Calibri" charset="0"/>
                        <a:cs typeface="Calibri" charset="0"/>
                      </a:endParaRPr>
                    </a:p>
                  </a:txBody>
                  <a:tcPr marL="54864" marR="54864" marT="54864" marB="54864"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E8ECF6"/>
                    </a:solidFill>
                  </a:tcPr>
                </a:tc>
              </a:tr>
              <a:tr h="384048">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10:45</a:t>
                      </a:r>
                      <a:endParaRPr lang="en-US" sz="1200" dirty="0">
                        <a:latin typeface="Calibri" charset="0"/>
                        <a:ea typeface="Calibri" charset="0"/>
                        <a:cs typeface="Calibri" charset="0"/>
                      </a:endParaRPr>
                    </a:p>
                  </a:txBody>
                  <a:tcPr marL="54864" marR="54864" marT="54864" marB="54864"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Debrief + The anatomy of an effective prompt</a:t>
                      </a:r>
                      <a:endParaRPr lang="en-US" sz="1200" dirty="0">
                        <a:latin typeface="Calibri" charset="0"/>
                        <a:ea typeface="Calibri" charset="0"/>
                        <a:cs typeface="Calibri" charset="0"/>
                      </a:endParaRPr>
                    </a:p>
                  </a:txBody>
                  <a:tcPr marL="54864" marR="54864" marT="54864" marB="54864"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45 min</a:t>
                      </a:r>
                      <a:endParaRPr lang="en-US" sz="1200" dirty="0">
                        <a:latin typeface="Calibri" charset="0"/>
                        <a:ea typeface="Calibri" charset="0"/>
                        <a:cs typeface="Calibri" charset="0"/>
                      </a:endParaRPr>
                    </a:p>
                  </a:txBody>
                  <a:tcPr marL="54864" marR="54864" marT="54864" marB="54864"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Concept</a:t>
                      </a:r>
                      <a:endParaRPr lang="en-US" sz="1200" dirty="0">
                        <a:latin typeface="Calibri" charset="0"/>
                        <a:ea typeface="Calibri" charset="0"/>
                        <a:cs typeface="Calibri" charset="0"/>
                      </a:endParaRPr>
                    </a:p>
                  </a:txBody>
                  <a:tcPr marL="54864" marR="54864" marT="54864" marB="54864"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11:30</a:t>
                      </a:r>
                      <a:endParaRPr lang="en-US" sz="1200" dirty="0">
                        <a:latin typeface="Calibri" charset="0"/>
                        <a:ea typeface="Calibri" charset="0"/>
                        <a:cs typeface="Calibri" charset="0"/>
                      </a:endParaRPr>
                    </a:p>
                  </a:txBody>
                  <a:tcPr marL="54864" marR="54864" marT="54864" marB="54864"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Reusable prompt structures &amp; common mistakes</a:t>
                      </a:r>
                      <a:endParaRPr lang="en-US" sz="1200" dirty="0">
                        <a:latin typeface="Calibri" charset="0"/>
                        <a:ea typeface="Calibri" charset="0"/>
                        <a:cs typeface="Calibri" charset="0"/>
                      </a:endParaRPr>
                    </a:p>
                  </a:txBody>
                  <a:tcPr marL="54864" marR="54864" marT="54864" marB="54864"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30 min</a:t>
                      </a:r>
                      <a:endParaRPr lang="en-US" sz="1200" dirty="0">
                        <a:latin typeface="Calibri" charset="0"/>
                        <a:ea typeface="Calibri" charset="0"/>
                        <a:cs typeface="Calibri" charset="0"/>
                      </a:endParaRPr>
                    </a:p>
                  </a:txBody>
                  <a:tcPr marL="54864" marR="54864" marT="54864" marB="54864"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Concept</a:t>
                      </a:r>
                      <a:endParaRPr lang="en-US" sz="1200" dirty="0">
                        <a:latin typeface="Calibri" charset="0"/>
                        <a:ea typeface="Calibri" charset="0"/>
                        <a:cs typeface="Calibri" charset="0"/>
                      </a:endParaRPr>
                    </a:p>
                  </a:txBody>
                  <a:tcPr marL="54864" marR="54864" marT="54864" marB="54864"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r>
              <a:tr h="384048">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12:00</a:t>
                      </a:r>
                      <a:endParaRPr lang="en-US" sz="1200" dirty="0">
                        <a:latin typeface="Calibri" charset="0"/>
                        <a:ea typeface="Calibri" charset="0"/>
                        <a:cs typeface="Calibri" charset="0"/>
                      </a:endParaRPr>
                    </a:p>
                  </a:txBody>
                  <a:tcPr marL="54864" marR="54864" marT="54864" marB="54864"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E8ECF6"/>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Prayer &amp; refreshments</a:t>
                      </a:r>
                      <a:endParaRPr lang="en-US" sz="1200" dirty="0">
                        <a:latin typeface="Calibri" charset="0"/>
                        <a:ea typeface="Calibri" charset="0"/>
                        <a:cs typeface="Calibri" charset="0"/>
                      </a:endParaRPr>
                    </a:p>
                  </a:txBody>
                  <a:tcPr marL="54864" marR="54864" marT="54864" marB="54864"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E8ECF6"/>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30 min</a:t>
                      </a:r>
                      <a:endParaRPr lang="en-US" sz="1200" dirty="0">
                        <a:latin typeface="Calibri" charset="0"/>
                        <a:ea typeface="Calibri" charset="0"/>
                        <a:cs typeface="Calibri" charset="0"/>
                      </a:endParaRPr>
                    </a:p>
                  </a:txBody>
                  <a:tcPr marL="54864" marR="54864" marT="54864" marB="54864"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E8ECF6"/>
                    </a:solidFill>
                  </a:tcPr>
                </a:tc>
                <a:tc>
                  <a:txBody>
                    <a:bodyPr/>
                    <a:lstStyle/>
                    <a:p>
                      <a:pPr indent="0" marL="0">
                        <a:buNone/>
                      </a:pPr>
                      <a:endParaRPr lang="en-US" sz="1200" dirty="0">
                        <a:latin typeface="Calibri" charset="0"/>
                        <a:ea typeface="Calibri" charset="0"/>
                        <a:cs typeface="Calibri" charset="0"/>
                      </a:endParaRPr>
                    </a:p>
                  </a:txBody>
                  <a:tcPr marL="54864" marR="54864" marT="54864" marB="54864"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E8ECF6"/>
                    </a:solidFill>
                  </a:tcPr>
                </a:tc>
              </a:tr>
              <a:tr h="384048">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12:30</a:t>
                      </a:r>
                      <a:endParaRPr lang="en-US" sz="1200" dirty="0">
                        <a:latin typeface="Calibri" charset="0"/>
                        <a:ea typeface="Calibri" charset="0"/>
                        <a:cs typeface="Calibri" charset="0"/>
                      </a:endParaRPr>
                    </a:p>
                  </a:txBody>
                  <a:tcPr marL="54864" marR="54864" marT="54864" marB="54864"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Demo 2 + Activity 1.2 — Prompt makeover (pairs)</a:t>
                      </a:r>
                      <a:endParaRPr lang="en-US" sz="1200" dirty="0">
                        <a:latin typeface="Calibri" charset="0"/>
                        <a:ea typeface="Calibri" charset="0"/>
                        <a:cs typeface="Calibri" charset="0"/>
                      </a:endParaRPr>
                    </a:p>
                  </a:txBody>
                  <a:tcPr marL="54864" marR="54864" marT="54864" marB="54864"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45 min</a:t>
                      </a:r>
                      <a:endParaRPr lang="en-US" sz="1200" dirty="0">
                        <a:latin typeface="Calibri" charset="0"/>
                        <a:ea typeface="Calibri" charset="0"/>
                        <a:cs typeface="Calibri" charset="0"/>
                      </a:endParaRPr>
                    </a:p>
                  </a:txBody>
                  <a:tcPr marL="54864" marR="54864" marT="54864" marB="54864"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Hands-on</a:t>
                      </a:r>
                      <a:endParaRPr lang="en-US" sz="1200" dirty="0">
                        <a:latin typeface="Calibri" charset="0"/>
                        <a:ea typeface="Calibri" charset="0"/>
                        <a:cs typeface="Calibri" charset="0"/>
                      </a:endParaRPr>
                    </a:p>
                  </a:txBody>
                  <a:tcPr marL="54864" marR="54864" marT="54864" marB="54864"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r>
              <a:tr h="384048">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13:15</a:t>
                      </a:r>
                      <a:endParaRPr lang="en-US" sz="1200" dirty="0">
                        <a:latin typeface="Calibri" charset="0"/>
                        <a:ea typeface="Calibri" charset="0"/>
                        <a:cs typeface="Calibri" charset="0"/>
                      </a:endParaRPr>
                    </a:p>
                  </a:txBody>
                  <a:tcPr marL="54864" marR="54864" marT="54864" marB="54864"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Activity 1.3 — Team prompt challenge (groups)</a:t>
                      </a:r>
                      <a:endParaRPr lang="en-US" sz="1200" dirty="0">
                        <a:latin typeface="Calibri" charset="0"/>
                        <a:ea typeface="Calibri" charset="0"/>
                        <a:cs typeface="Calibri" charset="0"/>
                      </a:endParaRPr>
                    </a:p>
                  </a:txBody>
                  <a:tcPr marL="54864" marR="54864" marT="54864" marB="54864"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40 min</a:t>
                      </a:r>
                      <a:endParaRPr lang="en-US" sz="1200" dirty="0">
                        <a:latin typeface="Calibri" charset="0"/>
                        <a:ea typeface="Calibri" charset="0"/>
                        <a:cs typeface="Calibri" charset="0"/>
                      </a:endParaRPr>
                    </a:p>
                  </a:txBody>
                  <a:tcPr marL="54864" marR="54864" marT="54864" marB="54864"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Hands-on</a:t>
                      </a:r>
                      <a:endParaRPr lang="en-US" sz="1200" dirty="0">
                        <a:latin typeface="Calibri" charset="0"/>
                        <a:ea typeface="Calibri" charset="0"/>
                        <a:cs typeface="Calibri" charset="0"/>
                      </a:endParaRPr>
                    </a:p>
                  </a:txBody>
                  <a:tcPr marL="54864" marR="54864" marT="54864" marB="54864"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13:55</a:t>
                      </a:r>
                      <a:endParaRPr lang="en-US" sz="1200" dirty="0">
                        <a:latin typeface="Calibri" charset="0"/>
                        <a:ea typeface="Calibri" charset="0"/>
                        <a:cs typeface="Calibri" charset="0"/>
                      </a:endParaRPr>
                    </a:p>
                  </a:txBody>
                  <a:tcPr marL="54864" marR="54864" marT="54864" marB="54864"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Day 1 quiz, reflection &amp; key takeaways</a:t>
                      </a:r>
                      <a:endParaRPr lang="en-US" sz="1200" dirty="0">
                        <a:latin typeface="Calibri" charset="0"/>
                        <a:ea typeface="Calibri" charset="0"/>
                        <a:cs typeface="Calibri" charset="0"/>
                      </a:endParaRPr>
                    </a:p>
                  </a:txBody>
                  <a:tcPr marL="54864" marR="54864" marT="54864" marB="54864"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35 min</a:t>
                      </a:r>
                      <a:endParaRPr lang="en-US" sz="1200" dirty="0">
                        <a:latin typeface="Calibri" charset="0"/>
                        <a:ea typeface="Calibri" charset="0"/>
                        <a:cs typeface="Calibri" charset="0"/>
                      </a:endParaRPr>
                    </a:p>
                  </a:txBody>
                  <a:tcPr marL="54864" marR="54864" marT="54864" marB="54864"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Assessment</a:t>
                      </a:r>
                      <a:endParaRPr lang="en-US" sz="1200" dirty="0">
                        <a:latin typeface="Calibri" charset="0"/>
                        <a:ea typeface="Calibri" charset="0"/>
                        <a:cs typeface="Calibri" charset="0"/>
                      </a:endParaRPr>
                    </a:p>
                  </a:txBody>
                  <a:tcPr marL="54864" marR="54864" marT="54864" marB="54864"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r>
            </a:tbl>
          </a:graphicData>
        </a:graphic>
      </p:graphicFrame>
      <p:sp>
        <p:nvSpPr>
          <p:cNvPr id="5" name="Text 2"/>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6" name="Text 3"/>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What is generative AI?</a:t>
            </a:r>
            <a:endParaRPr lang="en-US" sz="3000" dirty="0"/>
          </a:p>
        </p:txBody>
      </p:sp>
      <p:sp>
        <p:nvSpPr>
          <p:cNvPr id="3" name="Shape 1"/>
          <p:cNvSpPr/>
          <p:nvPr/>
        </p:nvSpPr>
        <p:spPr>
          <a:xfrm>
            <a:off x="10565892" y="457200"/>
            <a:ext cx="1120140" cy="384048"/>
          </a:xfrm>
          <a:prstGeom prst="roundRect">
            <a:avLst>
              <a:gd name="adj" fmla="val 50000"/>
            </a:avLst>
          </a:prstGeom>
          <a:solidFill>
            <a:srgbClr val="94A0DA"/>
          </a:solidFill>
          <a:ln/>
        </p:spPr>
      </p:sp>
      <p:sp>
        <p:nvSpPr>
          <p:cNvPr id="4" name="Text 2"/>
          <p:cNvSpPr txBox="1"/>
          <p:nvPr/>
        </p:nvSpPr>
        <p:spPr>
          <a:xfrm>
            <a:off x="10565892" y="457200"/>
            <a:ext cx="11201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CONCEPT</a:t>
            </a:r>
            <a:endParaRPr lang="en-US" sz="1200" dirty="0"/>
          </a:p>
        </p:txBody>
      </p:sp>
      <p:sp>
        <p:nvSpPr>
          <p:cNvPr id="5" name="Shape 3"/>
          <p:cNvSpPr/>
          <p:nvPr/>
        </p:nvSpPr>
        <p:spPr>
          <a:xfrm>
            <a:off x="502920" y="1417320"/>
            <a:ext cx="11201400" cy="1600200"/>
          </a:xfrm>
          <a:prstGeom prst="roundRect">
            <a:avLst>
              <a:gd name="adj" fmla="val 4571"/>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822960" y="1600200"/>
            <a:ext cx="10515600" cy="1234440"/>
          </a:xfrm>
          <a:prstGeom prst="rect">
            <a:avLst/>
          </a:prstGeom>
          <a:noFill/>
          <a:ln/>
        </p:spPr>
        <p:txBody>
          <a:bodyPr wrap="square" lIns="0" tIns="0" rIns="0" bIns="0" rtlCol="0" anchor="ctr"/>
          <a:lstStyle/>
          <a:p>
            <a:pPr indent="0" marL="0">
              <a:lnSpc>
                <a:spcPct val="115000"/>
              </a:lnSpc>
              <a:buNone/>
            </a:pPr>
            <a:r>
              <a:rPr lang="en-US" sz="1700" b="1" dirty="0">
                <a:solidFill>
                  <a:srgbClr val="273370"/>
                </a:solidFill>
                <a:latin typeface="Calibri" pitchFamily="34" charset="0"/>
                <a:ea typeface="Calibri" pitchFamily="34" charset="-122"/>
                <a:cs typeface="Calibri" pitchFamily="34" charset="-120"/>
              </a:rPr>
              <a:t>Generative AI </a:t>
            </a:r>
            <a:pPr indent="0" marL="0">
              <a:lnSpc>
                <a:spcPct val="115000"/>
              </a:lnSpc>
              <a:buNone/>
            </a:pPr>
            <a:r>
              <a:rPr lang="en-US" sz="1700" dirty="0">
                <a:solidFill>
                  <a:srgbClr val="22252B"/>
                </a:solidFill>
                <a:latin typeface="Calibri" pitchFamily="34" charset="0"/>
                <a:ea typeface="Calibri" pitchFamily="34" charset="-122"/>
                <a:cs typeface="Calibri" pitchFamily="34" charset="-120"/>
              </a:rPr>
              <a:t>is a set of technologies that use very large volumes of data and machine-learning techniques to produce new content — text, tables, images, code, audio — in response to instructions you give in ordinary language, called </a:t>
            </a:r>
            <a:pPr indent="0" marL="0">
              <a:lnSpc>
                <a:spcPct val="115000"/>
              </a:lnSpc>
              <a:buNone/>
            </a:pPr>
            <a:r>
              <a:rPr lang="en-US" sz="1700" b="1" dirty="0">
                <a:solidFill>
                  <a:srgbClr val="273370"/>
                </a:solidFill>
                <a:latin typeface="Calibri" pitchFamily="34" charset="0"/>
                <a:ea typeface="Calibri" pitchFamily="34" charset="-122"/>
                <a:cs typeface="Calibri" pitchFamily="34" charset="-120"/>
              </a:rPr>
              <a:t>prompts</a:t>
            </a:r>
            <a:pPr indent="0" marL="0">
              <a:lnSpc>
                <a:spcPct val="115000"/>
              </a:lnSpc>
              <a:buNone/>
            </a:pPr>
            <a:r>
              <a:rPr lang="en-US" sz="1700" dirty="0">
                <a:solidFill>
                  <a:srgbClr val="22252B"/>
                </a:solidFill>
                <a:latin typeface="Calibri" pitchFamily="34" charset="0"/>
                <a:ea typeface="Calibri" pitchFamily="34" charset="-122"/>
                <a:cs typeface="Calibri" pitchFamily="34" charset="-120"/>
              </a:rPr>
              <a:t>.</a:t>
            </a:r>
            <a:endParaRPr lang="en-US" sz="1700" dirty="0"/>
          </a:p>
        </p:txBody>
      </p:sp>
      <p:sp>
        <p:nvSpPr>
          <p:cNvPr id="7" name="Shape 5"/>
          <p:cNvSpPr/>
          <p:nvPr/>
        </p:nvSpPr>
        <p:spPr>
          <a:xfrm>
            <a:off x="502920" y="3291840"/>
            <a:ext cx="3703320" cy="2606040"/>
          </a:xfrm>
          <a:prstGeom prst="roundRect">
            <a:avLst>
              <a:gd name="adj" fmla="val 2807"/>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8" name="Shape 6"/>
          <p:cNvSpPr/>
          <p:nvPr/>
        </p:nvSpPr>
        <p:spPr>
          <a:xfrm>
            <a:off x="777240" y="3566160"/>
            <a:ext cx="640080" cy="640080"/>
          </a:xfrm>
          <a:prstGeom prst="roundRect">
            <a:avLst>
              <a:gd name="adj" fmla="val 12857"/>
            </a:avLst>
          </a:prstGeom>
          <a:solidFill>
            <a:srgbClr val="29BA74"/>
          </a:solidFill>
          <a:ln/>
        </p:spPr>
      </p:sp>
      <p:pic>
        <p:nvPicPr>
          <p:cNvPr id="9" name="Image 0" descr="preencoded.png">    </p:cNvPr>
          <p:cNvPicPr>
            <a:picLocks noChangeAspect="1"/>
          </p:cNvPicPr>
          <p:nvPr/>
        </p:nvPicPr>
        <p:blipFill>
          <a:blip r:embed="rId1"/>
          <a:stretch>
            <a:fillRect/>
          </a:stretch>
        </p:blipFill>
        <p:spPr>
          <a:xfrm>
            <a:off x="918058" y="3706978"/>
            <a:ext cx="358445" cy="358445"/>
          </a:xfrm>
          <a:prstGeom prst="rect">
            <a:avLst/>
          </a:prstGeom>
        </p:spPr>
      </p:pic>
      <p:sp>
        <p:nvSpPr>
          <p:cNvPr id="10" name="Text 7"/>
          <p:cNvSpPr txBox="1"/>
          <p:nvPr/>
        </p:nvSpPr>
        <p:spPr>
          <a:xfrm>
            <a:off x="1600200" y="3611880"/>
            <a:ext cx="2514600" cy="594360"/>
          </a:xfrm>
          <a:prstGeom prst="rect">
            <a:avLst/>
          </a:prstGeom>
          <a:noFill/>
          <a:ln/>
        </p:spPr>
        <p:txBody>
          <a:bodyPr wrap="square" lIns="0" tIns="0" rIns="0" bIns="0" rtlCol="0" anchor="ctr"/>
          <a:lstStyle/>
          <a:p>
            <a:pPr indent="0" marL="0">
              <a:buNone/>
            </a:pPr>
            <a:r>
              <a:rPr lang="en-US" sz="1500" b="1" dirty="0">
                <a:solidFill>
                  <a:srgbClr val="273370"/>
                </a:solidFill>
                <a:latin typeface="Calibri" pitchFamily="34" charset="0"/>
                <a:ea typeface="Calibri" pitchFamily="34" charset="-122"/>
                <a:cs typeface="Calibri" pitchFamily="34" charset="-120"/>
              </a:rPr>
              <a:t>1. You write a prompt</a:t>
            </a:r>
            <a:endParaRPr lang="en-US" sz="1500" dirty="0"/>
          </a:p>
        </p:txBody>
      </p:sp>
      <p:sp>
        <p:nvSpPr>
          <p:cNvPr id="11" name="Text 8"/>
          <p:cNvSpPr txBox="1"/>
          <p:nvPr/>
        </p:nvSpPr>
        <p:spPr>
          <a:xfrm>
            <a:off x="777240" y="4389120"/>
            <a:ext cx="3154680" cy="1371600"/>
          </a:xfrm>
          <a:prstGeom prst="rect">
            <a:avLst/>
          </a:prstGeom>
          <a:noFill/>
          <a:ln/>
        </p:spPr>
        <p:txBody>
          <a:bodyPr wrap="square" lIns="0" tIns="0" rIns="0" bIns="0" rtlCol="0" anchor="ctr"/>
          <a:lstStyle/>
          <a:p>
            <a:pPr indent="0" marL="0">
              <a:lnSpc>
                <a:spcPct val="110000"/>
              </a:lnSpc>
              <a:buNone/>
            </a:pPr>
            <a:r>
              <a:rPr lang="en-US" sz="1250" dirty="0">
                <a:solidFill>
                  <a:srgbClr val="22252B"/>
                </a:solidFill>
                <a:latin typeface="Calibri" pitchFamily="34" charset="0"/>
                <a:ea typeface="Calibri" pitchFamily="34" charset="-122"/>
                <a:cs typeface="Calibri" pitchFamily="34" charset="-120"/>
              </a:rPr>
              <a:t>“Draft a polite reply to this supplier explaining the payment delay”</a:t>
            </a:r>
            <a:endParaRPr lang="en-US" sz="1250" dirty="0"/>
          </a:p>
        </p:txBody>
      </p:sp>
      <p:sp>
        <p:nvSpPr>
          <p:cNvPr id="12" name="Shape 9"/>
          <p:cNvSpPr/>
          <p:nvPr/>
        </p:nvSpPr>
        <p:spPr>
          <a:xfrm>
            <a:off x="4453128" y="3291840"/>
            <a:ext cx="3703320" cy="2606040"/>
          </a:xfrm>
          <a:prstGeom prst="roundRect">
            <a:avLst>
              <a:gd name="adj" fmla="val 2807"/>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3" name="Shape 10"/>
          <p:cNvSpPr/>
          <p:nvPr/>
        </p:nvSpPr>
        <p:spPr>
          <a:xfrm>
            <a:off x="4727448" y="3566160"/>
            <a:ext cx="640080" cy="640080"/>
          </a:xfrm>
          <a:prstGeom prst="roundRect">
            <a:avLst>
              <a:gd name="adj" fmla="val 12857"/>
            </a:avLst>
          </a:prstGeom>
          <a:solidFill>
            <a:srgbClr val="273370"/>
          </a:solidFill>
          <a:ln/>
        </p:spPr>
      </p:sp>
      <p:pic>
        <p:nvPicPr>
          <p:cNvPr id="14" name="Image 1" descr="preencoded.png">    </p:cNvPr>
          <p:cNvPicPr>
            <a:picLocks noChangeAspect="1"/>
          </p:cNvPicPr>
          <p:nvPr/>
        </p:nvPicPr>
        <p:blipFill>
          <a:blip r:embed="rId2"/>
          <a:stretch>
            <a:fillRect/>
          </a:stretch>
        </p:blipFill>
        <p:spPr>
          <a:xfrm>
            <a:off x="4868266" y="3706978"/>
            <a:ext cx="358445" cy="358445"/>
          </a:xfrm>
          <a:prstGeom prst="rect">
            <a:avLst/>
          </a:prstGeom>
        </p:spPr>
      </p:pic>
      <p:sp>
        <p:nvSpPr>
          <p:cNvPr id="15" name="Text 11"/>
          <p:cNvSpPr txBox="1"/>
          <p:nvPr/>
        </p:nvSpPr>
        <p:spPr>
          <a:xfrm>
            <a:off x="5550408" y="3611880"/>
            <a:ext cx="2514600" cy="594360"/>
          </a:xfrm>
          <a:prstGeom prst="rect">
            <a:avLst/>
          </a:prstGeom>
          <a:noFill/>
          <a:ln/>
        </p:spPr>
        <p:txBody>
          <a:bodyPr wrap="square" lIns="0" tIns="0" rIns="0" bIns="0" rtlCol="0" anchor="ctr"/>
          <a:lstStyle/>
          <a:p>
            <a:pPr indent="0" marL="0">
              <a:buNone/>
            </a:pPr>
            <a:r>
              <a:rPr lang="en-US" sz="1500" b="1" dirty="0">
                <a:solidFill>
                  <a:srgbClr val="273370"/>
                </a:solidFill>
                <a:latin typeface="Calibri" pitchFamily="34" charset="0"/>
                <a:ea typeface="Calibri" pitchFamily="34" charset="-122"/>
                <a:cs typeface="Calibri" pitchFamily="34" charset="-120"/>
              </a:rPr>
              <a:t>2. The model generates</a:t>
            </a:r>
            <a:endParaRPr lang="en-US" sz="1500" dirty="0"/>
          </a:p>
        </p:txBody>
      </p:sp>
      <p:sp>
        <p:nvSpPr>
          <p:cNvPr id="16" name="Text 12"/>
          <p:cNvSpPr txBox="1"/>
          <p:nvPr/>
        </p:nvSpPr>
        <p:spPr>
          <a:xfrm>
            <a:off x="4727448" y="4389120"/>
            <a:ext cx="3154680" cy="1371600"/>
          </a:xfrm>
          <a:prstGeom prst="rect">
            <a:avLst/>
          </a:prstGeom>
          <a:noFill/>
          <a:ln/>
        </p:spPr>
        <p:txBody>
          <a:bodyPr wrap="square" lIns="0" tIns="0" rIns="0" bIns="0" rtlCol="0" anchor="ctr"/>
          <a:lstStyle/>
          <a:p>
            <a:pPr indent="0" marL="0">
              <a:lnSpc>
                <a:spcPct val="110000"/>
              </a:lnSpc>
              <a:buNone/>
            </a:pPr>
            <a:r>
              <a:rPr lang="en-US" sz="1250" dirty="0">
                <a:solidFill>
                  <a:srgbClr val="22252B"/>
                </a:solidFill>
                <a:latin typeface="Calibri" pitchFamily="34" charset="0"/>
                <a:ea typeface="Calibri" pitchFamily="34" charset="-122"/>
                <a:cs typeface="Calibri" pitchFamily="34" charset="-120"/>
              </a:rPr>
              <a:t>It predicts, word by word, the most plausible response based on patterns learned from training data</a:t>
            </a:r>
            <a:endParaRPr lang="en-US" sz="1250" dirty="0"/>
          </a:p>
        </p:txBody>
      </p:sp>
      <p:sp>
        <p:nvSpPr>
          <p:cNvPr id="17" name="Shape 13"/>
          <p:cNvSpPr/>
          <p:nvPr/>
        </p:nvSpPr>
        <p:spPr>
          <a:xfrm>
            <a:off x="8403336" y="3291840"/>
            <a:ext cx="3703320" cy="2606040"/>
          </a:xfrm>
          <a:prstGeom prst="roundRect">
            <a:avLst>
              <a:gd name="adj" fmla="val 2807"/>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8" name="Shape 14"/>
          <p:cNvSpPr/>
          <p:nvPr/>
        </p:nvSpPr>
        <p:spPr>
          <a:xfrm>
            <a:off x="8677656" y="3566160"/>
            <a:ext cx="640080" cy="640080"/>
          </a:xfrm>
          <a:prstGeom prst="roundRect">
            <a:avLst>
              <a:gd name="adj" fmla="val 12857"/>
            </a:avLst>
          </a:prstGeom>
          <a:solidFill>
            <a:srgbClr val="FCBD4C"/>
          </a:solidFill>
          <a:ln/>
        </p:spPr>
      </p:sp>
      <p:pic>
        <p:nvPicPr>
          <p:cNvPr id="19" name="Image 2" descr="preencoded.png">    </p:cNvPr>
          <p:cNvPicPr>
            <a:picLocks noChangeAspect="1"/>
          </p:cNvPicPr>
          <p:nvPr/>
        </p:nvPicPr>
        <p:blipFill>
          <a:blip r:embed="rId3"/>
          <a:stretch>
            <a:fillRect/>
          </a:stretch>
        </p:blipFill>
        <p:spPr>
          <a:xfrm>
            <a:off x="8818474" y="3706978"/>
            <a:ext cx="358445" cy="358445"/>
          </a:xfrm>
          <a:prstGeom prst="rect">
            <a:avLst/>
          </a:prstGeom>
        </p:spPr>
      </p:pic>
      <p:sp>
        <p:nvSpPr>
          <p:cNvPr id="20" name="Text 15"/>
          <p:cNvSpPr txBox="1"/>
          <p:nvPr/>
        </p:nvSpPr>
        <p:spPr>
          <a:xfrm>
            <a:off x="9500616" y="3611880"/>
            <a:ext cx="2514600" cy="594360"/>
          </a:xfrm>
          <a:prstGeom prst="rect">
            <a:avLst/>
          </a:prstGeom>
          <a:noFill/>
          <a:ln/>
        </p:spPr>
        <p:txBody>
          <a:bodyPr wrap="square" lIns="0" tIns="0" rIns="0" bIns="0" rtlCol="0" anchor="ctr"/>
          <a:lstStyle/>
          <a:p>
            <a:pPr indent="0" marL="0">
              <a:buNone/>
            </a:pPr>
            <a:r>
              <a:rPr lang="en-US" sz="1500" b="1" dirty="0">
                <a:solidFill>
                  <a:srgbClr val="273370"/>
                </a:solidFill>
                <a:latin typeface="Calibri" pitchFamily="34" charset="0"/>
                <a:ea typeface="Calibri" pitchFamily="34" charset="-122"/>
                <a:cs typeface="Calibri" pitchFamily="34" charset="-120"/>
              </a:rPr>
              <a:t>3. You refine &amp; decide</a:t>
            </a:r>
            <a:endParaRPr lang="en-US" sz="1500" dirty="0"/>
          </a:p>
        </p:txBody>
      </p:sp>
      <p:sp>
        <p:nvSpPr>
          <p:cNvPr id="21" name="Text 16"/>
          <p:cNvSpPr txBox="1"/>
          <p:nvPr/>
        </p:nvSpPr>
        <p:spPr>
          <a:xfrm>
            <a:off x="8677656" y="4389120"/>
            <a:ext cx="3154680" cy="1371600"/>
          </a:xfrm>
          <a:prstGeom prst="rect">
            <a:avLst/>
          </a:prstGeom>
          <a:noFill/>
          <a:ln/>
        </p:spPr>
        <p:txBody>
          <a:bodyPr wrap="square" lIns="0" tIns="0" rIns="0" bIns="0" rtlCol="0" anchor="ctr"/>
          <a:lstStyle/>
          <a:p>
            <a:pPr indent="0" marL="0">
              <a:lnSpc>
                <a:spcPct val="110000"/>
              </a:lnSpc>
              <a:buNone/>
            </a:pPr>
            <a:r>
              <a:rPr lang="en-US" sz="1250" dirty="0">
                <a:solidFill>
                  <a:srgbClr val="22252B"/>
                </a:solidFill>
                <a:latin typeface="Calibri" pitchFamily="34" charset="0"/>
                <a:ea typeface="Calibri" pitchFamily="34" charset="-122"/>
                <a:cs typeface="Calibri" pitchFamily="34" charset="-120"/>
              </a:rPr>
              <a:t>You review, correct, re-prompt — and YOU remain responsible for what is sent</a:t>
            </a:r>
            <a:endParaRPr lang="en-US" sz="1250" dirty="0"/>
          </a:p>
        </p:txBody>
      </p:sp>
      <p:sp>
        <p:nvSpPr>
          <p:cNvPr id="22" name="Text 17"/>
          <p:cNvSpPr txBox="1"/>
          <p:nvPr/>
        </p:nvSpPr>
        <p:spPr>
          <a:xfrm>
            <a:off x="502920" y="6144768"/>
            <a:ext cx="8229600" cy="274320"/>
          </a:xfrm>
          <a:prstGeom prst="rect">
            <a:avLst/>
          </a:prstGeom>
          <a:noFill/>
          <a:ln/>
        </p:spPr>
        <p:txBody>
          <a:bodyPr wrap="square" lIns="0" tIns="0" rIns="0" bIns="0" rtlCol="0" anchor="ctr"/>
          <a:lstStyle/>
          <a:p>
            <a:pPr indent="0" marL="0">
              <a:buNone/>
            </a:pPr>
            <a:r>
              <a:rPr lang="en-US" sz="950" i="1" dirty="0">
                <a:solidFill>
                  <a:srgbClr val="696969"/>
                </a:solidFill>
                <a:latin typeface="Calibri" pitchFamily="34" charset="0"/>
                <a:ea typeface="Calibri" pitchFamily="34" charset="-122"/>
                <a:cs typeface="Calibri" pitchFamily="34" charset="-120"/>
              </a:rPr>
              <a:t>Definition adapted from: SDAIA, Generative AI Guidelines for Government, 2024.</a:t>
            </a:r>
            <a:endParaRPr lang="en-US" sz="950" dirty="0"/>
          </a:p>
        </p:txBody>
      </p:sp>
      <p:sp>
        <p:nvSpPr>
          <p:cNvPr id="23" name="Text 18"/>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24" name="Text 19"/>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How it works — in plain language</a:t>
            </a:r>
            <a:endParaRPr lang="en-US" sz="3000" dirty="0"/>
          </a:p>
        </p:txBody>
      </p:sp>
      <p:sp>
        <p:nvSpPr>
          <p:cNvPr id="3" name="Shape 1"/>
          <p:cNvSpPr/>
          <p:nvPr/>
        </p:nvSpPr>
        <p:spPr>
          <a:xfrm>
            <a:off x="10565892" y="457200"/>
            <a:ext cx="1120140" cy="384048"/>
          </a:xfrm>
          <a:prstGeom prst="roundRect">
            <a:avLst>
              <a:gd name="adj" fmla="val 50000"/>
            </a:avLst>
          </a:prstGeom>
          <a:solidFill>
            <a:srgbClr val="94A0DA"/>
          </a:solidFill>
          <a:ln/>
        </p:spPr>
      </p:sp>
      <p:sp>
        <p:nvSpPr>
          <p:cNvPr id="4" name="Text 2"/>
          <p:cNvSpPr txBox="1"/>
          <p:nvPr/>
        </p:nvSpPr>
        <p:spPr>
          <a:xfrm>
            <a:off x="10565892" y="457200"/>
            <a:ext cx="11201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CONCEPT</a:t>
            </a:r>
            <a:endParaRPr lang="en-US" sz="1200" dirty="0"/>
          </a:p>
        </p:txBody>
      </p:sp>
      <p:sp>
        <p:nvSpPr>
          <p:cNvPr id="5" name="Shape 3"/>
          <p:cNvSpPr/>
          <p:nvPr/>
        </p:nvSpPr>
        <p:spPr>
          <a:xfrm>
            <a:off x="502920" y="1417320"/>
            <a:ext cx="5532120" cy="4663440"/>
          </a:xfrm>
          <a:prstGeom prst="roundRect">
            <a:avLst>
              <a:gd name="adj" fmla="val 1569"/>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502920" y="1417320"/>
            <a:ext cx="5532120" cy="420624"/>
          </a:xfrm>
          <a:prstGeom prst="roundRect">
            <a:avLst>
              <a:gd name="adj" fmla="val 17391"/>
            </a:avLst>
          </a:prstGeom>
          <a:solidFill>
            <a:srgbClr val="94A0DA"/>
          </a:solidFill>
          <a:ln/>
        </p:spPr>
      </p:sp>
      <p:sp>
        <p:nvSpPr>
          <p:cNvPr id="7" name="Shape 5"/>
          <p:cNvSpPr/>
          <p:nvPr/>
        </p:nvSpPr>
        <p:spPr>
          <a:xfrm>
            <a:off x="502920" y="1627632"/>
            <a:ext cx="5532120" cy="210312"/>
          </a:xfrm>
          <a:prstGeom prst="rect">
            <a:avLst/>
          </a:prstGeom>
          <a:solidFill>
            <a:srgbClr val="94A0DA"/>
          </a:solidFill>
          <a:ln/>
        </p:spPr>
      </p:sp>
      <p:sp>
        <p:nvSpPr>
          <p:cNvPr id="8" name="Text 6"/>
          <p:cNvSpPr txBox="1"/>
          <p:nvPr/>
        </p:nvSpPr>
        <p:spPr>
          <a:xfrm>
            <a:off x="640080" y="1417320"/>
            <a:ext cx="525780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Think of it as…</a:t>
            </a:r>
            <a:endParaRPr lang="en-US" sz="1400" dirty="0"/>
          </a:p>
        </p:txBody>
      </p:sp>
      <p:sp>
        <p:nvSpPr>
          <p:cNvPr id="9" name="Text 7"/>
          <p:cNvSpPr txBox="1"/>
          <p:nvPr/>
        </p:nvSpPr>
        <p:spPr>
          <a:xfrm>
            <a:off x="777240" y="2057400"/>
            <a:ext cx="5029200" cy="3840480"/>
          </a:xfrm>
          <a:prstGeom prst="rect">
            <a:avLst/>
          </a:prstGeom>
          <a:noFill/>
          <a:ln/>
        </p:spPr>
        <p:txBody>
          <a:bodyPr wrap="square" lIns="0" tIns="0" rIns="0" bIns="0" rtlCol="0" anchor="t"/>
          <a:lstStyle/>
          <a:p>
            <a:pPr marL="152400" indent="-152400">
              <a:lnSpc>
                <a:spcPct val="105000"/>
              </a:lnSpc>
              <a:spcAft>
                <a:spcPts val="1100"/>
              </a:spcAft>
              <a:buSzPct val="100000"/>
              <a:buChar char="•"/>
            </a:pPr>
            <a:r>
              <a:rPr lang="en-US" sz="1350" b="1" dirty="0">
                <a:solidFill>
                  <a:srgbClr val="22252B"/>
                </a:solidFill>
                <a:latin typeface="Calibri" pitchFamily="34" charset="0"/>
                <a:ea typeface="Calibri" pitchFamily="34" charset="-122"/>
                <a:cs typeface="Calibri" pitchFamily="34" charset="-120"/>
              </a:rPr>
              <a:t>An extremely well-read new colleague:</a:t>
            </a:r>
            <a:endParaRPr lang="en-US" sz="1350" dirty="0"/>
          </a:p>
          <a:p>
            <a:pPr marL="152400" indent="-152400">
              <a:lnSpc>
                <a:spcPct val="105000"/>
              </a:lnSpc>
              <a:spcAft>
                <a:spcPts val="1100"/>
              </a:spcAft>
              <a:buSzPct val="100000"/>
              <a:buChar char="•"/>
            </a:pPr>
            <a:r>
              <a:rPr lang="en-US" sz="1350" dirty="0">
                <a:solidFill>
                  <a:srgbClr val="22252B"/>
                </a:solidFill>
                <a:latin typeface="Calibri" pitchFamily="34" charset="0"/>
                <a:ea typeface="Calibri" pitchFamily="34" charset="-122"/>
                <a:cs typeface="Calibri" pitchFamily="34" charset="-120"/>
              </a:rPr>
              <a:t>Has read a huge share of the public internet, books and documents — so it writes fluently on almost anything.</a:t>
            </a:r>
            <a:endParaRPr lang="en-US" sz="1350" dirty="0"/>
          </a:p>
          <a:p>
            <a:pPr marL="152400" indent="-152400">
              <a:lnSpc>
                <a:spcPct val="105000"/>
              </a:lnSpc>
              <a:spcAft>
                <a:spcPts val="1100"/>
              </a:spcAft>
              <a:buSzPct val="100000"/>
              <a:buChar char="•"/>
            </a:pPr>
            <a:r>
              <a:rPr lang="en-US" sz="1350" dirty="0">
                <a:solidFill>
                  <a:srgbClr val="22252B"/>
                </a:solidFill>
                <a:latin typeface="Calibri" pitchFamily="34" charset="0"/>
                <a:ea typeface="Calibri" pitchFamily="34" charset="-122"/>
                <a:cs typeface="Calibri" pitchFamily="34" charset="-120"/>
              </a:rPr>
              <a:t>Joined yesterday: knows nothing about YOUR organisation, projects or context unless you tell it in the prompt.</a:t>
            </a:r>
            <a:endParaRPr lang="en-US" sz="1350" dirty="0"/>
          </a:p>
          <a:p>
            <a:pPr marL="152400" indent="-152400">
              <a:lnSpc>
                <a:spcPct val="105000"/>
              </a:lnSpc>
              <a:spcAft>
                <a:spcPts val="1100"/>
              </a:spcAft>
              <a:buSzPct val="100000"/>
              <a:buChar char="•"/>
            </a:pPr>
            <a:r>
              <a:rPr lang="en-US" sz="1350" dirty="0">
                <a:solidFill>
                  <a:srgbClr val="22252B"/>
                </a:solidFill>
                <a:latin typeface="Calibri" pitchFamily="34" charset="0"/>
                <a:ea typeface="Calibri" pitchFamily="34" charset="-122"/>
                <a:cs typeface="Calibri" pitchFamily="34" charset="-120"/>
              </a:rPr>
              <a:t>Eager to please: it will always produce an answer — even when it should say “I don't know”.</a:t>
            </a:r>
            <a:endParaRPr lang="en-US" sz="1350" dirty="0"/>
          </a:p>
          <a:p>
            <a:pPr marL="152400" indent="-152400">
              <a:lnSpc>
                <a:spcPct val="105000"/>
              </a:lnSpc>
              <a:spcAft>
                <a:spcPts val="1100"/>
              </a:spcAft>
              <a:buSzPct val="100000"/>
              <a:buChar char="•"/>
            </a:pPr>
            <a:r>
              <a:rPr lang="en-US" sz="1350" dirty="0">
                <a:solidFill>
                  <a:srgbClr val="22252B"/>
                </a:solidFill>
                <a:latin typeface="Calibri" pitchFamily="34" charset="0"/>
                <a:ea typeface="Calibri" pitchFamily="34" charset="-122"/>
                <a:cs typeface="Calibri" pitchFamily="34" charset="-120"/>
              </a:rPr>
              <a:t>Works at astonishing speed — but everything it produces is a draft for your judgement.</a:t>
            </a:r>
            <a:endParaRPr lang="en-US" sz="1350" dirty="0"/>
          </a:p>
        </p:txBody>
      </p:sp>
      <p:sp>
        <p:nvSpPr>
          <p:cNvPr id="10" name="Shape 8"/>
          <p:cNvSpPr/>
          <p:nvPr/>
        </p:nvSpPr>
        <p:spPr>
          <a:xfrm>
            <a:off x="6263640" y="1417320"/>
            <a:ext cx="5440680" cy="4663440"/>
          </a:xfrm>
          <a:prstGeom prst="roundRect">
            <a:avLst>
              <a:gd name="adj" fmla="val 1569"/>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1" name="Shape 9"/>
          <p:cNvSpPr/>
          <p:nvPr/>
        </p:nvSpPr>
        <p:spPr>
          <a:xfrm>
            <a:off x="6263640" y="1417320"/>
            <a:ext cx="5440680" cy="420624"/>
          </a:xfrm>
          <a:prstGeom prst="roundRect">
            <a:avLst>
              <a:gd name="adj" fmla="val 17391"/>
            </a:avLst>
          </a:prstGeom>
          <a:solidFill>
            <a:srgbClr val="273370"/>
          </a:solidFill>
          <a:ln/>
        </p:spPr>
      </p:sp>
      <p:sp>
        <p:nvSpPr>
          <p:cNvPr id="12" name="Shape 10"/>
          <p:cNvSpPr/>
          <p:nvPr/>
        </p:nvSpPr>
        <p:spPr>
          <a:xfrm>
            <a:off x="6263640" y="1627632"/>
            <a:ext cx="5440680" cy="210312"/>
          </a:xfrm>
          <a:prstGeom prst="rect">
            <a:avLst/>
          </a:prstGeom>
          <a:solidFill>
            <a:srgbClr val="273370"/>
          </a:solidFill>
          <a:ln/>
        </p:spPr>
      </p:sp>
      <p:sp>
        <p:nvSpPr>
          <p:cNvPr id="13" name="Text 11"/>
          <p:cNvSpPr txBox="1"/>
          <p:nvPr/>
        </p:nvSpPr>
        <p:spPr>
          <a:xfrm>
            <a:off x="6400800" y="1417320"/>
            <a:ext cx="516636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Three facts that explain everything</a:t>
            </a:r>
            <a:endParaRPr lang="en-US" sz="1400" dirty="0"/>
          </a:p>
        </p:txBody>
      </p:sp>
      <p:sp>
        <p:nvSpPr>
          <p:cNvPr id="14" name="Text 12"/>
          <p:cNvSpPr txBox="1"/>
          <p:nvPr/>
        </p:nvSpPr>
        <p:spPr>
          <a:xfrm>
            <a:off x="6537960" y="2057400"/>
            <a:ext cx="4937760" cy="3840480"/>
          </a:xfrm>
          <a:prstGeom prst="rect">
            <a:avLst/>
          </a:prstGeom>
          <a:noFill/>
          <a:ln/>
        </p:spPr>
        <p:txBody>
          <a:bodyPr wrap="square" lIns="0" tIns="0" rIns="0" bIns="0" rtlCol="0" anchor="t"/>
          <a:lstStyle/>
          <a:p>
            <a:pPr marL="152400" indent="-152400">
              <a:lnSpc>
                <a:spcPct val="105000"/>
              </a:lnSpc>
              <a:spcAft>
                <a:spcPts val="800"/>
              </a:spcAft>
              <a:buSzPct val="100000"/>
              <a:buChar char="•"/>
            </a:pPr>
            <a:r>
              <a:rPr lang="en-US" sz="1300" b="1" dirty="0">
                <a:solidFill>
                  <a:srgbClr val="273370"/>
                </a:solidFill>
                <a:latin typeface="Calibri" pitchFamily="34" charset="0"/>
                <a:ea typeface="Calibri" pitchFamily="34" charset="-122"/>
                <a:cs typeface="Calibri" pitchFamily="34" charset="-120"/>
              </a:rPr>
              <a:t>1. It predicts, it does not know.</a:t>
            </a:r>
            <a:endParaRPr lang="en-US" sz="1300" dirty="0"/>
          </a:p>
          <a:p>
            <a:pPr marL="152400" indent="-152400">
              <a:lnSpc>
                <a:spcPct val="105000"/>
              </a:lnSpc>
              <a:spcAft>
                <a:spcPts val="800"/>
              </a:spcAft>
              <a:buSzPct val="100000"/>
              <a:buChar char="•"/>
            </a:pPr>
            <a:r>
              <a:rPr lang="en-US" sz="1300" dirty="0">
                <a:solidFill>
                  <a:srgbClr val="22252B"/>
                </a:solidFill>
                <a:latin typeface="Calibri" pitchFamily="34" charset="0"/>
                <a:ea typeface="Calibri" pitchFamily="34" charset="-122"/>
                <a:cs typeface="Calibri" pitchFamily="34" charset="-120"/>
              </a:rPr>
              <a:t>Output is the statistically likely continuation of your prompt — fluency is guaranteed, accuracy is not.</a:t>
            </a:r>
            <a:endParaRPr lang="en-US" sz="1300" dirty="0"/>
          </a:p>
          <a:p>
            <a:pPr marL="152400" indent="-152400">
              <a:lnSpc>
                <a:spcPct val="105000"/>
              </a:lnSpc>
              <a:spcAft>
                <a:spcPts val="800"/>
              </a:spcAft>
              <a:buSzPct val="100000"/>
              <a:buChar char="•"/>
            </a:pPr>
            <a:r>
              <a:rPr lang="en-US" sz="1300" b="1" dirty="0">
                <a:solidFill>
                  <a:srgbClr val="273370"/>
                </a:solidFill>
                <a:latin typeface="Calibri" pitchFamily="34" charset="0"/>
                <a:ea typeface="Calibri" pitchFamily="34" charset="-122"/>
                <a:cs typeface="Calibri" pitchFamily="34" charset="-120"/>
              </a:rPr>
              <a:t>2. Context is everything.</a:t>
            </a:r>
            <a:endParaRPr lang="en-US" sz="1300" dirty="0"/>
          </a:p>
          <a:p>
            <a:pPr marL="152400" indent="-152400">
              <a:lnSpc>
                <a:spcPct val="105000"/>
              </a:lnSpc>
              <a:spcAft>
                <a:spcPts val="800"/>
              </a:spcAft>
              <a:buSzPct val="100000"/>
              <a:buChar char="•"/>
            </a:pPr>
            <a:r>
              <a:rPr lang="en-US" sz="1300" dirty="0">
                <a:solidFill>
                  <a:srgbClr val="22252B"/>
                </a:solidFill>
                <a:latin typeface="Calibri" pitchFamily="34" charset="0"/>
                <a:ea typeface="Calibri" pitchFamily="34" charset="-122"/>
                <a:cs typeface="Calibri" pitchFamily="34" charset="-120"/>
              </a:rPr>
              <a:t>The model only “sees” what is in the conversation. More relevant context in = better output out.</a:t>
            </a:r>
            <a:endParaRPr lang="en-US" sz="1300" dirty="0"/>
          </a:p>
          <a:p>
            <a:pPr marL="152400" indent="-152400">
              <a:lnSpc>
                <a:spcPct val="105000"/>
              </a:lnSpc>
              <a:spcAft>
                <a:spcPts val="800"/>
              </a:spcAft>
              <a:buSzPct val="100000"/>
              <a:buChar char="•"/>
            </a:pPr>
            <a:r>
              <a:rPr lang="en-US" sz="1300" b="1" dirty="0">
                <a:solidFill>
                  <a:srgbClr val="273370"/>
                </a:solidFill>
                <a:latin typeface="Calibri" pitchFamily="34" charset="0"/>
                <a:ea typeface="Calibri" pitchFamily="34" charset="-122"/>
                <a:cs typeface="Calibri" pitchFamily="34" charset="-120"/>
              </a:rPr>
              <a:t>3. Knowledge has a cut-off.</a:t>
            </a:r>
            <a:endParaRPr lang="en-US" sz="1300" dirty="0"/>
          </a:p>
          <a:p>
            <a:pPr marL="152400" indent="-152400">
              <a:lnSpc>
                <a:spcPct val="105000"/>
              </a:lnSpc>
              <a:spcAft>
                <a:spcPts val="800"/>
              </a:spcAft>
              <a:buSzPct val="100000"/>
              <a:buChar char="•"/>
            </a:pPr>
            <a:r>
              <a:rPr lang="en-US" sz="1300" dirty="0">
                <a:solidFill>
                  <a:srgbClr val="22252B"/>
                </a:solidFill>
                <a:latin typeface="Calibri" pitchFamily="34" charset="0"/>
                <a:ea typeface="Calibri" pitchFamily="34" charset="-122"/>
                <a:cs typeface="Calibri" pitchFamily="34" charset="-120"/>
              </a:rPr>
              <a:t>Models are trained up to a date; without web access they can be out of date on recent events, prices and rules.</a:t>
            </a:r>
            <a:endParaRPr lang="en-US" sz="1300" dirty="0"/>
          </a:p>
        </p:txBody>
      </p:sp>
      <p:sp>
        <p:nvSpPr>
          <p:cNvPr id="15" name="Text 13"/>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16" name="Text 14"/>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What generative AI does well at work</a:t>
            </a:r>
            <a:endParaRPr lang="en-US" sz="3000" dirty="0"/>
          </a:p>
        </p:txBody>
      </p:sp>
      <p:sp>
        <p:nvSpPr>
          <p:cNvPr id="3" name="Shape 1"/>
          <p:cNvSpPr/>
          <p:nvPr/>
        </p:nvSpPr>
        <p:spPr>
          <a:xfrm>
            <a:off x="10565892" y="457200"/>
            <a:ext cx="1120140" cy="384048"/>
          </a:xfrm>
          <a:prstGeom prst="roundRect">
            <a:avLst>
              <a:gd name="adj" fmla="val 50000"/>
            </a:avLst>
          </a:prstGeom>
          <a:solidFill>
            <a:srgbClr val="94A0DA"/>
          </a:solidFill>
          <a:ln/>
        </p:spPr>
      </p:sp>
      <p:sp>
        <p:nvSpPr>
          <p:cNvPr id="4" name="Text 2"/>
          <p:cNvSpPr txBox="1"/>
          <p:nvPr/>
        </p:nvSpPr>
        <p:spPr>
          <a:xfrm>
            <a:off x="10565892" y="457200"/>
            <a:ext cx="11201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CONCEPT</a:t>
            </a:r>
            <a:endParaRPr lang="en-US" sz="1200" dirty="0"/>
          </a:p>
        </p:txBody>
      </p:sp>
      <p:sp>
        <p:nvSpPr>
          <p:cNvPr id="5" name="Shape 3"/>
          <p:cNvSpPr/>
          <p:nvPr/>
        </p:nvSpPr>
        <p:spPr>
          <a:xfrm>
            <a:off x="502920" y="1463040"/>
            <a:ext cx="3703320" cy="2103120"/>
          </a:xfrm>
          <a:prstGeom prst="roundRect">
            <a:avLst>
              <a:gd name="adj" fmla="val 3478"/>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758952" y="1719072"/>
            <a:ext cx="566928" cy="566928"/>
          </a:xfrm>
          <a:prstGeom prst="roundRect">
            <a:avLst>
              <a:gd name="adj" fmla="val 14516"/>
            </a:avLst>
          </a:prstGeom>
          <a:solidFill>
            <a:srgbClr val="273370"/>
          </a:solidFill>
          <a:ln/>
        </p:spPr>
      </p:sp>
      <p:pic>
        <p:nvPicPr>
          <p:cNvPr id="7" name="Image 0" descr="preencoded.png">    </p:cNvPr>
          <p:cNvPicPr>
            <a:picLocks noChangeAspect="1"/>
          </p:cNvPicPr>
          <p:nvPr/>
        </p:nvPicPr>
        <p:blipFill>
          <a:blip r:embed="rId1"/>
          <a:stretch>
            <a:fillRect/>
          </a:stretch>
        </p:blipFill>
        <p:spPr>
          <a:xfrm>
            <a:off x="883676" y="1843796"/>
            <a:ext cx="317480" cy="317480"/>
          </a:xfrm>
          <a:prstGeom prst="rect">
            <a:avLst/>
          </a:prstGeom>
        </p:spPr>
      </p:pic>
      <p:sp>
        <p:nvSpPr>
          <p:cNvPr id="8" name="Text 5"/>
          <p:cNvSpPr txBox="1"/>
          <p:nvPr/>
        </p:nvSpPr>
        <p:spPr>
          <a:xfrm>
            <a:off x="1463040" y="1719072"/>
            <a:ext cx="2606040" cy="566928"/>
          </a:xfrm>
          <a:prstGeom prst="rect">
            <a:avLst/>
          </a:prstGeom>
          <a:noFill/>
          <a:ln/>
        </p:spPr>
        <p:txBody>
          <a:bodyPr wrap="square" lIns="0" tIns="0" rIns="0" bIns="0" rtlCol="0" anchor="ctr"/>
          <a:lstStyle/>
          <a:p>
            <a:pPr indent="0" marL="0">
              <a:buNone/>
            </a:pPr>
            <a:r>
              <a:rPr lang="en-US" sz="1450" b="1" dirty="0">
                <a:solidFill>
                  <a:srgbClr val="273370"/>
                </a:solidFill>
                <a:latin typeface="Calibri" pitchFamily="34" charset="0"/>
                <a:ea typeface="Calibri" pitchFamily="34" charset="-122"/>
                <a:cs typeface="Calibri" pitchFamily="34" charset="-120"/>
              </a:rPr>
              <a:t>Drafting &amp; rewriting</a:t>
            </a:r>
            <a:endParaRPr lang="en-US" sz="1450" dirty="0"/>
          </a:p>
        </p:txBody>
      </p:sp>
      <p:sp>
        <p:nvSpPr>
          <p:cNvPr id="9" name="Text 6"/>
          <p:cNvSpPr txBox="1"/>
          <p:nvPr/>
        </p:nvSpPr>
        <p:spPr>
          <a:xfrm>
            <a:off x="758952" y="2423160"/>
            <a:ext cx="3200400" cy="1005840"/>
          </a:xfrm>
          <a:prstGeom prst="rect">
            <a:avLst/>
          </a:prstGeom>
          <a:noFill/>
          <a:ln/>
        </p:spPr>
        <p:txBody>
          <a:bodyPr wrap="square" lIns="0" tIns="0" rIns="0" bIns="0" rtlCol="0" anchor="ctr"/>
          <a:lstStyle/>
          <a:p>
            <a:pPr indent="0" marL="0">
              <a:lnSpc>
                <a:spcPct val="108000"/>
              </a:lnSpc>
              <a:buNone/>
            </a:pPr>
            <a:r>
              <a:rPr lang="en-US" sz="1200" dirty="0">
                <a:solidFill>
                  <a:srgbClr val="22252B"/>
                </a:solidFill>
                <a:latin typeface="Calibri" pitchFamily="34" charset="0"/>
                <a:ea typeface="Calibri" pitchFamily="34" charset="-122"/>
                <a:cs typeface="Calibri" pitchFamily="34" charset="-120"/>
              </a:rPr>
              <a:t>Emails, letters, reports, announcements — in any tone, in Arabic and English</a:t>
            </a:r>
            <a:endParaRPr lang="en-US" sz="1200" dirty="0"/>
          </a:p>
        </p:txBody>
      </p:sp>
      <p:sp>
        <p:nvSpPr>
          <p:cNvPr id="10" name="Shape 7"/>
          <p:cNvSpPr/>
          <p:nvPr/>
        </p:nvSpPr>
        <p:spPr>
          <a:xfrm>
            <a:off x="4453128" y="1463040"/>
            <a:ext cx="3703320" cy="2103120"/>
          </a:xfrm>
          <a:prstGeom prst="roundRect">
            <a:avLst>
              <a:gd name="adj" fmla="val 3478"/>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1" name="Shape 8"/>
          <p:cNvSpPr/>
          <p:nvPr/>
        </p:nvSpPr>
        <p:spPr>
          <a:xfrm>
            <a:off x="4709160" y="1719072"/>
            <a:ext cx="566928" cy="566928"/>
          </a:xfrm>
          <a:prstGeom prst="roundRect">
            <a:avLst>
              <a:gd name="adj" fmla="val 14516"/>
            </a:avLst>
          </a:prstGeom>
          <a:solidFill>
            <a:srgbClr val="29BA74"/>
          </a:solidFill>
          <a:ln/>
        </p:spPr>
      </p:sp>
      <p:pic>
        <p:nvPicPr>
          <p:cNvPr id="12" name="Image 1" descr="preencoded.png">    </p:cNvPr>
          <p:cNvPicPr>
            <a:picLocks noChangeAspect="1"/>
          </p:cNvPicPr>
          <p:nvPr/>
        </p:nvPicPr>
        <p:blipFill>
          <a:blip r:embed="rId2"/>
          <a:stretch>
            <a:fillRect/>
          </a:stretch>
        </p:blipFill>
        <p:spPr>
          <a:xfrm>
            <a:off x="4833884" y="1843796"/>
            <a:ext cx="317480" cy="317480"/>
          </a:xfrm>
          <a:prstGeom prst="rect">
            <a:avLst/>
          </a:prstGeom>
        </p:spPr>
      </p:pic>
      <p:sp>
        <p:nvSpPr>
          <p:cNvPr id="13" name="Text 9"/>
          <p:cNvSpPr txBox="1"/>
          <p:nvPr/>
        </p:nvSpPr>
        <p:spPr>
          <a:xfrm>
            <a:off x="5413248" y="1719072"/>
            <a:ext cx="2606040" cy="566928"/>
          </a:xfrm>
          <a:prstGeom prst="rect">
            <a:avLst/>
          </a:prstGeom>
          <a:noFill/>
          <a:ln/>
        </p:spPr>
        <p:txBody>
          <a:bodyPr wrap="square" lIns="0" tIns="0" rIns="0" bIns="0" rtlCol="0" anchor="ctr"/>
          <a:lstStyle/>
          <a:p>
            <a:pPr indent="0" marL="0">
              <a:buNone/>
            </a:pPr>
            <a:r>
              <a:rPr lang="en-US" sz="1450" b="1" dirty="0">
                <a:solidFill>
                  <a:srgbClr val="273370"/>
                </a:solidFill>
                <a:latin typeface="Calibri" pitchFamily="34" charset="0"/>
                <a:ea typeface="Calibri" pitchFamily="34" charset="-122"/>
                <a:cs typeface="Calibri" pitchFamily="34" charset="-120"/>
              </a:rPr>
              <a:t>Summarising</a:t>
            </a:r>
            <a:endParaRPr lang="en-US" sz="1450" dirty="0"/>
          </a:p>
        </p:txBody>
      </p:sp>
      <p:sp>
        <p:nvSpPr>
          <p:cNvPr id="14" name="Text 10"/>
          <p:cNvSpPr txBox="1"/>
          <p:nvPr/>
        </p:nvSpPr>
        <p:spPr>
          <a:xfrm>
            <a:off x="4709160" y="2423160"/>
            <a:ext cx="3200400" cy="1005840"/>
          </a:xfrm>
          <a:prstGeom prst="rect">
            <a:avLst/>
          </a:prstGeom>
          <a:noFill/>
          <a:ln/>
        </p:spPr>
        <p:txBody>
          <a:bodyPr wrap="square" lIns="0" tIns="0" rIns="0" bIns="0" rtlCol="0" anchor="ctr"/>
          <a:lstStyle/>
          <a:p>
            <a:pPr indent="0" marL="0">
              <a:lnSpc>
                <a:spcPct val="108000"/>
              </a:lnSpc>
              <a:buNone/>
            </a:pPr>
            <a:r>
              <a:rPr lang="en-US" sz="1200" dirty="0">
                <a:solidFill>
                  <a:srgbClr val="22252B"/>
                </a:solidFill>
                <a:latin typeface="Calibri" pitchFamily="34" charset="0"/>
                <a:ea typeface="Calibri" pitchFamily="34" charset="-122"/>
                <a:cs typeface="Calibri" pitchFamily="34" charset="-120"/>
              </a:rPr>
              <a:t>Long documents, email threads and meeting notes into the length you need</a:t>
            </a:r>
            <a:endParaRPr lang="en-US" sz="1200" dirty="0"/>
          </a:p>
        </p:txBody>
      </p:sp>
      <p:sp>
        <p:nvSpPr>
          <p:cNvPr id="15" name="Shape 11"/>
          <p:cNvSpPr/>
          <p:nvPr/>
        </p:nvSpPr>
        <p:spPr>
          <a:xfrm>
            <a:off x="8403336" y="1463040"/>
            <a:ext cx="3703320" cy="2103120"/>
          </a:xfrm>
          <a:prstGeom prst="roundRect">
            <a:avLst>
              <a:gd name="adj" fmla="val 3478"/>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6" name="Shape 12"/>
          <p:cNvSpPr/>
          <p:nvPr/>
        </p:nvSpPr>
        <p:spPr>
          <a:xfrm>
            <a:off x="8659368" y="1719072"/>
            <a:ext cx="566928" cy="566928"/>
          </a:xfrm>
          <a:prstGeom prst="roundRect">
            <a:avLst>
              <a:gd name="adj" fmla="val 14516"/>
            </a:avLst>
          </a:prstGeom>
          <a:solidFill>
            <a:srgbClr val="67CCFF"/>
          </a:solidFill>
          <a:ln/>
        </p:spPr>
      </p:sp>
      <p:pic>
        <p:nvPicPr>
          <p:cNvPr id="17" name="Image 2" descr="preencoded.png">    </p:cNvPr>
          <p:cNvPicPr>
            <a:picLocks noChangeAspect="1"/>
          </p:cNvPicPr>
          <p:nvPr/>
        </p:nvPicPr>
        <p:blipFill>
          <a:blip r:embed="rId3"/>
          <a:stretch>
            <a:fillRect/>
          </a:stretch>
        </p:blipFill>
        <p:spPr>
          <a:xfrm>
            <a:off x="8784092" y="1843796"/>
            <a:ext cx="317480" cy="317480"/>
          </a:xfrm>
          <a:prstGeom prst="rect">
            <a:avLst/>
          </a:prstGeom>
        </p:spPr>
      </p:pic>
      <p:sp>
        <p:nvSpPr>
          <p:cNvPr id="18" name="Text 13"/>
          <p:cNvSpPr txBox="1"/>
          <p:nvPr/>
        </p:nvSpPr>
        <p:spPr>
          <a:xfrm>
            <a:off x="9363456" y="1719072"/>
            <a:ext cx="2606040" cy="566928"/>
          </a:xfrm>
          <a:prstGeom prst="rect">
            <a:avLst/>
          </a:prstGeom>
          <a:noFill/>
          <a:ln/>
        </p:spPr>
        <p:txBody>
          <a:bodyPr wrap="square" lIns="0" tIns="0" rIns="0" bIns="0" rtlCol="0" anchor="ctr"/>
          <a:lstStyle/>
          <a:p>
            <a:pPr indent="0" marL="0">
              <a:buNone/>
            </a:pPr>
            <a:r>
              <a:rPr lang="en-US" sz="1450" b="1" dirty="0">
                <a:solidFill>
                  <a:srgbClr val="273370"/>
                </a:solidFill>
                <a:latin typeface="Calibri" pitchFamily="34" charset="0"/>
                <a:ea typeface="Calibri" pitchFamily="34" charset="-122"/>
                <a:cs typeface="Calibri" pitchFamily="34" charset="-120"/>
              </a:rPr>
              <a:t>Extracting &amp; structuring</a:t>
            </a:r>
            <a:endParaRPr lang="en-US" sz="1450" dirty="0"/>
          </a:p>
        </p:txBody>
      </p:sp>
      <p:sp>
        <p:nvSpPr>
          <p:cNvPr id="19" name="Text 14"/>
          <p:cNvSpPr txBox="1"/>
          <p:nvPr/>
        </p:nvSpPr>
        <p:spPr>
          <a:xfrm>
            <a:off x="8659368" y="2423160"/>
            <a:ext cx="3200400" cy="1005840"/>
          </a:xfrm>
          <a:prstGeom prst="rect">
            <a:avLst/>
          </a:prstGeom>
          <a:noFill/>
          <a:ln/>
        </p:spPr>
        <p:txBody>
          <a:bodyPr wrap="square" lIns="0" tIns="0" rIns="0" bIns="0" rtlCol="0" anchor="ctr"/>
          <a:lstStyle/>
          <a:p>
            <a:pPr indent="0" marL="0">
              <a:lnSpc>
                <a:spcPct val="108000"/>
              </a:lnSpc>
              <a:buNone/>
            </a:pPr>
            <a:r>
              <a:rPr lang="en-US" sz="1200" dirty="0">
                <a:solidFill>
                  <a:srgbClr val="22252B"/>
                </a:solidFill>
                <a:latin typeface="Calibri" pitchFamily="34" charset="0"/>
                <a:ea typeface="Calibri" pitchFamily="34" charset="-122"/>
                <a:cs typeface="Calibri" pitchFamily="34" charset="-120"/>
              </a:rPr>
              <a:t>Turning messy text into tables, action lists and key figures</a:t>
            </a:r>
            <a:endParaRPr lang="en-US" sz="1200" dirty="0"/>
          </a:p>
        </p:txBody>
      </p:sp>
      <p:sp>
        <p:nvSpPr>
          <p:cNvPr id="20" name="Shape 15"/>
          <p:cNvSpPr/>
          <p:nvPr/>
        </p:nvSpPr>
        <p:spPr>
          <a:xfrm>
            <a:off x="502920" y="3794760"/>
            <a:ext cx="3703320" cy="2103120"/>
          </a:xfrm>
          <a:prstGeom prst="roundRect">
            <a:avLst>
              <a:gd name="adj" fmla="val 3478"/>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21" name="Shape 16"/>
          <p:cNvSpPr/>
          <p:nvPr/>
        </p:nvSpPr>
        <p:spPr>
          <a:xfrm>
            <a:off x="758952" y="4050792"/>
            <a:ext cx="566928" cy="566928"/>
          </a:xfrm>
          <a:prstGeom prst="roundRect">
            <a:avLst>
              <a:gd name="adj" fmla="val 14516"/>
            </a:avLst>
          </a:prstGeom>
          <a:solidFill>
            <a:srgbClr val="FCBD4C"/>
          </a:solidFill>
          <a:ln/>
        </p:spPr>
      </p:sp>
      <p:pic>
        <p:nvPicPr>
          <p:cNvPr id="22" name="Image 3" descr="preencoded.png">    </p:cNvPr>
          <p:cNvPicPr>
            <a:picLocks noChangeAspect="1"/>
          </p:cNvPicPr>
          <p:nvPr/>
        </p:nvPicPr>
        <p:blipFill>
          <a:blip r:embed="rId4"/>
          <a:stretch>
            <a:fillRect/>
          </a:stretch>
        </p:blipFill>
        <p:spPr>
          <a:xfrm>
            <a:off x="883676" y="4175516"/>
            <a:ext cx="317480" cy="317480"/>
          </a:xfrm>
          <a:prstGeom prst="rect">
            <a:avLst/>
          </a:prstGeom>
        </p:spPr>
      </p:pic>
      <p:sp>
        <p:nvSpPr>
          <p:cNvPr id="23" name="Text 17"/>
          <p:cNvSpPr txBox="1"/>
          <p:nvPr/>
        </p:nvSpPr>
        <p:spPr>
          <a:xfrm>
            <a:off x="1463040" y="4050792"/>
            <a:ext cx="2606040" cy="566928"/>
          </a:xfrm>
          <a:prstGeom prst="rect">
            <a:avLst/>
          </a:prstGeom>
          <a:noFill/>
          <a:ln/>
        </p:spPr>
        <p:txBody>
          <a:bodyPr wrap="square" lIns="0" tIns="0" rIns="0" bIns="0" rtlCol="0" anchor="ctr"/>
          <a:lstStyle/>
          <a:p>
            <a:pPr indent="0" marL="0">
              <a:buNone/>
            </a:pPr>
            <a:r>
              <a:rPr lang="en-US" sz="1450" b="1" dirty="0">
                <a:solidFill>
                  <a:srgbClr val="273370"/>
                </a:solidFill>
                <a:latin typeface="Calibri" pitchFamily="34" charset="0"/>
                <a:ea typeface="Calibri" pitchFamily="34" charset="-122"/>
                <a:cs typeface="Calibri" pitchFamily="34" charset="-120"/>
              </a:rPr>
              <a:t>Brainstorming</a:t>
            </a:r>
            <a:endParaRPr lang="en-US" sz="1450" dirty="0"/>
          </a:p>
        </p:txBody>
      </p:sp>
      <p:sp>
        <p:nvSpPr>
          <p:cNvPr id="24" name="Text 18"/>
          <p:cNvSpPr txBox="1"/>
          <p:nvPr/>
        </p:nvSpPr>
        <p:spPr>
          <a:xfrm>
            <a:off x="758952" y="4754880"/>
            <a:ext cx="3200400" cy="1005840"/>
          </a:xfrm>
          <a:prstGeom prst="rect">
            <a:avLst/>
          </a:prstGeom>
          <a:noFill/>
          <a:ln/>
        </p:spPr>
        <p:txBody>
          <a:bodyPr wrap="square" lIns="0" tIns="0" rIns="0" bIns="0" rtlCol="0" anchor="ctr"/>
          <a:lstStyle/>
          <a:p>
            <a:pPr indent="0" marL="0">
              <a:lnSpc>
                <a:spcPct val="108000"/>
              </a:lnSpc>
              <a:buNone/>
            </a:pPr>
            <a:r>
              <a:rPr lang="en-US" sz="1200" dirty="0">
                <a:solidFill>
                  <a:srgbClr val="22252B"/>
                </a:solidFill>
                <a:latin typeface="Calibri" pitchFamily="34" charset="0"/>
                <a:ea typeface="Calibri" pitchFamily="34" charset="-122"/>
                <a:cs typeface="Calibri" pitchFamily="34" charset="-120"/>
              </a:rPr>
              <a:t>Ideas, options, risks, agendas, questions you have not thought of</a:t>
            </a:r>
            <a:endParaRPr lang="en-US" sz="1200" dirty="0"/>
          </a:p>
        </p:txBody>
      </p:sp>
      <p:sp>
        <p:nvSpPr>
          <p:cNvPr id="25" name="Shape 19"/>
          <p:cNvSpPr/>
          <p:nvPr/>
        </p:nvSpPr>
        <p:spPr>
          <a:xfrm>
            <a:off x="4453128" y="3794760"/>
            <a:ext cx="3703320" cy="2103120"/>
          </a:xfrm>
          <a:prstGeom prst="roundRect">
            <a:avLst>
              <a:gd name="adj" fmla="val 3478"/>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26" name="Shape 20"/>
          <p:cNvSpPr/>
          <p:nvPr/>
        </p:nvSpPr>
        <p:spPr>
          <a:xfrm>
            <a:off x="4709160" y="4050792"/>
            <a:ext cx="566928" cy="566928"/>
          </a:xfrm>
          <a:prstGeom prst="roundRect">
            <a:avLst>
              <a:gd name="adj" fmla="val 14516"/>
            </a:avLst>
          </a:prstGeom>
          <a:solidFill>
            <a:srgbClr val="6258A6"/>
          </a:solidFill>
          <a:ln/>
        </p:spPr>
      </p:sp>
      <p:pic>
        <p:nvPicPr>
          <p:cNvPr id="27" name="Image 4" descr="preencoded.png">    </p:cNvPr>
          <p:cNvPicPr>
            <a:picLocks noChangeAspect="1"/>
          </p:cNvPicPr>
          <p:nvPr/>
        </p:nvPicPr>
        <p:blipFill>
          <a:blip r:embed="rId5"/>
          <a:stretch>
            <a:fillRect/>
          </a:stretch>
        </p:blipFill>
        <p:spPr>
          <a:xfrm>
            <a:off x="4833884" y="4175516"/>
            <a:ext cx="317480" cy="317480"/>
          </a:xfrm>
          <a:prstGeom prst="rect">
            <a:avLst/>
          </a:prstGeom>
        </p:spPr>
      </p:pic>
      <p:sp>
        <p:nvSpPr>
          <p:cNvPr id="28" name="Text 21"/>
          <p:cNvSpPr txBox="1"/>
          <p:nvPr/>
        </p:nvSpPr>
        <p:spPr>
          <a:xfrm>
            <a:off x="5413248" y="4050792"/>
            <a:ext cx="2606040" cy="566928"/>
          </a:xfrm>
          <a:prstGeom prst="rect">
            <a:avLst/>
          </a:prstGeom>
          <a:noFill/>
          <a:ln/>
        </p:spPr>
        <p:txBody>
          <a:bodyPr wrap="square" lIns="0" tIns="0" rIns="0" bIns="0" rtlCol="0" anchor="ctr"/>
          <a:lstStyle/>
          <a:p>
            <a:pPr indent="0" marL="0">
              <a:buNone/>
            </a:pPr>
            <a:r>
              <a:rPr lang="en-US" sz="1450" b="1" dirty="0">
                <a:solidFill>
                  <a:srgbClr val="273370"/>
                </a:solidFill>
                <a:latin typeface="Calibri" pitchFamily="34" charset="0"/>
                <a:ea typeface="Calibri" pitchFamily="34" charset="-122"/>
                <a:cs typeface="Calibri" pitchFamily="34" charset="-120"/>
              </a:rPr>
              <a:t>Comparing &amp; synthesising</a:t>
            </a:r>
            <a:endParaRPr lang="en-US" sz="1450" dirty="0"/>
          </a:p>
        </p:txBody>
      </p:sp>
      <p:sp>
        <p:nvSpPr>
          <p:cNvPr id="29" name="Text 22"/>
          <p:cNvSpPr txBox="1"/>
          <p:nvPr/>
        </p:nvSpPr>
        <p:spPr>
          <a:xfrm>
            <a:off x="4709160" y="4754880"/>
            <a:ext cx="3200400" cy="1005840"/>
          </a:xfrm>
          <a:prstGeom prst="rect">
            <a:avLst/>
          </a:prstGeom>
          <a:noFill/>
          <a:ln/>
        </p:spPr>
        <p:txBody>
          <a:bodyPr wrap="square" lIns="0" tIns="0" rIns="0" bIns="0" rtlCol="0" anchor="ctr"/>
          <a:lstStyle/>
          <a:p>
            <a:pPr indent="0" marL="0">
              <a:lnSpc>
                <a:spcPct val="108000"/>
              </a:lnSpc>
              <a:buNone/>
            </a:pPr>
            <a:r>
              <a:rPr lang="en-US" sz="1200" dirty="0">
                <a:solidFill>
                  <a:srgbClr val="22252B"/>
                </a:solidFill>
                <a:latin typeface="Calibri" pitchFamily="34" charset="0"/>
                <a:ea typeface="Calibri" pitchFamily="34" charset="-122"/>
                <a:cs typeface="Calibri" pitchFamily="34" charset="-120"/>
              </a:rPr>
              <a:t>Proposals, options papers, policy versions — side by side</a:t>
            </a:r>
            <a:endParaRPr lang="en-US" sz="1200" dirty="0"/>
          </a:p>
        </p:txBody>
      </p:sp>
      <p:sp>
        <p:nvSpPr>
          <p:cNvPr id="30" name="Shape 23"/>
          <p:cNvSpPr/>
          <p:nvPr/>
        </p:nvSpPr>
        <p:spPr>
          <a:xfrm>
            <a:off x="8403336" y="3794760"/>
            <a:ext cx="3703320" cy="2103120"/>
          </a:xfrm>
          <a:prstGeom prst="roundRect">
            <a:avLst>
              <a:gd name="adj" fmla="val 3478"/>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31" name="Shape 24"/>
          <p:cNvSpPr/>
          <p:nvPr/>
        </p:nvSpPr>
        <p:spPr>
          <a:xfrm>
            <a:off x="8659368" y="4050792"/>
            <a:ext cx="566928" cy="566928"/>
          </a:xfrm>
          <a:prstGeom prst="roundRect">
            <a:avLst>
              <a:gd name="adj" fmla="val 14516"/>
            </a:avLst>
          </a:prstGeom>
          <a:solidFill>
            <a:srgbClr val="94A0DA"/>
          </a:solidFill>
          <a:ln/>
        </p:spPr>
      </p:sp>
      <p:pic>
        <p:nvPicPr>
          <p:cNvPr id="32" name="Image 5" descr="preencoded.png">    </p:cNvPr>
          <p:cNvPicPr>
            <a:picLocks noChangeAspect="1"/>
          </p:cNvPicPr>
          <p:nvPr/>
        </p:nvPicPr>
        <p:blipFill>
          <a:blip r:embed="rId6"/>
          <a:stretch>
            <a:fillRect/>
          </a:stretch>
        </p:blipFill>
        <p:spPr>
          <a:xfrm>
            <a:off x="8784092" y="4175516"/>
            <a:ext cx="317480" cy="317480"/>
          </a:xfrm>
          <a:prstGeom prst="rect">
            <a:avLst/>
          </a:prstGeom>
        </p:spPr>
      </p:pic>
      <p:sp>
        <p:nvSpPr>
          <p:cNvPr id="33" name="Text 25"/>
          <p:cNvSpPr txBox="1"/>
          <p:nvPr/>
        </p:nvSpPr>
        <p:spPr>
          <a:xfrm>
            <a:off x="9363456" y="4050792"/>
            <a:ext cx="2606040" cy="566928"/>
          </a:xfrm>
          <a:prstGeom prst="rect">
            <a:avLst/>
          </a:prstGeom>
          <a:noFill/>
          <a:ln/>
        </p:spPr>
        <p:txBody>
          <a:bodyPr wrap="square" lIns="0" tIns="0" rIns="0" bIns="0" rtlCol="0" anchor="ctr"/>
          <a:lstStyle/>
          <a:p>
            <a:pPr indent="0" marL="0">
              <a:buNone/>
            </a:pPr>
            <a:r>
              <a:rPr lang="en-US" sz="1450" b="1" dirty="0">
                <a:solidFill>
                  <a:srgbClr val="273370"/>
                </a:solidFill>
                <a:latin typeface="Calibri" pitchFamily="34" charset="0"/>
                <a:ea typeface="Calibri" pitchFamily="34" charset="-122"/>
                <a:cs typeface="Calibri" pitchFamily="34" charset="-120"/>
              </a:rPr>
              <a:t>Planning &amp; organising</a:t>
            </a:r>
            <a:endParaRPr lang="en-US" sz="1450" dirty="0"/>
          </a:p>
        </p:txBody>
      </p:sp>
      <p:sp>
        <p:nvSpPr>
          <p:cNvPr id="34" name="Text 26"/>
          <p:cNvSpPr txBox="1"/>
          <p:nvPr/>
        </p:nvSpPr>
        <p:spPr>
          <a:xfrm>
            <a:off x="8659368" y="4754880"/>
            <a:ext cx="3200400" cy="1005840"/>
          </a:xfrm>
          <a:prstGeom prst="rect">
            <a:avLst/>
          </a:prstGeom>
          <a:noFill/>
          <a:ln/>
        </p:spPr>
        <p:txBody>
          <a:bodyPr wrap="square" lIns="0" tIns="0" rIns="0" bIns="0" rtlCol="0" anchor="ctr"/>
          <a:lstStyle/>
          <a:p>
            <a:pPr indent="0" marL="0">
              <a:lnSpc>
                <a:spcPct val="108000"/>
              </a:lnSpc>
              <a:buNone/>
            </a:pPr>
            <a:r>
              <a:rPr lang="en-US" sz="1200" dirty="0">
                <a:solidFill>
                  <a:srgbClr val="22252B"/>
                </a:solidFill>
                <a:latin typeface="Calibri" pitchFamily="34" charset="0"/>
                <a:ea typeface="Calibri" pitchFamily="34" charset="-122"/>
                <a:cs typeface="Calibri" pitchFamily="34" charset="-120"/>
              </a:rPr>
              <a:t>Project plans, checklists, timelines, communication plans</a:t>
            </a:r>
            <a:endParaRPr lang="en-US" sz="1200" dirty="0"/>
          </a:p>
        </p:txBody>
      </p:sp>
      <p:sp>
        <p:nvSpPr>
          <p:cNvPr id="35" name="Text 27"/>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36" name="Text 28"/>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…and where it fails</a:t>
            </a:r>
            <a:endParaRPr lang="en-US" sz="3000" dirty="0"/>
          </a:p>
        </p:txBody>
      </p:sp>
      <p:sp>
        <p:nvSpPr>
          <p:cNvPr id="3" name="Text 1"/>
          <p:cNvSpPr txBox="1"/>
          <p:nvPr/>
        </p:nvSpPr>
        <p:spPr>
          <a:xfrm>
            <a:off x="502920" y="987552"/>
            <a:ext cx="11155680" cy="365760"/>
          </a:xfrm>
          <a:prstGeom prst="rect">
            <a:avLst/>
          </a:prstGeom>
          <a:noFill/>
          <a:ln/>
        </p:spPr>
        <p:txBody>
          <a:bodyPr wrap="square" lIns="0" tIns="0" rIns="0" bIns="0" rtlCol="0" anchor="ctr"/>
          <a:lstStyle/>
          <a:p>
            <a:pPr indent="0" marL="0">
              <a:buNone/>
            </a:pPr>
            <a:r>
              <a:rPr lang="en-US" sz="1400" dirty="0">
                <a:solidFill>
                  <a:srgbClr val="696969"/>
                </a:solidFill>
                <a:latin typeface="Calibri" pitchFamily="34" charset="0"/>
                <a:ea typeface="Calibri" pitchFamily="34" charset="-122"/>
                <a:cs typeface="Calibri" pitchFamily="34" charset="-120"/>
              </a:rPr>
              <a:t>Every one of these will matter in your daily work</a:t>
            </a:r>
            <a:endParaRPr lang="en-US" sz="1400" dirty="0"/>
          </a:p>
        </p:txBody>
      </p:sp>
      <p:sp>
        <p:nvSpPr>
          <p:cNvPr id="4" name="Shape 2"/>
          <p:cNvSpPr/>
          <p:nvPr/>
        </p:nvSpPr>
        <p:spPr>
          <a:xfrm>
            <a:off x="10565892" y="457200"/>
            <a:ext cx="1120140" cy="384048"/>
          </a:xfrm>
          <a:prstGeom prst="roundRect">
            <a:avLst>
              <a:gd name="adj" fmla="val 50000"/>
            </a:avLst>
          </a:prstGeom>
          <a:solidFill>
            <a:srgbClr val="94A0DA"/>
          </a:solidFill>
          <a:ln/>
        </p:spPr>
      </p:sp>
      <p:sp>
        <p:nvSpPr>
          <p:cNvPr id="5" name="Text 3"/>
          <p:cNvSpPr txBox="1"/>
          <p:nvPr/>
        </p:nvSpPr>
        <p:spPr>
          <a:xfrm>
            <a:off x="10565892" y="457200"/>
            <a:ext cx="11201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Shape 4"/>
          <p:cNvSpPr/>
          <p:nvPr/>
        </p:nvSpPr>
        <p:spPr>
          <a:xfrm>
            <a:off x="502920" y="1600200"/>
            <a:ext cx="3703320" cy="2084832"/>
          </a:xfrm>
          <a:prstGeom prst="roundRect">
            <a:avLst>
              <a:gd name="adj" fmla="val 3509"/>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758952" y="1837944"/>
            <a:ext cx="502920" cy="502920"/>
          </a:xfrm>
          <a:prstGeom prst="roundRect">
            <a:avLst>
              <a:gd name="adj" fmla="val 16364"/>
            </a:avLst>
          </a:prstGeom>
          <a:solidFill>
            <a:srgbClr val="D45C5C"/>
          </a:solidFill>
          <a:ln/>
        </p:spPr>
      </p:sp>
      <p:pic>
        <p:nvPicPr>
          <p:cNvPr id="8" name="Image 0" descr="preencoded.png">    </p:cNvPr>
          <p:cNvPicPr>
            <a:picLocks noChangeAspect="1"/>
          </p:cNvPicPr>
          <p:nvPr/>
        </p:nvPicPr>
        <p:blipFill>
          <a:blip r:embed="rId1"/>
          <a:stretch>
            <a:fillRect/>
          </a:stretch>
        </p:blipFill>
        <p:spPr>
          <a:xfrm>
            <a:off x="869594" y="1948586"/>
            <a:ext cx="281635" cy="281635"/>
          </a:xfrm>
          <a:prstGeom prst="rect">
            <a:avLst/>
          </a:prstGeom>
        </p:spPr>
      </p:pic>
      <p:sp>
        <p:nvSpPr>
          <p:cNvPr id="9" name="Text 6"/>
          <p:cNvSpPr txBox="1"/>
          <p:nvPr/>
        </p:nvSpPr>
        <p:spPr>
          <a:xfrm>
            <a:off x="1399032" y="1819656"/>
            <a:ext cx="2697480" cy="548640"/>
          </a:xfrm>
          <a:prstGeom prst="rect">
            <a:avLst/>
          </a:prstGeom>
          <a:noFill/>
          <a:ln/>
        </p:spPr>
        <p:txBody>
          <a:bodyPr wrap="square" lIns="0" tIns="0" rIns="0" bIns="0" rtlCol="0" anchor="ctr"/>
          <a:lstStyle/>
          <a:p>
            <a:pPr indent="0" marL="0">
              <a:buNone/>
            </a:pPr>
            <a:r>
              <a:rPr lang="en-US" sz="1400" b="1" dirty="0">
                <a:solidFill>
                  <a:srgbClr val="273370"/>
                </a:solidFill>
                <a:latin typeface="Calibri" pitchFamily="34" charset="0"/>
                <a:ea typeface="Calibri" pitchFamily="34" charset="-122"/>
                <a:cs typeface="Calibri" pitchFamily="34" charset="-120"/>
              </a:rPr>
              <a:t>Hallucination</a:t>
            </a:r>
            <a:endParaRPr lang="en-US" sz="1400" dirty="0"/>
          </a:p>
        </p:txBody>
      </p:sp>
      <p:sp>
        <p:nvSpPr>
          <p:cNvPr id="10" name="Text 7"/>
          <p:cNvSpPr txBox="1"/>
          <p:nvPr/>
        </p:nvSpPr>
        <p:spPr>
          <a:xfrm>
            <a:off x="758952" y="2468880"/>
            <a:ext cx="3200400" cy="1143000"/>
          </a:xfrm>
          <a:prstGeom prst="rect">
            <a:avLst/>
          </a:prstGeom>
          <a:noFill/>
          <a:ln/>
        </p:spPr>
        <p:txBody>
          <a:bodyPr wrap="square" lIns="0" tIns="0" rIns="0" bIns="0" rtlCol="0" anchor="ctr"/>
          <a:lstStyle/>
          <a:p>
            <a:pPr indent="0" marL="0">
              <a:lnSpc>
                <a:spcPct val="108000"/>
              </a:lnSpc>
              <a:buNone/>
            </a:pPr>
            <a:r>
              <a:rPr lang="en-US" sz="1100" dirty="0">
                <a:solidFill>
                  <a:srgbClr val="22252B"/>
                </a:solidFill>
                <a:latin typeface="Calibri" pitchFamily="34" charset="0"/>
                <a:ea typeface="Calibri" pitchFamily="34" charset="-122"/>
                <a:cs typeface="Calibri" pitchFamily="34" charset="-120"/>
              </a:rPr>
              <a:t>It can invent facts, figures, references and even regulations — stated with total confidence. This is a feature of how it works, not a rare bug.</a:t>
            </a:r>
            <a:endParaRPr lang="en-US" sz="1100" dirty="0"/>
          </a:p>
        </p:txBody>
      </p:sp>
      <p:sp>
        <p:nvSpPr>
          <p:cNvPr id="11" name="Shape 8"/>
          <p:cNvSpPr/>
          <p:nvPr/>
        </p:nvSpPr>
        <p:spPr>
          <a:xfrm>
            <a:off x="4453128" y="1600200"/>
            <a:ext cx="3703320" cy="2084832"/>
          </a:xfrm>
          <a:prstGeom prst="roundRect">
            <a:avLst>
              <a:gd name="adj" fmla="val 3509"/>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2" name="Shape 9"/>
          <p:cNvSpPr/>
          <p:nvPr/>
        </p:nvSpPr>
        <p:spPr>
          <a:xfrm>
            <a:off x="4709160" y="1837944"/>
            <a:ext cx="502920" cy="502920"/>
          </a:xfrm>
          <a:prstGeom prst="roundRect">
            <a:avLst>
              <a:gd name="adj" fmla="val 16364"/>
            </a:avLst>
          </a:prstGeom>
          <a:solidFill>
            <a:srgbClr val="FCBD4C"/>
          </a:solidFill>
          <a:ln/>
        </p:spPr>
      </p:sp>
      <p:pic>
        <p:nvPicPr>
          <p:cNvPr id="13" name="Image 1" descr="preencoded.png">    </p:cNvPr>
          <p:cNvPicPr>
            <a:picLocks noChangeAspect="1"/>
          </p:cNvPicPr>
          <p:nvPr/>
        </p:nvPicPr>
        <p:blipFill>
          <a:blip r:embed="rId2"/>
          <a:stretch>
            <a:fillRect/>
          </a:stretch>
        </p:blipFill>
        <p:spPr>
          <a:xfrm>
            <a:off x="4819802" y="1948586"/>
            <a:ext cx="281635" cy="281635"/>
          </a:xfrm>
          <a:prstGeom prst="rect">
            <a:avLst/>
          </a:prstGeom>
        </p:spPr>
      </p:pic>
      <p:sp>
        <p:nvSpPr>
          <p:cNvPr id="14" name="Text 10"/>
          <p:cNvSpPr txBox="1"/>
          <p:nvPr/>
        </p:nvSpPr>
        <p:spPr>
          <a:xfrm>
            <a:off x="5349240" y="1819656"/>
            <a:ext cx="2697480" cy="548640"/>
          </a:xfrm>
          <a:prstGeom prst="rect">
            <a:avLst/>
          </a:prstGeom>
          <a:noFill/>
          <a:ln/>
        </p:spPr>
        <p:txBody>
          <a:bodyPr wrap="square" lIns="0" tIns="0" rIns="0" bIns="0" rtlCol="0" anchor="ctr"/>
          <a:lstStyle/>
          <a:p>
            <a:pPr indent="0" marL="0">
              <a:buNone/>
            </a:pPr>
            <a:r>
              <a:rPr lang="en-US" sz="1400" b="1" dirty="0">
                <a:solidFill>
                  <a:srgbClr val="273370"/>
                </a:solidFill>
                <a:latin typeface="Calibri" pitchFamily="34" charset="0"/>
                <a:ea typeface="Calibri" pitchFamily="34" charset="-122"/>
                <a:cs typeface="Calibri" pitchFamily="34" charset="-120"/>
              </a:rPr>
              <a:t>Outdated knowledge</a:t>
            </a:r>
            <a:endParaRPr lang="en-US" sz="1400" dirty="0"/>
          </a:p>
        </p:txBody>
      </p:sp>
      <p:sp>
        <p:nvSpPr>
          <p:cNvPr id="15" name="Text 11"/>
          <p:cNvSpPr txBox="1"/>
          <p:nvPr/>
        </p:nvSpPr>
        <p:spPr>
          <a:xfrm>
            <a:off x="4709160" y="2468880"/>
            <a:ext cx="3200400" cy="1143000"/>
          </a:xfrm>
          <a:prstGeom prst="rect">
            <a:avLst/>
          </a:prstGeom>
          <a:noFill/>
          <a:ln/>
        </p:spPr>
        <p:txBody>
          <a:bodyPr wrap="square" lIns="0" tIns="0" rIns="0" bIns="0" rtlCol="0" anchor="ctr"/>
          <a:lstStyle/>
          <a:p>
            <a:pPr indent="0" marL="0">
              <a:lnSpc>
                <a:spcPct val="108000"/>
              </a:lnSpc>
              <a:buNone/>
            </a:pPr>
            <a:r>
              <a:rPr lang="en-US" sz="1100" dirty="0">
                <a:solidFill>
                  <a:srgbClr val="22252B"/>
                </a:solidFill>
                <a:latin typeface="Calibri" pitchFamily="34" charset="0"/>
                <a:ea typeface="Calibri" pitchFamily="34" charset="-122"/>
                <a:cs typeface="Calibri" pitchFamily="34" charset="-120"/>
              </a:rPr>
              <a:t>Without web access, it may not know recent events, current prices, new policies or this year's organisational changes.</a:t>
            </a:r>
            <a:endParaRPr lang="en-US" sz="1100" dirty="0"/>
          </a:p>
        </p:txBody>
      </p:sp>
      <p:sp>
        <p:nvSpPr>
          <p:cNvPr id="16" name="Shape 12"/>
          <p:cNvSpPr/>
          <p:nvPr/>
        </p:nvSpPr>
        <p:spPr>
          <a:xfrm>
            <a:off x="8403336" y="1600200"/>
            <a:ext cx="3703320" cy="2084832"/>
          </a:xfrm>
          <a:prstGeom prst="roundRect">
            <a:avLst>
              <a:gd name="adj" fmla="val 3509"/>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7" name="Shape 13"/>
          <p:cNvSpPr/>
          <p:nvPr/>
        </p:nvSpPr>
        <p:spPr>
          <a:xfrm>
            <a:off x="8659368" y="1837944"/>
            <a:ext cx="502920" cy="502920"/>
          </a:xfrm>
          <a:prstGeom prst="roundRect">
            <a:avLst>
              <a:gd name="adj" fmla="val 16364"/>
            </a:avLst>
          </a:prstGeom>
          <a:solidFill>
            <a:srgbClr val="6258A6"/>
          </a:solidFill>
          <a:ln/>
        </p:spPr>
      </p:sp>
      <p:pic>
        <p:nvPicPr>
          <p:cNvPr id="18" name="Image 2" descr="preencoded.png">    </p:cNvPr>
          <p:cNvPicPr>
            <a:picLocks noChangeAspect="1"/>
          </p:cNvPicPr>
          <p:nvPr/>
        </p:nvPicPr>
        <p:blipFill>
          <a:blip r:embed="rId3"/>
          <a:stretch>
            <a:fillRect/>
          </a:stretch>
        </p:blipFill>
        <p:spPr>
          <a:xfrm>
            <a:off x="8770010" y="1948586"/>
            <a:ext cx="281635" cy="281635"/>
          </a:xfrm>
          <a:prstGeom prst="rect">
            <a:avLst/>
          </a:prstGeom>
        </p:spPr>
      </p:pic>
      <p:sp>
        <p:nvSpPr>
          <p:cNvPr id="19" name="Text 14"/>
          <p:cNvSpPr txBox="1"/>
          <p:nvPr/>
        </p:nvSpPr>
        <p:spPr>
          <a:xfrm>
            <a:off x="9299448" y="1819656"/>
            <a:ext cx="2697480" cy="548640"/>
          </a:xfrm>
          <a:prstGeom prst="rect">
            <a:avLst/>
          </a:prstGeom>
          <a:noFill/>
          <a:ln/>
        </p:spPr>
        <p:txBody>
          <a:bodyPr wrap="square" lIns="0" tIns="0" rIns="0" bIns="0" rtlCol="0" anchor="ctr"/>
          <a:lstStyle/>
          <a:p>
            <a:pPr indent="0" marL="0">
              <a:buNone/>
            </a:pPr>
            <a:r>
              <a:rPr lang="en-US" sz="1400" b="1" dirty="0">
                <a:solidFill>
                  <a:srgbClr val="273370"/>
                </a:solidFill>
                <a:latin typeface="Calibri" pitchFamily="34" charset="0"/>
                <a:ea typeface="Calibri" pitchFamily="34" charset="-122"/>
                <a:cs typeface="Calibri" pitchFamily="34" charset="-120"/>
              </a:rPr>
              <a:t>Bias</a:t>
            </a:r>
            <a:endParaRPr lang="en-US" sz="1400" dirty="0"/>
          </a:p>
        </p:txBody>
      </p:sp>
      <p:sp>
        <p:nvSpPr>
          <p:cNvPr id="20" name="Text 15"/>
          <p:cNvSpPr txBox="1"/>
          <p:nvPr/>
        </p:nvSpPr>
        <p:spPr>
          <a:xfrm>
            <a:off x="8659368" y="2468880"/>
            <a:ext cx="3200400" cy="1143000"/>
          </a:xfrm>
          <a:prstGeom prst="rect">
            <a:avLst/>
          </a:prstGeom>
          <a:noFill/>
          <a:ln/>
        </p:spPr>
        <p:txBody>
          <a:bodyPr wrap="square" lIns="0" tIns="0" rIns="0" bIns="0" rtlCol="0" anchor="ctr"/>
          <a:lstStyle/>
          <a:p>
            <a:pPr indent="0" marL="0">
              <a:lnSpc>
                <a:spcPct val="108000"/>
              </a:lnSpc>
              <a:buNone/>
            </a:pPr>
            <a:r>
              <a:rPr lang="en-US" sz="1100" dirty="0">
                <a:solidFill>
                  <a:srgbClr val="22252B"/>
                </a:solidFill>
                <a:latin typeface="Calibri" pitchFamily="34" charset="0"/>
                <a:ea typeface="Calibri" pitchFamily="34" charset="-122"/>
                <a:cs typeface="Calibri" pitchFamily="34" charset="-120"/>
              </a:rPr>
              <a:t>It reflects patterns — including stereotypes — present in its training data, and can reproduce them in your documents.</a:t>
            </a:r>
            <a:endParaRPr lang="en-US" sz="1100" dirty="0"/>
          </a:p>
        </p:txBody>
      </p:sp>
      <p:sp>
        <p:nvSpPr>
          <p:cNvPr id="21" name="Shape 16"/>
          <p:cNvSpPr/>
          <p:nvPr/>
        </p:nvSpPr>
        <p:spPr>
          <a:xfrm>
            <a:off x="502920" y="3886200"/>
            <a:ext cx="3703320" cy="2084832"/>
          </a:xfrm>
          <a:prstGeom prst="roundRect">
            <a:avLst>
              <a:gd name="adj" fmla="val 3509"/>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22" name="Shape 17"/>
          <p:cNvSpPr/>
          <p:nvPr/>
        </p:nvSpPr>
        <p:spPr>
          <a:xfrm>
            <a:off x="758952" y="4123944"/>
            <a:ext cx="502920" cy="502920"/>
          </a:xfrm>
          <a:prstGeom prst="roundRect">
            <a:avLst>
              <a:gd name="adj" fmla="val 16364"/>
            </a:avLst>
          </a:prstGeom>
          <a:solidFill>
            <a:srgbClr val="273370"/>
          </a:solidFill>
          <a:ln/>
        </p:spPr>
      </p:sp>
      <p:pic>
        <p:nvPicPr>
          <p:cNvPr id="23" name="Image 3" descr="preencoded.png">    </p:cNvPr>
          <p:cNvPicPr>
            <a:picLocks noChangeAspect="1"/>
          </p:cNvPicPr>
          <p:nvPr/>
        </p:nvPicPr>
        <p:blipFill>
          <a:blip r:embed="rId4"/>
          <a:stretch>
            <a:fillRect/>
          </a:stretch>
        </p:blipFill>
        <p:spPr>
          <a:xfrm>
            <a:off x="869594" y="4234586"/>
            <a:ext cx="281635" cy="281635"/>
          </a:xfrm>
          <a:prstGeom prst="rect">
            <a:avLst/>
          </a:prstGeom>
        </p:spPr>
      </p:pic>
      <p:sp>
        <p:nvSpPr>
          <p:cNvPr id="24" name="Text 18"/>
          <p:cNvSpPr txBox="1"/>
          <p:nvPr/>
        </p:nvSpPr>
        <p:spPr>
          <a:xfrm>
            <a:off x="1399032" y="4105656"/>
            <a:ext cx="2697480" cy="548640"/>
          </a:xfrm>
          <a:prstGeom prst="rect">
            <a:avLst/>
          </a:prstGeom>
          <a:noFill/>
          <a:ln/>
        </p:spPr>
        <p:txBody>
          <a:bodyPr wrap="square" lIns="0" tIns="0" rIns="0" bIns="0" rtlCol="0" anchor="ctr"/>
          <a:lstStyle/>
          <a:p>
            <a:pPr indent="0" marL="0">
              <a:buNone/>
            </a:pPr>
            <a:r>
              <a:rPr lang="en-US" sz="1400" b="1" dirty="0">
                <a:solidFill>
                  <a:srgbClr val="273370"/>
                </a:solidFill>
                <a:latin typeface="Calibri" pitchFamily="34" charset="0"/>
                <a:ea typeface="Calibri" pitchFamily="34" charset="-122"/>
                <a:cs typeface="Calibri" pitchFamily="34" charset="-120"/>
              </a:rPr>
              <a:t>No confidentiality by default</a:t>
            </a:r>
            <a:endParaRPr lang="en-US" sz="1400" dirty="0"/>
          </a:p>
        </p:txBody>
      </p:sp>
      <p:sp>
        <p:nvSpPr>
          <p:cNvPr id="25" name="Text 19"/>
          <p:cNvSpPr txBox="1"/>
          <p:nvPr/>
        </p:nvSpPr>
        <p:spPr>
          <a:xfrm>
            <a:off x="758952" y="4754880"/>
            <a:ext cx="3200400" cy="1143000"/>
          </a:xfrm>
          <a:prstGeom prst="rect">
            <a:avLst/>
          </a:prstGeom>
          <a:noFill/>
          <a:ln/>
        </p:spPr>
        <p:txBody>
          <a:bodyPr wrap="square" lIns="0" tIns="0" rIns="0" bIns="0" rtlCol="0" anchor="ctr"/>
          <a:lstStyle/>
          <a:p>
            <a:pPr indent="0" marL="0">
              <a:lnSpc>
                <a:spcPct val="108000"/>
              </a:lnSpc>
              <a:buNone/>
            </a:pPr>
            <a:r>
              <a:rPr lang="en-US" sz="1100" dirty="0">
                <a:solidFill>
                  <a:srgbClr val="22252B"/>
                </a:solidFill>
                <a:latin typeface="Calibri" pitchFamily="34" charset="0"/>
                <a:ea typeface="Calibri" pitchFamily="34" charset="-122"/>
                <a:cs typeface="Calibri" pitchFamily="34" charset="-120"/>
              </a:rPr>
              <a:t>Text you type into a public tool leaves your organisation. Some consumer tools may use it to improve their models.</a:t>
            </a:r>
            <a:endParaRPr lang="en-US" sz="1100" dirty="0"/>
          </a:p>
        </p:txBody>
      </p:sp>
      <p:sp>
        <p:nvSpPr>
          <p:cNvPr id="26" name="Shape 20"/>
          <p:cNvSpPr/>
          <p:nvPr/>
        </p:nvSpPr>
        <p:spPr>
          <a:xfrm>
            <a:off x="4453128" y="3886200"/>
            <a:ext cx="3703320" cy="2084832"/>
          </a:xfrm>
          <a:prstGeom prst="roundRect">
            <a:avLst>
              <a:gd name="adj" fmla="val 3509"/>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27" name="Shape 21"/>
          <p:cNvSpPr/>
          <p:nvPr/>
        </p:nvSpPr>
        <p:spPr>
          <a:xfrm>
            <a:off x="4709160" y="4123944"/>
            <a:ext cx="502920" cy="502920"/>
          </a:xfrm>
          <a:prstGeom prst="roundRect">
            <a:avLst>
              <a:gd name="adj" fmla="val 16364"/>
            </a:avLst>
          </a:prstGeom>
          <a:solidFill>
            <a:srgbClr val="29BA74"/>
          </a:solidFill>
          <a:ln/>
        </p:spPr>
      </p:sp>
      <p:pic>
        <p:nvPicPr>
          <p:cNvPr id="28" name="Image 4" descr="preencoded.png">    </p:cNvPr>
          <p:cNvPicPr>
            <a:picLocks noChangeAspect="1"/>
          </p:cNvPicPr>
          <p:nvPr/>
        </p:nvPicPr>
        <p:blipFill>
          <a:blip r:embed="rId5"/>
          <a:stretch>
            <a:fillRect/>
          </a:stretch>
        </p:blipFill>
        <p:spPr>
          <a:xfrm>
            <a:off x="4819802" y="4234586"/>
            <a:ext cx="281635" cy="281635"/>
          </a:xfrm>
          <a:prstGeom prst="rect">
            <a:avLst/>
          </a:prstGeom>
        </p:spPr>
      </p:pic>
      <p:sp>
        <p:nvSpPr>
          <p:cNvPr id="29" name="Text 22"/>
          <p:cNvSpPr txBox="1"/>
          <p:nvPr/>
        </p:nvSpPr>
        <p:spPr>
          <a:xfrm>
            <a:off x="5349240" y="4105656"/>
            <a:ext cx="2697480" cy="548640"/>
          </a:xfrm>
          <a:prstGeom prst="rect">
            <a:avLst/>
          </a:prstGeom>
          <a:noFill/>
          <a:ln/>
        </p:spPr>
        <p:txBody>
          <a:bodyPr wrap="square" lIns="0" tIns="0" rIns="0" bIns="0" rtlCol="0" anchor="ctr"/>
          <a:lstStyle/>
          <a:p>
            <a:pPr indent="0" marL="0">
              <a:buNone/>
            </a:pPr>
            <a:r>
              <a:rPr lang="en-US" sz="1400" b="1" dirty="0">
                <a:solidFill>
                  <a:srgbClr val="273370"/>
                </a:solidFill>
                <a:latin typeface="Calibri" pitchFamily="34" charset="0"/>
                <a:ea typeface="Calibri" pitchFamily="34" charset="-122"/>
                <a:cs typeface="Calibri" pitchFamily="34" charset="-120"/>
              </a:rPr>
              <a:t>No accountability</a:t>
            </a:r>
            <a:endParaRPr lang="en-US" sz="1400" dirty="0"/>
          </a:p>
        </p:txBody>
      </p:sp>
      <p:sp>
        <p:nvSpPr>
          <p:cNvPr id="30" name="Text 23"/>
          <p:cNvSpPr txBox="1"/>
          <p:nvPr/>
        </p:nvSpPr>
        <p:spPr>
          <a:xfrm>
            <a:off x="4709160" y="4754880"/>
            <a:ext cx="3200400" cy="1143000"/>
          </a:xfrm>
          <a:prstGeom prst="rect">
            <a:avLst/>
          </a:prstGeom>
          <a:noFill/>
          <a:ln/>
        </p:spPr>
        <p:txBody>
          <a:bodyPr wrap="square" lIns="0" tIns="0" rIns="0" bIns="0" rtlCol="0" anchor="ctr"/>
          <a:lstStyle/>
          <a:p>
            <a:pPr indent="0" marL="0">
              <a:lnSpc>
                <a:spcPct val="108000"/>
              </a:lnSpc>
              <a:buNone/>
            </a:pPr>
            <a:r>
              <a:rPr lang="en-US" sz="1100" dirty="0">
                <a:solidFill>
                  <a:srgbClr val="22252B"/>
                </a:solidFill>
                <a:latin typeface="Calibri" pitchFamily="34" charset="0"/>
                <a:ea typeface="Calibri" pitchFamily="34" charset="-122"/>
                <a:cs typeface="Calibri" pitchFamily="34" charset="-120"/>
              </a:rPr>
              <a:t>The AI is never the author of record. You sign it, you own it — errors included.</a:t>
            </a:r>
            <a:endParaRPr lang="en-US" sz="1100" dirty="0"/>
          </a:p>
        </p:txBody>
      </p:sp>
      <p:sp>
        <p:nvSpPr>
          <p:cNvPr id="31" name="Shape 24"/>
          <p:cNvSpPr/>
          <p:nvPr/>
        </p:nvSpPr>
        <p:spPr>
          <a:xfrm>
            <a:off x="8403336" y="3886200"/>
            <a:ext cx="3703320" cy="2084832"/>
          </a:xfrm>
          <a:prstGeom prst="roundRect">
            <a:avLst>
              <a:gd name="adj" fmla="val 3509"/>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32" name="Shape 25"/>
          <p:cNvSpPr/>
          <p:nvPr/>
        </p:nvSpPr>
        <p:spPr>
          <a:xfrm>
            <a:off x="8659368" y="4123944"/>
            <a:ext cx="502920" cy="502920"/>
          </a:xfrm>
          <a:prstGeom prst="roundRect">
            <a:avLst>
              <a:gd name="adj" fmla="val 16364"/>
            </a:avLst>
          </a:prstGeom>
          <a:solidFill>
            <a:srgbClr val="67CCFF"/>
          </a:solidFill>
          <a:ln/>
        </p:spPr>
      </p:sp>
      <p:pic>
        <p:nvPicPr>
          <p:cNvPr id="33" name="Image 5" descr="preencoded.png">    </p:cNvPr>
          <p:cNvPicPr>
            <a:picLocks noChangeAspect="1"/>
          </p:cNvPicPr>
          <p:nvPr/>
        </p:nvPicPr>
        <p:blipFill>
          <a:blip r:embed="rId6"/>
          <a:stretch>
            <a:fillRect/>
          </a:stretch>
        </p:blipFill>
        <p:spPr>
          <a:xfrm>
            <a:off x="8770010" y="4234586"/>
            <a:ext cx="281635" cy="281635"/>
          </a:xfrm>
          <a:prstGeom prst="rect">
            <a:avLst/>
          </a:prstGeom>
        </p:spPr>
      </p:pic>
      <p:sp>
        <p:nvSpPr>
          <p:cNvPr id="34" name="Text 26"/>
          <p:cNvSpPr txBox="1"/>
          <p:nvPr/>
        </p:nvSpPr>
        <p:spPr>
          <a:xfrm>
            <a:off x="9299448" y="4105656"/>
            <a:ext cx="2697480" cy="548640"/>
          </a:xfrm>
          <a:prstGeom prst="rect">
            <a:avLst/>
          </a:prstGeom>
          <a:noFill/>
          <a:ln/>
        </p:spPr>
        <p:txBody>
          <a:bodyPr wrap="square" lIns="0" tIns="0" rIns="0" bIns="0" rtlCol="0" anchor="ctr"/>
          <a:lstStyle/>
          <a:p>
            <a:pPr indent="0" marL="0">
              <a:buNone/>
            </a:pPr>
            <a:r>
              <a:rPr lang="en-US" sz="1400" b="1" dirty="0">
                <a:solidFill>
                  <a:srgbClr val="273370"/>
                </a:solidFill>
                <a:latin typeface="Calibri" pitchFamily="34" charset="0"/>
                <a:ea typeface="Calibri" pitchFamily="34" charset="-122"/>
                <a:cs typeface="Calibri" pitchFamily="34" charset="-120"/>
              </a:rPr>
              <a:t>No real understanding</a:t>
            </a:r>
            <a:endParaRPr lang="en-US" sz="1400" dirty="0"/>
          </a:p>
        </p:txBody>
      </p:sp>
      <p:sp>
        <p:nvSpPr>
          <p:cNvPr id="35" name="Text 27"/>
          <p:cNvSpPr txBox="1"/>
          <p:nvPr/>
        </p:nvSpPr>
        <p:spPr>
          <a:xfrm>
            <a:off x="8659368" y="4754880"/>
            <a:ext cx="3200400" cy="1143000"/>
          </a:xfrm>
          <a:prstGeom prst="rect">
            <a:avLst/>
          </a:prstGeom>
          <a:noFill/>
          <a:ln/>
        </p:spPr>
        <p:txBody>
          <a:bodyPr wrap="square" lIns="0" tIns="0" rIns="0" bIns="0" rtlCol="0" anchor="ctr"/>
          <a:lstStyle/>
          <a:p>
            <a:pPr indent="0" marL="0">
              <a:lnSpc>
                <a:spcPct val="108000"/>
              </a:lnSpc>
              <a:buNone/>
            </a:pPr>
            <a:r>
              <a:rPr lang="en-US" sz="1100" dirty="0">
                <a:solidFill>
                  <a:srgbClr val="22252B"/>
                </a:solidFill>
                <a:latin typeface="Calibri" pitchFamily="34" charset="0"/>
                <a:ea typeface="Calibri" pitchFamily="34" charset="-122"/>
                <a:cs typeface="Calibri" pitchFamily="34" charset="-120"/>
              </a:rPr>
              <a:t>It cannot verify truth, weigh your organisation's politics, or know what you left out of the prompt.</a:t>
            </a:r>
            <a:endParaRPr lang="en-US" sz="1100" dirty="0"/>
          </a:p>
        </p:txBody>
      </p:sp>
      <p:sp>
        <p:nvSpPr>
          <p:cNvPr id="36" name="Text 28"/>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37" name="Text 29"/>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02920" y="347472"/>
            <a:ext cx="1115568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Why this matters now</a:t>
            </a:r>
            <a:endParaRPr lang="en-US" sz="3000" dirty="0"/>
          </a:p>
        </p:txBody>
      </p:sp>
      <p:sp>
        <p:nvSpPr>
          <p:cNvPr id="3" name="Text 1"/>
          <p:cNvSpPr txBox="1"/>
          <p:nvPr/>
        </p:nvSpPr>
        <p:spPr>
          <a:xfrm>
            <a:off x="502920" y="987552"/>
            <a:ext cx="11155680" cy="365760"/>
          </a:xfrm>
          <a:prstGeom prst="rect">
            <a:avLst/>
          </a:prstGeom>
          <a:noFill/>
          <a:ln/>
        </p:spPr>
        <p:txBody>
          <a:bodyPr wrap="square" lIns="0" tIns="0" rIns="0" bIns="0" rtlCol="0" anchor="ctr"/>
          <a:lstStyle/>
          <a:p>
            <a:pPr indent="0" marL="0">
              <a:buNone/>
            </a:pPr>
            <a:r>
              <a:rPr lang="en-US" sz="1400" dirty="0">
                <a:solidFill>
                  <a:srgbClr val="696969"/>
                </a:solidFill>
                <a:latin typeface="Calibri" pitchFamily="34" charset="0"/>
                <a:ea typeface="Calibri" pitchFamily="34" charset="-122"/>
                <a:cs typeface="Calibri" pitchFamily="34" charset="-120"/>
              </a:rPr>
              <a:t>The evidence on productivity is strong — for people who learn to use it well</a:t>
            </a:r>
            <a:endParaRPr lang="en-US" sz="1400" dirty="0"/>
          </a:p>
        </p:txBody>
      </p:sp>
      <p:sp>
        <p:nvSpPr>
          <p:cNvPr id="4" name="Shape 2"/>
          <p:cNvSpPr/>
          <p:nvPr/>
        </p:nvSpPr>
        <p:spPr>
          <a:xfrm>
            <a:off x="502920" y="1600200"/>
            <a:ext cx="3703320" cy="4160520"/>
          </a:xfrm>
          <a:prstGeom prst="roundRect">
            <a:avLst>
              <a:gd name="adj" fmla="val 1975"/>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685800" y="1874520"/>
            <a:ext cx="3337560" cy="914400"/>
          </a:xfrm>
          <a:prstGeom prst="rect">
            <a:avLst/>
          </a:prstGeom>
          <a:noFill/>
          <a:ln/>
        </p:spPr>
        <p:txBody>
          <a:bodyPr wrap="square" lIns="0" tIns="0" rIns="0" bIns="0" rtlCol="0" anchor="ctr"/>
          <a:lstStyle/>
          <a:p>
            <a:pPr algn="ctr" indent="0" marL="0">
              <a:buNone/>
            </a:pPr>
            <a:r>
              <a:rPr lang="en-US" sz="4400" b="1" dirty="0">
                <a:solidFill>
                  <a:srgbClr val="273370"/>
                </a:solidFill>
                <a:latin typeface="Calibri" pitchFamily="34" charset="0"/>
                <a:ea typeface="Calibri" pitchFamily="34" charset="-122"/>
                <a:cs typeface="Calibri" pitchFamily="34" charset="-120"/>
              </a:rPr>
              <a:t>~40%</a:t>
            </a:r>
            <a:endParaRPr lang="en-US" sz="4400" dirty="0"/>
          </a:p>
        </p:txBody>
      </p:sp>
      <p:sp>
        <p:nvSpPr>
          <p:cNvPr id="6" name="Text 4"/>
          <p:cNvSpPr txBox="1"/>
          <p:nvPr/>
        </p:nvSpPr>
        <p:spPr>
          <a:xfrm>
            <a:off x="685800" y="2743200"/>
            <a:ext cx="3337560" cy="365760"/>
          </a:xfrm>
          <a:prstGeom prst="rect">
            <a:avLst/>
          </a:prstGeom>
          <a:noFill/>
          <a:ln/>
        </p:spPr>
        <p:txBody>
          <a:bodyPr wrap="square" lIns="0" tIns="0" rIns="0" bIns="0" rtlCol="0" anchor="ctr"/>
          <a:lstStyle/>
          <a:p>
            <a:pPr algn="ctr" indent="0" marL="0">
              <a:buNone/>
            </a:pPr>
            <a:r>
              <a:rPr lang="en-US" sz="1500" b="1" dirty="0">
                <a:solidFill>
                  <a:srgbClr val="29BA74"/>
                </a:solidFill>
                <a:latin typeface="Calibri" pitchFamily="34" charset="0"/>
                <a:ea typeface="Calibri" pitchFamily="34" charset="-122"/>
                <a:cs typeface="Calibri" pitchFamily="34" charset="-120"/>
              </a:rPr>
              <a:t>faster</a:t>
            </a:r>
            <a:endParaRPr lang="en-US" sz="1500" dirty="0"/>
          </a:p>
        </p:txBody>
      </p:sp>
      <p:sp>
        <p:nvSpPr>
          <p:cNvPr id="7" name="Text 5"/>
          <p:cNvSpPr txBox="1"/>
          <p:nvPr/>
        </p:nvSpPr>
        <p:spPr>
          <a:xfrm>
            <a:off x="777240" y="3246120"/>
            <a:ext cx="3154680" cy="1737360"/>
          </a:xfrm>
          <a:prstGeom prst="rect">
            <a:avLst/>
          </a:prstGeom>
          <a:noFill/>
          <a:ln/>
        </p:spPr>
        <p:txBody>
          <a:bodyPr wrap="square" lIns="0" tIns="0" rIns="0" bIns="0" rtlCol="0" anchor="ctr"/>
          <a:lstStyle/>
          <a:p>
            <a:pPr indent="0" marL="0">
              <a:lnSpc>
                <a:spcPct val="112000"/>
              </a:lnSpc>
              <a:buNone/>
            </a:pPr>
            <a:r>
              <a:rPr lang="en-US" sz="1250" dirty="0">
                <a:solidFill>
                  <a:srgbClr val="22252B"/>
                </a:solidFill>
                <a:latin typeface="Calibri" pitchFamily="34" charset="0"/>
                <a:ea typeface="Calibri" pitchFamily="34" charset="-122"/>
                <a:cs typeface="Calibri" pitchFamily="34" charset="-120"/>
              </a:rPr>
              <a:t>Professionals completed mid-level writing tasks about 40% faster with ChatGPT, with output quality rated ~18% higher.</a:t>
            </a:r>
            <a:endParaRPr lang="en-US" sz="1250" dirty="0"/>
          </a:p>
        </p:txBody>
      </p:sp>
      <p:sp>
        <p:nvSpPr>
          <p:cNvPr id="8" name="Text 6"/>
          <p:cNvSpPr txBox="1"/>
          <p:nvPr/>
        </p:nvSpPr>
        <p:spPr>
          <a:xfrm>
            <a:off x="777240" y="5138928"/>
            <a:ext cx="3154680" cy="502920"/>
          </a:xfrm>
          <a:prstGeom prst="rect">
            <a:avLst/>
          </a:prstGeom>
          <a:noFill/>
          <a:ln/>
        </p:spPr>
        <p:txBody>
          <a:bodyPr wrap="square" lIns="0" tIns="0" rIns="0" bIns="0" rtlCol="0" anchor="ctr"/>
          <a:lstStyle/>
          <a:p>
            <a:pPr indent="0" marL="0">
              <a:buNone/>
            </a:pPr>
            <a:r>
              <a:rPr lang="en-US" sz="900" i="1" dirty="0">
                <a:solidFill>
                  <a:srgbClr val="696969"/>
                </a:solidFill>
                <a:latin typeface="Calibri" pitchFamily="34" charset="0"/>
                <a:ea typeface="Calibri" pitchFamily="34" charset="-122"/>
                <a:cs typeface="Calibri" pitchFamily="34" charset="-120"/>
              </a:rPr>
              <a:t>Source: Noy &amp; Zhang, Science (2023)</a:t>
            </a:r>
            <a:endParaRPr lang="en-US" sz="900" dirty="0"/>
          </a:p>
        </p:txBody>
      </p:sp>
      <p:sp>
        <p:nvSpPr>
          <p:cNvPr id="9" name="Shape 7"/>
          <p:cNvSpPr/>
          <p:nvPr/>
        </p:nvSpPr>
        <p:spPr>
          <a:xfrm>
            <a:off x="4453128" y="1600200"/>
            <a:ext cx="3703320" cy="4160520"/>
          </a:xfrm>
          <a:prstGeom prst="roundRect">
            <a:avLst>
              <a:gd name="adj" fmla="val 1975"/>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4636008" y="1874520"/>
            <a:ext cx="3337560" cy="914400"/>
          </a:xfrm>
          <a:prstGeom prst="rect">
            <a:avLst/>
          </a:prstGeom>
          <a:noFill/>
          <a:ln/>
        </p:spPr>
        <p:txBody>
          <a:bodyPr wrap="square" lIns="0" tIns="0" rIns="0" bIns="0" rtlCol="0" anchor="ctr"/>
          <a:lstStyle/>
          <a:p>
            <a:pPr algn="ctr" indent="0" marL="0">
              <a:buNone/>
            </a:pPr>
            <a:r>
              <a:rPr lang="en-US" sz="4400" b="1" dirty="0">
                <a:solidFill>
                  <a:srgbClr val="273370"/>
                </a:solidFill>
                <a:latin typeface="Calibri" pitchFamily="34" charset="0"/>
                <a:ea typeface="Calibri" pitchFamily="34" charset="-122"/>
                <a:cs typeface="Calibri" pitchFamily="34" charset="-120"/>
              </a:rPr>
              <a:t>+15%</a:t>
            </a:r>
            <a:endParaRPr lang="en-US" sz="4400" dirty="0"/>
          </a:p>
        </p:txBody>
      </p:sp>
      <p:sp>
        <p:nvSpPr>
          <p:cNvPr id="11" name="Text 9"/>
          <p:cNvSpPr txBox="1"/>
          <p:nvPr/>
        </p:nvSpPr>
        <p:spPr>
          <a:xfrm>
            <a:off x="4636008" y="2743200"/>
            <a:ext cx="3337560" cy="365760"/>
          </a:xfrm>
          <a:prstGeom prst="rect">
            <a:avLst/>
          </a:prstGeom>
          <a:noFill/>
          <a:ln/>
        </p:spPr>
        <p:txBody>
          <a:bodyPr wrap="square" lIns="0" tIns="0" rIns="0" bIns="0" rtlCol="0" anchor="ctr"/>
          <a:lstStyle/>
          <a:p>
            <a:pPr algn="ctr" indent="0" marL="0">
              <a:buNone/>
            </a:pPr>
            <a:r>
              <a:rPr lang="en-US" sz="1500" b="1" dirty="0">
                <a:solidFill>
                  <a:srgbClr val="29BA74"/>
                </a:solidFill>
                <a:latin typeface="Calibri" pitchFamily="34" charset="0"/>
                <a:ea typeface="Calibri" pitchFamily="34" charset="-122"/>
                <a:cs typeface="Calibri" pitchFamily="34" charset="-120"/>
              </a:rPr>
              <a:t>productivity</a:t>
            </a:r>
            <a:endParaRPr lang="en-US" sz="1500" dirty="0"/>
          </a:p>
        </p:txBody>
      </p:sp>
      <p:sp>
        <p:nvSpPr>
          <p:cNvPr id="12" name="Text 10"/>
          <p:cNvSpPr txBox="1"/>
          <p:nvPr/>
        </p:nvSpPr>
        <p:spPr>
          <a:xfrm>
            <a:off x="4727448" y="3246120"/>
            <a:ext cx="3154680" cy="1737360"/>
          </a:xfrm>
          <a:prstGeom prst="rect">
            <a:avLst/>
          </a:prstGeom>
          <a:noFill/>
          <a:ln/>
        </p:spPr>
        <p:txBody>
          <a:bodyPr wrap="square" lIns="0" tIns="0" rIns="0" bIns="0" rtlCol="0" anchor="ctr"/>
          <a:lstStyle/>
          <a:p>
            <a:pPr indent="0" marL="0">
              <a:lnSpc>
                <a:spcPct val="112000"/>
              </a:lnSpc>
              <a:buNone/>
            </a:pPr>
            <a:r>
              <a:rPr lang="en-US" sz="1250" dirty="0">
                <a:solidFill>
                  <a:srgbClr val="22252B"/>
                </a:solidFill>
                <a:latin typeface="Calibri" pitchFamily="34" charset="0"/>
                <a:ea typeface="Calibri" pitchFamily="34" charset="-122"/>
                <a:cs typeface="Calibri" pitchFamily="34" charset="-120"/>
              </a:rPr>
              <a:t>Customer-support agents using an AI assistant resolved ~15% more issues per hour — with the largest gains for less-experienced staff.</a:t>
            </a:r>
            <a:endParaRPr lang="en-US" sz="1250" dirty="0"/>
          </a:p>
        </p:txBody>
      </p:sp>
      <p:sp>
        <p:nvSpPr>
          <p:cNvPr id="13" name="Text 11"/>
          <p:cNvSpPr txBox="1"/>
          <p:nvPr/>
        </p:nvSpPr>
        <p:spPr>
          <a:xfrm>
            <a:off x="4727448" y="5138928"/>
            <a:ext cx="3154680" cy="502920"/>
          </a:xfrm>
          <a:prstGeom prst="rect">
            <a:avLst/>
          </a:prstGeom>
          <a:noFill/>
          <a:ln/>
        </p:spPr>
        <p:txBody>
          <a:bodyPr wrap="square" lIns="0" tIns="0" rIns="0" bIns="0" rtlCol="0" anchor="ctr"/>
          <a:lstStyle/>
          <a:p>
            <a:pPr indent="0" marL="0">
              <a:buNone/>
            </a:pPr>
            <a:r>
              <a:rPr lang="en-US" sz="900" i="1" dirty="0">
                <a:solidFill>
                  <a:srgbClr val="696969"/>
                </a:solidFill>
                <a:latin typeface="Calibri" pitchFamily="34" charset="0"/>
                <a:ea typeface="Calibri" pitchFamily="34" charset="-122"/>
                <a:cs typeface="Calibri" pitchFamily="34" charset="-120"/>
              </a:rPr>
              <a:t>Source: Brynjolfsson, Li &amp; Raymond, QJE (2025)</a:t>
            </a:r>
            <a:endParaRPr lang="en-US" sz="900" dirty="0"/>
          </a:p>
        </p:txBody>
      </p:sp>
      <p:sp>
        <p:nvSpPr>
          <p:cNvPr id="14" name="Shape 12"/>
          <p:cNvSpPr/>
          <p:nvPr/>
        </p:nvSpPr>
        <p:spPr>
          <a:xfrm>
            <a:off x="8403336" y="1600200"/>
            <a:ext cx="3703320" cy="4160520"/>
          </a:xfrm>
          <a:prstGeom prst="roundRect">
            <a:avLst>
              <a:gd name="adj" fmla="val 1975"/>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5" name="Text 13"/>
          <p:cNvSpPr txBox="1"/>
          <p:nvPr/>
        </p:nvSpPr>
        <p:spPr>
          <a:xfrm>
            <a:off x="8586216" y="1874520"/>
            <a:ext cx="3337560" cy="914400"/>
          </a:xfrm>
          <a:prstGeom prst="rect">
            <a:avLst/>
          </a:prstGeom>
          <a:noFill/>
          <a:ln/>
        </p:spPr>
        <p:txBody>
          <a:bodyPr wrap="square" lIns="0" tIns="0" rIns="0" bIns="0" rtlCol="0" anchor="ctr"/>
          <a:lstStyle/>
          <a:p>
            <a:pPr algn="ctr" indent="0" marL="0">
              <a:buNone/>
            </a:pPr>
            <a:r>
              <a:rPr lang="en-US" sz="4400" b="1" dirty="0">
                <a:solidFill>
                  <a:srgbClr val="273370"/>
                </a:solidFill>
                <a:latin typeface="Calibri" pitchFamily="34" charset="0"/>
                <a:ea typeface="Calibri" pitchFamily="34" charset="-122"/>
                <a:cs typeface="Calibri" pitchFamily="34" charset="-120"/>
              </a:rPr>
              <a:t>$2.6–4.4T</a:t>
            </a:r>
            <a:endParaRPr lang="en-US" sz="4400" dirty="0"/>
          </a:p>
        </p:txBody>
      </p:sp>
      <p:sp>
        <p:nvSpPr>
          <p:cNvPr id="16" name="Text 14"/>
          <p:cNvSpPr txBox="1"/>
          <p:nvPr/>
        </p:nvSpPr>
        <p:spPr>
          <a:xfrm>
            <a:off x="8586216" y="2743200"/>
            <a:ext cx="3337560" cy="365760"/>
          </a:xfrm>
          <a:prstGeom prst="rect">
            <a:avLst/>
          </a:prstGeom>
          <a:noFill/>
          <a:ln/>
        </p:spPr>
        <p:txBody>
          <a:bodyPr wrap="square" lIns="0" tIns="0" rIns="0" bIns="0" rtlCol="0" anchor="ctr"/>
          <a:lstStyle/>
          <a:p>
            <a:pPr algn="ctr" indent="0" marL="0">
              <a:buNone/>
            </a:pPr>
            <a:r>
              <a:rPr lang="en-US" sz="1500" b="1" dirty="0">
                <a:solidFill>
                  <a:srgbClr val="29BA74"/>
                </a:solidFill>
                <a:latin typeface="Calibri" pitchFamily="34" charset="0"/>
                <a:ea typeface="Calibri" pitchFamily="34" charset="-122"/>
                <a:cs typeface="Calibri" pitchFamily="34" charset="-120"/>
              </a:rPr>
              <a:t>per year</a:t>
            </a:r>
            <a:endParaRPr lang="en-US" sz="1500" dirty="0"/>
          </a:p>
        </p:txBody>
      </p:sp>
      <p:sp>
        <p:nvSpPr>
          <p:cNvPr id="17" name="Text 15"/>
          <p:cNvSpPr txBox="1"/>
          <p:nvPr/>
        </p:nvSpPr>
        <p:spPr>
          <a:xfrm>
            <a:off x="8677656" y="3246120"/>
            <a:ext cx="3154680" cy="1737360"/>
          </a:xfrm>
          <a:prstGeom prst="rect">
            <a:avLst/>
          </a:prstGeom>
          <a:noFill/>
          <a:ln/>
        </p:spPr>
        <p:txBody>
          <a:bodyPr wrap="square" lIns="0" tIns="0" rIns="0" bIns="0" rtlCol="0" anchor="ctr"/>
          <a:lstStyle/>
          <a:p>
            <a:pPr indent="0" marL="0">
              <a:lnSpc>
                <a:spcPct val="112000"/>
              </a:lnSpc>
              <a:buNone/>
            </a:pPr>
            <a:r>
              <a:rPr lang="en-US" sz="1250" dirty="0">
                <a:solidFill>
                  <a:srgbClr val="22252B"/>
                </a:solidFill>
                <a:latin typeface="Calibri" pitchFamily="34" charset="0"/>
                <a:ea typeface="Calibri" pitchFamily="34" charset="-122"/>
                <a:cs typeface="Calibri" pitchFamily="34" charset="-120"/>
              </a:rPr>
              <a:t>Estimated potential annual value that generative AI could add to the global economy across business use cases.</a:t>
            </a:r>
            <a:endParaRPr lang="en-US" sz="1250" dirty="0"/>
          </a:p>
        </p:txBody>
      </p:sp>
      <p:sp>
        <p:nvSpPr>
          <p:cNvPr id="18" name="Text 16"/>
          <p:cNvSpPr txBox="1"/>
          <p:nvPr/>
        </p:nvSpPr>
        <p:spPr>
          <a:xfrm>
            <a:off x="8677656" y="5138928"/>
            <a:ext cx="3154680" cy="502920"/>
          </a:xfrm>
          <a:prstGeom prst="rect">
            <a:avLst/>
          </a:prstGeom>
          <a:noFill/>
          <a:ln/>
        </p:spPr>
        <p:txBody>
          <a:bodyPr wrap="square" lIns="0" tIns="0" rIns="0" bIns="0" rtlCol="0" anchor="ctr"/>
          <a:lstStyle/>
          <a:p>
            <a:pPr indent="0" marL="0">
              <a:buNone/>
            </a:pPr>
            <a:r>
              <a:rPr lang="en-US" sz="900" i="1" dirty="0">
                <a:solidFill>
                  <a:srgbClr val="696969"/>
                </a:solidFill>
                <a:latin typeface="Calibri" pitchFamily="34" charset="0"/>
                <a:ea typeface="Calibri" pitchFamily="34" charset="-122"/>
                <a:cs typeface="Calibri" pitchFamily="34" charset="-120"/>
              </a:rPr>
              <a:t>Source: McKinsey &amp; Company (2023)</a:t>
            </a:r>
            <a:endParaRPr lang="en-US" sz="900" dirty="0"/>
          </a:p>
        </p:txBody>
      </p:sp>
      <p:sp>
        <p:nvSpPr>
          <p:cNvPr id="19" name="Text 17"/>
          <p:cNvSpPr txBox="1"/>
          <p:nvPr/>
        </p:nvSpPr>
        <p:spPr>
          <a:xfrm>
            <a:off x="502920" y="5989320"/>
            <a:ext cx="10972800" cy="320040"/>
          </a:xfrm>
          <a:prstGeom prst="rect">
            <a:avLst/>
          </a:prstGeom>
          <a:noFill/>
          <a:ln/>
        </p:spPr>
        <p:txBody>
          <a:bodyPr wrap="square" lIns="0" tIns="0" rIns="0" bIns="0" rtlCol="0" anchor="ctr"/>
          <a:lstStyle/>
          <a:p>
            <a:pPr indent="0" marL="0">
              <a:buNone/>
            </a:pPr>
            <a:r>
              <a:rPr lang="en-US" sz="1100" i="1" dirty="0">
                <a:solidFill>
                  <a:srgbClr val="696969"/>
                </a:solidFill>
                <a:latin typeface="Calibri" pitchFamily="34" charset="0"/>
                <a:ea typeface="Calibri" pitchFamily="34" charset="-122"/>
                <a:cs typeface="Calibri" pitchFamily="34" charset="-120"/>
              </a:rPr>
              <a:t>Note: gains depend on the task and the user — which is exactly why prompting and verification skills matter.</a:t>
            </a:r>
            <a:endParaRPr lang="en-US" sz="1100" dirty="0"/>
          </a:p>
        </p:txBody>
      </p:sp>
      <p:sp>
        <p:nvSpPr>
          <p:cNvPr id="20" name="Text 18"/>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21" name="Text 19"/>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The tools you will meet this week</a:t>
            </a:r>
            <a:endParaRPr lang="en-US" sz="3000" dirty="0"/>
          </a:p>
        </p:txBody>
      </p:sp>
      <p:sp>
        <p:nvSpPr>
          <p:cNvPr id="3" name="Shape 1"/>
          <p:cNvSpPr/>
          <p:nvPr/>
        </p:nvSpPr>
        <p:spPr>
          <a:xfrm>
            <a:off x="10565892" y="457200"/>
            <a:ext cx="1120140" cy="384048"/>
          </a:xfrm>
          <a:prstGeom prst="roundRect">
            <a:avLst>
              <a:gd name="adj" fmla="val 50000"/>
            </a:avLst>
          </a:prstGeom>
          <a:solidFill>
            <a:srgbClr val="94A0DA"/>
          </a:solidFill>
          <a:ln/>
        </p:spPr>
      </p:sp>
      <p:sp>
        <p:nvSpPr>
          <p:cNvPr id="4" name="Text 2"/>
          <p:cNvSpPr txBox="1"/>
          <p:nvPr/>
        </p:nvSpPr>
        <p:spPr>
          <a:xfrm>
            <a:off x="10565892" y="457200"/>
            <a:ext cx="11201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CONCEPT</a:t>
            </a:r>
            <a:endParaRPr lang="en-US" sz="1200" dirty="0"/>
          </a:p>
        </p:txBody>
      </p:sp>
      <p:sp>
        <p:nvSpPr>
          <p:cNvPr id="5" name="Shape 3"/>
          <p:cNvSpPr/>
          <p:nvPr/>
        </p:nvSpPr>
        <p:spPr>
          <a:xfrm>
            <a:off x="502920" y="1463040"/>
            <a:ext cx="5440680" cy="2148840"/>
          </a:xfrm>
          <a:prstGeom prst="roundRect">
            <a:avLst>
              <a:gd name="adj" fmla="val 3404"/>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502920" y="1463040"/>
            <a:ext cx="5440680" cy="420624"/>
          </a:xfrm>
          <a:prstGeom prst="roundRect">
            <a:avLst>
              <a:gd name="adj" fmla="val 17391"/>
            </a:avLst>
          </a:prstGeom>
          <a:solidFill>
            <a:srgbClr val="29BA74"/>
          </a:solidFill>
          <a:ln/>
        </p:spPr>
      </p:sp>
      <p:sp>
        <p:nvSpPr>
          <p:cNvPr id="7" name="Shape 5"/>
          <p:cNvSpPr/>
          <p:nvPr/>
        </p:nvSpPr>
        <p:spPr>
          <a:xfrm>
            <a:off x="502920" y="1673352"/>
            <a:ext cx="5440680" cy="210312"/>
          </a:xfrm>
          <a:prstGeom prst="rect">
            <a:avLst/>
          </a:prstGeom>
          <a:solidFill>
            <a:srgbClr val="29BA74"/>
          </a:solidFill>
          <a:ln/>
        </p:spPr>
      </p:sp>
      <p:sp>
        <p:nvSpPr>
          <p:cNvPr id="8" name="Text 6"/>
          <p:cNvSpPr txBox="1"/>
          <p:nvPr/>
        </p:nvSpPr>
        <p:spPr>
          <a:xfrm>
            <a:off x="640080" y="1463040"/>
            <a:ext cx="516636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ChatGPT</a:t>
            </a:r>
            <a:endParaRPr lang="en-US" sz="1400" dirty="0"/>
          </a:p>
        </p:txBody>
      </p:sp>
      <p:sp>
        <p:nvSpPr>
          <p:cNvPr id="9" name="Text 7"/>
          <p:cNvSpPr txBox="1"/>
          <p:nvPr/>
        </p:nvSpPr>
        <p:spPr>
          <a:xfrm>
            <a:off x="731520" y="2029968"/>
            <a:ext cx="4983480" cy="1463040"/>
          </a:xfrm>
          <a:prstGeom prst="rect">
            <a:avLst/>
          </a:prstGeom>
          <a:noFill/>
          <a:ln/>
        </p:spPr>
        <p:txBody>
          <a:bodyPr wrap="square" lIns="0" tIns="0" rIns="0" bIns="0" rtlCol="0" anchor="ctr"/>
          <a:lstStyle/>
          <a:p>
            <a:pPr indent="0" marL="0">
              <a:lnSpc>
                <a:spcPct val="112000"/>
              </a:lnSpc>
              <a:buNone/>
            </a:pPr>
            <a:r>
              <a:rPr lang="en-US" sz="1250" dirty="0">
                <a:solidFill>
                  <a:srgbClr val="22252B"/>
                </a:solidFill>
                <a:latin typeface="Calibri" pitchFamily="34" charset="0"/>
                <a:ea typeface="Calibri" pitchFamily="34" charset="-122"/>
                <a:cs typeface="Calibri" pitchFamily="34" charset="-120"/>
              </a:rPr>
              <a:t>OpenAI's general-purpose assistant. Excellent all-rounder for drafting, rewriting, brainstorming and analysis. Works standalone in the browser or app — independent of your office suite.</a:t>
            </a:r>
            <a:endParaRPr lang="en-US" sz="1250" dirty="0"/>
          </a:p>
        </p:txBody>
      </p:sp>
      <p:sp>
        <p:nvSpPr>
          <p:cNvPr id="10" name="Shape 8"/>
          <p:cNvSpPr/>
          <p:nvPr/>
        </p:nvSpPr>
        <p:spPr>
          <a:xfrm>
            <a:off x="6217920" y="1463040"/>
            <a:ext cx="5440680" cy="2148840"/>
          </a:xfrm>
          <a:prstGeom prst="roundRect">
            <a:avLst>
              <a:gd name="adj" fmla="val 3404"/>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1" name="Shape 9"/>
          <p:cNvSpPr/>
          <p:nvPr/>
        </p:nvSpPr>
        <p:spPr>
          <a:xfrm>
            <a:off x="6217920" y="1463040"/>
            <a:ext cx="5440680" cy="420624"/>
          </a:xfrm>
          <a:prstGeom prst="roundRect">
            <a:avLst>
              <a:gd name="adj" fmla="val 17391"/>
            </a:avLst>
          </a:prstGeom>
          <a:solidFill>
            <a:srgbClr val="273370"/>
          </a:solidFill>
          <a:ln/>
        </p:spPr>
      </p:sp>
      <p:sp>
        <p:nvSpPr>
          <p:cNvPr id="12" name="Shape 10"/>
          <p:cNvSpPr/>
          <p:nvPr/>
        </p:nvSpPr>
        <p:spPr>
          <a:xfrm>
            <a:off x="6217920" y="1673352"/>
            <a:ext cx="5440680" cy="210312"/>
          </a:xfrm>
          <a:prstGeom prst="rect">
            <a:avLst/>
          </a:prstGeom>
          <a:solidFill>
            <a:srgbClr val="273370"/>
          </a:solidFill>
          <a:ln/>
        </p:spPr>
      </p:sp>
      <p:sp>
        <p:nvSpPr>
          <p:cNvPr id="13" name="Text 11"/>
          <p:cNvSpPr txBox="1"/>
          <p:nvPr/>
        </p:nvSpPr>
        <p:spPr>
          <a:xfrm>
            <a:off x="6355080" y="1463040"/>
            <a:ext cx="516636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Microsoft Copilot</a:t>
            </a:r>
            <a:endParaRPr lang="en-US" sz="1400" dirty="0"/>
          </a:p>
        </p:txBody>
      </p:sp>
      <p:sp>
        <p:nvSpPr>
          <p:cNvPr id="14" name="Text 12"/>
          <p:cNvSpPr txBox="1"/>
          <p:nvPr/>
        </p:nvSpPr>
        <p:spPr>
          <a:xfrm>
            <a:off x="6446520" y="2029968"/>
            <a:ext cx="4983480" cy="1463040"/>
          </a:xfrm>
          <a:prstGeom prst="rect">
            <a:avLst/>
          </a:prstGeom>
          <a:noFill/>
          <a:ln/>
        </p:spPr>
        <p:txBody>
          <a:bodyPr wrap="square" lIns="0" tIns="0" rIns="0" bIns="0" rtlCol="0" anchor="ctr"/>
          <a:lstStyle/>
          <a:p>
            <a:pPr indent="0" marL="0">
              <a:lnSpc>
                <a:spcPct val="112000"/>
              </a:lnSpc>
              <a:buNone/>
            </a:pPr>
            <a:r>
              <a:rPr lang="en-US" sz="1250" dirty="0">
                <a:solidFill>
                  <a:srgbClr val="22252B"/>
                </a:solidFill>
                <a:latin typeface="Calibri" pitchFamily="34" charset="0"/>
                <a:ea typeface="Calibri" pitchFamily="34" charset="-122"/>
                <a:cs typeface="Calibri" pitchFamily="34" charset="-120"/>
              </a:rPr>
              <a:t>Microsoft's assistant, embedded in Word, Excel, Outlook, PowerPoint and Teams. Its strength: it can work directly with your organisation's files, emails and meetings — within your permissions.</a:t>
            </a:r>
            <a:endParaRPr lang="en-US" sz="1250" dirty="0"/>
          </a:p>
        </p:txBody>
      </p:sp>
      <p:sp>
        <p:nvSpPr>
          <p:cNvPr id="15" name="Shape 13"/>
          <p:cNvSpPr/>
          <p:nvPr/>
        </p:nvSpPr>
        <p:spPr>
          <a:xfrm>
            <a:off x="502920" y="3840480"/>
            <a:ext cx="5440680" cy="2148840"/>
          </a:xfrm>
          <a:prstGeom prst="roundRect">
            <a:avLst>
              <a:gd name="adj" fmla="val 3404"/>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6" name="Shape 14"/>
          <p:cNvSpPr/>
          <p:nvPr/>
        </p:nvSpPr>
        <p:spPr>
          <a:xfrm>
            <a:off x="502920" y="3840480"/>
            <a:ext cx="5440680" cy="420624"/>
          </a:xfrm>
          <a:prstGeom prst="roundRect">
            <a:avLst>
              <a:gd name="adj" fmla="val 17391"/>
            </a:avLst>
          </a:prstGeom>
          <a:solidFill>
            <a:srgbClr val="67CCFF"/>
          </a:solidFill>
          <a:ln/>
        </p:spPr>
      </p:sp>
      <p:sp>
        <p:nvSpPr>
          <p:cNvPr id="17" name="Shape 15"/>
          <p:cNvSpPr/>
          <p:nvPr/>
        </p:nvSpPr>
        <p:spPr>
          <a:xfrm>
            <a:off x="502920" y="4050792"/>
            <a:ext cx="5440680" cy="210312"/>
          </a:xfrm>
          <a:prstGeom prst="rect">
            <a:avLst/>
          </a:prstGeom>
          <a:solidFill>
            <a:srgbClr val="67CCFF"/>
          </a:solidFill>
          <a:ln/>
        </p:spPr>
      </p:sp>
      <p:sp>
        <p:nvSpPr>
          <p:cNvPr id="18" name="Text 16"/>
          <p:cNvSpPr txBox="1"/>
          <p:nvPr/>
        </p:nvSpPr>
        <p:spPr>
          <a:xfrm>
            <a:off x="640080" y="3840480"/>
            <a:ext cx="516636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Google Gemini</a:t>
            </a:r>
            <a:endParaRPr lang="en-US" sz="1400" dirty="0"/>
          </a:p>
        </p:txBody>
      </p:sp>
      <p:sp>
        <p:nvSpPr>
          <p:cNvPr id="19" name="Text 17"/>
          <p:cNvSpPr txBox="1"/>
          <p:nvPr/>
        </p:nvSpPr>
        <p:spPr>
          <a:xfrm>
            <a:off x="731520" y="4407408"/>
            <a:ext cx="4983480" cy="1463040"/>
          </a:xfrm>
          <a:prstGeom prst="rect">
            <a:avLst/>
          </a:prstGeom>
          <a:noFill/>
          <a:ln/>
        </p:spPr>
        <p:txBody>
          <a:bodyPr wrap="square" lIns="0" tIns="0" rIns="0" bIns="0" rtlCol="0" anchor="ctr"/>
          <a:lstStyle/>
          <a:p>
            <a:pPr indent="0" marL="0">
              <a:lnSpc>
                <a:spcPct val="112000"/>
              </a:lnSpc>
              <a:buNone/>
            </a:pPr>
            <a:r>
              <a:rPr lang="en-US" sz="1250" dirty="0">
                <a:solidFill>
                  <a:srgbClr val="22252B"/>
                </a:solidFill>
                <a:latin typeface="Calibri" pitchFamily="34" charset="0"/>
                <a:ea typeface="Calibri" pitchFamily="34" charset="-122"/>
                <a:cs typeface="Calibri" pitchFamily="34" charset="-120"/>
              </a:rPr>
              <a:t>Google's assistant, standalone and inside Google Workspace (Gmail, Docs, Sheets). Strong with long documents and research-style tasks; included in many Workspace plans.</a:t>
            </a:r>
            <a:endParaRPr lang="en-US" sz="1250" dirty="0"/>
          </a:p>
        </p:txBody>
      </p:sp>
      <p:sp>
        <p:nvSpPr>
          <p:cNvPr id="20" name="Shape 18"/>
          <p:cNvSpPr/>
          <p:nvPr/>
        </p:nvSpPr>
        <p:spPr>
          <a:xfrm>
            <a:off x="6217920" y="3840480"/>
            <a:ext cx="5440680" cy="2148840"/>
          </a:xfrm>
          <a:prstGeom prst="roundRect">
            <a:avLst>
              <a:gd name="adj" fmla="val 3404"/>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21" name="Shape 19"/>
          <p:cNvSpPr/>
          <p:nvPr/>
        </p:nvSpPr>
        <p:spPr>
          <a:xfrm>
            <a:off x="6217920" y="3840480"/>
            <a:ext cx="5440680" cy="420624"/>
          </a:xfrm>
          <a:prstGeom prst="roundRect">
            <a:avLst>
              <a:gd name="adj" fmla="val 17391"/>
            </a:avLst>
          </a:prstGeom>
          <a:solidFill>
            <a:srgbClr val="6258A6"/>
          </a:solidFill>
          <a:ln/>
        </p:spPr>
      </p:sp>
      <p:sp>
        <p:nvSpPr>
          <p:cNvPr id="22" name="Shape 20"/>
          <p:cNvSpPr/>
          <p:nvPr/>
        </p:nvSpPr>
        <p:spPr>
          <a:xfrm>
            <a:off x="6217920" y="4050792"/>
            <a:ext cx="5440680" cy="210312"/>
          </a:xfrm>
          <a:prstGeom prst="rect">
            <a:avLst/>
          </a:prstGeom>
          <a:solidFill>
            <a:srgbClr val="6258A6"/>
          </a:solidFill>
          <a:ln/>
        </p:spPr>
      </p:sp>
      <p:sp>
        <p:nvSpPr>
          <p:cNvPr id="23" name="Text 21"/>
          <p:cNvSpPr txBox="1"/>
          <p:nvPr/>
        </p:nvSpPr>
        <p:spPr>
          <a:xfrm>
            <a:off x="6355080" y="3840480"/>
            <a:ext cx="516636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Microsoft 365 AI features</a:t>
            </a:r>
            <a:endParaRPr lang="en-US" sz="1400" dirty="0"/>
          </a:p>
        </p:txBody>
      </p:sp>
      <p:sp>
        <p:nvSpPr>
          <p:cNvPr id="24" name="Text 22"/>
          <p:cNvSpPr txBox="1"/>
          <p:nvPr/>
        </p:nvSpPr>
        <p:spPr>
          <a:xfrm>
            <a:off x="6446520" y="4407408"/>
            <a:ext cx="4983480" cy="1463040"/>
          </a:xfrm>
          <a:prstGeom prst="rect">
            <a:avLst/>
          </a:prstGeom>
          <a:noFill/>
          <a:ln/>
        </p:spPr>
        <p:txBody>
          <a:bodyPr wrap="square" lIns="0" tIns="0" rIns="0" bIns="0" rtlCol="0" anchor="ctr"/>
          <a:lstStyle/>
          <a:p>
            <a:pPr indent="0" marL="0">
              <a:lnSpc>
                <a:spcPct val="112000"/>
              </a:lnSpc>
              <a:buNone/>
            </a:pPr>
            <a:r>
              <a:rPr lang="en-US" sz="1250" dirty="0">
                <a:solidFill>
                  <a:srgbClr val="22252B"/>
                </a:solidFill>
                <a:latin typeface="Calibri" pitchFamily="34" charset="0"/>
                <a:ea typeface="Calibri" pitchFamily="34" charset="-122"/>
                <a:cs typeface="Calibri" pitchFamily="34" charset="-120"/>
              </a:rPr>
              <a:t>AI woven into everyday M365: meeting recaps in Teams, drafting in Outlook, formula help and analysis in Excel, designer suggestions in PowerPoint.</a:t>
            </a:r>
            <a:endParaRPr lang="en-US" sz="1250" dirty="0"/>
          </a:p>
        </p:txBody>
      </p:sp>
      <p:sp>
        <p:nvSpPr>
          <p:cNvPr id="25" name="Text 23"/>
          <p:cNvSpPr txBox="1"/>
          <p:nvPr/>
        </p:nvSpPr>
        <p:spPr>
          <a:xfrm>
            <a:off x="502920" y="6035040"/>
            <a:ext cx="11155680" cy="320040"/>
          </a:xfrm>
          <a:prstGeom prst="rect">
            <a:avLst/>
          </a:prstGeom>
          <a:noFill/>
          <a:ln/>
        </p:spPr>
        <p:txBody>
          <a:bodyPr wrap="square" lIns="0" tIns="0" rIns="0" bIns="0" rtlCol="0" anchor="ctr"/>
          <a:lstStyle/>
          <a:p>
            <a:pPr indent="0" marL="0">
              <a:buNone/>
            </a:pPr>
            <a:r>
              <a:rPr lang="en-US" sz="950" i="1" dirty="0">
                <a:solidFill>
                  <a:srgbClr val="696969"/>
                </a:solidFill>
                <a:latin typeface="Calibri" pitchFamily="34" charset="0"/>
                <a:ea typeface="Calibri" pitchFamily="34" charset="-122"/>
                <a:cs typeface="Calibri" pitchFamily="34" charset="-120"/>
              </a:rPr>
              <a:t>Product capabilities and licensing change frequently — always check your organisation's current, approved setup. Sources: Microsoft, OpenAI and Google product documentation (2026).</a:t>
            </a:r>
            <a:endParaRPr lang="en-US" sz="950" dirty="0"/>
          </a:p>
        </p:txBody>
      </p:sp>
      <p:sp>
        <p:nvSpPr>
          <p:cNvPr id="26" name="Text 24"/>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27" name="Text 25"/>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02920" y="347472"/>
            <a:ext cx="1115568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Which tool for which job?</a:t>
            </a:r>
            <a:endParaRPr lang="en-US" sz="3000" dirty="0"/>
          </a:p>
        </p:txBody>
      </p:sp>
      <p:sp>
        <p:nvSpPr>
          <p:cNvPr id="3" name="Text 1"/>
          <p:cNvSpPr txBox="1"/>
          <p:nvPr/>
        </p:nvSpPr>
        <p:spPr>
          <a:xfrm>
            <a:off x="502920" y="987552"/>
            <a:ext cx="11155680" cy="365760"/>
          </a:xfrm>
          <a:prstGeom prst="rect">
            <a:avLst/>
          </a:prstGeom>
          <a:noFill/>
          <a:ln/>
        </p:spPr>
        <p:txBody>
          <a:bodyPr wrap="square" lIns="0" tIns="0" rIns="0" bIns="0" rtlCol="0" anchor="ctr"/>
          <a:lstStyle/>
          <a:p>
            <a:pPr indent="0" marL="0">
              <a:buNone/>
            </a:pPr>
            <a:r>
              <a:rPr lang="en-US" sz="1400" dirty="0">
                <a:solidFill>
                  <a:srgbClr val="696969"/>
                </a:solidFill>
                <a:latin typeface="Calibri" pitchFamily="34" charset="0"/>
                <a:ea typeface="Calibri" pitchFamily="34" charset="-122"/>
                <a:cs typeface="Calibri" pitchFamily="34" charset="-120"/>
              </a:rPr>
              <a:t>A practical rule of thumb — not a strict rule</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1508760"/>
          <a:ext cx="11155680" cy="914400"/>
        </p:xfrm>
        <a:graphic>
          <a:graphicData uri="http://schemas.openxmlformats.org/drawingml/2006/table">
            <a:tbl>
              <a:tblPr/>
              <a:tblGrid>
                <a:gridCol w="4206240"/>
                <a:gridCol w="2834640"/>
                <a:gridCol w="4114800"/>
              </a:tblGrid>
              <a:tr h="5669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Task</a:t>
                      </a:r>
                      <a:endParaRPr lang="en-US" sz="1200" dirty="0">
                        <a:latin typeface="Calibri" charset="0"/>
                        <a:ea typeface="Calibri" charset="0"/>
                        <a:cs typeface="Calibri" charset="0"/>
                      </a:endParaRPr>
                    </a:p>
                  </a:txBody>
                  <a:tcPr marL="64008" marR="64008" marT="64008" marB="64008"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27337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Good default</a:t>
                      </a:r>
                      <a:endParaRPr lang="en-US" sz="1200" dirty="0">
                        <a:latin typeface="Calibri" charset="0"/>
                        <a:ea typeface="Calibri" charset="0"/>
                        <a:cs typeface="Calibri" charset="0"/>
                      </a:endParaRPr>
                    </a:p>
                  </a:txBody>
                  <a:tcPr marL="64008" marR="64008" marT="64008" marB="64008"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27337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Why</a:t>
                      </a:r>
                      <a:endParaRPr lang="en-US" sz="1200" dirty="0">
                        <a:latin typeface="Calibri" charset="0"/>
                        <a:ea typeface="Calibri" charset="0"/>
                        <a:cs typeface="Calibri" charset="0"/>
                      </a:endParaRPr>
                    </a:p>
                  </a:txBody>
                  <a:tcPr marL="64008" marR="64008" marT="64008" marB="64008"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273370"/>
                    </a:solidFill>
                  </a:tcPr>
                </a:tc>
              </a:tr>
              <a:tr h="566928">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Draft or rewrite an email you will send from Outlook</a:t>
                      </a:r>
                      <a:endParaRPr lang="en-US" sz="1200" dirty="0">
                        <a:latin typeface="Calibri" charset="0"/>
                        <a:ea typeface="Calibri" charset="0"/>
                        <a:cs typeface="Calibri" charset="0"/>
                      </a:endParaRPr>
                    </a:p>
                  </a:txBody>
                  <a:tcPr marL="64008" marR="64008" marT="64008" marB="64008"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Copilot in Outlook</a:t>
                      </a:r>
                      <a:endParaRPr lang="en-US" sz="1200" dirty="0">
                        <a:latin typeface="Calibri" charset="0"/>
                        <a:ea typeface="Calibri" charset="0"/>
                        <a:cs typeface="Calibri" charset="0"/>
                      </a:endParaRPr>
                    </a:p>
                  </a:txBody>
                  <a:tcPr marL="64008" marR="64008" marT="64008" marB="64008"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Works where the email already is; keeps content inside your tenant</a:t>
                      </a:r>
                      <a:endParaRPr lang="en-US" sz="1200" dirty="0">
                        <a:latin typeface="Calibri" charset="0"/>
                        <a:ea typeface="Calibri" charset="0"/>
                        <a:cs typeface="Calibri" charset="0"/>
                      </a:endParaRPr>
                    </a:p>
                  </a:txBody>
                  <a:tcPr marL="64008" marR="64008" marT="64008" marB="64008"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r>
              <a:tr h="566928">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Summarise a Word document or a Teams meeting</a:t>
                      </a:r>
                      <a:endParaRPr lang="en-US" sz="1200" dirty="0">
                        <a:latin typeface="Calibri" charset="0"/>
                        <a:ea typeface="Calibri" charset="0"/>
                        <a:cs typeface="Calibri" charset="0"/>
                      </a:endParaRPr>
                    </a:p>
                  </a:txBody>
                  <a:tcPr marL="64008" marR="64008" marT="64008" marB="64008"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Copilot in Word / Teams</a:t>
                      </a:r>
                      <a:endParaRPr lang="en-US" sz="1200" dirty="0">
                        <a:latin typeface="Calibri" charset="0"/>
                        <a:ea typeface="Calibri" charset="0"/>
                        <a:cs typeface="Calibri" charset="0"/>
                      </a:endParaRPr>
                    </a:p>
                  </a:txBody>
                  <a:tcPr marL="64008" marR="64008" marT="64008" marB="64008"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Direct access to the file or transcript — no copy-paste</a:t>
                      </a:r>
                      <a:endParaRPr lang="en-US" sz="1200" dirty="0">
                        <a:latin typeface="Calibri" charset="0"/>
                        <a:ea typeface="Calibri" charset="0"/>
                        <a:cs typeface="Calibri" charset="0"/>
                      </a:endParaRPr>
                    </a:p>
                  </a:txBody>
                  <a:tcPr marL="64008" marR="64008" marT="64008" marB="64008"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r>
              <a:tr h="566928">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General drafting, brainstorming, rewriting, translation</a:t>
                      </a:r>
                      <a:endParaRPr lang="en-US" sz="1200" dirty="0">
                        <a:latin typeface="Calibri" charset="0"/>
                        <a:ea typeface="Calibri" charset="0"/>
                        <a:cs typeface="Calibri" charset="0"/>
                      </a:endParaRPr>
                    </a:p>
                  </a:txBody>
                  <a:tcPr marL="64008" marR="64008" marT="64008" marB="64008"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ChatGPT or Gemini</a:t>
                      </a:r>
                      <a:endParaRPr lang="en-US" sz="1200" dirty="0">
                        <a:latin typeface="Calibri" charset="0"/>
                        <a:ea typeface="Calibri" charset="0"/>
                        <a:cs typeface="Calibri" charset="0"/>
                      </a:endParaRPr>
                    </a:p>
                  </a:txBody>
                  <a:tcPr marL="64008" marR="64008" marT="64008" marB="64008"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Fast, flexible, strong general writing ability</a:t>
                      </a:r>
                      <a:endParaRPr lang="en-US" sz="1200" dirty="0">
                        <a:latin typeface="Calibri" charset="0"/>
                        <a:ea typeface="Calibri" charset="0"/>
                        <a:cs typeface="Calibri" charset="0"/>
                      </a:endParaRPr>
                    </a:p>
                  </a:txBody>
                  <a:tcPr marL="64008" marR="64008" marT="64008" marB="64008"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r>
              <a:tr h="566928">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Work across long documents or research-style questions</a:t>
                      </a:r>
                      <a:endParaRPr lang="en-US" sz="1200" dirty="0">
                        <a:latin typeface="Calibri" charset="0"/>
                        <a:ea typeface="Calibri" charset="0"/>
                        <a:cs typeface="Calibri" charset="0"/>
                      </a:endParaRPr>
                    </a:p>
                  </a:txBody>
                  <a:tcPr marL="64008" marR="64008" marT="64008" marB="64008"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Gemini (or ChatGPT)</a:t>
                      </a:r>
                      <a:endParaRPr lang="en-US" sz="1200" dirty="0">
                        <a:latin typeface="Calibri" charset="0"/>
                        <a:ea typeface="Calibri" charset="0"/>
                        <a:cs typeface="Calibri" charset="0"/>
                      </a:endParaRPr>
                    </a:p>
                  </a:txBody>
                  <a:tcPr marL="64008" marR="64008" marT="64008" marB="64008"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Handles long inputs well; good at structured synthesis</a:t>
                      </a:r>
                      <a:endParaRPr lang="en-US" sz="1200" dirty="0">
                        <a:latin typeface="Calibri" charset="0"/>
                        <a:ea typeface="Calibri" charset="0"/>
                        <a:cs typeface="Calibri" charset="0"/>
                      </a:endParaRPr>
                    </a:p>
                  </a:txBody>
                  <a:tcPr marL="64008" marR="64008" marT="64008" marB="64008"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r>
              <a:tr h="566928">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Analyse a spreadsheet, build formulas, spot trends</a:t>
                      </a:r>
                      <a:endParaRPr lang="en-US" sz="1200" dirty="0">
                        <a:latin typeface="Calibri" charset="0"/>
                        <a:ea typeface="Calibri" charset="0"/>
                        <a:cs typeface="Calibri" charset="0"/>
                      </a:endParaRPr>
                    </a:p>
                  </a:txBody>
                  <a:tcPr marL="64008" marR="64008" marT="64008" marB="64008"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Copilot in Excel</a:t>
                      </a:r>
                      <a:endParaRPr lang="en-US" sz="1200" dirty="0">
                        <a:latin typeface="Calibri" charset="0"/>
                        <a:ea typeface="Calibri" charset="0"/>
                        <a:cs typeface="Calibri" charset="0"/>
                      </a:endParaRPr>
                    </a:p>
                  </a:txBody>
                  <a:tcPr marL="64008" marR="64008" marT="64008" marB="64008"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Operates on the live workbook</a:t>
                      </a:r>
                      <a:endParaRPr lang="en-US" sz="1200" dirty="0">
                        <a:latin typeface="Calibri" charset="0"/>
                        <a:ea typeface="Calibri" charset="0"/>
                        <a:cs typeface="Calibri" charset="0"/>
                      </a:endParaRPr>
                    </a:p>
                  </a:txBody>
                  <a:tcPr marL="64008" marR="64008" marT="64008" marB="64008"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r>
              <a:tr h="566928">
                <a:tc>
                  <a:txBody>
                    <a:bodyPr/>
                    <a:lstStyle/>
                    <a:p>
                      <a:pPr indent="0" marL="0">
                        <a:buNone/>
                      </a:pPr>
                      <a:r>
                        <a:rPr lang="en-US" sz="1200" dirty="0">
                          <a:solidFill>
                            <a:srgbClr val="273370"/>
                          </a:solidFill>
                          <a:latin typeface="Calibri" pitchFamily="34" charset="0"/>
                          <a:ea typeface="Calibri" pitchFamily="34" charset="-122"/>
                          <a:cs typeface="Calibri" pitchFamily="34" charset="-120"/>
                        </a:rPr>
                        <a:t>Anything involving confidential or personal data</a:t>
                      </a:r>
                      <a:endParaRPr lang="en-US" sz="1200" dirty="0">
                        <a:latin typeface="Calibri" charset="0"/>
                        <a:ea typeface="Calibri" charset="0"/>
                        <a:cs typeface="Calibri" charset="0"/>
                      </a:endParaRPr>
                    </a:p>
                  </a:txBody>
                  <a:tcPr marL="64008" marR="64008" marT="64008" marB="64008"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b="1" dirty="0">
                          <a:solidFill>
                            <a:srgbClr val="273370"/>
                          </a:solidFill>
                          <a:latin typeface="Calibri" pitchFamily="34" charset="0"/>
                          <a:ea typeface="Calibri" pitchFamily="34" charset="-122"/>
                          <a:cs typeface="Calibri" pitchFamily="34" charset="-120"/>
                        </a:rPr>
                        <a:t>Only organisation-approved, enterprise tools</a:t>
                      </a:r>
                      <a:endParaRPr lang="en-US" sz="1200" dirty="0">
                        <a:latin typeface="Calibri" charset="0"/>
                        <a:ea typeface="Calibri" charset="0"/>
                        <a:cs typeface="Calibri" charset="0"/>
                      </a:endParaRPr>
                    </a:p>
                  </a:txBody>
                  <a:tcPr marL="64008" marR="64008" marT="64008" marB="64008"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273370"/>
                          </a:solidFill>
                          <a:latin typeface="Calibri" pitchFamily="34" charset="0"/>
                          <a:ea typeface="Calibri" pitchFamily="34" charset="-122"/>
                          <a:cs typeface="Calibri" pitchFamily="34" charset="-120"/>
                        </a:rPr>
                        <a:t>Consumer tools are not approved for sensitive content — Day 3 covers the rules</a:t>
                      </a:r>
                      <a:endParaRPr lang="en-US" sz="1200" dirty="0">
                        <a:latin typeface="Calibri" charset="0"/>
                        <a:ea typeface="Calibri" charset="0"/>
                        <a:cs typeface="Calibri" charset="0"/>
                      </a:endParaRPr>
                    </a:p>
                  </a:txBody>
                  <a:tcPr marL="64008" marR="64008" marT="64008" marB="64008"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6" name="Text 3"/>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Demo 1 — A first working conversation</a:t>
            </a:r>
            <a:endParaRPr lang="en-US" sz="3000" dirty="0"/>
          </a:p>
        </p:txBody>
      </p:sp>
      <p:sp>
        <p:nvSpPr>
          <p:cNvPr id="3" name="Text 1"/>
          <p:cNvSpPr txBox="1"/>
          <p:nvPr/>
        </p:nvSpPr>
        <p:spPr>
          <a:xfrm>
            <a:off x="502920" y="987552"/>
            <a:ext cx="11155680" cy="365760"/>
          </a:xfrm>
          <a:prstGeom prst="rect">
            <a:avLst/>
          </a:prstGeom>
          <a:noFill/>
          <a:ln/>
        </p:spPr>
        <p:txBody>
          <a:bodyPr wrap="square" lIns="0" tIns="0" rIns="0" bIns="0" rtlCol="0" anchor="ctr"/>
          <a:lstStyle/>
          <a:p>
            <a:pPr indent="0" marL="0">
              <a:buNone/>
            </a:pPr>
            <a:r>
              <a:rPr lang="en-US" sz="1400" dirty="0">
                <a:solidFill>
                  <a:srgbClr val="696969"/>
                </a:solidFill>
                <a:latin typeface="Calibri" pitchFamily="34" charset="0"/>
                <a:ea typeface="Calibri" pitchFamily="34" charset="-122"/>
                <a:cs typeface="Calibri" pitchFamily="34" charset="-120"/>
              </a:rPr>
              <a:t>Watch how a vague request becomes a useful result</a:t>
            </a:r>
            <a:endParaRPr lang="en-US" sz="1400" dirty="0"/>
          </a:p>
        </p:txBody>
      </p:sp>
      <p:sp>
        <p:nvSpPr>
          <p:cNvPr id="4" name="Shape 2"/>
          <p:cNvSpPr/>
          <p:nvPr/>
        </p:nvSpPr>
        <p:spPr>
          <a:xfrm>
            <a:off x="10881360" y="457200"/>
            <a:ext cx="804672" cy="384048"/>
          </a:xfrm>
          <a:prstGeom prst="roundRect">
            <a:avLst>
              <a:gd name="adj" fmla="val 50000"/>
            </a:avLst>
          </a:prstGeom>
          <a:solidFill>
            <a:srgbClr val="FCBD4C"/>
          </a:solidFill>
          <a:ln/>
        </p:spPr>
      </p:sp>
      <p:sp>
        <p:nvSpPr>
          <p:cNvPr id="5" name="Text 3"/>
          <p:cNvSpPr txBox="1"/>
          <p:nvPr/>
        </p:nvSpPr>
        <p:spPr>
          <a:xfrm>
            <a:off x="10881360" y="457200"/>
            <a:ext cx="804672" cy="384048"/>
          </a:xfrm>
          <a:prstGeom prst="rect">
            <a:avLst/>
          </a:prstGeom>
          <a:noFill/>
          <a:ln/>
        </p:spPr>
        <p:txBody>
          <a:bodyPr wrap="square" lIns="0" tIns="0" rIns="0" bIns="0" rtlCol="0" anchor="ctr"/>
          <a:lstStyle/>
          <a:p>
            <a:pPr algn="ctr" indent="0" marL="0">
              <a:buNone/>
            </a:pPr>
            <a:r>
              <a:rPr lang="en-US" sz="1200" b="1" dirty="0">
                <a:solidFill>
                  <a:srgbClr val="131938"/>
                </a:solidFill>
                <a:latin typeface="Calibri" pitchFamily="34" charset="0"/>
                <a:ea typeface="Calibri" pitchFamily="34" charset="-122"/>
                <a:cs typeface="Calibri" pitchFamily="34" charset="-120"/>
              </a:rPr>
              <a:t>DEMO</a:t>
            </a:r>
            <a:endParaRPr lang="en-US" sz="1200" dirty="0"/>
          </a:p>
        </p:txBody>
      </p:sp>
      <p:sp>
        <p:nvSpPr>
          <p:cNvPr id="6" name="Shape 4"/>
          <p:cNvSpPr/>
          <p:nvPr/>
        </p:nvSpPr>
        <p:spPr>
          <a:xfrm>
            <a:off x="502920" y="1463040"/>
            <a:ext cx="5532120" cy="4572000"/>
          </a:xfrm>
          <a:prstGeom prst="roundRect">
            <a:avLst>
              <a:gd name="adj" fmla="val 1600"/>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502920" y="1463040"/>
            <a:ext cx="5532120" cy="420624"/>
          </a:xfrm>
          <a:prstGeom prst="roundRect">
            <a:avLst>
              <a:gd name="adj" fmla="val 17391"/>
            </a:avLst>
          </a:prstGeom>
          <a:solidFill>
            <a:srgbClr val="FCBD4C"/>
          </a:solidFill>
          <a:ln/>
        </p:spPr>
      </p:sp>
      <p:sp>
        <p:nvSpPr>
          <p:cNvPr id="8" name="Shape 6"/>
          <p:cNvSpPr/>
          <p:nvPr/>
        </p:nvSpPr>
        <p:spPr>
          <a:xfrm>
            <a:off x="502920" y="1673352"/>
            <a:ext cx="5532120" cy="210312"/>
          </a:xfrm>
          <a:prstGeom prst="rect">
            <a:avLst/>
          </a:prstGeom>
          <a:solidFill>
            <a:srgbClr val="FCBD4C"/>
          </a:solidFill>
          <a:ln/>
        </p:spPr>
      </p:sp>
      <p:sp>
        <p:nvSpPr>
          <p:cNvPr id="9" name="Text 7"/>
          <p:cNvSpPr txBox="1"/>
          <p:nvPr/>
        </p:nvSpPr>
        <p:spPr>
          <a:xfrm>
            <a:off x="640080" y="1463040"/>
            <a:ext cx="525780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Trainer will demonstrate</a:t>
            </a:r>
            <a:endParaRPr lang="en-US" sz="1400" dirty="0"/>
          </a:p>
        </p:txBody>
      </p:sp>
      <p:sp>
        <p:nvSpPr>
          <p:cNvPr id="10" name="Text 8"/>
          <p:cNvSpPr txBox="1"/>
          <p:nvPr/>
        </p:nvSpPr>
        <p:spPr>
          <a:xfrm>
            <a:off x="777240" y="2057400"/>
            <a:ext cx="5029200" cy="3749040"/>
          </a:xfrm>
          <a:prstGeom prst="rect">
            <a:avLst/>
          </a:prstGeom>
          <a:noFill/>
          <a:ln/>
        </p:spPr>
        <p:txBody>
          <a:bodyPr wrap="square" lIns="0" tIns="0" rIns="0" bIns="0" rtlCol="0" anchor="t"/>
          <a:lstStyle/>
          <a:p>
            <a:pPr marL="152400" indent="-152400">
              <a:lnSpc>
                <a:spcPct val="105000"/>
              </a:lnSpc>
              <a:spcAft>
                <a:spcPts val="800"/>
              </a:spcAft>
              <a:buSzPct val="100000"/>
              <a:buChar char="•"/>
            </a:pPr>
            <a:r>
              <a:rPr lang="en-US" sz="1300" b="1" dirty="0">
                <a:solidFill>
                  <a:srgbClr val="22252B"/>
                </a:solidFill>
                <a:latin typeface="Calibri" pitchFamily="34" charset="0"/>
                <a:ea typeface="Calibri" pitchFamily="34" charset="-122"/>
                <a:cs typeface="Calibri" pitchFamily="34" charset="-120"/>
              </a:rPr>
              <a:t>Prompt 1 (deliberately weak):</a:t>
            </a:r>
            <a:endParaRPr lang="en-US" sz="1300" dirty="0"/>
          </a:p>
          <a:p>
            <a:pPr marL="152400" indent="-152400">
              <a:lnSpc>
                <a:spcPct val="105000"/>
              </a:lnSpc>
              <a:spcAft>
                <a:spcPts val="800"/>
              </a:spcAft>
              <a:buSzPct val="100000"/>
              <a:buChar char="•"/>
            </a:pPr>
            <a:r>
              <a:rPr lang="en-US" sz="1300" dirty="0">
                <a:solidFill>
                  <a:srgbClr val="22252B"/>
                </a:solidFill>
                <a:latin typeface="Calibri" pitchFamily="34" charset="0"/>
                <a:ea typeface="Calibri" pitchFamily="34" charset="-122"/>
                <a:cs typeface="Calibri" pitchFamily="34" charset="-120"/>
              </a:rPr>
              <a:t>“Write an email about the training session.” — observe the generic, guessed result.</a:t>
            </a:r>
            <a:endParaRPr lang="en-US" sz="1300" dirty="0"/>
          </a:p>
          <a:p>
            <a:pPr marL="152400" indent="-152400">
              <a:lnSpc>
                <a:spcPct val="105000"/>
              </a:lnSpc>
              <a:spcAft>
                <a:spcPts val="800"/>
              </a:spcAft>
              <a:buSzPct val="100000"/>
              <a:buChar char="•"/>
            </a:pPr>
            <a:r>
              <a:rPr lang="en-US" sz="1300" b="1" dirty="0">
                <a:solidFill>
                  <a:srgbClr val="22252B"/>
                </a:solidFill>
                <a:latin typeface="Calibri" pitchFamily="34" charset="0"/>
                <a:ea typeface="Calibri" pitchFamily="34" charset="-122"/>
                <a:cs typeface="Calibri" pitchFamily="34" charset="-120"/>
              </a:rPr>
              <a:t>Prompt 2 (with context):</a:t>
            </a:r>
            <a:endParaRPr lang="en-US" sz="1300" dirty="0"/>
          </a:p>
          <a:p>
            <a:pPr marL="152400" indent="-152400">
              <a:lnSpc>
                <a:spcPct val="105000"/>
              </a:lnSpc>
              <a:spcAft>
                <a:spcPts val="800"/>
              </a:spcAft>
              <a:buSzPct val="100000"/>
              <a:buChar char="•"/>
            </a:pPr>
            <a:r>
              <a:rPr lang="en-US" sz="1300" dirty="0">
                <a:solidFill>
                  <a:srgbClr val="22252B"/>
                </a:solidFill>
                <a:latin typeface="Calibri" pitchFamily="34" charset="0"/>
                <a:ea typeface="Calibri" pitchFamily="34" charset="-122"/>
                <a:cs typeface="Calibri" pitchFamily="34" charset="-120"/>
              </a:rPr>
              <a:t>Role, audience, purpose, key details, tone, length, and “Arabic and English versions”.</a:t>
            </a:r>
            <a:endParaRPr lang="en-US" sz="1300" dirty="0"/>
          </a:p>
          <a:p>
            <a:pPr marL="152400" indent="-152400">
              <a:lnSpc>
                <a:spcPct val="105000"/>
              </a:lnSpc>
              <a:spcAft>
                <a:spcPts val="800"/>
              </a:spcAft>
              <a:buSzPct val="100000"/>
              <a:buChar char="•"/>
            </a:pPr>
            <a:r>
              <a:rPr lang="en-US" sz="1300" b="1" dirty="0">
                <a:solidFill>
                  <a:srgbClr val="22252B"/>
                </a:solidFill>
                <a:latin typeface="Calibri" pitchFamily="34" charset="0"/>
                <a:ea typeface="Calibri" pitchFamily="34" charset="-122"/>
                <a:cs typeface="Calibri" pitchFamily="34" charset="-120"/>
              </a:rPr>
              <a:t>Prompt 3 (iteration):</a:t>
            </a:r>
            <a:endParaRPr lang="en-US" sz="1300" dirty="0"/>
          </a:p>
          <a:p>
            <a:pPr marL="152400" indent="-152400">
              <a:lnSpc>
                <a:spcPct val="105000"/>
              </a:lnSpc>
              <a:spcAft>
                <a:spcPts val="800"/>
              </a:spcAft>
              <a:buSzPct val="100000"/>
              <a:buChar char="•"/>
            </a:pPr>
            <a:r>
              <a:rPr lang="en-US" sz="1300" dirty="0">
                <a:solidFill>
                  <a:srgbClr val="22252B"/>
                </a:solidFill>
                <a:latin typeface="Calibri" pitchFamily="34" charset="0"/>
                <a:ea typeface="Calibri" pitchFamily="34" charset="-122"/>
                <a:cs typeface="Calibri" pitchFamily="34" charset="-120"/>
              </a:rPr>
              <a:t>“Make it warmer, add a registration deadline of Thursday, shorten to 100 words.”</a:t>
            </a:r>
            <a:endParaRPr lang="en-US" sz="1300" dirty="0"/>
          </a:p>
        </p:txBody>
      </p:sp>
      <p:sp>
        <p:nvSpPr>
          <p:cNvPr id="11" name="Shape 9"/>
          <p:cNvSpPr/>
          <p:nvPr/>
        </p:nvSpPr>
        <p:spPr>
          <a:xfrm>
            <a:off x="6263640" y="1463040"/>
            <a:ext cx="5440680" cy="4572000"/>
          </a:xfrm>
          <a:prstGeom prst="roundRect">
            <a:avLst>
              <a:gd name="adj" fmla="val 1600"/>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6263640" y="1463040"/>
            <a:ext cx="5440680" cy="420624"/>
          </a:xfrm>
          <a:prstGeom prst="roundRect">
            <a:avLst>
              <a:gd name="adj" fmla="val 17391"/>
            </a:avLst>
          </a:prstGeom>
          <a:solidFill>
            <a:srgbClr val="273370"/>
          </a:solidFill>
          <a:ln/>
        </p:spPr>
      </p:sp>
      <p:sp>
        <p:nvSpPr>
          <p:cNvPr id="13" name="Shape 11"/>
          <p:cNvSpPr/>
          <p:nvPr/>
        </p:nvSpPr>
        <p:spPr>
          <a:xfrm>
            <a:off x="6263640" y="1673352"/>
            <a:ext cx="5440680" cy="210312"/>
          </a:xfrm>
          <a:prstGeom prst="rect">
            <a:avLst/>
          </a:prstGeom>
          <a:solidFill>
            <a:srgbClr val="273370"/>
          </a:solidFill>
          <a:ln/>
        </p:spPr>
      </p:sp>
      <p:sp>
        <p:nvSpPr>
          <p:cNvPr id="14" name="Text 12"/>
          <p:cNvSpPr txBox="1"/>
          <p:nvPr/>
        </p:nvSpPr>
        <p:spPr>
          <a:xfrm>
            <a:off x="6400800" y="1463040"/>
            <a:ext cx="516636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As you watch, notice…</a:t>
            </a:r>
            <a:endParaRPr lang="en-US" sz="1400" dirty="0"/>
          </a:p>
        </p:txBody>
      </p:sp>
      <p:sp>
        <p:nvSpPr>
          <p:cNvPr id="15" name="Text 13"/>
          <p:cNvSpPr txBox="1"/>
          <p:nvPr/>
        </p:nvSpPr>
        <p:spPr>
          <a:xfrm>
            <a:off x="6537960" y="2057400"/>
            <a:ext cx="4937760" cy="3749040"/>
          </a:xfrm>
          <a:prstGeom prst="rect">
            <a:avLst/>
          </a:prstGeom>
          <a:noFill/>
          <a:ln/>
        </p:spPr>
        <p:txBody>
          <a:bodyPr wrap="square" lIns="0" tIns="0" rIns="0" bIns="0" rtlCol="0" anchor="t"/>
          <a:lstStyle/>
          <a:p>
            <a:pPr marL="152400" indent="-152400">
              <a:lnSpc>
                <a:spcPct val="105000"/>
              </a:lnSpc>
              <a:spcAft>
                <a:spcPts val="1200"/>
              </a:spcAft>
              <a:buSzPct val="100000"/>
              <a:buChar char="•"/>
            </a:pPr>
            <a:r>
              <a:rPr lang="en-US" sz="1300" dirty="0">
                <a:solidFill>
                  <a:srgbClr val="22252B"/>
                </a:solidFill>
                <a:latin typeface="Calibri" pitchFamily="34" charset="0"/>
                <a:ea typeface="Calibri" pitchFamily="34" charset="-122"/>
                <a:cs typeface="Calibri" pitchFamily="34" charset="-120"/>
              </a:rPr>
              <a:t>How much the output improves when context is added — same model, better input.</a:t>
            </a:r>
            <a:endParaRPr lang="en-US" sz="1300" dirty="0"/>
          </a:p>
          <a:p>
            <a:pPr marL="152400" indent="-152400">
              <a:lnSpc>
                <a:spcPct val="105000"/>
              </a:lnSpc>
              <a:spcAft>
                <a:spcPts val="1200"/>
              </a:spcAft>
              <a:buSzPct val="100000"/>
              <a:buChar char="•"/>
            </a:pPr>
            <a:r>
              <a:rPr lang="en-US" sz="1300" dirty="0">
                <a:solidFill>
                  <a:srgbClr val="22252B"/>
                </a:solidFill>
                <a:latin typeface="Calibri" pitchFamily="34" charset="0"/>
                <a:ea typeface="Calibri" pitchFamily="34" charset="-122"/>
                <a:cs typeface="Calibri" pitchFamily="34" charset="-120"/>
              </a:rPr>
              <a:t>The model never says “your request is too vague” — it guesses. Vague in, generic out.</a:t>
            </a:r>
            <a:endParaRPr lang="en-US" sz="1300" dirty="0"/>
          </a:p>
          <a:p>
            <a:pPr marL="152400" indent="-152400">
              <a:lnSpc>
                <a:spcPct val="105000"/>
              </a:lnSpc>
              <a:spcAft>
                <a:spcPts val="1200"/>
              </a:spcAft>
              <a:buSzPct val="100000"/>
              <a:buChar char="•"/>
            </a:pPr>
            <a:r>
              <a:rPr lang="en-US" sz="1300" dirty="0">
                <a:solidFill>
                  <a:srgbClr val="22252B"/>
                </a:solidFill>
                <a:latin typeface="Calibri" pitchFamily="34" charset="0"/>
                <a:ea typeface="Calibri" pitchFamily="34" charset="-122"/>
                <a:cs typeface="Calibri" pitchFamily="34" charset="-120"/>
              </a:rPr>
              <a:t>Iteration is normal: professionals rarely accept the first draft.</a:t>
            </a:r>
            <a:endParaRPr lang="en-US" sz="1300" dirty="0"/>
          </a:p>
          <a:p>
            <a:pPr marL="152400" indent="-152400">
              <a:lnSpc>
                <a:spcPct val="105000"/>
              </a:lnSpc>
              <a:spcAft>
                <a:spcPts val="1200"/>
              </a:spcAft>
              <a:buSzPct val="100000"/>
              <a:buChar char="•"/>
            </a:pPr>
            <a:r>
              <a:rPr lang="en-US" sz="1300" dirty="0">
                <a:solidFill>
                  <a:srgbClr val="22252B"/>
                </a:solidFill>
                <a:latin typeface="Calibri" pitchFamily="34" charset="0"/>
                <a:ea typeface="Calibri" pitchFamily="34" charset="-122"/>
                <a:cs typeface="Calibri" pitchFamily="34" charset="-120"/>
              </a:rPr>
              <a:t>The trainer reads before using — the draft is a starting point, not a finished product.</a:t>
            </a:r>
            <a:endParaRPr lang="en-US" sz="1300" dirty="0"/>
          </a:p>
        </p:txBody>
      </p:sp>
      <p:sp>
        <p:nvSpPr>
          <p:cNvPr id="16" name="Text 14"/>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17" name="Text 15"/>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Activity 1.1 — Your first working conversation</a:t>
            </a:r>
            <a:endParaRPr lang="en-US" sz="3000" dirty="0"/>
          </a:p>
        </p:txBody>
      </p:sp>
      <p:sp>
        <p:nvSpPr>
          <p:cNvPr id="3" name="Text 1"/>
          <p:cNvSpPr txBox="1"/>
          <p:nvPr/>
        </p:nvSpPr>
        <p:spPr>
          <a:xfrm>
            <a:off x="502920" y="987552"/>
            <a:ext cx="11155680" cy="365760"/>
          </a:xfrm>
          <a:prstGeom prst="rect">
            <a:avLst/>
          </a:prstGeom>
          <a:noFill/>
          <a:ln/>
        </p:spPr>
        <p:txBody>
          <a:bodyPr wrap="square" lIns="0" tIns="0" rIns="0" bIns="0" rtlCol="0" anchor="ctr"/>
          <a:lstStyle/>
          <a:p>
            <a:pPr indent="0" marL="0">
              <a:buNone/>
            </a:pPr>
            <a:r>
              <a:rPr lang="en-US" sz="1400" dirty="0">
                <a:solidFill>
                  <a:srgbClr val="696969"/>
                </a:solidFill>
                <a:latin typeface="Calibri" pitchFamily="34" charset="0"/>
                <a:ea typeface="Calibri" pitchFamily="34" charset="-122"/>
                <a:cs typeface="Calibri" pitchFamily="34" charset="-120"/>
              </a:rPr>
              <a:t>Individual • 20 minutes • Workbook p. 1</a:t>
            </a:r>
            <a:endParaRPr lang="en-US" sz="1400" dirty="0"/>
          </a:p>
        </p:txBody>
      </p:sp>
      <p:sp>
        <p:nvSpPr>
          <p:cNvPr id="4" name="Shape 2"/>
          <p:cNvSpPr/>
          <p:nvPr/>
        </p:nvSpPr>
        <p:spPr>
          <a:xfrm>
            <a:off x="10460736" y="457200"/>
            <a:ext cx="1225296" cy="384048"/>
          </a:xfrm>
          <a:prstGeom prst="roundRect">
            <a:avLst>
              <a:gd name="adj" fmla="val 50000"/>
            </a:avLst>
          </a:prstGeom>
          <a:solidFill>
            <a:srgbClr val="29BA74"/>
          </a:solidFill>
          <a:ln/>
        </p:spPr>
      </p:sp>
      <p:sp>
        <p:nvSpPr>
          <p:cNvPr id="5" name="Text 3"/>
          <p:cNvSpPr txBox="1"/>
          <p:nvPr/>
        </p:nvSpPr>
        <p:spPr>
          <a:xfrm>
            <a:off x="10460736" y="457200"/>
            <a:ext cx="1225296"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ACTIVITY</a:t>
            </a:r>
            <a:endParaRPr lang="en-US" sz="1200" dirty="0"/>
          </a:p>
        </p:txBody>
      </p:sp>
      <p:sp>
        <p:nvSpPr>
          <p:cNvPr id="6" name="Shape 4"/>
          <p:cNvSpPr/>
          <p:nvPr/>
        </p:nvSpPr>
        <p:spPr>
          <a:xfrm>
            <a:off x="502920" y="1463040"/>
            <a:ext cx="6583680" cy="4572000"/>
          </a:xfrm>
          <a:prstGeom prst="roundRect">
            <a:avLst>
              <a:gd name="adj" fmla="val 1600"/>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502920" y="1463040"/>
            <a:ext cx="6583680" cy="420624"/>
          </a:xfrm>
          <a:prstGeom prst="roundRect">
            <a:avLst>
              <a:gd name="adj" fmla="val 17391"/>
            </a:avLst>
          </a:prstGeom>
          <a:solidFill>
            <a:srgbClr val="29BA74"/>
          </a:solidFill>
          <a:ln/>
        </p:spPr>
      </p:sp>
      <p:sp>
        <p:nvSpPr>
          <p:cNvPr id="8" name="Shape 6"/>
          <p:cNvSpPr/>
          <p:nvPr/>
        </p:nvSpPr>
        <p:spPr>
          <a:xfrm>
            <a:off x="502920" y="1673352"/>
            <a:ext cx="6583680" cy="210312"/>
          </a:xfrm>
          <a:prstGeom prst="rect">
            <a:avLst/>
          </a:prstGeom>
          <a:solidFill>
            <a:srgbClr val="29BA74"/>
          </a:solidFill>
          <a:ln/>
        </p:spPr>
      </p:sp>
      <p:sp>
        <p:nvSpPr>
          <p:cNvPr id="9" name="Text 7"/>
          <p:cNvSpPr txBox="1"/>
          <p:nvPr/>
        </p:nvSpPr>
        <p:spPr>
          <a:xfrm>
            <a:off x="640080" y="1463040"/>
            <a:ext cx="630936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Your task</a:t>
            </a:r>
            <a:endParaRPr lang="en-US" sz="1400" dirty="0"/>
          </a:p>
        </p:txBody>
      </p:sp>
      <p:sp>
        <p:nvSpPr>
          <p:cNvPr id="10" name="Text 8"/>
          <p:cNvSpPr txBox="1"/>
          <p:nvPr/>
        </p:nvSpPr>
        <p:spPr>
          <a:xfrm>
            <a:off x="777240" y="2011680"/>
            <a:ext cx="6035040" cy="3840480"/>
          </a:xfrm>
          <a:prstGeom prst="rect">
            <a:avLst/>
          </a:prstGeom>
          <a:noFill/>
          <a:ln/>
        </p:spPr>
        <p:txBody>
          <a:bodyPr wrap="square" lIns="0" tIns="0" rIns="0" bIns="0" rtlCol="0" anchor="t"/>
          <a:lstStyle/>
          <a:p>
            <a:pPr marL="152400" indent="-152400">
              <a:lnSpc>
                <a:spcPct val="105000"/>
              </a:lnSpc>
              <a:spcAft>
                <a:spcPts val="600"/>
              </a:spcAft>
              <a:buSzPct val="100000"/>
              <a:buChar char="•"/>
            </a:pPr>
            <a:r>
              <a:rPr lang="en-US" sz="1250" b="1" dirty="0">
                <a:solidFill>
                  <a:srgbClr val="22252B"/>
                </a:solidFill>
                <a:latin typeface="Calibri" pitchFamily="34" charset="0"/>
                <a:ea typeface="Calibri" pitchFamily="34" charset="-122"/>
                <a:cs typeface="Calibri" pitchFamily="34" charset="-120"/>
              </a:rPr>
              <a:t>Pick ONE real (non-confidential) task from your job this week:</a:t>
            </a:r>
            <a:endParaRPr lang="en-US" sz="1250" dirty="0"/>
          </a:p>
          <a:p>
            <a:pPr marL="152400" indent="-152400">
              <a:lnSpc>
                <a:spcPct val="105000"/>
              </a:lnSpc>
              <a:spcAft>
                <a:spcPts val="600"/>
              </a:spcAft>
              <a:buSzPct val="100000"/>
              <a:buChar char="•"/>
            </a:pPr>
            <a:r>
              <a:rPr lang="en-US" sz="1250" dirty="0">
                <a:solidFill>
                  <a:srgbClr val="22252B"/>
                </a:solidFill>
                <a:latin typeface="Calibri" pitchFamily="34" charset="0"/>
                <a:ea typeface="Calibri" pitchFamily="34" charset="-122"/>
                <a:cs typeface="Calibri" pitchFamily="34" charset="-120"/>
              </a:rPr>
              <a:t>an email you need to write, a text to shorten, a plan to sketch, or ideas you need.</a:t>
            </a:r>
            <a:endParaRPr lang="en-US" sz="1250" dirty="0"/>
          </a:p>
          <a:p>
            <a:pPr marL="152400" indent="-152400">
              <a:lnSpc>
                <a:spcPct val="105000"/>
              </a:lnSpc>
              <a:spcAft>
                <a:spcPts val="600"/>
              </a:spcAft>
              <a:buSzPct val="100000"/>
              <a:buChar char="•"/>
            </a:pPr>
            <a:r>
              <a:rPr lang="en-US" sz="1250" b="1" dirty="0">
                <a:solidFill>
                  <a:srgbClr val="22252B"/>
                </a:solidFill>
                <a:latin typeface="Calibri" pitchFamily="34" charset="0"/>
                <a:ea typeface="Calibri" pitchFamily="34" charset="-122"/>
                <a:cs typeface="Calibri" pitchFamily="34" charset="-120"/>
              </a:rPr>
              <a:t>Step 1 (5 min):</a:t>
            </a:r>
            <a:endParaRPr lang="en-US" sz="1250" dirty="0"/>
          </a:p>
          <a:p>
            <a:pPr marL="152400" indent="-152400">
              <a:lnSpc>
                <a:spcPct val="105000"/>
              </a:lnSpc>
              <a:spcAft>
                <a:spcPts val="600"/>
              </a:spcAft>
              <a:buSzPct val="100000"/>
              <a:buChar char="•"/>
            </a:pPr>
            <a:r>
              <a:rPr lang="en-US" sz="1250" dirty="0">
                <a:solidFill>
                  <a:srgbClr val="22252B"/>
                </a:solidFill>
                <a:latin typeface="Calibri" pitchFamily="34" charset="0"/>
                <a:ea typeface="Calibri" pitchFamily="34" charset="-122"/>
                <a:cs typeface="Calibri" pitchFamily="34" charset="-120"/>
              </a:rPr>
              <a:t>Ask the AI with a short, vague prompt. Read the result critically.</a:t>
            </a:r>
            <a:endParaRPr lang="en-US" sz="1250" dirty="0"/>
          </a:p>
          <a:p>
            <a:pPr marL="152400" indent="-152400">
              <a:lnSpc>
                <a:spcPct val="105000"/>
              </a:lnSpc>
              <a:spcAft>
                <a:spcPts val="600"/>
              </a:spcAft>
              <a:buSzPct val="100000"/>
              <a:buChar char="•"/>
            </a:pPr>
            <a:r>
              <a:rPr lang="en-US" sz="1250" b="1" dirty="0">
                <a:solidFill>
                  <a:srgbClr val="22252B"/>
                </a:solidFill>
                <a:latin typeface="Calibri" pitchFamily="34" charset="0"/>
                <a:ea typeface="Calibri" pitchFamily="34" charset="-122"/>
                <a:cs typeface="Calibri" pitchFamily="34" charset="-120"/>
              </a:rPr>
              <a:t>Step 2 (10 min):</a:t>
            </a:r>
            <a:endParaRPr lang="en-US" sz="1250" dirty="0"/>
          </a:p>
          <a:p>
            <a:pPr marL="152400" indent="-152400">
              <a:lnSpc>
                <a:spcPct val="105000"/>
              </a:lnSpc>
              <a:spcAft>
                <a:spcPts val="600"/>
              </a:spcAft>
              <a:buSzPct val="100000"/>
              <a:buChar char="•"/>
            </a:pPr>
            <a:r>
              <a:rPr lang="en-US" sz="1250" dirty="0">
                <a:solidFill>
                  <a:srgbClr val="22252B"/>
                </a:solidFill>
                <a:latin typeface="Calibri" pitchFamily="34" charset="0"/>
                <a:ea typeface="Calibri" pitchFamily="34" charset="-122"/>
                <a:cs typeface="Calibri" pitchFamily="34" charset="-120"/>
              </a:rPr>
              <a:t>Re-ask with full context: who you are, audience, purpose, key facts, tone, format, length. Then send at least two follow-up refinements.</a:t>
            </a:r>
            <a:endParaRPr lang="en-US" sz="1250" dirty="0"/>
          </a:p>
          <a:p>
            <a:pPr marL="152400" indent="-152400">
              <a:lnSpc>
                <a:spcPct val="105000"/>
              </a:lnSpc>
              <a:spcAft>
                <a:spcPts val="600"/>
              </a:spcAft>
              <a:buSzPct val="100000"/>
              <a:buChar char="•"/>
            </a:pPr>
            <a:r>
              <a:rPr lang="en-US" sz="1250" b="1" dirty="0">
                <a:solidFill>
                  <a:srgbClr val="22252B"/>
                </a:solidFill>
                <a:latin typeface="Calibri" pitchFamily="34" charset="0"/>
                <a:ea typeface="Calibri" pitchFamily="34" charset="-122"/>
                <a:cs typeface="Calibri" pitchFamily="34" charset="-120"/>
              </a:rPr>
              <a:t>Step 3 (5 min):</a:t>
            </a:r>
            <a:endParaRPr lang="en-US" sz="1250" dirty="0"/>
          </a:p>
          <a:p>
            <a:pPr marL="152400" indent="-152400">
              <a:lnSpc>
                <a:spcPct val="105000"/>
              </a:lnSpc>
              <a:spcAft>
                <a:spcPts val="600"/>
              </a:spcAft>
              <a:buSzPct val="100000"/>
              <a:buChar char="•"/>
            </a:pPr>
            <a:r>
              <a:rPr lang="en-US" sz="1250" dirty="0">
                <a:solidFill>
                  <a:srgbClr val="22252B"/>
                </a:solidFill>
                <a:latin typeface="Calibri" pitchFamily="34" charset="0"/>
                <a:ea typeface="Calibri" pitchFamily="34" charset="-122"/>
                <a:cs typeface="Calibri" pitchFamily="34" charset="-120"/>
              </a:rPr>
              <a:t>In your workbook: copy your best prompt and note what changed the result most.</a:t>
            </a:r>
            <a:endParaRPr lang="en-US" sz="1250" dirty="0"/>
          </a:p>
        </p:txBody>
      </p:sp>
      <p:sp>
        <p:nvSpPr>
          <p:cNvPr id="11" name="Shape 9"/>
          <p:cNvSpPr/>
          <p:nvPr/>
        </p:nvSpPr>
        <p:spPr>
          <a:xfrm>
            <a:off x="7315200" y="1463040"/>
            <a:ext cx="4389120" cy="2194560"/>
          </a:xfrm>
          <a:prstGeom prst="roundRect">
            <a:avLst>
              <a:gd name="adj" fmla="val 3333"/>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7315200" y="1463040"/>
            <a:ext cx="4389120" cy="420624"/>
          </a:xfrm>
          <a:prstGeom prst="roundRect">
            <a:avLst>
              <a:gd name="adj" fmla="val 17391"/>
            </a:avLst>
          </a:prstGeom>
          <a:solidFill>
            <a:srgbClr val="273370"/>
          </a:solidFill>
          <a:ln/>
        </p:spPr>
      </p:sp>
      <p:sp>
        <p:nvSpPr>
          <p:cNvPr id="13" name="Shape 11"/>
          <p:cNvSpPr/>
          <p:nvPr/>
        </p:nvSpPr>
        <p:spPr>
          <a:xfrm>
            <a:off x="7315200" y="1673352"/>
            <a:ext cx="4389120" cy="210312"/>
          </a:xfrm>
          <a:prstGeom prst="rect">
            <a:avLst/>
          </a:prstGeom>
          <a:solidFill>
            <a:srgbClr val="273370"/>
          </a:solidFill>
          <a:ln/>
        </p:spPr>
      </p:sp>
      <p:sp>
        <p:nvSpPr>
          <p:cNvPr id="14" name="Text 12"/>
          <p:cNvSpPr txBox="1"/>
          <p:nvPr/>
        </p:nvSpPr>
        <p:spPr>
          <a:xfrm>
            <a:off x="7452360" y="1463040"/>
            <a:ext cx="411480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Expected output</a:t>
            </a:r>
            <a:endParaRPr lang="en-US" sz="1400" dirty="0"/>
          </a:p>
        </p:txBody>
      </p:sp>
      <p:sp>
        <p:nvSpPr>
          <p:cNvPr id="15" name="Text 13"/>
          <p:cNvSpPr txBox="1"/>
          <p:nvPr/>
        </p:nvSpPr>
        <p:spPr>
          <a:xfrm>
            <a:off x="7589520" y="2057400"/>
            <a:ext cx="3840480" cy="1463040"/>
          </a:xfrm>
          <a:prstGeom prst="rect">
            <a:avLst/>
          </a:prstGeom>
          <a:noFill/>
          <a:ln/>
        </p:spPr>
        <p:txBody>
          <a:bodyPr wrap="square" lIns="0" tIns="0" rIns="0" bIns="0" rtlCol="0" anchor="t"/>
          <a:lstStyle/>
          <a:p>
            <a:pPr marL="152400" indent="-152400">
              <a:lnSpc>
                <a:spcPct val="105000"/>
              </a:lnSpc>
              <a:spcAft>
                <a:spcPts val="800"/>
              </a:spcAft>
              <a:buSzPct val="100000"/>
              <a:buChar char="•"/>
            </a:pPr>
            <a:r>
              <a:rPr lang="en-US" sz="1250" dirty="0">
                <a:solidFill>
                  <a:srgbClr val="22252B"/>
                </a:solidFill>
                <a:latin typeface="Calibri" pitchFamily="34" charset="0"/>
                <a:ea typeface="Calibri" pitchFamily="34" charset="-122"/>
                <a:cs typeface="Calibri" pitchFamily="34" charset="-120"/>
              </a:rPr>
              <a:t>A usable draft for a real task</a:t>
            </a:r>
            <a:endParaRPr lang="en-US" sz="1250" dirty="0"/>
          </a:p>
          <a:p>
            <a:pPr marL="152400" indent="-152400">
              <a:lnSpc>
                <a:spcPct val="105000"/>
              </a:lnSpc>
              <a:spcAft>
                <a:spcPts val="800"/>
              </a:spcAft>
              <a:buSzPct val="100000"/>
              <a:buChar char="•"/>
            </a:pPr>
            <a:r>
              <a:rPr lang="en-US" sz="1250" dirty="0">
                <a:solidFill>
                  <a:srgbClr val="22252B"/>
                </a:solidFill>
                <a:latin typeface="Calibri" pitchFamily="34" charset="0"/>
                <a:ea typeface="Calibri" pitchFamily="34" charset="-122"/>
                <a:cs typeface="Calibri" pitchFamily="34" charset="-120"/>
              </a:rPr>
              <a:t>One “before/after” prompt pair in your workbook</a:t>
            </a:r>
            <a:endParaRPr lang="en-US" sz="1250" dirty="0"/>
          </a:p>
        </p:txBody>
      </p:sp>
      <p:sp>
        <p:nvSpPr>
          <p:cNvPr id="16" name="Shape 14"/>
          <p:cNvSpPr/>
          <p:nvPr/>
        </p:nvSpPr>
        <p:spPr>
          <a:xfrm>
            <a:off x="7315200" y="3840480"/>
            <a:ext cx="4389120" cy="2194560"/>
          </a:xfrm>
          <a:prstGeom prst="roundRect">
            <a:avLst>
              <a:gd name="adj" fmla="val 3333"/>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7" name="Shape 15"/>
          <p:cNvSpPr/>
          <p:nvPr/>
        </p:nvSpPr>
        <p:spPr>
          <a:xfrm>
            <a:off x="7315200" y="3840480"/>
            <a:ext cx="4389120" cy="420624"/>
          </a:xfrm>
          <a:prstGeom prst="roundRect">
            <a:avLst>
              <a:gd name="adj" fmla="val 17391"/>
            </a:avLst>
          </a:prstGeom>
          <a:solidFill>
            <a:srgbClr val="94A0DA"/>
          </a:solidFill>
          <a:ln/>
        </p:spPr>
      </p:sp>
      <p:sp>
        <p:nvSpPr>
          <p:cNvPr id="18" name="Shape 16"/>
          <p:cNvSpPr/>
          <p:nvPr/>
        </p:nvSpPr>
        <p:spPr>
          <a:xfrm>
            <a:off x="7315200" y="4050792"/>
            <a:ext cx="4389120" cy="210312"/>
          </a:xfrm>
          <a:prstGeom prst="rect">
            <a:avLst/>
          </a:prstGeom>
          <a:solidFill>
            <a:srgbClr val="94A0DA"/>
          </a:solidFill>
          <a:ln/>
        </p:spPr>
      </p:sp>
      <p:sp>
        <p:nvSpPr>
          <p:cNvPr id="19" name="Text 17"/>
          <p:cNvSpPr txBox="1"/>
          <p:nvPr/>
        </p:nvSpPr>
        <p:spPr>
          <a:xfrm>
            <a:off x="7452360" y="3840480"/>
            <a:ext cx="411480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If you get stuck</a:t>
            </a:r>
            <a:endParaRPr lang="en-US" sz="1400" dirty="0"/>
          </a:p>
        </p:txBody>
      </p:sp>
      <p:sp>
        <p:nvSpPr>
          <p:cNvPr id="20" name="Text 18"/>
          <p:cNvSpPr txBox="1"/>
          <p:nvPr/>
        </p:nvSpPr>
        <p:spPr>
          <a:xfrm>
            <a:off x="7589520" y="4434840"/>
            <a:ext cx="3840480" cy="1463040"/>
          </a:xfrm>
          <a:prstGeom prst="rect">
            <a:avLst/>
          </a:prstGeom>
          <a:noFill/>
          <a:ln/>
        </p:spPr>
        <p:txBody>
          <a:bodyPr wrap="square" lIns="0" tIns="0" rIns="0" bIns="0" rtlCol="0" anchor="t"/>
          <a:lstStyle/>
          <a:p>
            <a:pPr marL="152400" indent="-152400">
              <a:lnSpc>
                <a:spcPct val="105000"/>
              </a:lnSpc>
              <a:spcAft>
                <a:spcPts val="800"/>
              </a:spcAft>
              <a:buSzPct val="100000"/>
              <a:buChar char="•"/>
            </a:pPr>
            <a:r>
              <a:rPr lang="en-US" sz="1250" dirty="0">
                <a:solidFill>
                  <a:srgbClr val="22252B"/>
                </a:solidFill>
                <a:latin typeface="Calibri" pitchFamily="34" charset="0"/>
                <a:ea typeface="Calibri" pitchFamily="34" charset="-122"/>
                <a:cs typeface="Calibri" pitchFamily="34" charset="-120"/>
              </a:rPr>
              <a:t>Use the starter prompts in Workbook p. 1</a:t>
            </a:r>
            <a:endParaRPr lang="en-US" sz="1250" dirty="0"/>
          </a:p>
          <a:p>
            <a:pPr marL="152400" indent="-152400">
              <a:lnSpc>
                <a:spcPct val="105000"/>
              </a:lnSpc>
              <a:spcAft>
                <a:spcPts val="800"/>
              </a:spcAft>
              <a:buSzPct val="100000"/>
              <a:buChar char="•"/>
            </a:pPr>
            <a:r>
              <a:rPr lang="en-US" sz="1250" dirty="0">
                <a:solidFill>
                  <a:srgbClr val="22252B"/>
                </a:solidFill>
                <a:latin typeface="Calibri" pitchFamily="34" charset="0"/>
                <a:ea typeface="Calibri" pitchFamily="34" charset="-122"/>
                <a:cs typeface="Calibri" pitchFamily="34" charset="-120"/>
              </a:rPr>
              <a:t>Ask the AI itself: “What information do you need from me to do this well?”</a:t>
            </a:r>
            <a:endParaRPr lang="en-US" sz="1250" dirty="0"/>
          </a:p>
        </p:txBody>
      </p:sp>
      <p:sp>
        <p:nvSpPr>
          <p:cNvPr id="21" name="Text 19"/>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22" name="Text 20"/>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Debrief — Activity 1.1</a:t>
            </a:r>
            <a:endParaRPr lang="en-US" sz="3000" dirty="0"/>
          </a:p>
        </p:txBody>
      </p:sp>
      <p:sp>
        <p:nvSpPr>
          <p:cNvPr id="3" name="Shape 1"/>
          <p:cNvSpPr/>
          <p:nvPr/>
        </p:nvSpPr>
        <p:spPr>
          <a:xfrm>
            <a:off x="10565892" y="457200"/>
            <a:ext cx="1120140" cy="384048"/>
          </a:xfrm>
          <a:prstGeom prst="roundRect">
            <a:avLst>
              <a:gd name="adj" fmla="val 50000"/>
            </a:avLst>
          </a:prstGeom>
          <a:solidFill>
            <a:srgbClr val="67CCFF"/>
          </a:solidFill>
          <a:ln/>
        </p:spPr>
      </p:sp>
      <p:sp>
        <p:nvSpPr>
          <p:cNvPr id="4" name="Text 2"/>
          <p:cNvSpPr txBox="1"/>
          <p:nvPr/>
        </p:nvSpPr>
        <p:spPr>
          <a:xfrm>
            <a:off x="10565892" y="457200"/>
            <a:ext cx="11201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DEBRIEF</a:t>
            </a:r>
            <a:endParaRPr lang="en-US" sz="1200" dirty="0"/>
          </a:p>
        </p:txBody>
      </p:sp>
      <p:sp>
        <p:nvSpPr>
          <p:cNvPr id="5" name="Shape 3"/>
          <p:cNvSpPr/>
          <p:nvPr/>
        </p:nvSpPr>
        <p:spPr>
          <a:xfrm>
            <a:off x="640080" y="1645920"/>
            <a:ext cx="548640" cy="548640"/>
          </a:xfrm>
          <a:prstGeom prst="roundRect">
            <a:avLst>
              <a:gd name="adj" fmla="val 15000"/>
            </a:avLst>
          </a:prstGeom>
          <a:solidFill>
            <a:srgbClr val="67CCFF"/>
          </a:solidFill>
          <a:ln/>
        </p:spPr>
      </p:sp>
      <p:pic>
        <p:nvPicPr>
          <p:cNvPr id="6" name="Image 0" descr="preencoded.png">    </p:cNvPr>
          <p:cNvPicPr>
            <a:picLocks noChangeAspect="1"/>
          </p:cNvPicPr>
          <p:nvPr/>
        </p:nvPicPr>
        <p:blipFill>
          <a:blip r:embed="rId1"/>
          <a:stretch>
            <a:fillRect/>
          </a:stretch>
        </p:blipFill>
        <p:spPr>
          <a:xfrm>
            <a:off x="760781" y="1766621"/>
            <a:ext cx="307238" cy="307238"/>
          </a:xfrm>
          <a:prstGeom prst="rect">
            <a:avLst/>
          </a:prstGeom>
        </p:spPr>
      </p:pic>
      <p:sp>
        <p:nvSpPr>
          <p:cNvPr id="7" name="Text 4"/>
          <p:cNvSpPr txBox="1"/>
          <p:nvPr/>
        </p:nvSpPr>
        <p:spPr>
          <a:xfrm>
            <a:off x="1417320" y="1645920"/>
            <a:ext cx="10058400" cy="548640"/>
          </a:xfrm>
          <a:prstGeom prst="rect">
            <a:avLst/>
          </a:prstGeom>
          <a:noFill/>
          <a:ln/>
        </p:spPr>
        <p:txBody>
          <a:bodyPr wrap="square" lIns="0" tIns="0" rIns="0" bIns="0" rtlCol="0" anchor="ctr"/>
          <a:lstStyle/>
          <a:p>
            <a:pPr indent="0" marL="0">
              <a:buNone/>
            </a:pPr>
            <a:r>
              <a:rPr lang="en-US" sz="1600" dirty="0">
                <a:solidFill>
                  <a:srgbClr val="22252B"/>
                </a:solidFill>
                <a:latin typeface="Calibri" pitchFamily="34" charset="0"/>
                <a:ea typeface="Calibri" pitchFamily="34" charset="-122"/>
                <a:cs typeface="Calibri" pitchFamily="34" charset="-120"/>
              </a:rPr>
              <a:t>What changed most between your vague prompt and your detailed one?</a:t>
            </a:r>
            <a:endParaRPr lang="en-US" sz="1600" dirty="0"/>
          </a:p>
        </p:txBody>
      </p:sp>
      <p:sp>
        <p:nvSpPr>
          <p:cNvPr id="8" name="Shape 5"/>
          <p:cNvSpPr/>
          <p:nvPr/>
        </p:nvSpPr>
        <p:spPr>
          <a:xfrm>
            <a:off x="640080" y="2761488"/>
            <a:ext cx="548640" cy="548640"/>
          </a:xfrm>
          <a:prstGeom prst="roundRect">
            <a:avLst>
              <a:gd name="adj" fmla="val 15000"/>
            </a:avLst>
          </a:prstGeom>
          <a:solidFill>
            <a:srgbClr val="67CCFF"/>
          </a:solidFill>
          <a:ln/>
        </p:spPr>
      </p:sp>
      <p:pic>
        <p:nvPicPr>
          <p:cNvPr id="9" name="Image 1" descr="preencoded.png">    </p:cNvPr>
          <p:cNvPicPr>
            <a:picLocks noChangeAspect="1"/>
          </p:cNvPicPr>
          <p:nvPr/>
        </p:nvPicPr>
        <p:blipFill>
          <a:blip r:embed="rId2"/>
          <a:stretch>
            <a:fillRect/>
          </a:stretch>
        </p:blipFill>
        <p:spPr>
          <a:xfrm>
            <a:off x="760781" y="2882189"/>
            <a:ext cx="307238" cy="307238"/>
          </a:xfrm>
          <a:prstGeom prst="rect">
            <a:avLst/>
          </a:prstGeom>
        </p:spPr>
      </p:pic>
      <p:sp>
        <p:nvSpPr>
          <p:cNvPr id="10" name="Text 6"/>
          <p:cNvSpPr txBox="1"/>
          <p:nvPr/>
        </p:nvSpPr>
        <p:spPr>
          <a:xfrm>
            <a:off x="1417320" y="2761488"/>
            <a:ext cx="10058400" cy="548640"/>
          </a:xfrm>
          <a:prstGeom prst="rect">
            <a:avLst/>
          </a:prstGeom>
          <a:noFill/>
          <a:ln/>
        </p:spPr>
        <p:txBody>
          <a:bodyPr wrap="square" lIns="0" tIns="0" rIns="0" bIns="0" rtlCol="0" anchor="ctr"/>
          <a:lstStyle/>
          <a:p>
            <a:pPr indent="0" marL="0">
              <a:buNone/>
            </a:pPr>
            <a:r>
              <a:rPr lang="en-US" sz="1600" dirty="0">
                <a:solidFill>
                  <a:srgbClr val="22252B"/>
                </a:solidFill>
                <a:latin typeface="Calibri" pitchFamily="34" charset="0"/>
                <a:ea typeface="Calibri" pitchFamily="34" charset="-122"/>
                <a:cs typeface="Calibri" pitchFamily="34" charset="-120"/>
              </a:rPr>
              <a:t>What surprised you — positively or negatively?</a:t>
            </a:r>
            <a:endParaRPr lang="en-US" sz="1600" dirty="0"/>
          </a:p>
        </p:txBody>
      </p:sp>
      <p:sp>
        <p:nvSpPr>
          <p:cNvPr id="11" name="Shape 7"/>
          <p:cNvSpPr/>
          <p:nvPr/>
        </p:nvSpPr>
        <p:spPr>
          <a:xfrm>
            <a:off x="640080" y="3877056"/>
            <a:ext cx="548640" cy="548640"/>
          </a:xfrm>
          <a:prstGeom prst="roundRect">
            <a:avLst>
              <a:gd name="adj" fmla="val 15000"/>
            </a:avLst>
          </a:prstGeom>
          <a:solidFill>
            <a:srgbClr val="67CCFF"/>
          </a:solidFill>
          <a:ln/>
        </p:spPr>
      </p:sp>
      <p:pic>
        <p:nvPicPr>
          <p:cNvPr id="12" name="Image 2" descr="preencoded.png">    </p:cNvPr>
          <p:cNvPicPr>
            <a:picLocks noChangeAspect="1"/>
          </p:cNvPicPr>
          <p:nvPr/>
        </p:nvPicPr>
        <p:blipFill>
          <a:blip r:embed="rId3"/>
          <a:stretch>
            <a:fillRect/>
          </a:stretch>
        </p:blipFill>
        <p:spPr>
          <a:xfrm>
            <a:off x="760781" y="3997757"/>
            <a:ext cx="307238" cy="307238"/>
          </a:xfrm>
          <a:prstGeom prst="rect">
            <a:avLst/>
          </a:prstGeom>
        </p:spPr>
      </p:pic>
      <p:sp>
        <p:nvSpPr>
          <p:cNvPr id="13" name="Text 8"/>
          <p:cNvSpPr txBox="1"/>
          <p:nvPr/>
        </p:nvSpPr>
        <p:spPr>
          <a:xfrm>
            <a:off x="1417320" y="3877056"/>
            <a:ext cx="10058400" cy="548640"/>
          </a:xfrm>
          <a:prstGeom prst="rect">
            <a:avLst/>
          </a:prstGeom>
          <a:noFill/>
          <a:ln/>
        </p:spPr>
        <p:txBody>
          <a:bodyPr wrap="square" lIns="0" tIns="0" rIns="0" bIns="0" rtlCol="0" anchor="ctr"/>
          <a:lstStyle/>
          <a:p>
            <a:pPr indent="0" marL="0">
              <a:buNone/>
            </a:pPr>
            <a:r>
              <a:rPr lang="en-US" sz="1600" dirty="0">
                <a:solidFill>
                  <a:srgbClr val="22252B"/>
                </a:solidFill>
                <a:latin typeface="Calibri" pitchFamily="34" charset="0"/>
                <a:ea typeface="Calibri" pitchFamily="34" charset="-122"/>
                <a:cs typeface="Calibri" pitchFamily="34" charset="-120"/>
              </a:rPr>
              <a:t>Did anything in the output look wrong, invented, or oddly generic?</a:t>
            </a:r>
            <a:endParaRPr lang="en-US" sz="1600" dirty="0"/>
          </a:p>
        </p:txBody>
      </p:sp>
      <p:sp>
        <p:nvSpPr>
          <p:cNvPr id="14" name="Shape 9"/>
          <p:cNvSpPr/>
          <p:nvPr/>
        </p:nvSpPr>
        <p:spPr>
          <a:xfrm>
            <a:off x="640080" y="4992624"/>
            <a:ext cx="548640" cy="548640"/>
          </a:xfrm>
          <a:prstGeom prst="roundRect">
            <a:avLst>
              <a:gd name="adj" fmla="val 15000"/>
            </a:avLst>
          </a:prstGeom>
          <a:solidFill>
            <a:srgbClr val="67CCFF"/>
          </a:solidFill>
          <a:ln/>
        </p:spPr>
      </p:sp>
      <p:pic>
        <p:nvPicPr>
          <p:cNvPr id="15" name="Image 3" descr="preencoded.png">    </p:cNvPr>
          <p:cNvPicPr>
            <a:picLocks noChangeAspect="1"/>
          </p:cNvPicPr>
          <p:nvPr/>
        </p:nvPicPr>
        <p:blipFill>
          <a:blip r:embed="rId4"/>
          <a:stretch>
            <a:fillRect/>
          </a:stretch>
        </p:blipFill>
        <p:spPr>
          <a:xfrm>
            <a:off x="760781" y="5113325"/>
            <a:ext cx="307238" cy="307238"/>
          </a:xfrm>
          <a:prstGeom prst="rect">
            <a:avLst/>
          </a:prstGeom>
        </p:spPr>
      </p:pic>
      <p:sp>
        <p:nvSpPr>
          <p:cNvPr id="16" name="Text 10"/>
          <p:cNvSpPr txBox="1"/>
          <p:nvPr/>
        </p:nvSpPr>
        <p:spPr>
          <a:xfrm>
            <a:off x="1417320" y="4992624"/>
            <a:ext cx="10058400" cy="548640"/>
          </a:xfrm>
          <a:prstGeom prst="rect">
            <a:avLst/>
          </a:prstGeom>
          <a:noFill/>
          <a:ln/>
        </p:spPr>
        <p:txBody>
          <a:bodyPr wrap="square" lIns="0" tIns="0" rIns="0" bIns="0" rtlCol="0" anchor="ctr"/>
          <a:lstStyle/>
          <a:p>
            <a:pPr indent="0" marL="0">
              <a:buNone/>
            </a:pPr>
            <a:r>
              <a:rPr lang="en-US" sz="1600" dirty="0">
                <a:solidFill>
                  <a:srgbClr val="22252B"/>
                </a:solidFill>
                <a:latin typeface="Calibri" pitchFamily="34" charset="0"/>
                <a:ea typeface="Calibri" pitchFamily="34" charset="-122"/>
                <a:cs typeface="Calibri" pitchFamily="34" charset="-120"/>
              </a:rPr>
              <a:t>Could you use this result at work today? What would you still change by hand?</a:t>
            </a:r>
            <a:endParaRPr lang="en-US" sz="1600" dirty="0"/>
          </a:p>
        </p:txBody>
      </p:sp>
      <p:sp>
        <p:nvSpPr>
          <p:cNvPr id="17" name="Text 11"/>
          <p:cNvSpPr txBox="1"/>
          <p:nvPr/>
        </p:nvSpPr>
        <p:spPr>
          <a:xfrm>
            <a:off x="640080" y="6080760"/>
            <a:ext cx="10972800" cy="365760"/>
          </a:xfrm>
          <a:prstGeom prst="rect">
            <a:avLst/>
          </a:prstGeom>
          <a:noFill/>
          <a:ln/>
        </p:spPr>
        <p:txBody>
          <a:bodyPr wrap="square" lIns="0" tIns="0" rIns="0" bIns="0" rtlCol="0" anchor="ctr"/>
          <a:lstStyle/>
          <a:p>
            <a:pPr indent="0" marL="0">
              <a:buNone/>
            </a:pPr>
            <a:r>
              <a:rPr lang="en-US" sz="1300" b="1" i="1" dirty="0">
                <a:solidFill>
                  <a:srgbClr val="273370"/>
                </a:solidFill>
                <a:latin typeface="Calibri" pitchFamily="34" charset="0"/>
                <a:ea typeface="Calibri" pitchFamily="34" charset="-122"/>
                <a:cs typeface="Calibri" pitchFamily="34" charset="-120"/>
              </a:rPr>
              <a:t>Trainer synthesis: context beats cleverness — the quality of the input sets the ceiling for the output.</a:t>
            </a:r>
            <a:endParaRPr lang="en-US" sz="1300" dirty="0"/>
          </a:p>
        </p:txBody>
      </p:sp>
      <p:sp>
        <p:nvSpPr>
          <p:cNvPr id="18" name="Text 12"/>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19" name="Text 13"/>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The anatomy of an effective prompt</a:t>
            </a:r>
            <a:endParaRPr lang="en-US" sz="3000" dirty="0"/>
          </a:p>
        </p:txBody>
      </p:sp>
      <p:sp>
        <p:nvSpPr>
          <p:cNvPr id="3" name="Text 1"/>
          <p:cNvSpPr txBox="1"/>
          <p:nvPr/>
        </p:nvSpPr>
        <p:spPr>
          <a:xfrm>
            <a:off x="502920" y="987552"/>
            <a:ext cx="11155680" cy="365760"/>
          </a:xfrm>
          <a:prstGeom prst="rect">
            <a:avLst/>
          </a:prstGeom>
          <a:noFill/>
          <a:ln/>
        </p:spPr>
        <p:txBody>
          <a:bodyPr wrap="square" lIns="0" tIns="0" rIns="0" bIns="0" rtlCol="0" anchor="ctr"/>
          <a:lstStyle/>
          <a:p>
            <a:pPr indent="0" marL="0">
              <a:buNone/>
            </a:pPr>
            <a:r>
              <a:rPr lang="en-US" sz="1400" dirty="0">
                <a:solidFill>
                  <a:srgbClr val="696969"/>
                </a:solidFill>
                <a:latin typeface="Calibri" pitchFamily="34" charset="0"/>
                <a:ea typeface="Calibri" pitchFamily="34" charset="-122"/>
                <a:cs typeface="Calibri" pitchFamily="34" charset="-120"/>
              </a:rPr>
              <a:t>Six building blocks — use what the task needs, not always all six</a:t>
            </a:r>
            <a:endParaRPr lang="en-US" sz="1400" dirty="0"/>
          </a:p>
        </p:txBody>
      </p:sp>
      <p:sp>
        <p:nvSpPr>
          <p:cNvPr id="4" name="Shape 2"/>
          <p:cNvSpPr/>
          <p:nvPr/>
        </p:nvSpPr>
        <p:spPr>
          <a:xfrm>
            <a:off x="10565892" y="457200"/>
            <a:ext cx="1120140" cy="384048"/>
          </a:xfrm>
          <a:prstGeom prst="roundRect">
            <a:avLst>
              <a:gd name="adj" fmla="val 50000"/>
            </a:avLst>
          </a:prstGeom>
          <a:solidFill>
            <a:srgbClr val="94A0DA"/>
          </a:solidFill>
          <a:ln/>
        </p:spPr>
      </p:sp>
      <p:sp>
        <p:nvSpPr>
          <p:cNvPr id="5" name="Text 3"/>
          <p:cNvSpPr txBox="1"/>
          <p:nvPr/>
        </p:nvSpPr>
        <p:spPr>
          <a:xfrm>
            <a:off x="10565892" y="457200"/>
            <a:ext cx="11201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Shape 4"/>
          <p:cNvSpPr/>
          <p:nvPr/>
        </p:nvSpPr>
        <p:spPr>
          <a:xfrm>
            <a:off x="502920" y="1691640"/>
            <a:ext cx="3703320" cy="2011680"/>
          </a:xfrm>
          <a:prstGeom prst="roundRect">
            <a:avLst>
              <a:gd name="adj" fmla="val 3636"/>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731520" y="1920240"/>
            <a:ext cx="548640" cy="548640"/>
          </a:xfrm>
          <a:prstGeom prst="roundRect">
            <a:avLst>
              <a:gd name="adj" fmla="val 16667"/>
            </a:avLst>
          </a:prstGeom>
          <a:solidFill>
            <a:srgbClr val="273370"/>
          </a:solidFill>
          <a:ln/>
        </p:spPr>
      </p:sp>
      <p:sp>
        <p:nvSpPr>
          <p:cNvPr id="8" name="Text 6"/>
          <p:cNvSpPr txBox="1"/>
          <p:nvPr/>
        </p:nvSpPr>
        <p:spPr>
          <a:xfrm>
            <a:off x="731520" y="1920240"/>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R</a:t>
            </a:r>
            <a:endParaRPr lang="en-US" sz="2400" dirty="0"/>
          </a:p>
        </p:txBody>
      </p:sp>
      <p:sp>
        <p:nvSpPr>
          <p:cNvPr id="9" name="Text 7"/>
          <p:cNvSpPr txBox="1"/>
          <p:nvPr/>
        </p:nvSpPr>
        <p:spPr>
          <a:xfrm>
            <a:off x="1417320" y="1920240"/>
            <a:ext cx="2651760" cy="548640"/>
          </a:xfrm>
          <a:prstGeom prst="rect">
            <a:avLst/>
          </a:prstGeom>
          <a:noFill/>
          <a:ln/>
        </p:spPr>
        <p:txBody>
          <a:bodyPr wrap="square" lIns="0" tIns="0" rIns="0" bIns="0" rtlCol="0" anchor="ctr"/>
          <a:lstStyle/>
          <a:p>
            <a:pPr indent="0" marL="0">
              <a:buNone/>
            </a:pPr>
            <a:r>
              <a:rPr lang="en-US" sz="1600" b="1" dirty="0">
                <a:solidFill>
                  <a:srgbClr val="273370"/>
                </a:solidFill>
                <a:latin typeface="Calibri" pitchFamily="34" charset="0"/>
                <a:ea typeface="Calibri" pitchFamily="34" charset="-122"/>
                <a:cs typeface="Calibri" pitchFamily="34" charset="-120"/>
              </a:rPr>
              <a:t>Role</a:t>
            </a:r>
            <a:endParaRPr lang="en-US" sz="1600" dirty="0"/>
          </a:p>
        </p:txBody>
      </p:sp>
      <p:sp>
        <p:nvSpPr>
          <p:cNvPr id="10" name="Text 8"/>
          <p:cNvSpPr txBox="1"/>
          <p:nvPr/>
        </p:nvSpPr>
        <p:spPr>
          <a:xfrm>
            <a:off x="731520" y="2606040"/>
            <a:ext cx="3246120" cy="960120"/>
          </a:xfrm>
          <a:prstGeom prst="rect">
            <a:avLst/>
          </a:prstGeom>
          <a:noFill/>
          <a:ln/>
        </p:spPr>
        <p:txBody>
          <a:bodyPr wrap="square" lIns="0" tIns="0" rIns="0" bIns="0" rtlCol="0" anchor="ctr"/>
          <a:lstStyle/>
          <a:p>
            <a:pPr indent="0" marL="0">
              <a:lnSpc>
                <a:spcPct val="108000"/>
              </a:lnSpc>
              <a:buNone/>
            </a:pPr>
            <a:r>
              <a:rPr lang="en-US" sz="1100" dirty="0">
                <a:solidFill>
                  <a:srgbClr val="22252B"/>
                </a:solidFill>
                <a:latin typeface="Calibri" pitchFamily="34" charset="0"/>
                <a:ea typeface="Calibri" pitchFamily="34" charset="-122"/>
                <a:cs typeface="Calibri" pitchFamily="34" charset="-120"/>
              </a:rPr>
              <a:t>Who should the AI act as? “Act as a professional communications advisor…”</a:t>
            </a:r>
            <a:endParaRPr lang="en-US" sz="1100" dirty="0"/>
          </a:p>
        </p:txBody>
      </p:sp>
      <p:sp>
        <p:nvSpPr>
          <p:cNvPr id="11" name="Shape 9"/>
          <p:cNvSpPr/>
          <p:nvPr/>
        </p:nvSpPr>
        <p:spPr>
          <a:xfrm>
            <a:off x="4453128" y="1691640"/>
            <a:ext cx="3703320" cy="2011680"/>
          </a:xfrm>
          <a:prstGeom prst="roundRect">
            <a:avLst>
              <a:gd name="adj" fmla="val 3636"/>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4681728" y="1920240"/>
            <a:ext cx="548640" cy="548640"/>
          </a:xfrm>
          <a:prstGeom prst="roundRect">
            <a:avLst>
              <a:gd name="adj" fmla="val 16667"/>
            </a:avLst>
          </a:prstGeom>
          <a:solidFill>
            <a:srgbClr val="29BA74"/>
          </a:solidFill>
          <a:ln/>
        </p:spPr>
      </p:sp>
      <p:sp>
        <p:nvSpPr>
          <p:cNvPr id="13" name="Text 11"/>
          <p:cNvSpPr txBox="1"/>
          <p:nvPr/>
        </p:nvSpPr>
        <p:spPr>
          <a:xfrm>
            <a:off x="4681728" y="1920240"/>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T</a:t>
            </a:r>
            <a:endParaRPr lang="en-US" sz="2400" dirty="0"/>
          </a:p>
        </p:txBody>
      </p:sp>
      <p:sp>
        <p:nvSpPr>
          <p:cNvPr id="14" name="Text 12"/>
          <p:cNvSpPr txBox="1"/>
          <p:nvPr/>
        </p:nvSpPr>
        <p:spPr>
          <a:xfrm>
            <a:off x="5367528" y="1920240"/>
            <a:ext cx="2651760" cy="548640"/>
          </a:xfrm>
          <a:prstGeom prst="rect">
            <a:avLst/>
          </a:prstGeom>
          <a:noFill/>
          <a:ln/>
        </p:spPr>
        <p:txBody>
          <a:bodyPr wrap="square" lIns="0" tIns="0" rIns="0" bIns="0" rtlCol="0" anchor="ctr"/>
          <a:lstStyle/>
          <a:p>
            <a:pPr indent="0" marL="0">
              <a:buNone/>
            </a:pPr>
            <a:r>
              <a:rPr lang="en-US" sz="1600" b="1" dirty="0">
                <a:solidFill>
                  <a:srgbClr val="273370"/>
                </a:solidFill>
                <a:latin typeface="Calibri" pitchFamily="34" charset="0"/>
                <a:ea typeface="Calibri" pitchFamily="34" charset="-122"/>
                <a:cs typeface="Calibri" pitchFamily="34" charset="-120"/>
              </a:rPr>
              <a:t>Task</a:t>
            </a:r>
            <a:endParaRPr lang="en-US" sz="1600" dirty="0"/>
          </a:p>
        </p:txBody>
      </p:sp>
      <p:sp>
        <p:nvSpPr>
          <p:cNvPr id="15" name="Text 13"/>
          <p:cNvSpPr txBox="1"/>
          <p:nvPr/>
        </p:nvSpPr>
        <p:spPr>
          <a:xfrm>
            <a:off x="4681728" y="2606040"/>
            <a:ext cx="3246120" cy="960120"/>
          </a:xfrm>
          <a:prstGeom prst="rect">
            <a:avLst/>
          </a:prstGeom>
          <a:noFill/>
          <a:ln/>
        </p:spPr>
        <p:txBody>
          <a:bodyPr wrap="square" lIns="0" tIns="0" rIns="0" bIns="0" rtlCol="0" anchor="ctr"/>
          <a:lstStyle/>
          <a:p>
            <a:pPr indent="0" marL="0">
              <a:lnSpc>
                <a:spcPct val="108000"/>
              </a:lnSpc>
              <a:buNone/>
            </a:pPr>
            <a:r>
              <a:rPr lang="en-US" sz="1100" dirty="0">
                <a:solidFill>
                  <a:srgbClr val="22252B"/>
                </a:solidFill>
                <a:latin typeface="Calibri" pitchFamily="34" charset="0"/>
                <a:ea typeface="Calibri" pitchFamily="34" charset="-122"/>
                <a:cs typeface="Calibri" pitchFamily="34" charset="-120"/>
              </a:rPr>
              <a:t>One clear action verb. “Draft…”, “Summarise…”, “Compare…”, “List…”</a:t>
            </a:r>
            <a:endParaRPr lang="en-US" sz="1100" dirty="0"/>
          </a:p>
        </p:txBody>
      </p:sp>
      <p:sp>
        <p:nvSpPr>
          <p:cNvPr id="16" name="Shape 14"/>
          <p:cNvSpPr/>
          <p:nvPr/>
        </p:nvSpPr>
        <p:spPr>
          <a:xfrm>
            <a:off x="8403336" y="1691640"/>
            <a:ext cx="3703320" cy="2011680"/>
          </a:xfrm>
          <a:prstGeom prst="roundRect">
            <a:avLst>
              <a:gd name="adj" fmla="val 3636"/>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7" name="Shape 15"/>
          <p:cNvSpPr/>
          <p:nvPr/>
        </p:nvSpPr>
        <p:spPr>
          <a:xfrm>
            <a:off x="8631936" y="1920240"/>
            <a:ext cx="548640" cy="548640"/>
          </a:xfrm>
          <a:prstGeom prst="roundRect">
            <a:avLst>
              <a:gd name="adj" fmla="val 16667"/>
            </a:avLst>
          </a:prstGeom>
          <a:solidFill>
            <a:srgbClr val="FCBD4C"/>
          </a:solidFill>
          <a:ln/>
        </p:spPr>
      </p:sp>
      <p:sp>
        <p:nvSpPr>
          <p:cNvPr id="18" name="Text 16"/>
          <p:cNvSpPr txBox="1"/>
          <p:nvPr/>
        </p:nvSpPr>
        <p:spPr>
          <a:xfrm>
            <a:off x="8631936" y="1920240"/>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C</a:t>
            </a:r>
            <a:endParaRPr lang="en-US" sz="2400" dirty="0"/>
          </a:p>
        </p:txBody>
      </p:sp>
      <p:sp>
        <p:nvSpPr>
          <p:cNvPr id="19" name="Text 17"/>
          <p:cNvSpPr txBox="1"/>
          <p:nvPr/>
        </p:nvSpPr>
        <p:spPr>
          <a:xfrm>
            <a:off x="9317736" y="1920240"/>
            <a:ext cx="2651760" cy="548640"/>
          </a:xfrm>
          <a:prstGeom prst="rect">
            <a:avLst/>
          </a:prstGeom>
          <a:noFill/>
          <a:ln/>
        </p:spPr>
        <p:txBody>
          <a:bodyPr wrap="square" lIns="0" tIns="0" rIns="0" bIns="0" rtlCol="0" anchor="ctr"/>
          <a:lstStyle/>
          <a:p>
            <a:pPr indent="0" marL="0">
              <a:buNone/>
            </a:pPr>
            <a:r>
              <a:rPr lang="en-US" sz="1600" b="1" dirty="0">
                <a:solidFill>
                  <a:srgbClr val="273370"/>
                </a:solidFill>
                <a:latin typeface="Calibri" pitchFamily="34" charset="0"/>
                <a:ea typeface="Calibri" pitchFamily="34" charset="-122"/>
                <a:cs typeface="Calibri" pitchFamily="34" charset="-120"/>
              </a:rPr>
              <a:t>Context</a:t>
            </a:r>
            <a:endParaRPr lang="en-US" sz="1600" dirty="0"/>
          </a:p>
        </p:txBody>
      </p:sp>
      <p:sp>
        <p:nvSpPr>
          <p:cNvPr id="20" name="Text 18"/>
          <p:cNvSpPr txBox="1"/>
          <p:nvPr/>
        </p:nvSpPr>
        <p:spPr>
          <a:xfrm>
            <a:off x="8631936" y="2606040"/>
            <a:ext cx="3246120" cy="960120"/>
          </a:xfrm>
          <a:prstGeom prst="rect">
            <a:avLst/>
          </a:prstGeom>
          <a:noFill/>
          <a:ln/>
        </p:spPr>
        <p:txBody>
          <a:bodyPr wrap="square" lIns="0" tIns="0" rIns="0" bIns="0" rtlCol="0" anchor="ctr"/>
          <a:lstStyle/>
          <a:p>
            <a:pPr indent="0" marL="0">
              <a:lnSpc>
                <a:spcPct val="108000"/>
              </a:lnSpc>
              <a:buNone/>
            </a:pPr>
            <a:r>
              <a:rPr lang="en-US" sz="1100" dirty="0">
                <a:solidFill>
                  <a:srgbClr val="22252B"/>
                </a:solidFill>
                <a:latin typeface="Calibri" pitchFamily="34" charset="0"/>
                <a:ea typeface="Calibri" pitchFamily="34" charset="-122"/>
                <a:cs typeface="Calibri" pitchFamily="34" charset="-120"/>
              </a:rPr>
              <a:t>Background, audience, purpose, key facts. The block people skip — and the one that matters most.</a:t>
            </a:r>
            <a:endParaRPr lang="en-US" sz="1100" dirty="0"/>
          </a:p>
        </p:txBody>
      </p:sp>
      <p:sp>
        <p:nvSpPr>
          <p:cNvPr id="21" name="Shape 19"/>
          <p:cNvSpPr/>
          <p:nvPr/>
        </p:nvSpPr>
        <p:spPr>
          <a:xfrm>
            <a:off x="502920" y="3931920"/>
            <a:ext cx="3703320" cy="2011680"/>
          </a:xfrm>
          <a:prstGeom prst="roundRect">
            <a:avLst>
              <a:gd name="adj" fmla="val 3636"/>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22" name="Shape 20"/>
          <p:cNvSpPr/>
          <p:nvPr/>
        </p:nvSpPr>
        <p:spPr>
          <a:xfrm>
            <a:off x="731520" y="4160520"/>
            <a:ext cx="548640" cy="548640"/>
          </a:xfrm>
          <a:prstGeom prst="roundRect">
            <a:avLst>
              <a:gd name="adj" fmla="val 16667"/>
            </a:avLst>
          </a:prstGeom>
          <a:solidFill>
            <a:srgbClr val="67CCFF"/>
          </a:solidFill>
          <a:ln/>
        </p:spPr>
      </p:sp>
      <p:sp>
        <p:nvSpPr>
          <p:cNvPr id="23" name="Text 21"/>
          <p:cNvSpPr txBox="1"/>
          <p:nvPr/>
        </p:nvSpPr>
        <p:spPr>
          <a:xfrm>
            <a:off x="731520" y="4160520"/>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F</a:t>
            </a:r>
            <a:endParaRPr lang="en-US" sz="2400" dirty="0"/>
          </a:p>
        </p:txBody>
      </p:sp>
      <p:sp>
        <p:nvSpPr>
          <p:cNvPr id="24" name="Text 22"/>
          <p:cNvSpPr txBox="1"/>
          <p:nvPr/>
        </p:nvSpPr>
        <p:spPr>
          <a:xfrm>
            <a:off x="1417320" y="4160520"/>
            <a:ext cx="2651760" cy="548640"/>
          </a:xfrm>
          <a:prstGeom prst="rect">
            <a:avLst/>
          </a:prstGeom>
          <a:noFill/>
          <a:ln/>
        </p:spPr>
        <p:txBody>
          <a:bodyPr wrap="square" lIns="0" tIns="0" rIns="0" bIns="0" rtlCol="0" anchor="ctr"/>
          <a:lstStyle/>
          <a:p>
            <a:pPr indent="0" marL="0">
              <a:buNone/>
            </a:pPr>
            <a:r>
              <a:rPr lang="en-US" sz="1600" b="1" dirty="0">
                <a:solidFill>
                  <a:srgbClr val="273370"/>
                </a:solidFill>
                <a:latin typeface="Calibri" pitchFamily="34" charset="0"/>
                <a:ea typeface="Calibri" pitchFamily="34" charset="-122"/>
                <a:cs typeface="Calibri" pitchFamily="34" charset="-120"/>
              </a:rPr>
              <a:t>Format</a:t>
            </a:r>
            <a:endParaRPr lang="en-US" sz="1600" dirty="0"/>
          </a:p>
        </p:txBody>
      </p:sp>
      <p:sp>
        <p:nvSpPr>
          <p:cNvPr id="25" name="Text 23"/>
          <p:cNvSpPr txBox="1"/>
          <p:nvPr/>
        </p:nvSpPr>
        <p:spPr>
          <a:xfrm>
            <a:off x="731520" y="4846320"/>
            <a:ext cx="3246120" cy="960120"/>
          </a:xfrm>
          <a:prstGeom prst="rect">
            <a:avLst/>
          </a:prstGeom>
          <a:noFill/>
          <a:ln/>
        </p:spPr>
        <p:txBody>
          <a:bodyPr wrap="square" lIns="0" tIns="0" rIns="0" bIns="0" rtlCol="0" anchor="ctr"/>
          <a:lstStyle/>
          <a:p>
            <a:pPr indent="0" marL="0">
              <a:lnSpc>
                <a:spcPct val="108000"/>
              </a:lnSpc>
              <a:buNone/>
            </a:pPr>
            <a:r>
              <a:rPr lang="en-US" sz="1100" dirty="0">
                <a:solidFill>
                  <a:srgbClr val="22252B"/>
                </a:solidFill>
                <a:latin typeface="Calibri" pitchFamily="34" charset="0"/>
                <a:ea typeface="Calibri" pitchFamily="34" charset="-122"/>
                <a:cs typeface="Calibri" pitchFamily="34" charset="-120"/>
              </a:rPr>
              <a:t>Structure of the output: table, bullet list, memo, 120 words, Arabic + English.</a:t>
            </a:r>
            <a:endParaRPr lang="en-US" sz="1100" dirty="0"/>
          </a:p>
        </p:txBody>
      </p:sp>
      <p:sp>
        <p:nvSpPr>
          <p:cNvPr id="26" name="Shape 24"/>
          <p:cNvSpPr/>
          <p:nvPr/>
        </p:nvSpPr>
        <p:spPr>
          <a:xfrm>
            <a:off x="4453128" y="3931920"/>
            <a:ext cx="3703320" cy="2011680"/>
          </a:xfrm>
          <a:prstGeom prst="roundRect">
            <a:avLst>
              <a:gd name="adj" fmla="val 3636"/>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27" name="Shape 25"/>
          <p:cNvSpPr/>
          <p:nvPr/>
        </p:nvSpPr>
        <p:spPr>
          <a:xfrm>
            <a:off x="4681728" y="4160520"/>
            <a:ext cx="548640" cy="548640"/>
          </a:xfrm>
          <a:prstGeom prst="roundRect">
            <a:avLst>
              <a:gd name="adj" fmla="val 16667"/>
            </a:avLst>
          </a:prstGeom>
          <a:solidFill>
            <a:srgbClr val="6258A6"/>
          </a:solidFill>
          <a:ln/>
        </p:spPr>
      </p:sp>
      <p:sp>
        <p:nvSpPr>
          <p:cNvPr id="28" name="Text 26"/>
          <p:cNvSpPr txBox="1"/>
          <p:nvPr/>
        </p:nvSpPr>
        <p:spPr>
          <a:xfrm>
            <a:off x="4681728" y="4160520"/>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E</a:t>
            </a:r>
            <a:endParaRPr lang="en-US" sz="2400" dirty="0"/>
          </a:p>
        </p:txBody>
      </p:sp>
      <p:sp>
        <p:nvSpPr>
          <p:cNvPr id="29" name="Text 27"/>
          <p:cNvSpPr txBox="1"/>
          <p:nvPr/>
        </p:nvSpPr>
        <p:spPr>
          <a:xfrm>
            <a:off x="5367528" y="4160520"/>
            <a:ext cx="2651760" cy="548640"/>
          </a:xfrm>
          <a:prstGeom prst="rect">
            <a:avLst/>
          </a:prstGeom>
          <a:noFill/>
          <a:ln/>
        </p:spPr>
        <p:txBody>
          <a:bodyPr wrap="square" lIns="0" tIns="0" rIns="0" bIns="0" rtlCol="0" anchor="ctr"/>
          <a:lstStyle/>
          <a:p>
            <a:pPr indent="0" marL="0">
              <a:buNone/>
            </a:pPr>
            <a:r>
              <a:rPr lang="en-US" sz="1600" b="1" dirty="0">
                <a:solidFill>
                  <a:srgbClr val="273370"/>
                </a:solidFill>
                <a:latin typeface="Calibri" pitchFamily="34" charset="0"/>
                <a:ea typeface="Calibri" pitchFamily="34" charset="-122"/>
                <a:cs typeface="Calibri" pitchFamily="34" charset="-120"/>
              </a:rPr>
              <a:t>Example</a:t>
            </a:r>
            <a:endParaRPr lang="en-US" sz="1600" dirty="0"/>
          </a:p>
        </p:txBody>
      </p:sp>
      <p:sp>
        <p:nvSpPr>
          <p:cNvPr id="30" name="Text 28"/>
          <p:cNvSpPr txBox="1"/>
          <p:nvPr/>
        </p:nvSpPr>
        <p:spPr>
          <a:xfrm>
            <a:off x="4681728" y="4846320"/>
            <a:ext cx="3246120" cy="960120"/>
          </a:xfrm>
          <a:prstGeom prst="rect">
            <a:avLst/>
          </a:prstGeom>
          <a:noFill/>
          <a:ln/>
        </p:spPr>
        <p:txBody>
          <a:bodyPr wrap="square" lIns="0" tIns="0" rIns="0" bIns="0" rtlCol="0" anchor="ctr"/>
          <a:lstStyle/>
          <a:p>
            <a:pPr indent="0" marL="0">
              <a:lnSpc>
                <a:spcPct val="108000"/>
              </a:lnSpc>
              <a:buNone/>
            </a:pPr>
            <a:r>
              <a:rPr lang="en-US" sz="1100" dirty="0">
                <a:solidFill>
                  <a:srgbClr val="22252B"/>
                </a:solidFill>
                <a:latin typeface="Calibri" pitchFamily="34" charset="0"/>
                <a:ea typeface="Calibri" pitchFamily="34" charset="-122"/>
                <a:cs typeface="Calibri" pitchFamily="34" charset="-120"/>
              </a:rPr>
              <a:t>Show a sample of the style or structure you want. One good example is worth a paragraph of description.</a:t>
            </a:r>
            <a:endParaRPr lang="en-US" sz="1100" dirty="0"/>
          </a:p>
        </p:txBody>
      </p:sp>
      <p:sp>
        <p:nvSpPr>
          <p:cNvPr id="31" name="Shape 29"/>
          <p:cNvSpPr/>
          <p:nvPr/>
        </p:nvSpPr>
        <p:spPr>
          <a:xfrm>
            <a:off x="8403336" y="3931920"/>
            <a:ext cx="3703320" cy="2011680"/>
          </a:xfrm>
          <a:prstGeom prst="roundRect">
            <a:avLst>
              <a:gd name="adj" fmla="val 3636"/>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32" name="Shape 30"/>
          <p:cNvSpPr/>
          <p:nvPr/>
        </p:nvSpPr>
        <p:spPr>
          <a:xfrm>
            <a:off x="8631936" y="4160520"/>
            <a:ext cx="548640" cy="548640"/>
          </a:xfrm>
          <a:prstGeom prst="roundRect">
            <a:avLst>
              <a:gd name="adj" fmla="val 16667"/>
            </a:avLst>
          </a:prstGeom>
          <a:solidFill>
            <a:srgbClr val="94A0DA"/>
          </a:solidFill>
          <a:ln/>
        </p:spPr>
      </p:sp>
      <p:sp>
        <p:nvSpPr>
          <p:cNvPr id="33" name="Text 31"/>
          <p:cNvSpPr txBox="1"/>
          <p:nvPr/>
        </p:nvSpPr>
        <p:spPr>
          <a:xfrm>
            <a:off x="8631936" y="4160520"/>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X</a:t>
            </a:r>
            <a:endParaRPr lang="en-US" sz="2400" dirty="0"/>
          </a:p>
        </p:txBody>
      </p:sp>
      <p:sp>
        <p:nvSpPr>
          <p:cNvPr id="34" name="Text 32"/>
          <p:cNvSpPr txBox="1"/>
          <p:nvPr/>
        </p:nvSpPr>
        <p:spPr>
          <a:xfrm>
            <a:off x="9317736" y="4160520"/>
            <a:ext cx="2651760" cy="548640"/>
          </a:xfrm>
          <a:prstGeom prst="rect">
            <a:avLst/>
          </a:prstGeom>
          <a:noFill/>
          <a:ln/>
        </p:spPr>
        <p:txBody>
          <a:bodyPr wrap="square" lIns="0" tIns="0" rIns="0" bIns="0" rtlCol="0" anchor="ctr"/>
          <a:lstStyle/>
          <a:p>
            <a:pPr indent="0" marL="0">
              <a:buNone/>
            </a:pPr>
            <a:r>
              <a:rPr lang="en-US" sz="1600" b="1" dirty="0">
                <a:solidFill>
                  <a:srgbClr val="273370"/>
                </a:solidFill>
                <a:latin typeface="Calibri" pitchFamily="34" charset="0"/>
                <a:ea typeface="Calibri" pitchFamily="34" charset="-122"/>
                <a:cs typeface="Calibri" pitchFamily="34" charset="-120"/>
              </a:rPr>
              <a:t>Constraints</a:t>
            </a:r>
            <a:endParaRPr lang="en-US" sz="1600" dirty="0"/>
          </a:p>
        </p:txBody>
      </p:sp>
      <p:sp>
        <p:nvSpPr>
          <p:cNvPr id="35" name="Text 33"/>
          <p:cNvSpPr txBox="1"/>
          <p:nvPr/>
        </p:nvSpPr>
        <p:spPr>
          <a:xfrm>
            <a:off x="8631936" y="4846320"/>
            <a:ext cx="3246120" cy="960120"/>
          </a:xfrm>
          <a:prstGeom prst="rect">
            <a:avLst/>
          </a:prstGeom>
          <a:noFill/>
          <a:ln/>
        </p:spPr>
        <p:txBody>
          <a:bodyPr wrap="square" lIns="0" tIns="0" rIns="0" bIns="0" rtlCol="0" anchor="ctr"/>
          <a:lstStyle/>
          <a:p>
            <a:pPr indent="0" marL="0">
              <a:lnSpc>
                <a:spcPct val="108000"/>
              </a:lnSpc>
              <a:buNone/>
            </a:pPr>
            <a:r>
              <a:rPr lang="en-US" sz="1100" dirty="0">
                <a:solidFill>
                  <a:srgbClr val="22252B"/>
                </a:solidFill>
                <a:latin typeface="Calibri" pitchFamily="34" charset="0"/>
                <a:ea typeface="Calibri" pitchFamily="34" charset="-122"/>
                <a:cs typeface="Calibri" pitchFamily="34" charset="-120"/>
              </a:rPr>
              <a:t>Boundaries: “Do not invent numbers”, “Formal tone”, “Use only the text below”, “Max 3 points”.</a:t>
            </a:r>
            <a:endParaRPr lang="en-US" sz="1100" dirty="0"/>
          </a:p>
        </p:txBody>
      </p:sp>
      <p:sp>
        <p:nvSpPr>
          <p:cNvPr id="36" name="Text 34"/>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37" name="Text 35"/>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02920" y="347472"/>
            <a:ext cx="1115568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Prompt upgrade: before &amp; after</a:t>
            </a:r>
            <a:endParaRPr lang="en-US" sz="3000" dirty="0"/>
          </a:p>
        </p:txBody>
      </p:sp>
      <p:sp>
        <p:nvSpPr>
          <p:cNvPr id="3" name="Text 1"/>
          <p:cNvSpPr txBox="1"/>
          <p:nvPr/>
        </p:nvSpPr>
        <p:spPr>
          <a:xfrm>
            <a:off x="502920" y="987552"/>
            <a:ext cx="11155680" cy="365760"/>
          </a:xfrm>
          <a:prstGeom prst="rect">
            <a:avLst/>
          </a:prstGeom>
          <a:noFill/>
          <a:ln/>
        </p:spPr>
        <p:txBody>
          <a:bodyPr wrap="square" lIns="0" tIns="0" rIns="0" bIns="0" rtlCol="0" anchor="ctr"/>
          <a:lstStyle/>
          <a:p>
            <a:pPr indent="0" marL="0">
              <a:buNone/>
            </a:pPr>
            <a:r>
              <a:rPr lang="en-US" sz="1400" dirty="0">
                <a:solidFill>
                  <a:srgbClr val="696969"/>
                </a:solidFill>
                <a:latin typeface="Calibri" pitchFamily="34" charset="0"/>
                <a:ea typeface="Calibri" pitchFamily="34" charset="-122"/>
                <a:cs typeface="Calibri" pitchFamily="34" charset="-120"/>
              </a:rPr>
              <a:t>Same request — transformed by structure</a:t>
            </a:r>
            <a:endParaRPr lang="en-US" sz="1400" dirty="0"/>
          </a:p>
        </p:txBody>
      </p:sp>
      <p:sp>
        <p:nvSpPr>
          <p:cNvPr id="4" name="Shape 2"/>
          <p:cNvSpPr/>
          <p:nvPr/>
        </p:nvSpPr>
        <p:spPr>
          <a:xfrm>
            <a:off x="502920" y="1463040"/>
            <a:ext cx="5532120" cy="4572000"/>
          </a:xfrm>
          <a:prstGeom prst="roundRect">
            <a:avLst>
              <a:gd name="adj" fmla="val 1600"/>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502920" y="1463040"/>
            <a:ext cx="5532120" cy="420624"/>
          </a:xfrm>
          <a:prstGeom prst="roundRect">
            <a:avLst>
              <a:gd name="adj" fmla="val 17391"/>
            </a:avLst>
          </a:prstGeom>
          <a:solidFill>
            <a:srgbClr val="D45C5C"/>
          </a:solidFill>
          <a:ln/>
        </p:spPr>
      </p:sp>
      <p:sp>
        <p:nvSpPr>
          <p:cNvPr id="6" name="Shape 4"/>
          <p:cNvSpPr/>
          <p:nvPr/>
        </p:nvSpPr>
        <p:spPr>
          <a:xfrm>
            <a:off x="502920" y="1673352"/>
            <a:ext cx="5532120" cy="210312"/>
          </a:xfrm>
          <a:prstGeom prst="rect">
            <a:avLst/>
          </a:prstGeom>
          <a:solidFill>
            <a:srgbClr val="D45C5C"/>
          </a:solidFill>
          <a:ln/>
        </p:spPr>
      </p:sp>
      <p:sp>
        <p:nvSpPr>
          <p:cNvPr id="7" name="Text 5"/>
          <p:cNvSpPr txBox="1"/>
          <p:nvPr/>
        </p:nvSpPr>
        <p:spPr>
          <a:xfrm>
            <a:off x="640080" y="1463040"/>
            <a:ext cx="525780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BEFORE — weak prompt</a:t>
            </a:r>
            <a:endParaRPr lang="en-US" sz="1400" dirty="0"/>
          </a:p>
        </p:txBody>
      </p:sp>
      <p:sp>
        <p:nvSpPr>
          <p:cNvPr id="8" name="Text 6"/>
          <p:cNvSpPr txBox="1"/>
          <p:nvPr/>
        </p:nvSpPr>
        <p:spPr>
          <a:xfrm>
            <a:off x="777240" y="2148840"/>
            <a:ext cx="4983480" cy="777240"/>
          </a:xfrm>
          <a:prstGeom prst="rect">
            <a:avLst/>
          </a:prstGeom>
          <a:noFill/>
          <a:ln/>
        </p:spPr>
        <p:txBody>
          <a:bodyPr wrap="square" lIns="0" tIns="0" rIns="0" bIns="0" rtlCol="0" anchor="ctr"/>
          <a:lstStyle/>
          <a:p>
            <a:pPr indent="0" marL="0">
              <a:buNone/>
            </a:pPr>
            <a:r>
              <a:rPr lang="en-US" sz="1400" i="1" dirty="0">
                <a:solidFill>
                  <a:srgbClr val="22252B"/>
                </a:solidFill>
                <a:latin typeface="Calibri" pitchFamily="34" charset="0"/>
                <a:ea typeface="Calibri" pitchFamily="34" charset="-122"/>
                <a:cs typeface="Calibri" pitchFamily="34" charset="-120"/>
              </a:rPr>
              <a:t>“Write an email to the director about the delay.”</a:t>
            </a:r>
            <a:endParaRPr lang="en-US" sz="1400" dirty="0"/>
          </a:p>
        </p:txBody>
      </p:sp>
      <p:sp>
        <p:nvSpPr>
          <p:cNvPr id="9" name="Text 7"/>
          <p:cNvSpPr txBox="1"/>
          <p:nvPr/>
        </p:nvSpPr>
        <p:spPr>
          <a:xfrm>
            <a:off x="777240" y="3063240"/>
            <a:ext cx="4983480" cy="2743200"/>
          </a:xfrm>
          <a:prstGeom prst="rect">
            <a:avLst/>
          </a:prstGeom>
          <a:noFill/>
          <a:ln/>
        </p:spPr>
        <p:txBody>
          <a:bodyPr wrap="square" lIns="0" tIns="0" rIns="0" bIns="0" rtlCol="0" anchor="t"/>
          <a:lstStyle/>
          <a:p>
            <a:pPr marL="152400" indent="-152400">
              <a:lnSpc>
                <a:spcPct val="105000"/>
              </a:lnSpc>
              <a:spcAft>
                <a:spcPts val="1200"/>
              </a:spcAft>
              <a:buSzPct val="100000"/>
              <a:buChar char="•"/>
            </a:pPr>
            <a:r>
              <a:rPr lang="en-US" sz="1300" dirty="0">
                <a:solidFill>
                  <a:srgbClr val="22252B"/>
                </a:solidFill>
                <a:latin typeface="Calibri" pitchFamily="34" charset="0"/>
                <a:ea typeface="Calibri" pitchFamily="34" charset="-122"/>
                <a:cs typeface="Calibri" pitchFamily="34" charset="-120"/>
              </a:rPr>
              <a:t>Which director? What delay? Why? What do we want from them?</a:t>
            </a:r>
            <a:endParaRPr lang="en-US" sz="1300" dirty="0"/>
          </a:p>
          <a:p>
            <a:pPr marL="152400" indent="-152400">
              <a:lnSpc>
                <a:spcPct val="105000"/>
              </a:lnSpc>
              <a:spcAft>
                <a:spcPts val="1200"/>
              </a:spcAft>
              <a:buSzPct val="100000"/>
              <a:buChar char="•"/>
            </a:pPr>
            <a:r>
              <a:rPr lang="en-US" sz="1300" dirty="0">
                <a:solidFill>
                  <a:srgbClr val="22252B"/>
                </a:solidFill>
                <a:latin typeface="Calibri" pitchFamily="34" charset="0"/>
                <a:ea typeface="Calibri" pitchFamily="34" charset="-122"/>
                <a:cs typeface="Calibri" pitchFamily="34" charset="-120"/>
              </a:rPr>
              <a:t>The model guesses everything — output is generic and possibly wrong in tone.</a:t>
            </a:r>
            <a:endParaRPr lang="en-US" sz="1300" dirty="0"/>
          </a:p>
          <a:p>
            <a:pPr marL="152400" indent="-152400">
              <a:lnSpc>
                <a:spcPct val="105000"/>
              </a:lnSpc>
              <a:spcAft>
                <a:spcPts val="1200"/>
              </a:spcAft>
              <a:buSzPct val="100000"/>
              <a:buChar char="•"/>
            </a:pPr>
            <a:r>
              <a:rPr lang="en-US" sz="1300" dirty="0">
                <a:solidFill>
                  <a:srgbClr val="22252B"/>
                </a:solidFill>
                <a:latin typeface="Calibri" pitchFamily="34" charset="0"/>
                <a:ea typeface="Calibri" pitchFamily="34" charset="-122"/>
                <a:cs typeface="Calibri" pitchFamily="34" charset="-120"/>
              </a:rPr>
              <a:t>You will spend longer fixing it than writing from scratch.</a:t>
            </a:r>
            <a:endParaRPr lang="en-US" sz="1300" dirty="0"/>
          </a:p>
        </p:txBody>
      </p:sp>
      <p:sp>
        <p:nvSpPr>
          <p:cNvPr id="10" name="Shape 8"/>
          <p:cNvSpPr/>
          <p:nvPr/>
        </p:nvSpPr>
        <p:spPr>
          <a:xfrm>
            <a:off x="6263640" y="1463040"/>
            <a:ext cx="5440680" cy="4572000"/>
          </a:xfrm>
          <a:prstGeom prst="roundRect">
            <a:avLst>
              <a:gd name="adj" fmla="val 1600"/>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1" name="Shape 9"/>
          <p:cNvSpPr/>
          <p:nvPr/>
        </p:nvSpPr>
        <p:spPr>
          <a:xfrm>
            <a:off x="6263640" y="1463040"/>
            <a:ext cx="5440680" cy="420624"/>
          </a:xfrm>
          <a:prstGeom prst="roundRect">
            <a:avLst>
              <a:gd name="adj" fmla="val 17391"/>
            </a:avLst>
          </a:prstGeom>
          <a:solidFill>
            <a:srgbClr val="29BA74"/>
          </a:solidFill>
          <a:ln/>
        </p:spPr>
      </p:sp>
      <p:sp>
        <p:nvSpPr>
          <p:cNvPr id="12" name="Shape 10"/>
          <p:cNvSpPr/>
          <p:nvPr/>
        </p:nvSpPr>
        <p:spPr>
          <a:xfrm>
            <a:off x="6263640" y="1673352"/>
            <a:ext cx="5440680" cy="210312"/>
          </a:xfrm>
          <a:prstGeom prst="rect">
            <a:avLst/>
          </a:prstGeom>
          <a:solidFill>
            <a:srgbClr val="29BA74"/>
          </a:solidFill>
          <a:ln/>
        </p:spPr>
      </p:sp>
      <p:sp>
        <p:nvSpPr>
          <p:cNvPr id="13" name="Text 11"/>
          <p:cNvSpPr txBox="1"/>
          <p:nvPr/>
        </p:nvSpPr>
        <p:spPr>
          <a:xfrm>
            <a:off x="6400800" y="1463040"/>
            <a:ext cx="516636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AFTER — structured prompt</a:t>
            </a:r>
            <a:endParaRPr lang="en-US" sz="1400" dirty="0"/>
          </a:p>
        </p:txBody>
      </p:sp>
      <p:sp>
        <p:nvSpPr>
          <p:cNvPr id="14" name="Text 12"/>
          <p:cNvSpPr txBox="1"/>
          <p:nvPr/>
        </p:nvSpPr>
        <p:spPr>
          <a:xfrm>
            <a:off x="6537960" y="2103120"/>
            <a:ext cx="4937760" cy="2377440"/>
          </a:xfrm>
          <a:prstGeom prst="rect">
            <a:avLst/>
          </a:prstGeom>
          <a:noFill/>
          <a:ln/>
        </p:spPr>
        <p:txBody>
          <a:bodyPr wrap="square" lIns="0" tIns="0" rIns="0" bIns="0" rtlCol="0" anchor="ctr"/>
          <a:lstStyle/>
          <a:p>
            <a:pPr indent="0" marL="0">
              <a:lnSpc>
                <a:spcPct val="115000"/>
              </a:lnSpc>
              <a:buNone/>
            </a:pPr>
            <a:r>
              <a:rPr lang="en-US" sz="1200" i="1" dirty="0">
                <a:solidFill>
                  <a:srgbClr val="22252B"/>
                </a:solidFill>
                <a:latin typeface="Calibri" pitchFamily="34" charset="0"/>
                <a:ea typeface="Calibri" pitchFamily="34" charset="-122"/>
                <a:cs typeface="Calibri" pitchFamily="34" charset="-120"/>
              </a:rPr>
              <a:t>“Act as a formal government communications writer [R]. Draft an email [T] to the Director of Procurement explaining that the office furniture delivery is delayed two weeks due to customs clearance; we need her approval to extend the vendor deadline to 15 September [C]. Formal, respectful tone; under 130 words; subject line included; then an Arabic version [F]. Do not promise any compensation [X].”</a:t>
            </a:r>
            <a:endParaRPr lang="en-US" sz="1200" dirty="0"/>
          </a:p>
        </p:txBody>
      </p:sp>
      <p:sp>
        <p:nvSpPr>
          <p:cNvPr id="15" name="Text 13"/>
          <p:cNvSpPr txBox="1"/>
          <p:nvPr/>
        </p:nvSpPr>
        <p:spPr>
          <a:xfrm>
            <a:off x="6537960" y="4663440"/>
            <a:ext cx="4937760" cy="1188720"/>
          </a:xfrm>
          <a:prstGeom prst="rect">
            <a:avLst/>
          </a:prstGeom>
          <a:noFill/>
          <a:ln/>
        </p:spPr>
        <p:txBody>
          <a:bodyPr wrap="square" lIns="0" tIns="0" rIns="0" bIns="0" rtlCol="0" anchor="t"/>
          <a:lstStyle/>
          <a:p>
            <a:pPr marL="152400" indent="-152400">
              <a:lnSpc>
                <a:spcPct val="105000"/>
              </a:lnSpc>
              <a:spcAft>
                <a:spcPts val="800"/>
              </a:spcAft>
              <a:buSzPct val="100000"/>
              <a:buChar char="•"/>
            </a:pPr>
            <a:r>
              <a:rPr lang="en-US" sz="1250" dirty="0">
                <a:solidFill>
                  <a:srgbClr val="22252B"/>
                </a:solidFill>
                <a:latin typeface="Calibri" pitchFamily="34" charset="0"/>
                <a:ea typeface="Calibri" pitchFamily="34" charset="-122"/>
                <a:cs typeface="Calibri" pitchFamily="34" charset="-120"/>
              </a:rPr>
              <a:t>Nothing left to guess — the first draft is usually 90% usable.</a:t>
            </a:r>
            <a:endParaRPr lang="en-US" sz="1250" dirty="0"/>
          </a:p>
          <a:p>
            <a:pPr marL="152400" indent="-152400">
              <a:lnSpc>
                <a:spcPct val="105000"/>
              </a:lnSpc>
              <a:spcAft>
                <a:spcPts val="800"/>
              </a:spcAft>
              <a:buSzPct val="100000"/>
              <a:buChar char="•"/>
            </a:pPr>
            <a:r>
              <a:rPr lang="en-US" sz="1250" dirty="0">
                <a:solidFill>
                  <a:srgbClr val="22252B"/>
                </a:solidFill>
                <a:latin typeface="Calibri" pitchFamily="34" charset="0"/>
                <a:ea typeface="Calibri" pitchFamily="34" charset="-122"/>
                <a:cs typeface="Calibri" pitchFamily="34" charset="-120"/>
              </a:rPr>
              <a:t>Notice: no “Example” block — this task didn't need one.</a:t>
            </a:r>
            <a:endParaRPr lang="en-US" sz="1250" dirty="0"/>
          </a:p>
        </p:txBody>
      </p:sp>
      <p:sp>
        <p:nvSpPr>
          <p:cNvPr id="16" name="Text 14"/>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17" name="Text 15"/>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It's a conversation, not a command</a:t>
            </a:r>
            <a:endParaRPr lang="en-US" sz="3000" dirty="0"/>
          </a:p>
        </p:txBody>
      </p:sp>
      <p:sp>
        <p:nvSpPr>
          <p:cNvPr id="3" name="Text 1"/>
          <p:cNvSpPr txBox="1"/>
          <p:nvPr/>
        </p:nvSpPr>
        <p:spPr>
          <a:xfrm>
            <a:off x="502920" y="987552"/>
            <a:ext cx="11155680" cy="365760"/>
          </a:xfrm>
          <a:prstGeom prst="rect">
            <a:avLst/>
          </a:prstGeom>
          <a:noFill/>
          <a:ln/>
        </p:spPr>
        <p:txBody>
          <a:bodyPr wrap="square" lIns="0" tIns="0" rIns="0" bIns="0" rtlCol="0" anchor="ctr"/>
          <a:lstStyle/>
          <a:p>
            <a:pPr indent="0" marL="0">
              <a:buNone/>
            </a:pPr>
            <a:r>
              <a:rPr lang="en-US" sz="1400" dirty="0">
                <a:solidFill>
                  <a:srgbClr val="696969"/>
                </a:solidFill>
                <a:latin typeface="Calibri" pitchFamily="34" charset="0"/>
                <a:ea typeface="Calibri" pitchFamily="34" charset="-122"/>
                <a:cs typeface="Calibri" pitchFamily="34" charset="-120"/>
              </a:rPr>
              <a:t>The second prompt is where professionals win</a:t>
            </a:r>
            <a:endParaRPr lang="en-US" sz="1400" dirty="0"/>
          </a:p>
        </p:txBody>
      </p:sp>
      <p:sp>
        <p:nvSpPr>
          <p:cNvPr id="4" name="Shape 2"/>
          <p:cNvSpPr/>
          <p:nvPr/>
        </p:nvSpPr>
        <p:spPr>
          <a:xfrm>
            <a:off x="10565892" y="457200"/>
            <a:ext cx="1120140" cy="384048"/>
          </a:xfrm>
          <a:prstGeom prst="roundRect">
            <a:avLst>
              <a:gd name="adj" fmla="val 50000"/>
            </a:avLst>
          </a:prstGeom>
          <a:solidFill>
            <a:srgbClr val="94A0DA"/>
          </a:solidFill>
          <a:ln/>
        </p:spPr>
      </p:sp>
      <p:sp>
        <p:nvSpPr>
          <p:cNvPr id="5" name="Text 3"/>
          <p:cNvSpPr txBox="1"/>
          <p:nvPr/>
        </p:nvSpPr>
        <p:spPr>
          <a:xfrm>
            <a:off x="10565892" y="457200"/>
            <a:ext cx="11201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Shape 4"/>
          <p:cNvSpPr/>
          <p:nvPr/>
        </p:nvSpPr>
        <p:spPr>
          <a:xfrm>
            <a:off x="640080" y="1600200"/>
            <a:ext cx="566928" cy="566928"/>
          </a:xfrm>
          <a:prstGeom prst="roundRect">
            <a:avLst>
              <a:gd name="adj" fmla="val 14516"/>
            </a:avLst>
          </a:prstGeom>
          <a:solidFill>
            <a:srgbClr val="273370"/>
          </a:solidFill>
          <a:ln/>
        </p:spPr>
      </p:sp>
      <p:pic>
        <p:nvPicPr>
          <p:cNvPr id="7" name="Image 0" descr="preencoded.png">    </p:cNvPr>
          <p:cNvPicPr>
            <a:picLocks noChangeAspect="1"/>
          </p:cNvPicPr>
          <p:nvPr/>
        </p:nvPicPr>
        <p:blipFill>
          <a:blip r:embed="rId1"/>
          <a:stretch>
            <a:fillRect/>
          </a:stretch>
        </p:blipFill>
        <p:spPr>
          <a:xfrm>
            <a:off x="764804" y="1724924"/>
            <a:ext cx="317480" cy="317480"/>
          </a:xfrm>
          <a:prstGeom prst="rect">
            <a:avLst/>
          </a:prstGeom>
        </p:spPr>
      </p:pic>
      <p:sp>
        <p:nvSpPr>
          <p:cNvPr id="8" name="Text 5"/>
          <p:cNvSpPr txBox="1"/>
          <p:nvPr/>
        </p:nvSpPr>
        <p:spPr>
          <a:xfrm>
            <a:off x="1463040" y="1581912"/>
            <a:ext cx="1463040" cy="603504"/>
          </a:xfrm>
          <a:prstGeom prst="rect">
            <a:avLst/>
          </a:prstGeom>
          <a:noFill/>
          <a:ln/>
        </p:spPr>
        <p:txBody>
          <a:bodyPr wrap="square" lIns="0" tIns="0" rIns="0" bIns="0" rtlCol="0" anchor="ctr"/>
          <a:lstStyle/>
          <a:p>
            <a:pPr indent="0" marL="0">
              <a:buNone/>
            </a:pPr>
            <a:r>
              <a:rPr lang="en-US" sz="1700" b="1" dirty="0">
                <a:solidFill>
                  <a:srgbClr val="273370"/>
                </a:solidFill>
                <a:latin typeface="Calibri" pitchFamily="34" charset="0"/>
                <a:ea typeface="Calibri" pitchFamily="34" charset="-122"/>
                <a:cs typeface="Calibri" pitchFamily="34" charset="-120"/>
              </a:rPr>
              <a:t>Refine</a:t>
            </a:r>
            <a:endParaRPr lang="en-US" sz="1700" dirty="0"/>
          </a:p>
        </p:txBody>
      </p:sp>
      <p:sp>
        <p:nvSpPr>
          <p:cNvPr id="9" name="Text 6"/>
          <p:cNvSpPr txBox="1"/>
          <p:nvPr/>
        </p:nvSpPr>
        <p:spPr>
          <a:xfrm>
            <a:off x="3017520" y="1581912"/>
            <a:ext cx="8503920" cy="603504"/>
          </a:xfrm>
          <a:prstGeom prst="rect">
            <a:avLst/>
          </a:prstGeom>
          <a:noFill/>
          <a:ln/>
        </p:spPr>
        <p:txBody>
          <a:bodyPr wrap="square" lIns="0" tIns="0" rIns="0" bIns="0" rtlCol="0" anchor="ctr"/>
          <a:lstStyle/>
          <a:p>
            <a:pPr indent="0" marL="0">
              <a:buNone/>
            </a:pPr>
            <a:r>
              <a:rPr lang="en-US" sz="1300" dirty="0">
                <a:solidFill>
                  <a:srgbClr val="22252B"/>
                </a:solidFill>
                <a:latin typeface="Calibri" pitchFamily="34" charset="0"/>
                <a:ea typeface="Calibri" pitchFamily="34" charset="-122"/>
                <a:cs typeface="Calibri" pitchFamily="34" charset="-120"/>
              </a:rPr>
              <a:t>“Make it more formal” • “Shorten to 100 words” • “Remove the second paragraph”</a:t>
            </a:r>
            <a:endParaRPr lang="en-US" sz="1300" dirty="0"/>
          </a:p>
        </p:txBody>
      </p:sp>
      <p:sp>
        <p:nvSpPr>
          <p:cNvPr id="10" name="Shape 7"/>
          <p:cNvSpPr/>
          <p:nvPr/>
        </p:nvSpPr>
        <p:spPr>
          <a:xfrm>
            <a:off x="640080" y="2715768"/>
            <a:ext cx="566928" cy="566928"/>
          </a:xfrm>
          <a:prstGeom prst="roundRect">
            <a:avLst>
              <a:gd name="adj" fmla="val 14516"/>
            </a:avLst>
          </a:prstGeom>
          <a:solidFill>
            <a:srgbClr val="29BA74"/>
          </a:solidFill>
          <a:ln/>
        </p:spPr>
      </p:sp>
      <p:pic>
        <p:nvPicPr>
          <p:cNvPr id="11" name="Image 1" descr="preencoded.png">    </p:cNvPr>
          <p:cNvPicPr>
            <a:picLocks noChangeAspect="1"/>
          </p:cNvPicPr>
          <p:nvPr/>
        </p:nvPicPr>
        <p:blipFill>
          <a:blip r:embed="rId2"/>
          <a:stretch>
            <a:fillRect/>
          </a:stretch>
        </p:blipFill>
        <p:spPr>
          <a:xfrm>
            <a:off x="764804" y="2840492"/>
            <a:ext cx="317480" cy="317480"/>
          </a:xfrm>
          <a:prstGeom prst="rect">
            <a:avLst/>
          </a:prstGeom>
        </p:spPr>
      </p:pic>
      <p:sp>
        <p:nvSpPr>
          <p:cNvPr id="12" name="Text 8"/>
          <p:cNvSpPr txBox="1"/>
          <p:nvPr/>
        </p:nvSpPr>
        <p:spPr>
          <a:xfrm>
            <a:off x="1463040" y="2697480"/>
            <a:ext cx="1463040" cy="603504"/>
          </a:xfrm>
          <a:prstGeom prst="rect">
            <a:avLst/>
          </a:prstGeom>
          <a:noFill/>
          <a:ln/>
        </p:spPr>
        <p:txBody>
          <a:bodyPr wrap="square" lIns="0" tIns="0" rIns="0" bIns="0" rtlCol="0" anchor="ctr"/>
          <a:lstStyle/>
          <a:p>
            <a:pPr indent="0" marL="0">
              <a:buNone/>
            </a:pPr>
            <a:r>
              <a:rPr lang="en-US" sz="1700" b="1" dirty="0">
                <a:solidFill>
                  <a:srgbClr val="273370"/>
                </a:solidFill>
                <a:latin typeface="Calibri" pitchFamily="34" charset="0"/>
                <a:ea typeface="Calibri" pitchFamily="34" charset="-122"/>
                <a:cs typeface="Calibri" pitchFamily="34" charset="-120"/>
              </a:rPr>
              <a:t>Probe</a:t>
            </a:r>
            <a:endParaRPr lang="en-US" sz="1700" dirty="0"/>
          </a:p>
        </p:txBody>
      </p:sp>
      <p:sp>
        <p:nvSpPr>
          <p:cNvPr id="13" name="Text 9"/>
          <p:cNvSpPr txBox="1"/>
          <p:nvPr/>
        </p:nvSpPr>
        <p:spPr>
          <a:xfrm>
            <a:off x="3017520" y="2697480"/>
            <a:ext cx="8503920" cy="603504"/>
          </a:xfrm>
          <a:prstGeom prst="rect">
            <a:avLst/>
          </a:prstGeom>
          <a:noFill/>
          <a:ln/>
        </p:spPr>
        <p:txBody>
          <a:bodyPr wrap="square" lIns="0" tIns="0" rIns="0" bIns="0" rtlCol="0" anchor="ctr"/>
          <a:lstStyle/>
          <a:p>
            <a:pPr indent="0" marL="0">
              <a:buNone/>
            </a:pPr>
            <a:r>
              <a:rPr lang="en-US" sz="1300" dirty="0">
                <a:solidFill>
                  <a:srgbClr val="22252B"/>
                </a:solidFill>
                <a:latin typeface="Calibri" pitchFamily="34" charset="0"/>
                <a:ea typeface="Calibri" pitchFamily="34" charset="-122"/>
                <a:cs typeface="Calibri" pitchFamily="34" charset="-120"/>
              </a:rPr>
              <a:t>“What assumptions did you make?” • “What is missing from this draft?” • “Give 3 alternative openings”</a:t>
            </a:r>
            <a:endParaRPr lang="en-US" sz="1300" dirty="0"/>
          </a:p>
        </p:txBody>
      </p:sp>
      <p:sp>
        <p:nvSpPr>
          <p:cNvPr id="14" name="Shape 10"/>
          <p:cNvSpPr/>
          <p:nvPr/>
        </p:nvSpPr>
        <p:spPr>
          <a:xfrm>
            <a:off x="640080" y="3831336"/>
            <a:ext cx="566928" cy="566928"/>
          </a:xfrm>
          <a:prstGeom prst="roundRect">
            <a:avLst>
              <a:gd name="adj" fmla="val 14516"/>
            </a:avLst>
          </a:prstGeom>
          <a:solidFill>
            <a:srgbClr val="FCBD4C"/>
          </a:solidFill>
          <a:ln/>
        </p:spPr>
      </p:sp>
      <p:pic>
        <p:nvPicPr>
          <p:cNvPr id="15" name="Image 2" descr="preencoded.png">    </p:cNvPr>
          <p:cNvPicPr>
            <a:picLocks noChangeAspect="1"/>
          </p:cNvPicPr>
          <p:nvPr/>
        </p:nvPicPr>
        <p:blipFill>
          <a:blip r:embed="rId3"/>
          <a:stretch>
            <a:fillRect/>
          </a:stretch>
        </p:blipFill>
        <p:spPr>
          <a:xfrm>
            <a:off x="764804" y="3956060"/>
            <a:ext cx="317480" cy="317480"/>
          </a:xfrm>
          <a:prstGeom prst="rect">
            <a:avLst/>
          </a:prstGeom>
        </p:spPr>
      </p:pic>
      <p:sp>
        <p:nvSpPr>
          <p:cNvPr id="16" name="Text 11"/>
          <p:cNvSpPr txBox="1"/>
          <p:nvPr/>
        </p:nvSpPr>
        <p:spPr>
          <a:xfrm>
            <a:off x="1463040" y="3813048"/>
            <a:ext cx="1463040" cy="603504"/>
          </a:xfrm>
          <a:prstGeom prst="rect">
            <a:avLst/>
          </a:prstGeom>
          <a:noFill/>
          <a:ln/>
        </p:spPr>
        <p:txBody>
          <a:bodyPr wrap="square" lIns="0" tIns="0" rIns="0" bIns="0" rtlCol="0" anchor="ctr"/>
          <a:lstStyle/>
          <a:p>
            <a:pPr indent="0" marL="0">
              <a:buNone/>
            </a:pPr>
            <a:r>
              <a:rPr lang="en-US" sz="1700" b="1" dirty="0">
                <a:solidFill>
                  <a:srgbClr val="273370"/>
                </a:solidFill>
                <a:latin typeface="Calibri" pitchFamily="34" charset="0"/>
                <a:ea typeface="Calibri" pitchFamily="34" charset="-122"/>
                <a:cs typeface="Calibri" pitchFamily="34" charset="-120"/>
              </a:rPr>
              <a:t>Challenge</a:t>
            </a:r>
            <a:endParaRPr lang="en-US" sz="1700" dirty="0"/>
          </a:p>
        </p:txBody>
      </p:sp>
      <p:sp>
        <p:nvSpPr>
          <p:cNvPr id="17" name="Text 12"/>
          <p:cNvSpPr txBox="1"/>
          <p:nvPr/>
        </p:nvSpPr>
        <p:spPr>
          <a:xfrm>
            <a:off x="3017520" y="3813048"/>
            <a:ext cx="8503920" cy="603504"/>
          </a:xfrm>
          <a:prstGeom prst="rect">
            <a:avLst/>
          </a:prstGeom>
          <a:noFill/>
          <a:ln/>
        </p:spPr>
        <p:txBody>
          <a:bodyPr wrap="square" lIns="0" tIns="0" rIns="0" bIns="0" rtlCol="0" anchor="ctr"/>
          <a:lstStyle/>
          <a:p>
            <a:pPr indent="0" marL="0">
              <a:buNone/>
            </a:pPr>
            <a:r>
              <a:rPr lang="en-US" sz="1300" dirty="0">
                <a:solidFill>
                  <a:srgbClr val="22252B"/>
                </a:solidFill>
                <a:latin typeface="Calibri" pitchFamily="34" charset="0"/>
                <a:ea typeface="Calibri" pitchFamily="34" charset="-122"/>
                <a:cs typeface="Calibri" pitchFamily="34" charset="-120"/>
              </a:rPr>
              <a:t>“Argue against this recommendation” • “What would a skeptical CFO ask?” • “Where could this be wrong?”</a:t>
            </a:r>
            <a:endParaRPr lang="en-US" sz="1300" dirty="0"/>
          </a:p>
        </p:txBody>
      </p:sp>
      <p:sp>
        <p:nvSpPr>
          <p:cNvPr id="18" name="Shape 13"/>
          <p:cNvSpPr/>
          <p:nvPr/>
        </p:nvSpPr>
        <p:spPr>
          <a:xfrm>
            <a:off x="640080" y="4946904"/>
            <a:ext cx="566928" cy="566928"/>
          </a:xfrm>
          <a:prstGeom prst="roundRect">
            <a:avLst>
              <a:gd name="adj" fmla="val 14516"/>
            </a:avLst>
          </a:prstGeom>
          <a:solidFill>
            <a:srgbClr val="6258A6"/>
          </a:solidFill>
          <a:ln/>
        </p:spPr>
      </p:sp>
      <p:pic>
        <p:nvPicPr>
          <p:cNvPr id="19" name="Image 3" descr="preencoded.png">    </p:cNvPr>
          <p:cNvPicPr>
            <a:picLocks noChangeAspect="1"/>
          </p:cNvPicPr>
          <p:nvPr/>
        </p:nvPicPr>
        <p:blipFill>
          <a:blip r:embed="rId4"/>
          <a:stretch>
            <a:fillRect/>
          </a:stretch>
        </p:blipFill>
        <p:spPr>
          <a:xfrm>
            <a:off x="764804" y="5071628"/>
            <a:ext cx="317480" cy="317480"/>
          </a:xfrm>
          <a:prstGeom prst="rect">
            <a:avLst/>
          </a:prstGeom>
        </p:spPr>
      </p:pic>
      <p:sp>
        <p:nvSpPr>
          <p:cNvPr id="20" name="Text 14"/>
          <p:cNvSpPr txBox="1"/>
          <p:nvPr/>
        </p:nvSpPr>
        <p:spPr>
          <a:xfrm>
            <a:off x="1463040" y="4928616"/>
            <a:ext cx="1463040" cy="603504"/>
          </a:xfrm>
          <a:prstGeom prst="rect">
            <a:avLst/>
          </a:prstGeom>
          <a:noFill/>
          <a:ln/>
        </p:spPr>
        <p:txBody>
          <a:bodyPr wrap="square" lIns="0" tIns="0" rIns="0" bIns="0" rtlCol="0" anchor="ctr"/>
          <a:lstStyle/>
          <a:p>
            <a:pPr indent="0" marL="0">
              <a:buNone/>
            </a:pPr>
            <a:r>
              <a:rPr lang="en-US" sz="1700" b="1" dirty="0">
                <a:solidFill>
                  <a:srgbClr val="273370"/>
                </a:solidFill>
                <a:latin typeface="Calibri" pitchFamily="34" charset="0"/>
                <a:ea typeface="Calibri" pitchFamily="34" charset="-122"/>
                <a:cs typeface="Calibri" pitchFamily="34" charset="-120"/>
              </a:rPr>
              <a:t>Build</a:t>
            </a:r>
            <a:endParaRPr lang="en-US" sz="1700" dirty="0"/>
          </a:p>
        </p:txBody>
      </p:sp>
      <p:sp>
        <p:nvSpPr>
          <p:cNvPr id="21" name="Text 15"/>
          <p:cNvSpPr txBox="1"/>
          <p:nvPr/>
        </p:nvSpPr>
        <p:spPr>
          <a:xfrm>
            <a:off x="3017520" y="4928616"/>
            <a:ext cx="8503920" cy="603504"/>
          </a:xfrm>
          <a:prstGeom prst="rect">
            <a:avLst/>
          </a:prstGeom>
          <a:noFill/>
          <a:ln/>
        </p:spPr>
        <p:txBody>
          <a:bodyPr wrap="square" lIns="0" tIns="0" rIns="0" bIns="0" rtlCol="0" anchor="ctr"/>
          <a:lstStyle/>
          <a:p>
            <a:pPr indent="0" marL="0">
              <a:buNone/>
            </a:pPr>
            <a:r>
              <a:rPr lang="en-US" sz="1300" dirty="0">
                <a:solidFill>
                  <a:srgbClr val="22252B"/>
                </a:solidFill>
                <a:latin typeface="Calibri" pitchFamily="34" charset="0"/>
                <a:ea typeface="Calibri" pitchFamily="34" charset="-122"/>
                <a:cs typeface="Calibri" pitchFamily="34" charset="-120"/>
              </a:rPr>
              <a:t>“Now turn it into talking points” • “Now a 5-slide outline” • “Now the Arabic version”</a:t>
            </a:r>
            <a:endParaRPr lang="en-US" sz="1300" dirty="0"/>
          </a:p>
        </p:txBody>
      </p:sp>
      <p:sp>
        <p:nvSpPr>
          <p:cNvPr id="22" name="Text 16"/>
          <p:cNvSpPr txBox="1"/>
          <p:nvPr/>
        </p:nvSpPr>
        <p:spPr>
          <a:xfrm>
            <a:off x="640080" y="6035040"/>
            <a:ext cx="10972800" cy="365760"/>
          </a:xfrm>
          <a:prstGeom prst="rect">
            <a:avLst/>
          </a:prstGeom>
          <a:noFill/>
          <a:ln/>
        </p:spPr>
        <p:txBody>
          <a:bodyPr wrap="square" lIns="0" tIns="0" rIns="0" bIns="0" rtlCol="0" anchor="ctr"/>
          <a:lstStyle/>
          <a:p>
            <a:pPr indent="0" marL="0">
              <a:buNone/>
            </a:pPr>
            <a:r>
              <a:rPr lang="en-US" sz="1250" i="1" dirty="0">
                <a:solidFill>
                  <a:srgbClr val="696969"/>
                </a:solidFill>
                <a:latin typeface="Calibri" pitchFamily="34" charset="0"/>
                <a:ea typeface="Calibri" pitchFamily="34" charset="-122"/>
                <a:cs typeface="Calibri" pitchFamily="34" charset="-120"/>
              </a:rPr>
              <a:t>Tip: keep one topic per conversation — start a fresh chat for a new task so old context doesn't contaminate the answers.</a:t>
            </a:r>
            <a:endParaRPr lang="en-US" sz="1250" dirty="0"/>
          </a:p>
        </p:txBody>
      </p:sp>
      <p:sp>
        <p:nvSpPr>
          <p:cNvPr id="23" name="Text 17"/>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24" name="Text 18"/>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Five reusable prompt structures</a:t>
            </a:r>
            <a:endParaRPr lang="en-US" sz="3000" dirty="0"/>
          </a:p>
        </p:txBody>
      </p:sp>
      <p:sp>
        <p:nvSpPr>
          <p:cNvPr id="3" name="Text 1"/>
          <p:cNvSpPr txBox="1"/>
          <p:nvPr/>
        </p:nvSpPr>
        <p:spPr>
          <a:xfrm>
            <a:off x="502920" y="987552"/>
            <a:ext cx="11155680" cy="365760"/>
          </a:xfrm>
          <a:prstGeom prst="rect">
            <a:avLst/>
          </a:prstGeom>
          <a:noFill/>
          <a:ln/>
        </p:spPr>
        <p:txBody>
          <a:bodyPr wrap="square" lIns="0" tIns="0" rIns="0" bIns="0" rtlCol="0" anchor="ctr"/>
          <a:lstStyle/>
          <a:p>
            <a:pPr indent="0" marL="0">
              <a:buNone/>
            </a:pPr>
            <a:r>
              <a:rPr lang="en-US" sz="1400" dirty="0">
                <a:solidFill>
                  <a:srgbClr val="696969"/>
                </a:solidFill>
                <a:latin typeface="Calibri" pitchFamily="34" charset="0"/>
                <a:ea typeface="Calibri" pitchFamily="34" charset="-122"/>
                <a:cs typeface="Calibri" pitchFamily="34" charset="-120"/>
              </a:rPr>
              <a:t>Save these in your Personal Prompt Library today</a:t>
            </a:r>
            <a:endParaRPr lang="en-US" sz="1400" dirty="0"/>
          </a:p>
        </p:txBody>
      </p:sp>
      <p:sp>
        <p:nvSpPr>
          <p:cNvPr id="4" name="Shape 2"/>
          <p:cNvSpPr/>
          <p:nvPr/>
        </p:nvSpPr>
        <p:spPr>
          <a:xfrm>
            <a:off x="10565892" y="457200"/>
            <a:ext cx="1120140" cy="384048"/>
          </a:xfrm>
          <a:prstGeom prst="roundRect">
            <a:avLst>
              <a:gd name="adj" fmla="val 50000"/>
            </a:avLst>
          </a:prstGeom>
          <a:solidFill>
            <a:srgbClr val="94A0DA"/>
          </a:solidFill>
          <a:ln/>
        </p:spPr>
      </p:sp>
      <p:sp>
        <p:nvSpPr>
          <p:cNvPr id="5" name="Text 3"/>
          <p:cNvSpPr txBox="1"/>
          <p:nvPr/>
        </p:nvSpPr>
        <p:spPr>
          <a:xfrm>
            <a:off x="10565892" y="457200"/>
            <a:ext cx="11201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Shape 4"/>
          <p:cNvSpPr/>
          <p:nvPr/>
        </p:nvSpPr>
        <p:spPr>
          <a:xfrm>
            <a:off x="502920" y="1463040"/>
            <a:ext cx="11201400" cy="841248"/>
          </a:xfrm>
          <a:prstGeom prst="roundRect">
            <a:avLst>
              <a:gd name="adj" fmla="val 8696"/>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731520" y="1536192"/>
            <a:ext cx="2286000" cy="694944"/>
          </a:xfrm>
          <a:prstGeom prst="rect">
            <a:avLst/>
          </a:prstGeom>
          <a:noFill/>
          <a:ln/>
        </p:spPr>
        <p:txBody>
          <a:bodyPr wrap="square" lIns="0" tIns="0" rIns="0" bIns="0" rtlCol="0" anchor="ctr"/>
          <a:lstStyle/>
          <a:p>
            <a:pPr indent="0" marL="0">
              <a:buNone/>
            </a:pPr>
            <a:r>
              <a:rPr lang="en-US" sz="1350" b="1" dirty="0">
                <a:solidFill>
                  <a:srgbClr val="273370"/>
                </a:solidFill>
                <a:latin typeface="Calibri" pitchFamily="34" charset="0"/>
                <a:ea typeface="Calibri" pitchFamily="34" charset="-122"/>
                <a:cs typeface="Calibri" pitchFamily="34" charset="-120"/>
              </a:rPr>
              <a:t>1. The Drafter</a:t>
            </a:r>
            <a:endParaRPr lang="en-US" sz="1350" dirty="0"/>
          </a:p>
        </p:txBody>
      </p:sp>
      <p:sp>
        <p:nvSpPr>
          <p:cNvPr id="8" name="Text 6"/>
          <p:cNvSpPr txBox="1"/>
          <p:nvPr/>
        </p:nvSpPr>
        <p:spPr>
          <a:xfrm>
            <a:off x="3154680" y="1536192"/>
            <a:ext cx="8321040" cy="694944"/>
          </a:xfrm>
          <a:prstGeom prst="rect">
            <a:avLst/>
          </a:prstGeom>
          <a:noFill/>
          <a:ln/>
        </p:spPr>
        <p:txBody>
          <a:bodyPr wrap="square" lIns="0" tIns="0" rIns="0" bIns="0" rtlCol="0" anchor="ctr"/>
          <a:lstStyle/>
          <a:p>
            <a:pPr indent="0" marL="0">
              <a:lnSpc>
                <a:spcPct val="102000"/>
              </a:lnSpc>
              <a:buNone/>
            </a:pPr>
            <a:r>
              <a:rPr lang="en-US" sz="1050" i="1" dirty="0">
                <a:solidFill>
                  <a:srgbClr val="22252B"/>
                </a:solidFill>
                <a:latin typeface="Calibri" pitchFamily="34" charset="0"/>
                <a:ea typeface="Calibri" pitchFamily="34" charset="-122"/>
                <a:cs typeface="Calibri" pitchFamily="34" charset="-120"/>
              </a:rPr>
              <a:t>Act as [role]. Draft a [document type] to [audience] about [topic]. Key facts: […]. Tone: […]. Length: […]. Then provide an Arabic version.</a:t>
            </a:r>
            <a:endParaRPr lang="en-US" sz="1050" dirty="0"/>
          </a:p>
        </p:txBody>
      </p:sp>
      <p:sp>
        <p:nvSpPr>
          <p:cNvPr id="9" name="Shape 7"/>
          <p:cNvSpPr/>
          <p:nvPr/>
        </p:nvSpPr>
        <p:spPr>
          <a:xfrm>
            <a:off x="502920" y="2395728"/>
            <a:ext cx="11201400" cy="841248"/>
          </a:xfrm>
          <a:prstGeom prst="roundRect">
            <a:avLst>
              <a:gd name="adj" fmla="val 8696"/>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731520" y="2468880"/>
            <a:ext cx="2286000" cy="694944"/>
          </a:xfrm>
          <a:prstGeom prst="rect">
            <a:avLst/>
          </a:prstGeom>
          <a:noFill/>
          <a:ln/>
        </p:spPr>
        <p:txBody>
          <a:bodyPr wrap="square" lIns="0" tIns="0" rIns="0" bIns="0" rtlCol="0" anchor="ctr"/>
          <a:lstStyle/>
          <a:p>
            <a:pPr indent="0" marL="0">
              <a:buNone/>
            </a:pPr>
            <a:r>
              <a:rPr lang="en-US" sz="1350" b="1" dirty="0">
                <a:solidFill>
                  <a:srgbClr val="273370"/>
                </a:solidFill>
                <a:latin typeface="Calibri" pitchFamily="34" charset="0"/>
                <a:ea typeface="Calibri" pitchFamily="34" charset="-122"/>
                <a:cs typeface="Calibri" pitchFamily="34" charset="-120"/>
              </a:rPr>
              <a:t>2. The Summariser</a:t>
            </a:r>
            <a:endParaRPr lang="en-US" sz="1350" dirty="0"/>
          </a:p>
        </p:txBody>
      </p:sp>
      <p:sp>
        <p:nvSpPr>
          <p:cNvPr id="11" name="Text 9"/>
          <p:cNvSpPr txBox="1"/>
          <p:nvPr/>
        </p:nvSpPr>
        <p:spPr>
          <a:xfrm>
            <a:off x="3154680" y="2468880"/>
            <a:ext cx="8321040" cy="694944"/>
          </a:xfrm>
          <a:prstGeom prst="rect">
            <a:avLst/>
          </a:prstGeom>
          <a:noFill/>
          <a:ln/>
        </p:spPr>
        <p:txBody>
          <a:bodyPr wrap="square" lIns="0" tIns="0" rIns="0" bIns="0" rtlCol="0" anchor="ctr"/>
          <a:lstStyle/>
          <a:p>
            <a:pPr indent="0" marL="0">
              <a:lnSpc>
                <a:spcPct val="102000"/>
              </a:lnSpc>
              <a:buNone/>
            </a:pPr>
            <a:r>
              <a:rPr lang="en-US" sz="1050" i="1" dirty="0">
                <a:solidFill>
                  <a:srgbClr val="22252B"/>
                </a:solidFill>
                <a:latin typeface="Calibri" pitchFamily="34" charset="0"/>
                <a:ea typeface="Calibri" pitchFamily="34" charset="-122"/>
                <a:cs typeface="Calibri" pitchFamily="34" charset="-120"/>
              </a:rPr>
              <a:t>Summarise the text below for [audience] in [format/length]. Highlight decisions, risks and required actions. Use only the text provided. Text: […]</a:t>
            </a:r>
            <a:endParaRPr lang="en-US" sz="1050" dirty="0"/>
          </a:p>
        </p:txBody>
      </p:sp>
      <p:sp>
        <p:nvSpPr>
          <p:cNvPr id="12" name="Shape 10"/>
          <p:cNvSpPr/>
          <p:nvPr/>
        </p:nvSpPr>
        <p:spPr>
          <a:xfrm>
            <a:off x="502920" y="3328416"/>
            <a:ext cx="11201400" cy="841248"/>
          </a:xfrm>
          <a:prstGeom prst="roundRect">
            <a:avLst>
              <a:gd name="adj" fmla="val 8696"/>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731520" y="3401568"/>
            <a:ext cx="2286000" cy="694944"/>
          </a:xfrm>
          <a:prstGeom prst="rect">
            <a:avLst/>
          </a:prstGeom>
          <a:noFill/>
          <a:ln/>
        </p:spPr>
        <p:txBody>
          <a:bodyPr wrap="square" lIns="0" tIns="0" rIns="0" bIns="0" rtlCol="0" anchor="ctr"/>
          <a:lstStyle/>
          <a:p>
            <a:pPr indent="0" marL="0">
              <a:buNone/>
            </a:pPr>
            <a:r>
              <a:rPr lang="en-US" sz="1350" b="1" dirty="0">
                <a:solidFill>
                  <a:srgbClr val="273370"/>
                </a:solidFill>
                <a:latin typeface="Calibri" pitchFamily="34" charset="0"/>
                <a:ea typeface="Calibri" pitchFamily="34" charset="-122"/>
                <a:cs typeface="Calibri" pitchFamily="34" charset="-120"/>
              </a:rPr>
              <a:t>3. The Extractor</a:t>
            </a:r>
            <a:endParaRPr lang="en-US" sz="1350" dirty="0"/>
          </a:p>
        </p:txBody>
      </p:sp>
      <p:sp>
        <p:nvSpPr>
          <p:cNvPr id="14" name="Text 12"/>
          <p:cNvSpPr txBox="1"/>
          <p:nvPr/>
        </p:nvSpPr>
        <p:spPr>
          <a:xfrm>
            <a:off x="3154680" y="3401568"/>
            <a:ext cx="8321040" cy="694944"/>
          </a:xfrm>
          <a:prstGeom prst="rect">
            <a:avLst/>
          </a:prstGeom>
          <a:noFill/>
          <a:ln/>
        </p:spPr>
        <p:txBody>
          <a:bodyPr wrap="square" lIns="0" tIns="0" rIns="0" bIns="0" rtlCol="0" anchor="ctr"/>
          <a:lstStyle/>
          <a:p>
            <a:pPr indent="0" marL="0">
              <a:lnSpc>
                <a:spcPct val="102000"/>
              </a:lnSpc>
              <a:buNone/>
            </a:pPr>
            <a:r>
              <a:rPr lang="en-US" sz="1050" i="1" dirty="0">
                <a:solidFill>
                  <a:srgbClr val="22252B"/>
                </a:solidFill>
                <a:latin typeface="Calibri" pitchFamily="34" charset="0"/>
                <a:ea typeface="Calibri" pitchFamily="34" charset="-122"/>
                <a:cs typeface="Calibri" pitchFamily="34" charset="-120"/>
              </a:rPr>
              <a:t>From the text below, extract [items] into a table with columns […]. Mark anything unclear as [CHECK]. Text: […]</a:t>
            </a:r>
            <a:endParaRPr lang="en-US" sz="1050" dirty="0"/>
          </a:p>
        </p:txBody>
      </p:sp>
      <p:sp>
        <p:nvSpPr>
          <p:cNvPr id="15" name="Shape 13"/>
          <p:cNvSpPr/>
          <p:nvPr/>
        </p:nvSpPr>
        <p:spPr>
          <a:xfrm>
            <a:off x="502920" y="4261104"/>
            <a:ext cx="11201400" cy="841248"/>
          </a:xfrm>
          <a:prstGeom prst="roundRect">
            <a:avLst>
              <a:gd name="adj" fmla="val 8696"/>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6" name="Text 14"/>
          <p:cNvSpPr txBox="1"/>
          <p:nvPr/>
        </p:nvSpPr>
        <p:spPr>
          <a:xfrm>
            <a:off x="731520" y="4334256"/>
            <a:ext cx="2286000" cy="694944"/>
          </a:xfrm>
          <a:prstGeom prst="rect">
            <a:avLst/>
          </a:prstGeom>
          <a:noFill/>
          <a:ln/>
        </p:spPr>
        <p:txBody>
          <a:bodyPr wrap="square" lIns="0" tIns="0" rIns="0" bIns="0" rtlCol="0" anchor="ctr"/>
          <a:lstStyle/>
          <a:p>
            <a:pPr indent="0" marL="0">
              <a:buNone/>
            </a:pPr>
            <a:r>
              <a:rPr lang="en-US" sz="1350" b="1" dirty="0">
                <a:solidFill>
                  <a:srgbClr val="273370"/>
                </a:solidFill>
                <a:latin typeface="Calibri" pitchFamily="34" charset="0"/>
                <a:ea typeface="Calibri" pitchFamily="34" charset="-122"/>
                <a:cs typeface="Calibri" pitchFamily="34" charset="-120"/>
              </a:rPr>
              <a:t>4. The Comparer</a:t>
            </a:r>
            <a:endParaRPr lang="en-US" sz="1350" dirty="0"/>
          </a:p>
        </p:txBody>
      </p:sp>
      <p:sp>
        <p:nvSpPr>
          <p:cNvPr id="17" name="Text 15"/>
          <p:cNvSpPr txBox="1"/>
          <p:nvPr/>
        </p:nvSpPr>
        <p:spPr>
          <a:xfrm>
            <a:off x="3154680" y="4334256"/>
            <a:ext cx="8321040" cy="694944"/>
          </a:xfrm>
          <a:prstGeom prst="rect">
            <a:avLst/>
          </a:prstGeom>
          <a:noFill/>
          <a:ln/>
        </p:spPr>
        <p:txBody>
          <a:bodyPr wrap="square" lIns="0" tIns="0" rIns="0" bIns="0" rtlCol="0" anchor="ctr"/>
          <a:lstStyle/>
          <a:p>
            <a:pPr indent="0" marL="0">
              <a:lnSpc>
                <a:spcPct val="102000"/>
              </a:lnSpc>
              <a:buNone/>
            </a:pPr>
            <a:r>
              <a:rPr lang="en-US" sz="1050" i="1" dirty="0">
                <a:solidFill>
                  <a:srgbClr val="22252B"/>
                </a:solidFill>
                <a:latin typeface="Calibri" pitchFamily="34" charset="0"/>
                <a:ea typeface="Calibri" pitchFamily="34" charset="-122"/>
                <a:cs typeface="Calibri" pitchFamily="34" charset="-120"/>
              </a:rPr>
              <a:t>Compare the [N] options below against these criteria: […]. Present a table, then a short recommendation with reasoning and one risk per option.</a:t>
            </a:r>
            <a:endParaRPr lang="en-US" sz="1050" dirty="0"/>
          </a:p>
        </p:txBody>
      </p:sp>
      <p:sp>
        <p:nvSpPr>
          <p:cNvPr id="18" name="Shape 16"/>
          <p:cNvSpPr/>
          <p:nvPr/>
        </p:nvSpPr>
        <p:spPr>
          <a:xfrm>
            <a:off x="502920" y="5193792"/>
            <a:ext cx="11201400" cy="841248"/>
          </a:xfrm>
          <a:prstGeom prst="roundRect">
            <a:avLst>
              <a:gd name="adj" fmla="val 8696"/>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9" name="Text 17"/>
          <p:cNvSpPr txBox="1"/>
          <p:nvPr/>
        </p:nvSpPr>
        <p:spPr>
          <a:xfrm>
            <a:off x="731520" y="5266944"/>
            <a:ext cx="2286000" cy="694944"/>
          </a:xfrm>
          <a:prstGeom prst="rect">
            <a:avLst/>
          </a:prstGeom>
          <a:noFill/>
          <a:ln/>
        </p:spPr>
        <p:txBody>
          <a:bodyPr wrap="square" lIns="0" tIns="0" rIns="0" bIns="0" rtlCol="0" anchor="ctr"/>
          <a:lstStyle/>
          <a:p>
            <a:pPr indent="0" marL="0">
              <a:buNone/>
            </a:pPr>
            <a:r>
              <a:rPr lang="en-US" sz="1350" b="1" dirty="0">
                <a:solidFill>
                  <a:srgbClr val="273370"/>
                </a:solidFill>
                <a:latin typeface="Calibri" pitchFamily="34" charset="0"/>
                <a:ea typeface="Calibri" pitchFamily="34" charset="-122"/>
                <a:cs typeface="Calibri" pitchFamily="34" charset="-120"/>
              </a:rPr>
              <a:t>5. The Thinking Partner</a:t>
            </a:r>
            <a:endParaRPr lang="en-US" sz="1350" dirty="0"/>
          </a:p>
        </p:txBody>
      </p:sp>
      <p:sp>
        <p:nvSpPr>
          <p:cNvPr id="20" name="Text 18"/>
          <p:cNvSpPr txBox="1"/>
          <p:nvPr/>
        </p:nvSpPr>
        <p:spPr>
          <a:xfrm>
            <a:off x="3154680" y="5266944"/>
            <a:ext cx="8321040" cy="694944"/>
          </a:xfrm>
          <a:prstGeom prst="rect">
            <a:avLst/>
          </a:prstGeom>
          <a:noFill/>
          <a:ln/>
        </p:spPr>
        <p:txBody>
          <a:bodyPr wrap="square" lIns="0" tIns="0" rIns="0" bIns="0" rtlCol="0" anchor="ctr"/>
          <a:lstStyle/>
          <a:p>
            <a:pPr indent="0" marL="0">
              <a:lnSpc>
                <a:spcPct val="102000"/>
              </a:lnSpc>
              <a:buNone/>
            </a:pPr>
            <a:r>
              <a:rPr lang="en-US" sz="1050" i="1" dirty="0">
                <a:solidFill>
                  <a:srgbClr val="22252B"/>
                </a:solidFill>
                <a:latin typeface="Calibri" pitchFamily="34" charset="0"/>
                <a:ea typeface="Calibri" pitchFamily="34" charset="-122"/>
                <a:cs typeface="Calibri" pitchFamily="34" charset="-120"/>
              </a:rPr>
              <a:t>I need to [goal]. Ask me the 5 most useful questions one at a time, then propose a plan based on my answers.</a:t>
            </a:r>
            <a:endParaRPr lang="en-US" sz="1050" dirty="0"/>
          </a:p>
        </p:txBody>
      </p:sp>
      <p:sp>
        <p:nvSpPr>
          <p:cNvPr id="21" name="Text 19"/>
          <p:cNvSpPr txBox="1"/>
          <p:nvPr/>
        </p:nvSpPr>
        <p:spPr>
          <a:xfrm>
            <a:off x="502920" y="6172200"/>
            <a:ext cx="10972800" cy="320040"/>
          </a:xfrm>
          <a:prstGeom prst="rect">
            <a:avLst/>
          </a:prstGeom>
          <a:noFill/>
          <a:ln/>
        </p:spPr>
        <p:txBody>
          <a:bodyPr wrap="square" lIns="0" tIns="0" rIns="0" bIns="0" rtlCol="0" anchor="ctr"/>
          <a:lstStyle/>
          <a:p>
            <a:pPr indent="0" marL="0">
              <a:buNone/>
            </a:pPr>
            <a:r>
              <a:rPr lang="en-US" sz="1100" i="1" dirty="0">
                <a:solidFill>
                  <a:srgbClr val="696969"/>
                </a:solidFill>
                <a:latin typeface="Calibri" pitchFamily="34" charset="0"/>
                <a:ea typeface="Calibri" pitchFamily="34" charset="-122"/>
                <a:cs typeface="Calibri" pitchFamily="34" charset="-120"/>
              </a:rPr>
              <a:t>All five are pre-loaded in your Personal Prompt Library template (Excel) — adapt the [brackets] to each task.</a:t>
            </a:r>
            <a:endParaRPr lang="en-US" sz="1100" dirty="0"/>
          </a:p>
        </p:txBody>
      </p:sp>
      <p:sp>
        <p:nvSpPr>
          <p:cNvPr id="22" name="Text 20"/>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23" name="Text 21"/>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Five common prompting mistakes</a:t>
            </a:r>
            <a:endParaRPr lang="en-US" sz="3000" dirty="0"/>
          </a:p>
        </p:txBody>
      </p:sp>
      <p:sp>
        <p:nvSpPr>
          <p:cNvPr id="3" name="Shape 1"/>
          <p:cNvSpPr/>
          <p:nvPr/>
        </p:nvSpPr>
        <p:spPr>
          <a:xfrm>
            <a:off x="10565892" y="457200"/>
            <a:ext cx="1120140" cy="384048"/>
          </a:xfrm>
          <a:prstGeom prst="roundRect">
            <a:avLst>
              <a:gd name="adj" fmla="val 50000"/>
            </a:avLst>
          </a:prstGeom>
          <a:solidFill>
            <a:srgbClr val="94A0DA"/>
          </a:solidFill>
          <a:ln/>
        </p:spPr>
      </p:sp>
      <p:sp>
        <p:nvSpPr>
          <p:cNvPr id="4" name="Text 2"/>
          <p:cNvSpPr txBox="1"/>
          <p:nvPr/>
        </p:nvSpPr>
        <p:spPr>
          <a:xfrm>
            <a:off x="10565892" y="457200"/>
            <a:ext cx="11201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CONCEPT</a:t>
            </a:r>
            <a:endParaRPr lang="en-US" sz="1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02920" y="1508760"/>
          <a:ext cx="11155680" cy="914400"/>
        </p:xfrm>
        <a:graphic>
          <a:graphicData uri="http://schemas.openxmlformats.org/drawingml/2006/table">
            <a:tbl>
              <a:tblPr/>
              <a:tblGrid>
                <a:gridCol w="2468880"/>
                <a:gridCol w="4572000"/>
                <a:gridCol w="4114800"/>
              </a:tblGrid>
              <a:tr h="77724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Mistake</a:t>
                      </a:r>
                      <a:endParaRPr lang="en-US" sz="1200" dirty="0">
                        <a:latin typeface="Calibri" charset="0"/>
                        <a:ea typeface="Calibri" charset="0"/>
                        <a:cs typeface="Calibri" charset="0"/>
                      </a:endParaRPr>
                    </a:p>
                  </a:txBody>
                  <a:tcPr marL="73152" marR="73152" marT="73152" marB="73152"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27337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Why it hurts</a:t>
                      </a:r>
                      <a:endParaRPr lang="en-US" sz="1200" dirty="0">
                        <a:latin typeface="Calibri" charset="0"/>
                        <a:ea typeface="Calibri" charset="0"/>
                        <a:cs typeface="Calibri" charset="0"/>
                      </a:endParaRPr>
                    </a:p>
                  </a:txBody>
                  <a:tcPr marL="73152" marR="73152" marT="73152" marB="73152"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27337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Do this instead</a:t>
                      </a:r>
                      <a:endParaRPr lang="en-US" sz="1200" dirty="0">
                        <a:latin typeface="Calibri" charset="0"/>
                        <a:ea typeface="Calibri" charset="0"/>
                        <a:cs typeface="Calibri" charset="0"/>
                      </a:endParaRPr>
                    </a:p>
                  </a:txBody>
                  <a:tcPr marL="73152" marR="73152" marT="73152" marB="73152"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273370"/>
                    </a:solidFill>
                  </a:tcPr>
                </a:tc>
              </a:tr>
              <a:tr h="777240">
                <a:tc>
                  <a:txBody>
                    <a:bodyPr/>
                    <a:lstStyle/>
                    <a:p>
                      <a:pPr indent="0" marL="0">
                        <a:buNone/>
                      </a:pPr>
                      <a:r>
                        <a:rPr lang="en-US" sz="1200" b="1" dirty="0">
                          <a:solidFill>
                            <a:srgbClr val="273370"/>
                          </a:solidFill>
                          <a:latin typeface="Calibri" pitchFamily="34" charset="0"/>
                          <a:ea typeface="Calibri" pitchFamily="34" charset="-122"/>
                          <a:cs typeface="Calibri" pitchFamily="34" charset="-120"/>
                        </a:rPr>
                        <a:t>No context</a:t>
                      </a:r>
                      <a:endParaRPr lang="en-US" sz="1200" dirty="0">
                        <a:latin typeface="Calibri" charset="0"/>
                        <a:ea typeface="Calibri" charset="0"/>
                        <a:cs typeface="Calibri" charset="0"/>
                      </a:endParaRPr>
                    </a:p>
                  </a:txBody>
                  <a:tcPr marL="73152" marR="73152" marT="73152" marB="73152"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Asking as if the AI knows your organisation, project or reader. It knows nothing you don't tell it.</a:t>
                      </a:r>
                      <a:endParaRPr lang="en-US" sz="1200" dirty="0">
                        <a:latin typeface="Calibri" charset="0"/>
                        <a:ea typeface="Calibri" charset="0"/>
                        <a:cs typeface="Calibri" charset="0"/>
                      </a:endParaRPr>
                    </a:p>
                  </a:txBody>
                  <a:tcPr marL="73152" marR="73152" marT="73152" marB="73152"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Add who / what / why / for whom — every time.</a:t>
                      </a:r>
                      <a:endParaRPr lang="en-US" sz="1200" dirty="0">
                        <a:latin typeface="Calibri" charset="0"/>
                        <a:ea typeface="Calibri" charset="0"/>
                        <a:cs typeface="Calibri" charset="0"/>
                      </a:endParaRPr>
                    </a:p>
                  </a:txBody>
                  <a:tcPr marL="73152" marR="73152" marT="73152" marB="73152"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r>
              <a:tr h="777240">
                <a:tc>
                  <a:txBody>
                    <a:bodyPr/>
                    <a:lstStyle/>
                    <a:p>
                      <a:pPr indent="0" marL="0">
                        <a:buNone/>
                      </a:pPr>
                      <a:r>
                        <a:rPr lang="en-US" sz="1200" b="1" dirty="0">
                          <a:solidFill>
                            <a:srgbClr val="273370"/>
                          </a:solidFill>
                          <a:latin typeface="Calibri" pitchFamily="34" charset="0"/>
                          <a:ea typeface="Calibri" pitchFamily="34" charset="-122"/>
                          <a:cs typeface="Calibri" pitchFamily="34" charset="-120"/>
                        </a:rPr>
                        <a:t>Everything in one prompt</a:t>
                      </a:r>
                      <a:endParaRPr lang="en-US" sz="1200" dirty="0">
                        <a:latin typeface="Calibri" charset="0"/>
                        <a:ea typeface="Calibri" charset="0"/>
                        <a:cs typeface="Calibri" charset="0"/>
                      </a:endParaRPr>
                    </a:p>
                  </a:txBody>
                  <a:tcPr marL="73152" marR="73152" marT="73152" marB="73152"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Cramming five tasks into one request produces a shallow answer to each.</a:t>
                      </a:r>
                      <a:endParaRPr lang="en-US" sz="1200" dirty="0">
                        <a:latin typeface="Calibri" charset="0"/>
                        <a:ea typeface="Calibri" charset="0"/>
                        <a:cs typeface="Calibri" charset="0"/>
                      </a:endParaRPr>
                    </a:p>
                  </a:txBody>
                  <a:tcPr marL="73152" marR="73152" marT="73152" marB="73152"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One task per prompt; chain follow-ups instead.</a:t>
                      </a:r>
                      <a:endParaRPr lang="en-US" sz="1200" dirty="0">
                        <a:latin typeface="Calibri" charset="0"/>
                        <a:ea typeface="Calibri" charset="0"/>
                        <a:cs typeface="Calibri" charset="0"/>
                      </a:endParaRPr>
                    </a:p>
                  </a:txBody>
                  <a:tcPr marL="73152" marR="73152" marT="73152" marB="73152"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r>
              <a:tr h="777240">
                <a:tc>
                  <a:txBody>
                    <a:bodyPr/>
                    <a:lstStyle/>
                    <a:p>
                      <a:pPr indent="0" marL="0">
                        <a:buNone/>
                      </a:pPr>
                      <a:r>
                        <a:rPr lang="en-US" sz="1200" b="1" dirty="0">
                          <a:solidFill>
                            <a:srgbClr val="273370"/>
                          </a:solidFill>
                          <a:latin typeface="Calibri" pitchFamily="34" charset="0"/>
                          <a:ea typeface="Calibri" pitchFamily="34" charset="-122"/>
                          <a:cs typeface="Calibri" pitchFamily="34" charset="-120"/>
                        </a:rPr>
                        <a:t>Accepting draft #1</a:t>
                      </a:r>
                      <a:endParaRPr lang="en-US" sz="1200" dirty="0">
                        <a:latin typeface="Calibri" charset="0"/>
                        <a:ea typeface="Calibri" charset="0"/>
                        <a:cs typeface="Calibri" charset="0"/>
                      </a:endParaRPr>
                    </a:p>
                  </a:txBody>
                  <a:tcPr marL="73152" marR="73152" marT="73152" marB="73152"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The first output is a starting point, and often the most generic one.</a:t>
                      </a:r>
                      <a:endParaRPr lang="en-US" sz="1200" dirty="0">
                        <a:latin typeface="Calibri" charset="0"/>
                        <a:ea typeface="Calibri" charset="0"/>
                        <a:cs typeface="Calibri" charset="0"/>
                      </a:endParaRPr>
                    </a:p>
                  </a:txBody>
                  <a:tcPr marL="73152" marR="73152" marT="73152" marB="73152"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Always refine at least once: tone, length, structure, alternatives.</a:t>
                      </a:r>
                      <a:endParaRPr lang="en-US" sz="1200" dirty="0">
                        <a:latin typeface="Calibri" charset="0"/>
                        <a:ea typeface="Calibri" charset="0"/>
                        <a:cs typeface="Calibri" charset="0"/>
                      </a:endParaRPr>
                    </a:p>
                  </a:txBody>
                  <a:tcPr marL="73152" marR="73152" marT="73152" marB="73152"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r>
              <a:tr h="777240">
                <a:tc>
                  <a:txBody>
                    <a:bodyPr/>
                    <a:lstStyle/>
                    <a:p>
                      <a:pPr indent="0" marL="0">
                        <a:buNone/>
                      </a:pPr>
                      <a:r>
                        <a:rPr lang="en-US" sz="1200" b="1" dirty="0">
                          <a:solidFill>
                            <a:srgbClr val="273370"/>
                          </a:solidFill>
                          <a:latin typeface="Calibri" pitchFamily="34" charset="0"/>
                          <a:ea typeface="Calibri" pitchFamily="34" charset="-122"/>
                          <a:cs typeface="Calibri" pitchFamily="34" charset="-120"/>
                        </a:rPr>
                        <a:t>Vague quality words</a:t>
                      </a:r>
                      <a:endParaRPr lang="en-US" sz="1200" dirty="0">
                        <a:latin typeface="Calibri" charset="0"/>
                        <a:ea typeface="Calibri" charset="0"/>
                        <a:cs typeface="Calibri" charset="0"/>
                      </a:endParaRPr>
                    </a:p>
                  </a:txBody>
                  <a:tcPr marL="73152" marR="73152" marT="73152" marB="73152"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“Make it good/professional/better” gives the model nothing to aim at.</a:t>
                      </a:r>
                      <a:endParaRPr lang="en-US" sz="1200" dirty="0">
                        <a:latin typeface="Calibri" charset="0"/>
                        <a:ea typeface="Calibri" charset="0"/>
                        <a:cs typeface="Calibri" charset="0"/>
                      </a:endParaRPr>
                    </a:p>
                  </a:txBody>
                  <a:tcPr marL="73152" marR="73152" marT="73152" marB="73152"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Say what “good” means: audience, formality level, length, what to avoid.</a:t>
                      </a:r>
                      <a:endParaRPr lang="en-US" sz="1200" dirty="0">
                        <a:latin typeface="Calibri" charset="0"/>
                        <a:ea typeface="Calibri" charset="0"/>
                        <a:cs typeface="Calibri" charset="0"/>
                      </a:endParaRPr>
                    </a:p>
                  </a:txBody>
                  <a:tcPr marL="73152" marR="73152" marT="73152" marB="73152"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r>
              <a:tr h="777240">
                <a:tc>
                  <a:txBody>
                    <a:bodyPr/>
                    <a:lstStyle/>
                    <a:p>
                      <a:pPr indent="0" marL="0">
                        <a:buNone/>
                      </a:pPr>
                      <a:r>
                        <a:rPr lang="en-US" sz="1200" b="1" dirty="0">
                          <a:solidFill>
                            <a:srgbClr val="273370"/>
                          </a:solidFill>
                          <a:latin typeface="Calibri" pitchFamily="34" charset="0"/>
                          <a:ea typeface="Calibri" pitchFamily="34" charset="-122"/>
                          <a:cs typeface="Calibri" pitchFamily="34" charset="-120"/>
                        </a:rPr>
                        <a:t>Trusting facts blindly</a:t>
                      </a:r>
                      <a:endParaRPr lang="en-US" sz="1200" dirty="0">
                        <a:latin typeface="Calibri" charset="0"/>
                        <a:ea typeface="Calibri" charset="0"/>
                        <a:cs typeface="Calibri" charset="0"/>
                      </a:endParaRPr>
                    </a:p>
                  </a:txBody>
                  <a:tcPr marL="73152" marR="73152" marT="73152" marB="73152"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Fluent ≠ correct. Numbers, names, dates and references are the highest-risk content.</a:t>
                      </a:r>
                      <a:endParaRPr lang="en-US" sz="1200" dirty="0">
                        <a:latin typeface="Calibri" charset="0"/>
                        <a:ea typeface="Calibri" charset="0"/>
                        <a:cs typeface="Calibri" charset="0"/>
                      </a:endParaRPr>
                    </a:p>
                  </a:txBody>
                  <a:tcPr marL="73152" marR="73152" marT="73152" marB="73152"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200" dirty="0">
                          <a:solidFill>
                            <a:srgbClr val="22252B"/>
                          </a:solidFill>
                          <a:latin typeface="Calibri" pitchFamily="34" charset="0"/>
                          <a:ea typeface="Calibri" pitchFamily="34" charset="-122"/>
                          <a:cs typeface="Calibri" pitchFamily="34" charset="-120"/>
                        </a:rPr>
                        <a:t>Verify anything factual before it leaves your desk — Day 3 gives you the method.</a:t>
                      </a:r>
                      <a:endParaRPr lang="en-US" sz="1200" dirty="0">
                        <a:latin typeface="Calibri" charset="0"/>
                        <a:ea typeface="Calibri" charset="0"/>
                        <a:cs typeface="Calibri" charset="0"/>
                      </a:endParaRPr>
                    </a:p>
                  </a:txBody>
                  <a:tcPr marL="73152" marR="73152" marT="73152" marB="73152"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7" name="Text 4"/>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Demo 2 — Live prompt makeover</a:t>
            </a:r>
            <a:endParaRPr lang="en-US" sz="3000" dirty="0"/>
          </a:p>
        </p:txBody>
      </p:sp>
      <p:sp>
        <p:nvSpPr>
          <p:cNvPr id="3" name="Text 1"/>
          <p:cNvSpPr txBox="1"/>
          <p:nvPr/>
        </p:nvSpPr>
        <p:spPr>
          <a:xfrm>
            <a:off x="502920" y="987552"/>
            <a:ext cx="11155680" cy="365760"/>
          </a:xfrm>
          <a:prstGeom prst="rect">
            <a:avLst/>
          </a:prstGeom>
          <a:noFill/>
          <a:ln/>
        </p:spPr>
        <p:txBody>
          <a:bodyPr wrap="square" lIns="0" tIns="0" rIns="0" bIns="0" rtlCol="0" anchor="ctr"/>
          <a:lstStyle/>
          <a:p>
            <a:pPr indent="0" marL="0">
              <a:buNone/>
            </a:pPr>
            <a:r>
              <a:rPr lang="en-US" sz="1400" dirty="0">
                <a:solidFill>
                  <a:srgbClr val="696969"/>
                </a:solidFill>
                <a:latin typeface="Calibri" pitchFamily="34" charset="0"/>
                <a:ea typeface="Calibri" pitchFamily="34" charset="-122"/>
                <a:cs typeface="Calibri" pitchFamily="34" charset="-120"/>
              </a:rPr>
              <a:t>From a real weak prompt to a strong one, with the room's help</a:t>
            </a:r>
            <a:endParaRPr lang="en-US" sz="1400" dirty="0"/>
          </a:p>
        </p:txBody>
      </p:sp>
      <p:sp>
        <p:nvSpPr>
          <p:cNvPr id="4" name="Shape 2"/>
          <p:cNvSpPr/>
          <p:nvPr/>
        </p:nvSpPr>
        <p:spPr>
          <a:xfrm>
            <a:off x="10881360" y="457200"/>
            <a:ext cx="804672" cy="384048"/>
          </a:xfrm>
          <a:prstGeom prst="roundRect">
            <a:avLst>
              <a:gd name="adj" fmla="val 50000"/>
            </a:avLst>
          </a:prstGeom>
          <a:solidFill>
            <a:srgbClr val="FCBD4C"/>
          </a:solidFill>
          <a:ln/>
        </p:spPr>
      </p:sp>
      <p:sp>
        <p:nvSpPr>
          <p:cNvPr id="5" name="Text 3"/>
          <p:cNvSpPr txBox="1"/>
          <p:nvPr/>
        </p:nvSpPr>
        <p:spPr>
          <a:xfrm>
            <a:off x="10881360" y="457200"/>
            <a:ext cx="804672" cy="384048"/>
          </a:xfrm>
          <a:prstGeom prst="rect">
            <a:avLst/>
          </a:prstGeom>
          <a:noFill/>
          <a:ln/>
        </p:spPr>
        <p:txBody>
          <a:bodyPr wrap="square" lIns="0" tIns="0" rIns="0" bIns="0" rtlCol="0" anchor="ctr"/>
          <a:lstStyle/>
          <a:p>
            <a:pPr algn="ctr" indent="0" marL="0">
              <a:buNone/>
            </a:pPr>
            <a:r>
              <a:rPr lang="en-US" sz="1200" b="1" dirty="0">
                <a:solidFill>
                  <a:srgbClr val="131938"/>
                </a:solidFill>
                <a:latin typeface="Calibri" pitchFamily="34" charset="0"/>
                <a:ea typeface="Calibri" pitchFamily="34" charset="-122"/>
                <a:cs typeface="Calibri" pitchFamily="34" charset="-120"/>
              </a:rPr>
              <a:t>DEMO</a:t>
            </a:r>
            <a:endParaRPr lang="en-US" sz="1200" dirty="0"/>
          </a:p>
        </p:txBody>
      </p:sp>
      <p:sp>
        <p:nvSpPr>
          <p:cNvPr id="6" name="Shape 4"/>
          <p:cNvSpPr/>
          <p:nvPr/>
        </p:nvSpPr>
        <p:spPr>
          <a:xfrm>
            <a:off x="502920" y="1463040"/>
            <a:ext cx="11201400" cy="2286000"/>
          </a:xfrm>
          <a:prstGeom prst="roundRect">
            <a:avLst>
              <a:gd name="adj" fmla="val 3200"/>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502920" y="1463040"/>
            <a:ext cx="11201400" cy="420624"/>
          </a:xfrm>
          <a:prstGeom prst="roundRect">
            <a:avLst>
              <a:gd name="adj" fmla="val 17391"/>
            </a:avLst>
          </a:prstGeom>
          <a:solidFill>
            <a:srgbClr val="FCBD4C"/>
          </a:solidFill>
          <a:ln/>
        </p:spPr>
      </p:sp>
      <p:sp>
        <p:nvSpPr>
          <p:cNvPr id="8" name="Shape 6"/>
          <p:cNvSpPr/>
          <p:nvPr/>
        </p:nvSpPr>
        <p:spPr>
          <a:xfrm>
            <a:off x="502920" y="1673352"/>
            <a:ext cx="11201400" cy="210312"/>
          </a:xfrm>
          <a:prstGeom prst="rect">
            <a:avLst/>
          </a:prstGeom>
          <a:solidFill>
            <a:srgbClr val="FCBD4C"/>
          </a:solidFill>
          <a:ln/>
        </p:spPr>
      </p:sp>
      <p:sp>
        <p:nvSpPr>
          <p:cNvPr id="9" name="Text 7"/>
          <p:cNvSpPr txBox="1"/>
          <p:nvPr/>
        </p:nvSpPr>
        <p:spPr>
          <a:xfrm>
            <a:off x="640080" y="1463040"/>
            <a:ext cx="1092708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trainer will…</a:t>
            </a:r>
            <a:endParaRPr lang="en-US" sz="1400" dirty="0"/>
          </a:p>
        </p:txBody>
      </p:sp>
      <p:sp>
        <p:nvSpPr>
          <p:cNvPr id="10" name="Text 8"/>
          <p:cNvSpPr txBox="1"/>
          <p:nvPr/>
        </p:nvSpPr>
        <p:spPr>
          <a:xfrm>
            <a:off x="777240" y="2103120"/>
            <a:ext cx="10607040" cy="1463040"/>
          </a:xfrm>
          <a:prstGeom prst="rect">
            <a:avLst/>
          </a:prstGeom>
          <a:noFill/>
          <a:ln/>
        </p:spPr>
        <p:txBody>
          <a:bodyPr wrap="square" lIns="0" tIns="0" rIns="0" bIns="0" rtlCol="0" anchor="t"/>
          <a:lstStyle/>
          <a:p>
            <a:pPr marL="152400" indent="-152400">
              <a:lnSpc>
                <a:spcPct val="105000"/>
              </a:lnSpc>
              <a:spcAft>
                <a:spcPts val="800"/>
              </a:spcAft>
              <a:buSzPct val="100000"/>
              <a:buChar char="•"/>
            </a:pPr>
            <a:r>
              <a:rPr lang="en-US" sz="1350" dirty="0">
                <a:solidFill>
                  <a:srgbClr val="22252B"/>
                </a:solidFill>
                <a:latin typeface="Calibri" pitchFamily="34" charset="0"/>
                <a:ea typeface="Calibri" pitchFamily="34" charset="-122"/>
                <a:cs typeface="Calibri" pitchFamily="34" charset="-120"/>
              </a:rPr>
              <a:t>Take a weak prompt volunteered by a participant from Activity 1.1 (or use: “Write a report about attendance”).</a:t>
            </a:r>
            <a:endParaRPr lang="en-US" sz="1350" dirty="0"/>
          </a:p>
          <a:p>
            <a:pPr marL="152400" indent="-152400">
              <a:lnSpc>
                <a:spcPct val="105000"/>
              </a:lnSpc>
              <a:spcAft>
                <a:spcPts val="800"/>
              </a:spcAft>
              <a:buSzPct val="100000"/>
              <a:buChar char="•"/>
            </a:pPr>
            <a:r>
              <a:rPr lang="en-US" sz="1350" dirty="0">
                <a:solidFill>
                  <a:srgbClr val="22252B"/>
                </a:solidFill>
                <a:latin typeface="Calibri" pitchFamily="34" charset="0"/>
                <a:ea typeface="Calibri" pitchFamily="34" charset="-122"/>
                <a:cs typeface="Calibri" pitchFamily="34" charset="-120"/>
              </a:rPr>
              <a:t>Rebuild it live with the room calling out the R-T-C-F-E-X blocks one by one.</a:t>
            </a:r>
            <a:endParaRPr lang="en-US" sz="1350" dirty="0"/>
          </a:p>
          <a:p>
            <a:pPr marL="152400" indent="-152400">
              <a:lnSpc>
                <a:spcPct val="105000"/>
              </a:lnSpc>
              <a:spcAft>
                <a:spcPts val="800"/>
              </a:spcAft>
              <a:buSzPct val="100000"/>
              <a:buChar char="•"/>
            </a:pPr>
            <a:r>
              <a:rPr lang="en-US" sz="1350" dirty="0">
                <a:solidFill>
                  <a:srgbClr val="22252B"/>
                </a:solidFill>
                <a:latin typeface="Calibri" pitchFamily="34" charset="0"/>
                <a:ea typeface="Calibri" pitchFamily="34" charset="-122"/>
                <a:cs typeface="Calibri" pitchFamily="34" charset="-120"/>
              </a:rPr>
              <a:t>Run both versions side by side and compare the outputs on screen.</a:t>
            </a:r>
            <a:endParaRPr lang="en-US" sz="1350" dirty="0"/>
          </a:p>
        </p:txBody>
      </p:sp>
      <p:sp>
        <p:nvSpPr>
          <p:cNvPr id="11" name="Shape 9"/>
          <p:cNvSpPr/>
          <p:nvPr/>
        </p:nvSpPr>
        <p:spPr>
          <a:xfrm>
            <a:off x="502920" y="3977640"/>
            <a:ext cx="11201400" cy="2057400"/>
          </a:xfrm>
          <a:prstGeom prst="roundRect">
            <a:avLst>
              <a:gd name="adj" fmla="val 3556"/>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502920" y="3977640"/>
            <a:ext cx="11201400" cy="420624"/>
          </a:xfrm>
          <a:prstGeom prst="roundRect">
            <a:avLst>
              <a:gd name="adj" fmla="val 17391"/>
            </a:avLst>
          </a:prstGeom>
          <a:solidFill>
            <a:srgbClr val="273370"/>
          </a:solidFill>
          <a:ln/>
        </p:spPr>
      </p:sp>
      <p:sp>
        <p:nvSpPr>
          <p:cNvPr id="13" name="Shape 11"/>
          <p:cNvSpPr/>
          <p:nvPr/>
        </p:nvSpPr>
        <p:spPr>
          <a:xfrm>
            <a:off x="502920" y="4187952"/>
            <a:ext cx="11201400" cy="210312"/>
          </a:xfrm>
          <a:prstGeom prst="rect">
            <a:avLst/>
          </a:prstGeom>
          <a:solidFill>
            <a:srgbClr val="273370"/>
          </a:solidFill>
          <a:ln/>
        </p:spPr>
      </p:sp>
      <p:sp>
        <p:nvSpPr>
          <p:cNvPr id="14" name="Text 12"/>
          <p:cNvSpPr txBox="1"/>
          <p:nvPr/>
        </p:nvSpPr>
        <p:spPr>
          <a:xfrm>
            <a:off x="640080" y="3977640"/>
            <a:ext cx="1092708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Watch for</a:t>
            </a:r>
            <a:endParaRPr lang="en-US" sz="1400" dirty="0"/>
          </a:p>
        </p:txBody>
      </p:sp>
      <p:sp>
        <p:nvSpPr>
          <p:cNvPr id="15" name="Text 13"/>
          <p:cNvSpPr txBox="1"/>
          <p:nvPr/>
        </p:nvSpPr>
        <p:spPr>
          <a:xfrm>
            <a:off x="777240" y="4572000"/>
            <a:ext cx="10607040" cy="1280160"/>
          </a:xfrm>
          <a:prstGeom prst="rect">
            <a:avLst/>
          </a:prstGeom>
          <a:noFill/>
          <a:ln/>
        </p:spPr>
        <p:txBody>
          <a:bodyPr wrap="square" lIns="0" tIns="0" rIns="0" bIns="0" rtlCol="0" anchor="t"/>
          <a:lstStyle/>
          <a:p>
            <a:pPr marL="152400" indent="-152400">
              <a:lnSpc>
                <a:spcPct val="105000"/>
              </a:lnSpc>
              <a:spcAft>
                <a:spcPts val="1000"/>
              </a:spcAft>
              <a:buSzPct val="100000"/>
              <a:buChar char="•"/>
            </a:pPr>
            <a:r>
              <a:rPr lang="en-US" sz="1350" dirty="0">
                <a:solidFill>
                  <a:srgbClr val="22252B"/>
                </a:solidFill>
                <a:latin typeface="Calibri" pitchFamily="34" charset="0"/>
                <a:ea typeface="Calibri" pitchFamily="34" charset="-122"/>
                <a:cs typeface="Calibri" pitchFamily="34" charset="-120"/>
              </a:rPr>
              <a:t>Which single block improved the output the most? (It is almost always Context.)</a:t>
            </a:r>
            <a:endParaRPr lang="en-US" sz="1350" dirty="0"/>
          </a:p>
          <a:p>
            <a:pPr marL="152400" indent="-152400">
              <a:lnSpc>
                <a:spcPct val="105000"/>
              </a:lnSpc>
              <a:spcAft>
                <a:spcPts val="1000"/>
              </a:spcAft>
              <a:buSzPct val="100000"/>
              <a:buChar char="•"/>
            </a:pPr>
            <a:r>
              <a:rPr lang="en-US" sz="1350" dirty="0">
                <a:solidFill>
                  <a:srgbClr val="22252B"/>
                </a:solidFill>
                <a:latin typeface="Calibri" pitchFamily="34" charset="0"/>
                <a:ea typeface="Calibri" pitchFamily="34" charset="-122"/>
                <a:cs typeface="Calibri" pitchFamily="34" charset="-120"/>
              </a:rPr>
              <a:t>Where the room disagreed about tone or format — prompts encode judgement, and judgement differs.</a:t>
            </a:r>
            <a:endParaRPr lang="en-US" sz="1350" dirty="0"/>
          </a:p>
        </p:txBody>
      </p:sp>
      <p:sp>
        <p:nvSpPr>
          <p:cNvPr id="16" name="Text 14"/>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17" name="Text 15"/>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Activity 1.2 — Prompt makeover</a:t>
            </a:r>
            <a:endParaRPr lang="en-US" sz="3000" dirty="0"/>
          </a:p>
        </p:txBody>
      </p:sp>
      <p:sp>
        <p:nvSpPr>
          <p:cNvPr id="3" name="Text 1"/>
          <p:cNvSpPr txBox="1"/>
          <p:nvPr/>
        </p:nvSpPr>
        <p:spPr>
          <a:xfrm>
            <a:off x="502920" y="987552"/>
            <a:ext cx="11155680" cy="365760"/>
          </a:xfrm>
          <a:prstGeom prst="rect">
            <a:avLst/>
          </a:prstGeom>
          <a:noFill/>
          <a:ln/>
        </p:spPr>
        <p:txBody>
          <a:bodyPr wrap="square" lIns="0" tIns="0" rIns="0" bIns="0" rtlCol="0" anchor="ctr"/>
          <a:lstStyle/>
          <a:p>
            <a:pPr indent="0" marL="0">
              <a:buNone/>
            </a:pPr>
            <a:r>
              <a:rPr lang="en-US" sz="1400" dirty="0">
                <a:solidFill>
                  <a:srgbClr val="696969"/>
                </a:solidFill>
                <a:latin typeface="Calibri" pitchFamily="34" charset="0"/>
                <a:ea typeface="Calibri" pitchFamily="34" charset="-122"/>
                <a:cs typeface="Calibri" pitchFamily="34" charset="-120"/>
              </a:rPr>
              <a:t>Pairs • 30 minutes • Workbook p. 2</a:t>
            </a:r>
            <a:endParaRPr lang="en-US" sz="1400" dirty="0"/>
          </a:p>
        </p:txBody>
      </p:sp>
      <p:sp>
        <p:nvSpPr>
          <p:cNvPr id="4" name="Shape 2"/>
          <p:cNvSpPr/>
          <p:nvPr/>
        </p:nvSpPr>
        <p:spPr>
          <a:xfrm>
            <a:off x="10460736" y="457200"/>
            <a:ext cx="1225296" cy="384048"/>
          </a:xfrm>
          <a:prstGeom prst="roundRect">
            <a:avLst>
              <a:gd name="adj" fmla="val 50000"/>
            </a:avLst>
          </a:prstGeom>
          <a:solidFill>
            <a:srgbClr val="29BA74"/>
          </a:solidFill>
          <a:ln/>
        </p:spPr>
      </p:sp>
      <p:sp>
        <p:nvSpPr>
          <p:cNvPr id="5" name="Text 3"/>
          <p:cNvSpPr txBox="1"/>
          <p:nvPr/>
        </p:nvSpPr>
        <p:spPr>
          <a:xfrm>
            <a:off x="10460736" y="457200"/>
            <a:ext cx="1225296"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ACTIVITY</a:t>
            </a:r>
            <a:endParaRPr lang="en-US" sz="1200" dirty="0"/>
          </a:p>
        </p:txBody>
      </p:sp>
      <p:sp>
        <p:nvSpPr>
          <p:cNvPr id="6" name="Shape 4"/>
          <p:cNvSpPr/>
          <p:nvPr/>
        </p:nvSpPr>
        <p:spPr>
          <a:xfrm>
            <a:off x="502920" y="1463040"/>
            <a:ext cx="6583680" cy="4572000"/>
          </a:xfrm>
          <a:prstGeom prst="roundRect">
            <a:avLst>
              <a:gd name="adj" fmla="val 1600"/>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502920" y="1463040"/>
            <a:ext cx="6583680" cy="420624"/>
          </a:xfrm>
          <a:prstGeom prst="roundRect">
            <a:avLst>
              <a:gd name="adj" fmla="val 17391"/>
            </a:avLst>
          </a:prstGeom>
          <a:solidFill>
            <a:srgbClr val="29BA74"/>
          </a:solidFill>
          <a:ln/>
        </p:spPr>
      </p:sp>
      <p:sp>
        <p:nvSpPr>
          <p:cNvPr id="8" name="Shape 6"/>
          <p:cNvSpPr/>
          <p:nvPr/>
        </p:nvSpPr>
        <p:spPr>
          <a:xfrm>
            <a:off x="502920" y="1673352"/>
            <a:ext cx="6583680" cy="210312"/>
          </a:xfrm>
          <a:prstGeom prst="rect">
            <a:avLst/>
          </a:prstGeom>
          <a:solidFill>
            <a:srgbClr val="29BA74"/>
          </a:solidFill>
          <a:ln/>
        </p:spPr>
      </p:sp>
      <p:sp>
        <p:nvSpPr>
          <p:cNvPr id="9" name="Text 7"/>
          <p:cNvSpPr txBox="1"/>
          <p:nvPr/>
        </p:nvSpPr>
        <p:spPr>
          <a:xfrm>
            <a:off x="640080" y="1463040"/>
            <a:ext cx="630936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Your task</a:t>
            </a:r>
            <a:endParaRPr lang="en-US" sz="1400" dirty="0"/>
          </a:p>
        </p:txBody>
      </p:sp>
      <p:sp>
        <p:nvSpPr>
          <p:cNvPr id="10" name="Text 8"/>
          <p:cNvSpPr txBox="1"/>
          <p:nvPr/>
        </p:nvSpPr>
        <p:spPr>
          <a:xfrm>
            <a:off x="777240" y="2011680"/>
            <a:ext cx="6035040" cy="3840480"/>
          </a:xfrm>
          <a:prstGeom prst="rect">
            <a:avLst/>
          </a:prstGeom>
          <a:noFill/>
          <a:ln/>
        </p:spPr>
        <p:txBody>
          <a:bodyPr wrap="square" lIns="0" tIns="0" rIns="0" bIns="0" rtlCol="0" anchor="t"/>
          <a:lstStyle/>
          <a:p>
            <a:pPr marL="152400" indent="-152400">
              <a:lnSpc>
                <a:spcPct val="105000"/>
              </a:lnSpc>
              <a:spcAft>
                <a:spcPts val="700"/>
              </a:spcAft>
              <a:buSzPct val="100000"/>
              <a:buChar char="•"/>
            </a:pPr>
            <a:r>
              <a:rPr lang="en-US" sz="1250" b="1" dirty="0">
                <a:solidFill>
                  <a:srgbClr val="22252B"/>
                </a:solidFill>
                <a:latin typeface="Calibri" pitchFamily="34" charset="0"/>
                <a:ea typeface="Calibri" pitchFamily="34" charset="-122"/>
                <a:cs typeface="Calibri" pitchFamily="34" charset="-120"/>
              </a:rPr>
              <a:t>In your workbook you will find 4 weak prompts, including:</a:t>
            </a:r>
            <a:endParaRPr lang="en-US" sz="1250" dirty="0"/>
          </a:p>
          <a:p>
            <a:pPr marL="152400" indent="-152400">
              <a:lnSpc>
                <a:spcPct val="105000"/>
              </a:lnSpc>
              <a:spcAft>
                <a:spcPts val="700"/>
              </a:spcAft>
              <a:buSzPct val="100000"/>
              <a:buChar char="•"/>
            </a:pPr>
            <a:r>
              <a:rPr lang="en-US" sz="1250" dirty="0">
                <a:solidFill>
                  <a:srgbClr val="22252B"/>
                </a:solidFill>
                <a:latin typeface="Calibri" pitchFamily="34" charset="0"/>
                <a:ea typeface="Calibri" pitchFamily="34" charset="-122"/>
                <a:cs typeface="Calibri" pitchFamily="34" charset="-120"/>
              </a:rPr>
              <a:t>“Write something for the newsletter” • “Summarize this” • “Make a plan for the event” • “Fix this email”</a:t>
            </a:r>
            <a:endParaRPr lang="en-US" sz="1250" dirty="0"/>
          </a:p>
          <a:p>
            <a:pPr marL="152400" indent="-152400">
              <a:lnSpc>
                <a:spcPct val="105000"/>
              </a:lnSpc>
              <a:spcAft>
                <a:spcPts val="700"/>
              </a:spcAft>
              <a:buSzPct val="100000"/>
              <a:buChar char="•"/>
            </a:pPr>
            <a:r>
              <a:rPr lang="en-US" sz="1250" b="1" dirty="0">
                <a:solidFill>
                  <a:srgbClr val="22252B"/>
                </a:solidFill>
                <a:latin typeface="Calibri" pitchFamily="34" charset="0"/>
                <a:ea typeface="Calibri" pitchFamily="34" charset="-122"/>
                <a:cs typeface="Calibri" pitchFamily="34" charset="-120"/>
              </a:rPr>
              <a:t>For each (pick at least 3 of 4):</a:t>
            </a:r>
            <a:endParaRPr lang="en-US" sz="1250" dirty="0"/>
          </a:p>
          <a:p>
            <a:pPr marL="152400" indent="-152400">
              <a:lnSpc>
                <a:spcPct val="105000"/>
              </a:lnSpc>
              <a:spcAft>
                <a:spcPts val="700"/>
              </a:spcAft>
              <a:buSzPct val="100000"/>
              <a:buChar char="•"/>
            </a:pPr>
            <a:r>
              <a:rPr lang="en-US" sz="1250" dirty="0">
                <a:solidFill>
                  <a:srgbClr val="22252B"/>
                </a:solidFill>
                <a:latin typeface="Calibri" pitchFamily="34" charset="0"/>
                <a:ea typeface="Calibri" pitchFamily="34" charset="-122"/>
                <a:cs typeface="Calibri" pitchFamily="34" charset="-120"/>
              </a:rPr>
              <a:t>1. Diagnose: which R-T-C-F-E-X blocks are missing?</a:t>
            </a:r>
            <a:endParaRPr lang="en-US" sz="1250" dirty="0"/>
          </a:p>
          <a:p>
            <a:pPr marL="152400" indent="-152400">
              <a:lnSpc>
                <a:spcPct val="105000"/>
              </a:lnSpc>
              <a:spcAft>
                <a:spcPts val="700"/>
              </a:spcAft>
              <a:buSzPct val="100000"/>
              <a:buChar char="•"/>
            </a:pPr>
            <a:r>
              <a:rPr lang="en-US" sz="1250" dirty="0">
                <a:solidFill>
                  <a:srgbClr val="22252B"/>
                </a:solidFill>
                <a:latin typeface="Calibri" pitchFamily="34" charset="0"/>
                <a:ea typeface="Calibri" pitchFamily="34" charset="-122"/>
                <a:cs typeface="Calibri" pitchFamily="34" charset="-120"/>
              </a:rPr>
              <a:t>2. Rewrite it as a strong prompt, inventing realistic workplace context.</a:t>
            </a:r>
            <a:endParaRPr lang="en-US" sz="1250" dirty="0"/>
          </a:p>
          <a:p>
            <a:pPr marL="152400" indent="-152400">
              <a:lnSpc>
                <a:spcPct val="105000"/>
              </a:lnSpc>
              <a:spcAft>
                <a:spcPts val="700"/>
              </a:spcAft>
              <a:buSzPct val="100000"/>
              <a:buChar char="•"/>
            </a:pPr>
            <a:r>
              <a:rPr lang="en-US" sz="1250" dirty="0">
                <a:solidFill>
                  <a:srgbClr val="22252B"/>
                </a:solidFill>
                <a:latin typeface="Calibri" pitchFamily="34" charset="0"/>
                <a:ea typeface="Calibri" pitchFamily="34" charset="-122"/>
                <a:cs typeface="Calibri" pitchFamily="34" charset="-120"/>
              </a:rPr>
              <a:t>3. Run BOTH versions in your AI tool and compare the outputs.</a:t>
            </a:r>
            <a:endParaRPr lang="en-US" sz="1250" dirty="0"/>
          </a:p>
          <a:p>
            <a:pPr marL="152400" indent="-152400">
              <a:lnSpc>
                <a:spcPct val="105000"/>
              </a:lnSpc>
              <a:spcAft>
                <a:spcPts val="700"/>
              </a:spcAft>
              <a:buSzPct val="100000"/>
              <a:buChar char="•"/>
            </a:pPr>
            <a:r>
              <a:rPr lang="en-US" sz="1250" dirty="0">
                <a:solidFill>
                  <a:srgbClr val="22252B"/>
                </a:solidFill>
                <a:latin typeface="Calibri" pitchFamily="34" charset="0"/>
                <a:ea typeface="Calibri" pitchFamily="34" charset="-122"/>
                <a:cs typeface="Calibri" pitchFamily="34" charset="-120"/>
              </a:rPr>
              <a:t>4. Note in the workbook which added block changed the most.</a:t>
            </a:r>
            <a:endParaRPr lang="en-US" sz="1250" dirty="0"/>
          </a:p>
        </p:txBody>
      </p:sp>
      <p:sp>
        <p:nvSpPr>
          <p:cNvPr id="11" name="Shape 9"/>
          <p:cNvSpPr/>
          <p:nvPr/>
        </p:nvSpPr>
        <p:spPr>
          <a:xfrm>
            <a:off x="7315200" y="1463040"/>
            <a:ext cx="4389120" cy="2148840"/>
          </a:xfrm>
          <a:prstGeom prst="roundRect">
            <a:avLst>
              <a:gd name="adj" fmla="val 3404"/>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7315200" y="1463040"/>
            <a:ext cx="4389120" cy="420624"/>
          </a:xfrm>
          <a:prstGeom prst="roundRect">
            <a:avLst>
              <a:gd name="adj" fmla="val 17391"/>
            </a:avLst>
          </a:prstGeom>
          <a:solidFill>
            <a:srgbClr val="273370"/>
          </a:solidFill>
          <a:ln/>
        </p:spPr>
      </p:sp>
      <p:sp>
        <p:nvSpPr>
          <p:cNvPr id="13" name="Shape 11"/>
          <p:cNvSpPr/>
          <p:nvPr/>
        </p:nvSpPr>
        <p:spPr>
          <a:xfrm>
            <a:off x="7315200" y="1673352"/>
            <a:ext cx="4389120" cy="210312"/>
          </a:xfrm>
          <a:prstGeom prst="rect">
            <a:avLst/>
          </a:prstGeom>
          <a:solidFill>
            <a:srgbClr val="273370"/>
          </a:solidFill>
          <a:ln/>
        </p:spPr>
      </p:sp>
      <p:sp>
        <p:nvSpPr>
          <p:cNvPr id="14" name="Text 12"/>
          <p:cNvSpPr txBox="1"/>
          <p:nvPr/>
        </p:nvSpPr>
        <p:spPr>
          <a:xfrm>
            <a:off x="7452360" y="1463040"/>
            <a:ext cx="411480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Expected output</a:t>
            </a:r>
            <a:endParaRPr lang="en-US" sz="1400" dirty="0"/>
          </a:p>
        </p:txBody>
      </p:sp>
      <p:sp>
        <p:nvSpPr>
          <p:cNvPr id="15" name="Text 13"/>
          <p:cNvSpPr txBox="1"/>
          <p:nvPr/>
        </p:nvSpPr>
        <p:spPr>
          <a:xfrm>
            <a:off x="7589520" y="2057400"/>
            <a:ext cx="3840480" cy="1417320"/>
          </a:xfrm>
          <a:prstGeom prst="rect">
            <a:avLst/>
          </a:prstGeom>
          <a:noFill/>
          <a:ln/>
        </p:spPr>
        <p:txBody>
          <a:bodyPr wrap="square" lIns="0" tIns="0" rIns="0" bIns="0" rtlCol="0" anchor="t"/>
          <a:lstStyle/>
          <a:p>
            <a:pPr marL="152400" indent="-152400">
              <a:lnSpc>
                <a:spcPct val="105000"/>
              </a:lnSpc>
              <a:spcAft>
                <a:spcPts val="800"/>
              </a:spcAft>
              <a:buSzPct val="100000"/>
              <a:buChar char="•"/>
            </a:pPr>
            <a:r>
              <a:rPr lang="en-US" sz="1250" dirty="0">
                <a:solidFill>
                  <a:srgbClr val="22252B"/>
                </a:solidFill>
                <a:latin typeface="Calibri" pitchFamily="34" charset="0"/>
                <a:ea typeface="Calibri" pitchFamily="34" charset="-122"/>
                <a:cs typeface="Calibri" pitchFamily="34" charset="-120"/>
              </a:rPr>
              <a:t>3 rewritten prompts in your workbook</a:t>
            </a:r>
            <a:endParaRPr lang="en-US" sz="1250" dirty="0"/>
          </a:p>
          <a:p>
            <a:pPr marL="152400" indent="-152400">
              <a:lnSpc>
                <a:spcPct val="105000"/>
              </a:lnSpc>
              <a:spcAft>
                <a:spcPts val="800"/>
              </a:spcAft>
              <a:buSzPct val="100000"/>
              <a:buChar char="•"/>
            </a:pPr>
            <a:r>
              <a:rPr lang="en-US" sz="1250" dirty="0">
                <a:solidFill>
                  <a:srgbClr val="22252B"/>
                </a:solidFill>
                <a:latin typeface="Calibri" pitchFamily="34" charset="0"/>
                <a:ea typeface="Calibri" pitchFamily="34" charset="-122"/>
                <a:cs typeface="Calibri" pitchFamily="34" charset="-120"/>
              </a:rPr>
              <a:t>A one-line “lesson learned” per prompt</a:t>
            </a:r>
            <a:endParaRPr lang="en-US" sz="1250" dirty="0"/>
          </a:p>
        </p:txBody>
      </p:sp>
      <p:sp>
        <p:nvSpPr>
          <p:cNvPr id="16" name="Shape 14"/>
          <p:cNvSpPr/>
          <p:nvPr/>
        </p:nvSpPr>
        <p:spPr>
          <a:xfrm>
            <a:off x="7315200" y="3794760"/>
            <a:ext cx="4389120" cy="2240280"/>
          </a:xfrm>
          <a:prstGeom prst="roundRect">
            <a:avLst>
              <a:gd name="adj" fmla="val 3265"/>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7" name="Shape 15"/>
          <p:cNvSpPr/>
          <p:nvPr/>
        </p:nvSpPr>
        <p:spPr>
          <a:xfrm>
            <a:off x="7315200" y="3794760"/>
            <a:ext cx="4389120" cy="420624"/>
          </a:xfrm>
          <a:prstGeom prst="roundRect">
            <a:avLst>
              <a:gd name="adj" fmla="val 17391"/>
            </a:avLst>
          </a:prstGeom>
          <a:solidFill>
            <a:srgbClr val="94A0DA"/>
          </a:solidFill>
          <a:ln/>
        </p:spPr>
      </p:sp>
      <p:sp>
        <p:nvSpPr>
          <p:cNvPr id="18" name="Shape 16"/>
          <p:cNvSpPr/>
          <p:nvPr/>
        </p:nvSpPr>
        <p:spPr>
          <a:xfrm>
            <a:off x="7315200" y="4005072"/>
            <a:ext cx="4389120" cy="210312"/>
          </a:xfrm>
          <a:prstGeom prst="rect">
            <a:avLst/>
          </a:prstGeom>
          <a:solidFill>
            <a:srgbClr val="94A0DA"/>
          </a:solidFill>
          <a:ln/>
        </p:spPr>
      </p:sp>
      <p:sp>
        <p:nvSpPr>
          <p:cNvPr id="19" name="Text 17"/>
          <p:cNvSpPr txBox="1"/>
          <p:nvPr/>
        </p:nvSpPr>
        <p:spPr>
          <a:xfrm>
            <a:off x="7452360" y="3794760"/>
            <a:ext cx="411480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Pair roles</a:t>
            </a:r>
            <a:endParaRPr lang="en-US" sz="1400" dirty="0"/>
          </a:p>
        </p:txBody>
      </p:sp>
      <p:sp>
        <p:nvSpPr>
          <p:cNvPr id="20" name="Text 18"/>
          <p:cNvSpPr txBox="1"/>
          <p:nvPr/>
        </p:nvSpPr>
        <p:spPr>
          <a:xfrm>
            <a:off x="7589520" y="4389120"/>
            <a:ext cx="3840480" cy="1554480"/>
          </a:xfrm>
          <a:prstGeom prst="rect">
            <a:avLst/>
          </a:prstGeom>
          <a:noFill/>
          <a:ln/>
        </p:spPr>
        <p:txBody>
          <a:bodyPr wrap="square" lIns="0" tIns="0" rIns="0" bIns="0" rtlCol="0" anchor="t"/>
          <a:lstStyle/>
          <a:p>
            <a:pPr marL="152400" indent="-152400">
              <a:lnSpc>
                <a:spcPct val="105000"/>
              </a:lnSpc>
              <a:spcAft>
                <a:spcPts val="700"/>
              </a:spcAft>
              <a:buSzPct val="100000"/>
              <a:buChar char="•"/>
            </a:pPr>
            <a:r>
              <a:rPr lang="en-US" sz="1250" dirty="0">
                <a:solidFill>
                  <a:srgbClr val="22252B"/>
                </a:solidFill>
                <a:latin typeface="Calibri" pitchFamily="34" charset="0"/>
                <a:ea typeface="Calibri" pitchFamily="34" charset="-122"/>
                <a:cs typeface="Calibri" pitchFamily="34" charset="-120"/>
              </a:rPr>
              <a:t>Driver: types and runs prompts</a:t>
            </a:r>
            <a:endParaRPr lang="en-US" sz="1250" dirty="0"/>
          </a:p>
          <a:p>
            <a:pPr marL="152400" indent="-152400">
              <a:lnSpc>
                <a:spcPct val="105000"/>
              </a:lnSpc>
              <a:spcAft>
                <a:spcPts val="700"/>
              </a:spcAft>
              <a:buSzPct val="100000"/>
              <a:buChar char="•"/>
            </a:pPr>
            <a:r>
              <a:rPr lang="en-US" sz="1250" dirty="0">
                <a:solidFill>
                  <a:srgbClr val="22252B"/>
                </a:solidFill>
                <a:latin typeface="Calibri" pitchFamily="34" charset="0"/>
                <a:ea typeface="Calibri" pitchFamily="34" charset="-122"/>
                <a:cs typeface="Calibri" pitchFamily="34" charset="-120"/>
              </a:rPr>
              <a:t>Navigator: diagnoses blocks &amp; challenges wording</a:t>
            </a:r>
            <a:endParaRPr lang="en-US" sz="1250" dirty="0"/>
          </a:p>
          <a:p>
            <a:pPr marL="152400" indent="-152400">
              <a:lnSpc>
                <a:spcPct val="105000"/>
              </a:lnSpc>
              <a:spcAft>
                <a:spcPts val="700"/>
              </a:spcAft>
              <a:buSzPct val="100000"/>
              <a:buChar char="•"/>
            </a:pPr>
            <a:r>
              <a:rPr lang="en-US" sz="1250" dirty="0">
                <a:solidFill>
                  <a:srgbClr val="22252B"/>
                </a:solidFill>
                <a:latin typeface="Calibri" pitchFamily="34" charset="0"/>
                <a:ea typeface="Calibri" pitchFamily="34" charset="-122"/>
                <a:cs typeface="Calibri" pitchFamily="34" charset="-120"/>
              </a:rPr>
              <a:t>Swap roles after 15 minutes</a:t>
            </a:r>
            <a:endParaRPr lang="en-US" sz="1250" dirty="0"/>
          </a:p>
        </p:txBody>
      </p:sp>
      <p:sp>
        <p:nvSpPr>
          <p:cNvPr id="21" name="Text 19"/>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22" name="Text 20"/>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Debrief — Activity 1.2</a:t>
            </a:r>
            <a:endParaRPr lang="en-US" sz="3000" dirty="0"/>
          </a:p>
        </p:txBody>
      </p:sp>
      <p:sp>
        <p:nvSpPr>
          <p:cNvPr id="3" name="Shape 1"/>
          <p:cNvSpPr/>
          <p:nvPr/>
        </p:nvSpPr>
        <p:spPr>
          <a:xfrm>
            <a:off x="10565892" y="457200"/>
            <a:ext cx="1120140" cy="384048"/>
          </a:xfrm>
          <a:prstGeom prst="roundRect">
            <a:avLst>
              <a:gd name="adj" fmla="val 50000"/>
            </a:avLst>
          </a:prstGeom>
          <a:solidFill>
            <a:srgbClr val="67CCFF"/>
          </a:solidFill>
          <a:ln/>
        </p:spPr>
      </p:sp>
      <p:sp>
        <p:nvSpPr>
          <p:cNvPr id="4" name="Text 2"/>
          <p:cNvSpPr txBox="1"/>
          <p:nvPr/>
        </p:nvSpPr>
        <p:spPr>
          <a:xfrm>
            <a:off x="10565892" y="457200"/>
            <a:ext cx="11201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DEBRIEF</a:t>
            </a:r>
            <a:endParaRPr lang="en-US" sz="1200" dirty="0"/>
          </a:p>
        </p:txBody>
      </p:sp>
      <p:sp>
        <p:nvSpPr>
          <p:cNvPr id="5" name="Shape 3"/>
          <p:cNvSpPr/>
          <p:nvPr/>
        </p:nvSpPr>
        <p:spPr>
          <a:xfrm>
            <a:off x="640080" y="1645920"/>
            <a:ext cx="548640" cy="548640"/>
          </a:xfrm>
          <a:prstGeom prst="roundRect">
            <a:avLst>
              <a:gd name="adj" fmla="val 15000"/>
            </a:avLst>
          </a:prstGeom>
          <a:solidFill>
            <a:srgbClr val="67CCFF"/>
          </a:solidFill>
          <a:ln/>
        </p:spPr>
      </p:sp>
      <p:pic>
        <p:nvPicPr>
          <p:cNvPr id="6" name="Image 0" descr="preencoded.png">    </p:cNvPr>
          <p:cNvPicPr>
            <a:picLocks noChangeAspect="1"/>
          </p:cNvPicPr>
          <p:nvPr/>
        </p:nvPicPr>
        <p:blipFill>
          <a:blip r:embed="rId1"/>
          <a:stretch>
            <a:fillRect/>
          </a:stretch>
        </p:blipFill>
        <p:spPr>
          <a:xfrm>
            <a:off x="760781" y="1766621"/>
            <a:ext cx="307238" cy="307238"/>
          </a:xfrm>
          <a:prstGeom prst="rect">
            <a:avLst/>
          </a:prstGeom>
        </p:spPr>
      </p:pic>
      <p:sp>
        <p:nvSpPr>
          <p:cNvPr id="7" name="Text 4"/>
          <p:cNvSpPr txBox="1"/>
          <p:nvPr/>
        </p:nvSpPr>
        <p:spPr>
          <a:xfrm>
            <a:off x="1417320" y="1645920"/>
            <a:ext cx="10149840" cy="548640"/>
          </a:xfrm>
          <a:prstGeom prst="rect">
            <a:avLst/>
          </a:prstGeom>
          <a:noFill/>
          <a:ln/>
        </p:spPr>
        <p:txBody>
          <a:bodyPr wrap="square" lIns="0" tIns="0" rIns="0" bIns="0" rtlCol="0" anchor="ctr"/>
          <a:lstStyle/>
          <a:p>
            <a:pPr indent="0" marL="0">
              <a:buNone/>
            </a:pPr>
            <a:r>
              <a:rPr lang="en-US" sz="1550" dirty="0">
                <a:solidFill>
                  <a:srgbClr val="22252B"/>
                </a:solidFill>
                <a:latin typeface="Calibri" pitchFamily="34" charset="0"/>
                <a:ea typeface="Calibri" pitchFamily="34" charset="-122"/>
                <a:cs typeface="Calibri" pitchFamily="34" charset="-120"/>
              </a:rPr>
              <a:t>Which block (R, T, C, F, E, X) was missing most often — and which mattered most when added?</a:t>
            </a:r>
            <a:endParaRPr lang="en-US" sz="1550" dirty="0"/>
          </a:p>
        </p:txBody>
      </p:sp>
      <p:sp>
        <p:nvSpPr>
          <p:cNvPr id="8" name="Shape 5"/>
          <p:cNvSpPr/>
          <p:nvPr/>
        </p:nvSpPr>
        <p:spPr>
          <a:xfrm>
            <a:off x="640080" y="2761488"/>
            <a:ext cx="548640" cy="548640"/>
          </a:xfrm>
          <a:prstGeom prst="roundRect">
            <a:avLst>
              <a:gd name="adj" fmla="val 15000"/>
            </a:avLst>
          </a:prstGeom>
          <a:solidFill>
            <a:srgbClr val="67CCFF"/>
          </a:solidFill>
          <a:ln/>
        </p:spPr>
      </p:sp>
      <p:pic>
        <p:nvPicPr>
          <p:cNvPr id="9" name="Image 1" descr="preencoded.png">    </p:cNvPr>
          <p:cNvPicPr>
            <a:picLocks noChangeAspect="1"/>
          </p:cNvPicPr>
          <p:nvPr/>
        </p:nvPicPr>
        <p:blipFill>
          <a:blip r:embed="rId2"/>
          <a:stretch>
            <a:fillRect/>
          </a:stretch>
        </p:blipFill>
        <p:spPr>
          <a:xfrm>
            <a:off x="760781" y="2882189"/>
            <a:ext cx="307238" cy="307238"/>
          </a:xfrm>
          <a:prstGeom prst="rect">
            <a:avLst/>
          </a:prstGeom>
        </p:spPr>
      </p:pic>
      <p:sp>
        <p:nvSpPr>
          <p:cNvPr id="10" name="Text 6"/>
          <p:cNvSpPr txBox="1"/>
          <p:nvPr/>
        </p:nvSpPr>
        <p:spPr>
          <a:xfrm>
            <a:off x="1417320" y="2761488"/>
            <a:ext cx="10149840" cy="548640"/>
          </a:xfrm>
          <a:prstGeom prst="rect">
            <a:avLst/>
          </a:prstGeom>
          <a:noFill/>
          <a:ln/>
        </p:spPr>
        <p:txBody>
          <a:bodyPr wrap="square" lIns="0" tIns="0" rIns="0" bIns="0" rtlCol="0" anchor="ctr"/>
          <a:lstStyle/>
          <a:p>
            <a:pPr indent="0" marL="0">
              <a:buNone/>
            </a:pPr>
            <a:r>
              <a:rPr lang="en-US" sz="1550" dirty="0">
                <a:solidFill>
                  <a:srgbClr val="22252B"/>
                </a:solidFill>
                <a:latin typeface="Calibri" pitchFamily="34" charset="0"/>
                <a:ea typeface="Calibri" pitchFamily="34" charset="-122"/>
                <a:cs typeface="Calibri" pitchFamily="34" charset="-120"/>
              </a:rPr>
              <a:t>Did any pair get a GOOD result from a weak prompt? Why do you think that happened?</a:t>
            </a:r>
            <a:endParaRPr lang="en-US" sz="1550" dirty="0"/>
          </a:p>
        </p:txBody>
      </p:sp>
      <p:sp>
        <p:nvSpPr>
          <p:cNvPr id="11" name="Shape 7"/>
          <p:cNvSpPr/>
          <p:nvPr/>
        </p:nvSpPr>
        <p:spPr>
          <a:xfrm>
            <a:off x="640080" y="3877056"/>
            <a:ext cx="548640" cy="548640"/>
          </a:xfrm>
          <a:prstGeom prst="roundRect">
            <a:avLst>
              <a:gd name="adj" fmla="val 15000"/>
            </a:avLst>
          </a:prstGeom>
          <a:solidFill>
            <a:srgbClr val="67CCFF"/>
          </a:solidFill>
          <a:ln/>
        </p:spPr>
      </p:sp>
      <p:pic>
        <p:nvPicPr>
          <p:cNvPr id="12" name="Image 2" descr="preencoded.png">    </p:cNvPr>
          <p:cNvPicPr>
            <a:picLocks noChangeAspect="1"/>
          </p:cNvPicPr>
          <p:nvPr/>
        </p:nvPicPr>
        <p:blipFill>
          <a:blip r:embed="rId3"/>
          <a:stretch>
            <a:fillRect/>
          </a:stretch>
        </p:blipFill>
        <p:spPr>
          <a:xfrm>
            <a:off x="760781" y="3997757"/>
            <a:ext cx="307238" cy="307238"/>
          </a:xfrm>
          <a:prstGeom prst="rect">
            <a:avLst/>
          </a:prstGeom>
        </p:spPr>
      </p:pic>
      <p:sp>
        <p:nvSpPr>
          <p:cNvPr id="13" name="Text 8"/>
          <p:cNvSpPr txBox="1"/>
          <p:nvPr/>
        </p:nvSpPr>
        <p:spPr>
          <a:xfrm>
            <a:off x="1417320" y="3877056"/>
            <a:ext cx="10149840" cy="548640"/>
          </a:xfrm>
          <a:prstGeom prst="rect">
            <a:avLst/>
          </a:prstGeom>
          <a:noFill/>
          <a:ln/>
        </p:spPr>
        <p:txBody>
          <a:bodyPr wrap="square" lIns="0" tIns="0" rIns="0" bIns="0" rtlCol="0" anchor="ctr"/>
          <a:lstStyle/>
          <a:p>
            <a:pPr indent="0" marL="0">
              <a:buNone/>
            </a:pPr>
            <a:r>
              <a:rPr lang="en-US" sz="1550" dirty="0">
                <a:solidFill>
                  <a:srgbClr val="22252B"/>
                </a:solidFill>
                <a:latin typeface="Calibri" pitchFamily="34" charset="0"/>
                <a:ea typeface="Calibri" pitchFamily="34" charset="-122"/>
                <a:cs typeface="Calibri" pitchFamily="34" charset="-120"/>
              </a:rPr>
              <a:t>Share the single best prompt your pair wrote — what makes it strong?</a:t>
            </a:r>
            <a:endParaRPr lang="en-US" sz="1550" dirty="0"/>
          </a:p>
        </p:txBody>
      </p:sp>
      <p:sp>
        <p:nvSpPr>
          <p:cNvPr id="14" name="Shape 9"/>
          <p:cNvSpPr/>
          <p:nvPr/>
        </p:nvSpPr>
        <p:spPr>
          <a:xfrm>
            <a:off x="640080" y="4992624"/>
            <a:ext cx="548640" cy="548640"/>
          </a:xfrm>
          <a:prstGeom prst="roundRect">
            <a:avLst>
              <a:gd name="adj" fmla="val 15000"/>
            </a:avLst>
          </a:prstGeom>
          <a:solidFill>
            <a:srgbClr val="67CCFF"/>
          </a:solidFill>
          <a:ln/>
        </p:spPr>
      </p:sp>
      <p:pic>
        <p:nvPicPr>
          <p:cNvPr id="15" name="Image 3" descr="preencoded.png">    </p:cNvPr>
          <p:cNvPicPr>
            <a:picLocks noChangeAspect="1"/>
          </p:cNvPicPr>
          <p:nvPr/>
        </p:nvPicPr>
        <p:blipFill>
          <a:blip r:embed="rId4"/>
          <a:stretch>
            <a:fillRect/>
          </a:stretch>
        </p:blipFill>
        <p:spPr>
          <a:xfrm>
            <a:off x="760781" y="5113325"/>
            <a:ext cx="307238" cy="307238"/>
          </a:xfrm>
          <a:prstGeom prst="rect">
            <a:avLst/>
          </a:prstGeom>
        </p:spPr>
      </p:pic>
      <p:sp>
        <p:nvSpPr>
          <p:cNvPr id="16" name="Text 10"/>
          <p:cNvSpPr txBox="1"/>
          <p:nvPr/>
        </p:nvSpPr>
        <p:spPr>
          <a:xfrm>
            <a:off x="1417320" y="4992624"/>
            <a:ext cx="10149840" cy="548640"/>
          </a:xfrm>
          <a:prstGeom prst="rect">
            <a:avLst/>
          </a:prstGeom>
          <a:noFill/>
          <a:ln/>
        </p:spPr>
        <p:txBody>
          <a:bodyPr wrap="square" lIns="0" tIns="0" rIns="0" bIns="0" rtlCol="0" anchor="ctr"/>
          <a:lstStyle/>
          <a:p>
            <a:pPr indent="0" marL="0">
              <a:buNone/>
            </a:pPr>
            <a:r>
              <a:rPr lang="en-US" sz="1550" dirty="0">
                <a:solidFill>
                  <a:srgbClr val="22252B"/>
                </a:solidFill>
                <a:latin typeface="Calibri" pitchFamily="34" charset="0"/>
                <a:ea typeface="Calibri" pitchFamily="34" charset="-122"/>
                <a:cs typeface="Calibri" pitchFamily="34" charset="-120"/>
              </a:rPr>
              <a:t>Which of your rewritten prompts will you save to your Prompt Library right now?</a:t>
            </a:r>
            <a:endParaRPr lang="en-US" sz="1550" dirty="0"/>
          </a:p>
        </p:txBody>
      </p:sp>
      <p:sp>
        <p:nvSpPr>
          <p:cNvPr id="17" name="Text 11"/>
          <p:cNvSpPr txBox="1"/>
          <p:nvPr/>
        </p:nvSpPr>
        <p:spPr>
          <a:xfrm>
            <a:off x="640080" y="6080760"/>
            <a:ext cx="10972800" cy="365760"/>
          </a:xfrm>
          <a:prstGeom prst="rect">
            <a:avLst/>
          </a:prstGeom>
          <a:noFill/>
          <a:ln/>
        </p:spPr>
        <p:txBody>
          <a:bodyPr wrap="square" lIns="0" tIns="0" rIns="0" bIns="0" rtlCol="0" anchor="ctr"/>
          <a:lstStyle/>
          <a:p>
            <a:pPr indent="0" marL="0">
              <a:buNone/>
            </a:pPr>
            <a:r>
              <a:rPr lang="en-US" sz="1300" b="1" i="1" dirty="0">
                <a:solidFill>
                  <a:srgbClr val="273370"/>
                </a:solidFill>
                <a:latin typeface="Calibri" pitchFamily="34" charset="0"/>
                <a:ea typeface="Calibri" pitchFamily="34" charset="-122"/>
                <a:cs typeface="Calibri" pitchFamily="34" charset="-120"/>
              </a:rPr>
              <a:t>Trainer synthesis: prompting is a transferable structure, not memorised magic words.</a:t>
            </a:r>
            <a:endParaRPr lang="en-US" sz="1300" dirty="0"/>
          </a:p>
        </p:txBody>
      </p:sp>
      <p:sp>
        <p:nvSpPr>
          <p:cNvPr id="18" name="Text 12"/>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19" name="Text 13"/>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Activity 1.3 — Team prompt challenge</a:t>
            </a:r>
            <a:endParaRPr lang="en-US" sz="3000" dirty="0"/>
          </a:p>
        </p:txBody>
      </p:sp>
      <p:sp>
        <p:nvSpPr>
          <p:cNvPr id="3" name="Text 1"/>
          <p:cNvSpPr txBox="1"/>
          <p:nvPr/>
        </p:nvSpPr>
        <p:spPr>
          <a:xfrm>
            <a:off x="502920" y="987552"/>
            <a:ext cx="11155680" cy="365760"/>
          </a:xfrm>
          <a:prstGeom prst="rect">
            <a:avLst/>
          </a:prstGeom>
          <a:noFill/>
          <a:ln/>
        </p:spPr>
        <p:txBody>
          <a:bodyPr wrap="square" lIns="0" tIns="0" rIns="0" bIns="0" rtlCol="0" anchor="ctr"/>
          <a:lstStyle/>
          <a:p>
            <a:pPr indent="0" marL="0">
              <a:buNone/>
            </a:pPr>
            <a:r>
              <a:rPr lang="en-US" sz="1400" dirty="0">
                <a:solidFill>
                  <a:srgbClr val="696969"/>
                </a:solidFill>
                <a:latin typeface="Calibri" pitchFamily="34" charset="0"/>
                <a:ea typeface="Calibri" pitchFamily="34" charset="-122"/>
                <a:cs typeface="Calibri" pitchFamily="34" charset="-120"/>
              </a:rPr>
              <a:t>Groups of 4–5 • 40 minutes • Workbook p. 3</a:t>
            </a:r>
            <a:endParaRPr lang="en-US" sz="1400" dirty="0"/>
          </a:p>
        </p:txBody>
      </p:sp>
      <p:sp>
        <p:nvSpPr>
          <p:cNvPr id="4" name="Shape 2"/>
          <p:cNvSpPr/>
          <p:nvPr/>
        </p:nvSpPr>
        <p:spPr>
          <a:xfrm>
            <a:off x="10460736" y="457200"/>
            <a:ext cx="1225296" cy="384048"/>
          </a:xfrm>
          <a:prstGeom prst="roundRect">
            <a:avLst>
              <a:gd name="adj" fmla="val 50000"/>
            </a:avLst>
          </a:prstGeom>
          <a:solidFill>
            <a:srgbClr val="29BA74"/>
          </a:solidFill>
          <a:ln/>
        </p:spPr>
      </p:sp>
      <p:sp>
        <p:nvSpPr>
          <p:cNvPr id="5" name="Text 3"/>
          <p:cNvSpPr txBox="1"/>
          <p:nvPr/>
        </p:nvSpPr>
        <p:spPr>
          <a:xfrm>
            <a:off x="10460736" y="457200"/>
            <a:ext cx="1225296"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ACTIVITY</a:t>
            </a:r>
            <a:endParaRPr lang="en-US" sz="1200" dirty="0"/>
          </a:p>
        </p:txBody>
      </p:sp>
      <p:sp>
        <p:nvSpPr>
          <p:cNvPr id="6" name="Shape 4"/>
          <p:cNvSpPr/>
          <p:nvPr/>
        </p:nvSpPr>
        <p:spPr>
          <a:xfrm>
            <a:off x="502920" y="1463040"/>
            <a:ext cx="6583680" cy="4572000"/>
          </a:xfrm>
          <a:prstGeom prst="roundRect">
            <a:avLst>
              <a:gd name="adj" fmla="val 1600"/>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502920" y="1463040"/>
            <a:ext cx="6583680" cy="420624"/>
          </a:xfrm>
          <a:prstGeom prst="roundRect">
            <a:avLst>
              <a:gd name="adj" fmla="val 17391"/>
            </a:avLst>
          </a:prstGeom>
          <a:solidFill>
            <a:srgbClr val="29BA74"/>
          </a:solidFill>
          <a:ln/>
        </p:spPr>
      </p:sp>
      <p:sp>
        <p:nvSpPr>
          <p:cNvPr id="8" name="Shape 6"/>
          <p:cNvSpPr/>
          <p:nvPr/>
        </p:nvSpPr>
        <p:spPr>
          <a:xfrm>
            <a:off x="502920" y="1673352"/>
            <a:ext cx="6583680" cy="210312"/>
          </a:xfrm>
          <a:prstGeom prst="rect">
            <a:avLst/>
          </a:prstGeom>
          <a:solidFill>
            <a:srgbClr val="29BA74"/>
          </a:solidFill>
          <a:ln/>
        </p:spPr>
      </p:sp>
      <p:sp>
        <p:nvSpPr>
          <p:cNvPr id="9" name="Text 7"/>
          <p:cNvSpPr txBox="1"/>
          <p:nvPr/>
        </p:nvSpPr>
        <p:spPr>
          <a:xfrm>
            <a:off x="640080" y="1463040"/>
            <a:ext cx="630936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challenge</a:t>
            </a:r>
            <a:endParaRPr lang="en-US" sz="1400" dirty="0"/>
          </a:p>
        </p:txBody>
      </p:sp>
      <p:sp>
        <p:nvSpPr>
          <p:cNvPr id="10" name="Text 8"/>
          <p:cNvSpPr txBox="1"/>
          <p:nvPr/>
        </p:nvSpPr>
        <p:spPr>
          <a:xfrm>
            <a:off x="777240" y="2011680"/>
            <a:ext cx="6035040" cy="3840480"/>
          </a:xfrm>
          <a:prstGeom prst="rect">
            <a:avLst/>
          </a:prstGeom>
          <a:noFill/>
          <a:ln/>
        </p:spPr>
        <p:txBody>
          <a:bodyPr wrap="square" lIns="0" tIns="0" rIns="0" bIns="0" rtlCol="0" anchor="t"/>
          <a:lstStyle/>
          <a:p>
            <a:pPr marL="152400" indent="-152400">
              <a:lnSpc>
                <a:spcPct val="105000"/>
              </a:lnSpc>
              <a:spcAft>
                <a:spcPts val="700"/>
              </a:spcAft>
              <a:buSzPct val="100000"/>
              <a:buChar char="•"/>
            </a:pPr>
            <a:r>
              <a:rPr lang="en-US" sz="1250" b="1" dirty="0">
                <a:solidFill>
                  <a:srgbClr val="22252B"/>
                </a:solidFill>
                <a:latin typeface="Calibri" pitchFamily="34" charset="0"/>
                <a:ea typeface="Calibri" pitchFamily="34" charset="-122"/>
                <a:cs typeface="Calibri" pitchFamily="34" charset="-120"/>
              </a:rPr>
              <a:t>Scenario:</a:t>
            </a:r>
            <a:endParaRPr lang="en-US" sz="1250" dirty="0"/>
          </a:p>
          <a:p>
            <a:pPr marL="152400" indent="-152400">
              <a:lnSpc>
                <a:spcPct val="105000"/>
              </a:lnSpc>
              <a:spcAft>
                <a:spcPts val="700"/>
              </a:spcAft>
              <a:buSzPct val="100000"/>
              <a:buChar char="•"/>
            </a:pPr>
            <a:r>
              <a:rPr lang="en-US" sz="1250" dirty="0">
                <a:solidFill>
                  <a:srgbClr val="22252B"/>
                </a:solidFill>
                <a:latin typeface="Calibri" pitchFamily="34" charset="0"/>
                <a:ea typeface="Calibri" pitchFamily="34" charset="-122"/>
                <a:cs typeface="Calibri" pitchFamily="34" charset="-120"/>
              </a:rPr>
              <a:t>Your department must announce a new internal service (choose one: a booking system for meeting rooms, a new employee-suggestion portal, or a carpooling initiative).</a:t>
            </a:r>
            <a:endParaRPr lang="en-US" sz="1250" dirty="0"/>
          </a:p>
          <a:p>
            <a:pPr marL="152400" indent="-152400">
              <a:lnSpc>
                <a:spcPct val="105000"/>
              </a:lnSpc>
              <a:spcAft>
                <a:spcPts val="700"/>
              </a:spcAft>
              <a:buSzPct val="100000"/>
              <a:buChar char="•"/>
            </a:pPr>
            <a:r>
              <a:rPr lang="en-US" sz="1250" b="1" dirty="0">
                <a:solidFill>
                  <a:srgbClr val="22252B"/>
                </a:solidFill>
                <a:latin typeface="Calibri" pitchFamily="34" charset="0"/>
                <a:ea typeface="Calibri" pitchFamily="34" charset="-122"/>
                <a:cs typeface="Calibri" pitchFamily="34" charset="-120"/>
              </a:rPr>
              <a:t>In 25 minutes, your team produces — using AI — a mini pack:</a:t>
            </a:r>
            <a:endParaRPr lang="en-US" sz="1250" dirty="0"/>
          </a:p>
          <a:p>
            <a:pPr marL="152400" indent="-152400">
              <a:lnSpc>
                <a:spcPct val="105000"/>
              </a:lnSpc>
              <a:spcAft>
                <a:spcPts val="700"/>
              </a:spcAft>
              <a:buSzPct val="100000"/>
              <a:buChar char="•"/>
            </a:pPr>
            <a:r>
              <a:rPr lang="en-US" sz="1250" dirty="0">
                <a:solidFill>
                  <a:srgbClr val="22252B"/>
                </a:solidFill>
                <a:latin typeface="Calibri" pitchFamily="34" charset="0"/>
                <a:ea typeface="Calibri" pitchFamily="34" charset="-122"/>
                <a:cs typeface="Calibri" pitchFamily="34" charset="-120"/>
              </a:rPr>
              <a:t>1. A staff announcement email (Arabic + English, warm but professional)</a:t>
            </a:r>
            <a:endParaRPr lang="en-US" sz="1250" dirty="0"/>
          </a:p>
          <a:p>
            <a:pPr marL="152400" indent="-152400">
              <a:lnSpc>
                <a:spcPct val="105000"/>
              </a:lnSpc>
              <a:spcAft>
                <a:spcPts val="700"/>
              </a:spcAft>
              <a:buSzPct val="100000"/>
              <a:buChar char="•"/>
            </a:pPr>
            <a:r>
              <a:rPr lang="en-US" sz="1250" dirty="0">
                <a:solidFill>
                  <a:srgbClr val="22252B"/>
                </a:solidFill>
                <a:latin typeface="Calibri" pitchFamily="34" charset="0"/>
                <a:ea typeface="Calibri" pitchFamily="34" charset="-122"/>
                <a:cs typeface="Calibri" pitchFamily="34" charset="-120"/>
              </a:rPr>
              <a:t>2. Five FAQ questions and answers</a:t>
            </a:r>
            <a:endParaRPr lang="en-US" sz="1250" dirty="0"/>
          </a:p>
          <a:p>
            <a:pPr marL="152400" indent="-152400">
              <a:lnSpc>
                <a:spcPct val="105000"/>
              </a:lnSpc>
              <a:spcAft>
                <a:spcPts val="700"/>
              </a:spcAft>
              <a:buSzPct val="100000"/>
              <a:buChar char="•"/>
            </a:pPr>
            <a:r>
              <a:rPr lang="en-US" sz="1250" dirty="0">
                <a:solidFill>
                  <a:srgbClr val="22252B"/>
                </a:solidFill>
                <a:latin typeface="Calibri" pitchFamily="34" charset="0"/>
                <a:ea typeface="Calibri" pitchFamily="34" charset="-122"/>
                <a:cs typeface="Calibri" pitchFamily="34" charset="-120"/>
              </a:rPr>
              <a:t>3. A 3-line message for the leadership WhatsApp group</a:t>
            </a:r>
            <a:endParaRPr lang="en-US" sz="1250" dirty="0"/>
          </a:p>
          <a:p>
            <a:pPr marL="152400" indent="-152400">
              <a:lnSpc>
                <a:spcPct val="105000"/>
              </a:lnSpc>
              <a:spcAft>
                <a:spcPts val="700"/>
              </a:spcAft>
              <a:buSzPct val="100000"/>
              <a:buChar char="•"/>
            </a:pPr>
            <a:r>
              <a:rPr lang="en-US" sz="1250" b="1" dirty="0">
                <a:solidFill>
                  <a:srgbClr val="22252B"/>
                </a:solidFill>
                <a:latin typeface="Calibri" pitchFamily="34" charset="0"/>
                <a:ea typeface="Calibri" pitchFamily="34" charset="-122"/>
                <a:cs typeface="Calibri" pitchFamily="34" charset="-120"/>
              </a:rPr>
              <a:t>Then (10 min): each team shows its best output and the prompt behind it.</a:t>
            </a:r>
            <a:endParaRPr lang="en-US" sz="1250" dirty="0"/>
          </a:p>
        </p:txBody>
      </p:sp>
      <p:sp>
        <p:nvSpPr>
          <p:cNvPr id="11" name="Shape 9"/>
          <p:cNvSpPr/>
          <p:nvPr/>
        </p:nvSpPr>
        <p:spPr>
          <a:xfrm>
            <a:off x="7315200" y="1463040"/>
            <a:ext cx="4389120" cy="2286000"/>
          </a:xfrm>
          <a:prstGeom prst="roundRect">
            <a:avLst>
              <a:gd name="adj" fmla="val 3200"/>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7315200" y="1463040"/>
            <a:ext cx="4389120" cy="420624"/>
          </a:xfrm>
          <a:prstGeom prst="roundRect">
            <a:avLst>
              <a:gd name="adj" fmla="val 17391"/>
            </a:avLst>
          </a:prstGeom>
          <a:solidFill>
            <a:srgbClr val="273370"/>
          </a:solidFill>
          <a:ln/>
        </p:spPr>
      </p:sp>
      <p:sp>
        <p:nvSpPr>
          <p:cNvPr id="13" name="Shape 11"/>
          <p:cNvSpPr/>
          <p:nvPr/>
        </p:nvSpPr>
        <p:spPr>
          <a:xfrm>
            <a:off x="7315200" y="1673352"/>
            <a:ext cx="4389120" cy="210312"/>
          </a:xfrm>
          <a:prstGeom prst="rect">
            <a:avLst/>
          </a:prstGeom>
          <a:solidFill>
            <a:srgbClr val="273370"/>
          </a:solidFill>
          <a:ln/>
        </p:spPr>
      </p:sp>
      <p:sp>
        <p:nvSpPr>
          <p:cNvPr id="14" name="Text 12"/>
          <p:cNvSpPr txBox="1"/>
          <p:nvPr/>
        </p:nvSpPr>
        <p:spPr>
          <a:xfrm>
            <a:off x="7452360" y="1463040"/>
            <a:ext cx="411480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Rules</a:t>
            </a:r>
            <a:endParaRPr lang="en-US" sz="1400" dirty="0"/>
          </a:p>
        </p:txBody>
      </p:sp>
      <p:sp>
        <p:nvSpPr>
          <p:cNvPr id="15" name="Text 13"/>
          <p:cNvSpPr txBox="1"/>
          <p:nvPr/>
        </p:nvSpPr>
        <p:spPr>
          <a:xfrm>
            <a:off x="7589520" y="2057400"/>
            <a:ext cx="3840480" cy="1554480"/>
          </a:xfrm>
          <a:prstGeom prst="rect">
            <a:avLst/>
          </a:prstGeom>
          <a:noFill/>
          <a:ln/>
        </p:spPr>
        <p:txBody>
          <a:bodyPr wrap="square" lIns="0" tIns="0" rIns="0" bIns="0" rtlCol="0" anchor="t"/>
          <a:lstStyle/>
          <a:p>
            <a:pPr marL="152400" indent="-152400">
              <a:lnSpc>
                <a:spcPct val="105000"/>
              </a:lnSpc>
              <a:spcAft>
                <a:spcPts val="700"/>
              </a:spcAft>
              <a:buSzPct val="100000"/>
              <a:buChar char="•"/>
            </a:pPr>
            <a:r>
              <a:rPr lang="en-US" sz="1200" dirty="0">
                <a:solidFill>
                  <a:srgbClr val="22252B"/>
                </a:solidFill>
                <a:latin typeface="Calibri" pitchFamily="34" charset="0"/>
                <a:ea typeface="Calibri" pitchFamily="34" charset="-122"/>
                <a:cs typeface="Calibri" pitchFamily="34" charset="-120"/>
              </a:rPr>
              <a:t>Divide the three outputs among the team</a:t>
            </a:r>
            <a:endParaRPr lang="en-US" sz="1200" dirty="0"/>
          </a:p>
          <a:p>
            <a:pPr marL="152400" indent="-152400">
              <a:lnSpc>
                <a:spcPct val="105000"/>
              </a:lnSpc>
              <a:spcAft>
                <a:spcPts val="700"/>
              </a:spcAft>
              <a:buSzPct val="100000"/>
              <a:buChar char="•"/>
            </a:pPr>
            <a:r>
              <a:rPr lang="en-US" sz="1200" dirty="0">
                <a:solidFill>
                  <a:srgbClr val="22252B"/>
                </a:solidFill>
                <a:latin typeface="Calibri" pitchFamily="34" charset="0"/>
                <a:ea typeface="Calibri" pitchFamily="34" charset="-122"/>
                <a:cs typeface="Calibri" pitchFamily="34" charset="-120"/>
              </a:rPr>
              <a:t>Every output must be refined at least once</a:t>
            </a:r>
            <a:endParaRPr lang="en-US" sz="1200" dirty="0"/>
          </a:p>
          <a:p>
            <a:pPr marL="152400" indent="-152400">
              <a:lnSpc>
                <a:spcPct val="105000"/>
              </a:lnSpc>
              <a:spcAft>
                <a:spcPts val="700"/>
              </a:spcAft>
              <a:buSzPct val="100000"/>
              <a:buChar char="•"/>
            </a:pPr>
            <a:r>
              <a:rPr lang="en-US" sz="1200" dirty="0">
                <a:solidFill>
                  <a:srgbClr val="22252B"/>
                </a:solidFill>
                <a:latin typeface="Calibri" pitchFamily="34" charset="0"/>
                <a:ea typeface="Calibri" pitchFamily="34" charset="-122"/>
                <a:cs typeface="Calibri" pitchFamily="34" charset="-120"/>
              </a:rPr>
              <a:t>Consistency matters: same service name, same launch date everywhere</a:t>
            </a:r>
            <a:endParaRPr lang="en-US" sz="1200" dirty="0"/>
          </a:p>
        </p:txBody>
      </p:sp>
      <p:sp>
        <p:nvSpPr>
          <p:cNvPr id="16" name="Shape 14"/>
          <p:cNvSpPr/>
          <p:nvPr/>
        </p:nvSpPr>
        <p:spPr>
          <a:xfrm>
            <a:off x="7315200" y="3931920"/>
            <a:ext cx="4389120" cy="2103120"/>
          </a:xfrm>
          <a:prstGeom prst="roundRect">
            <a:avLst>
              <a:gd name="adj" fmla="val 3478"/>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7" name="Shape 15"/>
          <p:cNvSpPr/>
          <p:nvPr/>
        </p:nvSpPr>
        <p:spPr>
          <a:xfrm>
            <a:off x="7315200" y="3931920"/>
            <a:ext cx="4389120" cy="420624"/>
          </a:xfrm>
          <a:prstGeom prst="roundRect">
            <a:avLst>
              <a:gd name="adj" fmla="val 17391"/>
            </a:avLst>
          </a:prstGeom>
          <a:solidFill>
            <a:srgbClr val="6258A6"/>
          </a:solidFill>
          <a:ln/>
        </p:spPr>
      </p:sp>
      <p:sp>
        <p:nvSpPr>
          <p:cNvPr id="18" name="Shape 16"/>
          <p:cNvSpPr/>
          <p:nvPr/>
        </p:nvSpPr>
        <p:spPr>
          <a:xfrm>
            <a:off x="7315200" y="4142232"/>
            <a:ext cx="4389120" cy="210312"/>
          </a:xfrm>
          <a:prstGeom prst="rect">
            <a:avLst/>
          </a:prstGeom>
          <a:solidFill>
            <a:srgbClr val="6258A6"/>
          </a:solidFill>
          <a:ln/>
        </p:spPr>
      </p:sp>
      <p:sp>
        <p:nvSpPr>
          <p:cNvPr id="19" name="Text 17"/>
          <p:cNvSpPr txBox="1"/>
          <p:nvPr/>
        </p:nvSpPr>
        <p:spPr>
          <a:xfrm>
            <a:off x="7452360" y="3931920"/>
            <a:ext cx="411480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Judging (peer vote)</a:t>
            </a:r>
            <a:endParaRPr lang="en-US" sz="1400" dirty="0"/>
          </a:p>
        </p:txBody>
      </p:sp>
      <p:sp>
        <p:nvSpPr>
          <p:cNvPr id="20" name="Text 18"/>
          <p:cNvSpPr txBox="1"/>
          <p:nvPr/>
        </p:nvSpPr>
        <p:spPr>
          <a:xfrm>
            <a:off x="7589520" y="4526280"/>
            <a:ext cx="3840480" cy="1417320"/>
          </a:xfrm>
          <a:prstGeom prst="rect">
            <a:avLst/>
          </a:prstGeom>
          <a:noFill/>
          <a:ln/>
        </p:spPr>
        <p:txBody>
          <a:bodyPr wrap="square" lIns="0" tIns="0" rIns="0" bIns="0" rtlCol="0" anchor="t"/>
          <a:lstStyle/>
          <a:p>
            <a:pPr marL="152400" indent="-152400">
              <a:lnSpc>
                <a:spcPct val="105000"/>
              </a:lnSpc>
              <a:spcAft>
                <a:spcPts val="700"/>
              </a:spcAft>
              <a:buSzPct val="100000"/>
              <a:buChar char="•"/>
            </a:pPr>
            <a:r>
              <a:rPr lang="en-US" sz="1200" dirty="0">
                <a:solidFill>
                  <a:srgbClr val="22252B"/>
                </a:solidFill>
                <a:latin typeface="Calibri" pitchFamily="34" charset="0"/>
                <a:ea typeface="Calibri" pitchFamily="34" charset="-122"/>
                <a:cs typeface="Calibri" pitchFamily="34" charset="-120"/>
              </a:rPr>
              <a:t>Clarity &amp; tone for the audience</a:t>
            </a:r>
            <a:endParaRPr lang="en-US" sz="1200" dirty="0"/>
          </a:p>
          <a:p>
            <a:pPr marL="152400" indent="-152400">
              <a:lnSpc>
                <a:spcPct val="105000"/>
              </a:lnSpc>
              <a:spcAft>
                <a:spcPts val="700"/>
              </a:spcAft>
              <a:buSzPct val="100000"/>
              <a:buChar char="•"/>
            </a:pPr>
            <a:r>
              <a:rPr lang="en-US" sz="1200" dirty="0">
                <a:solidFill>
                  <a:srgbClr val="22252B"/>
                </a:solidFill>
                <a:latin typeface="Calibri" pitchFamily="34" charset="0"/>
                <a:ea typeface="Calibri" pitchFamily="34" charset="-122"/>
                <a:cs typeface="Calibri" pitchFamily="34" charset="-120"/>
              </a:rPr>
              <a:t>Consistency across the three pieces</a:t>
            </a:r>
            <a:endParaRPr lang="en-US" sz="1200" dirty="0"/>
          </a:p>
          <a:p>
            <a:pPr marL="152400" indent="-152400">
              <a:lnSpc>
                <a:spcPct val="105000"/>
              </a:lnSpc>
              <a:spcAft>
                <a:spcPts val="700"/>
              </a:spcAft>
              <a:buSzPct val="100000"/>
              <a:buChar char="•"/>
            </a:pPr>
            <a:r>
              <a:rPr lang="en-US" sz="1200" dirty="0">
                <a:solidFill>
                  <a:srgbClr val="22252B"/>
                </a:solidFill>
                <a:latin typeface="Calibri" pitchFamily="34" charset="0"/>
                <a:ea typeface="Calibri" pitchFamily="34" charset="-122"/>
                <a:cs typeface="Calibri" pitchFamily="34" charset="-120"/>
              </a:rPr>
              <a:t>Quality of the prompts, not just outputs</a:t>
            </a:r>
            <a:endParaRPr lang="en-US" sz="1200" dirty="0"/>
          </a:p>
        </p:txBody>
      </p:sp>
      <p:sp>
        <p:nvSpPr>
          <p:cNvPr id="21" name="Text 19"/>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22" name="Text 20"/>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Day 1 quiz — check your understanding (1 of 2)</a:t>
            </a:r>
            <a:endParaRPr lang="en-US" sz="3000" dirty="0"/>
          </a:p>
        </p:txBody>
      </p:sp>
      <p:sp>
        <p:nvSpPr>
          <p:cNvPr id="3" name="Text 1"/>
          <p:cNvSpPr txBox="1"/>
          <p:nvPr/>
        </p:nvSpPr>
        <p:spPr>
          <a:xfrm>
            <a:off x="502920" y="987552"/>
            <a:ext cx="11155680" cy="365760"/>
          </a:xfrm>
          <a:prstGeom prst="rect">
            <a:avLst/>
          </a:prstGeom>
          <a:noFill/>
          <a:ln/>
        </p:spPr>
        <p:txBody>
          <a:bodyPr wrap="square" lIns="0" tIns="0" rIns="0" bIns="0" rtlCol="0" anchor="ctr"/>
          <a:lstStyle/>
          <a:p>
            <a:pPr indent="0" marL="0">
              <a:buNone/>
            </a:pPr>
            <a:r>
              <a:rPr lang="en-US" sz="1400" dirty="0">
                <a:solidFill>
                  <a:srgbClr val="696969"/>
                </a:solidFill>
                <a:latin typeface="Calibri" pitchFamily="34" charset="0"/>
                <a:ea typeface="Calibri" pitchFamily="34" charset="-122"/>
                <a:cs typeface="Calibri" pitchFamily="34" charset="-120"/>
              </a:rPr>
              <a:t>Answer in your workbook, then we review together</a:t>
            </a:r>
            <a:endParaRPr lang="en-US" sz="1400" dirty="0"/>
          </a:p>
        </p:txBody>
      </p:sp>
      <p:sp>
        <p:nvSpPr>
          <p:cNvPr id="4" name="Shape 2"/>
          <p:cNvSpPr/>
          <p:nvPr/>
        </p:nvSpPr>
        <p:spPr>
          <a:xfrm>
            <a:off x="10881360" y="457200"/>
            <a:ext cx="804672" cy="384048"/>
          </a:xfrm>
          <a:prstGeom prst="roundRect">
            <a:avLst>
              <a:gd name="adj" fmla="val 50000"/>
            </a:avLst>
          </a:prstGeom>
          <a:solidFill>
            <a:srgbClr val="6258A6"/>
          </a:solidFill>
          <a:ln/>
        </p:spPr>
      </p:sp>
      <p:sp>
        <p:nvSpPr>
          <p:cNvPr id="5" name="Text 3"/>
          <p:cNvSpPr txBox="1"/>
          <p:nvPr/>
        </p:nvSpPr>
        <p:spPr>
          <a:xfrm>
            <a:off x="10881360" y="457200"/>
            <a:ext cx="804672"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QUIZ</a:t>
            </a:r>
            <a:endParaRPr lang="en-US" sz="1200" dirty="0"/>
          </a:p>
        </p:txBody>
      </p:sp>
      <p:sp>
        <p:nvSpPr>
          <p:cNvPr id="6" name="Text 4"/>
          <p:cNvSpPr txBox="1"/>
          <p:nvPr/>
        </p:nvSpPr>
        <p:spPr>
          <a:xfrm>
            <a:off x="640080" y="1554480"/>
            <a:ext cx="10972800" cy="411480"/>
          </a:xfrm>
          <a:prstGeom prst="rect">
            <a:avLst/>
          </a:prstGeom>
          <a:noFill/>
          <a:ln/>
        </p:spPr>
        <p:txBody>
          <a:bodyPr wrap="square" lIns="0" tIns="0" rIns="0" bIns="0" rtlCol="0" anchor="ctr"/>
          <a:lstStyle/>
          <a:p>
            <a:pPr indent="0" marL="0">
              <a:buNone/>
            </a:pPr>
            <a:r>
              <a:rPr lang="en-US" sz="1500" b="1" dirty="0">
                <a:solidFill>
                  <a:srgbClr val="273370"/>
                </a:solidFill>
                <a:latin typeface="Calibri" pitchFamily="34" charset="0"/>
                <a:ea typeface="Calibri" pitchFamily="34" charset="-122"/>
                <a:cs typeface="Calibri" pitchFamily="34" charset="-120"/>
              </a:rPr>
              <a:t>Q1. Generative AI produces its answers by…</a:t>
            </a:r>
            <a:endParaRPr lang="en-US" sz="1500" dirty="0"/>
          </a:p>
        </p:txBody>
      </p:sp>
      <p:sp>
        <p:nvSpPr>
          <p:cNvPr id="7" name="Text 5"/>
          <p:cNvSpPr txBox="1"/>
          <p:nvPr/>
        </p:nvSpPr>
        <p:spPr>
          <a:xfrm>
            <a:off x="914400" y="1993392"/>
            <a:ext cx="10698480" cy="914400"/>
          </a:xfrm>
          <a:prstGeom prst="rect">
            <a:avLst/>
          </a:prstGeom>
          <a:noFill/>
          <a:ln/>
        </p:spPr>
        <p:txBody>
          <a:bodyPr wrap="square" lIns="0" tIns="0" rIns="0" bIns="0" rtlCol="0" anchor="ctr"/>
          <a:lstStyle/>
          <a:p>
            <a:pPr indent="0" marL="0">
              <a:lnSpc>
                <a:spcPct val="115000"/>
              </a:lnSpc>
              <a:buNone/>
            </a:pPr>
            <a:r>
              <a:rPr lang="en-US" sz="1250" dirty="0">
                <a:solidFill>
                  <a:srgbClr val="22252B"/>
                </a:solidFill>
                <a:latin typeface="Calibri" pitchFamily="34" charset="0"/>
                <a:ea typeface="Calibri" pitchFamily="34" charset="-122"/>
                <a:cs typeface="Calibri" pitchFamily="34" charset="-120"/>
              </a:rPr>
              <a:t>A. Searching a verified database of facts        B. Predicting plausible content from patterns in training data        C. Asking human experts in real time        D. Copying the most similar document it has stored</a:t>
            </a:r>
            <a:endParaRPr lang="en-US" sz="1250" dirty="0"/>
          </a:p>
        </p:txBody>
      </p:sp>
      <p:sp>
        <p:nvSpPr>
          <p:cNvPr id="8" name="Text 6"/>
          <p:cNvSpPr txBox="1"/>
          <p:nvPr/>
        </p:nvSpPr>
        <p:spPr>
          <a:xfrm>
            <a:off x="640080" y="3090672"/>
            <a:ext cx="10972800" cy="411480"/>
          </a:xfrm>
          <a:prstGeom prst="rect">
            <a:avLst/>
          </a:prstGeom>
          <a:noFill/>
          <a:ln/>
        </p:spPr>
        <p:txBody>
          <a:bodyPr wrap="square" lIns="0" tIns="0" rIns="0" bIns="0" rtlCol="0" anchor="ctr"/>
          <a:lstStyle/>
          <a:p>
            <a:pPr indent="0" marL="0">
              <a:buNone/>
            </a:pPr>
            <a:r>
              <a:rPr lang="en-US" sz="1500" b="1" dirty="0">
                <a:solidFill>
                  <a:srgbClr val="273370"/>
                </a:solidFill>
                <a:latin typeface="Calibri" pitchFamily="34" charset="0"/>
                <a:ea typeface="Calibri" pitchFamily="34" charset="-122"/>
                <a:cs typeface="Calibri" pitchFamily="34" charset="-120"/>
              </a:rPr>
              <a:t>Q2. Which prompt block do professionals most often SKIP — and matters most?</a:t>
            </a:r>
            <a:endParaRPr lang="en-US" sz="1500" dirty="0"/>
          </a:p>
        </p:txBody>
      </p:sp>
      <p:sp>
        <p:nvSpPr>
          <p:cNvPr id="9" name="Text 7"/>
          <p:cNvSpPr txBox="1"/>
          <p:nvPr/>
        </p:nvSpPr>
        <p:spPr>
          <a:xfrm>
            <a:off x="914400" y="3529584"/>
            <a:ext cx="10698480" cy="914400"/>
          </a:xfrm>
          <a:prstGeom prst="rect">
            <a:avLst/>
          </a:prstGeom>
          <a:noFill/>
          <a:ln/>
        </p:spPr>
        <p:txBody>
          <a:bodyPr wrap="square" lIns="0" tIns="0" rIns="0" bIns="0" rtlCol="0" anchor="ctr"/>
          <a:lstStyle/>
          <a:p>
            <a:pPr indent="0" marL="0">
              <a:lnSpc>
                <a:spcPct val="115000"/>
              </a:lnSpc>
              <a:buNone/>
            </a:pPr>
            <a:r>
              <a:rPr lang="en-US" sz="1250" dirty="0">
                <a:solidFill>
                  <a:srgbClr val="22252B"/>
                </a:solidFill>
                <a:latin typeface="Calibri" pitchFamily="34" charset="0"/>
                <a:ea typeface="Calibri" pitchFamily="34" charset="-122"/>
                <a:cs typeface="Calibri" pitchFamily="34" charset="-120"/>
              </a:rPr>
              <a:t>A. Role        B. Format        C. Context        D. Constraints</a:t>
            </a:r>
            <a:endParaRPr lang="en-US" sz="1250" dirty="0"/>
          </a:p>
        </p:txBody>
      </p:sp>
      <p:sp>
        <p:nvSpPr>
          <p:cNvPr id="10" name="Text 8"/>
          <p:cNvSpPr txBox="1"/>
          <p:nvPr/>
        </p:nvSpPr>
        <p:spPr>
          <a:xfrm>
            <a:off x="640080" y="4626864"/>
            <a:ext cx="10972800" cy="411480"/>
          </a:xfrm>
          <a:prstGeom prst="rect">
            <a:avLst/>
          </a:prstGeom>
          <a:noFill/>
          <a:ln/>
        </p:spPr>
        <p:txBody>
          <a:bodyPr wrap="square" lIns="0" tIns="0" rIns="0" bIns="0" rtlCol="0" anchor="ctr"/>
          <a:lstStyle/>
          <a:p>
            <a:pPr indent="0" marL="0">
              <a:buNone/>
            </a:pPr>
            <a:r>
              <a:rPr lang="en-US" sz="1500" b="1" dirty="0">
                <a:solidFill>
                  <a:srgbClr val="273370"/>
                </a:solidFill>
                <a:latin typeface="Calibri" pitchFamily="34" charset="0"/>
                <a:ea typeface="Calibri" pitchFamily="34" charset="-122"/>
                <a:cs typeface="Calibri" pitchFamily="34" charset="-120"/>
              </a:rPr>
              <a:t>Q3. The AI gives you a confident statistic with no source. You should…</a:t>
            </a:r>
            <a:endParaRPr lang="en-US" sz="1500" dirty="0"/>
          </a:p>
        </p:txBody>
      </p:sp>
      <p:sp>
        <p:nvSpPr>
          <p:cNvPr id="11" name="Text 9"/>
          <p:cNvSpPr txBox="1"/>
          <p:nvPr/>
        </p:nvSpPr>
        <p:spPr>
          <a:xfrm>
            <a:off x="914400" y="5065776"/>
            <a:ext cx="10698480" cy="914400"/>
          </a:xfrm>
          <a:prstGeom prst="rect">
            <a:avLst/>
          </a:prstGeom>
          <a:noFill/>
          <a:ln/>
        </p:spPr>
        <p:txBody>
          <a:bodyPr wrap="square" lIns="0" tIns="0" rIns="0" bIns="0" rtlCol="0" anchor="ctr"/>
          <a:lstStyle/>
          <a:p>
            <a:pPr indent="0" marL="0">
              <a:lnSpc>
                <a:spcPct val="115000"/>
              </a:lnSpc>
              <a:buNone/>
            </a:pPr>
            <a:r>
              <a:rPr lang="en-US" sz="1250" dirty="0">
                <a:solidFill>
                  <a:srgbClr val="22252B"/>
                </a:solidFill>
                <a:latin typeface="Calibri" pitchFamily="34" charset="0"/>
                <a:ea typeface="Calibri" pitchFamily="34" charset="-122"/>
                <a:cs typeface="Calibri" pitchFamily="34" charset="-120"/>
              </a:rPr>
              <a:t>A. Use it — the tool is usually right        B. Verify it independently before using it        C. Soften the wording so it is less risky        D. Ask the AI to confirm it is correct</a:t>
            </a:r>
            <a:endParaRPr lang="en-US" sz="1250" dirty="0"/>
          </a:p>
        </p:txBody>
      </p:sp>
      <p:sp>
        <p:nvSpPr>
          <p:cNvPr id="12" name="Text 10"/>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13" name="Text 11"/>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Day 1 quiz — check your understanding (2 of 2)</a:t>
            </a:r>
            <a:endParaRPr lang="en-US" sz="3000" dirty="0"/>
          </a:p>
        </p:txBody>
      </p:sp>
      <p:sp>
        <p:nvSpPr>
          <p:cNvPr id="3" name="Shape 1"/>
          <p:cNvSpPr/>
          <p:nvPr/>
        </p:nvSpPr>
        <p:spPr>
          <a:xfrm>
            <a:off x="10881360" y="457200"/>
            <a:ext cx="804672" cy="384048"/>
          </a:xfrm>
          <a:prstGeom prst="roundRect">
            <a:avLst>
              <a:gd name="adj" fmla="val 50000"/>
            </a:avLst>
          </a:prstGeom>
          <a:solidFill>
            <a:srgbClr val="6258A6"/>
          </a:solidFill>
          <a:ln/>
        </p:spPr>
      </p:sp>
      <p:sp>
        <p:nvSpPr>
          <p:cNvPr id="4" name="Text 2"/>
          <p:cNvSpPr txBox="1"/>
          <p:nvPr/>
        </p:nvSpPr>
        <p:spPr>
          <a:xfrm>
            <a:off x="10881360" y="457200"/>
            <a:ext cx="804672"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QUIZ</a:t>
            </a:r>
            <a:endParaRPr lang="en-US" sz="1200" dirty="0"/>
          </a:p>
        </p:txBody>
      </p:sp>
      <p:sp>
        <p:nvSpPr>
          <p:cNvPr id="5" name="Text 3"/>
          <p:cNvSpPr txBox="1"/>
          <p:nvPr/>
        </p:nvSpPr>
        <p:spPr>
          <a:xfrm>
            <a:off x="640080" y="1645920"/>
            <a:ext cx="10972800" cy="411480"/>
          </a:xfrm>
          <a:prstGeom prst="rect">
            <a:avLst/>
          </a:prstGeom>
          <a:noFill/>
          <a:ln/>
        </p:spPr>
        <p:txBody>
          <a:bodyPr wrap="square" lIns="0" tIns="0" rIns="0" bIns="0" rtlCol="0" anchor="ctr"/>
          <a:lstStyle/>
          <a:p>
            <a:pPr indent="0" marL="0">
              <a:buNone/>
            </a:pPr>
            <a:r>
              <a:rPr lang="en-US" sz="1500" b="1" dirty="0">
                <a:solidFill>
                  <a:srgbClr val="273370"/>
                </a:solidFill>
                <a:latin typeface="Calibri" pitchFamily="34" charset="0"/>
                <a:ea typeface="Calibri" pitchFamily="34" charset="-122"/>
                <a:cs typeface="Calibri" pitchFamily="34" charset="-120"/>
              </a:rPr>
              <a:t>Q4. Your first output is mediocre. The BEST next step is…</a:t>
            </a:r>
            <a:endParaRPr lang="en-US" sz="1500" dirty="0"/>
          </a:p>
        </p:txBody>
      </p:sp>
      <p:sp>
        <p:nvSpPr>
          <p:cNvPr id="6" name="Text 4"/>
          <p:cNvSpPr txBox="1"/>
          <p:nvPr/>
        </p:nvSpPr>
        <p:spPr>
          <a:xfrm>
            <a:off x="914400" y="2103120"/>
            <a:ext cx="10698480" cy="1005840"/>
          </a:xfrm>
          <a:prstGeom prst="rect">
            <a:avLst/>
          </a:prstGeom>
          <a:noFill/>
          <a:ln/>
        </p:spPr>
        <p:txBody>
          <a:bodyPr wrap="square" lIns="0" tIns="0" rIns="0" bIns="0" rtlCol="0" anchor="ctr"/>
          <a:lstStyle/>
          <a:p>
            <a:pPr indent="0" marL="0">
              <a:lnSpc>
                <a:spcPct val="115000"/>
              </a:lnSpc>
              <a:buNone/>
            </a:pPr>
            <a:r>
              <a:rPr lang="en-US" sz="1250" dirty="0">
                <a:solidFill>
                  <a:srgbClr val="22252B"/>
                </a:solidFill>
                <a:latin typeface="Calibri" pitchFamily="34" charset="0"/>
                <a:ea typeface="Calibri" pitchFamily="34" charset="-122"/>
                <a:cs typeface="Calibri" pitchFamily="34" charset="-120"/>
              </a:rPr>
              <a:t>A. Give up — the tool can't do this task        B. Retype the same prompt and hope        C. Refine: add context, specify tone/format, ask for alternatives        D. Accept it — close enough is fine</a:t>
            </a:r>
            <a:endParaRPr lang="en-US" sz="1250" dirty="0"/>
          </a:p>
        </p:txBody>
      </p:sp>
      <p:sp>
        <p:nvSpPr>
          <p:cNvPr id="7" name="Text 5"/>
          <p:cNvSpPr txBox="1"/>
          <p:nvPr/>
        </p:nvSpPr>
        <p:spPr>
          <a:xfrm>
            <a:off x="640080" y="3383280"/>
            <a:ext cx="10972800" cy="411480"/>
          </a:xfrm>
          <a:prstGeom prst="rect">
            <a:avLst/>
          </a:prstGeom>
          <a:noFill/>
          <a:ln/>
        </p:spPr>
        <p:txBody>
          <a:bodyPr wrap="square" lIns="0" tIns="0" rIns="0" bIns="0" rtlCol="0" anchor="ctr"/>
          <a:lstStyle/>
          <a:p>
            <a:pPr indent="0" marL="0">
              <a:buNone/>
            </a:pPr>
            <a:r>
              <a:rPr lang="en-US" sz="1500" b="1" dirty="0">
                <a:solidFill>
                  <a:srgbClr val="273370"/>
                </a:solidFill>
                <a:latin typeface="Calibri" pitchFamily="34" charset="0"/>
                <a:ea typeface="Calibri" pitchFamily="34" charset="-122"/>
                <a:cs typeface="Calibri" pitchFamily="34" charset="-120"/>
              </a:rPr>
              <a:t>Q5. Which is TRUE about AI limitations?</a:t>
            </a:r>
            <a:endParaRPr lang="en-US" sz="1500" dirty="0"/>
          </a:p>
        </p:txBody>
      </p:sp>
      <p:sp>
        <p:nvSpPr>
          <p:cNvPr id="8" name="Text 6"/>
          <p:cNvSpPr txBox="1"/>
          <p:nvPr/>
        </p:nvSpPr>
        <p:spPr>
          <a:xfrm>
            <a:off x="914400" y="3840480"/>
            <a:ext cx="10698480" cy="1005840"/>
          </a:xfrm>
          <a:prstGeom prst="rect">
            <a:avLst/>
          </a:prstGeom>
          <a:noFill/>
          <a:ln/>
        </p:spPr>
        <p:txBody>
          <a:bodyPr wrap="square" lIns="0" tIns="0" rIns="0" bIns="0" rtlCol="0" anchor="ctr"/>
          <a:lstStyle/>
          <a:p>
            <a:pPr indent="0" marL="0">
              <a:lnSpc>
                <a:spcPct val="115000"/>
              </a:lnSpc>
              <a:buNone/>
            </a:pPr>
            <a:r>
              <a:rPr lang="en-US" sz="1250" dirty="0">
                <a:solidFill>
                  <a:srgbClr val="22252B"/>
                </a:solidFill>
                <a:latin typeface="Calibri" pitchFamily="34" charset="0"/>
                <a:ea typeface="Calibri" pitchFamily="34" charset="-122"/>
                <a:cs typeface="Calibri" pitchFamily="34" charset="-120"/>
              </a:rPr>
              <a:t>A. Hallucinations only happen with badly written prompts        B. Enterprise tools never make factual errors        C. Fluent, confident text can still be factually wrong        D. Bias was removed from modern models</a:t>
            </a:r>
            <a:endParaRPr lang="en-US" sz="1250" dirty="0"/>
          </a:p>
        </p:txBody>
      </p:sp>
      <p:sp>
        <p:nvSpPr>
          <p:cNvPr id="9" name="Shape 7"/>
          <p:cNvSpPr/>
          <p:nvPr/>
        </p:nvSpPr>
        <p:spPr>
          <a:xfrm>
            <a:off x="502920" y="5120640"/>
            <a:ext cx="11201400" cy="1051560"/>
          </a:xfrm>
          <a:prstGeom prst="roundRect">
            <a:avLst>
              <a:gd name="adj" fmla="val 6957"/>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777240" y="5285232"/>
            <a:ext cx="10607040" cy="731520"/>
          </a:xfrm>
          <a:prstGeom prst="rect">
            <a:avLst/>
          </a:prstGeom>
          <a:noFill/>
          <a:ln/>
        </p:spPr>
        <p:txBody>
          <a:bodyPr wrap="square" lIns="0" tIns="0" rIns="0" bIns="0" rtlCol="0" anchor="ctr"/>
          <a:lstStyle/>
          <a:p>
            <a:pPr indent="0" marL="0">
              <a:buNone/>
            </a:pPr>
            <a:r>
              <a:rPr lang="en-US" sz="1300" dirty="0">
                <a:solidFill>
                  <a:srgbClr val="22252B"/>
                </a:solidFill>
                <a:latin typeface="Calibri" pitchFamily="34" charset="0"/>
                <a:ea typeface="Calibri" pitchFamily="34" charset="-122"/>
                <a:cs typeface="Calibri" pitchFamily="34" charset="-120"/>
              </a:rPr>
              <a:t>Scoring: 4–5 correct = ready for Day 2 • 3 = review the prompt anatomy tonight • ≤2 = tell your trainer — we will pair you up tomorrow morning.</a:t>
            </a:r>
            <a:endParaRPr lang="en-US" sz="1300" dirty="0"/>
          </a:p>
        </p:txBody>
      </p:sp>
      <p:sp>
        <p:nvSpPr>
          <p:cNvPr id="11" name="Text 9"/>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12" name="Text 10"/>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Day 1 reflection</a:t>
            </a:r>
            <a:endParaRPr lang="en-US" sz="3000" dirty="0"/>
          </a:p>
        </p:txBody>
      </p:sp>
      <p:sp>
        <p:nvSpPr>
          <p:cNvPr id="3" name="Text 1"/>
          <p:cNvSpPr txBox="1"/>
          <p:nvPr/>
        </p:nvSpPr>
        <p:spPr>
          <a:xfrm>
            <a:off x="502920" y="987552"/>
            <a:ext cx="11155680" cy="365760"/>
          </a:xfrm>
          <a:prstGeom prst="rect">
            <a:avLst/>
          </a:prstGeom>
          <a:noFill/>
          <a:ln/>
        </p:spPr>
        <p:txBody>
          <a:bodyPr wrap="square" lIns="0" tIns="0" rIns="0" bIns="0" rtlCol="0" anchor="ctr"/>
          <a:lstStyle/>
          <a:p>
            <a:pPr indent="0" marL="0">
              <a:buNone/>
            </a:pPr>
            <a:r>
              <a:rPr lang="en-US" sz="1400" dirty="0">
                <a:solidFill>
                  <a:srgbClr val="696969"/>
                </a:solidFill>
                <a:latin typeface="Calibri" pitchFamily="34" charset="0"/>
                <a:ea typeface="Calibri" pitchFamily="34" charset="-122"/>
                <a:cs typeface="Calibri" pitchFamily="34" charset="-120"/>
              </a:rPr>
              <a:t>Two minutes of silence, then share one answer with your table</a:t>
            </a:r>
            <a:endParaRPr lang="en-US" sz="1400" dirty="0"/>
          </a:p>
        </p:txBody>
      </p:sp>
      <p:sp>
        <p:nvSpPr>
          <p:cNvPr id="4" name="Shape 2"/>
          <p:cNvSpPr/>
          <p:nvPr/>
        </p:nvSpPr>
        <p:spPr>
          <a:xfrm>
            <a:off x="10565892" y="457200"/>
            <a:ext cx="1120140" cy="384048"/>
          </a:xfrm>
          <a:prstGeom prst="roundRect">
            <a:avLst>
              <a:gd name="adj" fmla="val 50000"/>
            </a:avLst>
          </a:prstGeom>
          <a:solidFill>
            <a:srgbClr val="67CCFF"/>
          </a:solidFill>
          <a:ln/>
        </p:spPr>
      </p:sp>
      <p:sp>
        <p:nvSpPr>
          <p:cNvPr id="5" name="Text 3"/>
          <p:cNvSpPr txBox="1"/>
          <p:nvPr/>
        </p:nvSpPr>
        <p:spPr>
          <a:xfrm>
            <a:off x="10565892" y="457200"/>
            <a:ext cx="11201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REFLECT</a:t>
            </a:r>
            <a:endParaRPr lang="en-US" sz="1200" dirty="0"/>
          </a:p>
        </p:txBody>
      </p:sp>
      <p:sp>
        <p:nvSpPr>
          <p:cNvPr id="6" name="Shape 4"/>
          <p:cNvSpPr/>
          <p:nvPr/>
        </p:nvSpPr>
        <p:spPr>
          <a:xfrm>
            <a:off x="640080" y="1828800"/>
            <a:ext cx="603504" cy="603504"/>
          </a:xfrm>
          <a:prstGeom prst="roundRect">
            <a:avLst>
              <a:gd name="adj" fmla="val 13636"/>
            </a:avLst>
          </a:prstGeom>
          <a:solidFill>
            <a:srgbClr val="67CCFF"/>
          </a:solidFill>
          <a:ln/>
        </p:spPr>
      </p:sp>
      <p:pic>
        <p:nvPicPr>
          <p:cNvPr id="7" name="Image 0" descr="preencoded.png">    </p:cNvPr>
          <p:cNvPicPr>
            <a:picLocks noChangeAspect="1"/>
          </p:cNvPicPr>
          <p:nvPr/>
        </p:nvPicPr>
        <p:blipFill>
          <a:blip r:embed="rId1"/>
          <a:stretch>
            <a:fillRect/>
          </a:stretch>
        </p:blipFill>
        <p:spPr>
          <a:xfrm>
            <a:off x="772851" y="1961571"/>
            <a:ext cx="337962" cy="337962"/>
          </a:xfrm>
          <a:prstGeom prst="rect">
            <a:avLst/>
          </a:prstGeom>
        </p:spPr>
      </p:pic>
      <p:sp>
        <p:nvSpPr>
          <p:cNvPr id="8" name="Text 5"/>
          <p:cNvSpPr txBox="1"/>
          <p:nvPr/>
        </p:nvSpPr>
        <p:spPr>
          <a:xfrm>
            <a:off x="1463040" y="1828800"/>
            <a:ext cx="10058400" cy="603504"/>
          </a:xfrm>
          <a:prstGeom prst="rect">
            <a:avLst/>
          </a:prstGeom>
          <a:noFill/>
          <a:ln/>
        </p:spPr>
        <p:txBody>
          <a:bodyPr wrap="square" lIns="0" tIns="0" rIns="0" bIns="0" rtlCol="0" anchor="ctr"/>
          <a:lstStyle/>
          <a:p>
            <a:pPr indent="0" marL="0">
              <a:buNone/>
            </a:pPr>
            <a:r>
              <a:rPr lang="en-US" sz="1700" dirty="0">
                <a:solidFill>
                  <a:srgbClr val="22252B"/>
                </a:solidFill>
                <a:latin typeface="Calibri" pitchFamily="34" charset="0"/>
                <a:ea typeface="Calibri" pitchFamily="34" charset="-122"/>
                <a:cs typeface="Calibri" pitchFamily="34" charset="-120"/>
              </a:rPr>
              <a:t>What is the ONE task in your job where AI will save you the most time this month?</a:t>
            </a:r>
            <a:endParaRPr lang="en-US" sz="1700" dirty="0"/>
          </a:p>
        </p:txBody>
      </p:sp>
      <p:sp>
        <p:nvSpPr>
          <p:cNvPr id="9" name="Shape 6"/>
          <p:cNvSpPr/>
          <p:nvPr/>
        </p:nvSpPr>
        <p:spPr>
          <a:xfrm>
            <a:off x="640080" y="3200400"/>
            <a:ext cx="603504" cy="603504"/>
          </a:xfrm>
          <a:prstGeom prst="roundRect">
            <a:avLst>
              <a:gd name="adj" fmla="val 13636"/>
            </a:avLst>
          </a:prstGeom>
          <a:solidFill>
            <a:srgbClr val="67CCFF"/>
          </a:solidFill>
          <a:ln/>
        </p:spPr>
      </p:sp>
      <p:pic>
        <p:nvPicPr>
          <p:cNvPr id="10" name="Image 1" descr="preencoded.png">    </p:cNvPr>
          <p:cNvPicPr>
            <a:picLocks noChangeAspect="1"/>
          </p:cNvPicPr>
          <p:nvPr/>
        </p:nvPicPr>
        <p:blipFill>
          <a:blip r:embed="rId2"/>
          <a:stretch>
            <a:fillRect/>
          </a:stretch>
        </p:blipFill>
        <p:spPr>
          <a:xfrm>
            <a:off x="772851" y="3333171"/>
            <a:ext cx="337962" cy="337962"/>
          </a:xfrm>
          <a:prstGeom prst="rect">
            <a:avLst/>
          </a:prstGeom>
        </p:spPr>
      </p:pic>
      <p:sp>
        <p:nvSpPr>
          <p:cNvPr id="11" name="Text 7"/>
          <p:cNvSpPr txBox="1"/>
          <p:nvPr/>
        </p:nvSpPr>
        <p:spPr>
          <a:xfrm>
            <a:off x="1463040" y="3200400"/>
            <a:ext cx="10058400" cy="603504"/>
          </a:xfrm>
          <a:prstGeom prst="rect">
            <a:avLst/>
          </a:prstGeom>
          <a:noFill/>
          <a:ln/>
        </p:spPr>
        <p:txBody>
          <a:bodyPr wrap="square" lIns="0" tIns="0" rIns="0" bIns="0" rtlCol="0" anchor="ctr"/>
          <a:lstStyle/>
          <a:p>
            <a:pPr indent="0" marL="0">
              <a:buNone/>
            </a:pPr>
            <a:r>
              <a:rPr lang="en-US" sz="1700" dirty="0">
                <a:solidFill>
                  <a:srgbClr val="22252B"/>
                </a:solidFill>
                <a:latin typeface="Calibri" pitchFamily="34" charset="0"/>
                <a:ea typeface="Calibri" pitchFamily="34" charset="-122"/>
                <a:cs typeface="Calibri" pitchFamily="34" charset="-120"/>
              </a:rPr>
              <a:t>What is one thing you will be careful about after today?</a:t>
            </a:r>
            <a:endParaRPr lang="en-US" sz="1700" dirty="0"/>
          </a:p>
        </p:txBody>
      </p:sp>
      <p:sp>
        <p:nvSpPr>
          <p:cNvPr id="12" name="Shape 8"/>
          <p:cNvSpPr/>
          <p:nvPr/>
        </p:nvSpPr>
        <p:spPr>
          <a:xfrm>
            <a:off x="640080" y="4572000"/>
            <a:ext cx="603504" cy="603504"/>
          </a:xfrm>
          <a:prstGeom prst="roundRect">
            <a:avLst>
              <a:gd name="adj" fmla="val 13636"/>
            </a:avLst>
          </a:prstGeom>
          <a:solidFill>
            <a:srgbClr val="67CCFF"/>
          </a:solidFill>
          <a:ln/>
        </p:spPr>
      </p:sp>
      <p:pic>
        <p:nvPicPr>
          <p:cNvPr id="13" name="Image 2" descr="preencoded.png">    </p:cNvPr>
          <p:cNvPicPr>
            <a:picLocks noChangeAspect="1"/>
          </p:cNvPicPr>
          <p:nvPr/>
        </p:nvPicPr>
        <p:blipFill>
          <a:blip r:embed="rId3"/>
          <a:stretch>
            <a:fillRect/>
          </a:stretch>
        </p:blipFill>
        <p:spPr>
          <a:xfrm>
            <a:off x="772851" y="4704771"/>
            <a:ext cx="337962" cy="337962"/>
          </a:xfrm>
          <a:prstGeom prst="rect">
            <a:avLst/>
          </a:prstGeom>
        </p:spPr>
      </p:pic>
      <p:sp>
        <p:nvSpPr>
          <p:cNvPr id="14" name="Text 9"/>
          <p:cNvSpPr txBox="1"/>
          <p:nvPr/>
        </p:nvSpPr>
        <p:spPr>
          <a:xfrm>
            <a:off x="1463040" y="4572000"/>
            <a:ext cx="10058400" cy="603504"/>
          </a:xfrm>
          <a:prstGeom prst="rect">
            <a:avLst/>
          </a:prstGeom>
          <a:noFill/>
          <a:ln/>
        </p:spPr>
        <p:txBody>
          <a:bodyPr wrap="square" lIns="0" tIns="0" rIns="0" bIns="0" rtlCol="0" anchor="ctr"/>
          <a:lstStyle/>
          <a:p>
            <a:pPr indent="0" marL="0">
              <a:buNone/>
            </a:pPr>
            <a:r>
              <a:rPr lang="en-US" sz="1700" dirty="0">
                <a:solidFill>
                  <a:srgbClr val="22252B"/>
                </a:solidFill>
                <a:latin typeface="Calibri" pitchFamily="34" charset="0"/>
                <a:ea typeface="Calibri" pitchFamily="34" charset="-122"/>
                <a:cs typeface="Calibri" pitchFamily="34" charset="-120"/>
              </a:rPr>
              <a:t>Which prompt did you save to your Personal Prompt Library today? (If none — do it now.)</a:t>
            </a:r>
            <a:endParaRPr lang="en-US" sz="1700" dirty="0"/>
          </a:p>
        </p:txBody>
      </p:sp>
      <p:sp>
        <p:nvSpPr>
          <p:cNvPr id="15" name="Text 10"/>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16" name="Text 11"/>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02920" y="347472"/>
            <a:ext cx="1115568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Day 1 key takeaways</a:t>
            </a:r>
            <a:endParaRPr lang="en-US" sz="3000" dirty="0"/>
          </a:p>
        </p:txBody>
      </p:sp>
      <p:sp>
        <p:nvSpPr>
          <p:cNvPr id="3" name="Shape 1"/>
          <p:cNvSpPr/>
          <p:nvPr/>
        </p:nvSpPr>
        <p:spPr>
          <a:xfrm>
            <a:off x="640080" y="1554480"/>
            <a:ext cx="457200" cy="457200"/>
          </a:xfrm>
          <a:prstGeom prst="roundRect">
            <a:avLst>
              <a:gd name="adj" fmla="val 20000"/>
            </a:avLst>
          </a:prstGeom>
          <a:solidFill>
            <a:srgbClr val="273370"/>
          </a:solidFill>
          <a:ln/>
        </p:spPr>
      </p:sp>
      <p:sp>
        <p:nvSpPr>
          <p:cNvPr id="4" name="Text 2"/>
          <p:cNvSpPr txBox="1"/>
          <p:nvPr/>
        </p:nvSpPr>
        <p:spPr>
          <a:xfrm>
            <a:off x="640080" y="15544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5" name="Text 3"/>
          <p:cNvSpPr txBox="1"/>
          <p:nvPr/>
        </p:nvSpPr>
        <p:spPr>
          <a:xfrm>
            <a:off x="1325880" y="1508760"/>
            <a:ext cx="10241280" cy="548640"/>
          </a:xfrm>
          <a:prstGeom prst="rect">
            <a:avLst/>
          </a:prstGeom>
          <a:noFill/>
          <a:ln/>
        </p:spPr>
        <p:txBody>
          <a:bodyPr wrap="square" lIns="0" tIns="0" rIns="0" bIns="0" rtlCol="0" anchor="ctr"/>
          <a:lstStyle/>
          <a:p>
            <a:pPr indent="0" marL="0">
              <a:buNone/>
            </a:pPr>
            <a:r>
              <a:rPr lang="en-US" sz="1450" dirty="0">
                <a:solidFill>
                  <a:srgbClr val="22252B"/>
                </a:solidFill>
                <a:latin typeface="Calibri" pitchFamily="34" charset="0"/>
                <a:ea typeface="Calibri" pitchFamily="34" charset="-122"/>
                <a:cs typeface="Calibri" pitchFamily="34" charset="-120"/>
              </a:rPr>
              <a:t>Generative AI predicts plausible content — it does not know facts. Fluency is not accuracy.</a:t>
            </a:r>
            <a:endParaRPr lang="en-US" sz="1450" dirty="0"/>
          </a:p>
        </p:txBody>
      </p:sp>
      <p:sp>
        <p:nvSpPr>
          <p:cNvPr id="6" name="Shape 4"/>
          <p:cNvSpPr/>
          <p:nvPr/>
        </p:nvSpPr>
        <p:spPr>
          <a:xfrm>
            <a:off x="640080" y="2331720"/>
            <a:ext cx="457200" cy="457200"/>
          </a:xfrm>
          <a:prstGeom prst="roundRect">
            <a:avLst>
              <a:gd name="adj" fmla="val 20000"/>
            </a:avLst>
          </a:prstGeom>
          <a:solidFill>
            <a:srgbClr val="273370"/>
          </a:solidFill>
          <a:ln/>
        </p:spPr>
      </p:sp>
      <p:sp>
        <p:nvSpPr>
          <p:cNvPr id="7" name="Text 5"/>
          <p:cNvSpPr txBox="1"/>
          <p:nvPr/>
        </p:nvSpPr>
        <p:spPr>
          <a:xfrm>
            <a:off x="640080" y="23317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8" name="Text 6"/>
          <p:cNvSpPr txBox="1"/>
          <p:nvPr/>
        </p:nvSpPr>
        <p:spPr>
          <a:xfrm>
            <a:off x="1325880" y="2286000"/>
            <a:ext cx="10241280" cy="548640"/>
          </a:xfrm>
          <a:prstGeom prst="rect">
            <a:avLst/>
          </a:prstGeom>
          <a:noFill/>
          <a:ln/>
        </p:spPr>
        <p:txBody>
          <a:bodyPr wrap="square" lIns="0" tIns="0" rIns="0" bIns="0" rtlCol="0" anchor="ctr"/>
          <a:lstStyle/>
          <a:p>
            <a:pPr indent="0" marL="0">
              <a:buNone/>
            </a:pPr>
            <a:r>
              <a:rPr lang="en-US" sz="1450" dirty="0">
                <a:solidFill>
                  <a:srgbClr val="22252B"/>
                </a:solidFill>
                <a:latin typeface="Calibri" pitchFamily="34" charset="0"/>
                <a:ea typeface="Calibri" pitchFamily="34" charset="-122"/>
                <a:cs typeface="Calibri" pitchFamily="34" charset="-120"/>
              </a:rPr>
              <a:t>Context is the highest-leverage part of any prompt: who, what, why, for whom.</a:t>
            </a:r>
            <a:endParaRPr lang="en-US" sz="1450" dirty="0"/>
          </a:p>
        </p:txBody>
      </p:sp>
      <p:sp>
        <p:nvSpPr>
          <p:cNvPr id="9" name="Shape 7"/>
          <p:cNvSpPr/>
          <p:nvPr/>
        </p:nvSpPr>
        <p:spPr>
          <a:xfrm>
            <a:off x="640080" y="3108960"/>
            <a:ext cx="457200" cy="457200"/>
          </a:xfrm>
          <a:prstGeom prst="roundRect">
            <a:avLst>
              <a:gd name="adj" fmla="val 20000"/>
            </a:avLst>
          </a:prstGeom>
          <a:solidFill>
            <a:srgbClr val="273370"/>
          </a:solidFill>
          <a:ln/>
        </p:spPr>
      </p:sp>
      <p:sp>
        <p:nvSpPr>
          <p:cNvPr id="10" name="Text 8"/>
          <p:cNvSpPr txBox="1"/>
          <p:nvPr/>
        </p:nvSpPr>
        <p:spPr>
          <a:xfrm>
            <a:off x="640080" y="31089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1" name="Text 9"/>
          <p:cNvSpPr txBox="1"/>
          <p:nvPr/>
        </p:nvSpPr>
        <p:spPr>
          <a:xfrm>
            <a:off x="1325880" y="3063240"/>
            <a:ext cx="10241280" cy="548640"/>
          </a:xfrm>
          <a:prstGeom prst="rect">
            <a:avLst/>
          </a:prstGeom>
          <a:noFill/>
          <a:ln/>
        </p:spPr>
        <p:txBody>
          <a:bodyPr wrap="square" lIns="0" tIns="0" rIns="0" bIns="0" rtlCol="0" anchor="ctr"/>
          <a:lstStyle/>
          <a:p>
            <a:pPr indent="0" marL="0">
              <a:buNone/>
            </a:pPr>
            <a:r>
              <a:rPr lang="en-US" sz="1450" dirty="0">
                <a:solidFill>
                  <a:srgbClr val="22252B"/>
                </a:solidFill>
                <a:latin typeface="Calibri" pitchFamily="34" charset="0"/>
                <a:ea typeface="Calibri" pitchFamily="34" charset="-122"/>
                <a:cs typeface="Calibri" pitchFamily="34" charset="-120"/>
              </a:rPr>
              <a:t>R-T-C-F-E-X: Role, Task, Context, Format, Example, Constraints — use what the task needs.</a:t>
            </a:r>
            <a:endParaRPr lang="en-US" sz="1450" dirty="0"/>
          </a:p>
        </p:txBody>
      </p:sp>
      <p:sp>
        <p:nvSpPr>
          <p:cNvPr id="12" name="Shape 10"/>
          <p:cNvSpPr/>
          <p:nvPr/>
        </p:nvSpPr>
        <p:spPr>
          <a:xfrm>
            <a:off x="640080" y="3886200"/>
            <a:ext cx="457200" cy="457200"/>
          </a:xfrm>
          <a:prstGeom prst="roundRect">
            <a:avLst>
              <a:gd name="adj" fmla="val 20000"/>
            </a:avLst>
          </a:prstGeom>
          <a:solidFill>
            <a:srgbClr val="273370"/>
          </a:solidFill>
          <a:ln/>
        </p:spPr>
      </p:sp>
      <p:sp>
        <p:nvSpPr>
          <p:cNvPr id="13" name="Text 11"/>
          <p:cNvSpPr txBox="1"/>
          <p:nvPr/>
        </p:nvSpPr>
        <p:spPr>
          <a:xfrm>
            <a:off x="640080" y="38862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4" name="Text 12"/>
          <p:cNvSpPr txBox="1"/>
          <p:nvPr/>
        </p:nvSpPr>
        <p:spPr>
          <a:xfrm>
            <a:off x="1325880" y="3840480"/>
            <a:ext cx="10241280" cy="548640"/>
          </a:xfrm>
          <a:prstGeom prst="rect">
            <a:avLst/>
          </a:prstGeom>
          <a:noFill/>
          <a:ln/>
        </p:spPr>
        <p:txBody>
          <a:bodyPr wrap="square" lIns="0" tIns="0" rIns="0" bIns="0" rtlCol="0" anchor="ctr"/>
          <a:lstStyle/>
          <a:p>
            <a:pPr indent="0" marL="0">
              <a:buNone/>
            </a:pPr>
            <a:r>
              <a:rPr lang="en-US" sz="1450" dirty="0">
                <a:solidFill>
                  <a:srgbClr val="22252B"/>
                </a:solidFill>
                <a:latin typeface="Calibri" pitchFamily="34" charset="0"/>
                <a:ea typeface="Calibri" pitchFamily="34" charset="-122"/>
                <a:cs typeface="Calibri" pitchFamily="34" charset="-120"/>
              </a:rPr>
              <a:t>Iterate: the second and third prompts are where professionals win.</a:t>
            </a:r>
            <a:endParaRPr lang="en-US" sz="1450" dirty="0"/>
          </a:p>
        </p:txBody>
      </p:sp>
      <p:sp>
        <p:nvSpPr>
          <p:cNvPr id="15" name="Shape 13"/>
          <p:cNvSpPr/>
          <p:nvPr/>
        </p:nvSpPr>
        <p:spPr>
          <a:xfrm>
            <a:off x="640080" y="4663440"/>
            <a:ext cx="457200" cy="457200"/>
          </a:xfrm>
          <a:prstGeom prst="roundRect">
            <a:avLst>
              <a:gd name="adj" fmla="val 20000"/>
            </a:avLst>
          </a:prstGeom>
          <a:solidFill>
            <a:srgbClr val="273370"/>
          </a:solidFill>
          <a:ln/>
        </p:spPr>
      </p:sp>
      <p:sp>
        <p:nvSpPr>
          <p:cNvPr id="16" name="Text 14"/>
          <p:cNvSpPr txBox="1"/>
          <p:nvPr/>
        </p:nvSpPr>
        <p:spPr>
          <a:xfrm>
            <a:off x="640080" y="46634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7" name="Text 15"/>
          <p:cNvSpPr txBox="1"/>
          <p:nvPr/>
        </p:nvSpPr>
        <p:spPr>
          <a:xfrm>
            <a:off x="1325880" y="4617720"/>
            <a:ext cx="10241280" cy="548640"/>
          </a:xfrm>
          <a:prstGeom prst="rect">
            <a:avLst/>
          </a:prstGeom>
          <a:noFill/>
          <a:ln/>
        </p:spPr>
        <p:txBody>
          <a:bodyPr wrap="square" lIns="0" tIns="0" rIns="0" bIns="0" rtlCol="0" anchor="ctr"/>
          <a:lstStyle/>
          <a:p>
            <a:pPr indent="0" marL="0">
              <a:buNone/>
            </a:pPr>
            <a:r>
              <a:rPr lang="en-US" sz="1450" dirty="0">
                <a:solidFill>
                  <a:srgbClr val="22252B"/>
                </a:solidFill>
                <a:latin typeface="Calibri" pitchFamily="34" charset="0"/>
                <a:ea typeface="Calibri" pitchFamily="34" charset="-122"/>
                <a:cs typeface="Calibri" pitchFamily="34" charset="-120"/>
              </a:rPr>
              <a:t>Never put confidential or personal data into unapproved tools — the full rules come on Day 3.</a:t>
            </a:r>
            <a:endParaRPr lang="en-US" sz="1450" dirty="0"/>
          </a:p>
        </p:txBody>
      </p:sp>
      <p:sp>
        <p:nvSpPr>
          <p:cNvPr id="18" name="Shape 16"/>
          <p:cNvSpPr/>
          <p:nvPr/>
        </p:nvSpPr>
        <p:spPr>
          <a:xfrm>
            <a:off x="640080" y="5440680"/>
            <a:ext cx="457200" cy="457200"/>
          </a:xfrm>
          <a:prstGeom prst="roundRect">
            <a:avLst>
              <a:gd name="adj" fmla="val 20000"/>
            </a:avLst>
          </a:prstGeom>
          <a:solidFill>
            <a:srgbClr val="273370"/>
          </a:solidFill>
          <a:ln/>
        </p:spPr>
      </p:sp>
      <p:sp>
        <p:nvSpPr>
          <p:cNvPr id="19" name="Text 17"/>
          <p:cNvSpPr txBox="1"/>
          <p:nvPr/>
        </p:nvSpPr>
        <p:spPr>
          <a:xfrm>
            <a:off x="640080" y="54406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0" name="Text 18"/>
          <p:cNvSpPr txBox="1"/>
          <p:nvPr/>
        </p:nvSpPr>
        <p:spPr>
          <a:xfrm>
            <a:off x="1325880" y="5394960"/>
            <a:ext cx="10241280" cy="548640"/>
          </a:xfrm>
          <a:prstGeom prst="rect">
            <a:avLst/>
          </a:prstGeom>
          <a:noFill/>
          <a:ln/>
        </p:spPr>
        <p:txBody>
          <a:bodyPr wrap="square" lIns="0" tIns="0" rIns="0" bIns="0" rtlCol="0" anchor="ctr"/>
          <a:lstStyle/>
          <a:p>
            <a:pPr indent="0" marL="0">
              <a:buNone/>
            </a:pPr>
            <a:r>
              <a:rPr lang="en-US" sz="1450" dirty="0">
                <a:solidFill>
                  <a:srgbClr val="22252B"/>
                </a:solidFill>
                <a:latin typeface="Calibri" pitchFamily="34" charset="0"/>
                <a:ea typeface="Calibri" pitchFamily="34" charset="-122"/>
                <a:cs typeface="Calibri" pitchFamily="34" charset="-120"/>
              </a:rPr>
              <a:t>You are always the author of record. AI drafts; you decide.</a:t>
            </a:r>
            <a:endParaRPr lang="en-US" sz="1450" dirty="0"/>
          </a:p>
        </p:txBody>
      </p:sp>
      <p:sp>
        <p:nvSpPr>
          <p:cNvPr id="21" name="Text 19"/>
          <p:cNvSpPr txBox="1"/>
          <p:nvPr/>
        </p:nvSpPr>
        <p:spPr>
          <a:xfrm>
            <a:off x="640080" y="6263640"/>
            <a:ext cx="10972800" cy="320040"/>
          </a:xfrm>
          <a:prstGeom prst="rect">
            <a:avLst/>
          </a:prstGeom>
          <a:noFill/>
          <a:ln/>
        </p:spPr>
        <p:txBody>
          <a:bodyPr wrap="square" lIns="0" tIns="0" rIns="0" bIns="0" rtlCol="0" anchor="ctr"/>
          <a:lstStyle/>
          <a:p>
            <a:pPr indent="0" marL="0">
              <a:buNone/>
            </a:pPr>
            <a:r>
              <a:rPr lang="en-US" sz="1200" i="1" dirty="0">
                <a:solidFill>
                  <a:srgbClr val="696969"/>
                </a:solidFill>
                <a:latin typeface="Calibri" pitchFamily="34" charset="0"/>
                <a:ea typeface="Calibri" pitchFamily="34" charset="-122"/>
                <a:cs typeface="Calibri" pitchFamily="34" charset="-120"/>
              </a:rPr>
              <a:t>Optional homework: use AI for one real (non-confidential) task tonight and bring the result tomorrow.</a:t>
            </a:r>
            <a:endParaRPr lang="en-US" sz="1200" dirty="0"/>
          </a:p>
        </p:txBody>
      </p:sp>
      <p:sp>
        <p:nvSpPr>
          <p:cNvPr id="22" name="Text 20"/>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23" name="Text 21"/>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1737360"/>
            <a:ext cx="3657600" cy="548640"/>
          </a:xfrm>
          <a:prstGeom prst="rect">
            <a:avLst/>
          </a:prstGeom>
          <a:noFill/>
          <a:ln/>
        </p:spPr>
        <p:txBody>
          <a:bodyPr wrap="square" lIns="0" tIns="0" rIns="0" bIns="0" rtlCol="0" anchor="ctr"/>
          <a:lstStyle/>
          <a:p>
            <a:pPr indent="0" marL="0">
              <a:buNone/>
            </a:pPr>
            <a:r>
              <a:rPr lang="en-US" sz="2200" b="1" spc="500" kern="0" dirty="0">
                <a:solidFill>
                  <a:srgbClr val="FCBD4C"/>
                </a:solidFill>
                <a:latin typeface="Calibri" pitchFamily="34" charset="0"/>
                <a:ea typeface="Calibri" pitchFamily="34" charset="-122"/>
                <a:cs typeface="Calibri" pitchFamily="34" charset="-120"/>
              </a:rPr>
              <a:t>DAY 2</a:t>
            </a:r>
            <a:endParaRPr lang="en-US" sz="2200" dirty="0"/>
          </a:p>
        </p:txBody>
      </p:sp>
      <p:sp>
        <p:nvSpPr>
          <p:cNvPr id="3" name="Text 1"/>
          <p:cNvSpPr txBox="1"/>
          <p:nvPr/>
        </p:nvSpPr>
        <p:spPr>
          <a:xfrm>
            <a:off x="731520" y="2286000"/>
            <a:ext cx="10515600" cy="1005840"/>
          </a:xfrm>
          <a:prstGeom prst="rect">
            <a:avLst/>
          </a:prstGeom>
          <a:noFill/>
          <a:ln/>
        </p:spPr>
        <p:txBody>
          <a:bodyPr wrap="square" lIns="0" tIns="0" rIns="0" bIns="0"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Writing &amp; Working with Information</a:t>
            </a:r>
            <a:endParaRPr lang="en-US" sz="4200" dirty="0"/>
          </a:p>
        </p:txBody>
      </p:sp>
      <p:sp>
        <p:nvSpPr>
          <p:cNvPr id="4" name="Text 2"/>
          <p:cNvSpPr txBox="1"/>
          <p:nvPr/>
        </p:nvSpPr>
        <p:spPr>
          <a:xfrm>
            <a:off x="777240" y="3520440"/>
            <a:ext cx="9601200" cy="1645920"/>
          </a:xfrm>
          <a:prstGeom prst="rect">
            <a:avLst/>
          </a:prstGeom>
          <a:noFill/>
          <a:ln/>
        </p:spPr>
        <p:txBody>
          <a:bodyPr wrap="square" lIns="0" tIns="0" rIns="0" bIns="0" rtlCol="0" anchor="ctr"/>
          <a:lstStyle/>
          <a:p>
            <a:pPr marL="152400" indent="-152400">
              <a:spcAft>
                <a:spcPts val="800"/>
              </a:spcAft>
              <a:buSzPct val="100000"/>
              <a:buChar char="•"/>
            </a:pPr>
            <a:r>
              <a:rPr lang="en-US" sz="1600" dirty="0">
                <a:solidFill>
                  <a:srgbClr val="C9D2F2"/>
                </a:solidFill>
                <a:latin typeface="Calibri" pitchFamily="34" charset="0"/>
                <a:ea typeface="Calibri" pitchFamily="34" charset="-122"/>
                <a:cs typeface="Calibri" pitchFamily="34" charset="-120"/>
              </a:rPr>
              <a:t>Draft, rewrite and polish emails, correspondence and reports</a:t>
            </a:r>
            <a:endParaRPr lang="en-US" sz="1600" dirty="0"/>
          </a:p>
          <a:p>
            <a:pPr marL="152400" indent="-152400">
              <a:spcAft>
                <a:spcPts val="800"/>
              </a:spcAft>
              <a:buSzPct val="100000"/>
              <a:buChar char="•"/>
            </a:pPr>
            <a:r>
              <a:rPr lang="en-US" sz="1600" dirty="0">
                <a:solidFill>
                  <a:srgbClr val="C9D2F2"/>
                </a:solidFill>
                <a:latin typeface="Calibri" pitchFamily="34" charset="0"/>
                <a:ea typeface="Calibri" pitchFamily="34" charset="-122"/>
                <a:cs typeface="Calibri" pitchFamily="34" charset="-120"/>
              </a:rPr>
              <a:t>Summarise, extract and structure information from documents and notes</a:t>
            </a:r>
            <a:endParaRPr lang="en-US" sz="1600" dirty="0"/>
          </a:p>
          <a:p>
            <a:pPr marL="152400" indent="-152400">
              <a:buSzPct val="100000"/>
              <a:buChar char="•"/>
            </a:pPr>
            <a:r>
              <a:rPr lang="en-US" sz="1600" dirty="0">
                <a:solidFill>
                  <a:srgbClr val="C9D2F2"/>
                </a:solidFill>
                <a:latin typeface="Calibri" pitchFamily="34" charset="0"/>
                <a:ea typeface="Calibri" pitchFamily="34" charset="-122"/>
                <a:cs typeface="Calibri" pitchFamily="34" charset="-120"/>
              </a:rPr>
              <a:t>Compare and synthesise multiple documents into a recommendation</a:t>
            </a:r>
            <a:endParaRPr lang="en-US" sz="1600" dirty="0"/>
          </a:p>
        </p:txBody>
      </p:sp>
      <p:sp>
        <p:nvSpPr>
          <p:cNvPr id="5" name="Text 3"/>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 </a:t>
            </a:r>
            <a:endParaRPr lang="en-US" sz="900" dirty="0"/>
          </a:p>
        </p:txBody>
      </p:sp>
      <p:sp>
        <p:nvSpPr>
          <p:cNvPr id="6" name="Text 4"/>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02920" y="347472"/>
            <a:ext cx="1115568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Day 2 agenda</a:t>
            </a:r>
            <a:endParaRPr lang="en-US" sz="3000" dirty="0"/>
          </a:p>
        </p:txBody>
      </p:sp>
      <p:sp>
        <p:nvSpPr>
          <p:cNvPr id="3" name="Text 1"/>
          <p:cNvSpPr txBox="1"/>
          <p:nvPr/>
        </p:nvSpPr>
        <p:spPr>
          <a:xfrm>
            <a:off x="502920" y="987552"/>
            <a:ext cx="11155680" cy="365760"/>
          </a:xfrm>
          <a:prstGeom prst="rect">
            <a:avLst/>
          </a:prstGeom>
          <a:noFill/>
          <a:ln/>
        </p:spPr>
        <p:txBody>
          <a:bodyPr wrap="square" lIns="0" tIns="0" rIns="0" bIns="0" rtlCol="0" anchor="ctr"/>
          <a:lstStyle/>
          <a:p>
            <a:pPr indent="0" marL="0">
              <a:buNone/>
            </a:pPr>
            <a:r>
              <a:rPr lang="en-US" sz="1400" dirty="0">
                <a:solidFill>
                  <a:srgbClr val="696969"/>
                </a:solidFill>
                <a:latin typeface="Calibri" pitchFamily="34" charset="0"/>
                <a:ea typeface="Calibri" pitchFamily="34" charset="-122"/>
                <a:cs typeface="Calibri" pitchFamily="34" charset="-120"/>
              </a:rPr>
              <a:t>08:30 – 14:30  •  ~5 instructional hours</a:t>
            </a:r>
            <a:endParaRPr lang="en-US" sz="14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11155680" cy="914400"/>
        </p:xfrm>
        <a:graphic>
          <a:graphicData uri="http://schemas.openxmlformats.org/drawingml/2006/table">
            <a:tbl>
              <a:tblPr/>
              <a:tblGrid>
                <a:gridCol w="1188720"/>
                <a:gridCol w="6949440"/>
                <a:gridCol w="1371600"/>
                <a:gridCol w="1645920"/>
              </a:tblGrid>
              <a:tr h="329184">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Time</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27337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Segment</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27337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Duration</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27337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Type</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273370"/>
                    </a:solidFill>
                  </a:tcPr>
                </a:tc>
              </a:tr>
              <a:tr h="329184">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08:30</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Recap &amp; warm-up prompt sprint</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15 min</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Session</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08:45</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Writing with AI: the 4-step workflow, emails &amp; tone control</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45 min</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Concept + demo</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r>
              <a:tr h="329184">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09:30</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Demo 3 + Activity 2.1 — Email triage (sample inbox)</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45 min</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Hands-on</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10:15</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Debrief 2.1</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10 min</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Debrief</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r>
              <a:tr h="329184">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10:25</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E8ECF6"/>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Break</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E8ECF6"/>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15 min</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E8ECF6"/>
                    </a:solidFill>
                  </a:tcPr>
                </a:tc>
                <a:tc>
                  <a:txBody>
                    <a:bodyPr/>
                    <a:lstStyle/>
                    <a:p>
                      <a:pPr indent="0" marL="0">
                        <a:buNone/>
                      </a:pP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E8ECF6"/>
                    </a:solidFill>
                  </a:tcPr>
                </a:tc>
              </a:tr>
              <a:tr h="329184">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10:40</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Reports &amp; longer documents + Activity 2.2 — Quarterly summary from data</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70 min</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Hands-on</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r>
              <a:tr h="329184">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11:50</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E8ECF6"/>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Buffer / early debrief</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E8ECF6"/>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10 min</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E8ECF6"/>
                    </a:solidFill>
                  </a:tcPr>
                </a:tc>
                <a:tc>
                  <a:txBody>
                    <a:bodyPr/>
                    <a:lstStyle/>
                    <a:p>
                      <a:pPr indent="0" marL="0">
                        <a:buNone/>
                      </a:pP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E8ECF6"/>
                    </a:solidFill>
                  </a:tcPr>
                </a:tc>
              </a:tr>
              <a:tr h="329184">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12:00</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E8ECF6"/>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Prayer &amp; refreshments</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E8ECF6"/>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30 min</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E8ECF6"/>
                    </a:solidFill>
                  </a:tcPr>
                </a:tc>
                <a:tc>
                  <a:txBody>
                    <a:bodyPr/>
                    <a:lstStyle/>
                    <a:p>
                      <a:pPr indent="0" marL="0">
                        <a:buNone/>
                      </a:pP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E8ECF6"/>
                    </a:solidFill>
                  </a:tcPr>
                </a:tc>
              </a:tr>
              <a:tr h="329184">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12:30</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Summarisation &amp; information extraction + Demo 4</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25 min</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Concept + demo</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12:55</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Activity 2.3 — Meeting notes → minutes &amp; actions</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35 min</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Hands-on</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r>
              <a:tr h="329184">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13:30</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Comparison &amp; synthesis + Activity 2.4 — Vendor proposals</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40 min</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Hands-on</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14:10</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Debriefs, Day 2 quiz &amp; takeaways</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20 min</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Assessment</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r>
            </a:tbl>
          </a:graphicData>
        </a:graphic>
      </p:graphicFrame>
      <p:sp>
        <p:nvSpPr>
          <p:cNvPr id="5" name="Text 2"/>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6" name="Text 3"/>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Writing with AI: the 4-step workflow</a:t>
            </a:r>
            <a:endParaRPr lang="en-US" sz="3000" dirty="0"/>
          </a:p>
        </p:txBody>
      </p:sp>
      <p:sp>
        <p:nvSpPr>
          <p:cNvPr id="3" name="Text 1"/>
          <p:cNvSpPr txBox="1"/>
          <p:nvPr/>
        </p:nvSpPr>
        <p:spPr>
          <a:xfrm>
            <a:off x="502920" y="987552"/>
            <a:ext cx="11155680" cy="365760"/>
          </a:xfrm>
          <a:prstGeom prst="rect">
            <a:avLst/>
          </a:prstGeom>
          <a:noFill/>
          <a:ln/>
        </p:spPr>
        <p:txBody>
          <a:bodyPr wrap="square" lIns="0" tIns="0" rIns="0" bIns="0" rtlCol="0" anchor="ctr"/>
          <a:lstStyle/>
          <a:p>
            <a:pPr indent="0" marL="0">
              <a:buNone/>
            </a:pPr>
            <a:r>
              <a:rPr lang="en-US" sz="1400" dirty="0">
                <a:solidFill>
                  <a:srgbClr val="696969"/>
                </a:solidFill>
                <a:latin typeface="Calibri" pitchFamily="34" charset="0"/>
                <a:ea typeface="Calibri" pitchFamily="34" charset="-122"/>
                <a:cs typeface="Calibri" pitchFamily="34" charset="-120"/>
              </a:rPr>
              <a:t>The same loop works for a two-line email or a twenty-page report</a:t>
            </a:r>
            <a:endParaRPr lang="en-US" sz="1400" dirty="0"/>
          </a:p>
        </p:txBody>
      </p:sp>
      <p:sp>
        <p:nvSpPr>
          <p:cNvPr id="4" name="Shape 2"/>
          <p:cNvSpPr/>
          <p:nvPr/>
        </p:nvSpPr>
        <p:spPr>
          <a:xfrm>
            <a:off x="10565892" y="457200"/>
            <a:ext cx="1120140" cy="384048"/>
          </a:xfrm>
          <a:prstGeom prst="roundRect">
            <a:avLst>
              <a:gd name="adj" fmla="val 50000"/>
            </a:avLst>
          </a:prstGeom>
          <a:solidFill>
            <a:srgbClr val="94A0DA"/>
          </a:solidFill>
          <a:ln/>
        </p:spPr>
      </p:sp>
      <p:sp>
        <p:nvSpPr>
          <p:cNvPr id="5" name="Text 3"/>
          <p:cNvSpPr txBox="1"/>
          <p:nvPr/>
        </p:nvSpPr>
        <p:spPr>
          <a:xfrm>
            <a:off x="10565892" y="457200"/>
            <a:ext cx="11201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Shape 4"/>
          <p:cNvSpPr/>
          <p:nvPr/>
        </p:nvSpPr>
        <p:spPr>
          <a:xfrm>
            <a:off x="502920" y="1691640"/>
            <a:ext cx="2724912" cy="3931920"/>
          </a:xfrm>
          <a:prstGeom prst="roundRect">
            <a:avLst>
              <a:gd name="adj" fmla="val 2685"/>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1499616" y="1920240"/>
            <a:ext cx="731520" cy="731520"/>
          </a:xfrm>
          <a:prstGeom prst="roundRect">
            <a:avLst>
              <a:gd name="adj" fmla="val 17500"/>
            </a:avLst>
          </a:prstGeom>
          <a:solidFill>
            <a:srgbClr val="273370"/>
          </a:solidFill>
          <a:ln/>
        </p:spPr>
      </p:sp>
      <p:sp>
        <p:nvSpPr>
          <p:cNvPr id="8" name="Text 6"/>
          <p:cNvSpPr txBox="1"/>
          <p:nvPr/>
        </p:nvSpPr>
        <p:spPr>
          <a:xfrm>
            <a:off x="1499616" y="192024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1</a:t>
            </a:r>
            <a:endParaRPr lang="en-US" sz="3000" dirty="0"/>
          </a:p>
        </p:txBody>
      </p:sp>
      <p:sp>
        <p:nvSpPr>
          <p:cNvPr id="9" name="Text 7"/>
          <p:cNvSpPr txBox="1"/>
          <p:nvPr/>
        </p:nvSpPr>
        <p:spPr>
          <a:xfrm>
            <a:off x="685800" y="2788920"/>
            <a:ext cx="2359152" cy="411480"/>
          </a:xfrm>
          <a:prstGeom prst="rect">
            <a:avLst/>
          </a:prstGeom>
          <a:noFill/>
          <a:ln/>
        </p:spPr>
        <p:txBody>
          <a:bodyPr wrap="square" lIns="0" tIns="0" rIns="0" bIns="0" rtlCol="0" anchor="ctr"/>
          <a:lstStyle/>
          <a:p>
            <a:pPr algn="ctr" indent="0" marL="0">
              <a:buNone/>
            </a:pPr>
            <a:r>
              <a:rPr lang="en-US" sz="1700" b="1" dirty="0">
                <a:solidFill>
                  <a:srgbClr val="273370"/>
                </a:solidFill>
                <a:latin typeface="Calibri" pitchFamily="34" charset="0"/>
                <a:ea typeface="Calibri" pitchFamily="34" charset="-122"/>
                <a:cs typeface="Calibri" pitchFamily="34" charset="-120"/>
              </a:rPr>
              <a:t>BRIEF</a:t>
            </a:r>
            <a:endParaRPr lang="en-US" sz="1700" dirty="0"/>
          </a:p>
        </p:txBody>
      </p:sp>
      <p:sp>
        <p:nvSpPr>
          <p:cNvPr id="10" name="Text 8"/>
          <p:cNvSpPr txBox="1"/>
          <p:nvPr/>
        </p:nvSpPr>
        <p:spPr>
          <a:xfrm>
            <a:off x="704088" y="3291840"/>
            <a:ext cx="2331720" cy="2194560"/>
          </a:xfrm>
          <a:prstGeom prst="rect">
            <a:avLst/>
          </a:prstGeom>
          <a:noFill/>
          <a:ln/>
        </p:spPr>
        <p:txBody>
          <a:bodyPr wrap="square" lIns="0" tIns="0" rIns="0" bIns="0" rtlCol="0" anchor="ctr"/>
          <a:lstStyle/>
          <a:p>
            <a:pPr indent="0" marL="0">
              <a:lnSpc>
                <a:spcPct val="112000"/>
              </a:lnSpc>
              <a:buNone/>
            </a:pPr>
            <a:r>
              <a:rPr lang="en-US" sz="1150" dirty="0">
                <a:solidFill>
                  <a:srgbClr val="22252B"/>
                </a:solidFill>
                <a:latin typeface="Calibri" pitchFamily="34" charset="0"/>
                <a:ea typeface="Calibri" pitchFamily="34" charset="-122"/>
                <a:cs typeface="Calibri" pitchFamily="34" charset="-120"/>
              </a:rPr>
              <a:t>Give the AI a proper brief: audience, purpose, key facts, tone, format, length. Your Day 1 prompt anatomy IS the brief.</a:t>
            </a:r>
            <a:endParaRPr lang="en-US" sz="1150" dirty="0"/>
          </a:p>
        </p:txBody>
      </p:sp>
      <p:sp>
        <p:nvSpPr>
          <p:cNvPr id="11" name="Shape 9"/>
          <p:cNvSpPr/>
          <p:nvPr/>
        </p:nvSpPr>
        <p:spPr>
          <a:xfrm>
            <a:off x="3172968" y="3383280"/>
            <a:ext cx="365760" cy="365760"/>
          </a:xfrm>
          <a:prstGeom prst="rightArrow">
            <a:avLst/>
          </a:prstGeom>
          <a:solidFill>
            <a:srgbClr val="C6CBDA"/>
          </a:solidFill>
          <a:ln/>
        </p:spPr>
      </p:sp>
      <p:sp>
        <p:nvSpPr>
          <p:cNvPr id="12" name="Shape 10"/>
          <p:cNvSpPr/>
          <p:nvPr/>
        </p:nvSpPr>
        <p:spPr>
          <a:xfrm>
            <a:off x="3465576" y="1691640"/>
            <a:ext cx="2724912" cy="3931920"/>
          </a:xfrm>
          <a:prstGeom prst="roundRect">
            <a:avLst>
              <a:gd name="adj" fmla="val 2685"/>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3" name="Shape 11"/>
          <p:cNvSpPr/>
          <p:nvPr/>
        </p:nvSpPr>
        <p:spPr>
          <a:xfrm>
            <a:off x="4462272" y="1920240"/>
            <a:ext cx="731520" cy="731520"/>
          </a:xfrm>
          <a:prstGeom prst="roundRect">
            <a:avLst>
              <a:gd name="adj" fmla="val 17500"/>
            </a:avLst>
          </a:prstGeom>
          <a:solidFill>
            <a:srgbClr val="29BA74"/>
          </a:solidFill>
          <a:ln/>
        </p:spPr>
      </p:sp>
      <p:sp>
        <p:nvSpPr>
          <p:cNvPr id="14" name="Text 12"/>
          <p:cNvSpPr txBox="1"/>
          <p:nvPr/>
        </p:nvSpPr>
        <p:spPr>
          <a:xfrm>
            <a:off x="4462272" y="192024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2</a:t>
            </a:r>
            <a:endParaRPr lang="en-US" sz="3000" dirty="0"/>
          </a:p>
        </p:txBody>
      </p:sp>
      <p:sp>
        <p:nvSpPr>
          <p:cNvPr id="15" name="Text 13"/>
          <p:cNvSpPr txBox="1"/>
          <p:nvPr/>
        </p:nvSpPr>
        <p:spPr>
          <a:xfrm>
            <a:off x="3648456" y="2788920"/>
            <a:ext cx="2359152" cy="411480"/>
          </a:xfrm>
          <a:prstGeom prst="rect">
            <a:avLst/>
          </a:prstGeom>
          <a:noFill/>
          <a:ln/>
        </p:spPr>
        <p:txBody>
          <a:bodyPr wrap="square" lIns="0" tIns="0" rIns="0" bIns="0" rtlCol="0" anchor="ctr"/>
          <a:lstStyle/>
          <a:p>
            <a:pPr algn="ctr" indent="0" marL="0">
              <a:buNone/>
            </a:pPr>
            <a:r>
              <a:rPr lang="en-US" sz="1700" b="1" dirty="0">
                <a:solidFill>
                  <a:srgbClr val="273370"/>
                </a:solidFill>
                <a:latin typeface="Calibri" pitchFamily="34" charset="0"/>
                <a:ea typeface="Calibri" pitchFamily="34" charset="-122"/>
                <a:cs typeface="Calibri" pitchFamily="34" charset="-120"/>
              </a:rPr>
              <a:t>DRAFT</a:t>
            </a:r>
            <a:endParaRPr lang="en-US" sz="1700" dirty="0"/>
          </a:p>
        </p:txBody>
      </p:sp>
      <p:sp>
        <p:nvSpPr>
          <p:cNvPr id="16" name="Text 14"/>
          <p:cNvSpPr txBox="1"/>
          <p:nvPr/>
        </p:nvSpPr>
        <p:spPr>
          <a:xfrm>
            <a:off x="3666744" y="3291840"/>
            <a:ext cx="2331720" cy="2194560"/>
          </a:xfrm>
          <a:prstGeom prst="rect">
            <a:avLst/>
          </a:prstGeom>
          <a:noFill/>
          <a:ln/>
        </p:spPr>
        <p:txBody>
          <a:bodyPr wrap="square" lIns="0" tIns="0" rIns="0" bIns="0" rtlCol="0" anchor="ctr"/>
          <a:lstStyle/>
          <a:p>
            <a:pPr indent="0" marL="0">
              <a:lnSpc>
                <a:spcPct val="112000"/>
              </a:lnSpc>
              <a:buNone/>
            </a:pPr>
            <a:r>
              <a:rPr lang="en-US" sz="1150" dirty="0">
                <a:solidFill>
                  <a:srgbClr val="22252B"/>
                </a:solidFill>
                <a:latin typeface="Calibri" pitchFamily="34" charset="0"/>
                <a:ea typeface="Calibri" pitchFamily="34" charset="-122"/>
                <a:cs typeface="Calibri" pitchFamily="34" charset="-120"/>
              </a:rPr>
              <a:t>Let it produce a full first draft fast. Don't perfect the prompt endlessly — a draft you can react to beats a blank page.</a:t>
            </a:r>
            <a:endParaRPr lang="en-US" sz="1150" dirty="0"/>
          </a:p>
        </p:txBody>
      </p:sp>
      <p:sp>
        <p:nvSpPr>
          <p:cNvPr id="17" name="Shape 15"/>
          <p:cNvSpPr/>
          <p:nvPr/>
        </p:nvSpPr>
        <p:spPr>
          <a:xfrm>
            <a:off x="6135624" y="3383280"/>
            <a:ext cx="365760" cy="365760"/>
          </a:xfrm>
          <a:prstGeom prst="rightArrow">
            <a:avLst/>
          </a:prstGeom>
          <a:solidFill>
            <a:srgbClr val="C6CBDA"/>
          </a:solidFill>
          <a:ln/>
        </p:spPr>
      </p:sp>
      <p:sp>
        <p:nvSpPr>
          <p:cNvPr id="18" name="Shape 16"/>
          <p:cNvSpPr/>
          <p:nvPr/>
        </p:nvSpPr>
        <p:spPr>
          <a:xfrm>
            <a:off x="6428232" y="1691640"/>
            <a:ext cx="2724912" cy="3931920"/>
          </a:xfrm>
          <a:prstGeom prst="roundRect">
            <a:avLst>
              <a:gd name="adj" fmla="val 2685"/>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9" name="Shape 17"/>
          <p:cNvSpPr/>
          <p:nvPr/>
        </p:nvSpPr>
        <p:spPr>
          <a:xfrm>
            <a:off x="7424928" y="1920240"/>
            <a:ext cx="731520" cy="731520"/>
          </a:xfrm>
          <a:prstGeom prst="roundRect">
            <a:avLst>
              <a:gd name="adj" fmla="val 17500"/>
            </a:avLst>
          </a:prstGeom>
          <a:solidFill>
            <a:srgbClr val="FCBD4C"/>
          </a:solidFill>
          <a:ln/>
        </p:spPr>
      </p:sp>
      <p:sp>
        <p:nvSpPr>
          <p:cNvPr id="20" name="Text 18"/>
          <p:cNvSpPr txBox="1"/>
          <p:nvPr/>
        </p:nvSpPr>
        <p:spPr>
          <a:xfrm>
            <a:off x="7424928" y="192024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3</a:t>
            </a:r>
            <a:endParaRPr lang="en-US" sz="3000" dirty="0"/>
          </a:p>
        </p:txBody>
      </p:sp>
      <p:sp>
        <p:nvSpPr>
          <p:cNvPr id="21" name="Text 19"/>
          <p:cNvSpPr txBox="1"/>
          <p:nvPr/>
        </p:nvSpPr>
        <p:spPr>
          <a:xfrm>
            <a:off x="6611112" y="2788920"/>
            <a:ext cx="2359152" cy="411480"/>
          </a:xfrm>
          <a:prstGeom prst="rect">
            <a:avLst/>
          </a:prstGeom>
          <a:noFill/>
          <a:ln/>
        </p:spPr>
        <p:txBody>
          <a:bodyPr wrap="square" lIns="0" tIns="0" rIns="0" bIns="0" rtlCol="0" anchor="ctr"/>
          <a:lstStyle/>
          <a:p>
            <a:pPr algn="ctr" indent="0" marL="0">
              <a:buNone/>
            </a:pPr>
            <a:r>
              <a:rPr lang="en-US" sz="1700" b="1" dirty="0">
                <a:solidFill>
                  <a:srgbClr val="273370"/>
                </a:solidFill>
                <a:latin typeface="Calibri" pitchFamily="34" charset="0"/>
                <a:ea typeface="Calibri" pitchFamily="34" charset="-122"/>
                <a:cs typeface="Calibri" pitchFamily="34" charset="-120"/>
              </a:rPr>
              <a:t>REFINE</a:t>
            </a:r>
            <a:endParaRPr lang="en-US" sz="1700" dirty="0"/>
          </a:p>
        </p:txBody>
      </p:sp>
      <p:sp>
        <p:nvSpPr>
          <p:cNvPr id="22" name="Text 20"/>
          <p:cNvSpPr txBox="1"/>
          <p:nvPr/>
        </p:nvSpPr>
        <p:spPr>
          <a:xfrm>
            <a:off x="6629400" y="3291840"/>
            <a:ext cx="2331720" cy="2194560"/>
          </a:xfrm>
          <a:prstGeom prst="rect">
            <a:avLst/>
          </a:prstGeom>
          <a:noFill/>
          <a:ln/>
        </p:spPr>
        <p:txBody>
          <a:bodyPr wrap="square" lIns="0" tIns="0" rIns="0" bIns="0" rtlCol="0" anchor="ctr"/>
          <a:lstStyle/>
          <a:p>
            <a:pPr indent="0" marL="0">
              <a:lnSpc>
                <a:spcPct val="112000"/>
              </a:lnSpc>
              <a:buNone/>
            </a:pPr>
            <a:r>
              <a:rPr lang="en-US" sz="1150" dirty="0">
                <a:solidFill>
                  <a:srgbClr val="22252B"/>
                </a:solidFill>
                <a:latin typeface="Calibri" pitchFamily="34" charset="0"/>
                <a:ea typeface="Calibri" pitchFamily="34" charset="-122"/>
                <a:cs typeface="Calibri" pitchFamily="34" charset="-120"/>
              </a:rPr>
              <a:t>Iterate: tone, structure, length, alternatives. Edit by instruction (“merge paragraphs 2–3”) and by hand.</a:t>
            </a:r>
            <a:endParaRPr lang="en-US" sz="1150" dirty="0"/>
          </a:p>
        </p:txBody>
      </p:sp>
      <p:sp>
        <p:nvSpPr>
          <p:cNvPr id="23" name="Shape 21"/>
          <p:cNvSpPr/>
          <p:nvPr/>
        </p:nvSpPr>
        <p:spPr>
          <a:xfrm>
            <a:off x="9098280" y="3383280"/>
            <a:ext cx="365760" cy="365760"/>
          </a:xfrm>
          <a:prstGeom prst="rightArrow">
            <a:avLst/>
          </a:prstGeom>
          <a:solidFill>
            <a:srgbClr val="C6CBDA"/>
          </a:solidFill>
          <a:ln/>
        </p:spPr>
      </p:sp>
      <p:sp>
        <p:nvSpPr>
          <p:cNvPr id="24" name="Shape 22"/>
          <p:cNvSpPr/>
          <p:nvPr/>
        </p:nvSpPr>
        <p:spPr>
          <a:xfrm>
            <a:off x="9390888" y="1691640"/>
            <a:ext cx="2724912" cy="3931920"/>
          </a:xfrm>
          <a:prstGeom prst="roundRect">
            <a:avLst>
              <a:gd name="adj" fmla="val 2685"/>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25" name="Shape 23"/>
          <p:cNvSpPr/>
          <p:nvPr/>
        </p:nvSpPr>
        <p:spPr>
          <a:xfrm>
            <a:off x="10387584" y="1920240"/>
            <a:ext cx="731520" cy="731520"/>
          </a:xfrm>
          <a:prstGeom prst="roundRect">
            <a:avLst>
              <a:gd name="adj" fmla="val 17500"/>
            </a:avLst>
          </a:prstGeom>
          <a:solidFill>
            <a:srgbClr val="6258A6"/>
          </a:solidFill>
          <a:ln/>
        </p:spPr>
      </p:sp>
      <p:sp>
        <p:nvSpPr>
          <p:cNvPr id="26" name="Text 24"/>
          <p:cNvSpPr txBox="1"/>
          <p:nvPr/>
        </p:nvSpPr>
        <p:spPr>
          <a:xfrm>
            <a:off x="10387584" y="192024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4</a:t>
            </a:r>
            <a:endParaRPr lang="en-US" sz="3000" dirty="0"/>
          </a:p>
        </p:txBody>
      </p:sp>
      <p:sp>
        <p:nvSpPr>
          <p:cNvPr id="27" name="Text 25"/>
          <p:cNvSpPr txBox="1"/>
          <p:nvPr/>
        </p:nvSpPr>
        <p:spPr>
          <a:xfrm>
            <a:off x="9573768" y="2788920"/>
            <a:ext cx="2359152" cy="411480"/>
          </a:xfrm>
          <a:prstGeom prst="rect">
            <a:avLst/>
          </a:prstGeom>
          <a:noFill/>
          <a:ln/>
        </p:spPr>
        <p:txBody>
          <a:bodyPr wrap="square" lIns="0" tIns="0" rIns="0" bIns="0" rtlCol="0" anchor="ctr"/>
          <a:lstStyle/>
          <a:p>
            <a:pPr algn="ctr" indent="0" marL="0">
              <a:buNone/>
            </a:pPr>
            <a:r>
              <a:rPr lang="en-US" sz="1700" b="1" dirty="0">
                <a:solidFill>
                  <a:srgbClr val="273370"/>
                </a:solidFill>
                <a:latin typeface="Calibri" pitchFamily="34" charset="0"/>
                <a:ea typeface="Calibri" pitchFamily="34" charset="-122"/>
                <a:cs typeface="Calibri" pitchFamily="34" charset="-120"/>
              </a:rPr>
              <a:t>VERIFY</a:t>
            </a:r>
            <a:endParaRPr lang="en-US" sz="1700" dirty="0"/>
          </a:p>
        </p:txBody>
      </p:sp>
      <p:sp>
        <p:nvSpPr>
          <p:cNvPr id="28" name="Text 26"/>
          <p:cNvSpPr txBox="1"/>
          <p:nvPr/>
        </p:nvSpPr>
        <p:spPr>
          <a:xfrm>
            <a:off x="9592056" y="3291840"/>
            <a:ext cx="2331720" cy="2194560"/>
          </a:xfrm>
          <a:prstGeom prst="rect">
            <a:avLst/>
          </a:prstGeom>
          <a:noFill/>
          <a:ln/>
        </p:spPr>
        <p:txBody>
          <a:bodyPr wrap="square" lIns="0" tIns="0" rIns="0" bIns="0" rtlCol="0" anchor="ctr"/>
          <a:lstStyle/>
          <a:p>
            <a:pPr indent="0" marL="0">
              <a:lnSpc>
                <a:spcPct val="112000"/>
              </a:lnSpc>
              <a:buNone/>
            </a:pPr>
            <a:r>
              <a:rPr lang="en-US" sz="1150" dirty="0">
                <a:solidFill>
                  <a:srgbClr val="22252B"/>
                </a:solidFill>
                <a:latin typeface="Calibri" pitchFamily="34" charset="0"/>
                <a:ea typeface="Calibri" pitchFamily="34" charset="-122"/>
                <a:cs typeface="Calibri" pitchFamily="34" charset="-120"/>
              </a:rPr>
              <a:t>Check every fact, figure, name and date. Read it as the recipient will. Then — and only then — it carries your name.</a:t>
            </a:r>
            <a:endParaRPr lang="en-US" sz="1150" dirty="0"/>
          </a:p>
        </p:txBody>
      </p:sp>
      <p:sp>
        <p:nvSpPr>
          <p:cNvPr id="29" name="Text 27"/>
          <p:cNvSpPr txBox="1"/>
          <p:nvPr/>
        </p:nvSpPr>
        <p:spPr>
          <a:xfrm>
            <a:off x="502920" y="5943600"/>
            <a:ext cx="10972800" cy="365760"/>
          </a:xfrm>
          <a:prstGeom prst="rect">
            <a:avLst/>
          </a:prstGeom>
          <a:noFill/>
          <a:ln/>
        </p:spPr>
        <p:txBody>
          <a:bodyPr wrap="square" lIns="0" tIns="0" rIns="0" bIns="0" rtlCol="0" anchor="ctr"/>
          <a:lstStyle/>
          <a:p>
            <a:pPr indent="0" marL="0">
              <a:buNone/>
            </a:pPr>
            <a:r>
              <a:rPr lang="en-US" sz="1300" b="1" i="1" dirty="0">
                <a:solidFill>
                  <a:srgbClr val="273370"/>
                </a:solidFill>
                <a:latin typeface="Calibri" pitchFamily="34" charset="0"/>
                <a:ea typeface="Calibri" pitchFamily="34" charset="-122"/>
                <a:cs typeface="Calibri" pitchFamily="34" charset="-120"/>
              </a:rPr>
              <a:t>Time-saving rule of thumb: spend the minutes you save on steps 1–3 doing step 4 properly.</a:t>
            </a:r>
            <a:endParaRPr lang="en-US" sz="1300" dirty="0"/>
          </a:p>
        </p:txBody>
      </p:sp>
      <p:sp>
        <p:nvSpPr>
          <p:cNvPr id="30" name="Text 28"/>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31" name="Text 29"/>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Emails &amp; correspondence</a:t>
            </a:r>
            <a:endParaRPr lang="en-US" sz="3000" dirty="0"/>
          </a:p>
        </p:txBody>
      </p:sp>
      <p:sp>
        <p:nvSpPr>
          <p:cNvPr id="3" name="Text 1"/>
          <p:cNvSpPr txBox="1"/>
          <p:nvPr/>
        </p:nvSpPr>
        <p:spPr>
          <a:xfrm>
            <a:off x="502920" y="987552"/>
            <a:ext cx="11155680" cy="365760"/>
          </a:xfrm>
          <a:prstGeom prst="rect">
            <a:avLst/>
          </a:prstGeom>
          <a:noFill/>
          <a:ln/>
        </p:spPr>
        <p:txBody>
          <a:bodyPr wrap="square" lIns="0" tIns="0" rIns="0" bIns="0" rtlCol="0" anchor="ctr"/>
          <a:lstStyle/>
          <a:p>
            <a:pPr indent="0" marL="0">
              <a:buNone/>
            </a:pPr>
            <a:r>
              <a:rPr lang="en-US" sz="1400" dirty="0">
                <a:solidFill>
                  <a:srgbClr val="696969"/>
                </a:solidFill>
                <a:latin typeface="Calibri" pitchFamily="34" charset="0"/>
                <a:ea typeface="Calibri" pitchFamily="34" charset="-122"/>
                <a:cs typeface="Calibri" pitchFamily="34" charset="-120"/>
              </a:rPr>
              <a:t>Where most people save their first hours</a:t>
            </a:r>
            <a:endParaRPr lang="en-US" sz="1400" dirty="0"/>
          </a:p>
        </p:txBody>
      </p:sp>
      <p:sp>
        <p:nvSpPr>
          <p:cNvPr id="4" name="Shape 2"/>
          <p:cNvSpPr/>
          <p:nvPr/>
        </p:nvSpPr>
        <p:spPr>
          <a:xfrm>
            <a:off x="10565892" y="457200"/>
            <a:ext cx="1120140" cy="384048"/>
          </a:xfrm>
          <a:prstGeom prst="roundRect">
            <a:avLst>
              <a:gd name="adj" fmla="val 50000"/>
            </a:avLst>
          </a:prstGeom>
          <a:solidFill>
            <a:srgbClr val="94A0DA"/>
          </a:solidFill>
          <a:ln/>
        </p:spPr>
      </p:sp>
      <p:sp>
        <p:nvSpPr>
          <p:cNvPr id="5" name="Text 3"/>
          <p:cNvSpPr txBox="1"/>
          <p:nvPr/>
        </p:nvSpPr>
        <p:spPr>
          <a:xfrm>
            <a:off x="10565892" y="457200"/>
            <a:ext cx="11201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Shape 4"/>
          <p:cNvSpPr/>
          <p:nvPr/>
        </p:nvSpPr>
        <p:spPr>
          <a:xfrm>
            <a:off x="502920" y="1554480"/>
            <a:ext cx="5440680" cy="2103120"/>
          </a:xfrm>
          <a:prstGeom prst="roundRect">
            <a:avLst>
              <a:gd name="adj" fmla="val 3478"/>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731520" y="1783080"/>
            <a:ext cx="502920" cy="502920"/>
          </a:xfrm>
          <a:prstGeom prst="roundRect">
            <a:avLst>
              <a:gd name="adj" fmla="val 16364"/>
            </a:avLst>
          </a:prstGeom>
          <a:solidFill>
            <a:srgbClr val="273370"/>
          </a:solidFill>
          <a:ln/>
        </p:spPr>
      </p:sp>
      <p:pic>
        <p:nvPicPr>
          <p:cNvPr id="8" name="Image 0" descr="preencoded.png">    </p:cNvPr>
          <p:cNvPicPr>
            <a:picLocks noChangeAspect="1"/>
          </p:cNvPicPr>
          <p:nvPr/>
        </p:nvPicPr>
        <p:blipFill>
          <a:blip r:embed="rId1"/>
          <a:stretch>
            <a:fillRect/>
          </a:stretch>
        </p:blipFill>
        <p:spPr>
          <a:xfrm>
            <a:off x="842162" y="1893722"/>
            <a:ext cx="281635" cy="281635"/>
          </a:xfrm>
          <a:prstGeom prst="rect">
            <a:avLst/>
          </a:prstGeom>
        </p:spPr>
      </p:pic>
      <p:sp>
        <p:nvSpPr>
          <p:cNvPr id="9" name="Text 6"/>
          <p:cNvSpPr txBox="1"/>
          <p:nvPr/>
        </p:nvSpPr>
        <p:spPr>
          <a:xfrm>
            <a:off x="1371600" y="1755648"/>
            <a:ext cx="4389120" cy="548640"/>
          </a:xfrm>
          <a:prstGeom prst="rect">
            <a:avLst/>
          </a:prstGeom>
          <a:noFill/>
          <a:ln/>
        </p:spPr>
        <p:txBody>
          <a:bodyPr wrap="square" lIns="0" tIns="0" rIns="0" bIns="0" rtlCol="0" anchor="ctr"/>
          <a:lstStyle/>
          <a:p>
            <a:pPr indent="0" marL="0">
              <a:buNone/>
            </a:pPr>
            <a:r>
              <a:rPr lang="en-US" sz="1450" b="1" dirty="0">
                <a:solidFill>
                  <a:srgbClr val="273370"/>
                </a:solidFill>
                <a:latin typeface="Calibri" pitchFamily="34" charset="0"/>
                <a:ea typeface="Calibri" pitchFamily="34" charset="-122"/>
                <a:cs typeface="Calibri" pitchFamily="34" charset="-120"/>
              </a:rPr>
              <a:t>Draft from scratch</a:t>
            </a:r>
            <a:endParaRPr lang="en-US" sz="1450" dirty="0"/>
          </a:p>
        </p:txBody>
      </p:sp>
      <p:sp>
        <p:nvSpPr>
          <p:cNvPr id="10" name="Text 7"/>
          <p:cNvSpPr txBox="1"/>
          <p:nvPr/>
        </p:nvSpPr>
        <p:spPr>
          <a:xfrm>
            <a:off x="731520" y="2395728"/>
            <a:ext cx="4983480" cy="1170432"/>
          </a:xfrm>
          <a:prstGeom prst="rect">
            <a:avLst/>
          </a:prstGeom>
          <a:noFill/>
          <a:ln/>
        </p:spPr>
        <p:txBody>
          <a:bodyPr wrap="square" lIns="0" tIns="0" rIns="0" bIns="0" rtlCol="0" anchor="ctr"/>
          <a:lstStyle/>
          <a:p>
            <a:pPr indent="0" marL="0">
              <a:lnSpc>
                <a:spcPct val="108000"/>
              </a:lnSpc>
              <a:buNone/>
            </a:pPr>
            <a:r>
              <a:rPr lang="en-US" sz="1050" i="1" dirty="0">
                <a:solidFill>
                  <a:srgbClr val="22252B"/>
                </a:solidFill>
                <a:latin typeface="Calibri" pitchFamily="34" charset="0"/>
                <a:ea typeface="Calibri" pitchFamily="34" charset="-122"/>
                <a:cs typeface="Calibri" pitchFamily="34" charset="-120"/>
              </a:rPr>
              <a:t>“Draft a reply to the email below. I want to apologise for the delay, explain the customs issue briefly, and commit to delivery by 15 Sept. Formal, warm, under 120 words.”</a:t>
            </a:r>
            <a:endParaRPr lang="en-US" sz="1050" dirty="0"/>
          </a:p>
        </p:txBody>
      </p:sp>
      <p:sp>
        <p:nvSpPr>
          <p:cNvPr id="11" name="Shape 8"/>
          <p:cNvSpPr/>
          <p:nvPr/>
        </p:nvSpPr>
        <p:spPr>
          <a:xfrm>
            <a:off x="6217920" y="1554480"/>
            <a:ext cx="5440680" cy="2103120"/>
          </a:xfrm>
          <a:prstGeom prst="roundRect">
            <a:avLst>
              <a:gd name="adj" fmla="val 3478"/>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2" name="Shape 9"/>
          <p:cNvSpPr/>
          <p:nvPr/>
        </p:nvSpPr>
        <p:spPr>
          <a:xfrm>
            <a:off x="6446520" y="1783080"/>
            <a:ext cx="502920" cy="502920"/>
          </a:xfrm>
          <a:prstGeom prst="roundRect">
            <a:avLst>
              <a:gd name="adj" fmla="val 16364"/>
            </a:avLst>
          </a:prstGeom>
          <a:solidFill>
            <a:srgbClr val="29BA74"/>
          </a:solidFill>
          <a:ln/>
        </p:spPr>
      </p:sp>
      <p:pic>
        <p:nvPicPr>
          <p:cNvPr id="13" name="Image 1" descr="preencoded.png">    </p:cNvPr>
          <p:cNvPicPr>
            <a:picLocks noChangeAspect="1"/>
          </p:cNvPicPr>
          <p:nvPr/>
        </p:nvPicPr>
        <p:blipFill>
          <a:blip r:embed="rId2"/>
          <a:stretch>
            <a:fillRect/>
          </a:stretch>
        </p:blipFill>
        <p:spPr>
          <a:xfrm>
            <a:off x="6557162" y="1893722"/>
            <a:ext cx="281635" cy="281635"/>
          </a:xfrm>
          <a:prstGeom prst="rect">
            <a:avLst/>
          </a:prstGeom>
        </p:spPr>
      </p:pic>
      <p:sp>
        <p:nvSpPr>
          <p:cNvPr id="14" name="Text 10"/>
          <p:cNvSpPr txBox="1"/>
          <p:nvPr/>
        </p:nvSpPr>
        <p:spPr>
          <a:xfrm>
            <a:off x="7086600" y="1755648"/>
            <a:ext cx="4389120" cy="548640"/>
          </a:xfrm>
          <a:prstGeom prst="rect">
            <a:avLst/>
          </a:prstGeom>
          <a:noFill/>
          <a:ln/>
        </p:spPr>
        <p:txBody>
          <a:bodyPr wrap="square" lIns="0" tIns="0" rIns="0" bIns="0" rtlCol="0" anchor="ctr"/>
          <a:lstStyle/>
          <a:p>
            <a:pPr indent="0" marL="0">
              <a:buNone/>
            </a:pPr>
            <a:r>
              <a:rPr lang="en-US" sz="1450" b="1" dirty="0">
                <a:solidFill>
                  <a:srgbClr val="273370"/>
                </a:solidFill>
                <a:latin typeface="Calibri" pitchFamily="34" charset="0"/>
                <a:ea typeface="Calibri" pitchFamily="34" charset="-122"/>
                <a:cs typeface="Calibri" pitchFamily="34" charset="-120"/>
              </a:rPr>
              <a:t>Rewrite what you have</a:t>
            </a:r>
            <a:endParaRPr lang="en-US" sz="1450" dirty="0"/>
          </a:p>
        </p:txBody>
      </p:sp>
      <p:sp>
        <p:nvSpPr>
          <p:cNvPr id="15" name="Text 11"/>
          <p:cNvSpPr txBox="1"/>
          <p:nvPr/>
        </p:nvSpPr>
        <p:spPr>
          <a:xfrm>
            <a:off x="6446520" y="2395728"/>
            <a:ext cx="4983480" cy="1170432"/>
          </a:xfrm>
          <a:prstGeom prst="rect">
            <a:avLst/>
          </a:prstGeom>
          <a:noFill/>
          <a:ln/>
        </p:spPr>
        <p:txBody>
          <a:bodyPr wrap="square" lIns="0" tIns="0" rIns="0" bIns="0" rtlCol="0" anchor="ctr"/>
          <a:lstStyle/>
          <a:p>
            <a:pPr indent="0" marL="0">
              <a:lnSpc>
                <a:spcPct val="108000"/>
              </a:lnSpc>
              <a:buNone/>
            </a:pPr>
            <a:r>
              <a:rPr lang="en-US" sz="1050" i="1" dirty="0">
                <a:solidFill>
                  <a:srgbClr val="22252B"/>
                </a:solidFill>
                <a:latin typeface="Calibri" pitchFamily="34" charset="0"/>
                <a:ea typeface="Calibri" pitchFamily="34" charset="-122"/>
                <a:cs typeface="Calibri" pitchFamily="34" charset="-120"/>
              </a:rPr>
              <a:t>“Rewrite my draft below: keep all facts, make it more diplomatic, remove anything that sounds defensive, and tighten to half the length.”</a:t>
            </a:r>
            <a:endParaRPr lang="en-US" sz="1050" dirty="0"/>
          </a:p>
        </p:txBody>
      </p:sp>
      <p:sp>
        <p:nvSpPr>
          <p:cNvPr id="16" name="Shape 12"/>
          <p:cNvSpPr/>
          <p:nvPr/>
        </p:nvSpPr>
        <p:spPr>
          <a:xfrm>
            <a:off x="502920" y="3886200"/>
            <a:ext cx="5440680" cy="2103120"/>
          </a:xfrm>
          <a:prstGeom prst="roundRect">
            <a:avLst>
              <a:gd name="adj" fmla="val 3478"/>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7" name="Shape 13"/>
          <p:cNvSpPr/>
          <p:nvPr/>
        </p:nvSpPr>
        <p:spPr>
          <a:xfrm>
            <a:off x="731520" y="4114800"/>
            <a:ext cx="502920" cy="502920"/>
          </a:xfrm>
          <a:prstGeom prst="roundRect">
            <a:avLst>
              <a:gd name="adj" fmla="val 16364"/>
            </a:avLst>
          </a:prstGeom>
          <a:solidFill>
            <a:srgbClr val="FCBD4C"/>
          </a:solidFill>
          <a:ln/>
        </p:spPr>
      </p:sp>
      <p:pic>
        <p:nvPicPr>
          <p:cNvPr id="18" name="Image 2" descr="preencoded.png">    </p:cNvPr>
          <p:cNvPicPr>
            <a:picLocks noChangeAspect="1"/>
          </p:cNvPicPr>
          <p:nvPr/>
        </p:nvPicPr>
        <p:blipFill>
          <a:blip r:embed="rId3"/>
          <a:stretch>
            <a:fillRect/>
          </a:stretch>
        </p:blipFill>
        <p:spPr>
          <a:xfrm>
            <a:off x="842162" y="4225442"/>
            <a:ext cx="281635" cy="281635"/>
          </a:xfrm>
          <a:prstGeom prst="rect">
            <a:avLst/>
          </a:prstGeom>
        </p:spPr>
      </p:pic>
      <p:sp>
        <p:nvSpPr>
          <p:cNvPr id="19" name="Text 14"/>
          <p:cNvSpPr txBox="1"/>
          <p:nvPr/>
        </p:nvSpPr>
        <p:spPr>
          <a:xfrm>
            <a:off x="1371600" y="4087368"/>
            <a:ext cx="4389120" cy="548640"/>
          </a:xfrm>
          <a:prstGeom prst="rect">
            <a:avLst/>
          </a:prstGeom>
          <a:noFill/>
          <a:ln/>
        </p:spPr>
        <p:txBody>
          <a:bodyPr wrap="square" lIns="0" tIns="0" rIns="0" bIns="0" rtlCol="0" anchor="ctr"/>
          <a:lstStyle/>
          <a:p>
            <a:pPr indent="0" marL="0">
              <a:buNone/>
            </a:pPr>
            <a:r>
              <a:rPr lang="en-US" sz="1450" b="1" dirty="0">
                <a:solidFill>
                  <a:srgbClr val="273370"/>
                </a:solidFill>
                <a:latin typeface="Calibri" pitchFamily="34" charset="0"/>
                <a:ea typeface="Calibri" pitchFamily="34" charset="-122"/>
                <a:cs typeface="Calibri" pitchFamily="34" charset="-120"/>
              </a:rPr>
              <a:t>De-escalate</a:t>
            </a:r>
            <a:endParaRPr lang="en-US" sz="1450" dirty="0"/>
          </a:p>
        </p:txBody>
      </p:sp>
      <p:sp>
        <p:nvSpPr>
          <p:cNvPr id="20" name="Text 15"/>
          <p:cNvSpPr txBox="1"/>
          <p:nvPr/>
        </p:nvSpPr>
        <p:spPr>
          <a:xfrm>
            <a:off x="731520" y="4727448"/>
            <a:ext cx="4983480" cy="1170432"/>
          </a:xfrm>
          <a:prstGeom prst="rect">
            <a:avLst/>
          </a:prstGeom>
          <a:noFill/>
          <a:ln/>
        </p:spPr>
        <p:txBody>
          <a:bodyPr wrap="square" lIns="0" tIns="0" rIns="0" bIns="0" rtlCol="0" anchor="ctr"/>
          <a:lstStyle/>
          <a:p>
            <a:pPr indent="0" marL="0">
              <a:lnSpc>
                <a:spcPct val="108000"/>
              </a:lnSpc>
              <a:buNone/>
            </a:pPr>
            <a:r>
              <a:rPr lang="en-US" sz="1050" i="1" dirty="0">
                <a:solidFill>
                  <a:srgbClr val="22252B"/>
                </a:solidFill>
                <a:latin typeface="Calibri" pitchFamily="34" charset="0"/>
                <a:ea typeface="Calibri" pitchFamily="34" charset="-122"/>
                <a:cs typeface="Calibri" pitchFamily="34" charset="-120"/>
              </a:rPr>
              <a:t>“The sender is angry. Draft a reply that acknowledges the frustration, takes responsibility for the delay, and proposes a concrete next step — without admitting legal liability.”</a:t>
            </a:r>
            <a:endParaRPr lang="en-US" sz="1050" dirty="0"/>
          </a:p>
        </p:txBody>
      </p:sp>
      <p:sp>
        <p:nvSpPr>
          <p:cNvPr id="21" name="Shape 16"/>
          <p:cNvSpPr/>
          <p:nvPr/>
        </p:nvSpPr>
        <p:spPr>
          <a:xfrm>
            <a:off x="6217920" y="3886200"/>
            <a:ext cx="5440680" cy="2103120"/>
          </a:xfrm>
          <a:prstGeom prst="roundRect">
            <a:avLst>
              <a:gd name="adj" fmla="val 3478"/>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22" name="Shape 17"/>
          <p:cNvSpPr/>
          <p:nvPr/>
        </p:nvSpPr>
        <p:spPr>
          <a:xfrm>
            <a:off x="6446520" y="4114800"/>
            <a:ext cx="502920" cy="502920"/>
          </a:xfrm>
          <a:prstGeom prst="roundRect">
            <a:avLst>
              <a:gd name="adj" fmla="val 16364"/>
            </a:avLst>
          </a:prstGeom>
          <a:solidFill>
            <a:srgbClr val="6258A6"/>
          </a:solidFill>
          <a:ln/>
        </p:spPr>
      </p:sp>
      <p:pic>
        <p:nvPicPr>
          <p:cNvPr id="23" name="Image 3" descr="preencoded.png">    </p:cNvPr>
          <p:cNvPicPr>
            <a:picLocks noChangeAspect="1"/>
          </p:cNvPicPr>
          <p:nvPr/>
        </p:nvPicPr>
        <p:blipFill>
          <a:blip r:embed="rId4"/>
          <a:stretch>
            <a:fillRect/>
          </a:stretch>
        </p:blipFill>
        <p:spPr>
          <a:xfrm>
            <a:off x="6557162" y="4225442"/>
            <a:ext cx="281635" cy="281635"/>
          </a:xfrm>
          <a:prstGeom prst="rect">
            <a:avLst/>
          </a:prstGeom>
        </p:spPr>
      </p:pic>
      <p:sp>
        <p:nvSpPr>
          <p:cNvPr id="24" name="Text 18"/>
          <p:cNvSpPr txBox="1"/>
          <p:nvPr/>
        </p:nvSpPr>
        <p:spPr>
          <a:xfrm>
            <a:off x="7086600" y="4087368"/>
            <a:ext cx="4389120" cy="548640"/>
          </a:xfrm>
          <a:prstGeom prst="rect">
            <a:avLst/>
          </a:prstGeom>
          <a:noFill/>
          <a:ln/>
        </p:spPr>
        <p:txBody>
          <a:bodyPr wrap="square" lIns="0" tIns="0" rIns="0" bIns="0" rtlCol="0" anchor="ctr"/>
          <a:lstStyle/>
          <a:p>
            <a:pPr indent="0" marL="0">
              <a:buNone/>
            </a:pPr>
            <a:r>
              <a:rPr lang="en-US" sz="1450" b="1" dirty="0">
                <a:solidFill>
                  <a:srgbClr val="273370"/>
                </a:solidFill>
                <a:latin typeface="Calibri" pitchFamily="34" charset="0"/>
                <a:ea typeface="Calibri" pitchFamily="34" charset="-122"/>
                <a:cs typeface="Calibri" pitchFamily="34" charset="-120"/>
              </a:rPr>
              <a:t>Switch language &amp; register</a:t>
            </a:r>
            <a:endParaRPr lang="en-US" sz="1450" dirty="0"/>
          </a:p>
        </p:txBody>
      </p:sp>
      <p:sp>
        <p:nvSpPr>
          <p:cNvPr id="25" name="Text 19"/>
          <p:cNvSpPr txBox="1"/>
          <p:nvPr/>
        </p:nvSpPr>
        <p:spPr>
          <a:xfrm>
            <a:off x="6446520" y="4727448"/>
            <a:ext cx="4983480" cy="1170432"/>
          </a:xfrm>
          <a:prstGeom prst="rect">
            <a:avLst/>
          </a:prstGeom>
          <a:noFill/>
          <a:ln/>
        </p:spPr>
        <p:txBody>
          <a:bodyPr wrap="square" lIns="0" tIns="0" rIns="0" bIns="0" rtlCol="0" anchor="ctr"/>
          <a:lstStyle/>
          <a:p>
            <a:pPr indent="0" marL="0">
              <a:lnSpc>
                <a:spcPct val="108000"/>
              </a:lnSpc>
              <a:buNone/>
            </a:pPr>
            <a:r>
              <a:rPr lang="en-US" sz="1050" i="1" dirty="0">
                <a:solidFill>
                  <a:srgbClr val="22252B"/>
                </a:solidFill>
                <a:latin typeface="Calibri" pitchFamily="34" charset="0"/>
                <a:ea typeface="Calibri" pitchFamily="34" charset="-122"/>
                <a:cs typeface="Calibri" pitchFamily="34" charset="-120"/>
              </a:rPr>
              <a:t>“Now provide a formal Arabic version suitable for an official letter, followed by a short WhatsApp-style Arabic summary for internal use.”</a:t>
            </a:r>
            <a:endParaRPr lang="en-US" sz="1050" dirty="0"/>
          </a:p>
        </p:txBody>
      </p:sp>
      <p:sp>
        <p:nvSpPr>
          <p:cNvPr id="26" name="Text 20"/>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27" name="Text 21"/>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One message, three tones</a:t>
            </a:r>
            <a:endParaRPr lang="en-US" sz="3000" dirty="0"/>
          </a:p>
        </p:txBody>
      </p:sp>
      <p:sp>
        <p:nvSpPr>
          <p:cNvPr id="3" name="Text 1"/>
          <p:cNvSpPr txBox="1"/>
          <p:nvPr/>
        </p:nvSpPr>
        <p:spPr>
          <a:xfrm>
            <a:off x="502920" y="987552"/>
            <a:ext cx="11155680" cy="365760"/>
          </a:xfrm>
          <a:prstGeom prst="rect">
            <a:avLst/>
          </a:prstGeom>
          <a:noFill/>
          <a:ln/>
        </p:spPr>
        <p:txBody>
          <a:bodyPr wrap="square" lIns="0" tIns="0" rIns="0" bIns="0" rtlCol="0" anchor="ctr"/>
          <a:lstStyle/>
          <a:p>
            <a:pPr indent="0" marL="0">
              <a:buNone/>
            </a:pPr>
            <a:r>
              <a:rPr lang="en-US" sz="1400" dirty="0">
                <a:solidFill>
                  <a:srgbClr val="696969"/>
                </a:solidFill>
                <a:latin typeface="Calibri" pitchFamily="34" charset="0"/>
                <a:ea typeface="Calibri" pitchFamily="34" charset="-122"/>
                <a:cs typeface="Calibri" pitchFamily="34" charset="-120"/>
              </a:rPr>
              <a:t>Tone is a dial you control — name the audience and the register</a:t>
            </a:r>
            <a:endParaRPr lang="en-US" sz="1400" dirty="0"/>
          </a:p>
        </p:txBody>
      </p:sp>
      <p:sp>
        <p:nvSpPr>
          <p:cNvPr id="4" name="Shape 2"/>
          <p:cNvSpPr/>
          <p:nvPr/>
        </p:nvSpPr>
        <p:spPr>
          <a:xfrm>
            <a:off x="10565892" y="457200"/>
            <a:ext cx="1120140" cy="384048"/>
          </a:xfrm>
          <a:prstGeom prst="roundRect">
            <a:avLst>
              <a:gd name="adj" fmla="val 50000"/>
            </a:avLst>
          </a:prstGeom>
          <a:solidFill>
            <a:srgbClr val="94A0DA"/>
          </a:solidFill>
          <a:ln/>
        </p:spPr>
      </p:sp>
      <p:sp>
        <p:nvSpPr>
          <p:cNvPr id="5" name="Text 3"/>
          <p:cNvSpPr txBox="1"/>
          <p:nvPr/>
        </p:nvSpPr>
        <p:spPr>
          <a:xfrm>
            <a:off x="10565892" y="457200"/>
            <a:ext cx="11201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4"/>
          <p:cNvSpPr txBox="1"/>
          <p:nvPr/>
        </p:nvSpPr>
        <p:spPr>
          <a:xfrm>
            <a:off x="502920" y="1371600"/>
            <a:ext cx="11155680" cy="365760"/>
          </a:xfrm>
          <a:prstGeom prst="rect">
            <a:avLst/>
          </a:prstGeom>
          <a:noFill/>
          <a:ln/>
        </p:spPr>
        <p:txBody>
          <a:bodyPr wrap="square" lIns="0" tIns="0" rIns="0" bIns="0" rtlCol="0" anchor="ctr"/>
          <a:lstStyle/>
          <a:p>
            <a:pPr indent="0" marL="0">
              <a:buNone/>
            </a:pPr>
            <a:r>
              <a:rPr lang="en-US" sz="1400" b="1" dirty="0">
                <a:solidFill>
                  <a:srgbClr val="22252B"/>
                </a:solidFill>
                <a:latin typeface="Calibri" pitchFamily="34" charset="0"/>
                <a:ea typeface="Calibri" pitchFamily="34" charset="-122"/>
                <a:cs typeface="Calibri" pitchFamily="34" charset="-120"/>
              </a:rPr>
              <a:t>The fact: the Q3 training report will be two days late because the Jeddah data arrived late.</a:t>
            </a:r>
            <a:endParaRPr lang="en-US" sz="1400" dirty="0"/>
          </a:p>
        </p:txBody>
      </p:sp>
      <p:sp>
        <p:nvSpPr>
          <p:cNvPr id="7" name="Shape 5"/>
          <p:cNvSpPr/>
          <p:nvPr/>
        </p:nvSpPr>
        <p:spPr>
          <a:xfrm>
            <a:off x="502920" y="1920240"/>
            <a:ext cx="3703320" cy="3794760"/>
          </a:xfrm>
          <a:prstGeom prst="roundRect">
            <a:avLst>
              <a:gd name="adj" fmla="val 1975"/>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8" name="Shape 6"/>
          <p:cNvSpPr/>
          <p:nvPr/>
        </p:nvSpPr>
        <p:spPr>
          <a:xfrm>
            <a:off x="502920" y="1920240"/>
            <a:ext cx="3703320" cy="420624"/>
          </a:xfrm>
          <a:prstGeom prst="roundRect">
            <a:avLst>
              <a:gd name="adj" fmla="val 17391"/>
            </a:avLst>
          </a:prstGeom>
          <a:solidFill>
            <a:srgbClr val="273370"/>
          </a:solidFill>
          <a:ln/>
        </p:spPr>
      </p:sp>
      <p:sp>
        <p:nvSpPr>
          <p:cNvPr id="9" name="Shape 7"/>
          <p:cNvSpPr/>
          <p:nvPr/>
        </p:nvSpPr>
        <p:spPr>
          <a:xfrm>
            <a:off x="502920" y="2130552"/>
            <a:ext cx="3703320" cy="210312"/>
          </a:xfrm>
          <a:prstGeom prst="rect">
            <a:avLst/>
          </a:prstGeom>
          <a:solidFill>
            <a:srgbClr val="273370"/>
          </a:solidFill>
          <a:ln/>
        </p:spPr>
      </p:sp>
      <p:sp>
        <p:nvSpPr>
          <p:cNvPr id="10" name="Text 8"/>
          <p:cNvSpPr txBox="1"/>
          <p:nvPr/>
        </p:nvSpPr>
        <p:spPr>
          <a:xfrm>
            <a:off x="640080" y="1920240"/>
            <a:ext cx="342900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To your Deputy Minister / CEO office</a:t>
            </a:r>
            <a:endParaRPr lang="en-US" sz="1400" dirty="0"/>
          </a:p>
        </p:txBody>
      </p:sp>
      <p:sp>
        <p:nvSpPr>
          <p:cNvPr id="11" name="Text 9"/>
          <p:cNvSpPr txBox="1"/>
          <p:nvPr/>
        </p:nvSpPr>
        <p:spPr>
          <a:xfrm>
            <a:off x="731520" y="2560320"/>
            <a:ext cx="3246120" cy="2971800"/>
          </a:xfrm>
          <a:prstGeom prst="rect">
            <a:avLst/>
          </a:prstGeom>
          <a:noFill/>
          <a:ln/>
        </p:spPr>
        <p:txBody>
          <a:bodyPr wrap="square" lIns="0" tIns="0" rIns="0" bIns="0" rtlCol="0" anchor="ctr"/>
          <a:lstStyle/>
          <a:p>
            <a:pPr indent="0" marL="0">
              <a:lnSpc>
                <a:spcPct val="118000"/>
              </a:lnSpc>
              <a:buNone/>
            </a:pPr>
            <a:r>
              <a:rPr lang="en-US" sz="1150" i="1" dirty="0">
                <a:solidFill>
                  <a:srgbClr val="22252B"/>
                </a:solidFill>
                <a:latin typeface="Calibri" pitchFamily="34" charset="0"/>
                <a:ea typeface="Calibri" pitchFamily="34" charset="-122"/>
                <a:cs typeface="Calibri" pitchFamily="34" charset="-120"/>
              </a:rPr>
              <a:t>“Kindly note that the Q3 training report will be submitted on Thursday instead of Tuesday, due to late receipt of branch data. All figures will be fully validated before submission. We apologise for any inconvenience.”</a:t>
            </a:r>
            <a:endParaRPr lang="en-US" sz="1150" dirty="0"/>
          </a:p>
        </p:txBody>
      </p:sp>
      <p:sp>
        <p:nvSpPr>
          <p:cNvPr id="12" name="Shape 10"/>
          <p:cNvSpPr/>
          <p:nvPr/>
        </p:nvSpPr>
        <p:spPr>
          <a:xfrm>
            <a:off x="4453128" y="1920240"/>
            <a:ext cx="3703320" cy="3794760"/>
          </a:xfrm>
          <a:prstGeom prst="roundRect">
            <a:avLst>
              <a:gd name="adj" fmla="val 1975"/>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3" name="Shape 11"/>
          <p:cNvSpPr/>
          <p:nvPr/>
        </p:nvSpPr>
        <p:spPr>
          <a:xfrm>
            <a:off x="4453128" y="1920240"/>
            <a:ext cx="3703320" cy="420624"/>
          </a:xfrm>
          <a:prstGeom prst="roundRect">
            <a:avLst>
              <a:gd name="adj" fmla="val 17391"/>
            </a:avLst>
          </a:prstGeom>
          <a:solidFill>
            <a:srgbClr val="29BA74"/>
          </a:solidFill>
          <a:ln/>
        </p:spPr>
      </p:sp>
      <p:sp>
        <p:nvSpPr>
          <p:cNvPr id="14" name="Shape 12"/>
          <p:cNvSpPr/>
          <p:nvPr/>
        </p:nvSpPr>
        <p:spPr>
          <a:xfrm>
            <a:off x="4453128" y="2130552"/>
            <a:ext cx="3703320" cy="210312"/>
          </a:xfrm>
          <a:prstGeom prst="rect">
            <a:avLst/>
          </a:prstGeom>
          <a:solidFill>
            <a:srgbClr val="29BA74"/>
          </a:solidFill>
          <a:ln/>
        </p:spPr>
      </p:sp>
      <p:sp>
        <p:nvSpPr>
          <p:cNvPr id="15" name="Text 13"/>
          <p:cNvSpPr txBox="1"/>
          <p:nvPr/>
        </p:nvSpPr>
        <p:spPr>
          <a:xfrm>
            <a:off x="4590288" y="1920240"/>
            <a:ext cx="342900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To your team</a:t>
            </a:r>
            <a:endParaRPr lang="en-US" sz="1400" dirty="0"/>
          </a:p>
        </p:txBody>
      </p:sp>
      <p:sp>
        <p:nvSpPr>
          <p:cNvPr id="16" name="Text 14"/>
          <p:cNvSpPr txBox="1"/>
          <p:nvPr/>
        </p:nvSpPr>
        <p:spPr>
          <a:xfrm>
            <a:off x="4681728" y="2560320"/>
            <a:ext cx="3246120" cy="2971800"/>
          </a:xfrm>
          <a:prstGeom prst="rect">
            <a:avLst/>
          </a:prstGeom>
          <a:noFill/>
          <a:ln/>
        </p:spPr>
        <p:txBody>
          <a:bodyPr wrap="square" lIns="0" tIns="0" rIns="0" bIns="0" rtlCol="0" anchor="ctr"/>
          <a:lstStyle/>
          <a:p>
            <a:pPr indent="0" marL="0">
              <a:lnSpc>
                <a:spcPct val="118000"/>
              </a:lnSpc>
              <a:buNone/>
            </a:pPr>
            <a:r>
              <a:rPr lang="en-US" sz="1150" i="1" dirty="0">
                <a:solidFill>
                  <a:srgbClr val="22252B"/>
                </a:solidFill>
                <a:latin typeface="Calibri" pitchFamily="34" charset="0"/>
                <a:ea typeface="Calibri" pitchFamily="34" charset="-122"/>
                <a:cs typeface="Calibri" pitchFamily="34" charset="-120"/>
              </a:rPr>
              <a:t>“Team — Q3 report moves to Thursday. Jeddah's data landed late and I'd rather ship it right than ship it fast. Sara, can you re-run the validation once the file arrives? Thanks all.”</a:t>
            </a:r>
            <a:endParaRPr lang="en-US" sz="1150" dirty="0"/>
          </a:p>
        </p:txBody>
      </p:sp>
      <p:sp>
        <p:nvSpPr>
          <p:cNvPr id="17" name="Shape 15"/>
          <p:cNvSpPr/>
          <p:nvPr/>
        </p:nvSpPr>
        <p:spPr>
          <a:xfrm>
            <a:off x="8403336" y="1920240"/>
            <a:ext cx="3703320" cy="3794760"/>
          </a:xfrm>
          <a:prstGeom prst="roundRect">
            <a:avLst>
              <a:gd name="adj" fmla="val 1975"/>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8" name="Shape 16"/>
          <p:cNvSpPr/>
          <p:nvPr/>
        </p:nvSpPr>
        <p:spPr>
          <a:xfrm>
            <a:off x="8403336" y="1920240"/>
            <a:ext cx="3703320" cy="420624"/>
          </a:xfrm>
          <a:prstGeom prst="roundRect">
            <a:avLst>
              <a:gd name="adj" fmla="val 17391"/>
            </a:avLst>
          </a:prstGeom>
          <a:solidFill>
            <a:srgbClr val="FCBD4C"/>
          </a:solidFill>
          <a:ln/>
        </p:spPr>
      </p:sp>
      <p:sp>
        <p:nvSpPr>
          <p:cNvPr id="19" name="Shape 17"/>
          <p:cNvSpPr/>
          <p:nvPr/>
        </p:nvSpPr>
        <p:spPr>
          <a:xfrm>
            <a:off x="8403336" y="2130552"/>
            <a:ext cx="3703320" cy="210312"/>
          </a:xfrm>
          <a:prstGeom prst="rect">
            <a:avLst/>
          </a:prstGeom>
          <a:solidFill>
            <a:srgbClr val="FCBD4C"/>
          </a:solidFill>
          <a:ln/>
        </p:spPr>
      </p:sp>
      <p:sp>
        <p:nvSpPr>
          <p:cNvPr id="20" name="Text 18"/>
          <p:cNvSpPr txBox="1"/>
          <p:nvPr/>
        </p:nvSpPr>
        <p:spPr>
          <a:xfrm>
            <a:off x="8540496" y="1920240"/>
            <a:ext cx="342900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To a peer department (WhatsApp)</a:t>
            </a:r>
            <a:endParaRPr lang="en-US" sz="1400" dirty="0"/>
          </a:p>
        </p:txBody>
      </p:sp>
      <p:sp>
        <p:nvSpPr>
          <p:cNvPr id="21" name="Text 19"/>
          <p:cNvSpPr txBox="1"/>
          <p:nvPr/>
        </p:nvSpPr>
        <p:spPr>
          <a:xfrm>
            <a:off x="8631936" y="2560320"/>
            <a:ext cx="3246120" cy="2971800"/>
          </a:xfrm>
          <a:prstGeom prst="rect">
            <a:avLst/>
          </a:prstGeom>
          <a:noFill/>
          <a:ln/>
        </p:spPr>
        <p:txBody>
          <a:bodyPr wrap="square" lIns="0" tIns="0" rIns="0" bIns="0" rtlCol="0" anchor="ctr"/>
          <a:lstStyle/>
          <a:p>
            <a:pPr indent="0" marL="0">
              <a:lnSpc>
                <a:spcPct val="118000"/>
              </a:lnSpc>
              <a:buNone/>
            </a:pPr>
            <a:r>
              <a:rPr lang="en-US" sz="1150" i="1" dirty="0">
                <a:solidFill>
                  <a:srgbClr val="22252B"/>
                </a:solidFill>
                <a:latin typeface="Calibri" pitchFamily="34" charset="0"/>
                <a:ea typeface="Calibri" pitchFamily="34" charset="-122"/>
                <a:cs typeface="Calibri" pitchFamily="34" charset="-120"/>
              </a:rPr>
              <a:t>“Hi Ahmed — heads-up: Q3 report will reach you Thursday, not Tuesday (late branch data). Nothing missing, just validation time. Will send the moment it's ready 👍”</a:t>
            </a:r>
            <a:endParaRPr lang="en-US" sz="1150" dirty="0"/>
          </a:p>
        </p:txBody>
      </p:sp>
      <p:sp>
        <p:nvSpPr>
          <p:cNvPr id="22" name="Text 20"/>
          <p:cNvSpPr txBox="1"/>
          <p:nvPr/>
        </p:nvSpPr>
        <p:spPr>
          <a:xfrm>
            <a:off x="502920" y="5943600"/>
            <a:ext cx="10972800" cy="365760"/>
          </a:xfrm>
          <a:prstGeom prst="rect">
            <a:avLst/>
          </a:prstGeom>
          <a:noFill/>
          <a:ln/>
        </p:spPr>
        <p:txBody>
          <a:bodyPr wrap="square" lIns="0" tIns="0" rIns="0" bIns="0" rtlCol="0" anchor="ctr"/>
          <a:lstStyle/>
          <a:p>
            <a:pPr indent="0" marL="0">
              <a:buNone/>
            </a:pPr>
            <a:r>
              <a:rPr lang="en-US" sz="1250" i="1" dirty="0">
                <a:solidFill>
                  <a:srgbClr val="696969"/>
                </a:solidFill>
                <a:latin typeface="Calibri" pitchFamily="34" charset="0"/>
                <a:ea typeface="Calibri" pitchFamily="34" charset="-122"/>
                <a:cs typeface="Calibri" pitchFamily="34" charset="-120"/>
              </a:rPr>
              <a:t>Prompt pattern: “Write this for [audience] in [register]. Then rewrite the same message for [audience 2]…”</a:t>
            </a:r>
            <a:endParaRPr lang="en-US" sz="1250" dirty="0"/>
          </a:p>
        </p:txBody>
      </p:sp>
      <p:sp>
        <p:nvSpPr>
          <p:cNvPr id="23" name="Text 21"/>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24" name="Text 22"/>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Working in Arabic and English</a:t>
            </a:r>
            <a:endParaRPr lang="en-US" sz="3000" dirty="0"/>
          </a:p>
        </p:txBody>
      </p:sp>
      <p:sp>
        <p:nvSpPr>
          <p:cNvPr id="3" name="Shape 1"/>
          <p:cNvSpPr/>
          <p:nvPr/>
        </p:nvSpPr>
        <p:spPr>
          <a:xfrm>
            <a:off x="10565892" y="457200"/>
            <a:ext cx="1120140" cy="384048"/>
          </a:xfrm>
          <a:prstGeom prst="roundRect">
            <a:avLst>
              <a:gd name="adj" fmla="val 50000"/>
            </a:avLst>
          </a:prstGeom>
          <a:solidFill>
            <a:srgbClr val="94A0DA"/>
          </a:solidFill>
          <a:ln/>
        </p:spPr>
      </p:sp>
      <p:sp>
        <p:nvSpPr>
          <p:cNvPr id="4" name="Text 2"/>
          <p:cNvSpPr txBox="1"/>
          <p:nvPr/>
        </p:nvSpPr>
        <p:spPr>
          <a:xfrm>
            <a:off x="10565892" y="457200"/>
            <a:ext cx="11201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CONCEPT</a:t>
            </a:r>
            <a:endParaRPr lang="en-US" sz="1200" dirty="0"/>
          </a:p>
        </p:txBody>
      </p:sp>
      <p:sp>
        <p:nvSpPr>
          <p:cNvPr id="5" name="Shape 3"/>
          <p:cNvSpPr/>
          <p:nvPr/>
        </p:nvSpPr>
        <p:spPr>
          <a:xfrm>
            <a:off x="502920" y="1417320"/>
            <a:ext cx="5532120" cy="4617720"/>
          </a:xfrm>
          <a:prstGeom prst="roundRect">
            <a:avLst>
              <a:gd name="adj" fmla="val 1584"/>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502920" y="1417320"/>
            <a:ext cx="5532120" cy="420624"/>
          </a:xfrm>
          <a:prstGeom prst="roundRect">
            <a:avLst>
              <a:gd name="adj" fmla="val 17391"/>
            </a:avLst>
          </a:prstGeom>
          <a:solidFill>
            <a:srgbClr val="29BA74"/>
          </a:solidFill>
          <a:ln/>
        </p:spPr>
      </p:sp>
      <p:sp>
        <p:nvSpPr>
          <p:cNvPr id="7" name="Shape 5"/>
          <p:cNvSpPr/>
          <p:nvPr/>
        </p:nvSpPr>
        <p:spPr>
          <a:xfrm>
            <a:off x="502920" y="1627632"/>
            <a:ext cx="5532120" cy="210312"/>
          </a:xfrm>
          <a:prstGeom prst="rect">
            <a:avLst/>
          </a:prstGeom>
          <a:solidFill>
            <a:srgbClr val="29BA74"/>
          </a:solidFill>
          <a:ln/>
        </p:spPr>
      </p:sp>
      <p:sp>
        <p:nvSpPr>
          <p:cNvPr id="8" name="Text 6"/>
          <p:cNvSpPr txBox="1"/>
          <p:nvPr/>
        </p:nvSpPr>
        <p:spPr>
          <a:xfrm>
            <a:off x="640080" y="1417320"/>
            <a:ext cx="525780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What works well</a:t>
            </a:r>
            <a:endParaRPr lang="en-US" sz="1400" dirty="0"/>
          </a:p>
        </p:txBody>
      </p:sp>
      <p:sp>
        <p:nvSpPr>
          <p:cNvPr id="9" name="Text 7"/>
          <p:cNvSpPr txBox="1"/>
          <p:nvPr/>
        </p:nvSpPr>
        <p:spPr>
          <a:xfrm>
            <a:off x="777240" y="2011680"/>
            <a:ext cx="5029200" cy="3840480"/>
          </a:xfrm>
          <a:prstGeom prst="rect">
            <a:avLst/>
          </a:prstGeom>
          <a:noFill/>
          <a:ln/>
        </p:spPr>
        <p:txBody>
          <a:bodyPr wrap="square" lIns="0" tIns="0" rIns="0" bIns="0" rtlCol="0" anchor="t"/>
          <a:lstStyle/>
          <a:p>
            <a:pPr marL="152400" indent="-152400">
              <a:lnSpc>
                <a:spcPct val="105000"/>
              </a:lnSpc>
              <a:spcAft>
                <a:spcPts val="1100"/>
              </a:spcAft>
              <a:buSzPct val="100000"/>
              <a:buChar char="•"/>
            </a:pPr>
            <a:r>
              <a:rPr lang="en-US" sz="1300" dirty="0">
                <a:solidFill>
                  <a:srgbClr val="22252B"/>
                </a:solidFill>
                <a:latin typeface="Calibri" pitchFamily="34" charset="0"/>
                <a:ea typeface="Calibri" pitchFamily="34" charset="-122"/>
                <a:cs typeface="Calibri" pitchFamily="34" charset="-120"/>
              </a:rPr>
              <a:t>Drafting in either language, and producing paired Arabic + English versions of the same message.</a:t>
            </a:r>
            <a:endParaRPr lang="en-US" sz="1300" dirty="0"/>
          </a:p>
          <a:p>
            <a:pPr marL="152400" indent="-152400">
              <a:lnSpc>
                <a:spcPct val="105000"/>
              </a:lnSpc>
              <a:spcAft>
                <a:spcPts val="1100"/>
              </a:spcAft>
              <a:buSzPct val="100000"/>
              <a:buChar char="•"/>
            </a:pPr>
            <a:r>
              <a:rPr lang="en-US" sz="1300" dirty="0">
                <a:solidFill>
                  <a:srgbClr val="22252B"/>
                </a:solidFill>
                <a:latin typeface="Calibri" pitchFamily="34" charset="0"/>
                <a:ea typeface="Calibri" pitchFamily="34" charset="-122"/>
                <a:cs typeface="Calibri" pitchFamily="34" charset="-120"/>
              </a:rPr>
              <a:t>Adjusting register: formal official Arabic vs. friendly internal Arabic — ask for it explicitly.</a:t>
            </a:r>
            <a:endParaRPr lang="en-US" sz="1300" dirty="0"/>
          </a:p>
          <a:p>
            <a:pPr marL="152400" indent="-152400">
              <a:lnSpc>
                <a:spcPct val="105000"/>
              </a:lnSpc>
              <a:spcAft>
                <a:spcPts val="1100"/>
              </a:spcAft>
              <a:buSzPct val="100000"/>
              <a:buChar char="•"/>
            </a:pPr>
            <a:r>
              <a:rPr lang="en-US" sz="1300" dirty="0">
                <a:solidFill>
                  <a:srgbClr val="22252B"/>
                </a:solidFill>
                <a:latin typeface="Calibri" pitchFamily="34" charset="0"/>
                <a:ea typeface="Calibri" pitchFamily="34" charset="-122"/>
                <a:cs typeface="Calibri" pitchFamily="34" charset="-120"/>
              </a:rPr>
              <a:t>“Translate meaning, not words”: ask for a culturally appropriate rendering, not literal translation.</a:t>
            </a:r>
            <a:endParaRPr lang="en-US" sz="1300" dirty="0"/>
          </a:p>
          <a:p>
            <a:pPr marL="152400" indent="-152400">
              <a:lnSpc>
                <a:spcPct val="105000"/>
              </a:lnSpc>
              <a:spcAft>
                <a:spcPts val="1100"/>
              </a:spcAft>
              <a:buSzPct val="100000"/>
              <a:buChar char="•"/>
            </a:pPr>
            <a:r>
              <a:rPr lang="en-US" sz="1300" dirty="0">
                <a:solidFill>
                  <a:srgbClr val="22252B"/>
                </a:solidFill>
                <a:latin typeface="Calibri" pitchFamily="34" charset="0"/>
                <a:ea typeface="Calibri" pitchFamily="34" charset="-122"/>
                <a:cs typeface="Calibri" pitchFamily="34" charset="-120"/>
              </a:rPr>
              <a:t>Glossaries: give it your organisation's preferred terms (“use ‘المستفيد’ for beneficiary”) and it will follow them.</a:t>
            </a:r>
            <a:endParaRPr lang="en-US" sz="1300" dirty="0"/>
          </a:p>
        </p:txBody>
      </p:sp>
      <p:sp>
        <p:nvSpPr>
          <p:cNvPr id="10" name="Shape 8"/>
          <p:cNvSpPr/>
          <p:nvPr/>
        </p:nvSpPr>
        <p:spPr>
          <a:xfrm>
            <a:off x="6263640" y="1417320"/>
            <a:ext cx="5440680" cy="4617720"/>
          </a:xfrm>
          <a:prstGeom prst="roundRect">
            <a:avLst>
              <a:gd name="adj" fmla="val 1584"/>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1" name="Shape 9"/>
          <p:cNvSpPr/>
          <p:nvPr/>
        </p:nvSpPr>
        <p:spPr>
          <a:xfrm>
            <a:off x="6263640" y="1417320"/>
            <a:ext cx="5440680" cy="420624"/>
          </a:xfrm>
          <a:prstGeom prst="roundRect">
            <a:avLst>
              <a:gd name="adj" fmla="val 17391"/>
            </a:avLst>
          </a:prstGeom>
          <a:solidFill>
            <a:srgbClr val="FCBD4C"/>
          </a:solidFill>
          <a:ln/>
        </p:spPr>
      </p:sp>
      <p:sp>
        <p:nvSpPr>
          <p:cNvPr id="12" name="Shape 10"/>
          <p:cNvSpPr/>
          <p:nvPr/>
        </p:nvSpPr>
        <p:spPr>
          <a:xfrm>
            <a:off x="6263640" y="1627632"/>
            <a:ext cx="5440680" cy="210312"/>
          </a:xfrm>
          <a:prstGeom prst="rect">
            <a:avLst/>
          </a:prstGeom>
          <a:solidFill>
            <a:srgbClr val="FCBD4C"/>
          </a:solidFill>
          <a:ln/>
        </p:spPr>
      </p:sp>
      <p:sp>
        <p:nvSpPr>
          <p:cNvPr id="13" name="Text 11"/>
          <p:cNvSpPr txBox="1"/>
          <p:nvPr/>
        </p:nvSpPr>
        <p:spPr>
          <a:xfrm>
            <a:off x="6400800" y="1417320"/>
            <a:ext cx="516636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Watch out for</a:t>
            </a:r>
            <a:endParaRPr lang="en-US" sz="1400" dirty="0"/>
          </a:p>
        </p:txBody>
      </p:sp>
      <p:sp>
        <p:nvSpPr>
          <p:cNvPr id="14" name="Text 12"/>
          <p:cNvSpPr txBox="1"/>
          <p:nvPr/>
        </p:nvSpPr>
        <p:spPr>
          <a:xfrm>
            <a:off x="6537960" y="2011680"/>
            <a:ext cx="4937760" cy="3840480"/>
          </a:xfrm>
          <a:prstGeom prst="rect">
            <a:avLst/>
          </a:prstGeom>
          <a:noFill/>
          <a:ln/>
        </p:spPr>
        <p:txBody>
          <a:bodyPr wrap="square" lIns="0" tIns="0" rIns="0" bIns="0" rtlCol="0" anchor="t"/>
          <a:lstStyle/>
          <a:p>
            <a:pPr marL="152400" indent="-152400">
              <a:lnSpc>
                <a:spcPct val="105000"/>
              </a:lnSpc>
              <a:spcAft>
                <a:spcPts val="1100"/>
              </a:spcAft>
              <a:buSzPct val="100000"/>
              <a:buChar char="•"/>
            </a:pPr>
            <a:r>
              <a:rPr lang="en-US" sz="1300" dirty="0">
                <a:solidFill>
                  <a:srgbClr val="22252B"/>
                </a:solidFill>
                <a:latin typeface="Calibri" pitchFamily="34" charset="0"/>
                <a:ea typeface="Calibri" pitchFamily="34" charset="-122"/>
                <a:cs typeface="Calibri" pitchFamily="34" charset="-120"/>
              </a:rPr>
              <a:t>Formal Arabic titles, honorifics and protocol openings — always check against your organisation's house style.</a:t>
            </a:r>
            <a:endParaRPr lang="en-US" sz="1300" dirty="0"/>
          </a:p>
          <a:p>
            <a:pPr marL="152400" indent="-152400">
              <a:lnSpc>
                <a:spcPct val="105000"/>
              </a:lnSpc>
              <a:spcAft>
                <a:spcPts val="1100"/>
              </a:spcAft>
              <a:buSzPct val="100000"/>
              <a:buChar char="•"/>
            </a:pPr>
            <a:r>
              <a:rPr lang="en-US" sz="1300" dirty="0">
                <a:solidFill>
                  <a:srgbClr val="22252B"/>
                </a:solidFill>
                <a:latin typeface="Calibri" pitchFamily="34" charset="0"/>
                <a:ea typeface="Calibri" pitchFamily="34" charset="-122"/>
                <a:cs typeface="Calibri" pitchFamily="34" charset="-120"/>
              </a:rPr>
              <a:t>Legal, religious and official terminology: never rely on AI translation for binding documents without expert review.</a:t>
            </a:r>
            <a:endParaRPr lang="en-US" sz="1300" dirty="0"/>
          </a:p>
          <a:p>
            <a:pPr marL="152400" indent="-152400">
              <a:lnSpc>
                <a:spcPct val="105000"/>
              </a:lnSpc>
              <a:spcAft>
                <a:spcPts val="1100"/>
              </a:spcAft>
              <a:buSzPct val="100000"/>
              <a:buChar char="•"/>
            </a:pPr>
            <a:r>
              <a:rPr lang="en-US" sz="1300" dirty="0">
                <a:solidFill>
                  <a:srgbClr val="22252B"/>
                </a:solidFill>
                <a:latin typeface="Calibri" pitchFamily="34" charset="0"/>
                <a:ea typeface="Calibri" pitchFamily="34" charset="-122"/>
                <a:cs typeface="Calibri" pitchFamily="34" charset="-120"/>
              </a:rPr>
              <a:t>Mixed output quality: Arabic fluency varies by tool and improves fastest with an example of the style you want.</a:t>
            </a:r>
            <a:endParaRPr lang="en-US" sz="1300" dirty="0"/>
          </a:p>
          <a:p>
            <a:pPr marL="152400" indent="-152400">
              <a:lnSpc>
                <a:spcPct val="105000"/>
              </a:lnSpc>
              <a:spcAft>
                <a:spcPts val="1100"/>
              </a:spcAft>
              <a:buSzPct val="100000"/>
              <a:buChar char="•"/>
            </a:pPr>
            <a:r>
              <a:rPr lang="en-US" sz="1300" dirty="0">
                <a:solidFill>
                  <a:srgbClr val="22252B"/>
                </a:solidFill>
                <a:latin typeface="Calibri" pitchFamily="34" charset="0"/>
                <a:ea typeface="Calibri" pitchFamily="34" charset="-122"/>
                <a:cs typeface="Calibri" pitchFamily="34" charset="-120"/>
              </a:rPr>
              <a:t>Numbers and dates: verify Hijri/Gregorian conversions yourself — models frequently get them wrong.</a:t>
            </a:r>
            <a:endParaRPr lang="en-US" sz="1300" dirty="0"/>
          </a:p>
        </p:txBody>
      </p:sp>
      <p:sp>
        <p:nvSpPr>
          <p:cNvPr id="15" name="Text 13"/>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16" name="Text 14"/>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Demo 3 — Taming a difficult inbox</a:t>
            </a:r>
            <a:endParaRPr lang="en-US" sz="3000" dirty="0"/>
          </a:p>
        </p:txBody>
      </p:sp>
      <p:sp>
        <p:nvSpPr>
          <p:cNvPr id="3" name="Text 1"/>
          <p:cNvSpPr txBox="1"/>
          <p:nvPr/>
        </p:nvSpPr>
        <p:spPr>
          <a:xfrm>
            <a:off x="502920" y="987552"/>
            <a:ext cx="11155680" cy="365760"/>
          </a:xfrm>
          <a:prstGeom prst="rect">
            <a:avLst/>
          </a:prstGeom>
          <a:noFill/>
          <a:ln/>
        </p:spPr>
        <p:txBody>
          <a:bodyPr wrap="square" lIns="0" tIns="0" rIns="0" bIns="0" rtlCol="0" anchor="ctr"/>
          <a:lstStyle/>
          <a:p>
            <a:pPr indent="0" marL="0">
              <a:buNone/>
            </a:pPr>
            <a:r>
              <a:rPr lang="en-US" sz="1400" dirty="0">
                <a:solidFill>
                  <a:srgbClr val="696969"/>
                </a:solidFill>
                <a:latin typeface="Calibri" pitchFamily="34" charset="0"/>
                <a:ea typeface="Calibri" pitchFamily="34" charset="-122"/>
                <a:cs typeface="Calibri" pitchFamily="34" charset="-120"/>
              </a:rPr>
              <a:t>Email 1 from the sample inbox: the angry supplier</a:t>
            </a:r>
            <a:endParaRPr lang="en-US" sz="1400" dirty="0"/>
          </a:p>
        </p:txBody>
      </p:sp>
      <p:sp>
        <p:nvSpPr>
          <p:cNvPr id="4" name="Shape 2"/>
          <p:cNvSpPr/>
          <p:nvPr/>
        </p:nvSpPr>
        <p:spPr>
          <a:xfrm>
            <a:off x="10881360" y="457200"/>
            <a:ext cx="804672" cy="384048"/>
          </a:xfrm>
          <a:prstGeom prst="roundRect">
            <a:avLst>
              <a:gd name="adj" fmla="val 50000"/>
            </a:avLst>
          </a:prstGeom>
          <a:solidFill>
            <a:srgbClr val="FCBD4C"/>
          </a:solidFill>
          <a:ln/>
        </p:spPr>
      </p:sp>
      <p:sp>
        <p:nvSpPr>
          <p:cNvPr id="5" name="Text 3"/>
          <p:cNvSpPr txBox="1"/>
          <p:nvPr/>
        </p:nvSpPr>
        <p:spPr>
          <a:xfrm>
            <a:off x="10881360" y="457200"/>
            <a:ext cx="804672" cy="384048"/>
          </a:xfrm>
          <a:prstGeom prst="rect">
            <a:avLst/>
          </a:prstGeom>
          <a:noFill/>
          <a:ln/>
        </p:spPr>
        <p:txBody>
          <a:bodyPr wrap="square" lIns="0" tIns="0" rIns="0" bIns="0" rtlCol="0" anchor="ctr"/>
          <a:lstStyle/>
          <a:p>
            <a:pPr algn="ctr" indent="0" marL="0">
              <a:buNone/>
            </a:pPr>
            <a:r>
              <a:rPr lang="en-US" sz="1200" b="1" dirty="0">
                <a:solidFill>
                  <a:srgbClr val="131938"/>
                </a:solidFill>
                <a:latin typeface="Calibri" pitchFamily="34" charset="0"/>
                <a:ea typeface="Calibri" pitchFamily="34" charset="-122"/>
                <a:cs typeface="Calibri" pitchFamily="34" charset="-120"/>
              </a:rPr>
              <a:t>DEMO</a:t>
            </a:r>
            <a:endParaRPr lang="en-US" sz="1200" dirty="0"/>
          </a:p>
        </p:txBody>
      </p:sp>
      <p:sp>
        <p:nvSpPr>
          <p:cNvPr id="6" name="Shape 4"/>
          <p:cNvSpPr/>
          <p:nvPr/>
        </p:nvSpPr>
        <p:spPr>
          <a:xfrm>
            <a:off x="502920" y="1463040"/>
            <a:ext cx="11201400" cy="2377440"/>
          </a:xfrm>
          <a:prstGeom prst="roundRect">
            <a:avLst>
              <a:gd name="adj" fmla="val 3077"/>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502920" y="1463040"/>
            <a:ext cx="11201400" cy="420624"/>
          </a:xfrm>
          <a:prstGeom prst="roundRect">
            <a:avLst>
              <a:gd name="adj" fmla="val 17391"/>
            </a:avLst>
          </a:prstGeom>
          <a:solidFill>
            <a:srgbClr val="FCBD4C"/>
          </a:solidFill>
          <a:ln/>
        </p:spPr>
      </p:sp>
      <p:sp>
        <p:nvSpPr>
          <p:cNvPr id="8" name="Shape 6"/>
          <p:cNvSpPr/>
          <p:nvPr/>
        </p:nvSpPr>
        <p:spPr>
          <a:xfrm>
            <a:off x="502920" y="1673352"/>
            <a:ext cx="11201400" cy="210312"/>
          </a:xfrm>
          <a:prstGeom prst="rect">
            <a:avLst/>
          </a:prstGeom>
          <a:solidFill>
            <a:srgbClr val="FCBD4C"/>
          </a:solidFill>
          <a:ln/>
        </p:spPr>
      </p:sp>
      <p:sp>
        <p:nvSpPr>
          <p:cNvPr id="9" name="Text 7"/>
          <p:cNvSpPr txBox="1"/>
          <p:nvPr/>
        </p:nvSpPr>
        <p:spPr>
          <a:xfrm>
            <a:off x="640080" y="1463040"/>
            <a:ext cx="1092708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Trainer will demonstrate, live</a:t>
            </a:r>
            <a:endParaRPr lang="en-US" sz="1400" dirty="0"/>
          </a:p>
        </p:txBody>
      </p:sp>
      <p:sp>
        <p:nvSpPr>
          <p:cNvPr id="10" name="Text 8"/>
          <p:cNvSpPr txBox="1"/>
          <p:nvPr/>
        </p:nvSpPr>
        <p:spPr>
          <a:xfrm>
            <a:off x="777240" y="2084832"/>
            <a:ext cx="10607040" cy="1645920"/>
          </a:xfrm>
          <a:prstGeom prst="rect">
            <a:avLst/>
          </a:prstGeom>
          <a:noFill/>
          <a:ln/>
        </p:spPr>
        <p:txBody>
          <a:bodyPr wrap="square" lIns="0" tIns="0" rIns="0" bIns="0" rtlCol="0" anchor="t"/>
          <a:lstStyle/>
          <a:p>
            <a:pPr marL="152400" indent="-152400">
              <a:lnSpc>
                <a:spcPct val="105000"/>
              </a:lnSpc>
              <a:spcAft>
                <a:spcPts val="800"/>
              </a:spcAft>
              <a:buSzPct val="100000"/>
              <a:buChar char="•"/>
            </a:pPr>
            <a:r>
              <a:rPr lang="en-US" sz="1250" dirty="0">
                <a:solidFill>
                  <a:srgbClr val="22252B"/>
                </a:solidFill>
                <a:latin typeface="Calibri" pitchFamily="34" charset="0"/>
                <a:ea typeface="Calibri" pitchFamily="34" charset="-122"/>
                <a:cs typeface="Calibri" pitchFamily="34" charset="-120"/>
              </a:rPr>
              <a:t>Paste Email 1 (overdue invoice, legal threat) and ask: “Summarise the situation, the sender's emotional state, and what they actually want, in 3 bullets.”</a:t>
            </a:r>
            <a:endParaRPr lang="en-US" sz="1250" dirty="0"/>
          </a:p>
          <a:p>
            <a:pPr marL="152400" indent="-152400">
              <a:lnSpc>
                <a:spcPct val="105000"/>
              </a:lnSpc>
              <a:spcAft>
                <a:spcPts val="800"/>
              </a:spcAft>
              <a:buSzPct val="100000"/>
              <a:buChar char="•"/>
            </a:pPr>
            <a:r>
              <a:rPr lang="en-US" sz="1250" dirty="0">
                <a:solidFill>
                  <a:srgbClr val="22252B"/>
                </a:solidFill>
                <a:latin typeface="Calibri" pitchFamily="34" charset="0"/>
                <a:ea typeface="Calibri" pitchFamily="34" charset="-122"/>
                <a:cs typeface="Calibri" pitchFamily="34" charset="-120"/>
              </a:rPr>
              <a:t>Then: “Draft a reply that acknowledges the delay, apologises without admitting fault, explains the payment is in final approval, and commits to a date — formal, respectful, under 130 words.”</a:t>
            </a:r>
            <a:endParaRPr lang="en-US" sz="1250" dirty="0"/>
          </a:p>
          <a:p>
            <a:pPr marL="152400" indent="-152400">
              <a:lnSpc>
                <a:spcPct val="105000"/>
              </a:lnSpc>
              <a:spcAft>
                <a:spcPts val="800"/>
              </a:spcAft>
              <a:buSzPct val="100000"/>
              <a:buChar char="•"/>
            </a:pPr>
            <a:r>
              <a:rPr lang="en-US" sz="1250" dirty="0">
                <a:solidFill>
                  <a:srgbClr val="22252B"/>
                </a:solidFill>
                <a:latin typeface="Calibri" pitchFamily="34" charset="0"/>
                <a:ea typeface="Calibri" pitchFamily="34" charset="-122"/>
                <a:cs typeface="Calibri" pitchFamily="34" charset="-120"/>
              </a:rPr>
              <a:t>Then iterate once with the room: warmer? firmer? Arabic version?</a:t>
            </a:r>
            <a:endParaRPr lang="en-US" sz="1250" dirty="0"/>
          </a:p>
        </p:txBody>
      </p:sp>
      <p:sp>
        <p:nvSpPr>
          <p:cNvPr id="11" name="Shape 9"/>
          <p:cNvSpPr/>
          <p:nvPr/>
        </p:nvSpPr>
        <p:spPr>
          <a:xfrm>
            <a:off x="502920" y="4069080"/>
            <a:ext cx="11201400" cy="1965960"/>
          </a:xfrm>
          <a:prstGeom prst="roundRect">
            <a:avLst>
              <a:gd name="adj" fmla="val 3721"/>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502920" y="4069080"/>
            <a:ext cx="11201400" cy="420624"/>
          </a:xfrm>
          <a:prstGeom prst="roundRect">
            <a:avLst>
              <a:gd name="adj" fmla="val 17391"/>
            </a:avLst>
          </a:prstGeom>
          <a:solidFill>
            <a:srgbClr val="273370"/>
          </a:solidFill>
          <a:ln/>
        </p:spPr>
      </p:sp>
      <p:sp>
        <p:nvSpPr>
          <p:cNvPr id="13" name="Shape 11"/>
          <p:cNvSpPr/>
          <p:nvPr/>
        </p:nvSpPr>
        <p:spPr>
          <a:xfrm>
            <a:off x="502920" y="4279392"/>
            <a:ext cx="11201400" cy="210312"/>
          </a:xfrm>
          <a:prstGeom prst="rect">
            <a:avLst/>
          </a:prstGeom>
          <a:solidFill>
            <a:srgbClr val="273370"/>
          </a:solidFill>
          <a:ln/>
        </p:spPr>
      </p:sp>
      <p:sp>
        <p:nvSpPr>
          <p:cNvPr id="14" name="Text 12"/>
          <p:cNvSpPr txBox="1"/>
          <p:nvPr/>
        </p:nvSpPr>
        <p:spPr>
          <a:xfrm>
            <a:off x="640080" y="4069080"/>
            <a:ext cx="1092708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pattern to remember</a:t>
            </a:r>
            <a:endParaRPr lang="en-US" sz="1400" dirty="0"/>
          </a:p>
        </p:txBody>
      </p:sp>
      <p:sp>
        <p:nvSpPr>
          <p:cNvPr id="15" name="Text 13"/>
          <p:cNvSpPr txBox="1"/>
          <p:nvPr/>
        </p:nvSpPr>
        <p:spPr>
          <a:xfrm>
            <a:off x="777240" y="4663440"/>
            <a:ext cx="10607040" cy="1188720"/>
          </a:xfrm>
          <a:prstGeom prst="rect">
            <a:avLst/>
          </a:prstGeom>
          <a:noFill/>
          <a:ln/>
        </p:spPr>
        <p:txBody>
          <a:bodyPr wrap="square" lIns="0" tIns="0" rIns="0" bIns="0" rtlCol="0" anchor="ctr"/>
          <a:lstStyle/>
          <a:p>
            <a:pPr indent="0" marL="0">
              <a:lnSpc>
                <a:spcPct val="115000"/>
              </a:lnSpc>
              <a:buNone/>
            </a:pPr>
            <a:r>
              <a:rPr lang="en-US" sz="1400" b="1" dirty="0">
                <a:solidFill>
                  <a:srgbClr val="273370"/>
                </a:solidFill>
                <a:latin typeface="Calibri" pitchFamily="34" charset="0"/>
                <a:ea typeface="Calibri" pitchFamily="34" charset="-122"/>
                <a:cs typeface="Calibri" pitchFamily="34" charset="-120"/>
              </a:rPr>
              <a:t>Understand first, draft second.  </a:t>
            </a:r>
            <a:pPr indent="0" marL="0">
              <a:lnSpc>
                <a:spcPct val="115000"/>
              </a:lnSpc>
              <a:buNone/>
            </a:pPr>
            <a:r>
              <a:rPr lang="en-US" sz="1400" dirty="0">
                <a:solidFill>
                  <a:srgbClr val="22252B"/>
                </a:solidFill>
                <a:latin typeface="Calibri" pitchFamily="34" charset="0"/>
                <a:ea typeface="Calibri" pitchFamily="34" charset="-122"/>
                <a:cs typeface="Calibri" pitchFamily="34" charset="-120"/>
              </a:rPr>
              <a:t>Asking the AI to analyse the email before replying produces noticeably better replies — and forces YOU to confirm you understood the situation before responding.</a:t>
            </a:r>
            <a:endParaRPr lang="en-US" sz="1400" dirty="0"/>
          </a:p>
        </p:txBody>
      </p:sp>
      <p:sp>
        <p:nvSpPr>
          <p:cNvPr id="16" name="Text 14"/>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17" name="Text 15"/>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Activity 2.1 — Email triage</a:t>
            </a:r>
            <a:endParaRPr lang="en-US" sz="3000" dirty="0"/>
          </a:p>
        </p:txBody>
      </p:sp>
      <p:sp>
        <p:nvSpPr>
          <p:cNvPr id="3" name="Text 1"/>
          <p:cNvSpPr txBox="1"/>
          <p:nvPr/>
        </p:nvSpPr>
        <p:spPr>
          <a:xfrm>
            <a:off x="502920" y="987552"/>
            <a:ext cx="11155680" cy="365760"/>
          </a:xfrm>
          <a:prstGeom prst="rect">
            <a:avLst/>
          </a:prstGeom>
          <a:noFill/>
          <a:ln/>
        </p:spPr>
        <p:txBody>
          <a:bodyPr wrap="square" lIns="0" tIns="0" rIns="0" bIns="0" rtlCol="0" anchor="ctr"/>
          <a:lstStyle/>
          <a:p>
            <a:pPr indent="0" marL="0">
              <a:buNone/>
            </a:pPr>
            <a:r>
              <a:rPr lang="en-US" sz="1400" dirty="0">
                <a:solidFill>
                  <a:srgbClr val="696969"/>
                </a:solidFill>
                <a:latin typeface="Calibri" pitchFamily="34" charset="0"/>
                <a:ea typeface="Calibri" pitchFamily="34" charset="-122"/>
                <a:cs typeface="Calibri" pitchFamily="34" charset="-120"/>
              </a:rPr>
              <a:t>Individual • 35 minutes • File: sample_emails.docx • Workbook p. 4</a:t>
            </a:r>
            <a:endParaRPr lang="en-US" sz="1400" dirty="0"/>
          </a:p>
        </p:txBody>
      </p:sp>
      <p:sp>
        <p:nvSpPr>
          <p:cNvPr id="4" name="Shape 2"/>
          <p:cNvSpPr/>
          <p:nvPr/>
        </p:nvSpPr>
        <p:spPr>
          <a:xfrm>
            <a:off x="10460736" y="457200"/>
            <a:ext cx="1225296" cy="384048"/>
          </a:xfrm>
          <a:prstGeom prst="roundRect">
            <a:avLst>
              <a:gd name="adj" fmla="val 50000"/>
            </a:avLst>
          </a:prstGeom>
          <a:solidFill>
            <a:srgbClr val="29BA74"/>
          </a:solidFill>
          <a:ln/>
        </p:spPr>
      </p:sp>
      <p:sp>
        <p:nvSpPr>
          <p:cNvPr id="5" name="Text 3"/>
          <p:cNvSpPr txBox="1"/>
          <p:nvPr/>
        </p:nvSpPr>
        <p:spPr>
          <a:xfrm>
            <a:off x="10460736" y="457200"/>
            <a:ext cx="1225296"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ACTIVITY</a:t>
            </a:r>
            <a:endParaRPr lang="en-US" sz="1200" dirty="0"/>
          </a:p>
        </p:txBody>
      </p:sp>
      <p:sp>
        <p:nvSpPr>
          <p:cNvPr id="6" name="Shape 4"/>
          <p:cNvSpPr/>
          <p:nvPr/>
        </p:nvSpPr>
        <p:spPr>
          <a:xfrm>
            <a:off x="502920" y="1463040"/>
            <a:ext cx="6583680" cy="4572000"/>
          </a:xfrm>
          <a:prstGeom prst="roundRect">
            <a:avLst>
              <a:gd name="adj" fmla="val 1600"/>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502920" y="1463040"/>
            <a:ext cx="6583680" cy="420624"/>
          </a:xfrm>
          <a:prstGeom prst="roundRect">
            <a:avLst>
              <a:gd name="adj" fmla="val 17391"/>
            </a:avLst>
          </a:prstGeom>
          <a:solidFill>
            <a:srgbClr val="29BA74"/>
          </a:solidFill>
          <a:ln/>
        </p:spPr>
      </p:sp>
      <p:sp>
        <p:nvSpPr>
          <p:cNvPr id="8" name="Shape 6"/>
          <p:cNvSpPr/>
          <p:nvPr/>
        </p:nvSpPr>
        <p:spPr>
          <a:xfrm>
            <a:off x="502920" y="1673352"/>
            <a:ext cx="6583680" cy="210312"/>
          </a:xfrm>
          <a:prstGeom prst="rect">
            <a:avLst/>
          </a:prstGeom>
          <a:solidFill>
            <a:srgbClr val="29BA74"/>
          </a:solidFill>
          <a:ln/>
        </p:spPr>
      </p:sp>
      <p:sp>
        <p:nvSpPr>
          <p:cNvPr id="9" name="Text 7"/>
          <p:cNvSpPr txBox="1"/>
          <p:nvPr/>
        </p:nvSpPr>
        <p:spPr>
          <a:xfrm>
            <a:off x="640080" y="1463040"/>
            <a:ext cx="630936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Your task — you are Head of Administrative Services</a:t>
            </a:r>
            <a:endParaRPr lang="en-US" sz="1400" dirty="0"/>
          </a:p>
        </p:txBody>
      </p:sp>
      <p:sp>
        <p:nvSpPr>
          <p:cNvPr id="10" name="Text 8"/>
          <p:cNvSpPr txBox="1"/>
          <p:nvPr/>
        </p:nvSpPr>
        <p:spPr>
          <a:xfrm>
            <a:off x="777240" y="2057400"/>
            <a:ext cx="6035040" cy="3794760"/>
          </a:xfrm>
          <a:prstGeom prst="rect">
            <a:avLst/>
          </a:prstGeom>
          <a:noFill/>
          <a:ln/>
        </p:spPr>
        <p:txBody>
          <a:bodyPr wrap="square" lIns="0" tIns="0" rIns="0" bIns="0" rtlCol="0" anchor="t"/>
          <a:lstStyle/>
          <a:p>
            <a:pPr marL="152400" indent="-152400">
              <a:lnSpc>
                <a:spcPct val="105000"/>
              </a:lnSpc>
              <a:spcAft>
                <a:spcPts val="600"/>
              </a:spcAft>
              <a:buSzPct val="100000"/>
              <a:buChar char="•"/>
            </a:pPr>
            <a:r>
              <a:rPr lang="en-US" sz="1200" dirty="0">
                <a:solidFill>
                  <a:srgbClr val="22252B"/>
                </a:solidFill>
                <a:latin typeface="Calibri" pitchFamily="34" charset="0"/>
                <a:ea typeface="Calibri" pitchFamily="34" charset="-122"/>
                <a:cs typeface="Calibri" pitchFamily="34" charset="-120"/>
              </a:rPr>
              <a:t>Five emails arrived this morning (angry supplier, urgent board pack, parking complaint, announcement favour, AC failure alert).</a:t>
            </a:r>
            <a:endParaRPr lang="en-US" sz="1200" dirty="0"/>
          </a:p>
          <a:p>
            <a:pPr marL="152400" indent="-152400">
              <a:lnSpc>
                <a:spcPct val="105000"/>
              </a:lnSpc>
              <a:spcAft>
                <a:spcPts val="600"/>
              </a:spcAft>
              <a:buSzPct val="100000"/>
              <a:buChar char="•"/>
            </a:pPr>
            <a:r>
              <a:rPr lang="en-US" sz="1200" b="1" dirty="0">
                <a:solidFill>
                  <a:srgbClr val="22252B"/>
                </a:solidFill>
                <a:latin typeface="Calibri" pitchFamily="34" charset="0"/>
                <a:ea typeface="Calibri" pitchFamily="34" charset="-122"/>
                <a:cs typeface="Calibri" pitchFamily="34" charset="-120"/>
              </a:rPr>
              <a:t>Step 1 (5 min) — Triage:</a:t>
            </a:r>
            <a:endParaRPr lang="en-US" sz="1200" dirty="0"/>
          </a:p>
          <a:p>
            <a:pPr marL="152400" indent="-152400">
              <a:lnSpc>
                <a:spcPct val="105000"/>
              </a:lnSpc>
              <a:spcAft>
                <a:spcPts val="600"/>
              </a:spcAft>
              <a:buSzPct val="100000"/>
              <a:buChar char="•"/>
            </a:pPr>
            <a:r>
              <a:rPr lang="en-US" sz="1200" dirty="0">
                <a:solidFill>
                  <a:srgbClr val="22252B"/>
                </a:solidFill>
                <a:latin typeface="Calibri" pitchFamily="34" charset="0"/>
                <a:ea typeface="Calibri" pitchFamily="34" charset="-122"/>
                <a:cs typeface="Calibri" pitchFamily="34" charset="-120"/>
              </a:rPr>
              <a:t>Paste all five; ask AI to rank by urgency/importance with reasoning. Do you agree? Adjust.</a:t>
            </a:r>
            <a:endParaRPr lang="en-US" sz="1200" dirty="0"/>
          </a:p>
          <a:p>
            <a:pPr marL="152400" indent="-152400">
              <a:lnSpc>
                <a:spcPct val="105000"/>
              </a:lnSpc>
              <a:spcAft>
                <a:spcPts val="600"/>
              </a:spcAft>
              <a:buSzPct val="100000"/>
              <a:buChar char="•"/>
            </a:pPr>
            <a:r>
              <a:rPr lang="en-US" sz="1200" b="1" dirty="0">
                <a:solidFill>
                  <a:srgbClr val="22252B"/>
                </a:solidFill>
                <a:latin typeface="Calibri" pitchFamily="34" charset="0"/>
                <a:ea typeface="Calibri" pitchFamily="34" charset="-122"/>
                <a:cs typeface="Calibri" pitchFamily="34" charset="-120"/>
              </a:rPr>
              <a:t>Step 2 (25 min) — Respond:</a:t>
            </a:r>
            <a:endParaRPr lang="en-US" sz="1200" dirty="0"/>
          </a:p>
          <a:p>
            <a:pPr marL="152400" indent="-152400">
              <a:lnSpc>
                <a:spcPct val="105000"/>
              </a:lnSpc>
              <a:spcAft>
                <a:spcPts val="600"/>
              </a:spcAft>
              <a:buSzPct val="100000"/>
              <a:buChar char="•"/>
            </a:pPr>
            <a:r>
              <a:rPr lang="en-US" sz="1200" dirty="0">
                <a:solidFill>
                  <a:srgbClr val="22252B"/>
                </a:solidFill>
                <a:latin typeface="Calibri" pitchFamily="34" charset="0"/>
                <a:ea typeface="Calibri" pitchFamily="34" charset="-122"/>
                <a:cs typeface="Calibri" pitchFamily="34" charset="-120"/>
              </a:rPr>
              <a:t>Draft replies to the supplier (Email 1) AND the parking complaint (Email 3); confirm the board-pack deadline (Email 2) in two lines; delegate the AC issue (Email 5) with a clear instruction.</a:t>
            </a:r>
            <a:endParaRPr lang="en-US" sz="1200" dirty="0"/>
          </a:p>
          <a:p>
            <a:pPr marL="152400" indent="-152400">
              <a:lnSpc>
                <a:spcPct val="105000"/>
              </a:lnSpc>
              <a:spcAft>
                <a:spcPts val="600"/>
              </a:spcAft>
              <a:buSzPct val="100000"/>
              <a:buChar char="•"/>
            </a:pPr>
            <a:r>
              <a:rPr lang="en-US" sz="1200" b="1" dirty="0">
                <a:solidFill>
                  <a:srgbClr val="22252B"/>
                </a:solidFill>
                <a:latin typeface="Calibri" pitchFamily="34" charset="0"/>
                <a:ea typeface="Calibri" pitchFamily="34" charset="-122"/>
                <a:cs typeface="Calibri" pitchFamily="34" charset="-120"/>
              </a:rPr>
              <a:t>Step 3 (5 min) — Record your best prompt in the workbook.</a:t>
            </a:r>
            <a:endParaRPr lang="en-US" sz="1200" dirty="0"/>
          </a:p>
        </p:txBody>
      </p:sp>
      <p:sp>
        <p:nvSpPr>
          <p:cNvPr id="11" name="Shape 9"/>
          <p:cNvSpPr/>
          <p:nvPr/>
        </p:nvSpPr>
        <p:spPr>
          <a:xfrm>
            <a:off x="7315200" y="1463040"/>
            <a:ext cx="4389120" cy="2286000"/>
          </a:xfrm>
          <a:prstGeom prst="roundRect">
            <a:avLst>
              <a:gd name="adj" fmla="val 3200"/>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7315200" y="1463040"/>
            <a:ext cx="4389120" cy="420624"/>
          </a:xfrm>
          <a:prstGeom prst="roundRect">
            <a:avLst>
              <a:gd name="adj" fmla="val 17391"/>
            </a:avLst>
          </a:prstGeom>
          <a:solidFill>
            <a:srgbClr val="273370"/>
          </a:solidFill>
          <a:ln/>
        </p:spPr>
      </p:sp>
      <p:sp>
        <p:nvSpPr>
          <p:cNvPr id="13" name="Shape 11"/>
          <p:cNvSpPr/>
          <p:nvPr/>
        </p:nvSpPr>
        <p:spPr>
          <a:xfrm>
            <a:off x="7315200" y="1673352"/>
            <a:ext cx="4389120" cy="210312"/>
          </a:xfrm>
          <a:prstGeom prst="rect">
            <a:avLst/>
          </a:prstGeom>
          <a:solidFill>
            <a:srgbClr val="273370"/>
          </a:solidFill>
          <a:ln/>
        </p:spPr>
      </p:sp>
      <p:sp>
        <p:nvSpPr>
          <p:cNvPr id="14" name="Text 12"/>
          <p:cNvSpPr txBox="1"/>
          <p:nvPr/>
        </p:nvSpPr>
        <p:spPr>
          <a:xfrm>
            <a:off x="7452360" y="1463040"/>
            <a:ext cx="411480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Expected output</a:t>
            </a:r>
            <a:endParaRPr lang="en-US" sz="1400" dirty="0"/>
          </a:p>
        </p:txBody>
      </p:sp>
      <p:sp>
        <p:nvSpPr>
          <p:cNvPr id="15" name="Text 13"/>
          <p:cNvSpPr txBox="1"/>
          <p:nvPr/>
        </p:nvSpPr>
        <p:spPr>
          <a:xfrm>
            <a:off x="7589520" y="2057400"/>
            <a:ext cx="3840480" cy="1554480"/>
          </a:xfrm>
          <a:prstGeom prst="rect">
            <a:avLst/>
          </a:prstGeom>
          <a:noFill/>
          <a:ln/>
        </p:spPr>
        <p:txBody>
          <a:bodyPr wrap="square" lIns="0" tIns="0" rIns="0" bIns="0" rtlCol="0" anchor="t"/>
          <a:lstStyle/>
          <a:p>
            <a:pPr marL="152400" indent="-152400">
              <a:lnSpc>
                <a:spcPct val="105000"/>
              </a:lnSpc>
              <a:spcAft>
                <a:spcPts val="700"/>
              </a:spcAft>
              <a:buSzPct val="100000"/>
              <a:buChar char="•"/>
            </a:pPr>
            <a:r>
              <a:rPr lang="en-US" sz="1200" dirty="0">
                <a:solidFill>
                  <a:srgbClr val="22252B"/>
                </a:solidFill>
                <a:latin typeface="Calibri" pitchFamily="34" charset="0"/>
                <a:ea typeface="Calibri" pitchFamily="34" charset="-122"/>
                <a:cs typeface="Calibri" pitchFamily="34" charset="-120"/>
              </a:rPr>
              <a:t>A defensible priority order</a:t>
            </a:r>
            <a:endParaRPr lang="en-US" sz="1200" dirty="0"/>
          </a:p>
          <a:p>
            <a:pPr marL="152400" indent="-152400">
              <a:lnSpc>
                <a:spcPct val="105000"/>
              </a:lnSpc>
              <a:spcAft>
                <a:spcPts val="700"/>
              </a:spcAft>
              <a:buSzPct val="100000"/>
              <a:buChar char="•"/>
            </a:pPr>
            <a:r>
              <a:rPr lang="en-US" sz="1200" dirty="0">
                <a:solidFill>
                  <a:srgbClr val="22252B"/>
                </a:solidFill>
                <a:latin typeface="Calibri" pitchFamily="34" charset="0"/>
                <a:ea typeface="Calibri" pitchFamily="34" charset="-122"/>
                <a:cs typeface="Calibri" pitchFamily="34" charset="-120"/>
              </a:rPr>
              <a:t>2 full replies + 1 short confirmation + 1 delegation note</a:t>
            </a:r>
            <a:endParaRPr lang="en-US" sz="1200" dirty="0"/>
          </a:p>
          <a:p>
            <a:pPr marL="152400" indent="-152400">
              <a:lnSpc>
                <a:spcPct val="105000"/>
              </a:lnSpc>
              <a:spcAft>
                <a:spcPts val="700"/>
              </a:spcAft>
              <a:buSzPct val="100000"/>
              <a:buChar char="•"/>
            </a:pPr>
            <a:r>
              <a:rPr lang="en-US" sz="1200" dirty="0">
                <a:solidFill>
                  <a:srgbClr val="22252B"/>
                </a:solidFill>
                <a:latin typeface="Calibri" pitchFamily="34" charset="0"/>
                <a:ea typeface="Calibri" pitchFamily="34" charset="-122"/>
                <a:cs typeface="Calibri" pitchFamily="34" charset="-120"/>
              </a:rPr>
              <a:t>Tone matched to each recipient</a:t>
            </a:r>
            <a:endParaRPr lang="en-US" sz="1200" dirty="0"/>
          </a:p>
        </p:txBody>
      </p:sp>
      <p:sp>
        <p:nvSpPr>
          <p:cNvPr id="16" name="Shape 14"/>
          <p:cNvSpPr/>
          <p:nvPr/>
        </p:nvSpPr>
        <p:spPr>
          <a:xfrm>
            <a:off x="7315200" y="3931920"/>
            <a:ext cx="4389120" cy="2103120"/>
          </a:xfrm>
          <a:prstGeom prst="roundRect">
            <a:avLst>
              <a:gd name="adj" fmla="val 3478"/>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7" name="Shape 15"/>
          <p:cNvSpPr/>
          <p:nvPr/>
        </p:nvSpPr>
        <p:spPr>
          <a:xfrm>
            <a:off x="7315200" y="3931920"/>
            <a:ext cx="4389120" cy="420624"/>
          </a:xfrm>
          <a:prstGeom prst="roundRect">
            <a:avLst>
              <a:gd name="adj" fmla="val 17391"/>
            </a:avLst>
          </a:prstGeom>
          <a:solidFill>
            <a:srgbClr val="6258A6"/>
          </a:solidFill>
          <a:ln/>
        </p:spPr>
      </p:sp>
      <p:sp>
        <p:nvSpPr>
          <p:cNvPr id="18" name="Shape 16"/>
          <p:cNvSpPr/>
          <p:nvPr/>
        </p:nvSpPr>
        <p:spPr>
          <a:xfrm>
            <a:off x="7315200" y="4142232"/>
            <a:ext cx="4389120" cy="210312"/>
          </a:xfrm>
          <a:prstGeom prst="rect">
            <a:avLst/>
          </a:prstGeom>
          <a:solidFill>
            <a:srgbClr val="6258A6"/>
          </a:solidFill>
          <a:ln/>
        </p:spPr>
      </p:sp>
      <p:sp>
        <p:nvSpPr>
          <p:cNvPr id="19" name="Text 17"/>
          <p:cNvSpPr txBox="1"/>
          <p:nvPr/>
        </p:nvSpPr>
        <p:spPr>
          <a:xfrm>
            <a:off x="7452360" y="3931920"/>
            <a:ext cx="411480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Quality bar</a:t>
            </a:r>
            <a:endParaRPr lang="en-US" sz="1400" dirty="0"/>
          </a:p>
        </p:txBody>
      </p:sp>
      <p:sp>
        <p:nvSpPr>
          <p:cNvPr id="20" name="Text 18"/>
          <p:cNvSpPr txBox="1"/>
          <p:nvPr/>
        </p:nvSpPr>
        <p:spPr>
          <a:xfrm>
            <a:off x="7589520" y="4526280"/>
            <a:ext cx="3840480" cy="1371600"/>
          </a:xfrm>
          <a:prstGeom prst="rect">
            <a:avLst/>
          </a:prstGeom>
          <a:noFill/>
          <a:ln/>
        </p:spPr>
        <p:txBody>
          <a:bodyPr wrap="square" lIns="0" tIns="0" rIns="0" bIns="0" rtlCol="0" anchor="t"/>
          <a:lstStyle/>
          <a:p>
            <a:pPr marL="152400" indent="-152400">
              <a:lnSpc>
                <a:spcPct val="105000"/>
              </a:lnSpc>
              <a:spcAft>
                <a:spcPts val="700"/>
              </a:spcAft>
              <a:buSzPct val="100000"/>
              <a:buChar char="•"/>
            </a:pPr>
            <a:r>
              <a:rPr lang="en-US" sz="1200" dirty="0">
                <a:solidFill>
                  <a:srgbClr val="22252B"/>
                </a:solidFill>
                <a:latin typeface="Calibri" pitchFamily="34" charset="0"/>
                <a:ea typeface="Calibri" pitchFamily="34" charset="-122"/>
                <a:cs typeface="Calibri" pitchFamily="34" charset="-120"/>
              </a:rPr>
              <a:t>Would YOU send these? If not, refine until you would.</a:t>
            </a:r>
            <a:endParaRPr lang="en-US" sz="1200" dirty="0"/>
          </a:p>
          <a:p>
            <a:pPr marL="152400" indent="-152400">
              <a:lnSpc>
                <a:spcPct val="105000"/>
              </a:lnSpc>
              <a:spcAft>
                <a:spcPts val="700"/>
              </a:spcAft>
              <a:buSzPct val="100000"/>
              <a:buChar char="•"/>
            </a:pPr>
            <a:r>
              <a:rPr lang="en-US" sz="1200" dirty="0">
                <a:solidFill>
                  <a:srgbClr val="22252B"/>
                </a:solidFill>
                <a:latin typeface="Calibri" pitchFamily="34" charset="0"/>
                <a:ea typeface="Calibri" pitchFamily="34" charset="-122"/>
                <a:cs typeface="Calibri" pitchFamily="34" charset="-120"/>
              </a:rPr>
              <a:t>Supplier reply: no fault admission, concrete commitment.</a:t>
            </a:r>
            <a:endParaRPr lang="en-US" sz="1200" dirty="0"/>
          </a:p>
        </p:txBody>
      </p:sp>
      <p:sp>
        <p:nvSpPr>
          <p:cNvPr id="21" name="Text 19"/>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22" name="Text 20"/>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Debrief — Activity 2.1</a:t>
            </a:r>
            <a:endParaRPr lang="en-US" sz="3000" dirty="0"/>
          </a:p>
        </p:txBody>
      </p:sp>
      <p:sp>
        <p:nvSpPr>
          <p:cNvPr id="3" name="Shape 1"/>
          <p:cNvSpPr/>
          <p:nvPr/>
        </p:nvSpPr>
        <p:spPr>
          <a:xfrm>
            <a:off x="10565892" y="457200"/>
            <a:ext cx="1120140" cy="384048"/>
          </a:xfrm>
          <a:prstGeom prst="roundRect">
            <a:avLst>
              <a:gd name="adj" fmla="val 50000"/>
            </a:avLst>
          </a:prstGeom>
          <a:solidFill>
            <a:srgbClr val="67CCFF"/>
          </a:solidFill>
          <a:ln/>
        </p:spPr>
      </p:sp>
      <p:sp>
        <p:nvSpPr>
          <p:cNvPr id="4" name="Text 2"/>
          <p:cNvSpPr txBox="1"/>
          <p:nvPr/>
        </p:nvSpPr>
        <p:spPr>
          <a:xfrm>
            <a:off x="10565892" y="457200"/>
            <a:ext cx="11201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DEBRIEF</a:t>
            </a:r>
            <a:endParaRPr lang="en-US" sz="1200" dirty="0"/>
          </a:p>
        </p:txBody>
      </p:sp>
      <p:sp>
        <p:nvSpPr>
          <p:cNvPr id="5" name="Shape 3"/>
          <p:cNvSpPr/>
          <p:nvPr/>
        </p:nvSpPr>
        <p:spPr>
          <a:xfrm>
            <a:off x="640080" y="1645920"/>
            <a:ext cx="548640" cy="548640"/>
          </a:xfrm>
          <a:prstGeom prst="roundRect">
            <a:avLst>
              <a:gd name="adj" fmla="val 15000"/>
            </a:avLst>
          </a:prstGeom>
          <a:solidFill>
            <a:srgbClr val="67CCFF"/>
          </a:solidFill>
          <a:ln/>
        </p:spPr>
      </p:sp>
      <p:pic>
        <p:nvPicPr>
          <p:cNvPr id="6" name="Image 0" descr="preencoded.png">    </p:cNvPr>
          <p:cNvPicPr>
            <a:picLocks noChangeAspect="1"/>
          </p:cNvPicPr>
          <p:nvPr/>
        </p:nvPicPr>
        <p:blipFill>
          <a:blip r:embed="rId1"/>
          <a:stretch>
            <a:fillRect/>
          </a:stretch>
        </p:blipFill>
        <p:spPr>
          <a:xfrm>
            <a:off x="760781" y="1766621"/>
            <a:ext cx="307238" cy="307238"/>
          </a:xfrm>
          <a:prstGeom prst="rect">
            <a:avLst/>
          </a:prstGeom>
        </p:spPr>
      </p:pic>
      <p:sp>
        <p:nvSpPr>
          <p:cNvPr id="7" name="Text 4"/>
          <p:cNvSpPr txBox="1"/>
          <p:nvPr/>
        </p:nvSpPr>
        <p:spPr>
          <a:xfrm>
            <a:off x="1417320" y="1645920"/>
            <a:ext cx="10149840" cy="548640"/>
          </a:xfrm>
          <a:prstGeom prst="rect">
            <a:avLst/>
          </a:prstGeom>
          <a:noFill/>
          <a:ln/>
        </p:spPr>
        <p:txBody>
          <a:bodyPr wrap="square" lIns="0" tIns="0" rIns="0" bIns="0" rtlCol="0" anchor="ctr"/>
          <a:lstStyle/>
          <a:p>
            <a:pPr indent="0" marL="0">
              <a:buNone/>
            </a:pPr>
            <a:r>
              <a:rPr lang="en-US" sz="1500" dirty="0">
                <a:solidFill>
                  <a:srgbClr val="22252B"/>
                </a:solidFill>
                <a:latin typeface="Calibri" pitchFamily="34" charset="0"/>
                <a:ea typeface="Calibri" pitchFamily="34" charset="-122"/>
                <a:cs typeface="Calibri" pitchFamily="34" charset="-120"/>
              </a:rPr>
              <a:t>Did the AI's priority ranking match yours? Where did human judgement override it — and why?</a:t>
            </a:r>
            <a:endParaRPr lang="en-US" sz="1500" dirty="0"/>
          </a:p>
        </p:txBody>
      </p:sp>
      <p:sp>
        <p:nvSpPr>
          <p:cNvPr id="8" name="Shape 5"/>
          <p:cNvSpPr/>
          <p:nvPr/>
        </p:nvSpPr>
        <p:spPr>
          <a:xfrm>
            <a:off x="640080" y="2761488"/>
            <a:ext cx="548640" cy="548640"/>
          </a:xfrm>
          <a:prstGeom prst="roundRect">
            <a:avLst>
              <a:gd name="adj" fmla="val 15000"/>
            </a:avLst>
          </a:prstGeom>
          <a:solidFill>
            <a:srgbClr val="67CCFF"/>
          </a:solidFill>
          <a:ln/>
        </p:spPr>
      </p:sp>
      <p:pic>
        <p:nvPicPr>
          <p:cNvPr id="9" name="Image 1" descr="preencoded.png">    </p:cNvPr>
          <p:cNvPicPr>
            <a:picLocks noChangeAspect="1"/>
          </p:cNvPicPr>
          <p:nvPr/>
        </p:nvPicPr>
        <p:blipFill>
          <a:blip r:embed="rId2"/>
          <a:stretch>
            <a:fillRect/>
          </a:stretch>
        </p:blipFill>
        <p:spPr>
          <a:xfrm>
            <a:off x="760781" y="2882189"/>
            <a:ext cx="307238" cy="307238"/>
          </a:xfrm>
          <a:prstGeom prst="rect">
            <a:avLst/>
          </a:prstGeom>
        </p:spPr>
      </p:pic>
      <p:sp>
        <p:nvSpPr>
          <p:cNvPr id="10" name="Text 6"/>
          <p:cNvSpPr txBox="1"/>
          <p:nvPr/>
        </p:nvSpPr>
        <p:spPr>
          <a:xfrm>
            <a:off x="1417320" y="2761488"/>
            <a:ext cx="10149840" cy="548640"/>
          </a:xfrm>
          <a:prstGeom prst="rect">
            <a:avLst/>
          </a:prstGeom>
          <a:noFill/>
          <a:ln/>
        </p:spPr>
        <p:txBody>
          <a:bodyPr wrap="square" lIns="0" tIns="0" rIns="0" bIns="0" rtlCol="0" anchor="ctr"/>
          <a:lstStyle/>
          <a:p>
            <a:pPr indent="0" marL="0">
              <a:buNone/>
            </a:pPr>
            <a:r>
              <a:rPr lang="en-US" sz="1500" dirty="0">
                <a:solidFill>
                  <a:srgbClr val="22252B"/>
                </a:solidFill>
                <a:latin typeface="Calibri" pitchFamily="34" charset="0"/>
                <a:ea typeface="Calibri" pitchFamily="34" charset="-122"/>
                <a:cs typeface="Calibri" pitchFamily="34" charset="-120"/>
              </a:rPr>
              <a:t>Read out one sentence from your supplier reply you are proud of. What prompt produced it?</a:t>
            </a:r>
            <a:endParaRPr lang="en-US" sz="1500" dirty="0"/>
          </a:p>
        </p:txBody>
      </p:sp>
      <p:sp>
        <p:nvSpPr>
          <p:cNvPr id="11" name="Shape 7"/>
          <p:cNvSpPr/>
          <p:nvPr/>
        </p:nvSpPr>
        <p:spPr>
          <a:xfrm>
            <a:off x="640080" y="3877056"/>
            <a:ext cx="548640" cy="548640"/>
          </a:xfrm>
          <a:prstGeom prst="roundRect">
            <a:avLst>
              <a:gd name="adj" fmla="val 15000"/>
            </a:avLst>
          </a:prstGeom>
          <a:solidFill>
            <a:srgbClr val="67CCFF"/>
          </a:solidFill>
          <a:ln/>
        </p:spPr>
      </p:sp>
      <p:pic>
        <p:nvPicPr>
          <p:cNvPr id="12" name="Image 2" descr="preencoded.png">    </p:cNvPr>
          <p:cNvPicPr>
            <a:picLocks noChangeAspect="1"/>
          </p:cNvPicPr>
          <p:nvPr/>
        </p:nvPicPr>
        <p:blipFill>
          <a:blip r:embed="rId3"/>
          <a:stretch>
            <a:fillRect/>
          </a:stretch>
        </p:blipFill>
        <p:spPr>
          <a:xfrm>
            <a:off x="760781" y="3997757"/>
            <a:ext cx="307238" cy="307238"/>
          </a:xfrm>
          <a:prstGeom prst="rect">
            <a:avLst/>
          </a:prstGeom>
        </p:spPr>
      </p:pic>
      <p:sp>
        <p:nvSpPr>
          <p:cNvPr id="13" name="Text 8"/>
          <p:cNvSpPr txBox="1"/>
          <p:nvPr/>
        </p:nvSpPr>
        <p:spPr>
          <a:xfrm>
            <a:off x="1417320" y="3877056"/>
            <a:ext cx="10149840" cy="548640"/>
          </a:xfrm>
          <a:prstGeom prst="rect">
            <a:avLst/>
          </a:prstGeom>
          <a:noFill/>
          <a:ln/>
        </p:spPr>
        <p:txBody>
          <a:bodyPr wrap="square" lIns="0" tIns="0" rIns="0" bIns="0" rtlCol="0" anchor="ctr"/>
          <a:lstStyle/>
          <a:p>
            <a:pPr indent="0" marL="0">
              <a:buNone/>
            </a:pPr>
            <a:r>
              <a:rPr lang="en-US" sz="1500" dirty="0">
                <a:solidFill>
                  <a:srgbClr val="22252B"/>
                </a:solidFill>
                <a:latin typeface="Calibri" pitchFamily="34" charset="0"/>
                <a:ea typeface="Calibri" pitchFamily="34" charset="-122"/>
                <a:cs typeface="Calibri" pitchFamily="34" charset="-120"/>
              </a:rPr>
              <a:t>The parking complaint mixes emotion with a request. How did you handle the emotional part?</a:t>
            </a:r>
            <a:endParaRPr lang="en-US" sz="1500" dirty="0"/>
          </a:p>
        </p:txBody>
      </p:sp>
      <p:sp>
        <p:nvSpPr>
          <p:cNvPr id="14" name="Shape 9"/>
          <p:cNvSpPr/>
          <p:nvPr/>
        </p:nvSpPr>
        <p:spPr>
          <a:xfrm>
            <a:off x="640080" y="4992624"/>
            <a:ext cx="548640" cy="548640"/>
          </a:xfrm>
          <a:prstGeom prst="roundRect">
            <a:avLst>
              <a:gd name="adj" fmla="val 15000"/>
            </a:avLst>
          </a:prstGeom>
          <a:solidFill>
            <a:srgbClr val="67CCFF"/>
          </a:solidFill>
          <a:ln/>
        </p:spPr>
      </p:sp>
      <p:pic>
        <p:nvPicPr>
          <p:cNvPr id="15" name="Image 3" descr="preencoded.png">    </p:cNvPr>
          <p:cNvPicPr>
            <a:picLocks noChangeAspect="1"/>
          </p:cNvPicPr>
          <p:nvPr/>
        </p:nvPicPr>
        <p:blipFill>
          <a:blip r:embed="rId4"/>
          <a:stretch>
            <a:fillRect/>
          </a:stretch>
        </p:blipFill>
        <p:spPr>
          <a:xfrm>
            <a:off x="760781" y="5113325"/>
            <a:ext cx="307238" cy="307238"/>
          </a:xfrm>
          <a:prstGeom prst="rect">
            <a:avLst/>
          </a:prstGeom>
        </p:spPr>
      </p:pic>
      <p:sp>
        <p:nvSpPr>
          <p:cNvPr id="16" name="Text 10"/>
          <p:cNvSpPr txBox="1"/>
          <p:nvPr/>
        </p:nvSpPr>
        <p:spPr>
          <a:xfrm>
            <a:off x="1417320" y="4992624"/>
            <a:ext cx="10149840" cy="548640"/>
          </a:xfrm>
          <a:prstGeom prst="rect">
            <a:avLst/>
          </a:prstGeom>
          <a:noFill/>
          <a:ln/>
        </p:spPr>
        <p:txBody>
          <a:bodyPr wrap="square" lIns="0" tIns="0" rIns="0" bIns="0" rtlCol="0" anchor="ctr"/>
          <a:lstStyle/>
          <a:p>
            <a:pPr indent="0" marL="0">
              <a:buNone/>
            </a:pPr>
            <a:r>
              <a:rPr lang="en-US" sz="1500" dirty="0">
                <a:solidFill>
                  <a:srgbClr val="22252B"/>
                </a:solidFill>
                <a:latin typeface="Calibri" pitchFamily="34" charset="0"/>
                <a:ea typeface="Calibri" pitchFamily="34" charset="-122"/>
                <a:cs typeface="Calibri" pitchFamily="34" charset="-120"/>
              </a:rPr>
              <a:t>Honestly: how long would these four responses have taken you without AI?</a:t>
            </a:r>
            <a:endParaRPr lang="en-US" sz="1500" dirty="0"/>
          </a:p>
        </p:txBody>
      </p:sp>
      <p:sp>
        <p:nvSpPr>
          <p:cNvPr id="17" name="Text 11"/>
          <p:cNvSpPr txBox="1"/>
          <p:nvPr/>
        </p:nvSpPr>
        <p:spPr>
          <a:xfrm>
            <a:off x="640080" y="6080760"/>
            <a:ext cx="10972800" cy="365760"/>
          </a:xfrm>
          <a:prstGeom prst="rect">
            <a:avLst/>
          </a:prstGeom>
          <a:noFill/>
          <a:ln/>
        </p:spPr>
        <p:txBody>
          <a:bodyPr wrap="square" lIns="0" tIns="0" rIns="0" bIns="0" rtlCol="0" anchor="ctr"/>
          <a:lstStyle/>
          <a:p>
            <a:pPr indent="0" marL="0">
              <a:buNone/>
            </a:pPr>
            <a:r>
              <a:rPr lang="en-US" sz="1300" b="1" i="1" dirty="0">
                <a:solidFill>
                  <a:srgbClr val="273370"/>
                </a:solidFill>
                <a:latin typeface="Calibri" pitchFamily="34" charset="0"/>
                <a:ea typeface="Calibri" pitchFamily="34" charset="-122"/>
                <a:cs typeface="Calibri" pitchFamily="34" charset="-120"/>
              </a:rPr>
              <a:t>Trainer synthesis: AI accelerates the writing; your judgement still decides priorities, tone and commitments.</a:t>
            </a:r>
            <a:endParaRPr lang="en-US" sz="1300" dirty="0"/>
          </a:p>
        </p:txBody>
      </p:sp>
      <p:sp>
        <p:nvSpPr>
          <p:cNvPr id="18" name="Text 12"/>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19" name="Text 13"/>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Reports &amp; longer documents</a:t>
            </a:r>
            <a:endParaRPr lang="en-US" sz="3000" dirty="0"/>
          </a:p>
        </p:txBody>
      </p:sp>
      <p:sp>
        <p:nvSpPr>
          <p:cNvPr id="3" name="Text 1"/>
          <p:cNvSpPr txBox="1"/>
          <p:nvPr/>
        </p:nvSpPr>
        <p:spPr>
          <a:xfrm>
            <a:off x="502920" y="987552"/>
            <a:ext cx="11155680" cy="365760"/>
          </a:xfrm>
          <a:prstGeom prst="rect">
            <a:avLst/>
          </a:prstGeom>
          <a:noFill/>
          <a:ln/>
        </p:spPr>
        <p:txBody>
          <a:bodyPr wrap="square" lIns="0" tIns="0" rIns="0" bIns="0" rtlCol="0" anchor="ctr"/>
          <a:lstStyle/>
          <a:p>
            <a:pPr indent="0" marL="0">
              <a:buNone/>
            </a:pPr>
            <a:r>
              <a:rPr lang="en-US" sz="1400" dirty="0">
                <a:solidFill>
                  <a:srgbClr val="696969"/>
                </a:solidFill>
                <a:latin typeface="Calibri" pitchFamily="34" charset="0"/>
                <a:ea typeface="Calibri" pitchFamily="34" charset="-122"/>
                <a:cs typeface="Calibri" pitchFamily="34" charset="-120"/>
              </a:rPr>
              <a:t>Structure first, sections second — never “write the whole report”</a:t>
            </a:r>
            <a:endParaRPr lang="en-US" sz="1400" dirty="0"/>
          </a:p>
        </p:txBody>
      </p:sp>
      <p:sp>
        <p:nvSpPr>
          <p:cNvPr id="4" name="Shape 2"/>
          <p:cNvSpPr/>
          <p:nvPr/>
        </p:nvSpPr>
        <p:spPr>
          <a:xfrm>
            <a:off x="10565892" y="457200"/>
            <a:ext cx="1120140" cy="384048"/>
          </a:xfrm>
          <a:prstGeom prst="roundRect">
            <a:avLst>
              <a:gd name="adj" fmla="val 50000"/>
            </a:avLst>
          </a:prstGeom>
          <a:solidFill>
            <a:srgbClr val="94A0DA"/>
          </a:solidFill>
          <a:ln/>
        </p:spPr>
      </p:sp>
      <p:sp>
        <p:nvSpPr>
          <p:cNvPr id="5" name="Text 3"/>
          <p:cNvSpPr txBox="1"/>
          <p:nvPr/>
        </p:nvSpPr>
        <p:spPr>
          <a:xfrm>
            <a:off x="10565892" y="457200"/>
            <a:ext cx="11201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Shape 4"/>
          <p:cNvSpPr/>
          <p:nvPr/>
        </p:nvSpPr>
        <p:spPr>
          <a:xfrm>
            <a:off x="502920" y="1645920"/>
            <a:ext cx="5440680" cy="2011680"/>
          </a:xfrm>
          <a:prstGeom prst="roundRect">
            <a:avLst>
              <a:gd name="adj" fmla="val 3636"/>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731520" y="1810512"/>
            <a:ext cx="4983480" cy="384048"/>
          </a:xfrm>
          <a:prstGeom prst="rect">
            <a:avLst/>
          </a:prstGeom>
          <a:noFill/>
          <a:ln/>
        </p:spPr>
        <p:txBody>
          <a:bodyPr wrap="square" lIns="0" tIns="0" rIns="0" bIns="0" rtlCol="0" anchor="ctr"/>
          <a:lstStyle/>
          <a:p>
            <a:pPr indent="0" marL="0">
              <a:buNone/>
            </a:pPr>
            <a:r>
              <a:rPr lang="en-US" sz="1500" b="1" dirty="0">
                <a:solidFill>
                  <a:srgbClr val="273370"/>
                </a:solidFill>
                <a:latin typeface="Calibri" pitchFamily="34" charset="0"/>
                <a:ea typeface="Calibri" pitchFamily="34" charset="-122"/>
                <a:cs typeface="Calibri" pitchFamily="34" charset="-120"/>
              </a:rPr>
              <a:t>1. Outline first</a:t>
            </a:r>
            <a:endParaRPr lang="en-US" sz="1500" dirty="0"/>
          </a:p>
        </p:txBody>
      </p:sp>
      <p:sp>
        <p:nvSpPr>
          <p:cNvPr id="8" name="Text 6"/>
          <p:cNvSpPr txBox="1"/>
          <p:nvPr/>
        </p:nvSpPr>
        <p:spPr>
          <a:xfrm>
            <a:off x="731520" y="2249424"/>
            <a:ext cx="4983480" cy="1325880"/>
          </a:xfrm>
          <a:prstGeom prst="rect">
            <a:avLst/>
          </a:prstGeom>
          <a:noFill/>
          <a:ln/>
        </p:spPr>
        <p:txBody>
          <a:bodyPr wrap="square" lIns="0" tIns="0" rIns="0" bIns="0" rtlCol="0" anchor="ctr"/>
          <a:lstStyle/>
          <a:p>
            <a:pPr indent="0" marL="0">
              <a:lnSpc>
                <a:spcPct val="110000"/>
              </a:lnSpc>
              <a:buNone/>
            </a:pPr>
            <a:r>
              <a:rPr lang="en-US" sz="1150" dirty="0">
                <a:solidFill>
                  <a:srgbClr val="22252B"/>
                </a:solidFill>
                <a:latin typeface="Calibri" pitchFamily="34" charset="0"/>
                <a:ea typeface="Calibri" pitchFamily="34" charset="-122"/>
                <a:cs typeface="Calibri" pitchFamily="34" charset="-120"/>
              </a:rPr>
              <a:t>“Propose an outline for a half-year training report for senior management: max 5 sections, one line on what each covers.” Approve or edit the skeleton before any prose exists.</a:t>
            </a:r>
            <a:endParaRPr lang="en-US" sz="1150" dirty="0"/>
          </a:p>
        </p:txBody>
      </p:sp>
      <p:sp>
        <p:nvSpPr>
          <p:cNvPr id="9" name="Shape 7"/>
          <p:cNvSpPr/>
          <p:nvPr/>
        </p:nvSpPr>
        <p:spPr>
          <a:xfrm>
            <a:off x="6217920" y="1645920"/>
            <a:ext cx="5440680" cy="2011680"/>
          </a:xfrm>
          <a:prstGeom prst="roundRect">
            <a:avLst>
              <a:gd name="adj" fmla="val 3636"/>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6446520" y="1810512"/>
            <a:ext cx="4983480" cy="384048"/>
          </a:xfrm>
          <a:prstGeom prst="rect">
            <a:avLst/>
          </a:prstGeom>
          <a:noFill/>
          <a:ln/>
        </p:spPr>
        <p:txBody>
          <a:bodyPr wrap="square" lIns="0" tIns="0" rIns="0" bIns="0" rtlCol="0" anchor="ctr"/>
          <a:lstStyle/>
          <a:p>
            <a:pPr indent="0" marL="0">
              <a:buNone/>
            </a:pPr>
            <a:r>
              <a:rPr lang="en-US" sz="1500" b="1" dirty="0">
                <a:solidFill>
                  <a:srgbClr val="273370"/>
                </a:solidFill>
                <a:latin typeface="Calibri" pitchFamily="34" charset="0"/>
                <a:ea typeface="Calibri" pitchFamily="34" charset="-122"/>
                <a:cs typeface="Calibri" pitchFamily="34" charset="-120"/>
              </a:rPr>
              <a:t>2. Feed real data</a:t>
            </a:r>
            <a:endParaRPr lang="en-US" sz="1500" dirty="0"/>
          </a:p>
        </p:txBody>
      </p:sp>
      <p:sp>
        <p:nvSpPr>
          <p:cNvPr id="11" name="Text 9"/>
          <p:cNvSpPr txBox="1"/>
          <p:nvPr/>
        </p:nvSpPr>
        <p:spPr>
          <a:xfrm>
            <a:off x="6446520" y="2249424"/>
            <a:ext cx="4983480" cy="1325880"/>
          </a:xfrm>
          <a:prstGeom prst="rect">
            <a:avLst/>
          </a:prstGeom>
          <a:noFill/>
          <a:ln/>
        </p:spPr>
        <p:txBody>
          <a:bodyPr wrap="square" lIns="0" tIns="0" rIns="0" bIns="0" rtlCol="0" anchor="ctr"/>
          <a:lstStyle/>
          <a:p>
            <a:pPr indent="0" marL="0">
              <a:lnSpc>
                <a:spcPct val="110000"/>
              </a:lnSpc>
              <a:buNone/>
            </a:pPr>
            <a:r>
              <a:rPr lang="en-US" sz="1150" dirty="0">
                <a:solidFill>
                  <a:srgbClr val="22252B"/>
                </a:solidFill>
                <a:latin typeface="Calibri" pitchFamily="34" charset="0"/>
                <a:ea typeface="Calibri" pitchFamily="34" charset="-122"/>
                <a:cs typeface="Calibri" pitchFamily="34" charset="-120"/>
              </a:rPr>
              <a:t>Paste the actual figures (or use Copilot on the live file). Add the constraint that prevents disasters: “Use ONLY the data provided. Do not invent or estimate numbers.”</a:t>
            </a:r>
            <a:endParaRPr lang="en-US" sz="1150" dirty="0"/>
          </a:p>
        </p:txBody>
      </p:sp>
      <p:sp>
        <p:nvSpPr>
          <p:cNvPr id="12" name="Shape 10"/>
          <p:cNvSpPr/>
          <p:nvPr/>
        </p:nvSpPr>
        <p:spPr>
          <a:xfrm>
            <a:off x="502920" y="3886200"/>
            <a:ext cx="5440680" cy="2011680"/>
          </a:xfrm>
          <a:prstGeom prst="roundRect">
            <a:avLst>
              <a:gd name="adj" fmla="val 3636"/>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731520" y="4050792"/>
            <a:ext cx="4983480" cy="384048"/>
          </a:xfrm>
          <a:prstGeom prst="rect">
            <a:avLst/>
          </a:prstGeom>
          <a:noFill/>
          <a:ln/>
        </p:spPr>
        <p:txBody>
          <a:bodyPr wrap="square" lIns="0" tIns="0" rIns="0" bIns="0" rtlCol="0" anchor="ctr"/>
          <a:lstStyle/>
          <a:p>
            <a:pPr indent="0" marL="0">
              <a:buNone/>
            </a:pPr>
            <a:r>
              <a:rPr lang="en-US" sz="1500" b="1" dirty="0">
                <a:solidFill>
                  <a:srgbClr val="273370"/>
                </a:solidFill>
                <a:latin typeface="Calibri" pitchFamily="34" charset="0"/>
                <a:ea typeface="Calibri" pitchFamily="34" charset="-122"/>
                <a:cs typeface="Calibri" pitchFamily="34" charset="-120"/>
              </a:rPr>
              <a:t>3. Draft section by section</a:t>
            </a:r>
            <a:endParaRPr lang="en-US" sz="1500" dirty="0"/>
          </a:p>
        </p:txBody>
      </p:sp>
      <p:sp>
        <p:nvSpPr>
          <p:cNvPr id="14" name="Text 12"/>
          <p:cNvSpPr txBox="1"/>
          <p:nvPr/>
        </p:nvSpPr>
        <p:spPr>
          <a:xfrm>
            <a:off x="731520" y="4489704"/>
            <a:ext cx="4983480" cy="1325880"/>
          </a:xfrm>
          <a:prstGeom prst="rect">
            <a:avLst/>
          </a:prstGeom>
          <a:noFill/>
          <a:ln/>
        </p:spPr>
        <p:txBody>
          <a:bodyPr wrap="square" lIns="0" tIns="0" rIns="0" bIns="0" rtlCol="0" anchor="ctr"/>
          <a:lstStyle/>
          <a:p>
            <a:pPr indent="0" marL="0">
              <a:lnSpc>
                <a:spcPct val="110000"/>
              </a:lnSpc>
              <a:buNone/>
            </a:pPr>
            <a:r>
              <a:rPr lang="en-US" sz="1150" dirty="0">
                <a:solidFill>
                  <a:srgbClr val="22252B"/>
                </a:solidFill>
                <a:latin typeface="Calibri" pitchFamily="34" charset="0"/>
                <a:ea typeface="Calibri" pitchFamily="34" charset="-122"/>
                <a:cs typeface="Calibri" pitchFamily="34" charset="-120"/>
              </a:rPr>
              <a:t>“Write section 2 (Performance against targets), 150 words, neutral analytical tone, ending with one implication for Q3.” Sections stay coherent; you stay in control.</a:t>
            </a:r>
            <a:endParaRPr lang="en-US" sz="1150" dirty="0"/>
          </a:p>
        </p:txBody>
      </p:sp>
      <p:sp>
        <p:nvSpPr>
          <p:cNvPr id="15" name="Shape 13"/>
          <p:cNvSpPr/>
          <p:nvPr/>
        </p:nvSpPr>
        <p:spPr>
          <a:xfrm>
            <a:off x="6217920" y="3886200"/>
            <a:ext cx="5440680" cy="2011680"/>
          </a:xfrm>
          <a:prstGeom prst="roundRect">
            <a:avLst>
              <a:gd name="adj" fmla="val 3636"/>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6" name="Text 14"/>
          <p:cNvSpPr txBox="1"/>
          <p:nvPr/>
        </p:nvSpPr>
        <p:spPr>
          <a:xfrm>
            <a:off x="6446520" y="4050792"/>
            <a:ext cx="4983480" cy="384048"/>
          </a:xfrm>
          <a:prstGeom prst="rect">
            <a:avLst/>
          </a:prstGeom>
          <a:noFill/>
          <a:ln/>
        </p:spPr>
        <p:txBody>
          <a:bodyPr wrap="square" lIns="0" tIns="0" rIns="0" bIns="0" rtlCol="0" anchor="ctr"/>
          <a:lstStyle/>
          <a:p>
            <a:pPr indent="0" marL="0">
              <a:buNone/>
            </a:pPr>
            <a:r>
              <a:rPr lang="en-US" sz="1500" b="1" dirty="0">
                <a:solidFill>
                  <a:srgbClr val="273370"/>
                </a:solidFill>
                <a:latin typeface="Calibri" pitchFamily="34" charset="0"/>
                <a:ea typeface="Calibri" pitchFamily="34" charset="-122"/>
                <a:cs typeface="Calibri" pitchFamily="34" charset="-120"/>
              </a:rPr>
              <a:t>4. Polish the whole</a:t>
            </a:r>
            <a:endParaRPr lang="en-US" sz="1500" dirty="0"/>
          </a:p>
        </p:txBody>
      </p:sp>
      <p:sp>
        <p:nvSpPr>
          <p:cNvPr id="17" name="Text 15"/>
          <p:cNvSpPr txBox="1"/>
          <p:nvPr/>
        </p:nvSpPr>
        <p:spPr>
          <a:xfrm>
            <a:off x="6446520" y="4489704"/>
            <a:ext cx="4983480" cy="1325880"/>
          </a:xfrm>
          <a:prstGeom prst="rect">
            <a:avLst/>
          </a:prstGeom>
          <a:noFill/>
          <a:ln/>
        </p:spPr>
        <p:txBody>
          <a:bodyPr wrap="square" lIns="0" tIns="0" rIns="0" bIns="0" rtlCol="0" anchor="ctr"/>
          <a:lstStyle/>
          <a:p>
            <a:pPr indent="0" marL="0">
              <a:lnSpc>
                <a:spcPct val="110000"/>
              </a:lnSpc>
              <a:buNone/>
            </a:pPr>
            <a:r>
              <a:rPr lang="en-US" sz="1150" dirty="0">
                <a:solidFill>
                  <a:srgbClr val="22252B"/>
                </a:solidFill>
                <a:latin typeface="Calibri" pitchFamily="34" charset="0"/>
                <a:ea typeface="Calibri" pitchFamily="34" charset="-122"/>
                <a:cs typeface="Calibri" pitchFamily="34" charset="-120"/>
              </a:rPr>
              <a:t>“Review the full draft for consistency of numbers, tone and terminology. List issues before fixing them.” Then run your own human verification pass.</a:t>
            </a:r>
            <a:endParaRPr lang="en-US" sz="1150" dirty="0"/>
          </a:p>
        </p:txBody>
      </p:sp>
      <p:sp>
        <p:nvSpPr>
          <p:cNvPr id="18" name="Text 16"/>
          <p:cNvSpPr txBox="1"/>
          <p:nvPr/>
        </p:nvSpPr>
        <p:spPr>
          <a:xfrm>
            <a:off x="502920" y="5989320"/>
            <a:ext cx="10972800" cy="365760"/>
          </a:xfrm>
          <a:prstGeom prst="rect">
            <a:avLst/>
          </a:prstGeom>
          <a:noFill/>
          <a:ln/>
        </p:spPr>
        <p:txBody>
          <a:bodyPr wrap="square" lIns="0" tIns="0" rIns="0" bIns="0" rtlCol="0" anchor="ctr"/>
          <a:lstStyle/>
          <a:p>
            <a:pPr indent="0" marL="0">
              <a:buNone/>
            </a:pPr>
            <a:r>
              <a:rPr lang="en-US" sz="1300" b="1" i="1" dirty="0">
                <a:solidFill>
                  <a:srgbClr val="273370"/>
                </a:solidFill>
                <a:latin typeface="Calibri" pitchFamily="34" charset="0"/>
                <a:ea typeface="Calibri" pitchFamily="34" charset="-122"/>
                <a:cs typeface="Calibri" pitchFamily="34" charset="-120"/>
              </a:rPr>
              <a:t>“Do not invent numbers” is the single most valuable constraint in report writing — make it a habit.</a:t>
            </a:r>
            <a:endParaRPr lang="en-US" sz="1300" dirty="0"/>
          </a:p>
        </p:txBody>
      </p:sp>
      <p:sp>
        <p:nvSpPr>
          <p:cNvPr id="19" name="Text 17"/>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20" name="Text 18"/>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Activity 2.2 — Quarterly summary from real data</a:t>
            </a:r>
            <a:endParaRPr lang="en-US" sz="3000" dirty="0"/>
          </a:p>
        </p:txBody>
      </p:sp>
      <p:sp>
        <p:nvSpPr>
          <p:cNvPr id="3" name="Text 1"/>
          <p:cNvSpPr txBox="1"/>
          <p:nvPr/>
        </p:nvSpPr>
        <p:spPr>
          <a:xfrm>
            <a:off x="502920" y="987552"/>
            <a:ext cx="11155680" cy="365760"/>
          </a:xfrm>
          <a:prstGeom prst="rect">
            <a:avLst/>
          </a:prstGeom>
          <a:noFill/>
          <a:ln/>
        </p:spPr>
        <p:txBody>
          <a:bodyPr wrap="square" lIns="0" tIns="0" rIns="0" bIns="0" rtlCol="0" anchor="ctr"/>
          <a:lstStyle/>
          <a:p>
            <a:pPr indent="0" marL="0">
              <a:buNone/>
            </a:pPr>
            <a:r>
              <a:rPr lang="en-US" sz="1400" dirty="0">
                <a:solidFill>
                  <a:srgbClr val="696969"/>
                </a:solidFill>
                <a:latin typeface="Calibri" pitchFamily="34" charset="0"/>
                <a:ea typeface="Calibri" pitchFamily="34" charset="-122"/>
                <a:cs typeface="Calibri" pitchFamily="34" charset="-120"/>
              </a:rPr>
              <a:t>Individual or pairs • 45 minutes • Files: training_registrations.csv / workplace_datasets.xlsx • Workbook p. 5</a:t>
            </a:r>
            <a:endParaRPr lang="en-US" sz="1400" dirty="0"/>
          </a:p>
        </p:txBody>
      </p:sp>
      <p:sp>
        <p:nvSpPr>
          <p:cNvPr id="4" name="Shape 2"/>
          <p:cNvSpPr/>
          <p:nvPr/>
        </p:nvSpPr>
        <p:spPr>
          <a:xfrm>
            <a:off x="10460736" y="457200"/>
            <a:ext cx="1225296" cy="384048"/>
          </a:xfrm>
          <a:prstGeom prst="roundRect">
            <a:avLst>
              <a:gd name="adj" fmla="val 50000"/>
            </a:avLst>
          </a:prstGeom>
          <a:solidFill>
            <a:srgbClr val="29BA74"/>
          </a:solidFill>
          <a:ln/>
        </p:spPr>
      </p:sp>
      <p:sp>
        <p:nvSpPr>
          <p:cNvPr id="5" name="Text 3"/>
          <p:cNvSpPr txBox="1"/>
          <p:nvPr/>
        </p:nvSpPr>
        <p:spPr>
          <a:xfrm>
            <a:off x="10460736" y="457200"/>
            <a:ext cx="1225296"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ACTIVITY</a:t>
            </a:r>
            <a:endParaRPr lang="en-US" sz="1200" dirty="0"/>
          </a:p>
        </p:txBody>
      </p:sp>
      <p:sp>
        <p:nvSpPr>
          <p:cNvPr id="6" name="Shape 4"/>
          <p:cNvSpPr/>
          <p:nvPr/>
        </p:nvSpPr>
        <p:spPr>
          <a:xfrm>
            <a:off x="502920" y="1508760"/>
            <a:ext cx="6583680" cy="4526280"/>
          </a:xfrm>
          <a:prstGeom prst="roundRect">
            <a:avLst>
              <a:gd name="adj" fmla="val 1616"/>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502920" y="1508760"/>
            <a:ext cx="6583680" cy="420624"/>
          </a:xfrm>
          <a:prstGeom prst="roundRect">
            <a:avLst>
              <a:gd name="adj" fmla="val 17391"/>
            </a:avLst>
          </a:prstGeom>
          <a:solidFill>
            <a:srgbClr val="29BA74"/>
          </a:solidFill>
          <a:ln/>
        </p:spPr>
      </p:sp>
      <p:sp>
        <p:nvSpPr>
          <p:cNvPr id="8" name="Shape 6"/>
          <p:cNvSpPr/>
          <p:nvPr/>
        </p:nvSpPr>
        <p:spPr>
          <a:xfrm>
            <a:off x="502920" y="1719072"/>
            <a:ext cx="6583680" cy="210312"/>
          </a:xfrm>
          <a:prstGeom prst="rect">
            <a:avLst/>
          </a:prstGeom>
          <a:solidFill>
            <a:srgbClr val="29BA74"/>
          </a:solidFill>
          <a:ln/>
        </p:spPr>
      </p:sp>
      <p:sp>
        <p:nvSpPr>
          <p:cNvPr id="9" name="Text 7"/>
          <p:cNvSpPr txBox="1"/>
          <p:nvPr/>
        </p:nvSpPr>
        <p:spPr>
          <a:xfrm>
            <a:off x="640080" y="1508760"/>
            <a:ext cx="630936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Your task</a:t>
            </a:r>
            <a:endParaRPr lang="en-US" sz="1400" dirty="0"/>
          </a:p>
        </p:txBody>
      </p:sp>
      <p:sp>
        <p:nvSpPr>
          <p:cNvPr id="10" name="Text 8"/>
          <p:cNvSpPr txBox="1"/>
          <p:nvPr/>
        </p:nvSpPr>
        <p:spPr>
          <a:xfrm>
            <a:off x="777240" y="2103120"/>
            <a:ext cx="6035040" cy="3749040"/>
          </a:xfrm>
          <a:prstGeom prst="rect">
            <a:avLst/>
          </a:prstGeom>
          <a:noFill/>
          <a:ln/>
        </p:spPr>
        <p:txBody>
          <a:bodyPr wrap="square" lIns="0" tIns="0" rIns="0" bIns="0" rtlCol="0" anchor="t"/>
          <a:lstStyle/>
          <a:p>
            <a:pPr marL="152400" indent="-152400">
              <a:lnSpc>
                <a:spcPct val="105000"/>
              </a:lnSpc>
              <a:spcAft>
                <a:spcPts val="600"/>
              </a:spcAft>
              <a:buSzPct val="100000"/>
              <a:buChar char="•"/>
            </a:pPr>
            <a:r>
              <a:rPr lang="en-US" sz="1200" dirty="0">
                <a:solidFill>
                  <a:srgbClr val="22252B"/>
                </a:solidFill>
                <a:latin typeface="Calibri" pitchFamily="34" charset="0"/>
                <a:ea typeface="Calibri" pitchFamily="34" charset="-122"/>
                <a:cs typeface="Calibri" pitchFamily="34" charset="-120"/>
              </a:rPr>
              <a:t>You manage a training unit. Management wants a one-page half-year summary based on the registrations dataset (72 records, Jan–Jun 2026).</a:t>
            </a:r>
            <a:endParaRPr lang="en-US" sz="1200" dirty="0"/>
          </a:p>
          <a:p>
            <a:pPr marL="152400" indent="-152400">
              <a:lnSpc>
                <a:spcPct val="105000"/>
              </a:lnSpc>
              <a:spcAft>
                <a:spcPts val="600"/>
              </a:spcAft>
              <a:buSzPct val="100000"/>
              <a:buChar char="•"/>
            </a:pPr>
            <a:r>
              <a:rPr lang="en-US" sz="1200" b="1" dirty="0">
                <a:solidFill>
                  <a:srgbClr val="22252B"/>
                </a:solidFill>
                <a:latin typeface="Calibri" pitchFamily="34" charset="0"/>
                <a:ea typeface="Calibri" pitchFamily="34" charset="-122"/>
                <a:cs typeface="Calibri" pitchFamily="34" charset="-120"/>
              </a:rPr>
              <a:t>Step 1:</a:t>
            </a:r>
            <a:endParaRPr lang="en-US" sz="1200" dirty="0"/>
          </a:p>
          <a:p>
            <a:pPr marL="152400" indent="-152400">
              <a:lnSpc>
                <a:spcPct val="105000"/>
              </a:lnSpc>
              <a:spcAft>
                <a:spcPts val="600"/>
              </a:spcAft>
              <a:buSzPct val="100000"/>
              <a:buChar char="•"/>
            </a:pPr>
            <a:r>
              <a:rPr lang="en-US" sz="1200" dirty="0">
                <a:solidFill>
                  <a:srgbClr val="22252B"/>
                </a:solidFill>
                <a:latin typeface="Calibri" pitchFamily="34" charset="0"/>
                <a:ea typeface="Calibri" pitchFamily="34" charset="-122"/>
                <a:cs typeface="Calibri" pitchFamily="34" charset="-120"/>
              </a:rPr>
              <a:t>Paste the data (or open in Copilot for Excel) and ask for the key figures: totals, completion rate, withdrawals, satisfaction, top programs, patterns by city or month.</a:t>
            </a:r>
            <a:endParaRPr lang="en-US" sz="1200" dirty="0"/>
          </a:p>
          <a:p>
            <a:pPr marL="152400" indent="-152400">
              <a:lnSpc>
                <a:spcPct val="105000"/>
              </a:lnSpc>
              <a:spcAft>
                <a:spcPts val="600"/>
              </a:spcAft>
              <a:buSzPct val="100000"/>
              <a:buChar char="•"/>
            </a:pPr>
            <a:r>
              <a:rPr lang="en-US" sz="1200" b="1" dirty="0">
                <a:solidFill>
                  <a:srgbClr val="22252B"/>
                </a:solidFill>
                <a:latin typeface="Calibri" pitchFamily="34" charset="0"/>
                <a:ea typeface="Calibri" pitchFamily="34" charset="-122"/>
                <a:cs typeface="Calibri" pitchFamily="34" charset="-120"/>
              </a:rPr>
              <a:t>Step 2:</a:t>
            </a:r>
            <a:endParaRPr lang="en-US" sz="1200" dirty="0"/>
          </a:p>
          <a:p>
            <a:pPr marL="152400" indent="-152400">
              <a:lnSpc>
                <a:spcPct val="105000"/>
              </a:lnSpc>
              <a:spcAft>
                <a:spcPts val="600"/>
              </a:spcAft>
              <a:buSzPct val="100000"/>
              <a:buChar char="•"/>
            </a:pPr>
            <a:r>
              <a:rPr lang="en-US" sz="1200" dirty="0">
                <a:solidFill>
                  <a:srgbClr val="22252B"/>
                </a:solidFill>
                <a:latin typeface="Calibri" pitchFamily="34" charset="0"/>
                <a:ea typeface="Calibri" pitchFamily="34" charset="-122"/>
                <a:cs typeface="Calibri" pitchFamily="34" charset="-120"/>
              </a:rPr>
              <a:t>Sanity-check 2–3 figures yourself against the raw data. Do they match?</a:t>
            </a:r>
            <a:endParaRPr lang="en-US" sz="1200" dirty="0"/>
          </a:p>
          <a:p>
            <a:pPr marL="152400" indent="-152400">
              <a:lnSpc>
                <a:spcPct val="105000"/>
              </a:lnSpc>
              <a:spcAft>
                <a:spcPts val="600"/>
              </a:spcAft>
              <a:buSzPct val="100000"/>
              <a:buChar char="•"/>
            </a:pPr>
            <a:r>
              <a:rPr lang="en-US" sz="1200" b="1" dirty="0">
                <a:solidFill>
                  <a:srgbClr val="22252B"/>
                </a:solidFill>
                <a:latin typeface="Calibri" pitchFamily="34" charset="0"/>
                <a:ea typeface="Calibri" pitchFamily="34" charset="-122"/>
                <a:cs typeface="Calibri" pitchFamily="34" charset="-120"/>
              </a:rPr>
              <a:t>Step 3:</a:t>
            </a:r>
            <a:endParaRPr lang="en-US" sz="1200" dirty="0"/>
          </a:p>
          <a:p>
            <a:pPr marL="152400" indent="-152400">
              <a:lnSpc>
                <a:spcPct val="105000"/>
              </a:lnSpc>
              <a:spcAft>
                <a:spcPts val="600"/>
              </a:spcAft>
              <a:buSzPct val="100000"/>
              <a:buChar char="•"/>
            </a:pPr>
            <a:r>
              <a:rPr lang="en-US" sz="1200" dirty="0">
                <a:solidFill>
                  <a:srgbClr val="22252B"/>
                </a:solidFill>
                <a:latin typeface="Calibri" pitchFamily="34" charset="0"/>
                <a:ea typeface="Calibri" pitchFamily="34" charset="-122"/>
                <a:cs typeface="Calibri" pitchFamily="34" charset="-120"/>
              </a:rPr>
              <a:t>Outline → draft the one-page summary: 3 headline findings, 1 risk, 1 recommendation — with the “use only the data provided” constraint.</a:t>
            </a:r>
            <a:endParaRPr lang="en-US" sz="1200" dirty="0"/>
          </a:p>
        </p:txBody>
      </p:sp>
      <p:sp>
        <p:nvSpPr>
          <p:cNvPr id="11" name="Shape 9"/>
          <p:cNvSpPr/>
          <p:nvPr/>
        </p:nvSpPr>
        <p:spPr>
          <a:xfrm>
            <a:off x="7315200" y="1508760"/>
            <a:ext cx="4389120" cy="2240280"/>
          </a:xfrm>
          <a:prstGeom prst="roundRect">
            <a:avLst>
              <a:gd name="adj" fmla="val 3265"/>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7315200" y="1508760"/>
            <a:ext cx="4389120" cy="420624"/>
          </a:xfrm>
          <a:prstGeom prst="roundRect">
            <a:avLst>
              <a:gd name="adj" fmla="val 17391"/>
            </a:avLst>
          </a:prstGeom>
          <a:solidFill>
            <a:srgbClr val="273370"/>
          </a:solidFill>
          <a:ln/>
        </p:spPr>
      </p:sp>
      <p:sp>
        <p:nvSpPr>
          <p:cNvPr id="13" name="Shape 11"/>
          <p:cNvSpPr/>
          <p:nvPr/>
        </p:nvSpPr>
        <p:spPr>
          <a:xfrm>
            <a:off x="7315200" y="1719072"/>
            <a:ext cx="4389120" cy="210312"/>
          </a:xfrm>
          <a:prstGeom prst="rect">
            <a:avLst/>
          </a:prstGeom>
          <a:solidFill>
            <a:srgbClr val="273370"/>
          </a:solidFill>
          <a:ln/>
        </p:spPr>
      </p:sp>
      <p:sp>
        <p:nvSpPr>
          <p:cNvPr id="14" name="Text 12"/>
          <p:cNvSpPr txBox="1"/>
          <p:nvPr/>
        </p:nvSpPr>
        <p:spPr>
          <a:xfrm>
            <a:off x="7452360" y="1508760"/>
            <a:ext cx="411480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Expected output</a:t>
            </a:r>
            <a:endParaRPr lang="en-US" sz="1400" dirty="0"/>
          </a:p>
        </p:txBody>
      </p:sp>
      <p:sp>
        <p:nvSpPr>
          <p:cNvPr id="15" name="Text 13"/>
          <p:cNvSpPr txBox="1"/>
          <p:nvPr/>
        </p:nvSpPr>
        <p:spPr>
          <a:xfrm>
            <a:off x="7589520" y="2103120"/>
            <a:ext cx="3840480" cy="1508760"/>
          </a:xfrm>
          <a:prstGeom prst="rect">
            <a:avLst/>
          </a:prstGeom>
          <a:noFill/>
          <a:ln/>
        </p:spPr>
        <p:txBody>
          <a:bodyPr wrap="square" lIns="0" tIns="0" rIns="0" bIns="0" rtlCol="0" anchor="t"/>
          <a:lstStyle/>
          <a:p>
            <a:pPr marL="152400" indent="-152400">
              <a:lnSpc>
                <a:spcPct val="105000"/>
              </a:lnSpc>
              <a:spcAft>
                <a:spcPts val="800"/>
              </a:spcAft>
              <a:buSzPct val="100000"/>
              <a:buChar char="•"/>
            </a:pPr>
            <a:r>
              <a:rPr lang="en-US" sz="1200" dirty="0">
                <a:solidFill>
                  <a:srgbClr val="22252B"/>
                </a:solidFill>
                <a:latin typeface="Calibri" pitchFamily="34" charset="0"/>
                <a:ea typeface="Calibri" pitchFamily="34" charset="-122"/>
                <a:cs typeface="Calibri" pitchFamily="34" charset="-120"/>
              </a:rPr>
              <a:t>A one-page management summary</a:t>
            </a:r>
            <a:endParaRPr lang="en-US" sz="1200" dirty="0"/>
          </a:p>
          <a:p>
            <a:pPr marL="152400" indent="-152400">
              <a:lnSpc>
                <a:spcPct val="105000"/>
              </a:lnSpc>
              <a:spcAft>
                <a:spcPts val="800"/>
              </a:spcAft>
              <a:buSzPct val="100000"/>
              <a:buChar char="•"/>
            </a:pPr>
            <a:r>
              <a:rPr lang="en-US" sz="1200" dirty="0">
                <a:solidFill>
                  <a:srgbClr val="22252B"/>
                </a:solidFill>
                <a:latin typeface="Calibri" pitchFamily="34" charset="0"/>
                <a:ea typeface="Calibri" pitchFamily="34" charset="-122"/>
                <a:cs typeface="Calibri" pitchFamily="34" charset="-120"/>
              </a:rPr>
              <a:t>Your own note: which 2–3 figures you verified, and whether the AI got them right</a:t>
            </a:r>
            <a:endParaRPr lang="en-US" sz="1200" dirty="0"/>
          </a:p>
        </p:txBody>
      </p:sp>
      <p:sp>
        <p:nvSpPr>
          <p:cNvPr id="16" name="Shape 14"/>
          <p:cNvSpPr/>
          <p:nvPr/>
        </p:nvSpPr>
        <p:spPr>
          <a:xfrm>
            <a:off x="7315200" y="3931920"/>
            <a:ext cx="4389120" cy="2103120"/>
          </a:xfrm>
          <a:prstGeom prst="roundRect">
            <a:avLst>
              <a:gd name="adj" fmla="val 3478"/>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7" name="Shape 15"/>
          <p:cNvSpPr/>
          <p:nvPr/>
        </p:nvSpPr>
        <p:spPr>
          <a:xfrm>
            <a:off x="7315200" y="3931920"/>
            <a:ext cx="4389120" cy="420624"/>
          </a:xfrm>
          <a:prstGeom prst="roundRect">
            <a:avLst>
              <a:gd name="adj" fmla="val 17391"/>
            </a:avLst>
          </a:prstGeom>
          <a:solidFill>
            <a:srgbClr val="94A0DA"/>
          </a:solidFill>
          <a:ln/>
        </p:spPr>
      </p:sp>
      <p:sp>
        <p:nvSpPr>
          <p:cNvPr id="18" name="Shape 16"/>
          <p:cNvSpPr/>
          <p:nvPr/>
        </p:nvSpPr>
        <p:spPr>
          <a:xfrm>
            <a:off x="7315200" y="4142232"/>
            <a:ext cx="4389120" cy="210312"/>
          </a:xfrm>
          <a:prstGeom prst="rect">
            <a:avLst/>
          </a:prstGeom>
          <a:solidFill>
            <a:srgbClr val="94A0DA"/>
          </a:solidFill>
          <a:ln/>
        </p:spPr>
      </p:sp>
      <p:sp>
        <p:nvSpPr>
          <p:cNvPr id="19" name="Text 17"/>
          <p:cNvSpPr txBox="1"/>
          <p:nvPr/>
        </p:nvSpPr>
        <p:spPr>
          <a:xfrm>
            <a:off x="7452360" y="3931920"/>
            <a:ext cx="411480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Suggested starter prompt</a:t>
            </a:r>
            <a:endParaRPr lang="en-US" sz="1400" dirty="0"/>
          </a:p>
        </p:txBody>
      </p:sp>
      <p:sp>
        <p:nvSpPr>
          <p:cNvPr id="20" name="Text 18"/>
          <p:cNvSpPr txBox="1"/>
          <p:nvPr/>
        </p:nvSpPr>
        <p:spPr>
          <a:xfrm>
            <a:off x="7589520" y="4526280"/>
            <a:ext cx="3840480" cy="1371600"/>
          </a:xfrm>
          <a:prstGeom prst="rect">
            <a:avLst/>
          </a:prstGeom>
          <a:noFill/>
          <a:ln/>
        </p:spPr>
        <p:txBody>
          <a:bodyPr wrap="square" lIns="0" tIns="0" rIns="0" bIns="0" rtlCol="0" anchor="ctr"/>
          <a:lstStyle/>
          <a:p>
            <a:pPr indent="0" marL="0">
              <a:lnSpc>
                <a:spcPct val="112000"/>
              </a:lnSpc>
              <a:buNone/>
            </a:pPr>
            <a:r>
              <a:rPr lang="en-US" sz="1100" i="1" dirty="0">
                <a:solidFill>
                  <a:srgbClr val="22252B"/>
                </a:solidFill>
                <a:latin typeface="Calibri" pitchFamily="34" charset="0"/>
                <a:ea typeface="Calibri" pitchFamily="34" charset="-122"/>
                <a:cs typeface="Calibri" pitchFamily="34" charset="-120"/>
              </a:rPr>
              <a:t>“Act as a performance analyst. Using ONLY the data below, calculate… If something cannot be calculated from this data, say so explicitly.”</a:t>
            </a:r>
            <a:endParaRPr lang="en-US" sz="1100" dirty="0"/>
          </a:p>
        </p:txBody>
      </p:sp>
      <p:sp>
        <p:nvSpPr>
          <p:cNvPr id="21" name="Text 19"/>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22" name="Text 20"/>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Debrief — Activity 2.2</a:t>
            </a:r>
            <a:endParaRPr lang="en-US" sz="3000" dirty="0"/>
          </a:p>
        </p:txBody>
      </p:sp>
      <p:sp>
        <p:nvSpPr>
          <p:cNvPr id="3" name="Shape 1"/>
          <p:cNvSpPr/>
          <p:nvPr/>
        </p:nvSpPr>
        <p:spPr>
          <a:xfrm>
            <a:off x="10565892" y="457200"/>
            <a:ext cx="1120140" cy="384048"/>
          </a:xfrm>
          <a:prstGeom prst="roundRect">
            <a:avLst>
              <a:gd name="adj" fmla="val 50000"/>
            </a:avLst>
          </a:prstGeom>
          <a:solidFill>
            <a:srgbClr val="67CCFF"/>
          </a:solidFill>
          <a:ln/>
        </p:spPr>
      </p:sp>
      <p:sp>
        <p:nvSpPr>
          <p:cNvPr id="4" name="Text 2"/>
          <p:cNvSpPr txBox="1"/>
          <p:nvPr/>
        </p:nvSpPr>
        <p:spPr>
          <a:xfrm>
            <a:off x="10565892" y="457200"/>
            <a:ext cx="11201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DEBRIEF</a:t>
            </a:r>
            <a:endParaRPr lang="en-US" sz="1200" dirty="0"/>
          </a:p>
        </p:txBody>
      </p:sp>
      <p:sp>
        <p:nvSpPr>
          <p:cNvPr id="5" name="Shape 3"/>
          <p:cNvSpPr/>
          <p:nvPr/>
        </p:nvSpPr>
        <p:spPr>
          <a:xfrm>
            <a:off x="640080" y="1645920"/>
            <a:ext cx="548640" cy="548640"/>
          </a:xfrm>
          <a:prstGeom prst="roundRect">
            <a:avLst>
              <a:gd name="adj" fmla="val 15000"/>
            </a:avLst>
          </a:prstGeom>
          <a:solidFill>
            <a:srgbClr val="67CCFF"/>
          </a:solidFill>
          <a:ln/>
        </p:spPr>
      </p:sp>
      <p:pic>
        <p:nvPicPr>
          <p:cNvPr id="6" name="Image 0" descr="preencoded.png">    </p:cNvPr>
          <p:cNvPicPr>
            <a:picLocks noChangeAspect="1"/>
          </p:cNvPicPr>
          <p:nvPr/>
        </p:nvPicPr>
        <p:blipFill>
          <a:blip r:embed="rId1"/>
          <a:stretch>
            <a:fillRect/>
          </a:stretch>
        </p:blipFill>
        <p:spPr>
          <a:xfrm>
            <a:off x="760781" y="1766621"/>
            <a:ext cx="307238" cy="307238"/>
          </a:xfrm>
          <a:prstGeom prst="rect">
            <a:avLst/>
          </a:prstGeom>
        </p:spPr>
      </p:pic>
      <p:sp>
        <p:nvSpPr>
          <p:cNvPr id="7" name="Text 4"/>
          <p:cNvSpPr txBox="1"/>
          <p:nvPr/>
        </p:nvSpPr>
        <p:spPr>
          <a:xfrm>
            <a:off x="1417320" y="1645920"/>
            <a:ext cx="10149840" cy="548640"/>
          </a:xfrm>
          <a:prstGeom prst="rect">
            <a:avLst/>
          </a:prstGeom>
          <a:noFill/>
          <a:ln/>
        </p:spPr>
        <p:txBody>
          <a:bodyPr wrap="square" lIns="0" tIns="0" rIns="0" bIns="0" rtlCol="0" anchor="ctr"/>
          <a:lstStyle/>
          <a:p>
            <a:pPr indent="0" marL="0">
              <a:buNone/>
            </a:pPr>
            <a:r>
              <a:rPr lang="en-US" sz="1500" dirty="0">
                <a:solidFill>
                  <a:srgbClr val="22252B"/>
                </a:solidFill>
                <a:latin typeface="Calibri" pitchFamily="34" charset="0"/>
                <a:ea typeface="Calibri" pitchFamily="34" charset="-122"/>
                <a:cs typeface="Calibri" pitchFamily="34" charset="-120"/>
              </a:rPr>
              <a:t>Who found a figure the AI got wrong — or that it calculated differently than expected?</a:t>
            </a:r>
            <a:endParaRPr lang="en-US" sz="1500" dirty="0"/>
          </a:p>
        </p:txBody>
      </p:sp>
      <p:sp>
        <p:nvSpPr>
          <p:cNvPr id="8" name="Shape 5"/>
          <p:cNvSpPr/>
          <p:nvPr/>
        </p:nvSpPr>
        <p:spPr>
          <a:xfrm>
            <a:off x="640080" y="2761488"/>
            <a:ext cx="548640" cy="548640"/>
          </a:xfrm>
          <a:prstGeom prst="roundRect">
            <a:avLst>
              <a:gd name="adj" fmla="val 15000"/>
            </a:avLst>
          </a:prstGeom>
          <a:solidFill>
            <a:srgbClr val="67CCFF"/>
          </a:solidFill>
          <a:ln/>
        </p:spPr>
      </p:sp>
      <p:pic>
        <p:nvPicPr>
          <p:cNvPr id="9" name="Image 1" descr="preencoded.png">    </p:cNvPr>
          <p:cNvPicPr>
            <a:picLocks noChangeAspect="1"/>
          </p:cNvPicPr>
          <p:nvPr/>
        </p:nvPicPr>
        <p:blipFill>
          <a:blip r:embed="rId2"/>
          <a:stretch>
            <a:fillRect/>
          </a:stretch>
        </p:blipFill>
        <p:spPr>
          <a:xfrm>
            <a:off x="760781" y="2882189"/>
            <a:ext cx="307238" cy="307238"/>
          </a:xfrm>
          <a:prstGeom prst="rect">
            <a:avLst/>
          </a:prstGeom>
        </p:spPr>
      </p:pic>
      <p:sp>
        <p:nvSpPr>
          <p:cNvPr id="10" name="Text 6"/>
          <p:cNvSpPr txBox="1"/>
          <p:nvPr/>
        </p:nvSpPr>
        <p:spPr>
          <a:xfrm>
            <a:off x="1417320" y="2761488"/>
            <a:ext cx="10149840" cy="548640"/>
          </a:xfrm>
          <a:prstGeom prst="rect">
            <a:avLst/>
          </a:prstGeom>
          <a:noFill/>
          <a:ln/>
        </p:spPr>
        <p:txBody>
          <a:bodyPr wrap="square" lIns="0" tIns="0" rIns="0" bIns="0" rtlCol="0" anchor="ctr"/>
          <a:lstStyle/>
          <a:p>
            <a:pPr indent="0" marL="0">
              <a:buNone/>
            </a:pPr>
            <a:r>
              <a:rPr lang="en-US" sz="1500" dirty="0">
                <a:solidFill>
                  <a:srgbClr val="22252B"/>
                </a:solidFill>
                <a:latin typeface="Calibri" pitchFamily="34" charset="0"/>
                <a:ea typeface="Calibri" pitchFamily="34" charset="-122"/>
                <a:cs typeface="Calibri" pitchFamily="34" charset="-120"/>
              </a:rPr>
              <a:t>What did the “say so explicitly if it cannot be calculated” constraint change?</a:t>
            </a:r>
            <a:endParaRPr lang="en-US" sz="1500" dirty="0"/>
          </a:p>
        </p:txBody>
      </p:sp>
      <p:sp>
        <p:nvSpPr>
          <p:cNvPr id="11" name="Shape 7"/>
          <p:cNvSpPr/>
          <p:nvPr/>
        </p:nvSpPr>
        <p:spPr>
          <a:xfrm>
            <a:off x="640080" y="3877056"/>
            <a:ext cx="548640" cy="548640"/>
          </a:xfrm>
          <a:prstGeom prst="roundRect">
            <a:avLst>
              <a:gd name="adj" fmla="val 15000"/>
            </a:avLst>
          </a:prstGeom>
          <a:solidFill>
            <a:srgbClr val="67CCFF"/>
          </a:solidFill>
          <a:ln/>
        </p:spPr>
      </p:sp>
      <p:pic>
        <p:nvPicPr>
          <p:cNvPr id="12" name="Image 2" descr="preencoded.png">    </p:cNvPr>
          <p:cNvPicPr>
            <a:picLocks noChangeAspect="1"/>
          </p:cNvPicPr>
          <p:nvPr/>
        </p:nvPicPr>
        <p:blipFill>
          <a:blip r:embed="rId3"/>
          <a:stretch>
            <a:fillRect/>
          </a:stretch>
        </p:blipFill>
        <p:spPr>
          <a:xfrm>
            <a:off x="760781" y="3997757"/>
            <a:ext cx="307238" cy="307238"/>
          </a:xfrm>
          <a:prstGeom prst="rect">
            <a:avLst/>
          </a:prstGeom>
        </p:spPr>
      </p:pic>
      <p:sp>
        <p:nvSpPr>
          <p:cNvPr id="13" name="Text 8"/>
          <p:cNvSpPr txBox="1"/>
          <p:nvPr/>
        </p:nvSpPr>
        <p:spPr>
          <a:xfrm>
            <a:off x="1417320" y="3877056"/>
            <a:ext cx="10149840" cy="548640"/>
          </a:xfrm>
          <a:prstGeom prst="rect">
            <a:avLst/>
          </a:prstGeom>
          <a:noFill/>
          <a:ln/>
        </p:spPr>
        <p:txBody>
          <a:bodyPr wrap="square" lIns="0" tIns="0" rIns="0" bIns="0" rtlCol="0" anchor="ctr"/>
          <a:lstStyle/>
          <a:p>
            <a:pPr indent="0" marL="0">
              <a:buNone/>
            </a:pPr>
            <a:r>
              <a:rPr lang="en-US" sz="1500" dirty="0">
                <a:solidFill>
                  <a:srgbClr val="22252B"/>
                </a:solidFill>
                <a:latin typeface="Calibri" pitchFamily="34" charset="0"/>
                <a:ea typeface="Calibri" pitchFamily="34" charset="-122"/>
                <a:cs typeface="Calibri" pitchFamily="34" charset="-120"/>
              </a:rPr>
              <a:t>Excel Copilot users vs. paste-into-chat users: how did the experiences differ?</a:t>
            </a:r>
            <a:endParaRPr lang="en-US" sz="1500" dirty="0"/>
          </a:p>
        </p:txBody>
      </p:sp>
      <p:sp>
        <p:nvSpPr>
          <p:cNvPr id="14" name="Shape 9"/>
          <p:cNvSpPr/>
          <p:nvPr/>
        </p:nvSpPr>
        <p:spPr>
          <a:xfrm>
            <a:off x="640080" y="4992624"/>
            <a:ext cx="548640" cy="548640"/>
          </a:xfrm>
          <a:prstGeom prst="roundRect">
            <a:avLst>
              <a:gd name="adj" fmla="val 15000"/>
            </a:avLst>
          </a:prstGeom>
          <a:solidFill>
            <a:srgbClr val="67CCFF"/>
          </a:solidFill>
          <a:ln/>
        </p:spPr>
      </p:sp>
      <p:pic>
        <p:nvPicPr>
          <p:cNvPr id="15" name="Image 3" descr="preencoded.png">    </p:cNvPr>
          <p:cNvPicPr>
            <a:picLocks noChangeAspect="1"/>
          </p:cNvPicPr>
          <p:nvPr/>
        </p:nvPicPr>
        <p:blipFill>
          <a:blip r:embed="rId4"/>
          <a:stretch>
            <a:fillRect/>
          </a:stretch>
        </p:blipFill>
        <p:spPr>
          <a:xfrm>
            <a:off x="760781" y="5113325"/>
            <a:ext cx="307238" cy="307238"/>
          </a:xfrm>
          <a:prstGeom prst="rect">
            <a:avLst/>
          </a:prstGeom>
        </p:spPr>
      </p:pic>
      <p:sp>
        <p:nvSpPr>
          <p:cNvPr id="16" name="Text 10"/>
          <p:cNvSpPr txBox="1"/>
          <p:nvPr/>
        </p:nvSpPr>
        <p:spPr>
          <a:xfrm>
            <a:off x="1417320" y="4992624"/>
            <a:ext cx="10149840" cy="548640"/>
          </a:xfrm>
          <a:prstGeom prst="rect">
            <a:avLst/>
          </a:prstGeom>
          <a:noFill/>
          <a:ln/>
        </p:spPr>
        <p:txBody>
          <a:bodyPr wrap="square" lIns="0" tIns="0" rIns="0" bIns="0" rtlCol="0" anchor="ctr"/>
          <a:lstStyle/>
          <a:p>
            <a:pPr indent="0" marL="0">
              <a:buNone/>
            </a:pPr>
            <a:r>
              <a:rPr lang="en-US" sz="1500" dirty="0">
                <a:solidFill>
                  <a:srgbClr val="22252B"/>
                </a:solidFill>
                <a:latin typeface="Calibri" pitchFamily="34" charset="0"/>
                <a:ea typeface="Calibri" pitchFamily="34" charset="-122"/>
                <a:cs typeface="Calibri" pitchFamily="34" charset="-120"/>
              </a:rPr>
              <a:t>Would you submit your summary to management as-is? What human review does it still need?</a:t>
            </a:r>
            <a:endParaRPr lang="en-US" sz="1500" dirty="0"/>
          </a:p>
        </p:txBody>
      </p:sp>
      <p:sp>
        <p:nvSpPr>
          <p:cNvPr id="17" name="Text 11"/>
          <p:cNvSpPr txBox="1"/>
          <p:nvPr/>
        </p:nvSpPr>
        <p:spPr>
          <a:xfrm>
            <a:off x="640080" y="6080760"/>
            <a:ext cx="10972800" cy="365760"/>
          </a:xfrm>
          <a:prstGeom prst="rect">
            <a:avLst/>
          </a:prstGeom>
          <a:noFill/>
          <a:ln/>
        </p:spPr>
        <p:txBody>
          <a:bodyPr wrap="square" lIns="0" tIns="0" rIns="0" bIns="0" rtlCol="0" anchor="ctr"/>
          <a:lstStyle/>
          <a:p>
            <a:pPr indent="0" marL="0">
              <a:buNone/>
            </a:pPr>
            <a:r>
              <a:rPr lang="en-US" sz="1300" b="1" i="1" dirty="0">
                <a:solidFill>
                  <a:srgbClr val="273370"/>
                </a:solidFill>
                <a:latin typeface="Calibri" pitchFamily="34" charset="0"/>
                <a:ea typeface="Calibri" pitchFamily="34" charset="-122"/>
                <a:cs typeface="Calibri" pitchFamily="34" charset="-120"/>
              </a:rPr>
              <a:t>Trainer synthesis: with data, AI is a brilliant narrator and an unreliable calculator — verify numbers at the source.</a:t>
            </a:r>
            <a:endParaRPr lang="en-US" sz="1300" dirty="0"/>
          </a:p>
        </p:txBody>
      </p:sp>
      <p:sp>
        <p:nvSpPr>
          <p:cNvPr id="18" name="Text 12"/>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19" name="Text 13"/>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Summarisation that actually serves you</a:t>
            </a:r>
            <a:endParaRPr lang="en-US" sz="3000" dirty="0"/>
          </a:p>
        </p:txBody>
      </p:sp>
      <p:sp>
        <p:nvSpPr>
          <p:cNvPr id="3" name="Text 1"/>
          <p:cNvSpPr txBox="1"/>
          <p:nvPr/>
        </p:nvSpPr>
        <p:spPr>
          <a:xfrm>
            <a:off x="502920" y="987552"/>
            <a:ext cx="11155680" cy="365760"/>
          </a:xfrm>
          <a:prstGeom prst="rect">
            <a:avLst/>
          </a:prstGeom>
          <a:noFill/>
          <a:ln/>
        </p:spPr>
        <p:txBody>
          <a:bodyPr wrap="square" lIns="0" tIns="0" rIns="0" bIns="0" rtlCol="0" anchor="ctr"/>
          <a:lstStyle/>
          <a:p>
            <a:pPr indent="0" marL="0">
              <a:buNone/>
            </a:pPr>
            <a:r>
              <a:rPr lang="en-US" sz="1400" dirty="0">
                <a:solidFill>
                  <a:srgbClr val="696969"/>
                </a:solidFill>
                <a:latin typeface="Calibri" pitchFamily="34" charset="0"/>
                <a:ea typeface="Calibri" pitchFamily="34" charset="-122"/>
                <a:cs typeface="Calibri" pitchFamily="34" charset="-120"/>
              </a:rPr>
              <a:t>A summary has an audience and a job — specify both</a:t>
            </a:r>
            <a:endParaRPr lang="en-US" sz="1400" dirty="0"/>
          </a:p>
        </p:txBody>
      </p:sp>
      <p:sp>
        <p:nvSpPr>
          <p:cNvPr id="4" name="Shape 2"/>
          <p:cNvSpPr/>
          <p:nvPr/>
        </p:nvSpPr>
        <p:spPr>
          <a:xfrm>
            <a:off x="10565892" y="457200"/>
            <a:ext cx="1120140" cy="384048"/>
          </a:xfrm>
          <a:prstGeom prst="roundRect">
            <a:avLst>
              <a:gd name="adj" fmla="val 50000"/>
            </a:avLst>
          </a:prstGeom>
          <a:solidFill>
            <a:srgbClr val="94A0DA"/>
          </a:solidFill>
          <a:ln/>
        </p:spPr>
      </p:sp>
      <p:sp>
        <p:nvSpPr>
          <p:cNvPr id="5" name="Text 3"/>
          <p:cNvSpPr txBox="1"/>
          <p:nvPr/>
        </p:nvSpPr>
        <p:spPr>
          <a:xfrm>
            <a:off x="10565892" y="457200"/>
            <a:ext cx="11201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Shape 4"/>
          <p:cNvSpPr/>
          <p:nvPr/>
        </p:nvSpPr>
        <p:spPr>
          <a:xfrm>
            <a:off x="502920" y="1600200"/>
            <a:ext cx="5440680" cy="2057400"/>
          </a:xfrm>
          <a:prstGeom prst="roundRect">
            <a:avLst>
              <a:gd name="adj" fmla="val 3556"/>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731520" y="1828800"/>
            <a:ext cx="502920" cy="502920"/>
          </a:xfrm>
          <a:prstGeom prst="roundRect">
            <a:avLst>
              <a:gd name="adj" fmla="val 16364"/>
            </a:avLst>
          </a:prstGeom>
          <a:solidFill>
            <a:srgbClr val="273370"/>
          </a:solidFill>
          <a:ln/>
        </p:spPr>
      </p:sp>
      <p:pic>
        <p:nvPicPr>
          <p:cNvPr id="8" name="Image 0" descr="preencoded.png">    </p:cNvPr>
          <p:cNvPicPr>
            <a:picLocks noChangeAspect="1"/>
          </p:cNvPicPr>
          <p:nvPr/>
        </p:nvPicPr>
        <p:blipFill>
          <a:blip r:embed="rId1"/>
          <a:stretch>
            <a:fillRect/>
          </a:stretch>
        </p:blipFill>
        <p:spPr>
          <a:xfrm>
            <a:off x="842162" y="1939442"/>
            <a:ext cx="281635" cy="281635"/>
          </a:xfrm>
          <a:prstGeom prst="rect">
            <a:avLst/>
          </a:prstGeom>
        </p:spPr>
      </p:pic>
      <p:sp>
        <p:nvSpPr>
          <p:cNvPr id="9" name="Text 6"/>
          <p:cNvSpPr txBox="1"/>
          <p:nvPr/>
        </p:nvSpPr>
        <p:spPr>
          <a:xfrm>
            <a:off x="1371600" y="1801368"/>
            <a:ext cx="4389120" cy="548640"/>
          </a:xfrm>
          <a:prstGeom prst="rect">
            <a:avLst/>
          </a:prstGeom>
          <a:noFill/>
          <a:ln/>
        </p:spPr>
        <p:txBody>
          <a:bodyPr wrap="square" lIns="0" tIns="0" rIns="0" bIns="0" rtlCol="0" anchor="ctr"/>
          <a:lstStyle/>
          <a:p>
            <a:pPr indent="0" marL="0">
              <a:buNone/>
            </a:pPr>
            <a:r>
              <a:rPr lang="en-US" sz="1450" b="1" dirty="0">
                <a:solidFill>
                  <a:srgbClr val="273370"/>
                </a:solidFill>
                <a:latin typeface="Calibri" pitchFamily="34" charset="0"/>
                <a:ea typeface="Calibri" pitchFamily="34" charset="-122"/>
                <a:cs typeface="Calibri" pitchFamily="34" charset="-120"/>
              </a:rPr>
              <a:t>Executive digest</a:t>
            </a:r>
            <a:endParaRPr lang="en-US" sz="1450" dirty="0"/>
          </a:p>
        </p:txBody>
      </p:sp>
      <p:sp>
        <p:nvSpPr>
          <p:cNvPr id="10" name="Text 7"/>
          <p:cNvSpPr txBox="1"/>
          <p:nvPr/>
        </p:nvSpPr>
        <p:spPr>
          <a:xfrm>
            <a:off x="731520" y="2441448"/>
            <a:ext cx="4983480" cy="1115568"/>
          </a:xfrm>
          <a:prstGeom prst="rect">
            <a:avLst/>
          </a:prstGeom>
          <a:noFill/>
          <a:ln/>
        </p:spPr>
        <p:txBody>
          <a:bodyPr wrap="square" lIns="0" tIns="0" rIns="0" bIns="0" rtlCol="0" anchor="ctr"/>
          <a:lstStyle/>
          <a:p>
            <a:pPr indent="0" marL="0">
              <a:lnSpc>
                <a:spcPct val="110000"/>
              </a:lnSpc>
              <a:buNone/>
            </a:pPr>
            <a:r>
              <a:rPr lang="en-US" sz="1100" i="1" dirty="0">
                <a:solidFill>
                  <a:srgbClr val="22252B"/>
                </a:solidFill>
                <a:latin typeface="Calibri" pitchFamily="34" charset="0"/>
                <a:ea typeface="Calibri" pitchFamily="34" charset="-122"/>
                <a:cs typeface="Calibri" pitchFamily="34" charset="-120"/>
              </a:rPr>
              <a:t>“Summarise for a director who has 60 seconds: 3 bullets — what happened, what it means, what you need from them.”</a:t>
            </a:r>
            <a:endParaRPr lang="en-US" sz="1100" dirty="0"/>
          </a:p>
        </p:txBody>
      </p:sp>
      <p:sp>
        <p:nvSpPr>
          <p:cNvPr id="11" name="Shape 8"/>
          <p:cNvSpPr/>
          <p:nvPr/>
        </p:nvSpPr>
        <p:spPr>
          <a:xfrm>
            <a:off x="6217920" y="1600200"/>
            <a:ext cx="5440680" cy="2057400"/>
          </a:xfrm>
          <a:prstGeom prst="roundRect">
            <a:avLst>
              <a:gd name="adj" fmla="val 3556"/>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2" name="Shape 9"/>
          <p:cNvSpPr/>
          <p:nvPr/>
        </p:nvSpPr>
        <p:spPr>
          <a:xfrm>
            <a:off x="6446520" y="1828800"/>
            <a:ext cx="502920" cy="502920"/>
          </a:xfrm>
          <a:prstGeom prst="roundRect">
            <a:avLst>
              <a:gd name="adj" fmla="val 16364"/>
            </a:avLst>
          </a:prstGeom>
          <a:solidFill>
            <a:srgbClr val="29BA74"/>
          </a:solidFill>
          <a:ln/>
        </p:spPr>
      </p:sp>
      <p:pic>
        <p:nvPicPr>
          <p:cNvPr id="13" name="Image 1" descr="preencoded.png">    </p:cNvPr>
          <p:cNvPicPr>
            <a:picLocks noChangeAspect="1"/>
          </p:cNvPicPr>
          <p:nvPr/>
        </p:nvPicPr>
        <p:blipFill>
          <a:blip r:embed="rId2"/>
          <a:stretch>
            <a:fillRect/>
          </a:stretch>
        </p:blipFill>
        <p:spPr>
          <a:xfrm>
            <a:off x="6557162" y="1939442"/>
            <a:ext cx="281635" cy="281635"/>
          </a:xfrm>
          <a:prstGeom prst="rect">
            <a:avLst/>
          </a:prstGeom>
        </p:spPr>
      </p:pic>
      <p:sp>
        <p:nvSpPr>
          <p:cNvPr id="14" name="Text 10"/>
          <p:cNvSpPr txBox="1"/>
          <p:nvPr/>
        </p:nvSpPr>
        <p:spPr>
          <a:xfrm>
            <a:off x="7086600" y="1801368"/>
            <a:ext cx="4389120" cy="548640"/>
          </a:xfrm>
          <a:prstGeom prst="rect">
            <a:avLst/>
          </a:prstGeom>
          <a:noFill/>
          <a:ln/>
        </p:spPr>
        <p:txBody>
          <a:bodyPr wrap="square" lIns="0" tIns="0" rIns="0" bIns="0" rtlCol="0" anchor="ctr"/>
          <a:lstStyle/>
          <a:p>
            <a:pPr indent="0" marL="0">
              <a:buNone/>
            </a:pPr>
            <a:r>
              <a:rPr lang="en-US" sz="1450" b="1" dirty="0">
                <a:solidFill>
                  <a:srgbClr val="273370"/>
                </a:solidFill>
                <a:latin typeface="Calibri" pitchFamily="34" charset="0"/>
                <a:ea typeface="Calibri" pitchFamily="34" charset="-122"/>
                <a:cs typeface="Calibri" pitchFamily="34" charset="-120"/>
              </a:rPr>
              <a:t>Working summary</a:t>
            </a:r>
            <a:endParaRPr lang="en-US" sz="1450" dirty="0"/>
          </a:p>
        </p:txBody>
      </p:sp>
      <p:sp>
        <p:nvSpPr>
          <p:cNvPr id="15" name="Text 11"/>
          <p:cNvSpPr txBox="1"/>
          <p:nvPr/>
        </p:nvSpPr>
        <p:spPr>
          <a:xfrm>
            <a:off x="6446520" y="2441448"/>
            <a:ext cx="4983480" cy="1115568"/>
          </a:xfrm>
          <a:prstGeom prst="rect">
            <a:avLst/>
          </a:prstGeom>
          <a:noFill/>
          <a:ln/>
        </p:spPr>
        <p:txBody>
          <a:bodyPr wrap="square" lIns="0" tIns="0" rIns="0" bIns="0" rtlCol="0" anchor="ctr"/>
          <a:lstStyle/>
          <a:p>
            <a:pPr indent="0" marL="0">
              <a:lnSpc>
                <a:spcPct val="110000"/>
              </a:lnSpc>
              <a:buNone/>
            </a:pPr>
            <a:r>
              <a:rPr lang="en-US" sz="1100" i="1" dirty="0">
                <a:solidFill>
                  <a:srgbClr val="22252B"/>
                </a:solidFill>
                <a:latin typeface="Calibri" pitchFamily="34" charset="0"/>
                <a:ea typeface="Calibri" pitchFamily="34" charset="-122"/>
                <a:cs typeface="Calibri" pitchFamily="34" charset="-120"/>
              </a:rPr>
              <a:t>“Summarise section by section, keeping all figures, dates and names — I need to work from this, not just understand it.”</a:t>
            </a:r>
            <a:endParaRPr lang="en-US" sz="1100" dirty="0"/>
          </a:p>
        </p:txBody>
      </p:sp>
      <p:sp>
        <p:nvSpPr>
          <p:cNvPr id="16" name="Shape 12"/>
          <p:cNvSpPr/>
          <p:nvPr/>
        </p:nvSpPr>
        <p:spPr>
          <a:xfrm>
            <a:off x="502920" y="3886200"/>
            <a:ext cx="5440680" cy="2057400"/>
          </a:xfrm>
          <a:prstGeom prst="roundRect">
            <a:avLst>
              <a:gd name="adj" fmla="val 3556"/>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7" name="Shape 13"/>
          <p:cNvSpPr/>
          <p:nvPr/>
        </p:nvSpPr>
        <p:spPr>
          <a:xfrm>
            <a:off x="731520" y="4114800"/>
            <a:ext cx="502920" cy="502920"/>
          </a:xfrm>
          <a:prstGeom prst="roundRect">
            <a:avLst>
              <a:gd name="adj" fmla="val 16364"/>
            </a:avLst>
          </a:prstGeom>
          <a:solidFill>
            <a:srgbClr val="FCBD4C"/>
          </a:solidFill>
          <a:ln/>
        </p:spPr>
      </p:sp>
      <p:pic>
        <p:nvPicPr>
          <p:cNvPr id="18" name="Image 2" descr="preencoded.png">    </p:cNvPr>
          <p:cNvPicPr>
            <a:picLocks noChangeAspect="1"/>
          </p:cNvPicPr>
          <p:nvPr/>
        </p:nvPicPr>
        <p:blipFill>
          <a:blip r:embed="rId3"/>
          <a:stretch>
            <a:fillRect/>
          </a:stretch>
        </p:blipFill>
        <p:spPr>
          <a:xfrm>
            <a:off x="842162" y="4225442"/>
            <a:ext cx="281635" cy="281635"/>
          </a:xfrm>
          <a:prstGeom prst="rect">
            <a:avLst/>
          </a:prstGeom>
        </p:spPr>
      </p:pic>
      <p:sp>
        <p:nvSpPr>
          <p:cNvPr id="19" name="Text 14"/>
          <p:cNvSpPr txBox="1"/>
          <p:nvPr/>
        </p:nvSpPr>
        <p:spPr>
          <a:xfrm>
            <a:off x="1371600" y="4087368"/>
            <a:ext cx="4389120" cy="548640"/>
          </a:xfrm>
          <a:prstGeom prst="rect">
            <a:avLst/>
          </a:prstGeom>
          <a:noFill/>
          <a:ln/>
        </p:spPr>
        <p:txBody>
          <a:bodyPr wrap="square" lIns="0" tIns="0" rIns="0" bIns="0" rtlCol="0" anchor="ctr"/>
          <a:lstStyle/>
          <a:p>
            <a:pPr indent="0" marL="0">
              <a:buNone/>
            </a:pPr>
            <a:r>
              <a:rPr lang="en-US" sz="1450" b="1" dirty="0">
                <a:solidFill>
                  <a:srgbClr val="273370"/>
                </a:solidFill>
                <a:latin typeface="Calibri" pitchFamily="34" charset="0"/>
                <a:ea typeface="Calibri" pitchFamily="34" charset="-122"/>
                <a:cs typeface="Calibri" pitchFamily="34" charset="-120"/>
              </a:rPr>
              <a:t>FAQ / briefing</a:t>
            </a:r>
            <a:endParaRPr lang="en-US" sz="1450" dirty="0"/>
          </a:p>
        </p:txBody>
      </p:sp>
      <p:sp>
        <p:nvSpPr>
          <p:cNvPr id="20" name="Text 15"/>
          <p:cNvSpPr txBox="1"/>
          <p:nvPr/>
        </p:nvSpPr>
        <p:spPr>
          <a:xfrm>
            <a:off x="731520" y="4727448"/>
            <a:ext cx="4983480" cy="1115568"/>
          </a:xfrm>
          <a:prstGeom prst="rect">
            <a:avLst/>
          </a:prstGeom>
          <a:noFill/>
          <a:ln/>
        </p:spPr>
        <p:txBody>
          <a:bodyPr wrap="square" lIns="0" tIns="0" rIns="0" bIns="0" rtlCol="0" anchor="ctr"/>
          <a:lstStyle/>
          <a:p>
            <a:pPr indent="0" marL="0">
              <a:lnSpc>
                <a:spcPct val="110000"/>
              </a:lnSpc>
              <a:buNone/>
            </a:pPr>
            <a:r>
              <a:rPr lang="en-US" sz="1100" i="1" dirty="0">
                <a:solidFill>
                  <a:srgbClr val="22252B"/>
                </a:solidFill>
                <a:latin typeface="Calibri" pitchFamily="34" charset="0"/>
                <a:ea typeface="Calibri" pitchFamily="34" charset="-122"/>
                <a:cs typeface="Calibri" pitchFamily="34" charset="-120"/>
              </a:rPr>
              <a:t>“Turn this policy into the 7 questions staff will actually ask, with short plain-language answers.”</a:t>
            </a:r>
            <a:endParaRPr lang="en-US" sz="1100" dirty="0"/>
          </a:p>
        </p:txBody>
      </p:sp>
      <p:sp>
        <p:nvSpPr>
          <p:cNvPr id="21" name="Shape 16"/>
          <p:cNvSpPr/>
          <p:nvPr/>
        </p:nvSpPr>
        <p:spPr>
          <a:xfrm>
            <a:off x="6217920" y="3886200"/>
            <a:ext cx="5440680" cy="2057400"/>
          </a:xfrm>
          <a:prstGeom prst="roundRect">
            <a:avLst>
              <a:gd name="adj" fmla="val 3556"/>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22" name="Shape 17"/>
          <p:cNvSpPr/>
          <p:nvPr/>
        </p:nvSpPr>
        <p:spPr>
          <a:xfrm>
            <a:off x="6446520" y="4114800"/>
            <a:ext cx="502920" cy="502920"/>
          </a:xfrm>
          <a:prstGeom prst="roundRect">
            <a:avLst>
              <a:gd name="adj" fmla="val 16364"/>
            </a:avLst>
          </a:prstGeom>
          <a:solidFill>
            <a:srgbClr val="D45C5C"/>
          </a:solidFill>
          <a:ln/>
        </p:spPr>
      </p:sp>
      <p:pic>
        <p:nvPicPr>
          <p:cNvPr id="23" name="Image 3" descr="preencoded.png">    </p:cNvPr>
          <p:cNvPicPr>
            <a:picLocks noChangeAspect="1"/>
          </p:cNvPicPr>
          <p:nvPr/>
        </p:nvPicPr>
        <p:blipFill>
          <a:blip r:embed="rId4"/>
          <a:stretch>
            <a:fillRect/>
          </a:stretch>
        </p:blipFill>
        <p:spPr>
          <a:xfrm>
            <a:off x="6557162" y="4225442"/>
            <a:ext cx="281635" cy="281635"/>
          </a:xfrm>
          <a:prstGeom prst="rect">
            <a:avLst/>
          </a:prstGeom>
        </p:spPr>
      </p:pic>
      <p:sp>
        <p:nvSpPr>
          <p:cNvPr id="24" name="Text 18"/>
          <p:cNvSpPr txBox="1"/>
          <p:nvPr/>
        </p:nvSpPr>
        <p:spPr>
          <a:xfrm>
            <a:off x="7086600" y="4087368"/>
            <a:ext cx="4389120" cy="548640"/>
          </a:xfrm>
          <a:prstGeom prst="rect">
            <a:avLst/>
          </a:prstGeom>
          <a:noFill/>
          <a:ln/>
        </p:spPr>
        <p:txBody>
          <a:bodyPr wrap="square" lIns="0" tIns="0" rIns="0" bIns="0" rtlCol="0" anchor="ctr"/>
          <a:lstStyle/>
          <a:p>
            <a:pPr indent="0" marL="0">
              <a:buNone/>
            </a:pPr>
            <a:r>
              <a:rPr lang="en-US" sz="1450" b="1" dirty="0">
                <a:solidFill>
                  <a:srgbClr val="273370"/>
                </a:solidFill>
                <a:latin typeface="Calibri" pitchFamily="34" charset="0"/>
                <a:ea typeface="Calibri" pitchFamily="34" charset="-122"/>
                <a:cs typeface="Calibri" pitchFamily="34" charset="-120"/>
              </a:rPr>
              <a:t>Risk read</a:t>
            </a:r>
            <a:endParaRPr lang="en-US" sz="1450" dirty="0"/>
          </a:p>
        </p:txBody>
      </p:sp>
      <p:sp>
        <p:nvSpPr>
          <p:cNvPr id="25" name="Text 19"/>
          <p:cNvSpPr txBox="1"/>
          <p:nvPr/>
        </p:nvSpPr>
        <p:spPr>
          <a:xfrm>
            <a:off x="6446520" y="4727448"/>
            <a:ext cx="4983480" cy="1115568"/>
          </a:xfrm>
          <a:prstGeom prst="rect">
            <a:avLst/>
          </a:prstGeom>
          <a:noFill/>
          <a:ln/>
        </p:spPr>
        <p:txBody>
          <a:bodyPr wrap="square" lIns="0" tIns="0" rIns="0" bIns="0" rtlCol="0" anchor="ctr"/>
          <a:lstStyle/>
          <a:p>
            <a:pPr indent="0" marL="0">
              <a:lnSpc>
                <a:spcPct val="110000"/>
              </a:lnSpc>
              <a:buNone/>
            </a:pPr>
            <a:r>
              <a:rPr lang="en-US" sz="1100" i="1" dirty="0">
                <a:solidFill>
                  <a:srgbClr val="22252B"/>
                </a:solidFill>
                <a:latin typeface="Calibri" pitchFamily="34" charset="0"/>
                <a:ea typeface="Calibri" pitchFamily="34" charset="-122"/>
                <a:cs typeface="Calibri" pitchFamily="34" charset="-120"/>
              </a:rPr>
              <a:t>“List everything in this document that could go wrong, cost money, or embarrass us — ranked by severity.”</a:t>
            </a:r>
            <a:endParaRPr lang="en-US" sz="1100" dirty="0"/>
          </a:p>
        </p:txBody>
      </p:sp>
      <p:sp>
        <p:nvSpPr>
          <p:cNvPr id="26" name="Text 20"/>
          <p:cNvSpPr txBox="1"/>
          <p:nvPr/>
        </p:nvSpPr>
        <p:spPr>
          <a:xfrm>
            <a:off x="502920" y="5989320"/>
            <a:ext cx="10972800" cy="365760"/>
          </a:xfrm>
          <a:prstGeom prst="rect">
            <a:avLst/>
          </a:prstGeom>
          <a:noFill/>
          <a:ln/>
        </p:spPr>
        <p:txBody>
          <a:bodyPr wrap="square" lIns="0" tIns="0" rIns="0" bIns="0" rtlCol="0" anchor="ctr"/>
          <a:lstStyle/>
          <a:p>
            <a:pPr indent="0" marL="0">
              <a:buNone/>
            </a:pPr>
            <a:r>
              <a:rPr lang="en-US" sz="1300" b="1" i="1" dirty="0">
                <a:solidFill>
                  <a:srgbClr val="273370"/>
                </a:solidFill>
                <a:latin typeface="Calibri" pitchFamily="34" charset="0"/>
                <a:ea typeface="Calibri" pitchFamily="34" charset="-122"/>
                <a:cs typeface="Calibri" pitchFamily="34" charset="-120"/>
              </a:rPr>
              <a:t>Golden rule: add “use only the text provided — do not add outside information” to every summarisation prompt.</a:t>
            </a:r>
            <a:endParaRPr lang="en-US" sz="1300" dirty="0"/>
          </a:p>
        </p:txBody>
      </p:sp>
      <p:sp>
        <p:nvSpPr>
          <p:cNvPr id="27" name="Text 21"/>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28" name="Text 22"/>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Information extraction: text → structure</a:t>
            </a:r>
            <a:endParaRPr lang="en-US" sz="3000" dirty="0"/>
          </a:p>
        </p:txBody>
      </p:sp>
      <p:sp>
        <p:nvSpPr>
          <p:cNvPr id="3" name="Text 1"/>
          <p:cNvSpPr txBox="1"/>
          <p:nvPr/>
        </p:nvSpPr>
        <p:spPr>
          <a:xfrm>
            <a:off x="502920" y="987552"/>
            <a:ext cx="11155680" cy="365760"/>
          </a:xfrm>
          <a:prstGeom prst="rect">
            <a:avLst/>
          </a:prstGeom>
          <a:noFill/>
          <a:ln/>
        </p:spPr>
        <p:txBody>
          <a:bodyPr wrap="square" lIns="0" tIns="0" rIns="0" bIns="0" rtlCol="0" anchor="ctr"/>
          <a:lstStyle/>
          <a:p>
            <a:pPr indent="0" marL="0">
              <a:buNone/>
            </a:pPr>
            <a:r>
              <a:rPr lang="en-US" sz="1400" dirty="0">
                <a:solidFill>
                  <a:srgbClr val="696969"/>
                </a:solidFill>
                <a:latin typeface="Calibri" pitchFamily="34" charset="0"/>
                <a:ea typeface="Calibri" pitchFamily="34" charset="-122"/>
                <a:cs typeface="Calibri" pitchFamily="34" charset="-120"/>
              </a:rPr>
              <a:t>Turn prose into tables, actions and data you can use</a:t>
            </a:r>
            <a:endParaRPr lang="en-US" sz="1400" dirty="0"/>
          </a:p>
        </p:txBody>
      </p:sp>
      <p:sp>
        <p:nvSpPr>
          <p:cNvPr id="4" name="Shape 2"/>
          <p:cNvSpPr/>
          <p:nvPr/>
        </p:nvSpPr>
        <p:spPr>
          <a:xfrm>
            <a:off x="10565892" y="457200"/>
            <a:ext cx="1120140" cy="384048"/>
          </a:xfrm>
          <a:prstGeom prst="roundRect">
            <a:avLst>
              <a:gd name="adj" fmla="val 50000"/>
            </a:avLst>
          </a:prstGeom>
          <a:solidFill>
            <a:srgbClr val="94A0DA"/>
          </a:solidFill>
          <a:ln/>
        </p:spPr>
      </p:sp>
      <p:sp>
        <p:nvSpPr>
          <p:cNvPr id="5" name="Text 3"/>
          <p:cNvSpPr txBox="1"/>
          <p:nvPr/>
        </p:nvSpPr>
        <p:spPr>
          <a:xfrm>
            <a:off x="10565892" y="457200"/>
            <a:ext cx="11201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Shape 4"/>
          <p:cNvSpPr/>
          <p:nvPr/>
        </p:nvSpPr>
        <p:spPr>
          <a:xfrm>
            <a:off x="502920" y="1463040"/>
            <a:ext cx="5532120" cy="4572000"/>
          </a:xfrm>
          <a:prstGeom prst="roundRect">
            <a:avLst>
              <a:gd name="adj" fmla="val 1600"/>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502920" y="1463040"/>
            <a:ext cx="5532120" cy="420624"/>
          </a:xfrm>
          <a:prstGeom prst="roundRect">
            <a:avLst>
              <a:gd name="adj" fmla="val 17391"/>
            </a:avLst>
          </a:prstGeom>
          <a:solidFill>
            <a:srgbClr val="273370"/>
          </a:solidFill>
          <a:ln/>
        </p:spPr>
      </p:sp>
      <p:sp>
        <p:nvSpPr>
          <p:cNvPr id="8" name="Shape 6"/>
          <p:cNvSpPr/>
          <p:nvPr/>
        </p:nvSpPr>
        <p:spPr>
          <a:xfrm>
            <a:off x="502920" y="1673352"/>
            <a:ext cx="5532120" cy="210312"/>
          </a:xfrm>
          <a:prstGeom prst="rect">
            <a:avLst/>
          </a:prstGeom>
          <a:solidFill>
            <a:srgbClr val="273370"/>
          </a:solidFill>
          <a:ln/>
        </p:spPr>
      </p:sp>
      <p:sp>
        <p:nvSpPr>
          <p:cNvPr id="9" name="Text 7"/>
          <p:cNvSpPr txBox="1"/>
          <p:nvPr/>
        </p:nvSpPr>
        <p:spPr>
          <a:xfrm>
            <a:off x="640080" y="1463040"/>
            <a:ext cx="525780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What to extract</a:t>
            </a:r>
            <a:endParaRPr lang="en-US" sz="1400" dirty="0"/>
          </a:p>
        </p:txBody>
      </p:sp>
      <p:sp>
        <p:nvSpPr>
          <p:cNvPr id="10" name="Text 8"/>
          <p:cNvSpPr txBox="1"/>
          <p:nvPr/>
        </p:nvSpPr>
        <p:spPr>
          <a:xfrm>
            <a:off x="777240" y="2057400"/>
            <a:ext cx="5029200" cy="3749040"/>
          </a:xfrm>
          <a:prstGeom prst="rect">
            <a:avLst/>
          </a:prstGeom>
          <a:noFill/>
          <a:ln/>
        </p:spPr>
        <p:txBody>
          <a:bodyPr wrap="square" lIns="0" tIns="0" rIns="0" bIns="0" rtlCol="0" anchor="t"/>
          <a:lstStyle/>
          <a:p>
            <a:pPr marL="152400" indent="-152400">
              <a:lnSpc>
                <a:spcPct val="105000"/>
              </a:lnSpc>
              <a:spcAft>
                <a:spcPts val="600"/>
              </a:spcAft>
              <a:buSzPct val="100000"/>
              <a:buChar char="•"/>
            </a:pPr>
            <a:r>
              <a:rPr lang="en-US" sz="1250" b="1" dirty="0">
                <a:solidFill>
                  <a:srgbClr val="22252B"/>
                </a:solidFill>
                <a:latin typeface="Calibri" pitchFamily="34" charset="0"/>
                <a:ea typeface="Calibri" pitchFamily="34" charset="-122"/>
                <a:cs typeface="Calibri" pitchFamily="34" charset="-120"/>
              </a:rPr>
              <a:t>Action items:</a:t>
            </a:r>
            <a:endParaRPr lang="en-US" sz="1250" dirty="0"/>
          </a:p>
          <a:p>
            <a:pPr marL="152400" indent="-152400">
              <a:lnSpc>
                <a:spcPct val="105000"/>
              </a:lnSpc>
              <a:spcAft>
                <a:spcPts val="600"/>
              </a:spcAft>
              <a:buSzPct val="100000"/>
              <a:buChar char="•"/>
            </a:pPr>
            <a:r>
              <a:rPr lang="en-US" sz="1250" dirty="0">
                <a:solidFill>
                  <a:srgbClr val="22252B"/>
                </a:solidFill>
                <a:latin typeface="Calibri" pitchFamily="34" charset="0"/>
                <a:ea typeface="Calibri" pitchFamily="34" charset="-122"/>
                <a:cs typeface="Calibri" pitchFamily="34" charset="-120"/>
              </a:rPr>
              <a:t>owner, task, due date — from meeting notes and email threads.</a:t>
            </a:r>
            <a:endParaRPr lang="en-US" sz="1250" dirty="0"/>
          </a:p>
          <a:p>
            <a:pPr marL="152400" indent="-152400">
              <a:lnSpc>
                <a:spcPct val="105000"/>
              </a:lnSpc>
              <a:spcAft>
                <a:spcPts val="600"/>
              </a:spcAft>
              <a:buSzPct val="100000"/>
              <a:buChar char="•"/>
            </a:pPr>
            <a:r>
              <a:rPr lang="en-US" sz="1250" b="1" dirty="0">
                <a:solidFill>
                  <a:srgbClr val="22252B"/>
                </a:solidFill>
                <a:latin typeface="Calibri" pitchFamily="34" charset="0"/>
                <a:ea typeface="Calibri" pitchFamily="34" charset="-122"/>
                <a:cs typeface="Calibri" pitchFamily="34" charset="-120"/>
              </a:rPr>
              <a:t>Key figures:</a:t>
            </a:r>
            <a:endParaRPr lang="en-US" sz="1250" dirty="0"/>
          </a:p>
          <a:p>
            <a:pPr marL="152400" indent="-152400">
              <a:lnSpc>
                <a:spcPct val="105000"/>
              </a:lnSpc>
              <a:spcAft>
                <a:spcPts val="600"/>
              </a:spcAft>
              <a:buSzPct val="100000"/>
              <a:buChar char="•"/>
            </a:pPr>
            <a:r>
              <a:rPr lang="en-US" sz="1250" dirty="0">
                <a:solidFill>
                  <a:srgbClr val="22252B"/>
                </a:solidFill>
                <a:latin typeface="Calibri" pitchFamily="34" charset="0"/>
                <a:ea typeface="Calibri" pitchFamily="34" charset="-122"/>
                <a:cs typeface="Calibri" pitchFamily="34" charset="-120"/>
              </a:rPr>
              <a:t>amounts, dates, quantities — from proposals, invoices, reports.</a:t>
            </a:r>
            <a:endParaRPr lang="en-US" sz="1250" dirty="0"/>
          </a:p>
          <a:p>
            <a:pPr marL="152400" indent="-152400">
              <a:lnSpc>
                <a:spcPct val="105000"/>
              </a:lnSpc>
              <a:spcAft>
                <a:spcPts val="600"/>
              </a:spcAft>
              <a:buSzPct val="100000"/>
              <a:buChar char="•"/>
            </a:pPr>
            <a:r>
              <a:rPr lang="en-US" sz="1250" b="1" dirty="0">
                <a:solidFill>
                  <a:srgbClr val="22252B"/>
                </a:solidFill>
                <a:latin typeface="Calibri" pitchFamily="34" charset="0"/>
                <a:ea typeface="Calibri" pitchFamily="34" charset="-122"/>
                <a:cs typeface="Calibri" pitchFamily="34" charset="-120"/>
              </a:rPr>
              <a:t>Commitments &amp; conditions:</a:t>
            </a:r>
            <a:endParaRPr lang="en-US" sz="1250" dirty="0"/>
          </a:p>
          <a:p>
            <a:pPr marL="152400" indent="-152400">
              <a:lnSpc>
                <a:spcPct val="105000"/>
              </a:lnSpc>
              <a:spcAft>
                <a:spcPts val="600"/>
              </a:spcAft>
              <a:buSzPct val="100000"/>
              <a:buChar char="•"/>
            </a:pPr>
            <a:r>
              <a:rPr lang="en-US" sz="1250" dirty="0">
                <a:solidFill>
                  <a:srgbClr val="22252B"/>
                </a:solidFill>
                <a:latin typeface="Calibri" pitchFamily="34" charset="0"/>
                <a:ea typeface="Calibri" pitchFamily="34" charset="-122"/>
                <a:cs typeface="Calibri" pitchFamily="34" charset="-120"/>
              </a:rPr>
              <a:t>who promised what, under which conditions — from correspondence.</a:t>
            </a:r>
            <a:endParaRPr lang="en-US" sz="1250" dirty="0"/>
          </a:p>
          <a:p>
            <a:pPr marL="152400" indent="-152400">
              <a:lnSpc>
                <a:spcPct val="105000"/>
              </a:lnSpc>
              <a:spcAft>
                <a:spcPts val="600"/>
              </a:spcAft>
              <a:buSzPct val="100000"/>
              <a:buChar char="•"/>
            </a:pPr>
            <a:r>
              <a:rPr lang="en-US" sz="1250" b="1" dirty="0">
                <a:solidFill>
                  <a:srgbClr val="22252B"/>
                </a:solidFill>
                <a:latin typeface="Calibri" pitchFamily="34" charset="0"/>
                <a:ea typeface="Calibri" pitchFamily="34" charset="-122"/>
                <a:cs typeface="Calibri" pitchFamily="34" charset="-120"/>
              </a:rPr>
              <a:t>Structured records:</a:t>
            </a:r>
            <a:endParaRPr lang="en-US" sz="1250" dirty="0"/>
          </a:p>
          <a:p>
            <a:pPr marL="152400" indent="-152400">
              <a:lnSpc>
                <a:spcPct val="105000"/>
              </a:lnSpc>
              <a:spcAft>
                <a:spcPts val="600"/>
              </a:spcAft>
              <a:buSzPct val="100000"/>
              <a:buChar char="•"/>
            </a:pPr>
            <a:r>
              <a:rPr lang="en-US" sz="1250" dirty="0">
                <a:solidFill>
                  <a:srgbClr val="22252B"/>
                </a:solidFill>
                <a:latin typeface="Calibri" pitchFamily="34" charset="0"/>
                <a:ea typeface="Calibri" pitchFamily="34" charset="-122"/>
                <a:cs typeface="Calibri" pitchFamily="34" charset="-120"/>
              </a:rPr>
              <a:t>names, roles, contact details — into a table ready for Excel.</a:t>
            </a:r>
            <a:endParaRPr lang="en-US" sz="1250" dirty="0"/>
          </a:p>
        </p:txBody>
      </p:sp>
      <p:sp>
        <p:nvSpPr>
          <p:cNvPr id="11" name="Shape 9"/>
          <p:cNvSpPr/>
          <p:nvPr/>
        </p:nvSpPr>
        <p:spPr>
          <a:xfrm>
            <a:off x="6263640" y="1463040"/>
            <a:ext cx="5440680" cy="4572000"/>
          </a:xfrm>
          <a:prstGeom prst="roundRect">
            <a:avLst>
              <a:gd name="adj" fmla="val 1600"/>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6263640" y="1463040"/>
            <a:ext cx="5440680" cy="420624"/>
          </a:xfrm>
          <a:prstGeom prst="roundRect">
            <a:avLst>
              <a:gd name="adj" fmla="val 17391"/>
            </a:avLst>
          </a:prstGeom>
          <a:solidFill>
            <a:srgbClr val="29BA74"/>
          </a:solidFill>
          <a:ln/>
        </p:spPr>
      </p:sp>
      <p:sp>
        <p:nvSpPr>
          <p:cNvPr id="13" name="Shape 11"/>
          <p:cNvSpPr/>
          <p:nvPr/>
        </p:nvSpPr>
        <p:spPr>
          <a:xfrm>
            <a:off x="6263640" y="1673352"/>
            <a:ext cx="5440680" cy="210312"/>
          </a:xfrm>
          <a:prstGeom prst="rect">
            <a:avLst/>
          </a:prstGeom>
          <a:solidFill>
            <a:srgbClr val="29BA74"/>
          </a:solidFill>
          <a:ln/>
        </p:spPr>
      </p:sp>
      <p:sp>
        <p:nvSpPr>
          <p:cNvPr id="14" name="Text 12"/>
          <p:cNvSpPr txBox="1"/>
          <p:nvPr/>
        </p:nvSpPr>
        <p:spPr>
          <a:xfrm>
            <a:off x="6400800" y="1463040"/>
            <a:ext cx="516636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extraction prompt pattern</a:t>
            </a:r>
            <a:endParaRPr lang="en-US" sz="1400" dirty="0"/>
          </a:p>
        </p:txBody>
      </p:sp>
      <p:sp>
        <p:nvSpPr>
          <p:cNvPr id="15" name="Text 13"/>
          <p:cNvSpPr txBox="1"/>
          <p:nvPr/>
        </p:nvSpPr>
        <p:spPr>
          <a:xfrm>
            <a:off x="6537960" y="2103120"/>
            <a:ext cx="4937760" cy="2011680"/>
          </a:xfrm>
          <a:prstGeom prst="rect">
            <a:avLst/>
          </a:prstGeom>
          <a:noFill/>
          <a:ln/>
        </p:spPr>
        <p:txBody>
          <a:bodyPr wrap="square" lIns="0" tIns="0" rIns="0" bIns="0" rtlCol="0" anchor="ctr"/>
          <a:lstStyle/>
          <a:p>
            <a:pPr indent="0" marL="0">
              <a:lnSpc>
                <a:spcPct val="118000"/>
              </a:lnSpc>
              <a:buNone/>
            </a:pPr>
            <a:r>
              <a:rPr lang="en-US" sz="1250" i="1" dirty="0">
                <a:solidFill>
                  <a:srgbClr val="22252B"/>
                </a:solidFill>
                <a:latin typeface="Calibri" pitchFamily="34" charset="0"/>
                <a:ea typeface="Calibri" pitchFamily="34" charset="-122"/>
                <a:cs typeface="Calibri" pitchFamily="34" charset="-120"/>
              </a:rPr>
              <a:t>“From the text below, extract every action item into a table with columns: # | Action | Owner | Due date | Status. Rules: use only what is stated; if the owner or date is missing or ambiguous, write [CHECK] — never guess. After the table, list open questions to resolve.”</a:t>
            </a:r>
            <a:endParaRPr lang="en-US" sz="1250" dirty="0"/>
          </a:p>
        </p:txBody>
      </p:sp>
      <p:sp>
        <p:nvSpPr>
          <p:cNvPr id="16" name="Text 14"/>
          <p:cNvSpPr txBox="1"/>
          <p:nvPr/>
        </p:nvSpPr>
        <p:spPr>
          <a:xfrm>
            <a:off x="6537960" y="4297680"/>
            <a:ext cx="4937760" cy="1554480"/>
          </a:xfrm>
          <a:prstGeom prst="rect">
            <a:avLst/>
          </a:prstGeom>
          <a:noFill/>
          <a:ln/>
        </p:spPr>
        <p:txBody>
          <a:bodyPr wrap="square" lIns="0" tIns="0" rIns="0" bIns="0" rtlCol="0" anchor="t"/>
          <a:lstStyle/>
          <a:p>
            <a:pPr marL="152400" indent="-152400">
              <a:lnSpc>
                <a:spcPct val="105000"/>
              </a:lnSpc>
              <a:spcAft>
                <a:spcPts val="600"/>
              </a:spcAft>
              <a:buSzPct val="100000"/>
              <a:buChar char="•"/>
            </a:pPr>
            <a:r>
              <a:rPr lang="en-US" sz="1250" b="1" dirty="0">
                <a:solidFill>
                  <a:srgbClr val="22252B"/>
                </a:solidFill>
                <a:latin typeface="Calibri" pitchFamily="34" charset="0"/>
                <a:ea typeface="Calibri" pitchFamily="34" charset="-122"/>
                <a:cs typeface="Calibri" pitchFamily="34" charset="-120"/>
              </a:rPr>
              <a:t>Why [CHECK] matters:</a:t>
            </a:r>
            <a:endParaRPr lang="en-US" sz="1250" dirty="0"/>
          </a:p>
          <a:p>
            <a:pPr marL="152400" indent="-152400">
              <a:lnSpc>
                <a:spcPct val="105000"/>
              </a:lnSpc>
              <a:spcAft>
                <a:spcPts val="600"/>
              </a:spcAft>
              <a:buSzPct val="100000"/>
              <a:buChar char="•"/>
            </a:pPr>
            <a:r>
              <a:rPr lang="en-US" sz="1250" dirty="0">
                <a:solidFill>
                  <a:srgbClr val="22252B"/>
                </a:solidFill>
                <a:latin typeface="Calibri" pitchFamily="34" charset="0"/>
                <a:ea typeface="Calibri" pitchFamily="34" charset="-122"/>
                <a:cs typeface="Calibri" pitchFamily="34" charset="-120"/>
              </a:rPr>
              <a:t>It converts the AI's guesses into visible questions — the difference between a helpful table and a misleading one.</a:t>
            </a:r>
            <a:endParaRPr lang="en-US" sz="1250" dirty="0"/>
          </a:p>
        </p:txBody>
      </p:sp>
      <p:sp>
        <p:nvSpPr>
          <p:cNvPr id="17" name="Text 15"/>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18" name="Text 16"/>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Demo 4 — Messy notes to minutes, live</a:t>
            </a:r>
            <a:endParaRPr lang="en-US" sz="3000" dirty="0"/>
          </a:p>
        </p:txBody>
      </p:sp>
      <p:sp>
        <p:nvSpPr>
          <p:cNvPr id="3" name="Text 1"/>
          <p:cNvSpPr txBox="1"/>
          <p:nvPr/>
        </p:nvSpPr>
        <p:spPr>
          <a:xfrm>
            <a:off x="502920" y="987552"/>
            <a:ext cx="11155680" cy="365760"/>
          </a:xfrm>
          <a:prstGeom prst="rect">
            <a:avLst/>
          </a:prstGeom>
          <a:noFill/>
          <a:ln/>
        </p:spPr>
        <p:txBody>
          <a:bodyPr wrap="square" lIns="0" tIns="0" rIns="0" bIns="0" rtlCol="0" anchor="ctr"/>
          <a:lstStyle/>
          <a:p>
            <a:pPr indent="0" marL="0">
              <a:buNone/>
            </a:pPr>
            <a:r>
              <a:rPr lang="en-US" sz="1400" dirty="0">
                <a:solidFill>
                  <a:srgbClr val="696969"/>
                </a:solidFill>
                <a:latin typeface="Calibri" pitchFamily="34" charset="0"/>
                <a:ea typeface="Calibri" pitchFamily="34" charset="-122"/>
                <a:cs typeface="Calibri" pitchFamily="34" charset="-120"/>
              </a:rPr>
              <a:t>File: internal policy excerpt + raw meeting notes</a:t>
            </a:r>
            <a:endParaRPr lang="en-US" sz="1400" dirty="0"/>
          </a:p>
        </p:txBody>
      </p:sp>
      <p:sp>
        <p:nvSpPr>
          <p:cNvPr id="4" name="Shape 2"/>
          <p:cNvSpPr/>
          <p:nvPr/>
        </p:nvSpPr>
        <p:spPr>
          <a:xfrm>
            <a:off x="10881360" y="457200"/>
            <a:ext cx="804672" cy="384048"/>
          </a:xfrm>
          <a:prstGeom prst="roundRect">
            <a:avLst>
              <a:gd name="adj" fmla="val 50000"/>
            </a:avLst>
          </a:prstGeom>
          <a:solidFill>
            <a:srgbClr val="FCBD4C"/>
          </a:solidFill>
          <a:ln/>
        </p:spPr>
      </p:sp>
      <p:sp>
        <p:nvSpPr>
          <p:cNvPr id="5" name="Text 3"/>
          <p:cNvSpPr txBox="1"/>
          <p:nvPr/>
        </p:nvSpPr>
        <p:spPr>
          <a:xfrm>
            <a:off x="10881360" y="457200"/>
            <a:ext cx="804672" cy="384048"/>
          </a:xfrm>
          <a:prstGeom prst="rect">
            <a:avLst/>
          </a:prstGeom>
          <a:noFill/>
          <a:ln/>
        </p:spPr>
        <p:txBody>
          <a:bodyPr wrap="square" lIns="0" tIns="0" rIns="0" bIns="0" rtlCol="0" anchor="ctr"/>
          <a:lstStyle/>
          <a:p>
            <a:pPr algn="ctr" indent="0" marL="0">
              <a:buNone/>
            </a:pPr>
            <a:r>
              <a:rPr lang="en-US" sz="1200" b="1" dirty="0">
                <a:solidFill>
                  <a:srgbClr val="131938"/>
                </a:solidFill>
                <a:latin typeface="Calibri" pitchFamily="34" charset="0"/>
                <a:ea typeface="Calibri" pitchFamily="34" charset="-122"/>
                <a:cs typeface="Calibri" pitchFamily="34" charset="-120"/>
              </a:rPr>
              <a:t>DEMO</a:t>
            </a:r>
            <a:endParaRPr lang="en-US" sz="1200" dirty="0"/>
          </a:p>
        </p:txBody>
      </p:sp>
      <p:sp>
        <p:nvSpPr>
          <p:cNvPr id="6" name="Shape 4"/>
          <p:cNvSpPr/>
          <p:nvPr/>
        </p:nvSpPr>
        <p:spPr>
          <a:xfrm>
            <a:off x="502920" y="1463040"/>
            <a:ext cx="11201400" cy="2286000"/>
          </a:xfrm>
          <a:prstGeom prst="roundRect">
            <a:avLst>
              <a:gd name="adj" fmla="val 3200"/>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502920" y="1463040"/>
            <a:ext cx="11201400" cy="420624"/>
          </a:xfrm>
          <a:prstGeom prst="roundRect">
            <a:avLst>
              <a:gd name="adj" fmla="val 17391"/>
            </a:avLst>
          </a:prstGeom>
          <a:solidFill>
            <a:srgbClr val="FCBD4C"/>
          </a:solidFill>
          <a:ln/>
        </p:spPr>
      </p:sp>
      <p:sp>
        <p:nvSpPr>
          <p:cNvPr id="8" name="Shape 6"/>
          <p:cNvSpPr/>
          <p:nvPr/>
        </p:nvSpPr>
        <p:spPr>
          <a:xfrm>
            <a:off x="502920" y="1673352"/>
            <a:ext cx="11201400" cy="210312"/>
          </a:xfrm>
          <a:prstGeom prst="rect">
            <a:avLst/>
          </a:prstGeom>
          <a:solidFill>
            <a:srgbClr val="FCBD4C"/>
          </a:solidFill>
          <a:ln/>
        </p:spPr>
      </p:sp>
      <p:sp>
        <p:nvSpPr>
          <p:cNvPr id="9" name="Text 7"/>
          <p:cNvSpPr txBox="1"/>
          <p:nvPr/>
        </p:nvSpPr>
        <p:spPr>
          <a:xfrm>
            <a:off x="640080" y="1463040"/>
            <a:ext cx="1092708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Trainer will demonstrate</a:t>
            </a:r>
            <a:endParaRPr lang="en-US" sz="1400" dirty="0"/>
          </a:p>
        </p:txBody>
      </p:sp>
      <p:sp>
        <p:nvSpPr>
          <p:cNvPr id="10" name="Text 8"/>
          <p:cNvSpPr txBox="1"/>
          <p:nvPr/>
        </p:nvSpPr>
        <p:spPr>
          <a:xfrm>
            <a:off x="777240" y="2084832"/>
            <a:ext cx="10607040" cy="1554480"/>
          </a:xfrm>
          <a:prstGeom prst="rect">
            <a:avLst/>
          </a:prstGeom>
          <a:noFill/>
          <a:ln/>
        </p:spPr>
        <p:txBody>
          <a:bodyPr wrap="square" lIns="0" tIns="0" rIns="0" bIns="0" rtlCol="0" anchor="t"/>
          <a:lstStyle/>
          <a:p>
            <a:pPr marL="152400" indent="-152400">
              <a:lnSpc>
                <a:spcPct val="105000"/>
              </a:lnSpc>
              <a:spcAft>
                <a:spcPts val="1000"/>
              </a:spcAft>
              <a:buSzPct val="100000"/>
              <a:buChar char="•"/>
            </a:pPr>
            <a:r>
              <a:rPr lang="en-US" sz="1300" dirty="0">
                <a:solidFill>
                  <a:srgbClr val="22252B"/>
                </a:solidFill>
                <a:latin typeface="Calibri" pitchFamily="34" charset="0"/>
                <a:ea typeface="Calibri" pitchFamily="34" charset="-122"/>
                <a:cs typeface="Calibri" pitchFamily="34" charset="-120"/>
              </a:rPr>
              <a:t>Part A (3 min): paste the Flexible Work Policy excerpt → one-paragraph staff announcement → then “now as 5 FAQ questions” — same source, two audiences.</a:t>
            </a:r>
            <a:endParaRPr lang="en-US" sz="1300" dirty="0"/>
          </a:p>
          <a:p>
            <a:pPr marL="152400" indent="-152400">
              <a:lnSpc>
                <a:spcPct val="105000"/>
              </a:lnSpc>
              <a:spcAft>
                <a:spcPts val="1000"/>
              </a:spcAft>
              <a:buSzPct val="100000"/>
              <a:buChar char="•"/>
            </a:pPr>
            <a:r>
              <a:rPr lang="en-US" sz="1300" dirty="0">
                <a:solidFill>
                  <a:srgbClr val="22252B"/>
                </a:solidFill>
                <a:latin typeface="Calibri" pitchFamily="34" charset="0"/>
                <a:ea typeface="Calibri" pitchFamily="34" charset="-122"/>
                <a:cs typeface="Calibri" pitchFamily="34" charset="-120"/>
              </a:rPr>
              <a:t>Part B (5 min): paste a fragment of the raw meeting notes → formal minutes with an action table using the [CHECK] pattern — watch it flag the unclear budget figure and the unnamed owner.</a:t>
            </a:r>
            <a:endParaRPr lang="en-US" sz="1300" dirty="0"/>
          </a:p>
        </p:txBody>
      </p:sp>
      <p:sp>
        <p:nvSpPr>
          <p:cNvPr id="11" name="Shape 9"/>
          <p:cNvSpPr/>
          <p:nvPr/>
        </p:nvSpPr>
        <p:spPr>
          <a:xfrm>
            <a:off x="502920" y="3977640"/>
            <a:ext cx="11201400" cy="2057400"/>
          </a:xfrm>
          <a:prstGeom prst="roundRect">
            <a:avLst>
              <a:gd name="adj" fmla="val 3556"/>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502920" y="3977640"/>
            <a:ext cx="11201400" cy="420624"/>
          </a:xfrm>
          <a:prstGeom prst="roundRect">
            <a:avLst>
              <a:gd name="adj" fmla="val 17391"/>
            </a:avLst>
          </a:prstGeom>
          <a:solidFill>
            <a:srgbClr val="273370"/>
          </a:solidFill>
          <a:ln/>
        </p:spPr>
      </p:sp>
      <p:sp>
        <p:nvSpPr>
          <p:cNvPr id="13" name="Shape 11"/>
          <p:cNvSpPr/>
          <p:nvPr/>
        </p:nvSpPr>
        <p:spPr>
          <a:xfrm>
            <a:off x="502920" y="4187952"/>
            <a:ext cx="11201400" cy="210312"/>
          </a:xfrm>
          <a:prstGeom prst="rect">
            <a:avLst/>
          </a:prstGeom>
          <a:solidFill>
            <a:srgbClr val="273370"/>
          </a:solidFill>
          <a:ln/>
        </p:spPr>
      </p:sp>
      <p:sp>
        <p:nvSpPr>
          <p:cNvPr id="14" name="Text 12"/>
          <p:cNvSpPr txBox="1"/>
          <p:nvPr/>
        </p:nvSpPr>
        <p:spPr>
          <a:xfrm>
            <a:off x="640080" y="3977640"/>
            <a:ext cx="1092708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Watch for</a:t>
            </a:r>
            <a:endParaRPr lang="en-US" sz="1400" dirty="0"/>
          </a:p>
        </p:txBody>
      </p:sp>
      <p:sp>
        <p:nvSpPr>
          <p:cNvPr id="15" name="Text 13"/>
          <p:cNvSpPr txBox="1"/>
          <p:nvPr/>
        </p:nvSpPr>
        <p:spPr>
          <a:xfrm>
            <a:off x="777240" y="4572000"/>
            <a:ext cx="10607040" cy="1280160"/>
          </a:xfrm>
          <a:prstGeom prst="rect">
            <a:avLst/>
          </a:prstGeom>
          <a:noFill/>
          <a:ln/>
        </p:spPr>
        <p:txBody>
          <a:bodyPr wrap="square" lIns="0" tIns="0" rIns="0" bIns="0" rtlCol="0" anchor="t"/>
          <a:lstStyle/>
          <a:p>
            <a:pPr marL="152400" indent="-152400">
              <a:lnSpc>
                <a:spcPct val="105000"/>
              </a:lnSpc>
              <a:spcAft>
                <a:spcPts val="1000"/>
              </a:spcAft>
              <a:buSzPct val="100000"/>
              <a:buChar char="•"/>
            </a:pPr>
            <a:r>
              <a:rPr lang="en-US" sz="1300" dirty="0">
                <a:solidFill>
                  <a:srgbClr val="22252B"/>
                </a:solidFill>
                <a:latin typeface="Calibri" pitchFamily="34" charset="0"/>
                <a:ea typeface="Calibri" pitchFamily="34" charset="-122"/>
                <a:cs typeface="Calibri" pitchFamily="34" charset="-120"/>
              </a:rPr>
              <a:t>The minutes look complete and professional — would you have noticed what was missing without the [CHECK] flags?</a:t>
            </a:r>
            <a:endParaRPr lang="en-US" sz="1300" dirty="0"/>
          </a:p>
          <a:p>
            <a:pPr marL="152400" indent="-152400">
              <a:lnSpc>
                <a:spcPct val="105000"/>
              </a:lnSpc>
              <a:spcAft>
                <a:spcPts val="1000"/>
              </a:spcAft>
              <a:buSzPct val="100000"/>
              <a:buChar char="•"/>
            </a:pPr>
            <a:r>
              <a:rPr lang="en-US" sz="1300" dirty="0">
                <a:solidFill>
                  <a:srgbClr val="22252B"/>
                </a:solidFill>
                <a:latin typeface="Calibri" pitchFamily="34" charset="0"/>
                <a:ea typeface="Calibri" pitchFamily="34" charset="-122"/>
                <a:cs typeface="Calibri" pitchFamily="34" charset="-120"/>
              </a:rPr>
              <a:t>The AI resolves “me” and “argument about provider” into formal language. Is anything lost or over-smoothed in translation?</a:t>
            </a:r>
            <a:endParaRPr lang="en-US" sz="1300" dirty="0"/>
          </a:p>
        </p:txBody>
      </p:sp>
      <p:sp>
        <p:nvSpPr>
          <p:cNvPr id="16" name="Text 14"/>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17" name="Text 15"/>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Activity 2.3 — From chaos to minutes</a:t>
            </a:r>
            <a:endParaRPr lang="en-US" sz="3000" dirty="0"/>
          </a:p>
        </p:txBody>
      </p:sp>
      <p:sp>
        <p:nvSpPr>
          <p:cNvPr id="3" name="Text 1"/>
          <p:cNvSpPr txBox="1"/>
          <p:nvPr/>
        </p:nvSpPr>
        <p:spPr>
          <a:xfrm>
            <a:off x="502920" y="987552"/>
            <a:ext cx="11155680" cy="365760"/>
          </a:xfrm>
          <a:prstGeom prst="rect">
            <a:avLst/>
          </a:prstGeom>
          <a:noFill/>
          <a:ln/>
        </p:spPr>
        <p:txBody>
          <a:bodyPr wrap="square" lIns="0" tIns="0" rIns="0" bIns="0" rtlCol="0" anchor="ctr"/>
          <a:lstStyle/>
          <a:p>
            <a:pPr indent="0" marL="0">
              <a:buNone/>
            </a:pPr>
            <a:r>
              <a:rPr lang="en-US" sz="1400" dirty="0">
                <a:solidFill>
                  <a:srgbClr val="696969"/>
                </a:solidFill>
                <a:latin typeface="Calibri" pitchFamily="34" charset="0"/>
                <a:ea typeface="Calibri" pitchFamily="34" charset="-122"/>
                <a:cs typeface="Calibri" pitchFamily="34" charset="-120"/>
              </a:rPr>
              <a:t>Individual • 35 minutes • File: meeting_notes_raw.docx • Workbook p. 6</a:t>
            </a:r>
            <a:endParaRPr lang="en-US" sz="1400" dirty="0"/>
          </a:p>
        </p:txBody>
      </p:sp>
      <p:sp>
        <p:nvSpPr>
          <p:cNvPr id="4" name="Shape 2"/>
          <p:cNvSpPr/>
          <p:nvPr/>
        </p:nvSpPr>
        <p:spPr>
          <a:xfrm>
            <a:off x="10460736" y="457200"/>
            <a:ext cx="1225296" cy="384048"/>
          </a:xfrm>
          <a:prstGeom prst="roundRect">
            <a:avLst>
              <a:gd name="adj" fmla="val 50000"/>
            </a:avLst>
          </a:prstGeom>
          <a:solidFill>
            <a:srgbClr val="29BA74"/>
          </a:solidFill>
          <a:ln/>
        </p:spPr>
      </p:sp>
      <p:sp>
        <p:nvSpPr>
          <p:cNvPr id="5" name="Text 3"/>
          <p:cNvSpPr txBox="1"/>
          <p:nvPr/>
        </p:nvSpPr>
        <p:spPr>
          <a:xfrm>
            <a:off x="10460736" y="457200"/>
            <a:ext cx="1225296"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ACTIVITY</a:t>
            </a:r>
            <a:endParaRPr lang="en-US" sz="1200" dirty="0"/>
          </a:p>
        </p:txBody>
      </p:sp>
      <p:sp>
        <p:nvSpPr>
          <p:cNvPr id="6" name="Shape 4"/>
          <p:cNvSpPr/>
          <p:nvPr/>
        </p:nvSpPr>
        <p:spPr>
          <a:xfrm>
            <a:off x="502920" y="1463040"/>
            <a:ext cx="6583680" cy="4572000"/>
          </a:xfrm>
          <a:prstGeom prst="roundRect">
            <a:avLst>
              <a:gd name="adj" fmla="val 1600"/>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502920" y="1463040"/>
            <a:ext cx="6583680" cy="420624"/>
          </a:xfrm>
          <a:prstGeom prst="roundRect">
            <a:avLst>
              <a:gd name="adj" fmla="val 17391"/>
            </a:avLst>
          </a:prstGeom>
          <a:solidFill>
            <a:srgbClr val="29BA74"/>
          </a:solidFill>
          <a:ln/>
        </p:spPr>
      </p:sp>
      <p:sp>
        <p:nvSpPr>
          <p:cNvPr id="8" name="Shape 6"/>
          <p:cNvSpPr/>
          <p:nvPr/>
        </p:nvSpPr>
        <p:spPr>
          <a:xfrm>
            <a:off x="502920" y="1673352"/>
            <a:ext cx="6583680" cy="210312"/>
          </a:xfrm>
          <a:prstGeom prst="rect">
            <a:avLst/>
          </a:prstGeom>
          <a:solidFill>
            <a:srgbClr val="29BA74"/>
          </a:solidFill>
          <a:ln/>
        </p:spPr>
      </p:sp>
      <p:sp>
        <p:nvSpPr>
          <p:cNvPr id="9" name="Text 7"/>
          <p:cNvSpPr txBox="1"/>
          <p:nvPr/>
        </p:nvSpPr>
        <p:spPr>
          <a:xfrm>
            <a:off x="640080" y="1463040"/>
            <a:ext cx="630936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Your task</a:t>
            </a:r>
            <a:endParaRPr lang="en-US" sz="1400" dirty="0"/>
          </a:p>
        </p:txBody>
      </p:sp>
      <p:sp>
        <p:nvSpPr>
          <p:cNvPr id="10" name="Text 8"/>
          <p:cNvSpPr txBox="1"/>
          <p:nvPr/>
        </p:nvSpPr>
        <p:spPr>
          <a:xfrm>
            <a:off x="777240" y="2057400"/>
            <a:ext cx="6035040" cy="3794760"/>
          </a:xfrm>
          <a:prstGeom prst="rect">
            <a:avLst/>
          </a:prstGeom>
          <a:noFill/>
          <a:ln/>
        </p:spPr>
        <p:txBody>
          <a:bodyPr wrap="square" lIns="0" tIns="0" rIns="0" bIns="0" rtlCol="0" anchor="t"/>
          <a:lstStyle/>
          <a:p>
            <a:pPr marL="152400" indent="-152400">
              <a:lnSpc>
                <a:spcPct val="105000"/>
              </a:lnSpc>
              <a:spcAft>
                <a:spcPts val="600"/>
              </a:spcAft>
              <a:buSzPct val="100000"/>
              <a:buChar char="•"/>
            </a:pPr>
            <a:r>
              <a:rPr lang="en-US" sz="1200" dirty="0">
                <a:solidFill>
                  <a:srgbClr val="22252B"/>
                </a:solidFill>
                <a:latin typeface="Calibri" pitchFamily="34" charset="0"/>
                <a:ea typeface="Calibri" pitchFamily="34" charset="-122"/>
                <a:cs typeface="Calibri" pitchFamily="34" charset="-120"/>
              </a:rPr>
              <a:t>You have the raw notes from the Q4 Training Plan Review meeting — fragments, question marks, an argument, and a bad phone line.</a:t>
            </a:r>
            <a:endParaRPr lang="en-US" sz="1200" dirty="0"/>
          </a:p>
          <a:p>
            <a:pPr marL="152400" indent="-152400">
              <a:lnSpc>
                <a:spcPct val="105000"/>
              </a:lnSpc>
              <a:spcAft>
                <a:spcPts val="600"/>
              </a:spcAft>
              <a:buSzPct val="100000"/>
              <a:buChar char="•"/>
            </a:pPr>
            <a:r>
              <a:rPr lang="en-US" sz="1200" b="1" dirty="0">
                <a:solidFill>
                  <a:srgbClr val="22252B"/>
                </a:solidFill>
                <a:latin typeface="Calibri" pitchFamily="34" charset="0"/>
                <a:ea typeface="Calibri" pitchFamily="34" charset="-122"/>
                <a:cs typeface="Calibri" pitchFamily="34" charset="-120"/>
              </a:rPr>
              <a:t>Produce, using AI:</a:t>
            </a:r>
            <a:endParaRPr lang="en-US" sz="1200" dirty="0"/>
          </a:p>
          <a:p>
            <a:pPr marL="152400" indent="-152400">
              <a:lnSpc>
                <a:spcPct val="105000"/>
              </a:lnSpc>
              <a:spcAft>
                <a:spcPts val="600"/>
              </a:spcAft>
              <a:buSzPct val="100000"/>
              <a:buChar char="•"/>
            </a:pPr>
            <a:r>
              <a:rPr lang="en-US" sz="1200" dirty="0">
                <a:solidFill>
                  <a:srgbClr val="22252B"/>
                </a:solidFill>
                <a:latin typeface="Calibri" pitchFamily="34" charset="0"/>
                <a:ea typeface="Calibri" pitchFamily="34" charset="-122"/>
                <a:cs typeface="Calibri" pitchFamily="34" charset="-120"/>
              </a:rPr>
              <a:t>1. Formal minutes: attendance, discussion points, decisions taken.</a:t>
            </a:r>
            <a:endParaRPr lang="en-US" sz="1200" dirty="0"/>
          </a:p>
          <a:p>
            <a:pPr marL="152400" indent="-152400">
              <a:lnSpc>
                <a:spcPct val="105000"/>
              </a:lnSpc>
              <a:spcAft>
                <a:spcPts val="600"/>
              </a:spcAft>
              <a:buSzPct val="100000"/>
              <a:buChar char="•"/>
            </a:pPr>
            <a:r>
              <a:rPr lang="en-US" sz="1200" dirty="0">
                <a:solidFill>
                  <a:srgbClr val="22252B"/>
                </a:solidFill>
                <a:latin typeface="Calibri" pitchFamily="34" charset="0"/>
                <a:ea typeface="Calibri" pitchFamily="34" charset="-122"/>
                <a:cs typeface="Calibri" pitchFamily="34" charset="-120"/>
              </a:rPr>
              <a:t>2. An action table: # | Action | Owner | Due date | Status — with [CHECK] wherever the notes are unclear.</a:t>
            </a:r>
            <a:endParaRPr lang="en-US" sz="1200" dirty="0"/>
          </a:p>
          <a:p>
            <a:pPr marL="152400" indent="-152400">
              <a:lnSpc>
                <a:spcPct val="105000"/>
              </a:lnSpc>
              <a:spcAft>
                <a:spcPts val="600"/>
              </a:spcAft>
              <a:buSzPct val="100000"/>
              <a:buChar char="•"/>
            </a:pPr>
            <a:r>
              <a:rPr lang="en-US" sz="1200" dirty="0">
                <a:solidFill>
                  <a:srgbClr val="22252B"/>
                </a:solidFill>
                <a:latin typeface="Calibri" pitchFamily="34" charset="0"/>
                <a:ea typeface="Calibri" pitchFamily="34" charset="-122"/>
                <a:cs typeface="Calibri" pitchFamily="34" charset="-120"/>
              </a:rPr>
              <a:t>3. A 3-line summary for a director who missed the meeting.</a:t>
            </a:r>
            <a:endParaRPr lang="en-US" sz="1200" dirty="0"/>
          </a:p>
          <a:p>
            <a:pPr marL="152400" indent="-152400">
              <a:lnSpc>
                <a:spcPct val="105000"/>
              </a:lnSpc>
              <a:spcAft>
                <a:spcPts val="600"/>
              </a:spcAft>
              <a:buSzPct val="100000"/>
              <a:buChar char="•"/>
            </a:pPr>
            <a:r>
              <a:rPr lang="en-US" sz="1200" b="1" dirty="0">
                <a:solidFill>
                  <a:srgbClr val="22252B"/>
                </a:solidFill>
                <a:latin typeface="Calibri" pitchFamily="34" charset="0"/>
                <a:ea typeface="Calibri" pitchFamily="34" charset="-122"/>
                <a:cs typeface="Calibri" pitchFamily="34" charset="-120"/>
              </a:rPr>
              <a:t>Then verify:</a:t>
            </a:r>
            <a:endParaRPr lang="en-US" sz="1200" dirty="0"/>
          </a:p>
          <a:p>
            <a:pPr marL="152400" indent="-152400">
              <a:lnSpc>
                <a:spcPct val="105000"/>
              </a:lnSpc>
              <a:spcAft>
                <a:spcPts val="600"/>
              </a:spcAft>
              <a:buSzPct val="100000"/>
              <a:buChar char="•"/>
            </a:pPr>
            <a:r>
              <a:rPr lang="en-US" sz="1200" dirty="0">
                <a:solidFill>
                  <a:srgbClr val="22252B"/>
                </a:solidFill>
                <a:latin typeface="Calibri" pitchFamily="34" charset="0"/>
                <a:ea typeface="Calibri" pitchFamily="34" charset="-122"/>
                <a:cs typeface="Calibri" pitchFamily="34" charset="-120"/>
              </a:rPr>
              <a:t>Re-read the raw notes. Did the minutes miss, invent, or over-smooth anything? Fix it.</a:t>
            </a:r>
            <a:endParaRPr lang="en-US" sz="1200" dirty="0"/>
          </a:p>
        </p:txBody>
      </p:sp>
      <p:sp>
        <p:nvSpPr>
          <p:cNvPr id="11" name="Shape 9"/>
          <p:cNvSpPr/>
          <p:nvPr/>
        </p:nvSpPr>
        <p:spPr>
          <a:xfrm>
            <a:off x="7315200" y="1463040"/>
            <a:ext cx="4389120" cy="2286000"/>
          </a:xfrm>
          <a:prstGeom prst="roundRect">
            <a:avLst>
              <a:gd name="adj" fmla="val 3200"/>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7315200" y="1463040"/>
            <a:ext cx="4389120" cy="420624"/>
          </a:xfrm>
          <a:prstGeom prst="roundRect">
            <a:avLst>
              <a:gd name="adj" fmla="val 17391"/>
            </a:avLst>
          </a:prstGeom>
          <a:solidFill>
            <a:srgbClr val="273370"/>
          </a:solidFill>
          <a:ln/>
        </p:spPr>
      </p:sp>
      <p:sp>
        <p:nvSpPr>
          <p:cNvPr id="13" name="Shape 11"/>
          <p:cNvSpPr/>
          <p:nvPr/>
        </p:nvSpPr>
        <p:spPr>
          <a:xfrm>
            <a:off x="7315200" y="1673352"/>
            <a:ext cx="4389120" cy="210312"/>
          </a:xfrm>
          <a:prstGeom prst="rect">
            <a:avLst/>
          </a:prstGeom>
          <a:solidFill>
            <a:srgbClr val="273370"/>
          </a:solidFill>
          <a:ln/>
        </p:spPr>
      </p:sp>
      <p:sp>
        <p:nvSpPr>
          <p:cNvPr id="14" name="Text 12"/>
          <p:cNvSpPr txBox="1"/>
          <p:nvPr/>
        </p:nvSpPr>
        <p:spPr>
          <a:xfrm>
            <a:off x="7452360" y="1463040"/>
            <a:ext cx="411480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Expected output</a:t>
            </a:r>
            <a:endParaRPr lang="en-US" sz="1400" dirty="0"/>
          </a:p>
        </p:txBody>
      </p:sp>
      <p:sp>
        <p:nvSpPr>
          <p:cNvPr id="15" name="Text 13"/>
          <p:cNvSpPr txBox="1"/>
          <p:nvPr/>
        </p:nvSpPr>
        <p:spPr>
          <a:xfrm>
            <a:off x="7589520" y="2057400"/>
            <a:ext cx="3840480" cy="1554480"/>
          </a:xfrm>
          <a:prstGeom prst="rect">
            <a:avLst/>
          </a:prstGeom>
          <a:noFill/>
          <a:ln/>
        </p:spPr>
        <p:txBody>
          <a:bodyPr wrap="square" lIns="0" tIns="0" rIns="0" bIns="0" rtlCol="0" anchor="t"/>
          <a:lstStyle/>
          <a:p>
            <a:pPr marL="152400" indent="-152400">
              <a:lnSpc>
                <a:spcPct val="105000"/>
              </a:lnSpc>
              <a:spcAft>
                <a:spcPts val="800"/>
              </a:spcAft>
              <a:buSzPct val="100000"/>
              <a:buChar char="•"/>
            </a:pPr>
            <a:r>
              <a:rPr lang="en-US" sz="1200" dirty="0">
                <a:solidFill>
                  <a:srgbClr val="22252B"/>
                </a:solidFill>
                <a:latin typeface="Calibri" pitchFamily="34" charset="0"/>
                <a:ea typeface="Calibri" pitchFamily="34" charset="-122"/>
                <a:cs typeface="Calibri" pitchFamily="34" charset="-120"/>
              </a:rPr>
              <a:t>Minutes + action table + 3-line summary</a:t>
            </a:r>
            <a:endParaRPr lang="en-US" sz="1200" dirty="0"/>
          </a:p>
          <a:p>
            <a:pPr marL="152400" indent="-152400">
              <a:lnSpc>
                <a:spcPct val="105000"/>
              </a:lnSpc>
              <a:spcAft>
                <a:spcPts val="800"/>
              </a:spcAft>
              <a:buSzPct val="100000"/>
              <a:buChar char="•"/>
            </a:pPr>
            <a:r>
              <a:rPr lang="en-US" sz="1200" dirty="0">
                <a:solidFill>
                  <a:srgbClr val="22252B"/>
                </a:solidFill>
                <a:latin typeface="Calibri" pitchFamily="34" charset="0"/>
                <a:ea typeface="Calibri" pitchFamily="34" charset="-122"/>
                <a:cs typeface="Calibri" pitchFamily="34" charset="-120"/>
              </a:rPr>
              <a:t>At least 3 [CHECK] flags (the notes contain several genuine ambiguities)</a:t>
            </a:r>
            <a:endParaRPr lang="en-US" sz="1200" dirty="0"/>
          </a:p>
        </p:txBody>
      </p:sp>
      <p:sp>
        <p:nvSpPr>
          <p:cNvPr id="16" name="Shape 14"/>
          <p:cNvSpPr/>
          <p:nvPr/>
        </p:nvSpPr>
        <p:spPr>
          <a:xfrm>
            <a:off x="7315200" y="3931920"/>
            <a:ext cx="4389120" cy="2103120"/>
          </a:xfrm>
          <a:prstGeom prst="roundRect">
            <a:avLst>
              <a:gd name="adj" fmla="val 3478"/>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7" name="Shape 15"/>
          <p:cNvSpPr/>
          <p:nvPr/>
        </p:nvSpPr>
        <p:spPr>
          <a:xfrm>
            <a:off x="7315200" y="3931920"/>
            <a:ext cx="4389120" cy="420624"/>
          </a:xfrm>
          <a:prstGeom prst="roundRect">
            <a:avLst>
              <a:gd name="adj" fmla="val 17391"/>
            </a:avLst>
          </a:prstGeom>
          <a:solidFill>
            <a:srgbClr val="6258A6"/>
          </a:solidFill>
          <a:ln/>
        </p:spPr>
      </p:sp>
      <p:sp>
        <p:nvSpPr>
          <p:cNvPr id="18" name="Shape 16"/>
          <p:cNvSpPr/>
          <p:nvPr/>
        </p:nvSpPr>
        <p:spPr>
          <a:xfrm>
            <a:off x="7315200" y="4142232"/>
            <a:ext cx="4389120" cy="210312"/>
          </a:xfrm>
          <a:prstGeom prst="rect">
            <a:avLst/>
          </a:prstGeom>
          <a:solidFill>
            <a:srgbClr val="6258A6"/>
          </a:solidFill>
          <a:ln/>
        </p:spPr>
      </p:sp>
      <p:sp>
        <p:nvSpPr>
          <p:cNvPr id="19" name="Text 17"/>
          <p:cNvSpPr txBox="1"/>
          <p:nvPr/>
        </p:nvSpPr>
        <p:spPr>
          <a:xfrm>
            <a:off x="7452360" y="3931920"/>
            <a:ext cx="411480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Hidden traps in the notes</a:t>
            </a:r>
            <a:endParaRPr lang="en-US" sz="1400" dirty="0"/>
          </a:p>
        </p:txBody>
      </p:sp>
      <p:sp>
        <p:nvSpPr>
          <p:cNvPr id="20" name="Text 18"/>
          <p:cNvSpPr txBox="1"/>
          <p:nvPr/>
        </p:nvSpPr>
        <p:spPr>
          <a:xfrm>
            <a:off x="7589520" y="4526280"/>
            <a:ext cx="3840480" cy="1371600"/>
          </a:xfrm>
          <a:prstGeom prst="rect">
            <a:avLst/>
          </a:prstGeom>
          <a:noFill/>
          <a:ln/>
        </p:spPr>
        <p:txBody>
          <a:bodyPr wrap="square" lIns="0" tIns="0" rIns="0" bIns="0" rtlCol="0" anchor="t"/>
          <a:lstStyle/>
          <a:p>
            <a:pPr marL="152400" indent="-152400">
              <a:lnSpc>
                <a:spcPct val="105000"/>
              </a:lnSpc>
              <a:spcAft>
                <a:spcPts val="700"/>
              </a:spcAft>
              <a:buSzPct val="100000"/>
              <a:buChar char="•"/>
            </a:pPr>
            <a:r>
              <a:rPr lang="en-US" sz="1200" dirty="0">
                <a:solidFill>
                  <a:srgbClr val="22252B"/>
                </a:solidFill>
                <a:latin typeface="Calibri" pitchFamily="34" charset="0"/>
                <a:ea typeface="Calibri" pitchFamily="34" charset="-122"/>
                <a:cs typeface="Calibri" pitchFamily="34" charset="-120"/>
              </a:rPr>
              <a:t>A contested budget figure</a:t>
            </a:r>
            <a:endParaRPr lang="en-US" sz="1200" dirty="0"/>
          </a:p>
          <a:p>
            <a:pPr marL="152400" indent="-152400">
              <a:lnSpc>
                <a:spcPct val="105000"/>
              </a:lnSpc>
              <a:spcAft>
                <a:spcPts val="700"/>
              </a:spcAft>
              <a:buSzPct val="100000"/>
              <a:buChar char="•"/>
            </a:pPr>
            <a:r>
              <a:rPr lang="en-US" sz="1200" dirty="0">
                <a:solidFill>
                  <a:srgbClr val="22252B"/>
                </a:solidFill>
                <a:latin typeface="Calibri" pitchFamily="34" charset="0"/>
                <a:ea typeface="Calibri" pitchFamily="34" charset="-122"/>
                <a:cs typeface="Calibri" pitchFamily="34" charset="-120"/>
              </a:rPr>
              <a:t>An action with no owner</a:t>
            </a:r>
            <a:endParaRPr lang="en-US" sz="1200" dirty="0"/>
          </a:p>
          <a:p>
            <a:pPr marL="152400" indent="-152400">
              <a:lnSpc>
                <a:spcPct val="105000"/>
              </a:lnSpc>
              <a:spcAft>
                <a:spcPts val="700"/>
              </a:spcAft>
              <a:buSzPct val="100000"/>
              <a:buChar char="•"/>
            </a:pPr>
            <a:r>
              <a:rPr lang="en-US" sz="1200" dirty="0">
                <a:solidFill>
                  <a:srgbClr val="22252B"/>
                </a:solidFill>
                <a:latin typeface="Calibri" pitchFamily="34" charset="0"/>
                <a:ea typeface="Calibri" pitchFamily="34" charset="-122"/>
                <a:cs typeface="Calibri" pitchFamily="34" charset="-120"/>
              </a:rPr>
              <a:t>A decision that sounds final but isn't</a:t>
            </a:r>
            <a:endParaRPr lang="en-US" sz="1200" dirty="0"/>
          </a:p>
        </p:txBody>
      </p:sp>
      <p:sp>
        <p:nvSpPr>
          <p:cNvPr id="21" name="Text 19"/>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22" name="Text 20"/>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Comparison &amp; synthesis</a:t>
            </a:r>
            <a:endParaRPr lang="en-US" sz="3000" dirty="0"/>
          </a:p>
        </p:txBody>
      </p:sp>
      <p:sp>
        <p:nvSpPr>
          <p:cNvPr id="3" name="Text 1"/>
          <p:cNvSpPr txBox="1"/>
          <p:nvPr/>
        </p:nvSpPr>
        <p:spPr>
          <a:xfrm>
            <a:off x="502920" y="987552"/>
            <a:ext cx="11155680" cy="365760"/>
          </a:xfrm>
          <a:prstGeom prst="rect">
            <a:avLst/>
          </a:prstGeom>
          <a:noFill/>
          <a:ln/>
        </p:spPr>
        <p:txBody>
          <a:bodyPr wrap="square" lIns="0" tIns="0" rIns="0" bIns="0" rtlCol="0" anchor="ctr"/>
          <a:lstStyle/>
          <a:p>
            <a:pPr indent="0" marL="0">
              <a:buNone/>
            </a:pPr>
            <a:r>
              <a:rPr lang="en-US" sz="1400" dirty="0">
                <a:solidFill>
                  <a:srgbClr val="696969"/>
                </a:solidFill>
                <a:latin typeface="Calibri" pitchFamily="34" charset="0"/>
                <a:ea typeface="Calibri" pitchFamily="34" charset="-122"/>
                <a:cs typeface="Calibri" pitchFamily="34" charset="-120"/>
              </a:rPr>
              <a:t>From “two documents” to “one decision”</a:t>
            </a:r>
            <a:endParaRPr lang="en-US" sz="1400" dirty="0"/>
          </a:p>
        </p:txBody>
      </p:sp>
      <p:sp>
        <p:nvSpPr>
          <p:cNvPr id="4" name="Shape 2"/>
          <p:cNvSpPr/>
          <p:nvPr/>
        </p:nvSpPr>
        <p:spPr>
          <a:xfrm>
            <a:off x="10565892" y="457200"/>
            <a:ext cx="1120140" cy="384048"/>
          </a:xfrm>
          <a:prstGeom prst="roundRect">
            <a:avLst>
              <a:gd name="adj" fmla="val 50000"/>
            </a:avLst>
          </a:prstGeom>
          <a:solidFill>
            <a:srgbClr val="94A0DA"/>
          </a:solidFill>
          <a:ln/>
        </p:spPr>
      </p:sp>
      <p:sp>
        <p:nvSpPr>
          <p:cNvPr id="5" name="Text 3"/>
          <p:cNvSpPr txBox="1"/>
          <p:nvPr/>
        </p:nvSpPr>
        <p:spPr>
          <a:xfrm>
            <a:off x="10565892" y="457200"/>
            <a:ext cx="11201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Shape 4"/>
          <p:cNvSpPr/>
          <p:nvPr/>
        </p:nvSpPr>
        <p:spPr>
          <a:xfrm>
            <a:off x="502920" y="1600200"/>
            <a:ext cx="5440680" cy="2057400"/>
          </a:xfrm>
          <a:prstGeom prst="roundRect">
            <a:avLst>
              <a:gd name="adj" fmla="val 3556"/>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731520" y="1764792"/>
            <a:ext cx="4983480" cy="411480"/>
          </a:xfrm>
          <a:prstGeom prst="rect">
            <a:avLst/>
          </a:prstGeom>
          <a:noFill/>
          <a:ln/>
        </p:spPr>
        <p:txBody>
          <a:bodyPr wrap="square" lIns="0" tIns="0" rIns="0" bIns="0" rtlCol="0" anchor="ctr"/>
          <a:lstStyle/>
          <a:p>
            <a:pPr indent="0" marL="0">
              <a:buNone/>
            </a:pPr>
            <a:r>
              <a:rPr lang="en-US" sz="1400" b="1" dirty="0">
                <a:solidFill>
                  <a:srgbClr val="273370"/>
                </a:solidFill>
                <a:latin typeface="Calibri" pitchFamily="34" charset="0"/>
                <a:ea typeface="Calibri" pitchFamily="34" charset="-122"/>
                <a:cs typeface="Calibri" pitchFamily="34" charset="-120"/>
              </a:rPr>
              <a:t>1. Set the criteria BEFORE comparing</a:t>
            </a:r>
            <a:endParaRPr lang="en-US" sz="1400" dirty="0"/>
          </a:p>
        </p:txBody>
      </p:sp>
      <p:sp>
        <p:nvSpPr>
          <p:cNvPr id="8" name="Text 6"/>
          <p:cNvSpPr txBox="1"/>
          <p:nvPr/>
        </p:nvSpPr>
        <p:spPr>
          <a:xfrm>
            <a:off x="731520" y="2221992"/>
            <a:ext cx="4983480" cy="1371600"/>
          </a:xfrm>
          <a:prstGeom prst="rect">
            <a:avLst/>
          </a:prstGeom>
          <a:noFill/>
          <a:ln/>
        </p:spPr>
        <p:txBody>
          <a:bodyPr wrap="square" lIns="0" tIns="0" rIns="0" bIns="0" rtlCol="0" anchor="ctr"/>
          <a:lstStyle/>
          <a:p>
            <a:pPr indent="0" marL="0">
              <a:lnSpc>
                <a:spcPct val="110000"/>
              </a:lnSpc>
              <a:buNone/>
            </a:pPr>
            <a:r>
              <a:rPr lang="en-US" sz="1100" dirty="0">
                <a:solidFill>
                  <a:srgbClr val="22252B"/>
                </a:solidFill>
                <a:latin typeface="Calibri" pitchFamily="34" charset="0"/>
                <a:ea typeface="Calibri" pitchFamily="34" charset="-122"/>
                <a:cs typeface="Calibri" pitchFamily="34" charset="-120"/>
              </a:rPr>
              <a:t>Price, Arabic support, data location, implementation time, support level, exit terms… You choose what matters — if you let the AI choose, it optimises for what's easy to compare, not what's important.</a:t>
            </a:r>
            <a:endParaRPr lang="en-US" sz="1100" dirty="0"/>
          </a:p>
        </p:txBody>
      </p:sp>
      <p:sp>
        <p:nvSpPr>
          <p:cNvPr id="9" name="Shape 7"/>
          <p:cNvSpPr/>
          <p:nvPr/>
        </p:nvSpPr>
        <p:spPr>
          <a:xfrm>
            <a:off x="6217920" y="1600200"/>
            <a:ext cx="5440680" cy="2057400"/>
          </a:xfrm>
          <a:prstGeom prst="roundRect">
            <a:avLst>
              <a:gd name="adj" fmla="val 3556"/>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6446520" y="1764792"/>
            <a:ext cx="4983480" cy="411480"/>
          </a:xfrm>
          <a:prstGeom prst="rect">
            <a:avLst/>
          </a:prstGeom>
          <a:noFill/>
          <a:ln/>
        </p:spPr>
        <p:txBody>
          <a:bodyPr wrap="square" lIns="0" tIns="0" rIns="0" bIns="0" rtlCol="0" anchor="ctr"/>
          <a:lstStyle/>
          <a:p>
            <a:pPr indent="0" marL="0">
              <a:buNone/>
            </a:pPr>
            <a:r>
              <a:rPr lang="en-US" sz="1400" b="1" dirty="0">
                <a:solidFill>
                  <a:srgbClr val="273370"/>
                </a:solidFill>
                <a:latin typeface="Calibri" pitchFamily="34" charset="0"/>
                <a:ea typeface="Calibri" pitchFamily="34" charset="-122"/>
                <a:cs typeface="Calibri" pitchFamily="34" charset="-120"/>
              </a:rPr>
              <a:t>2. Compare into a table</a:t>
            </a:r>
            <a:endParaRPr lang="en-US" sz="1400" dirty="0"/>
          </a:p>
        </p:txBody>
      </p:sp>
      <p:sp>
        <p:nvSpPr>
          <p:cNvPr id="11" name="Text 9"/>
          <p:cNvSpPr txBox="1"/>
          <p:nvPr/>
        </p:nvSpPr>
        <p:spPr>
          <a:xfrm>
            <a:off x="6446520" y="2221992"/>
            <a:ext cx="4983480" cy="1371600"/>
          </a:xfrm>
          <a:prstGeom prst="rect">
            <a:avLst/>
          </a:prstGeom>
          <a:noFill/>
          <a:ln/>
        </p:spPr>
        <p:txBody>
          <a:bodyPr wrap="square" lIns="0" tIns="0" rIns="0" bIns="0" rtlCol="0" anchor="ctr"/>
          <a:lstStyle/>
          <a:p>
            <a:pPr indent="0" marL="0">
              <a:lnSpc>
                <a:spcPct val="110000"/>
              </a:lnSpc>
              <a:buNone/>
            </a:pPr>
            <a:r>
              <a:rPr lang="en-US" sz="1100" dirty="0">
                <a:solidFill>
                  <a:srgbClr val="22252B"/>
                </a:solidFill>
                <a:latin typeface="Calibri" pitchFamily="34" charset="0"/>
                <a:ea typeface="Calibri" pitchFamily="34" charset="-122"/>
                <a:cs typeface="Calibri" pitchFamily="34" charset="-120"/>
              </a:rPr>
              <a:t>“Compare Proposal A and Proposal B against these criteria in a table. Quote the exact figures and terms from each document; write ‘not stated’ where a document is silent.”</a:t>
            </a:r>
            <a:endParaRPr lang="en-US" sz="1100" dirty="0"/>
          </a:p>
        </p:txBody>
      </p:sp>
      <p:sp>
        <p:nvSpPr>
          <p:cNvPr id="12" name="Shape 10"/>
          <p:cNvSpPr/>
          <p:nvPr/>
        </p:nvSpPr>
        <p:spPr>
          <a:xfrm>
            <a:off x="502920" y="3886200"/>
            <a:ext cx="5440680" cy="2057400"/>
          </a:xfrm>
          <a:prstGeom prst="roundRect">
            <a:avLst>
              <a:gd name="adj" fmla="val 3556"/>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731520" y="4050792"/>
            <a:ext cx="4983480" cy="411480"/>
          </a:xfrm>
          <a:prstGeom prst="rect">
            <a:avLst/>
          </a:prstGeom>
          <a:noFill/>
          <a:ln/>
        </p:spPr>
        <p:txBody>
          <a:bodyPr wrap="square" lIns="0" tIns="0" rIns="0" bIns="0" rtlCol="0" anchor="ctr"/>
          <a:lstStyle/>
          <a:p>
            <a:pPr indent="0" marL="0">
              <a:buNone/>
            </a:pPr>
            <a:r>
              <a:rPr lang="en-US" sz="1400" b="1" dirty="0">
                <a:solidFill>
                  <a:srgbClr val="273370"/>
                </a:solidFill>
                <a:latin typeface="Calibri" pitchFamily="34" charset="0"/>
                <a:ea typeface="Calibri" pitchFamily="34" charset="-122"/>
                <a:cs typeface="Calibri" pitchFamily="34" charset="-120"/>
              </a:rPr>
              <a:t>3. Surface the hidden differences</a:t>
            </a:r>
            <a:endParaRPr lang="en-US" sz="1400" dirty="0"/>
          </a:p>
        </p:txBody>
      </p:sp>
      <p:sp>
        <p:nvSpPr>
          <p:cNvPr id="14" name="Text 12"/>
          <p:cNvSpPr txBox="1"/>
          <p:nvPr/>
        </p:nvSpPr>
        <p:spPr>
          <a:xfrm>
            <a:off x="731520" y="4507992"/>
            <a:ext cx="4983480" cy="1371600"/>
          </a:xfrm>
          <a:prstGeom prst="rect">
            <a:avLst/>
          </a:prstGeom>
          <a:noFill/>
          <a:ln/>
        </p:spPr>
        <p:txBody>
          <a:bodyPr wrap="square" lIns="0" tIns="0" rIns="0" bIns="0" rtlCol="0" anchor="ctr"/>
          <a:lstStyle/>
          <a:p>
            <a:pPr indent="0" marL="0">
              <a:lnSpc>
                <a:spcPct val="110000"/>
              </a:lnSpc>
              <a:buNone/>
            </a:pPr>
            <a:r>
              <a:rPr lang="en-US" sz="1100" dirty="0">
                <a:solidFill>
                  <a:srgbClr val="22252B"/>
                </a:solidFill>
                <a:latin typeface="Calibri" pitchFamily="34" charset="0"/>
                <a:ea typeface="Calibri" pitchFamily="34" charset="-122"/>
                <a:cs typeface="Calibri" pitchFamily="34" charset="-120"/>
              </a:rPr>
              <a:t>“List 5 differences between these proposals that a busy reader would miss — especially conditions, exclusions, and anything one proposal mentions and the other avoids.”</a:t>
            </a:r>
            <a:endParaRPr lang="en-US" sz="1100" dirty="0"/>
          </a:p>
        </p:txBody>
      </p:sp>
      <p:sp>
        <p:nvSpPr>
          <p:cNvPr id="15" name="Shape 13"/>
          <p:cNvSpPr/>
          <p:nvPr/>
        </p:nvSpPr>
        <p:spPr>
          <a:xfrm>
            <a:off x="6217920" y="3886200"/>
            <a:ext cx="5440680" cy="2057400"/>
          </a:xfrm>
          <a:prstGeom prst="roundRect">
            <a:avLst>
              <a:gd name="adj" fmla="val 3556"/>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6" name="Text 14"/>
          <p:cNvSpPr txBox="1"/>
          <p:nvPr/>
        </p:nvSpPr>
        <p:spPr>
          <a:xfrm>
            <a:off x="6446520" y="4050792"/>
            <a:ext cx="4983480" cy="411480"/>
          </a:xfrm>
          <a:prstGeom prst="rect">
            <a:avLst/>
          </a:prstGeom>
          <a:noFill/>
          <a:ln/>
        </p:spPr>
        <p:txBody>
          <a:bodyPr wrap="square" lIns="0" tIns="0" rIns="0" bIns="0" rtlCol="0" anchor="ctr"/>
          <a:lstStyle/>
          <a:p>
            <a:pPr indent="0" marL="0">
              <a:buNone/>
            </a:pPr>
            <a:r>
              <a:rPr lang="en-US" sz="1400" b="1" dirty="0">
                <a:solidFill>
                  <a:srgbClr val="273370"/>
                </a:solidFill>
                <a:latin typeface="Calibri" pitchFamily="34" charset="0"/>
                <a:ea typeface="Calibri" pitchFamily="34" charset="-122"/>
                <a:cs typeface="Calibri" pitchFamily="34" charset="-120"/>
              </a:rPr>
              <a:t>4. Synthesise a recommendation</a:t>
            </a:r>
            <a:endParaRPr lang="en-US" sz="1400" dirty="0"/>
          </a:p>
        </p:txBody>
      </p:sp>
      <p:sp>
        <p:nvSpPr>
          <p:cNvPr id="17" name="Text 15"/>
          <p:cNvSpPr txBox="1"/>
          <p:nvPr/>
        </p:nvSpPr>
        <p:spPr>
          <a:xfrm>
            <a:off x="6446520" y="4507992"/>
            <a:ext cx="4983480" cy="1371600"/>
          </a:xfrm>
          <a:prstGeom prst="rect">
            <a:avLst/>
          </a:prstGeom>
          <a:noFill/>
          <a:ln/>
        </p:spPr>
        <p:txBody>
          <a:bodyPr wrap="square" lIns="0" tIns="0" rIns="0" bIns="0" rtlCol="0" anchor="ctr"/>
          <a:lstStyle/>
          <a:p>
            <a:pPr indent="0" marL="0">
              <a:lnSpc>
                <a:spcPct val="110000"/>
              </a:lnSpc>
              <a:buNone/>
            </a:pPr>
            <a:r>
              <a:rPr lang="en-US" sz="1100" dirty="0">
                <a:solidFill>
                  <a:srgbClr val="22252B"/>
                </a:solidFill>
                <a:latin typeface="Calibri" pitchFamily="34" charset="0"/>
                <a:ea typeface="Calibri" pitchFamily="34" charset="-122"/>
                <a:cs typeface="Calibri" pitchFamily="34" charset="-120"/>
              </a:rPr>
              <a:t>“Draft a half-page recommendation memo: preferred option, three reasons tied to the criteria, key risk of the chosen option, and one clarification to request before signing.”</a:t>
            </a:r>
            <a:endParaRPr lang="en-US" sz="1100" dirty="0"/>
          </a:p>
        </p:txBody>
      </p:sp>
      <p:sp>
        <p:nvSpPr>
          <p:cNvPr id="18" name="Text 16"/>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19" name="Text 17"/>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Activity 2.4 — Compare the vendor proposals</a:t>
            </a:r>
            <a:endParaRPr lang="en-US" sz="3000" dirty="0"/>
          </a:p>
        </p:txBody>
      </p:sp>
      <p:sp>
        <p:nvSpPr>
          <p:cNvPr id="3" name="Text 1"/>
          <p:cNvSpPr txBox="1"/>
          <p:nvPr/>
        </p:nvSpPr>
        <p:spPr>
          <a:xfrm>
            <a:off x="502920" y="987552"/>
            <a:ext cx="11155680" cy="365760"/>
          </a:xfrm>
          <a:prstGeom prst="rect">
            <a:avLst/>
          </a:prstGeom>
          <a:noFill/>
          <a:ln/>
        </p:spPr>
        <p:txBody>
          <a:bodyPr wrap="square" lIns="0" tIns="0" rIns="0" bIns="0" rtlCol="0" anchor="ctr"/>
          <a:lstStyle/>
          <a:p>
            <a:pPr indent="0" marL="0">
              <a:buNone/>
            </a:pPr>
            <a:r>
              <a:rPr lang="en-US" sz="1400" dirty="0">
                <a:solidFill>
                  <a:srgbClr val="696969"/>
                </a:solidFill>
                <a:latin typeface="Calibri" pitchFamily="34" charset="0"/>
                <a:ea typeface="Calibri" pitchFamily="34" charset="-122"/>
                <a:cs typeface="Calibri" pitchFamily="34" charset="-120"/>
              </a:rPr>
              <a:t>Groups of 3–4 • 35 minutes • File: vendor_proposals_A_B.docx • Workbook p. 7</a:t>
            </a:r>
            <a:endParaRPr lang="en-US" sz="1400" dirty="0"/>
          </a:p>
        </p:txBody>
      </p:sp>
      <p:sp>
        <p:nvSpPr>
          <p:cNvPr id="4" name="Shape 2"/>
          <p:cNvSpPr/>
          <p:nvPr/>
        </p:nvSpPr>
        <p:spPr>
          <a:xfrm>
            <a:off x="10460736" y="457200"/>
            <a:ext cx="1225296" cy="384048"/>
          </a:xfrm>
          <a:prstGeom prst="roundRect">
            <a:avLst>
              <a:gd name="adj" fmla="val 50000"/>
            </a:avLst>
          </a:prstGeom>
          <a:solidFill>
            <a:srgbClr val="29BA74"/>
          </a:solidFill>
          <a:ln/>
        </p:spPr>
      </p:sp>
      <p:sp>
        <p:nvSpPr>
          <p:cNvPr id="5" name="Text 3"/>
          <p:cNvSpPr txBox="1"/>
          <p:nvPr/>
        </p:nvSpPr>
        <p:spPr>
          <a:xfrm>
            <a:off x="10460736" y="457200"/>
            <a:ext cx="1225296"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ACTIVITY</a:t>
            </a:r>
            <a:endParaRPr lang="en-US" sz="1200" dirty="0"/>
          </a:p>
        </p:txBody>
      </p:sp>
      <p:sp>
        <p:nvSpPr>
          <p:cNvPr id="6" name="Shape 4"/>
          <p:cNvSpPr/>
          <p:nvPr/>
        </p:nvSpPr>
        <p:spPr>
          <a:xfrm>
            <a:off x="502920" y="1463040"/>
            <a:ext cx="6583680" cy="4572000"/>
          </a:xfrm>
          <a:prstGeom prst="roundRect">
            <a:avLst>
              <a:gd name="adj" fmla="val 1600"/>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502920" y="1463040"/>
            <a:ext cx="6583680" cy="420624"/>
          </a:xfrm>
          <a:prstGeom prst="roundRect">
            <a:avLst>
              <a:gd name="adj" fmla="val 17391"/>
            </a:avLst>
          </a:prstGeom>
          <a:solidFill>
            <a:srgbClr val="29BA74"/>
          </a:solidFill>
          <a:ln/>
        </p:spPr>
      </p:sp>
      <p:sp>
        <p:nvSpPr>
          <p:cNvPr id="8" name="Shape 6"/>
          <p:cNvSpPr/>
          <p:nvPr/>
        </p:nvSpPr>
        <p:spPr>
          <a:xfrm>
            <a:off x="502920" y="1673352"/>
            <a:ext cx="6583680" cy="210312"/>
          </a:xfrm>
          <a:prstGeom prst="rect">
            <a:avLst/>
          </a:prstGeom>
          <a:solidFill>
            <a:srgbClr val="29BA74"/>
          </a:solidFill>
          <a:ln/>
        </p:spPr>
      </p:sp>
      <p:sp>
        <p:nvSpPr>
          <p:cNvPr id="9" name="Text 7"/>
          <p:cNvSpPr txBox="1"/>
          <p:nvPr/>
        </p:nvSpPr>
        <p:spPr>
          <a:xfrm>
            <a:off x="640080" y="1463040"/>
            <a:ext cx="630936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Your task</a:t>
            </a:r>
            <a:endParaRPr lang="en-US" sz="1400" dirty="0"/>
          </a:p>
        </p:txBody>
      </p:sp>
      <p:sp>
        <p:nvSpPr>
          <p:cNvPr id="10" name="Text 8"/>
          <p:cNvSpPr txBox="1"/>
          <p:nvPr/>
        </p:nvSpPr>
        <p:spPr>
          <a:xfrm>
            <a:off x="777240" y="2057400"/>
            <a:ext cx="6035040" cy="3794760"/>
          </a:xfrm>
          <a:prstGeom prst="rect">
            <a:avLst/>
          </a:prstGeom>
          <a:noFill/>
          <a:ln/>
        </p:spPr>
        <p:txBody>
          <a:bodyPr wrap="square" lIns="0" tIns="0" rIns="0" bIns="0" rtlCol="0" anchor="t"/>
          <a:lstStyle/>
          <a:p>
            <a:pPr marL="152400" indent="-152400">
              <a:lnSpc>
                <a:spcPct val="105000"/>
              </a:lnSpc>
              <a:spcAft>
                <a:spcPts val="600"/>
              </a:spcAft>
              <a:buSzPct val="100000"/>
              <a:buChar char="•"/>
            </a:pPr>
            <a:r>
              <a:rPr lang="en-US" sz="1200" dirty="0">
                <a:solidFill>
                  <a:srgbClr val="22252B"/>
                </a:solidFill>
                <a:latin typeface="Calibri" pitchFamily="34" charset="0"/>
                <a:ea typeface="Calibri" pitchFamily="34" charset="-122"/>
                <a:cs typeface="Calibri" pitchFamily="34" charset="-120"/>
              </a:rPr>
              <a:t>Your organisation must choose an e-learning platform: Tadarrub Tech (Riyadh) vs. LearnGulf Solutions (Dubai). 1,500 staff, 2 years.</a:t>
            </a:r>
            <a:endParaRPr lang="en-US" sz="1200" dirty="0"/>
          </a:p>
          <a:p>
            <a:pPr marL="152400" indent="-152400">
              <a:lnSpc>
                <a:spcPct val="105000"/>
              </a:lnSpc>
              <a:spcAft>
                <a:spcPts val="600"/>
              </a:spcAft>
              <a:buSzPct val="100000"/>
              <a:buChar char="•"/>
            </a:pPr>
            <a:r>
              <a:rPr lang="en-US" sz="1200" b="1" dirty="0">
                <a:solidFill>
                  <a:srgbClr val="22252B"/>
                </a:solidFill>
                <a:latin typeface="Calibri" pitchFamily="34" charset="0"/>
                <a:ea typeface="Calibri" pitchFamily="34" charset="-122"/>
                <a:cs typeface="Calibri" pitchFamily="34" charset="-120"/>
              </a:rPr>
              <a:t>Step 1 (5 min):</a:t>
            </a:r>
            <a:endParaRPr lang="en-US" sz="1200" dirty="0"/>
          </a:p>
          <a:p>
            <a:pPr marL="152400" indent="-152400">
              <a:lnSpc>
                <a:spcPct val="105000"/>
              </a:lnSpc>
              <a:spcAft>
                <a:spcPts val="600"/>
              </a:spcAft>
              <a:buSzPct val="100000"/>
              <a:buChar char="•"/>
            </a:pPr>
            <a:r>
              <a:rPr lang="en-US" sz="1200" dirty="0">
                <a:solidFill>
                  <a:srgbClr val="22252B"/>
                </a:solidFill>
                <a:latin typeface="Calibri" pitchFamily="34" charset="0"/>
                <a:ea typeface="Calibri" pitchFamily="34" charset="-122"/>
                <a:cs typeface="Calibri" pitchFamily="34" charset="-120"/>
              </a:rPr>
              <a:t>As a group, agree your top 6 comparison criteria BEFORE opening the AI tool.</a:t>
            </a:r>
            <a:endParaRPr lang="en-US" sz="1200" dirty="0"/>
          </a:p>
          <a:p>
            <a:pPr marL="152400" indent="-152400">
              <a:lnSpc>
                <a:spcPct val="105000"/>
              </a:lnSpc>
              <a:spcAft>
                <a:spcPts val="600"/>
              </a:spcAft>
              <a:buSzPct val="100000"/>
              <a:buChar char="•"/>
            </a:pPr>
            <a:r>
              <a:rPr lang="en-US" sz="1200" b="1" dirty="0">
                <a:solidFill>
                  <a:srgbClr val="22252B"/>
                </a:solidFill>
                <a:latin typeface="Calibri" pitchFamily="34" charset="0"/>
                <a:ea typeface="Calibri" pitchFamily="34" charset="-122"/>
                <a:cs typeface="Calibri" pitchFamily="34" charset="-120"/>
              </a:rPr>
              <a:t>Step 2 (15 min):</a:t>
            </a:r>
            <a:endParaRPr lang="en-US" sz="1200" dirty="0"/>
          </a:p>
          <a:p>
            <a:pPr marL="152400" indent="-152400">
              <a:lnSpc>
                <a:spcPct val="105000"/>
              </a:lnSpc>
              <a:spcAft>
                <a:spcPts val="600"/>
              </a:spcAft>
              <a:buSzPct val="100000"/>
              <a:buChar char="•"/>
            </a:pPr>
            <a:r>
              <a:rPr lang="en-US" sz="1200" dirty="0">
                <a:solidFill>
                  <a:srgbClr val="22252B"/>
                </a:solidFill>
                <a:latin typeface="Calibri" pitchFamily="34" charset="0"/>
                <a:ea typeface="Calibri" pitchFamily="34" charset="-122"/>
                <a:cs typeface="Calibri" pitchFamily="34" charset="-120"/>
              </a:rPr>
              <a:t>Build the comparison table; then ask for the “differences a busy reader would miss”.</a:t>
            </a:r>
            <a:endParaRPr lang="en-US" sz="1200" dirty="0"/>
          </a:p>
          <a:p>
            <a:pPr marL="152400" indent="-152400">
              <a:lnSpc>
                <a:spcPct val="105000"/>
              </a:lnSpc>
              <a:spcAft>
                <a:spcPts val="600"/>
              </a:spcAft>
              <a:buSzPct val="100000"/>
              <a:buChar char="•"/>
            </a:pPr>
            <a:r>
              <a:rPr lang="en-US" sz="1200" b="1" dirty="0">
                <a:solidFill>
                  <a:srgbClr val="22252B"/>
                </a:solidFill>
                <a:latin typeface="Calibri" pitchFamily="34" charset="0"/>
                <a:ea typeface="Calibri" pitchFamily="34" charset="-122"/>
                <a:cs typeface="Calibri" pitchFamily="34" charset="-120"/>
              </a:rPr>
              <a:t>Step 3 (15 min):</a:t>
            </a:r>
            <a:endParaRPr lang="en-US" sz="1200" dirty="0"/>
          </a:p>
          <a:p>
            <a:pPr marL="152400" indent="-152400">
              <a:lnSpc>
                <a:spcPct val="105000"/>
              </a:lnSpc>
              <a:spcAft>
                <a:spcPts val="600"/>
              </a:spcAft>
              <a:buSzPct val="100000"/>
              <a:buChar char="•"/>
            </a:pPr>
            <a:r>
              <a:rPr lang="en-US" sz="1200" dirty="0">
                <a:solidFill>
                  <a:srgbClr val="22252B"/>
                </a:solidFill>
                <a:latin typeface="Calibri" pitchFamily="34" charset="0"/>
                <a:ea typeface="Calibri" pitchFamily="34" charset="-122"/>
                <a:cs typeface="Calibri" pitchFamily="34" charset="-120"/>
              </a:rPr>
              <a:t>Draft the recommendation memo — including one risk of your choice and one clarification to request before signing.</a:t>
            </a:r>
            <a:endParaRPr lang="en-US" sz="1200" dirty="0"/>
          </a:p>
        </p:txBody>
      </p:sp>
      <p:sp>
        <p:nvSpPr>
          <p:cNvPr id="11" name="Shape 9"/>
          <p:cNvSpPr/>
          <p:nvPr/>
        </p:nvSpPr>
        <p:spPr>
          <a:xfrm>
            <a:off x="7315200" y="1463040"/>
            <a:ext cx="4389120" cy="2286000"/>
          </a:xfrm>
          <a:prstGeom prst="roundRect">
            <a:avLst>
              <a:gd name="adj" fmla="val 3200"/>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7315200" y="1463040"/>
            <a:ext cx="4389120" cy="420624"/>
          </a:xfrm>
          <a:prstGeom prst="roundRect">
            <a:avLst>
              <a:gd name="adj" fmla="val 17391"/>
            </a:avLst>
          </a:prstGeom>
          <a:solidFill>
            <a:srgbClr val="273370"/>
          </a:solidFill>
          <a:ln/>
        </p:spPr>
      </p:sp>
      <p:sp>
        <p:nvSpPr>
          <p:cNvPr id="13" name="Shape 11"/>
          <p:cNvSpPr/>
          <p:nvPr/>
        </p:nvSpPr>
        <p:spPr>
          <a:xfrm>
            <a:off x="7315200" y="1673352"/>
            <a:ext cx="4389120" cy="210312"/>
          </a:xfrm>
          <a:prstGeom prst="rect">
            <a:avLst/>
          </a:prstGeom>
          <a:solidFill>
            <a:srgbClr val="273370"/>
          </a:solidFill>
          <a:ln/>
        </p:spPr>
      </p:sp>
      <p:sp>
        <p:nvSpPr>
          <p:cNvPr id="14" name="Text 12"/>
          <p:cNvSpPr txBox="1"/>
          <p:nvPr/>
        </p:nvSpPr>
        <p:spPr>
          <a:xfrm>
            <a:off x="7452360" y="1463040"/>
            <a:ext cx="411480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Expected output</a:t>
            </a:r>
            <a:endParaRPr lang="en-US" sz="1400" dirty="0"/>
          </a:p>
        </p:txBody>
      </p:sp>
      <p:sp>
        <p:nvSpPr>
          <p:cNvPr id="15" name="Text 13"/>
          <p:cNvSpPr txBox="1"/>
          <p:nvPr/>
        </p:nvSpPr>
        <p:spPr>
          <a:xfrm>
            <a:off x="7589520" y="2057400"/>
            <a:ext cx="3840480" cy="1554480"/>
          </a:xfrm>
          <a:prstGeom prst="rect">
            <a:avLst/>
          </a:prstGeom>
          <a:noFill/>
          <a:ln/>
        </p:spPr>
        <p:txBody>
          <a:bodyPr wrap="square" lIns="0" tIns="0" rIns="0" bIns="0" rtlCol="0" anchor="t"/>
          <a:lstStyle/>
          <a:p>
            <a:pPr marL="152400" indent="-152400">
              <a:lnSpc>
                <a:spcPct val="105000"/>
              </a:lnSpc>
              <a:spcAft>
                <a:spcPts val="700"/>
              </a:spcAft>
              <a:buSzPct val="100000"/>
              <a:buChar char="•"/>
            </a:pPr>
            <a:r>
              <a:rPr lang="en-US" sz="1200" dirty="0">
                <a:solidFill>
                  <a:srgbClr val="22252B"/>
                </a:solidFill>
                <a:latin typeface="Calibri" pitchFamily="34" charset="0"/>
                <a:ea typeface="Calibri" pitchFamily="34" charset="-122"/>
                <a:cs typeface="Calibri" pitchFamily="34" charset="-120"/>
              </a:rPr>
              <a:t>Criteria list (yours, not the AI's)</a:t>
            </a:r>
            <a:endParaRPr lang="en-US" sz="1200" dirty="0"/>
          </a:p>
          <a:p>
            <a:pPr marL="152400" indent="-152400">
              <a:lnSpc>
                <a:spcPct val="105000"/>
              </a:lnSpc>
              <a:spcAft>
                <a:spcPts val="700"/>
              </a:spcAft>
              <a:buSzPct val="100000"/>
              <a:buChar char="•"/>
            </a:pPr>
            <a:r>
              <a:rPr lang="en-US" sz="1200" dirty="0">
                <a:solidFill>
                  <a:srgbClr val="22252B"/>
                </a:solidFill>
                <a:latin typeface="Calibri" pitchFamily="34" charset="0"/>
                <a:ea typeface="Calibri" pitchFamily="34" charset="-122"/>
                <a:cs typeface="Calibri" pitchFamily="34" charset="-120"/>
              </a:rPr>
              <a:t>Comparison table with exact figures</a:t>
            </a:r>
            <a:endParaRPr lang="en-US" sz="1200" dirty="0"/>
          </a:p>
          <a:p>
            <a:pPr marL="152400" indent="-152400">
              <a:lnSpc>
                <a:spcPct val="105000"/>
              </a:lnSpc>
              <a:spcAft>
                <a:spcPts val="700"/>
              </a:spcAft>
              <a:buSzPct val="100000"/>
              <a:buChar char="•"/>
            </a:pPr>
            <a:r>
              <a:rPr lang="en-US" sz="1200" dirty="0">
                <a:solidFill>
                  <a:srgbClr val="22252B"/>
                </a:solidFill>
                <a:latin typeface="Calibri" pitchFamily="34" charset="0"/>
                <a:ea typeface="Calibri" pitchFamily="34" charset="-122"/>
                <a:cs typeface="Calibri" pitchFamily="34" charset="-120"/>
              </a:rPr>
              <a:t>Half-page recommendation memo</a:t>
            </a:r>
            <a:endParaRPr lang="en-US" sz="1200" dirty="0"/>
          </a:p>
        </p:txBody>
      </p:sp>
      <p:sp>
        <p:nvSpPr>
          <p:cNvPr id="16" name="Shape 14"/>
          <p:cNvSpPr/>
          <p:nvPr/>
        </p:nvSpPr>
        <p:spPr>
          <a:xfrm>
            <a:off x="7315200" y="3931920"/>
            <a:ext cx="4389120" cy="2103120"/>
          </a:xfrm>
          <a:prstGeom prst="roundRect">
            <a:avLst>
              <a:gd name="adj" fmla="val 3478"/>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7" name="Shape 15"/>
          <p:cNvSpPr/>
          <p:nvPr/>
        </p:nvSpPr>
        <p:spPr>
          <a:xfrm>
            <a:off x="7315200" y="3931920"/>
            <a:ext cx="4389120" cy="420624"/>
          </a:xfrm>
          <a:prstGeom prst="roundRect">
            <a:avLst>
              <a:gd name="adj" fmla="val 17391"/>
            </a:avLst>
          </a:prstGeom>
          <a:solidFill>
            <a:srgbClr val="6258A6"/>
          </a:solidFill>
          <a:ln/>
        </p:spPr>
      </p:sp>
      <p:sp>
        <p:nvSpPr>
          <p:cNvPr id="18" name="Shape 16"/>
          <p:cNvSpPr/>
          <p:nvPr/>
        </p:nvSpPr>
        <p:spPr>
          <a:xfrm>
            <a:off x="7315200" y="4142232"/>
            <a:ext cx="4389120" cy="210312"/>
          </a:xfrm>
          <a:prstGeom prst="rect">
            <a:avLst/>
          </a:prstGeom>
          <a:solidFill>
            <a:srgbClr val="6258A6"/>
          </a:solidFill>
          <a:ln/>
        </p:spPr>
      </p:sp>
      <p:sp>
        <p:nvSpPr>
          <p:cNvPr id="19" name="Text 17"/>
          <p:cNvSpPr txBox="1"/>
          <p:nvPr/>
        </p:nvSpPr>
        <p:spPr>
          <a:xfrm>
            <a:off x="7452360" y="3931920"/>
            <a:ext cx="411480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Things groups often miss</a:t>
            </a:r>
            <a:endParaRPr lang="en-US" sz="1400" dirty="0"/>
          </a:p>
        </p:txBody>
      </p:sp>
      <p:sp>
        <p:nvSpPr>
          <p:cNvPr id="20" name="Text 18"/>
          <p:cNvSpPr txBox="1"/>
          <p:nvPr/>
        </p:nvSpPr>
        <p:spPr>
          <a:xfrm>
            <a:off x="7589520" y="4526280"/>
            <a:ext cx="3840480" cy="1371600"/>
          </a:xfrm>
          <a:prstGeom prst="rect">
            <a:avLst/>
          </a:prstGeom>
          <a:noFill/>
          <a:ln/>
        </p:spPr>
        <p:txBody>
          <a:bodyPr wrap="square" lIns="0" tIns="0" rIns="0" bIns="0" rtlCol="0" anchor="t"/>
          <a:lstStyle/>
          <a:p>
            <a:pPr marL="152400" indent="-152400">
              <a:lnSpc>
                <a:spcPct val="105000"/>
              </a:lnSpc>
              <a:spcAft>
                <a:spcPts val="700"/>
              </a:spcAft>
              <a:buSzPct val="100000"/>
              <a:buChar char="•"/>
            </a:pPr>
            <a:r>
              <a:rPr lang="en-US" sz="1150" dirty="0">
                <a:solidFill>
                  <a:srgbClr val="22252B"/>
                </a:solidFill>
                <a:latin typeface="Calibri" pitchFamily="34" charset="0"/>
                <a:ea typeface="Calibri" pitchFamily="34" charset="-122"/>
                <a:cs typeface="Calibri" pitchFamily="34" charset="-120"/>
              </a:rPr>
              <a:t>Where will the data live? (Day 3 preview!)</a:t>
            </a:r>
            <a:endParaRPr lang="en-US" sz="1150" dirty="0"/>
          </a:p>
          <a:p>
            <a:pPr marL="152400" indent="-152400">
              <a:lnSpc>
                <a:spcPct val="105000"/>
              </a:lnSpc>
              <a:spcAft>
                <a:spcPts val="700"/>
              </a:spcAft>
              <a:buSzPct val="100000"/>
              <a:buChar char="•"/>
            </a:pPr>
            <a:r>
              <a:rPr lang="en-US" sz="1150" dirty="0">
                <a:solidFill>
                  <a:srgbClr val="22252B"/>
                </a:solidFill>
                <a:latin typeface="Calibri" pitchFamily="34" charset="0"/>
                <a:ea typeface="Calibri" pitchFamily="34" charset="-122"/>
                <a:cs typeface="Calibri" pitchFamily="34" charset="-120"/>
              </a:rPr>
              <a:t>“Arabic in advanced beta” ≠ Arabic support</a:t>
            </a:r>
            <a:endParaRPr lang="en-US" sz="1150" dirty="0"/>
          </a:p>
          <a:p>
            <a:pPr marL="152400" indent="-152400">
              <a:lnSpc>
                <a:spcPct val="105000"/>
              </a:lnSpc>
              <a:spcAft>
                <a:spcPts val="700"/>
              </a:spcAft>
              <a:buSzPct val="100000"/>
              <a:buChar char="•"/>
            </a:pPr>
            <a:r>
              <a:rPr lang="en-US" sz="1150" dirty="0">
                <a:solidFill>
                  <a:srgbClr val="22252B"/>
                </a:solidFill>
                <a:latin typeface="Calibri" pitchFamily="34" charset="0"/>
                <a:ea typeface="Calibri" pitchFamily="34" charset="-122"/>
                <a:cs typeface="Calibri" pitchFamily="34" charset="-120"/>
              </a:rPr>
              <a:t>True total cost incl. integration &amp; hosting options</a:t>
            </a:r>
            <a:endParaRPr lang="en-US" sz="1150" dirty="0"/>
          </a:p>
        </p:txBody>
      </p:sp>
      <p:sp>
        <p:nvSpPr>
          <p:cNvPr id="21" name="Text 19"/>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22" name="Text 20"/>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Debrief — Activity 2.4</a:t>
            </a:r>
            <a:endParaRPr lang="en-US" sz="3000" dirty="0"/>
          </a:p>
        </p:txBody>
      </p:sp>
      <p:sp>
        <p:nvSpPr>
          <p:cNvPr id="3" name="Shape 1"/>
          <p:cNvSpPr/>
          <p:nvPr/>
        </p:nvSpPr>
        <p:spPr>
          <a:xfrm>
            <a:off x="10565892" y="457200"/>
            <a:ext cx="1120140" cy="384048"/>
          </a:xfrm>
          <a:prstGeom prst="roundRect">
            <a:avLst>
              <a:gd name="adj" fmla="val 50000"/>
            </a:avLst>
          </a:prstGeom>
          <a:solidFill>
            <a:srgbClr val="67CCFF"/>
          </a:solidFill>
          <a:ln/>
        </p:spPr>
      </p:sp>
      <p:sp>
        <p:nvSpPr>
          <p:cNvPr id="4" name="Text 2"/>
          <p:cNvSpPr txBox="1"/>
          <p:nvPr/>
        </p:nvSpPr>
        <p:spPr>
          <a:xfrm>
            <a:off x="10565892" y="457200"/>
            <a:ext cx="11201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DEBRIEF</a:t>
            </a:r>
            <a:endParaRPr lang="en-US" sz="1200" dirty="0"/>
          </a:p>
        </p:txBody>
      </p:sp>
      <p:sp>
        <p:nvSpPr>
          <p:cNvPr id="5" name="Shape 3"/>
          <p:cNvSpPr/>
          <p:nvPr/>
        </p:nvSpPr>
        <p:spPr>
          <a:xfrm>
            <a:off x="640080" y="1645920"/>
            <a:ext cx="548640" cy="548640"/>
          </a:xfrm>
          <a:prstGeom prst="roundRect">
            <a:avLst>
              <a:gd name="adj" fmla="val 15000"/>
            </a:avLst>
          </a:prstGeom>
          <a:solidFill>
            <a:srgbClr val="67CCFF"/>
          </a:solidFill>
          <a:ln/>
        </p:spPr>
      </p:sp>
      <p:pic>
        <p:nvPicPr>
          <p:cNvPr id="6" name="Image 0" descr="preencoded.png">    </p:cNvPr>
          <p:cNvPicPr>
            <a:picLocks noChangeAspect="1"/>
          </p:cNvPicPr>
          <p:nvPr/>
        </p:nvPicPr>
        <p:blipFill>
          <a:blip r:embed="rId1"/>
          <a:stretch>
            <a:fillRect/>
          </a:stretch>
        </p:blipFill>
        <p:spPr>
          <a:xfrm>
            <a:off x="760781" y="1766621"/>
            <a:ext cx="307238" cy="307238"/>
          </a:xfrm>
          <a:prstGeom prst="rect">
            <a:avLst/>
          </a:prstGeom>
        </p:spPr>
      </p:pic>
      <p:sp>
        <p:nvSpPr>
          <p:cNvPr id="7" name="Text 4"/>
          <p:cNvSpPr txBox="1"/>
          <p:nvPr/>
        </p:nvSpPr>
        <p:spPr>
          <a:xfrm>
            <a:off x="1417320" y="1645920"/>
            <a:ext cx="10149840" cy="548640"/>
          </a:xfrm>
          <a:prstGeom prst="rect">
            <a:avLst/>
          </a:prstGeom>
          <a:noFill/>
          <a:ln/>
        </p:spPr>
        <p:txBody>
          <a:bodyPr wrap="square" lIns="0" tIns="0" rIns="0" bIns="0" rtlCol="0" anchor="ctr"/>
          <a:lstStyle/>
          <a:p>
            <a:pPr indent="0" marL="0">
              <a:buNone/>
            </a:pPr>
            <a:r>
              <a:rPr lang="en-US" sz="1500" dirty="0">
                <a:solidFill>
                  <a:srgbClr val="22252B"/>
                </a:solidFill>
                <a:latin typeface="Calibri" pitchFamily="34" charset="0"/>
                <a:ea typeface="Calibri" pitchFamily="34" charset="-122"/>
                <a:cs typeface="Calibri" pitchFamily="34" charset="-120"/>
              </a:rPr>
              <a:t>Which proposal did your group recommend — and which single criterion decided it?</a:t>
            </a:r>
            <a:endParaRPr lang="en-US" sz="1500" dirty="0"/>
          </a:p>
        </p:txBody>
      </p:sp>
      <p:sp>
        <p:nvSpPr>
          <p:cNvPr id="8" name="Shape 5"/>
          <p:cNvSpPr/>
          <p:nvPr/>
        </p:nvSpPr>
        <p:spPr>
          <a:xfrm>
            <a:off x="640080" y="2761488"/>
            <a:ext cx="548640" cy="548640"/>
          </a:xfrm>
          <a:prstGeom prst="roundRect">
            <a:avLst>
              <a:gd name="adj" fmla="val 15000"/>
            </a:avLst>
          </a:prstGeom>
          <a:solidFill>
            <a:srgbClr val="67CCFF"/>
          </a:solidFill>
          <a:ln/>
        </p:spPr>
      </p:sp>
      <p:pic>
        <p:nvPicPr>
          <p:cNvPr id="9" name="Image 1" descr="preencoded.png">    </p:cNvPr>
          <p:cNvPicPr>
            <a:picLocks noChangeAspect="1"/>
          </p:cNvPicPr>
          <p:nvPr/>
        </p:nvPicPr>
        <p:blipFill>
          <a:blip r:embed="rId2"/>
          <a:stretch>
            <a:fillRect/>
          </a:stretch>
        </p:blipFill>
        <p:spPr>
          <a:xfrm>
            <a:off x="760781" y="2882189"/>
            <a:ext cx="307238" cy="307238"/>
          </a:xfrm>
          <a:prstGeom prst="rect">
            <a:avLst/>
          </a:prstGeom>
        </p:spPr>
      </p:pic>
      <p:sp>
        <p:nvSpPr>
          <p:cNvPr id="10" name="Text 6"/>
          <p:cNvSpPr txBox="1"/>
          <p:nvPr/>
        </p:nvSpPr>
        <p:spPr>
          <a:xfrm>
            <a:off x="1417320" y="2761488"/>
            <a:ext cx="10149840" cy="548640"/>
          </a:xfrm>
          <a:prstGeom prst="rect">
            <a:avLst/>
          </a:prstGeom>
          <a:noFill/>
          <a:ln/>
        </p:spPr>
        <p:txBody>
          <a:bodyPr wrap="square" lIns="0" tIns="0" rIns="0" bIns="0" rtlCol="0" anchor="ctr"/>
          <a:lstStyle/>
          <a:p>
            <a:pPr indent="0" marL="0">
              <a:buNone/>
            </a:pPr>
            <a:r>
              <a:rPr lang="en-US" sz="1500" dirty="0">
                <a:solidFill>
                  <a:srgbClr val="22252B"/>
                </a:solidFill>
                <a:latin typeface="Calibri" pitchFamily="34" charset="0"/>
                <a:ea typeface="Calibri" pitchFamily="34" charset="-122"/>
                <a:cs typeface="Calibri" pitchFamily="34" charset="-120"/>
              </a:rPr>
              <a:t>What “hidden difference” surprised you most? Would you have caught it reading manually?</a:t>
            </a:r>
            <a:endParaRPr lang="en-US" sz="1500" dirty="0"/>
          </a:p>
        </p:txBody>
      </p:sp>
      <p:sp>
        <p:nvSpPr>
          <p:cNvPr id="11" name="Shape 7"/>
          <p:cNvSpPr/>
          <p:nvPr/>
        </p:nvSpPr>
        <p:spPr>
          <a:xfrm>
            <a:off x="640080" y="3877056"/>
            <a:ext cx="548640" cy="548640"/>
          </a:xfrm>
          <a:prstGeom prst="roundRect">
            <a:avLst>
              <a:gd name="adj" fmla="val 15000"/>
            </a:avLst>
          </a:prstGeom>
          <a:solidFill>
            <a:srgbClr val="67CCFF"/>
          </a:solidFill>
          <a:ln/>
        </p:spPr>
      </p:sp>
      <p:pic>
        <p:nvPicPr>
          <p:cNvPr id="12" name="Image 2" descr="preencoded.png">    </p:cNvPr>
          <p:cNvPicPr>
            <a:picLocks noChangeAspect="1"/>
          </p:cNvPicPr>
          <p:nvPr/>
        </p:nvPicPr>
        <p:blipFill>
          <a:blip r:embed="rId3"/>
          <a:stretch>
            <a:fillRect/>
          </a:stretch>
        </p:blipFill>
        <p:spPr>
          <a:xfrm>
            <a:off x="760781" y="3997757"/>
            <a:ext cx="307238" cy="307238"/>
          </a:xfrm>
          <a:prstGeom prst="rect">
            <a:avLst/>
          </a:prstGeom>
        </p:spPr>
      </p:pic>
      <p:sp>
        <p:nvSpPr>
          <p:cNvPr id="13" name="Text 8"/>
          <p:cNvSpPr txBox="1"/>
          <p:nvPr/>
        </p:nvSpPr>
        <p:spPr>
          <a:xfrm>
            <a:off x="1417320" y="3877056"/>
            <a:ext cx="10149840" cy="548640"/>
          </a:xfrm>
          <a:prstGeom prst="rect">
            <a:avLst/>
          </a:prstGeom>
          <a:noFill/>
          <a:ln/>
        </p:spPr>
        <p:txBody>
          <a:bodyPr wrap="square" lIns="0" tIns="0" rIns="0" bIns="0" rtlCol="0" anchor="ctr"/>
          <a:lstStyle/>
          <a:p>
            <a:pPr indent="0" marL="0">
              <a:buNone/>
            </a:pPr>
            <a:r>
              <a:rPr lang="en-US" sz="1500" dirty="0">
                <a:solidFill>
                  <a:srgbClr val="22252B"/>
                </a:solidFill>
                <a:latin typeface="Calibri" pitchFamily="34" charset="0"/>
                <a:ea typeface="Calibri" pitchFamily="34" charset="-122"/>
                <a:cs typeface="Calibri" pitchFamily="34" charset="-120"/>
              </a:rPr>
              <a:t>Proposal B hosts data in the UAE by default. Why might that matter for your organisation?</a:t>
            </a:r>
            <a:endParaRPr lang="en-US" sz="1500" dirty="0"/>
          </a:p>
        </p:txBody>
      </p:sp>
      <p:sp>
        <p:nvSpPr>
          <p:cNvPr id="14" name="Shape 9"/>
          <p:cNvSpPr/>
          <p:nvPr/>
        </p:nvSpPr>
        <p:spPr>
          <a:xfrm>
            <a:off x="640080" y="4992624"/>
            <a:ext cx="548640" cy="548640"/>
          </a:xfrm>
          <a:prstGeom prst="roundRect">
            <a:avLst>
              <a:gd name="adj" fmla="val 15000"/>
            </a:avLst>
          </a:prstGeom>
          <a:solidFill>
            <a:srgbClr val="67CCFF"/>
          </a:solidFill>
          <a:ln/>
        </p:spPr>
      </p:sp>
      <p:pic>
        <p:nvPicPr>
          <p:cNvPr id="15" name="Image 3" descr="preencoded.png">    </p:cNvPr>
          <p:cNvPicPr>
            <a:picLocks noChangeAspect="1"/>
          </p:cNvPicPr>
          <p:nvPr/>
        </p:nvPicPr>
        <p:blipFill>
          <a:blip r:embed="rId4"/>
          <a:stretch>
            <a:fillRect/>
          </a:stretch>
        </p:blipFill>
        <p:spPr>
          <a:xfrm>
            <a:off x="760781" y="5113325"/>
            <a:ext cx="307238" cy="307238"/>
          </a:xfrm>
          <a:prstGeom prst="rect">
            <a:avLst/>
          </a:prstGeom>
        </p:spPr>
      </p:pic>
      <p:sp>
        <p:nvSpPr>
          <p:cNvPr id="16" name="Text 10"/>
          <p:cNvSpPr txBox="1"/>
          <p:nvPr/>
        </p:nvSpPr>
        <p:spPr>
          <a:xfrm>
            <a:off x="1417320" y="4992624"/>
            <a:ext cx="10149840" cy="548640"/>
          </a:xfrm>
          <a:prstGeom prst="rect">
            <a:avLst/>
          </a:prstGeom>
          <a:noFill/>
          <a:ln/>
        </p:spPr>
        <p:txBody>
          <a:bodyPr wrap="square" lIns="0" tIns="0" rIns="0" bIns="0" rtlCol="0" anchor="ctr"/>
          <a:lstStyle/>
          <a:p>
            <a:pPr indent="0" marL="0">
              <a:buNone/>
            </a:pPr>
            <a:r>
              <a:rPr lang="en-US" sz="1500" dirty="0">
                <a:solidFill>
                  <a:srgbClr val="22252B"/>
                </a:solidFill>
                <a:latin typeface="Calibri" pitchFamily="34" charset="0"/>
                <a:ea typeface="Calibri" pitchFamily="34" charset="-122"/>
                <a:cs typeface="Calibri" pitchFamily="34" charset="-120"/>
              </a:rPr>
              <a:t>Where did your group overrule the AI's framing or emphasis — and why?</a:t>
            </a:r>
            <a:endParaRPr lang="en-US" sz="1500" dirty="0"/>
          </a:p>
        </p:txBody>
      </p:sp>
      <p:sp>
        <p:nvSpPr>
          <p:cNvPr id="17" name="Text 11"/>
          <p:cNvSpPr txBox="1"/>
          <p:nvPr/>
        </p:nvSpPr>
        <p:spPr>
          <a:xfrm>
            <a:off x="640080" y="6080760"/>
            <a:ext cx="10972800" cy="365760"/>
          </a:xfrm>
          <a:prstGeom prst="rect">
            <a:avLst/>
          </a:prstGeom>
          <a:noFill/>
          <a:ln/>
        </p:spPr>
        <p:txBody>
          <a:bodyPr wrap="square" lIns="0" tIns="0" rIns="0" bIns="0" rtlCol="0" anchor="ctr"/>
          <a:lstStyle/>
          <a:p>
            <a:pPr indent="0" marL="0">
              <a:buNone/>
            </a:pPr>
            <a:r>
              <a:rPr lang="en-US" sz="1300" b="1" i="1" dirty="0">
                <a:solidFill>
                  <a:srgbClr val="273370"/>
                </a:solidFill>
                <a:latin typeface="Calibri" pitchFamily="34" charset="0"/>
                <a:ea typeface="Calibri" pitchFamily="34" charset="-122"/>
                <a:cs typeface="Calibri" pitchFamily="34" charset="-120"/>
              </a:rPr>
              <a:t>Trainer synthesis: AI accelerates the comparison; the criteria, the weighting and the decision remain human work.</a:t>
            </a:r>
            <a:endParaRPr lang="en-US" sz="1300" dirty="0"/>
          </a:p>
        </p:txBody>
      </p:sp>
      <p:sp>
        <p:nvSpPr>
          <p:cNvPr id="18" name="Text 12"/>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19" name="Text 13"/>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Day 2 quiz — check your understanding (1 of 2)</a:t>
            </a:r>
            <a:endParaRPr lang="en-US" sz="3000" dirty="0"/>
          </a:p>
        </p:txBody>
      </p:sp>
      <p:sp>
        <p:nvSpPr>
          <p:cNvPr id="3" name="Text 1"/>
          <p:cNvSpPr txBox="1"/>
          <p:nvPr/>
        </p:nvSpPr>
        <p:spPr>
          <a:xfrm>
            <a:off x="502920" y="987552"/>
            <a:ext cx="11155680" cy="365760"/>
          </a:xfrm>
          <a:prstGeom prst="rect">
            <a:avLst/>
          </a:prstGeom>
          <a:noFill/>
          <a:ln/>
        </p:spPr>
        <p:txBody>
          <a:bodyPr wrap="square" lIns="0" tIns="0" rIns="0" bIns="0" rtlCol="0" anchor="ctr"/>
          <a:lstStyle/>
          <a:p>
            <a:pPr indent="0" marL="0">
              <a:buNone/>
            </a:pPr>
            <a:r>
              <a:rPr lang="en-US" sz="1400" dirty="0">
                <a:solidFill>
                  <a:srgbClr val="696969"/>
                </a:solidFill>
                <a:latin typeface="Calibri" pitchFamily="34" charset="0"/>
                <a:ea typeface="Calibri" pitchFamily="34" charset="-122"/>
                <a:cs typeface="Calibri" pitchFamily="34" charset="-120"/>
              </a:rPr>
              <a:t>Answer in your workbook, then we review together</a:t>
            </a:r>
            <a:endParaRPr lang="en-US" sz="1400" dirty="0"/>
          </a:p>
        </p:txBody>
      </p:sp>
      <p:sp>
        <p:nvSpPr>
          <p:cNvPr id="4" name="Shape 2"/>
          <p:cNvSpPr/>
          <p:nvPr/>
        </p:nvSpPr>
        <p:spPr>
          <a:xfrm>
            <a:off x="10881360" y="457200"/>
            <a:ext cx="804672" cy="384048"/>
          </a:xfrm>
          <a:prstGeom prst="roundRect">
            <a:avLst>
              <a:gd name="adj" fmla="val 50000"/>
            </a:avLst>
          </a:prstGeom>
          <a:solidFill>
            <a:srgbClr val="6258A6"/>
          </a:solidFill>
          <a:ln/>
        </p:spPr>
      </p:sp>
      <p:sp>
        <p:nvSpPr>
          <p:cNvPr id="5" name="Text 3"/>
          <p:cNvSpPr txBox="1"/>
          <p:nvPr/>
        </p:nvSpPr>
        <p:spPr>
          <a:xfrm>
            <a:off x="10881360" y="457200"/>
            <a:ext cx="804672"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QUIZ</a:t>
            </a:r>
            <a:endParaRPr lang="en-US" sz="1200" dirty="0"/>
          </a:p>
        </p:txBody>
      </p:sp>
      <p:sp>
        <p:nvSpPr>
          <p:cNvPr id="6" name="Text 4"/>
          <p:cNvSpPr txBox="1"/>
          <p:nvPr/>
        </p:nvSpPr>
        <p:spPr>
          <a:xfrm>
            <a:off x="640080" y="1554480"/>
            <a:ext cx="10972800" cy="411480"/>
          </a:xfrm>
          <a:prstGeom prst="rect">
            <a:avLst/>
          </a:prstGeom>
          <a:noFill/>
          <a:ln/>
        </p:spPr>
        <p:txBody>
          <a:bodyPr wrap="square" lIns="0" tIns="0" rIns="0" bIns="0" rtlCol="0" anchor="ctr"/>
          <a:lstStyle/>
          <a:p>
            <a:pPr indent="0" marL="0">
              <a:buNone/>
            </a:pPr>
            <a:r>
              <a:rPr lang="en-US" sz="1500" b="1" dirty="0">
                <a:solidFill>
                  <a:srgbClr val="273370"/>
                </a:solidFill>
                <a:latin typeface="Calibri" pitchFamily="34" charset="0"/>
                <a:ea typeface="Calibri" pitchFamily="34" charset="-122"/>
                <a:cs typeface="Calibri" pitchFamily="34" charset="-120"/>
              </a:rPr>
              <a:t>Q1. The best way to write a long report with AI is to…</a:t>
            </a:r>
            <a:endParaRPr lang="en-US" sz="1500" dirty="0"/>
          </a:p>
        </p:txBody>
      </p:sp>
      <p:sp>
        <p:nvSpPr>
          <p:cNvPr id="7" name="Text 5"/>
          <p:cNvSpPr txBox="1"/>
          <p:nvPr/>
        </p:nvSpPr>
        <p:spPr>
          <a:xfrm>
            <a:off x="914400" y="1993392"/>
            <a:ext cx="10698480" cy="914400"/>
          </a:xfrm>
          <a:prstGeom prst="rect">
            <a:avLst/>
          </a:prstGeom>
          <a:noFill/>
          <a:ln/>
        </p:spPr>
        <p:txBody>
          <a:bodyPr wrap="square" lIns="0" tIns="0" rIns="0" bIns="0" rtlCol="0" anchor="ctr"/>
          <a:lstStyle/>
          <a:p>
            <a:pPr indent="0" marL="0">
              <a:lnSpc>
                <a:spcPct val="115000"/>
              </a:lnSpc>
              <a:buNone/>
            </a:pPr>
            <a:r>
              <a:rPr lang="en-US" sz="1200" dirty="0">
                <a:solidFill>
                  <a:srgbClr val="22252B"/>
                </a:solidFill>
                <a:latin typeface="Calibri" pitchFamily="34" charset="0"/>
                <a:ea typeface="Calibri" pitchFamily="34" charset="-122"/>
                <a:cs typeface="Calibri" pitchFamily="34" charset="-120"/>
              </a:rPr>
              <a:t>A. Ask for the whole report in one prompt        B. Outline first, then draft section by section with real data        C. Write it yourself, then ask AI to make it longer        D. Combine three AI tools' full drafts</a:t>
            </a:r>
            <a:endParaRPr lang="en-US" sz="1200" dirty="0"/>
          </a:p>
        </p:txBody>
      </p:sp>
      <p:sp>
        <p:nvSpPr>
          <p:cNvPr id="8" name="Text 6"/>
          <p:cNvSpPr txBox="1"/>
          <p:nvPr/>
        </p:nvSpPr>
        <p:spPr>
          <a:xfrm>
            <a:off x="640080" y="3090672"/>
            <a:ext cx="10972800" cy="411480"/>
          </a:xfrm>
          <a:prstGeom prst="rect">
            <a:avLst/>
          </a:prstGeom>
          <a:noFill/>
          <a:ln/>
        </p:spPr>
        <p:txBody>
          <a:bodyPr wrap="square" lIns="0" tIns="0" rIns="0" bIns="0" rtlCol="0" anchor="ctr"/>
          <a:lstStyle/>
          <a:p>
            <a:pPr indent="0" marL="0">
              <a:buNone/>
            </a:pPr>
            <a:r>
              <a:rPr lang="en-US" sz="1500" b="1" dirty="0">
                <a:solidFill>
                  <a:srgbClr val="273370"/>
                </a:solidFill>
                <a:latin typeface="Calibri" pitchFamily="34" charset="0"/>
                <a:ea typeface="Calibri" pitchFamily="34" charset="-122"/>
                <a:cs typeface="Calibri" pitchFamily="34" charset="-120"/>
              </a:rPr>
              <a:t>Q2. The most valuable constraint when working with data is…</a:t>
            </a:r>
            <a:endParaRPr lang="en-US" sz="1500" dirty="0"/>
          </a:p>
        </p:txBody>
      </p:sp>
      <p:sp>
        <p:nvSpPr>
          <p:cNvPr id="9" name="Text 7"/>
          <p:cNvSpPr txBox="1"/>
          <p:nvPr/>
        </p:nvSpPr>
        <p:spPr>
          <a:xfrm>
            <a:off x="914400" y="3529584"/>
            <a:ext cx="10698480" cy="914400"/>
          </a:xfrm>
          <a:prstGeom prst="rect">
            <a:avLst/>
          </a:prstGeom>
          <a:noFill/>
          <a:ln/>
        </p:spPr>
        <p:txBody>
          <a:bodyPr wrap="square" lIns="0" tIns="0" rIns="0" bIns="0" rtlCol="0" anchor="ctr"/>
          <a:lstStyle/>
          <a:p>
            <a:pPr indent="0" marL="0">
              <a:lnSpc>
                <a:spcPct val="115000"/>
              </a:lnSpc>
              <a:buNone/>
            </a:pPr>
            <a:r>
              <a:rPr lang="en-US" sz="1200" dirty="0">
                <a:solidFill>
                  <a:srgbClr val="22252B"/>
                </a:solidFill>
                <a:latin typeface="Calibri" pitchFamily="34" charset="0"/>
                <a:ea typeface="Calibri" pitchFamily="34" charset="-122"/>
                <a:cs typeface="Calibri" pitchFamily="34" charset="-120"/>
              </a:rPr>
              <a:t>A. “Be creative”        B. “Make it impressive”        C. “Use only the data provided — do not invent numbers”        D. “Write in short sentences”</a:t>
            </a:r>
            <a:endParaRPr lang="en-US" sz="1200" dirty="0"/>
          </a:p>
        </p:txBody>
      </p:sp>
      <p:sp>
        <p:nvSpPr>
          <p:cNvPr id="10" name="Text 8"/>
          <p:cNvSpPr txBox="1"/>
          <p:nvPr/>
        </p:nvSpPr>
        <p:spPr>
          <a:xfrm>
            <a:off x="640080" y="4626864"/>
            <a:ext cx="10972800" cy="411480"/>
          </a:xfrm>
          <a:prstGeom prst="rect">
            <a:avLst/>
          </a:prstGeom>
          <a:noFill/>
          <a:ln/>
        </p:spPr>
        <p:txBody>
          <a:bodyPr wrap="square" lIns="0" tIns="0" rIns="0" bIns="0" rtlCol="0" anchor="ctr"/>
          <a:lstStyle/>
          <a:p>
            <a:pPr indent="0" marL="0">
              <a:buNone/>
            </a:pPr>
            <a:r>
              <a:rPr lang="en-US" sz="1500" b="1" dirty="0">
                <a:solidFill>
                  <a:srgbClr val="273370"/>
                </a:solidFill>
                <a:latin typeface="Calibri" pitchFamily="34" charset="0"/>
                <a:ea typeface="Calibri" pitchFamily="34" charset="-122"/>
                <a:cs typeface="Calibri" pitchFamily="34" charset="-120"/>
              </a:rPr>
              <a:t>Q3. In an extraction table, [CHECK] should mark…</a:t>
            </a:r>
            <a:endParaRPr lang="en-US" sz="1500" dirty="0"/>
          </a:p>
        </p:txBody>
      </p:sp>
      <p:sp>
        <p:nvSpPr>
          <p:cNvPr id="11" name="Text 9"/>
          <p:cNvSpPr txBox="1"/>
          <p:nvPr/>
        </p:nvSpPr>
        <p:spPr>
          <a:xfrm>
            <a:off x="914400" y="5065776"/>
            <a:ext cx="10698480" cy="914400"/>
          </a:xfrm>
          <a:prstGeom prst="rect">
            <a:avLst/>
          </a:prstGeom>
          <a:noFill/>
          <a:ln/>
        </p:spPr>
        <p:txBody>
          <a:bodyPr wrap="square" lIns="0" tIns="0" rIns="0" bIns="0" rtlCol="0" anchor="ctr"/>
          <a:lstStyle/>
          <a:p>
            <a:pPr indent="0" marL="0">
              <a:lnSpc>
                <a:spcPct val="115000"/>
              </a:lnSpc>
              <a:buNone/>
            </a:pPr>
            <a:r>
              <a:rPr lang="en-US" sz="1200" dirty="0">
                <a:solidFill>
                  <a:srgbClr val="22252B"/>
                </a:solidFill>
                <a:latin typeface="Calibri" pitchFamily="34" charset="0"/>
                <a:ea typeface="Calibri" pitchFamily="34" charset="-122"/>
                <a:cs typeface="Calibri" pitchFamily="34" charset="-120"/>
              </a:rPr>
              <a:t>A. Items the AI is sure about        B. Anything missing or ambiguous in the source — so no one guesses        C. The most important row        D. Items already completed</a:t>
            </a:r>
            <a:endParaRPr lang="en-US" sz="1200" dirty="0"/>
          </a:p>
        </p:txBody>
      </p:sp>
      <p:sp>
        <p:nvSpPr>
          <p:cNvPr id="12" name="Text 10"/>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13" name="Text 11"/>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Day 2 quiz — check your understanding (2 of 2)</a:t>
            </a:r>
            <a:endParaRPr lang="en-US" sz="3000" dirty="0"/>
          </a:p>
        </p:txBody>
      </p:sp>
      <p:sp>
        <p:nvSpPr>
          <p:cNvPr id="3" name="Shape 1"/>
          <p:cNvSpPr/>
          <p:nvPr/>
        </p:nvSpPr>
        <p:spPr>
          <a:xfrm>
            <a:off x="10881360" y="457200"/>
            <a:ext cx="804672" cy="384048"/>
          </a:xfrm>
          <a:prstGeom prst="roundRect">
            <a:avLst>
              <a:gd name="adj" fmla="val 50000"/>
            </a:avLst>
          </a:prstGeom>
          <a:solidFill>
            <a:srgbClr val="6258A6"/>
          </a:solidFill>
          <a:ln/>
        </p:spPr>
      </p:sp>
      <p:sp>
        <p:nvSpPr>
          <p:cNvPr id="4" name="Text 2"/>
          <p:cNvSpPr txBox="1"/>
          <p:nvPr/>
        </p:nvSpPr>
        <p:spPr>
          <a:xfrm>
            <a:off x="10881360" y="457200"/>
            <a:ext cx="804672"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QUIZ</a:t>
            </a:r>
            <a:endParaRPr lang="en-US" sz="1200" dirty="0"/>
          </a:p>
        </p:txBody>
      </p:sp>
      <p:sp>
        <p:nvSpPr>
          <p:cNvPr id="5" name="Text 3"/>
          <p:cNvSpPr txBox="1"/>
          <p:nvPr/>
        </p:nvSpPr>
        <p:spPr>
          <a:xfrm>
            <a:off x="640080" y="1645920"/>
            <a:ext cx="10972800" cy="411480"/>
          </a:xfrm>
          <a:prstGeom prst="rect">
            <a:avLst/>
          </a:prstGeom>
          <a:noFill/>
          <a:ln/>
        </p:spPr>
        <p:txBody>
          <a:bodyPr wrap="square" lIns="0" tIns="0" rIns="0" bIns="0" rtlCol="0" anchor="ctr"/>
          <a:lstStyle/>
          <a:p>
            <a:pPr indent="0" marL="0">
              <a:buNone/>
            </a:pPr>
            <a:r>
              <a:rPr lang="en-US" sz="1500" b="1" dirty="0">
                <a:solidFill>
                  <a:srgbClr val="273370"/>
                </a:solidFill>
                <a:latin typeface="Calibri" pitchFamily="34" charset="0"/>
                <a:ea typeface="Calibri" pitchFamily="34" charset="-122"/>
                <a:cs typeface="Calibri" pitchFamily="34" charset="-120"/>
              </a:rPr>
              <a:t>Q4. Before asking AI to compare two proposals, you should…</a:t>
            </a:r>
            <a:endParaRPr lang="en-US" sz="1500" dirty="0"/>
          </a:p>
        </p:txBody>
      </p:sp>
      <p:sp>
        <p:nvSpPr>
          <p:cNvPr id="6" name="Text 4"/>
          <p:cNvSpPr txBox="1"/>
          <p:nvPr/>
        </p:nvSpPr>
        <p:spPr>
          <a:xfrm>
            <a:off x="914400" y="2103120"/>
            <a:ext cx="10698480" cy="1005840"/>
          </a:xfrm>
          <a:prstGeom prst="rect">
            <a:avLst/>
          </a:prstGeom>
          <a:noFill/>
          <a:ln/>
        </p:spPr>
        <p:txBody>
          <a:bodyPr wrap="square" lIns="0" tIns="0" rIns="0" bIns="0" rtlCol="0" anchor="ctr"/>
          <a:lstStyle/>
          <a:p>
            <a:pPr indent="0" marL="0">
              <a:lnSpc>
                <a:spcPct val="115000"/>
              </a:lnSpc>
              <a:buNone/>
            </a:pPr>
            <a:r>
              <a:rPr lang="en-US" sz="1200" dirty="0">
                <a:solidFill>
                  <a:srgbClr val="22252B"/>
                </a:solidFill>
                <a:latin typeface="Calibri" pitchFamily="34" charset="0"/>
                <a:ea typeface="Calibri" pitchFamily="34" charset="-122"/>
                <a:cs typeface="Calibri" pitchFamily="34" charset="-120"/>
              </a:rPr>
              <a:t>A. Ask which one it prefers        B. Define YOUR comparison criteria first        C. Summarise each proposal to one line        D. Remove the prices to avoid bias</a:t>
            </a:r>
            <a:endParaRPr lang="en-US" sz="1200" dirty="0"/>
          </a:p>
        </p:txBody>
      </p:sp>
      <p:sp>
        <p:nvSpPr>
          <p:cNvPr id="7" name="Text 5"/>
          <p:cNvSpPr txBox="1"/>
          <p:nvPr/>
        </p:nvSpPr>
        <p:spPr>
          <a:xfrm>
            <a:off x="640080" y="3383280"/>
            <a:ext cx="10972800" cy="411480"/>
          </a:xfrm>
          <a:prstGeom prst="rect">
            <a:avLst/>
          </a:prstGeom>
          <a:noFill/>
          <a:ln/>
        </p:spPr>
        <p:txBody>
          <a:bodyPr wrap="square" lIns="0" tIns="0" rIns="0" bIns="0" rtlCol="0" anchor="ctr"/>
          <a:lstStyle/>
          <a:p>
            <a:pPr indent="0" marL="0">
              <a:buNone/>
            </a:pPr>
            <a:r>
              <a:rPr lang="en-US" sz="1500" b="1" dirty="0">
                <a:solidFill>
                  <a:srgbClr val="273370"/>
                </a:solidFill>
                <a:latin typeface="Calibri" pitchFamily="34" charset="0"/>
                <a:ea typeface="Calibri" pitchFamily="34" charset="-122"/>
                <a:cs typeface="Calibri" pitchFamily="34" charset="-120"/>
              </a:rPr>
              <a:t>Q5. When summarising an official document, you should add…</a:t>
            </a:r>
            <a:endParaRPr lang="en-US" sz="1500" dirty="0"/>
          </a:p>
        </p:txBody>
      </p:sp>
      <p:sp>
        <p:nvSpPr>
          <p:cNvPr id="8" name="Text 6"/>
          <p:cNvSpPr txBox="1"/>
          <p:nvPr/>
        </p:nvSpPr>
        <p:spPr>
          <a:xfrm>
            <a:off x="914400" y="3840480"/>
            <a:ext cx="10698480" cy="1005840"/>
          </a:xfrm>
          <a:prstGeom prst="rect">
            <a:avLst/>
          </a:prstGeom>
          <a:noFill/>
          <a:ln/>
        </p:spPr>
        <p:txBody>
          <a:bodyPr wrap="square" lIns="0" tIns="0" rIns="0" bIns="0" rtlCol="0" anchor="ctr"/>
          <a:lstStyle/>
          <a:p>
            <a:pPr indent="0" marL="0">
              <a:lnSpc>
                <a:spcPct val="115000"/>
              </a:lnSpc>
              <a:buNone/>
            </a:pPr>
            <a:r>
              <a:rPr lang="en-US" sz="1200" dirty="0">
                <a:solidFill>
                  <a:srgbClr val="22252B"/>
                </a:solidFill>
                <a:latin typeface="Calibri" pitchFamily="34" charset="0"/>
                <a:ea typeface="Calibri" pitchFamily="34" charset="-122"/>
                <a:cs typeface="Calibri" pitchFamily="34" charset="-120"/>
              </a:rPr>
              <a:t>A. “Make it sound positive”        B. “Add relevant background from your knowledge”        C. “Use only the text provided — do not add outside information”        D. “Keep every detail”</a:t>
            </a:r>
            <a:endParaRPr lang="en-US" sz="1200" dirty="0"/>
          </a:p>
        </p:txBody>
      </p:sp>
      <p:sp>
        <p:nvSpPr>
          <p:cNvPr id="9" name="Shape 7"/>
          <p:cNvSpPr/>
          <p:nvPr/>
        </p:nvSpPr>
        <p:spPr>
          <a:xfrm>
            <a:off x="502920" y="5120640"/>
            <a:ext cx="11201400" cy="1051560"/>
          </a:xfrm>
          <a:prstGeom prst="roundRect">
            <a:avLst>
              <a:gd name="adj" fmla="val 6957"/>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777240" y="5285232"/>
            <a:ext cx="10607040" cy="731520"/>
          </a:xfrm>
          <a:prstGeom prst="rect">
            <a:avLst/>
          </a:prstGeom>
          <a:noFill/>
          <a:ln/>
        </p:spPr>
        <p:txBody>
          <a:bodyPr wrap="square" lIns="0" tIns="0" rIns="0" bIns="0" rtlCol="0" anchor="ctr"/>
          <a:lstStyle/>
          <a:p>
            <a:pPr indent="0" marL="0">
              <a:buNone/>
            </a:pPr>
            <a:r>
              <a:rPr lang="en-US" sz="1300" b="1" dirty="0">
                <a:solidFill>
                  <a:srgbClr val="273370"/>
                </a:solidFill>
                <a:latin typeface="Calibri" pitchFamily="34" charset="0"/>
                <a:ea typeface="Calibri" pitchFamily="34" charset="-122"/>
                <a:cs typeface="Calibri" pitchFamily="34" charset="-120"/>
              </a:rPr>
              <a:t>Tomorrow: turning AI into a daily productivity system — and learning to catch its mistakes before they catch you.</a:t>
            </a:r>
            <a:endParaRPr lang="en-US" sz="1300" dirty="0"/>
          </a:p>
        </p:txBody>
      </p:sp>
      <p:sp>
        <p:nvSpPr>
          <p:cNvPr id="11" name="Text 9"/>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12" name="Text 10"/>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Day 2 reflection &amp; takeaways</a:t>
            </a:r>
            <a:endParaRPr lang="en-US" sz="3000" dirty="0"/>
          </a:p>
        </p:txBody>
      </p:sp>
      <p:sp>
        <p:nvSpPr>
          <p:cNvPr id="3" name="Shape 1"/>
          <p:cNvSpPr/>
          <p:nvPr/>
        </p:nvSpPr>
        <p:spPr>
          <a:xfrm>
            <a:off x="10565892" y="457200"/>
            <a:ext cx="1120140" cy="384048"/>
          </a:xfrm>
          <a:prstGeom prst="roundRect">
            <a:avLst>
              <a:gd name="adj" fmla="val 50000"/>
            </a:avLst>
          </a:prstGeom>
          <a:solidFill>
            <a:srgbClr val="67CCFF"/>
          </a:solidFill>
          <a:ln/>
        </p:spPr>
      </p:sp>
      <p:sp>
        <p:nvSpPr>
          <p:cNvPr id="4" name="Text 2"/>
          <p:cNvSpPr txBox="1"/>
          <p:nvPr/>
        </p:nvSpPr>
        <p:spPr>
          <a:xfrm>
            <a:off x="10565892" y="457200"/>
            <a:ext cx="11201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REFLECT</a:t>
            </a:r>
            <a:endParaRPr lang="en-US" sz="1200" dirty="0"/>
          </a:p>
        </p:txBody>
      </p:sp>
      <p:sp>
        <p:nvSpPr>
          <p:cNvPr id="5" name="Shape 3"/>
          <p:cNvSpPr/>
          <p:nvPr/>
        </p:nvSpPr>
        <p:spPr>
          <a:xfrm>
            <a:off x="502920" y="1417320"/>
            <a:ext cx="5532120" cy="4617720"/>
          </a:xfrm>
          <a:prstGeom prst="roundRect">
            <a:avLst>
              <a:gd name="adj" fmla="val 1584"/>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502920" y="1417320"/>
            <a:ext cx="5532120" cy="420624"/>
          </a:xfrm>
          <a:prstGeom prst="roundRect">
            <a:avLst>
              <a:gd name="adj" fmla="val 17391"/>
            </a:avLst>
          </a:prstGeom>
          <a:solidFill>
            <a:srgbClr val="67CCFF"/>
          </a:solidFill>
          <a:ln/>
        </p:spPr>
      </p:sp>
      <p:sp>
        <p:nvSpPr>
          <p:cNvPr id="7" name="Shape 5"/>
          <p:cNvSpPr/>
          <p:nvPr/>
        </p:nvSpPr>
        <p:spPr>
          <a:xfrm>
            <a:off x="502920" y="1627632"/>
            <a:ext cx="5532120" cy="210312"/>
          </a:xfrm>
          <a:prstGeom prst="rect">
            <a:avLst/>
          </a:prstGeom>
          <a:solidFill>
            <a:srgbClr val="67CCFF"/>
          </a:solidFill>
          <a:ln/>
        </p:spPr>
      </p:sp>
      <p:sp>
        <p:nvSpPr>
          <p:cNvPr id="8" name="Text 6"/>
          <p:cNvSpPr txBox="1"/>
          <p:nvPr/>
        </p:nvSpPr>
        <p:spPr>
          <a:xfrm>
            <a:off x="640080" y="1417320"/>
            <a:ext cx="525780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Reflect (2 minutes, then share)</a:t>
            </a:r>
            <a:endParaRPr lang="en-US" sz="1400" dirty="0"/>
          </a:p>
        </p:txBody>
      </p:sp>
      <p:sp>
        <p:nvSpPr>
          <p:cNvPr id="9" name="Text 7"/>
          <p:cNvSpPr txBox="1"/>
          <p:nvPr/>
        </p:nvSpPr>
        <p:spPr>
          <a:xfrm>
            <a:off x="777240" y="2057400"/>
            <a:ext cx="5029200" cy="3749040"/>
          </a:xfrm>
          <a:prstGeom prst="rect">
            <a:avLst/>
          </a:prstGeom>
          <a:noFill/>
          <a:ln/>
        </p:spPr>
        <p:txBody>
          <a:bodyPr wrap="square" lIns="0" tIns="0" rIns="0" bIns="0" rtlCol="0" anchor="t"/>
          <a:lstStyle/>
          <a:p>
            <a:pPr marL="152400" indent="-152400">
              <a:lnSpc>
                <a:spcPct val="105000"/>
              </a:lnSpc>
              <a:spcAft>
                <a:spcPts val="1400"/>
              </a:spcAft>
              <a:buSzPct val="100000"/>
              <a:buChar char="•"/>
            </a:pPr>
            <a:r>
              <a:rPr lang="en-US" sz="1350" dirty="0">
                <a:solidFill>
                  <a:srgbClr val="22252B"/>
                </a:solidFill>
                <a:latin typeface="Calibri" pitchFamily="34" charset="0"/>
                <a:ea typeface="Calibri" pitchFamily="34" charset="-122"/>
                <a:cs typeface="Calibri" pitchFamily="34" charset="-120"/>
              </a:rPr>
              <a:t>Which document type from today (email, report, minutes, comparison) will you use AI for first?</a:t>
            </a:r>
            <a:endParaRPr lang="en-US" sz="1350" dirty="0"/>
          </a:p>
          <a:p>
            <a:pPr marL="152400" indent="-152400">
              <a:lnSpc>
                <a:spcPct val="105000"/>
              </a:lnSpc>
              <a:spcAft>
                <a:spcPts val="1400"/>
              </a:spcAft>
              <a:buSzPct val="100000"/>
              <a:buChar char="•"/>
            </a:pPr>
            <a:r>
              <a:rPr lang="en-US" sz="1350" dirty="0">
                <a:solidFill>
                  <a:srgbClr val="22252B"/>
                </a:solidFill>
                <a:latin typeface="Calibri" pitchFamily="34" charset="0"/>
                <a:ea typeface="Calibri" pitchFamily="34" charset="-122"/>
                <a:cs typeface="Calibri" pitchFamily="34" charset="-120"/>
              </a:rPr>
              <a:t>Where did AI's output most need YOUR correction today?</a:t>
            </a:r>
            <a:endParaRPr lang="en-US" sz="1350" dirty="0"/>
          </a:p>
          <a:p>
            <a:pPr marL="152400" indent="-152400">
              <a:lnSpc>
                <a:spcPct val="105000"/>
              </a:lnSpc>
              <a:spcAft>
                <a:spcPts val="1400"/>
              </a:spcAft>
              <a:buSzPct val="100000"/>
              <a:buChar char="•"/>
            </a:pPr>
            <a:r>
              <a:rPr lang="en-US" sz="1350" dirty="0">
                <a:solidFill>
                  <a:srgbClr val="22252B"/>
                </a:solidFill>
                <a:latin typeface="Calibri" pitchFamily="34" charset="0"/>
                <a:ea typeface="Calibri" pitchFamily="34" charset="-122"/>
                <a:cs typeface="Calibri" pitchFamily="34" charset="-120"/>
              </a:rPr>
              <a:t>How many prompts are in your Personal Prompt Library now? (Target: 5+ by end of Day 2.)</a:t>
            </a:r>
            <a:endParaRPr lang="en-US" sz="1350" dirty="0"/>
          </a:p>
        </p:txBody>
      </p:sp>
      <p:sp>
        <p:nvSpPr>
          <p:cNvPr id="10" name="Shape 8"/>
          <p:cNvSpPr/>
          <p:nvPr/>
        </p:nvSpPr>
        <p:spPr>
          <a:xfrm>
            <a:off x="6263640" y="1417320"/>
            <a:ext cx="5440680" cy="4617720"/>
          </a:xfrm>
          <a:prstGeom prst="roundRect">
            <a:avLst>
              <a:gd name="adj" fmla="val 1584"/>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1" name="Shape 9"/>
          <p:cNvSpPr/>
          <p:nvPr/>
        </p:nvSpPr>
        <p:spPr>
          <a:xfrm>
            <a:off x="6263640" y="1417320"/>
            <a:ext cx="5440680" cy="420624"/>
          </a:xfrm>
          <a:prstGeom prst="roundRect">
            <a:avLst>
              <a:gd name="adj" fmla="val 17391"/>
            </a:avLst>
          </a:prstGeom>
          <a:solidFill>
            <a:srgbClr val="273370"/>
          </a:solidFill>
          <a:ln/>
        </p:spPr>
      </p:sp>
      <p:sp>
        <p:nvSpPr>
          <p:cNvPr id="12" name="Shape 10"/>
          <p:cNvSpPr/>
          <p:nvPr/>
        </p:nvSpPr>
        <p:spPr>
          <a:xfrm>
            <a:off x="6263640" y="1627632"/>
            <a:ext cx="5440680" cy="210312"/>
          </a:xfrm>
          <a:prstGeom prst="rect">
            <a:avLst/>
          </a:prstGeom>
          <a:solidFill>
            <a:srgbClr val="273370"/>
          </a:solidFill>
          <a:ln/>
        </p:spPr>
      </p:sp>
      <p:sp>
        <p:nvSpPr>
          <p:cNvPr id="13" name="Text 11"/>
          <p:cNvSpPr txBox="1"/>
          <p:nvPr/>
        </p:nvSpPr>
        <p:spPr>
          <a:xfrm>
            <a:off x="6400800" y="1417320"/>
            <a:ext cx="516636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Key takeaways</a:t>
            </a:r>
            <a:endParaRPr lang="en-US" sz="1400" dirty="0"/>
          </a:p>
        </p:txBody>
      </p:sp>
      <p:sp>
        <p:nvSpPr>
          <p:cNvPr id="14" name="Text 12"/>
          <p:cNvSpPr txBox="1"/>
          <p:nvPr/>
        </p:nvSpPr>
        <p:spPr>
          <a:xfrm>
            <a:off x="6537960" y="2057400"/>
            <a:ext cx="4937760" cy="3749040"/>
          </a:xfrm>
          <a:prstGeom prst="rect">
            <a:avLst/>
          </a:prstGeom>
          <a:noFill/>
          <a:ln/>
        </p:spPr>
        <p:txBody>
          <a:bodyPr wrap="square" lIns="0" tIns="0" rIns="0" bIns="0" rtlCol="0" anchor="t"/>
          <a:lstStyle/>
          <a:p>
            <a:pPr marL="152400" indent="-152400">
              <a:lnSpc>
                <a:spcPct val="105000"/>
              </a:lnSpc>
              <a:spcAft>
                <a:spcPts val="900"/>
              </a:spcAft>
              <a:buSzPct val="100000"/>
              <a:buChar char="•"/>
            </a:pPr>
            <a:r>
              <a:rPr lang="en-US" sz="1300" dirty="0">
                <a:solidFill>
                  <a:srgbClr val="22252B"/>
                </a:solidFill>
                <a:latin typeface="Calibri" pitchFamily="34" charset="0"/>
                <a:ea typeface="Calibri" pitchFamily="34" charset="-122"/>
                <a:cs typeface="Calibri" pitchFamily="34" charset="-120"/>
              </a:rPr>
              <a:t>Brief → Draft → Refine → Verify — for everything you write.</a:t>
            </a:r>
            <a:endParaRPr lang="en-US" sz="1300" dirty="0"/>
          </a:p>
          <a:p>
            <a:pPr marL="152400" indent="-152400">
              <a:lnSpc>
                <a:spcPct val="105000"/>
              </a:lnSpc>
              <a:spcAft>
                <a:spcPts val="900"/>
              </a:spcAft>
              <a:buSzPct val="100000"/>
              <a:buChar char="•"/>
            </a:pPr>
            <a:r>
              <a:rPr lang="en-US" sz="1300" dirty="0">
                <a:solidFill>
                  <a:srgbClr val="22252B"/>
                </a:solidFill>
                <a:latin typeface="Calibri" pitchFamily="34" charset="0"/>
                <a:ea typeface="Calibri" pitchFamily="34" charset="-122"/>
                <a:cs typeface="Calibri" pitchFamily="34" charset="-120"/>
              </a:rPr>
              <a:t>Tone is a dial: name the audience and the register.</a:t>
            </a:r>
            <a:endParaRPr lang="en-US" sz="1300" dirty="0"/>
          </a:p>
          <a:p>
            <a:pPr marL="152400" indent="-152400">
              <a:lnSpc>
                <a:spcPct val="105000"/>
              </a:lnSpc>
              <a:spcAft>
                <a:spcPts val="900"/>
              </a:spcAft>
              <a:buSzPct val="100000"/>
              <a:buChar char="•"/>
            </a:pPr>
            <a:r>
              <a:rPr lang="en-US" sz="1300" dirty="0">
                <a:solidFill>
                  <a:srgbClr val="22252B"/>
                </a:solidFill>
                <a:latin typeface="Calibri" pitchFamily="34" charset="0"/>
                <a:ea typeface="Calibri" pitchFamily="34" charset="-122"/>
                <a:cs typeface="Calibri" pitchFamily="34" charset="-120"/>
              </a:rPr>
              <a:t>Structure first for long documents; never “write the whole report”.</a:t>
            </a:r>
            <a:endParaRPr lang="en-US" sz="1300" dirty="0"/>
          </a:p>
          <a:p>
            <a:pPr marL="152400" indent="-152400">
              <a:lnSpc>
                <a:spcPct val="105000"/>
              </a:lnSpc>
              <a:spcAft>
                <a:spcPts val="900"/>
              </a:spcAft>
              <a:buSzPct val="100000"/>
              <a:buChar char="•"/>
            </a:pPr>
            <a:r>
              <a:rPr lang="en-US" sz="1300" dirty="0">
                <a:solidFill>
                  <a:srgbClr val="22252B"/>
                </a:solidFill>
                <a:latin typeface="Calibri" pitchFamily="34" charset="0"/>
                <a:ea typeface="Calibri" pitchFamily="34" charset="-122"/>
                <a:cs typeface="Calibri" pitchFamily="34" charset="-120"/>
              </a:rPr>
              <a:t>Summaries have audiences; extractions need [CHECK] flags.</a:t>
            </a:r>
            <a:endParaRPr lang="en-US" sz="1300" dirty="0"/>
          </a:p>
          <a:p>
            <a:pPr marL="152400" indent="-152400">
              <a:lnSpc>
                <a:spcPct val="105000"/>
              </a:lnSpc>
              <a:spcAft>
                <a:spcPts val="900"/>
              </a:spcAft>
              <a:buSzPct val="100000"/>
              <a:buChar char="•"/>
            </a:pPr>
            <a:r>
              <a:rPr lang="en-US" sz="1300" dirty="0">
                <a:solidFill>
                  <a:srgbClr val="22252B"/>
                </a:solidFill>
                <a:latin typeface="Calibri" pitchFamily="34" charset="0"/>
                <a:ea typeface="Calibri" pitchFamily="34" charset="-122"/>
                <a:cs typeface="Calibri" pitchFamily="34" charset="-120"/>
              </a:rPr>
              <a:t>AI narrates data brilliantly and calculates it unreliably — verify numbers.</a:t>
            </a:r>
            <a:endParaRPr lang="en-US" sz="1300" dirty="0"/>
          </a:p>
          <a:p>
            <a:pPr marL="152400" indent="-152400">
              <a:lnSpc>
                <a:spcPct val="105000"/>
              </a:lnSpc>
              <a:spcAft>
                <a:spcPts val="900"/>
              </a:spcAft>
              <a:buSzPct val="100000"/>
              <a:buChar char="•"/>
            </a:pPr>
            <a:r>
              <a:rPr lang="en-US" sz="1300" dirty="0">
                <a:solidFill>
                  <a:srgbClr val="22252B"/>
                </a:solidFill>
                <a:latin typeface="Calibri" pitchFamily="34" charset="0"/>
                <a:ea typeface="Calibri" pitchFamily="34" charset="-122"/>
                <a:cs typeface="Calibri" pitchFamily="34" charset="-120"/>
              </a:rPr>
              <a:t>Your criteria drive comparisons — not the AI's.</a:t>
            </a:r>
            <a:endParaRPr lang="en-US" sz="1300" dirty="0"/>
          </a:p>
        </p:txBody>
      </p:sp>
      <p:sp>
        <p:nvSpPr>
          <p:cNvPr id="15" name="Text 13"/>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16" name="Text 14"/>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51</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1737360"/>
            <a:ext cx="3657600" cy="548640"/>
          </a:xfrm>
          <a:prstGeom prst="rect">
            <a:avLst/>
          </a:prstGeom>
          <a:noFill/>
          <a:ln/>
        </p:spPr>
        <p:txBody>
          <a:bodyPr wrap="square" lIns="0" tIns="0" rIns="0" bIns="0" rtlCol="0" anchor="ctr"/>
          <a:lstStyle/>
          <a:p>
            <a:pPr indent="0" marL="0">
              <a:buNone/>
            </a:pPr>
            <a:r>
              <a:rPr lang="en-US" sz="2200" b="1" spc="500" kern="0" dirty="0">
                <a:solidFill>
                  <a:srgbClr val="FCBD4C"/>
                </a:solidFill>
                <a:latin typeface="Calibri" pitchFamily="34" charset="0"/>
                <a:ea typeface="Calibri" pitchFamily="34" charset="-122"/>
                <a:cs typeface="Calibri" pitchFamily="34" charset="-120"/>
              </a:rPr>
              <a:t>DAY 3</a:t>
            </a:r>
            <a:endParaRPr lang="en-US" sz="2200" dirty="0"/>
          </a:p>
        </p:txBody>
      </p:sp>
      <p:sp>
        <p:nvSpPr>
          <p:cNvPr id="3" name="Text 1"/>
          <p:cNvSpPr txBox="1"/>
          <p:nvPr/>
        </p:nvSpPr>
        <p:spPr>
          <a:xfrm>
            <a:off x="731520" y="2286000"/>
            <a:ext cx="10972800" cy="100584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Workflows, Verification &amp; Responsible Use</a:t>
            </a:r>
            <a:endParaRPr lang="en-US" sz="4000" dirty="0"/>
          </a:p>
        </p:txBody>
      </p:sp>
      <p:sp>
        <p:nvSpPr>
          <p:cNvPr id="4" name="Text 2"/>
          <p:cNvSpPr txBox="1"/>
          <p:nvPr/>
        </p:nvSpPr>
        <p:spPr>
          <a:xfrm>
            <a:off x="777240" y="3520440"/>
            <a:ext cx="9601200" cy="1645920"/>
          </a:xfrm>
          <a:prstGeom prst="rect">
            <a:avLst/>
          </a:prstGeom>
          <a:noFill/>
          <a:ln/>
        </p:spPr>
        <p:txBody>
          <a:bodyPr wrap="square" lIns="0" tIns="0" rIns="0" bIns="0" rtlCol="0" anchor="ctr"/>
          <a:lstStyle/>
          <a:p>
            <a:pPr marL="152400" indent="-152400">
              <a:spcAft>
                <a:spcPts val="800"/>
              </a:spcAft>
              <a:buSzPct val="100000"/>
              <a:buChar char="•"/>
            </a:pPr>
            <a:r>
              <a:rPr lang="en-US" sz="1600" dirty="0">
                <a:solidFill>
                  <a:srgbClr val="C9D2F2"/>
                </a:solidFill>
                <a:latin typeface="Calibri" pitchFamily="34" charset="0"/>
                <a:ea typeface="Calibri" pitchFamily="34" charset="-122"/>
                <a:cs typeface="Calibri" pitchFamily="34" charset="-120"/>
              </a:rPr>
              <a:t>Brainstorm, plan and organise with AI — inside the tools you already use</a:t>
            </a:r>
            <a:endParaRPr lang="en-US" sz="1600" dirty="0"/>
          </a:p>
          <a:p>
            <a:pPr marL="152400" indent="-152400">
              <a:spcAft>
                <a:spcPts val="800"/>
              </a:spcAft>
              <a:buSzPct val="100000"/>
              <a:buChar char="•"/>
            </a:pPr>
            <a:r>
              <a:rPr lang="en-US" sz="1600" dirty="0">
                <a:solidFill>
                  <a:srgbClr val="C9D2F2"/>
                </a:solidFill>
                <a:latin typeface="Calibri" pitchFamily="34" charset="0"/>
                <a:ea typeface="Calibri" pitchFamily="34" charset="-122"/>
                <a:cs typeface="Calibri" pitchFamily="34" charset="-120"/>
              </a:rPr>
              <a:t>Catch AI's mistakes before they catch you: review, fact-check, validate</a:t>
            </a:r>
            <a:endParaRPr lang="en-US" sz="1600" dirty="0"/>
          </a:p>
          <a:p>
            <a:pPr marL="152400" indent="-152400">
              <a:buSzPct val="100000"/>
              <a:buChar char="•"/>
            </a:pPr>
            <a:r>
              <a:rPr lang="en-US" sz="1600" dirty="0">
                <a:solidFill>
                  <a:srgbClr val="C9D2F2"/>
                </a:solidFill>
                <a:latin typeface="Calibri" pitchFamily="34" charset="0"/>
                <a:ea typeface="Calibri" pitchFamily="34" charset="-122"/>
                <a:cs typeface="Calibri" pitchFamily="34" charset="-120"/>
              </a:rPr>
              <a:t>Use AI safely: privacy, confidentiality, bias — and your accountability</a:t>
            </a:r>
            <a:endParaRPr lang="en-US" sz="1600" dirty="0"/>
          </a:p>
        </p:txBody>
      </p:sp>
      <p:sp>
        <p:nvSpPr>
          <p:cNvPr id="5" name="Text 3"/>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 </a:t>
            </a:r>
            <a:endParaRPr lang="en-US" sz="900" dirty="0"/>
          </a:p>
        </p:txBody>
      </p:sp>
      <p:sp>
        <p:nvSpPr>
          <p:cNvPr id="6" name="Text 4"/>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txBox="1"/>
          <p:nvPr/>
        </p:nvSpPr>
        <p:spPr>
          <a:xfrm>
            <a:off x="502920" y="347472"/>
            <a:ext cx="1115568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Day 3 agenda</a:t>
            </a:r>
            <a:endParaRPr lang="en-US" sz="3000" dirty="0"/>
          </a:p>
        </p:txBody>
      </p:sp>
      <p:sp>
        <p:nvSpPr>
          <p:cNvPr id="3" name="Text 1"/>
          <p:cNvSpPr txBox="1"/>
          <p:nvPr/>
        </p:nvSpPr>
        <p:spPr>
          <a:xfrm>
            <a:off x="502920" y="987552"/>
            <a:ext cx="11155680" cy="365760"/>
          </a:xfrm>
          <a:prstGeom prst="rect">
            <a:avLst/>
          </a:prstGeom>
          <a:noFill/>
          <a:ln/>
        </p:spPr>
        <p:txBody>
          <a:bodyPr wrap="square" lIns="0" tIns="0" rIns="0" bIns="0" rtlCol="0" anchor="ctr"/>
          <a:lstStyle/>
          <a:p>
            <a:pPr indent="0" marL="0">
              <a:buNone/>
            </a:pPr>
            <a:r>
              <a:rPr lang="en-US" sz="1400" dirty="0">
                <a:solidFill>
                  <a:srgbClr val="696969"/>
                </a:solidFill>
                <a:latin typeface="Calibri" pitchFamily="34" charset="0"/>
                <a:ea typeface="Calibri" pitchFamily="34" charset="-122"/>
                <a:cs typeface="Calibri" pitchFamily="34" charset="-120"/>
              </a:rPr>
              <a:t>08:30 – 14:30  •  ~5 instructional hours</a:t>
            </a:r>
            <a:endParaRPr lang="en-US" sz="14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11155680" cy="914400"/>
        </p:xfrm>
        <a:graphic>
          <a:graphicData uri="http://schemas.openxmlformats.org/drawingml/2006/table">
            <a:tbl>
              <a:tblPr/>
              <a:tblGrid>
                <a:gridCol w="1188720"/>
                <a:gridCol w="6949440"/>
                <a:gridCol w="1371600"/>
                <a:gridCol w="1645920"/>
              </a:tblGrid>
              <a:tr h="329184">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Time</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27337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Segment</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27337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Duration</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27337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Type</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273370"/>
                    </a:solidFill>
                  </a:tcPr>
                </a:tc>
              </a:tr>
              <a:tr h="329184">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08:30</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Recap &amp; homework share</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10 min</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Session</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08:40</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Brainstorming, planning &amp; task organisation with AI</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35 min</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Concept + demo</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r>
              <a:tr h="329184">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09:15</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AI inside your daily tools: Copilot, Gemini &amp; Microsoft 365</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30 min</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Concept + demo</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09:45</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Activity 3.1 — Plan a workshop end-to-end (mini-capstone)</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45 min</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Hands-on</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r>
              <a:tr h="329184">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10:30</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E8ECF6"/>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Break</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E8ECF6"/>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15 min</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E8ECF6"/>
                    </a:solidFill>
                  </a:tcPr>
                </a:tc>
                <a:tc>
                  <a:txBody>
                    <a:bodyPr/>
                    <a:lstStyle/>
                    <a:p>
                      <a:pPr indent="0" marL="0">
                        <a:buNone/>
                      </a:pP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E8ECF6"/>
                    </a:solidFill>
                  </a:tcPr>
                </a:tc>
              </a:tr>
              <a:tr h="329184">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10:45</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Debrief 3.1 + Your Personal Prompt Library</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30 min</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Session</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r>
              <a:tr h="329184">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11:15</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Trust, but verify: hallucinations + the CHECK method + Demo 5</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45 min</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Concept + demo</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12:00</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E8ECF6"/>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Prayer &amp; refreshments</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E8ECF6"/>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30 min</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E8ECF6"/>
                    </a:solidFill>
                  </a:tcPr>
                </a:tc>
                <a:tc>
                  <a:txBody>
                    <a:bodyPr/>
                    <a:lstStyle/>
                    <a:p>
                      <a:pPr indent="0" marL="0">
                        <a:buNone/>
                      </a:pP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E8ECF6"/>
                    </a:solidFill>
                  </a:tcPr>
                </a:tc>
              </a:tr>
              <a:tr h="329184">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12:30</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Activity 3.2 — Spot the errors (AI-drafted report)</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35 min</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Hands-on</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13:05</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Responsible use: privacy, confidentiality, bias &amp; accountability</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30 min</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Concept</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r>
              <a:tr h="329184">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13:35</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Activity 3.3 — Responsible-use scenario cards</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25 min</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Hands-on</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14:00</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Final assessment, action plan, badge &amp; close</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30 min</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c>
                  <a:txBody>
                    <a:bodyPr/>
                    <a:lstStyle/>
                    <a:p>
                      <a:pPr indent="0" marL="0">
                        <a:buNone/>
                      </a:pPr>
                      <a:r>
                        <a:rPr lang="en-US" sz="1100" dirty="0">
                          <a:solidFill>
                            <a:srgbClr val="22252B"/>
                          </a:solidFill>
                          <a:latin typeface="Calibri" pitchFamily="34" charset="0"/>
                          <a:ea typeface="Calibri" pitchFamily="34" charset="-122"/>
                          <a:cs typeface="Calibri" pitchFamily="34" charset="-120"/>
                        </a:rPr>
                        <a:t>Assessment</a:t>
                      </a:r>
                      <a:endParaRPr lang="en-US" sz="1100" dirty="0">
                        <a:latin typeface="Calibri" charset="0"/>
                        <a:ea typeface="Calibri" charset="0"/>
                        <a:cs typeface="Calibri" charset="0"/>
                      </a:endParaRPr>
                    </a:p>
                  </a:txBody>
                  <a:tcPr marL="45720" marR="45720" marT="45720" marB="45720" anchor="ctr">
                    <a:lnL w="9525" cap="flat" cmpd="sng" algn="ctr">
                      <a:solidFill>
                        <a:srgbClr val="D9DCE6"/>
                      </a:solidFill>
                      <a:prstDash val="solid"/>
                      <a:round/>
                      <a:headEnd type="none" w="med" len="med"/>
                      <a:tailEnd type="none" w="med" len="med"/>
                    </a:lnL>
                    <a:lnR w="9525" cap="flat" cmpd="sng" algn="ctr">
                      <a:solidFill>
                        <a:srgbClr val="D9DCE6"/>
                      </a:solidFill>
                      <a:prstDash val="solid"/>
                      <a:round/>
                      <a:headEnd type="none" w="med" len="med"/>
                      <a:tailEnd type="none" w="med" len="med"/>
                    </a:lnR>
                    <a:lnT w="9525" cap="flat" cmpd="sng" algn="ctr">
                      <a:solidFill>
                        <a:srgbClr val="D9DCE6"/>
                      </a:solidFill>
                      <a:prstDash val="solid"/>
                      <a:round/>
                      <a:headEnd type="none" w="med" len="med"/>
                      <a:tailEnd type="none" w="med" len="med"/>
                    </a:lnT>
                    <a:lnB w="9525" cap="flat" cmpd="sng" algn="ctr">
                      <a:solidFill>
                        <a:srgbClr val="D9DCE6"/>
                      </a:solidFill>
                      <a:prstDash val="solid"/>
                      <a:round/>
                      <a:headEnd type="none" w="med" len="med"/>
                      <a:tailEnd type="none" w="med" len="med"/>
                    </a:lnB>
                    <a:solidFill>
                      <a:srgbClr val="F1F1F2"/>
                    </a:solidFill>
                  </a:tcPr>
                </a:tc>
              </a:tr>
            </a:tbl>
          </a:graphicData>
        </a:graphic>
      </p:graphicFrame>
      <p:sp>
        <p:nvSpPr>
          <p:cNvPr id="5" name="Text 2"/>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6" name="Text 3"/>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53</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Brainstorming with AI</a:t>
            </a:r>
            <a:endParaRPr lang="en-US" sz="3000" dirty="0"/>
          </a:p>
        </p:txBody>
      </p:sp>
      <p:sp>
        <p:nvSpPr>
          <p:cNvPr id="3" name="Text 1"/>
          <p:cNvSpPr txBox="1"/>
          <p:nvPr/>
        </p:nvSpPr>
        <p:spPr>
          <a:xfrm>
            <a:off x="502920" y="987552"/>
            <a:ext cx="11155680" cy="365760"/>
          </a:xfrm>
          <a:prstGeom prst="rect">
            <a:avLst/>
          </a:prstGeom>
          <a:noFill/>
          <a:ln/>
        </p:spPr>
        <p:txBody>
          <a:bodyPr wrap="square" lIns="0" tIns="0" rIns="0" bIns="0" rtlCol="0" anchor="ctr"/>
          <a:lstStyle/>
          <a:p>
            <a:pPr indent="0" marL="0">
              <a:buNone/>
            </a:pPr>
            <a:r>
              <a:rPr lang="en-US" sz="1400" dirty="0">
                <a:solidFill>
                  <a:srgbClr val="696969"/>
                </a:solidFill>
                <a:latin typeface="Calibri" pitchFamily="34" charset="0"/>
                <a:ea typeface="Calibri" pitchFamily="34" charset="-122"/>
                <a:cs typeface="Calibri" pitchFamily="34" charset="-120"/>
              </a:rPr>
              <a:t>A tireless thinking partner — if you push past the obvious</a:t>
            </a:r>
            <a:endParaRPr lang="en-US" sz="1400" dirty="0"/>
          </a:p>
        </p:txBody>
      </p:sp>
      <p:sp>
        <p:nvSpPr>
          <p:cNvPr id="4" name="Shape 2"/>
          <p:cNvSpPr/>
          <p:nvPr/>
        </p:nvSpPr>
        <p:spPr>
          <a:xfrm>
            <a:off x="10565892" y="457200"/>
            <a:ext cx="1120140" cy="384048"/>
          </a:xfrm>
          <a:prstGeom prst="roundRect">
            <a:avLst>
              <a:gd name="adj" fmla="val 50000"/>
            </a:avLst>
          </a:prstGeom>
          <a:solidFill>
            <a:srgbClr val="94A0DA"/>
          </a:solidFill>
          <a:ln/>
        </p:spPr>
      </p:sp>
      <p:sp>
        <p:nvSpPr>
          <p:cNvPr id="5" name="Text 3"/>
          <p:cNvSpPr txBox="1"/>
          <p:nvPr/>
        </p:nvSpPr>
        <p:spPr>
          <a:xfrm>
            <a:off x="10565892" y="457200"/>
            <a:ext cx="11201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Shape 4"/>
          <p:cNvSpPr/>
          <p:nvPr/>
        </p:nvSpPr>
        <p:spPr>
          <a:xfrm>
            <a:off x="502920" y="1554480"/>
            <a:ext cx="5440680" cy="2103120"/>
          </a:xfrm>
          <a:prstGeom prst="roundRect">
            <a:avLst>
              <a:gd name="adj" fmla="val 3478"/>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731520" y="1783080"/>
            <a:ext cx="502920" cy="502920"/>
          </a:xfrm>
          <a:prstGeom prst="roundRect">
            <a:avLst>
              <a:gd name="adj" fmla="val 16364"/>
            </a:avLst>
          </a:prstGeom>
          <a:solidFill>
            <a:srgbClr val="FCBD4C"/>
          </a:solidFill>
          <a:ln/>
        </p:spPr>
      </p:sp>
      <p:pic>
        <p:nvPicPr>
          <p:cNvPr id="8" name="Image 0" descr="preencoded.png">    </p:cNvPr>
          <p:cNvPicPr>
            <a:picLocks noChangeAspect="1"/>
          </p:cNvPicPr>
          <p:nvPr/>
        </p:nvPicPr>
        <p:blipFill>
          <a:blip r:embed="rId1"/>
          <a:stretch>
            <a:fillRect/>
          </a:stretch>
        </p:blipFill>
        <p:spPr>
          <a:xfrm>
            <a:off x="842162" y="1893722"/>
            <a:ext cx="281635" cy="281635"/>
          </a:xfrm>
          <a:prstGeom prst="rect">
            <a:avLst/>
          </a:prstGeom>
        </p:spPr>
      </p:pic>
      <p:sp>
        <p:nvSpPr>
          <p:cNvPr id="9" name="Text 6"/>
          <p:cNvSpPr txBox="1"/>
          <p:nvPr/>
        </p:nvSpPr>
        <p:spPr>
          <a:xfrm>
            <a:off x="1371600" y="1755648"/>
            <a:ext cx="4389120" cy="548640"/>
          </a:xfrm>
          <a:prstGeom prst="rect">
            <a:avLst/>
          </a:prstGeom>
          <a:noFill/>
          <a:ln/>
        </p:spPr>
        <p:txBody>
          <a:bodyPr wrap="square" lIns="0" tIns="0" rIns="0" bIns="0" rtlCol="0" anchor="ctr"/>
          <a:lstStyle/>
          <a:p>
            <a:pPr indent="0" marL="0">
              <a:buNone/>
            </a:pPr>
            <a:r>
              <a:rPr lang="en-US" sz="1450" b="1" dirty="0">
                <a:solidFill>
                  <a:srgbClr val="273370"/>
                </a:solidFill>
                <a:latin typeface="Calibri" pitchFamily="34" charset="0"/>
                <a:ea typeface="Calibri" pitchFamily="34" charset="-122"/>
                <a:cs typeface="Calibri" pitchFamily="34" charset="-120"/>
              </a:rPr>
              <a:t>Quantity first</a:t>
            </a:r>
            <a:endParaRPr lang="en-US" sz="1450" dirty="0"/>
          </a:p>
        </p:txBody>
      </p:sp>
      <p:sp>
        <p:nvSpPr>
          <p:cNvPr id="10" name="Text 7"/>
          <p:cNvSpPr txBox="1"/>
          <p:nvPr/>
        </p:nvSpPr>
        <p:spPr>
          <a:xfrm>
            <a:off x="731520" y="2395728"/>
            <a:ext cx="4983480" cy="1188720"/>
          </a:xfrm>
          <a:prstGeom prst="rect">
            <a:avLst/>
          </a:prstGeom>
          <a:noFill/>
          <a:ln/>
        </p:spPr>
        <p:txBody>
          <a:bodyPr wrap="square" lIns="0" tIns="0" rIns="0" bIns="0" rtlCol="0" anchor="ctr"/>
          <a:lstStyle/>
          <a:p>
            <a:pPr indent="0" marL="0">
              <a:lnSpc>
                <a:spcPct val="110000"/>
              </a:lnSpc>
              <a:buNone/>
            </a:pPr>
            <a:r>
              <a:rPr lang="en-US" sz="1100" dirty="0">
                <a:solidFill>
                  <a:srgbClr val="22252B"/>
                </a:solidFill>
                <a:latin typeface="Calibri" pitchFamily="34" charset="0"/>
                <a:ea typeface="Calibri" pitchFamily="34" charset="-122"/>
                <a:cs typeface="Calibri" pitchFamily="34" charset="-120"/>
              </a:rPr>
              <a:t>“Give me 20 ideas for [goal] — the first 10 conventional, the last 10 unusual.” The good ideas hide after the obvious ones run out.</a:t>
            </a:r>
            <a:endParaRPr lang="en-US" sz="1100" dirty="0"/>
          </a:p>
        </p:txBody>
      </p:sp>
      <p:sp>
        <p:nvSpPr>
          <p:cNvPr id="11" name="Shape 8"/>
          <p:cNvSpPr/>
          <p:nvPr/>
        </p:nvSpPr>
        <p:spPr>
          <a:xfrm>
            <a:off x="6217920" y="1554480"/>
            <a:ext cx="5440680" cy="2103120"/>
          </a:xfrm>
          <a:prstGeom prst="roundRect">
            <a:avLst>
              <a:gd name="adj" fmla="val 3478"/>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2" name="Shape 9"/>
          <p:cNvSpPr/>
          <p:nvPr/>
        </p:nvSpPr>
        <p:spPr>
          <a:xfrm>
            <a:off x="6446520" y="1783080"/>
            <a:ext cx="502920" cy="502920"/>
          </a:xfrm>
          <a:prstGeom prst="roundRect">
            <a:avLst>
              <a:gd name="adj" fmla="val 16364"/>
            </a:avLst>
          </a:prstGeom>
          <a:solidFill>
            <a:srgbClr val="273370"/>
          </a:solidFill>
          <a:ln/>
        </p:spPr>
      </p:sp>
      <p:pic>
        <p:nvPicPr>
          <p:cNvPr id="13" name="Image 1" descr="preencoded.png">    </p:cNvPr>
          <p:cNvPicPr>
            <a:picLocks noChangeAspect="1"/>
          </p:cNvPicPr>
          <p:nvPr/>
        </p:nvPicPr>
        <p:blipFill>
          <a:blip r:embed="rId2"/>
          <a:stretch>
            <a:fillRect/>
          </a:stretch>
        </p:blipFill>
        <p:spPr>
          <a:xfrm>
            <a:off x="6557162" y="1893722"/>
            <a:ext cx="281635" cy="281635"/>
          </a:xfrm>
          <a:prstGeom prst="rect">
            <a:avLst/>
          </a:prstGeom>
        </p:spPr>
      </p:pic>
      <p:sp>
        <p:nvSpPr>
          <p:cNvPr id="14" name="Text 10"/>
          <p:cNvSpPr txBox="1"/>
          <p:nvPr/>
        </p:nvSpPr>
        <p:spPr>
          <a:xfrm>
            <a:off x="7086600" y="1755648"/>
            <a:ext cx="4389120" cy="548640"/>
          </a:xfrm>
          <a:prstGeom prst="rect">
            <a:avLst/>
          </a:prstGeom>
          <a:noFill/>
          <a:ln/>
        </p:spPr>
        <p:txBody>
          <a:bodyPr wrap="square" lIns="0" tIns="0" rIns="0" bIns="0" rtlCol="0" anchor="ctr"/>
          <a:lstStyle/>
          <a:p>
            <a:pPr indent="0" marL="0">
              <a:buNone/>
            </a:pPr>
            <a:r>
              <a:rPr lang="en-US" sz="1450" b="1" dirty="0">
                <a:solidFill>
                  <a:srgbClr val="273370"/>
                </a:solidFill>
                <a:latin typeface="Calibri" pitchFamily="34" charset="0"/>
                <a:ea typeface="Calibri" pitchFamily="34" charset="-122"/>
                <a:cs typeface="Calibri" pitchFamily="34" charset="-120"/>
              </a:rPr>
              <a:t>Change the perspective</a:t>
            </a:r>
            <a:endParaRPr lang="en-US" sz="1450" dirty="0"/>
          </a:p>
        </p:txBody>
      </p:sp>
      <p:sp>
        <p:nvSpPr>
          <p:cNvPr id="15" name="Text 11"/>
          <p:cNvSpPr txBox="1"/>
          <p:nvPr/>
        </p:nvSpPr>
        <p:spPr>
          <a:xfrm>
            <a:off x="6446520" y="2395728"/>
            <a:ext cx="4983480" cy="1188720"/>
          </a:xfrm>
          <a:prstGeom prst="rect">
            <a:avLst/>
          </a:prstGeom>
          <a:noFill/>
          <a:ln/>
        </p:spPr>
        <p:txBody>
          <a:bodyPr wrap="square" lIns="0" tIns="0" rIns="0" bIns="0" rtlCol="0" anchor="ctr"/>
          <a:lstStyle/>
          <a:p>
            <a:pPr indent="0" marL="0">
              <a:lnSpc>
                <a:spcPct val="110000"/>
              </a:lnSpc>
              <a:buNone/>
            </a:pPr>
            <a:r>
              <a:rPr lang="en-US" sz="1100" dirty="0">
                <a:solidFill>
                  <a:srgbClr val="22252B"/>
                </a:solidFill>
                <a:latin typeface="Calibri" pitchFamily="34" charset="0"/>
                <a:ea typeface="Calibri" pitchFamily="34" charset="-122"/>
                <a:cs typeface="Calibri" pitchFamily="34" charset="-120"/>
              </a:rPr>
              <a:t>“Now suggest ideas as: a new employee • a frustrated customer • a CFO • a Vision 2030 program officer.” Each lens surfaces different options.</a:t>
            </a:r>
            <a:endParaRPr lang="en-US" sz="1100" dirty="0"/>
          </a:p>
        </p:txBody>
      </p:sp>
      <p:sp>
        <p:nvSpPr>
          <p:cNvPr id="16" name="Shape 12"/>
          <p:cNvSpPr/>
          <p:nvPr/>
        </p:nvSpPr>
        <p:spPr>
          <a:xfrm>
            <a:off x="502920" y="3886200"/>
            <a:ext cx="5440680" cy="2103120"/>
          </a:xfrm>
          <a:prstGeom prst="roundRect">
            <a:avLst>
              <a:gd name="adj" fmla="val 3478"/>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7" name="Shape 13"/>
          <p:cNvSpPr/>
          <p:nvPr/>
        </p:nvSpPr>
        <p:spPr>
          <a:xfrm>
            <a:off x="731520" y="4114800"/>
            <a:ext cx="502920" cy="502920"/>
          </a:xfrm>
          <a:prstGeom prst="roundRect">
            <a:avLst>
              <a:gd name="adj" fmla="val 16364"/>
            </a:avLst>
          </a:prstGeom>
          <a:solidFill>
            <a:srgbClr val="D45C5C"/>
          </a:solidFill>
          <a:ln/>
        </p:spPr>
      </p:sp>
      <p:pic>
        <p:nvPicPr>
          <p:cNvPr id="18" name="Image 2" descr="preencoded.png">    </p:cNvPr>
          <p:cNvPicPr>
            <a:picLocks noChangeAspect="1"/>
          </p:cNvPicPr>
          <p:nvPr/>
        </p:nvPicPr>
        <p:blipFill>
          <a:blip r:embed="rId3"/>
          <a:stretch>
            <a:fillRect/>
          </a:stretch>
        </p:blipFill>
        <p:spPr>
          <a:xfrm>
            <a:off x="842162" y="4225442"/>
            <a:ext cx="281635" cy="281635"/>
          </a:xfrm>
          <a:prstGeom prst="rect">
            <a:avLst/>
          </a:prstGeom>
        </p:spPr>
      </p:pic>
      <p:sp>
        <p:nvSpPr>
          <p:cNvPr id="19" name="Text 14"/>
          <p:cNvSpPr txBox="1"/>
          <p:nvPr/>
        </p:nvSpPr>
        <p:spPr>
          <a:xfrm>
            <a:off x="1371600" y="4087368"/>
            <a:ext cx="4389120" cy="548640"/>
          </a:xfrm>
          <a:prstGeom prst="rect">
            <a:avLst/>
          </a:prstGeom>
          <a:noFill/>
          <a:ln/>
        </p:spPr>
        <p:txBody>
          <a:bodyPr wrap="square" lIns="0" tIns="0" rIns="0" bIns="0" rtlCol="0" anchor="ctr"/>
          <a:lstStyle/>
          <a:p>
            <a:pPr indent="0" marL="0">
              <a:buNone/>
            </a:pPr>
            <a:r>
              <a:rPr lang="en-US" sz="1450" b="1" dirty="0">
                <a:solidFill>
                  <a:srgbClr val="273370"/>
                </a:solidFill>
                <a:latin typeface="Calibri" pitchFamily="34" charset="0"/>
                <a:ea typeface="Calibri" pitchFamily="34" charset="-122"/>
                <a:cs typeface="Calibri" pitchFamily="34" charset="-120"/>
              </a:rPr>
              <a:t>Attack your plan</a:t>
            </a:r>
            <a:endParaRPr lang="en-US" sz="1450" dirty="0"/>
          </a:p>
        </p:txBody>
      </p:sp>
      <p:sp>
        <p:nvSpPr>
          <p:cNvPr id="20" name="Text 15"/>
          <p:cNvSpPr txBox="1"/>
          <p:nvPr/>
        </p:nvSpPr>
        <p:spPr>
          <a:xfrm>
            <a:off x="731520" y="4727448"/>
            <a:ext cx="4983480" cy="1188720"/>
          </a:xfrm>
          <a:prstGeom prst="rect">
            <a:avLst/>
          </a:prstGeom>
          <a:noFill/>
          <a:ln/>
        </p:spPr>
        <p:txBody>
          <a:bodyPr wrap="square" lIns="0" tIns="0" rIns="0" bIns="0" rtlCol="0" anchor="ctr"/>
          <a:lstStyle/>
          <a:p>
            <a:pPr indent="0" marL="0">
              <a:lnSpc>
                <a:spcPct val="110000"/>
              </a:lnSpc>
              <a:buNone/>
            </a:pPr>
            <a:r>
              <a:rPr lang="en-US" sz="1100" dirty="0">
                <a:solidFill>
                  <a:srgbClr val="22252B"/>
                </a:solidFill>
                <a:latin typeface="Calibri" pitchFamily="34" charset="0"/>
                <a:ea typeface="Calibri" pitchFamily="34" charset="-122"/>
                <a:cs typeface="Calibri" pitchFamily="34" charset="-120"/>
              </a:rPr>
              <a:t>“Here is our plan. List the 5 most likely ways it fails, and the question a skeptical director will ask first.” Pre-mortems cost nothing.</a:t>
            </a:r>
            <a:endParaRPr lang="en-US" sz="1100" dirty="0"/>
          </a:p>
        </p:txBody>
      </p:sp>
      <p:sp>
        <p:nvSpPr>
          <p:cNvPr id="21" name="Shape 16"/>
          <p:cNvSpPr/>
          <p:nvPr/>
        </p:nvSpPr>
        <p:spPr>
          <a:xfrm>
            <a:off x="6217920" y="3886200"/>
            <a:ext cx="5440680" cy="2103120"/>
          </a:xfrm>
          <a:prstGeom prst="roundRect">
            <a:avLst>
              <a:gd name="adj" fmla="val 3478"/>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22" name="Shape 17"/>
          <p:cNvSpPr/>
          <p:nvPr/>
        </p:nvSpPr>
        <p:spPr>
          <a:xfrm>
            <a:off x="6446520" y="4114800"/>
            <a:ext cx="502920" cy="502920"/>
          </a:xfrm>
          <a:prstGeom prst="roundRect">
            <a:avLst>
              <a:gd name="adj" fmla="val 16364"/>
            </a:avLst>
          </a:prstGeom>
          <a:solidFill>
            <a:srgbClr val="29BA74"/>
          </a:solidFill>
          <a:ln/>
        </p:spPr>
      </p:sp>
      <p:pic>
        <p:nvPicPr>
          <p:cNvPr id="23" name="Image 3" descr="preencoded.png">    </p:cNvPr>
          <p:cNvPicPr>
            <a:picLocks noChangeAspect="1"/>
          </p:cNvPicPr>
          <p:nvPr/>
        </p:nvPicPr>
        <p:blipFill>
          <a:blip r:embed="rId4"/>
          <a:stretch>
            <a:fillRect/>
          </a:stretch>
        </p:blipFill>
        <p:spPr>
          <a:xfrm>
            <a:off x="6557162" y="4225442"/>
            <a:ext cx="281635" cy="281635"/>
          </a:xfrm>
          <a:prstGeom prst="rect">
            <a:avLst/>
          </a:prstGeom>
        </p:spPr>
      </p:pic>
      <p:sp>
        <p:nvSpPr>
          <p:cNvPr id="24" name="Text 18"/>
          <p:cNvSpPr txBox="1"/>
          <p:nvPr/>
        </p:nvSpPr>
        <p:spPr>
          <a:xfrm>
            <a:off x="7086600" y="4087368"/>
            <a:ext cx="4389120" cy="548640"/>
          </a:xfrm>
          <a:prstGeom prst="rect">
            <a:avLst/>
          </a:prstGeom>
          <a:noFill/>
          <a:ln/>
        </p:spPr>
        <p:txBody>
          <a:bodyPr wrap="square" lIns="0" tIns="0" rIns="0" bIns="0" rtlCol="0" anchor="ctr"/>
          <a:lstStyle/>
          <a:p>
            <a:pPr indent="0" marL="0">
              <a:buNone/>
            </a:pPr>
            <a:r>
              <a:rPr lang="en-US" sz="1450" b="1" dirty="0">
                <a:solidFill>
                  <a:srgbClr val="273370"/>
                </a:solidFill>
                <a:latin typeface="Calibri" pitchFamily="34" charset="0"/>
                <a:ea typeface="Calibri" pitchFamily="34" charset="-122"/>
                <a:cs typeface="Calibri" pitchFamily="34" charset="-120"/>
              </a:rPr>
              <a:t>Converge deliberately</a:t>
            </a:r>
            <a:endParaRPr lang="en-US" sz="1450" dirty="0"/>
          </a:p>
        </p:txBody>
      </p:sp>
      <p:sp>
        <p:nvSpPr>
          <p:cNvPr id="25" name="Text 19"/>
          <p:cNvSpPr txBox="1"/>
          <p:nvPr/>
        </p:nvSpPr>
        <p:spPr>
          <a:xfrm>
            <a:off x="6446520" y="4727448"/>
            <a:ext cx="4983480" cy="1188720"/>
          </a:xfrm>
          <a:prstGeom prst="rect">
            <a:avLst/>
          </a:prstGeom>
          <a:noFill/>
          <a:ln/>
        </p:spPr>
        <p:txBody>
          <a:bodyPr wrap="square" lIns="0" tIns="0" rIns="0" bIns="0" rtlCol="0" anchor="ctr"/>
          <a:lstStyle/>
          <a:p>
            <a:pPr indent="0" marL="0">
              <a:lnSpc>
                <a:spcPct val="110000"/>
              </a:lnSpc>
              <a:buNone/>
            </a:pPr>
            <a:r>
              <a:rPr lang="en-US" sz="1100" dirty="0">
                <a:solidFill>
                  <a:srgbClr val="22252B"/>
                </a:solidFill>
                <a:latin typeface="Calibri" pitchFamily="34" charset="0"/>
                <a:ea typeface="Calibri" pitchFamily="34" charset="-122"/>
                <a:cs typeface="Calibri" pitchFamily="34" charset="-120"/>
              </a:rPr>
              <a:t>“Cluster these ideas into themes, then score each theme 1–5 on impact and effort, and recommend two to pilot.” From cloud to shortlist.</a:t>
            </a:r>
            <a:endParaRPr lang="en-US" sz="1100" dirty="0"/>
          </a:p>
        </p:txBody>
      </p:sp>
      <p:sp>
        <p:nvSpPr>
          <p:cNvPr id="26" name="Text 20"/>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27" name="Text 21"/>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54</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Planning &amp; task organisation</a:t>
            </a:r>
            <a:endParaRPr lang="en-US" sz="3000" dirty="0"/>
          </a:p>
        </p:txBody>
      </p:sp>
      <p:sp>
        <p:nvSpPr>
          <p:cNvPr id="3" name="Shape 1"/>
          <p:cNvSpPr/>
          <p:nvPr/>
        </p:nvSpPr>
        <p:spPr>
          <a:xfrm>
            <a:off x="10565892" y="457200"/>
            <a:ext cx="1120140" cy="384048"/>
          </a:xfrm>
          <a:prstGeom prst="roundRect">
            <a:avLst>
              <a:gd name="adj" fmla="val 50000"/>
            </a:avLst>
          </a:prstGeom>
          <a:solidFill>
            <a:srgbClr val="94A0DA"/>
          </a:solidFill>
          <a:ln/>
        </p:spPr>
      </p:sp>
      <p:sp>
        <p:nvSpPr>
          <p:cNvPr id="4" name="Text 2"/>
          <p:cNvSpPr txBox="1"/>
          <p:nvPr/>
        </p:nvSpPr>
        <p:spPr>
          <a:xfrm>
            <a:off x="10565892" y="457200"/>
            <a:ext cx="11201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CONCEPT</a:t>
            </a:r>
            <a:endParaRPr lang="en-US" sz="1200" dirty="0"/>
          </a:p>
        </p:txBody>
      </p:sp>
      <p:sp>
        <p:nvSpPr>
          <p:cNvPr id="5" name="Shape 3"/>
          <p:cNvSpPr/>
          <p:nvPr/>
        </p:nvSpPr>
        <p:spPr>
          <a:xfrm>
            <a:off x="502920" y="1417320"/>
            <a:ext cx="5532120" cy="4617720"/>
          </a:xfrm>
          <a:prstGeom prst="roundRect">
            <a:avLst>
              <a:gd name="adj" fmla="val 1584"/>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502920" y="1417320"/>
            <a:ext cx="5532120" cy="420624"/>
          </a:xfrm>
          <a:prstGeom prst="roundRect">
            <a:avLst>
              <a:gd name="adj" fmla="val 17391"/>
            </a:avLst>
          </a:prstGeom>
          <a:solidFill>
            <a:srgbClr val="273370"/>
          </a:solidFill>
          <a:ln/>
        </p:spPr>
      </p:sp>
      <p:sp>
        <p:nvSpPr>
          <p:cNvPr id="7" name="Shape 5"/>
          <p:cNvSpPr/>
          <p:nvPr/>
        </p:nvSpPr>
        <p:spPr>
          <a:xfrm>
            <a:off x="502920" y="1627632"/>
            <a:ext cx="5532120" cy="210312"/>
          </a:xfrm>
          <a:prstGeom prst="rect">
            <a:avLst/>
          </a:prstGeom>
          <a:solidFill>
            <a:srgbClr val="273370"/>
          </a:solidFill>
          <a:ln/>
        </p:spPr>
      </p:sp>
      <p:sp>
        <p:nvSpPr>
          <p:cNvPr id="8" name="Text 6"/>
          <p:cNvSpPr txBox="1"/>
          <p:nvPr/>
        </p:nvSpPr>
        <p:spPr>
          <a:xfrm>
            <a:off x="640080" y="1417320"/>
            <a:ext cx="525780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What AI plans well</a:t>
            </a:r>
            <a:endParaRPr lang="en-US" sz="1400" dirty="0"/>
          </a:p>
        </p:txBody>
      </p:sp>
      <p:sp>
        <p:nvSpPr>
          <p:cNvPr id="9" name="Text 7"/>
          <p:cNvSpPr txBox="1"/>
          <p:nvPr/>
        </p:nvSpPr>
        <p:spPr>
          <a:xfrm>
            <a:off x="777240" y="2011680"/>
            <a:ext cx="5029200" cy="3840480"/>
          </a:xfrm>
          <a:prstGeom prst="rect">
            <a:avLst/>
          </a:prstGeom>
          <a:noFill/>
          <a:ln/>
        </p:spPr>
        <p:txBody>
          <a:bodyPr wrap="square" lIns="0" tIns="0" rIns="0" bIns="0" rtlCol="0" anchor="t"/>
          <a:lstStyle/>
          <a:p>
            <a:pPr marL="152400" indent="-152400">
              <a:lnSpc>
                <a:spcPct val="105000"/>
              </a:lnSpc>
              <a:spcAft>
                <a:spcPts val="500"/>
              </a:spcAft>
              <a:buSzPct val="100000"/>
              <a:buChar char="•"/>
            </a:pPr>
            <a:r>
              <a:rPr lang="en-US" sz="1200" b="1" dirty="0">
                <a:solidFill>
                  <a:srgbClr val="22252B"/>
                </a:solidFill>
                <a:latin typeface="Calibri" pitchFamily="34" charset="0"/>
                <a:ea typeface="Calibri" pitchFamily="34" charset="-122"/>
                <a:cs typeface="Calibri" pitchFamily="34" charset="-120"/>
              </a:rPr>
              <a:t>Project skeletons:</a:t>
            </a:r>
            <a:endParaRPr lang="en-US" sz="1200" dirty="0"/>
          </a:p>
          <a:p>
            <a:pPr marL="152400" indent="-152400">
              <a:lnSpc>
                <a:spcPct val="105000"/>
              </a:lnSpc>
              <a:spcAft>
                <a:spcPts val="500"/>
              </a:spcAft>
              <a:buSzPct val="100000"/>
              <a:buChar char="•"/>
            </a:pPr>
            <a:r>
              <a:rPr lang="en-US" sz="1200" dirty="0">
                <a:solidFill>
                  <a:srgbClr val="22252B"/>
                </a:solidFill>
                <a:latin typeface="Calibri" pitchFamily="34" charset="0"/>
                <a:ea typeface="Calibri" pitchFamily="34" charset="-122"/>
                <a:cs typeface="Calibri" pitchFamily="34" charset="-120"/>
              </a:rPr>
              <a:t>phases, tasks, dependencies, a realistic draft timeline to react to.</a:t>
            </a:r>
            <a:endParaRPr lang="en-US" sz="1200" dirty="0"/>
          </a:p>
          <a:p>
            <a:pPr marL="152400" indent="-152400">
              <a:lnSpc>
                <a:spcPct val="105000"/>
              </a:lnSpc>
              <a:spcAft>
                <a:spcPts val="500"/>
              </a:spcAft>
              <a:buSzPct val="100000"/>
              <a:buChar char="•"/>
            </a:pPr>
            <a:r>
              <a:rPr lang="en-US" sz="1200" b="1" dirty="0">
                <a:solidFill>
                  <a:srgbClr val="22252B"/>
                </a:solidFill>
                <a:latin typeface="Calibri" pitchFamily="34" charset="0"/>
                <a:ea typeface="Calibri" pitchFamily="34" charset="-122"/>
                <a:cs typeface="Calibri" pitchFamily="34" charset="-120"/>
              </a:rPr>
              <a:t>Checklists:</a:t>
            </a:r>
            <a:endParaRPr lang="en-US" sz="1200" dirty="0"/>
          </a:p>
          <a:p>
            <a:pPr marL="152400" indent="-152400">
              <a:lnSpc>
                <a:spcPct val="105000"/>
              </a:lnSpc>
              <a:spcAft>
                <a:spcPts val="500"/>
              </a:spcAft>
              <a:buSzPct val="100000"/>
              <a:buChar char="•"/>
            </a:pPr>
            <a:r>
              <a:rPr lang="en-US" sz="1200" dirty="0">
                <a:solidFill>
                  <a:srgbClr val="22252B"/>
                </a:solidFill>
                <a:latin typeface="Calibri" pitchFamily="34" charset="0"/>
                <a:ea typeface="Calibri" pitchFamily="34" charset="-122"/>
                <a:cs typeface="Calibri" pitchFamily="34" charset="-120"/>
              </a:rPr>
              <a:t>event logistics, onboarding, launch readiness, travel — exhaustive first drafts in seconds.</a:t>
            </a:r>
            <a:endParaRPr lang="en-US" sz="1200" dirty="0"/>
          </a:p>
          <a:p>
            <a:pPr marL="152400" indent="-152400">
              <a:lnSpc>
                <a:spcPct val="105000"/>
              </a:lnSpc>
              <a:spcAft>
                <a:spcPts val="500"/>
              </a:spcAft>
              <a:buSzPct val="100000"/>
              <a:buChar char="•"/>
            </a:pPr>
            <a:r>
              <a:rPr lang="en-US" sz="1200" b="1" dirty="0">
                <a:solidFill>
                  <a:srgbClr val="22252B"/>
                </a:solidFill>
                <a:latin typeface="Calibri" pitchFamily="34" charset="0"/>
                <a:ea typeface="Calibri" pitchFamily="34" charset="-122"/>
                <a:cs typeface="Calibri" pitchFamily="34" charset="-120"/>
              </a:rPr>
              <a:t>Agendas &amp; invitations:</a:t>
            </a:r>
            <a:endParaRPr lang="en-US" sz="1200" dirty="0"/>
          </a:p>
          <a:p>
            <a:pPr marL="152400" indent="-152400">
              <a:lnSpc>
                <a:spcPct val="105000"/>
              </a:lnSpc>
              <a:spcAft>
                <a:spcPts val="500"/>
              </a:spcAft>
              <a:buSzPct val="100000"/>
              <a:buChar char="•"/>
            </a:pPr>
            <a:r>
              <a:rPr lang="en-US" sz="1200" dirty="0">
                <a:solidFill>
                  <a:srgbClr val="22252B"/>
                </a:solidFill>
                <a:latin typeface="Calibri" pitchFamily="34" charset="0"/>
                <a:ea typeface="Calibri" pitchFamily="34" charset="-122"/>
                <a:cs typeface="Calibri" pitchFamily="34" charset="-120"/>
              </a:rPr>
              <a:t>timed agendas from objectives; calendar-ready descriptions.</a:t>
            </a:r>
            <a:endParaRPr lang="en-US" sz="1200" dirty="0"/>
          </a:p>
          <a:p>
            <a:pPr marL="152400" indent="-152400">
              <a:lnSpc>
                <a:spcPct val="105000"/>
              </a:lnSpc>
              <a:spcAft>
                <a:spcPts val="500"/>
              </a:spcAft>
              <a:buSzPct val="100000"/>
              <a:buChar char="•"/>
            </a:pPr>
            <a:r>
              <a:rPr lang="en-US" sz="1200" b="1" dirty="0">
                <a:solidFill>
                  <a:srgbClr val="22252B"/>
                </a:solidFill>
                <a:latin typeface="Calibri" pitchFamily="34" charset="0"/>
                <a:ea typeface="Calibri" pitchFamily="34" charset="-122"/>
                <a:cs typeface="Calibri" pitchFamily="34" charset="-120"/>
              </a:rPr>
              <a:t>Communications plans:</a:t>
            </a:r>
            <a:endParaRPr lang="en-US" sz="1200" dirty="0"/>
          </a:p>
          <a:p>
            <a:pPr marL="152400" indent="-152400">
              <a:lnSpc>
                <a:spcPct val="105000"/>
              </a:lnSpc>
              <a:spcAft>
                <a:spcPts val="500"/>
              </a:spcAft>
              <a:buSzPct val="100000"/>
              <a:buChar char="•"/>
            </a:pPr>
            <a:r>
              <a:rPr lang="en-US" sz="1200" dirty="0">
                <a:solidFill>
                  <a:srgbClr val="22252B"/>
                </a:solidFill>
                <a:latin typeface="Calibri" pitchFamily="34" charset="0"/>
                <a:ea typeface="Calibri" pitchFamily="34" charset="-122"/>
                <a:cs typeface="Calibri" pitchFamily="34" charset="-120"/>
              </a:rPr>
              <a:t>audience × message × channel × timing tables for any announcement.</a:t>
            </a:r>
            <a:endParaRPr lang="en-US" sz="1200" dirty="0"/>
          </a:p>
          <a:p>
            <a:pPr marL="152400" indent="-152400">
              <a:lnSpc>
                <a:spcPct val="105000"/>
              </a:lnSpc>
              <a:spcAft>
                <a:spcPts val="500"/>
              </a:spcAft>
              <a:buSzPct val="100000"/>
              <a:buChar char="•"/>
            </a:pPr>
            <a:r>
              <a:rPr lang="en-US" sz="1200" b="1" dirty="0">
                <a:solidFill>
                  <a:srgbClr val="22252B"/>
                </a:solidFill>
                <a:latin typeface="Calibri" pitchFamily="34" charset="0"/>
                <a:ea typeface="Calibri" pitchFamily="34" charset="-122"/>
                <a:cs typeface="Calibri" pitchFamily="34" charset="-120"/>
              </a:rPr>
              <a:t>Your week:</a:t>
            </a:r>
            <a:endParaRPr lang="en-US" sz="1200" dirty="0"/>
          </a:p>
          <a:p>
            <a:pPr marL="152400" indent="-152400">
              <a:lnSpc>
                <a:spcPct val="105000"/>
              </a:lnSpc>
              <a:spcAft>
                <a:spcPts val="500"/>
              </a:spcAft>
              <a:buSzPct val="100000"/>
              <a:buChar char="•"/>
            </a:pPr>
            <a:r>
              <a:rPr lang="en-US" sz="1200" dirty="0">
                <a:solidFill>
                  <a:srgbClr val="22252B"/>
                </a:solidFill>
                <a:latin typeface="Calibri" pitchFamily="34" charset="0"/>
                <a:ea typeface="Calibri" pitchFamily="34" charset="-122"/>
                <a:cs typeface="Calibri" pitchFamily="34" charset="-120"/>
              </a:rPr>
              <a:t>“Here is my task list — group, prioritise and propose a schedule; ask me about anything ambiguous.”</a:t>
            </a:r>
            <a:endParaRPr lang="en-US" sz="1200" dirty="0"/>
          </a:p>
        </p:txBody>
      </p:sp>
      <p:sp>
        <p:nvSpPr>
          <p:cNvPr id="10" name="Shape 8"/>
          <p:cNvSpPr/>
          <p:nvPr/>
        </p:nvSpPr>
        <p:spPr>
          <a:xfrm>
            <a:off x="6263640" y="1417320"/>
            <a:ext cx="5440680" cy="4617720"/>
          </a:xfrm>
          <a:prstGeom prst="roundRect">
            <a:avLst>
              <a:gd name="adj" fmla="val 1584"/>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1" name="Shape 9"/>
          <p:cNvSpPr/>
          <p:nvPr/>
        </p:nvSpPr>
        <p:spPr>
          <a:xfrm>
            <a:off x="6263640" y="1417320"/>
            <a:ext cx="5440680" cy="420624"/>
          </a:xfrm>
          <a:prstGeom prst="roundRect">
            <a:avLst>
              <a:gd name="adj" fmla="val 17391"/>
            </a:avLst>
          </a:prstGeom>
          <a:solidFill>
            <a:srgbClr val="29BA74"/>
          </a:solidFill>
          <a:ln/>
        </p:spPr>
      </p:sp>
      <p:sp>
        <p:nvSpPr>
          <p:cNvPr id="12" name="Shape 10"/>
          <p:cNvSpPr/>
          <p:nvPr/>
        </p:nvSpPr>
        <p:spPr>
          <a:xfrm>
            <a:off x="6263640" y="1627632"/>
            <a:ext cx="5440680" cy="210312"/>
          </a:xfrm>
          <a:prstGeom prst="rect">
            <a:avLst/>
          </a:prstGeom>
          <a:solidFill>
            <a:srgbClr val="29BA74"/>
          </a:solidFill>
          <a:ln/>
        </p:spPr>
      </p:sp>
      <p:sp>
        <p:nvSpPr>
          <p:cNvPr id="13" name="Text 11"/>
          <p:cNvSpPr txBox="1"/>
          <p:nvPr/>
        </p:nvSpPr>
        <p:spPr>
          <a:xfrm>
            <a:off x="6400800" y="1417320"/>
            <a:ext cx="516636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planning prompt pattern</a:t>
            </a:r>
            <a:endParaRPr lang="en-US" sz="1400" dirty="0"/>
          </a:p>
        </p:txBody>
      </p:sp>
      <p:sp>
        <p:nvSpPr>
          <p:cNvPr id="14" name="Text 12"/>
          <p:cNvSpPr txBox="1"/>
          <p:nvPr/>
        </p:nvSpPr>
        <p:spPr>
          <a:xfrm>
            <a:off x="6537960" y="2103120"/>
            <a:ext cx="4937760" cy="2286000"/>
          </a:xfrm>
          <a:prstGeom prst="rect">
            <a:avLst/>
          </a:prstGeom>
          <a:noFill/>
          <a:ln/>
        </p:spPr>
        <p:txBody>
          <a:bodyPr wrap="square" lIns="0" tIns="0" rIns="0" bIns="0" rtlCol="0" anchor="ctr"/>
          <a:lstStyle/>
          <a:p>
            <a:pPr indent="0" marL="0">
              <a:lnSpc>
                <a:spcPct val="118000"/>
              </a:lnSpc>
              <a:buNone/>
            </a:pPr>
            <a:r>
              <a:rPr lang="en-US" sz="1200" i="1" dirty="0">
                <a:solidFill>
                  <a:srgbClr val="22252B"/>
                </a:solidFill>
                <a:latin typeface="Calibri" pitchFamily="34" charset="0"/>
                <a:ea typeface="Calibri" pitchFamily="34" charset="-122"/>
                <a:cs typeface="Calibri" pitchFamily="34" charset="-120"/>
              </a:rPr>
              <a:t>“Act as an experienced project coordinator. I need to organise [event/project] by [date] for [audience]. Constraints: [budget, rooms, approvals…]. First ask me the 5 most important questions, one at a time. Then produce: a phased plan, a task table with owners and dates, a risk list with mitigations, and a communications plan.”</a:t>
            </a:r>
            <a:endParaRPr lang="en-US" sz="1200" dirty="0"/>
          </a:p>
        </p:txBody>
      </p:sp>
      <p:sp>
        <p:nvSpPr>
          <p:cNvPr id="15" name="Text 13"/>
          <p:cNvSpPr txBox="1"/>
          <p:nvPr/>
        </p:nvSpPr>
        <p:spPr>
          <a:xfrm>
            <a:off x="6537960" y="4572000"/>
            <a:ext cx="4937760" cy="1280160"/>
          </a:xfrm>
          <a:prstGeom prst="rect">
            <a:avLst/>
          </a:prstGeom>
          <a:noFill/>
          <a:ln/>
        </p:spPr>
        <p:txBody>
          <a:bodyPr wrap="square" lIns="0" tIns="0" rIns="0" bIns="0" rtlCol="0" anchor="t"/>
          <a:lstStyle/>
          <a:p>
            <a:pPr marL="152400" indent="-152400">
              <a:lnSpc>
                <a:spcPct val="105000"/>
              </a:lnSpc>
              <a:spcAft>
                <a:spcPts val="600"/>
              </a:spcAft>
              <a:buSzPct val="100000"/>
              <a:buChar char="•"/>
            </a:pPr>
            <a:r>
              <a:rPr lang="en-US" sz="1200" b="1" dirty="0">
                <a:solidFill>
                  <a:srgbClr val="22252B"/>
                </a:solidFill>
                <a:latin typeface="Calibri" pitchFamily="34" charset="0"/>
                <a:ea typeface="Calibri" pitchFamily="34" charset="-122"/>
                <a:cs typeface="Calibri" pitchFamily="34" charset="-120"/>
              </a:rPr>
              <a:t>Why “ask me first” works:</a:t>
            </a:r>
            <a:endParaRPr lang="en-US" sz="1200" dirty="0"/>
          </a:p>
          <a:p>
            <a:pPr marL="152400" indent="-152400">
              <a:lnSpc>
                <a:spcPct val="105000"/>
              </a:lnSpc>
              <a:spcAft>
                <a:spcPts val="600"/>
              </a:spcAft>
              <a:buSzPct val="100000"/>
              <a:buChar char="•"/>
            </a:pPr>
            <a:r>
              <a:rPr lang="en-US" sz="1200" dirty="0">
                <a:solidFill>
                  <a:srgbClr val="22252B"/>
                </a:solidFill>
                <a:latin typeface="Calibri" pitchFamily="34" charset="0"/>
                <a:ea typeface="Calibri" pitchFamily="34" charset="-122"/>
                <a:cs typeface="Calibri" pitchFamily="34" charset="-120"/>
              </a:rPr>
              <a:t>The questions expose what YOU haven't decided yet — often the most valuable output of the whole exchange.</a:t>
            </a:r>
            <a:endParaRPr lang="en-US" sz="1200" dirty="0"/>
          </a:p>
        </p:txBody>
      </p:sp>
      <p:sp>
        <p:nvSpPr>
          <p:cNvPr id="16" name="Text 14"/>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17" name="Text 15"/>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55</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AI inside your daily tools</a:t>
            </a:r>
            <a:endParaRPr lang="en-US" sz="3000" dirty="0"/>
          </a:p>
        </p:txBody>
      </p:sp>
      <p:sp>
        <p:nvSpPr>
          <p:cNvPr id="3" name="Text 1"/>
          <p:cNvSpPr txBox="1"/>
          <p:nvPr/>
        </p:nvSpPr>
        <p:spPr>
          <a:xfrm>
            <a:off x="502920" y="987552"/>
            <a:ext cx="11155680" cy="365760"/>
          </a:xfrm>
          <a:prstGeom prst="rect">
            <a:avLst/>
          </a:prstGeom>
          <a:noFill/>
          <a:ln/>
        </p:spPr>
        <p:txBody>
          <a:bodyPr wrap="square" lIns="0" tIns="0" rIns="0" bIns="0" rtlCol="0" anchor="ctr"/>
          <a:lstStyle/>
          <a:p>
            <a:pPr indent="0" marL="0">
              <a:buNone/>
            </a:pPr>
            <a:r>
              <a:rPr lang="en-US" sz="1400" dirty="0">
                <a:solidFill>
                  <a:srgbClr val="696969"/>
                </a:solidFill>
                <a:latin typeface="Calibri" pitchFamily="34" charset="0"/>
                <a:ea typeface="Calibri" pitchFamily="34" charset="-122"/>
                <a:cs typeface="Calibri" pitchFamily="34" charset="-120"/>
              </a:rPr>
              <a:t>The biggest wins come where the work already lives</a:t>
            </a:r>
            <a:endParaRPr lang="en-US" sz="1400" dirty="0"/>
          </a:p>
        </p:txBody>
      </p:sp>
      <p:sp>
        <p:nvSpPr>
          <p:cNvPr id="4" name="Shape 2"/>
          <p:cNvSpPr/>
          <p:nvPr/>
        </p:nvSpPr>
        <p:spPr>
          <a:xfrm>
            <a:off x="10565892" y="457200"/>
            <a:ext cx="1120140" cy="384048"/>
          </a:xfrm>
          <a:prstGeom prst="roundRect">
            <a:avLst>
              <a:gd name="adj" fmla="val 50000"/>
            </a:avLst>
          </a:prstGeom>
          <a:solidFill>
            <a:srgbClr val="94A0DA"/>
          </a:solidFill>
          <a:ln/>
        </p:spPr>
      </p:sp>
      <p:sp>
        <p:nvSpPr>
          <p:cNvPr id="5" name="Text 3"/>
          <p:cNvSpPr txBox="1"/>
          <p:nvPr/>
        </p:nvSpPr>
        <p:spPr>
          <a:xfrm>
            <a:off x="10565892" y="457200"/>
            <a:ext cx="11201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Shape 4"/>
          <p:cNvSpPr/>
          <p:nvPr/>
        </p:nvSpPr>
        <p:spPr>
          <a:xfrm>
            <a:off x="502920" y="1554480"/>
            <a:ext cx="3703320" cy="2057400"/>
          </a:xfrm>
          <a:prstGeom prst="roundRect">
            <a:avLst>
              <a:gd name="adj" fmla="val 3556"/>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502920" y="1554480"/>
            <a:ext cx="3703320" cy="420624"/>
          </a:xfrm>
          <a:prstGeom prst="roundRect">
            <a:avLst>
              <a:gd name="adj" fmla="val 17391"/>
            </a:avLst>
          </a:prstGeom>
          <a:solidFill>
            <a:srgbClr val="273370"/>
          </a:solidFill>
          <a:ln/>
        </p:spPr>
      </p:sp>
      <p:sp>
        <p:nvSpPr>
          <p:cNvPr id="8" name="Shape 6"/>
          <p:cNvSpPr/>
          <p:nvPr/>
        </p:nvSpPr>
        <p:spPr>
          <a:xfrm>
            <a:off x="502920" y="1764792"/>
            <a:ext cx="3703320" cy="210312"/>
          </a:xfrm>
          <a:prstGeom prst="rect">
            <a:avLst/>
          </a:prstGeom>
          <a:solidFill>
            <a:srgbClr val="273370"/>
          </a:solidFill>
          <a:ln/>
        </p:spPr>
      </p:sp>
      <p:sp>
        <p:nvSpPr>
          <p:cNvPr id="9" name="Text 7"/>
          <p:cNvSpPr txBox="1"/>
          <p:nvPr/>
        </p:nvSpPr>
        <p:spPr>
          <a:xfrm>
            <a:off x="640080" y="1554480"/>
            <a:ext cx="342900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Outlook</a:t>
            </a:r>
            <a:endParaRPr lang="en-US" sz="1400" dirty="0"/>
          </a:p>
        </p:txBody>
      </p:sp>
      <p:sp>
        <p:nvSpPr>
          <p:cNvPr id="10" name="Text 8"/>
          <p:cNvSpPr txBox="1"/>
          <p:nvPr/>
        </p:nvSpPr>
        <p:spPr>
          <a:xfrm>
            <a:off x="704088" y="2121408"/>
            <a:ext cx="3291840" cy="1371600"/>
          </a:xfrm>
          <a:prstGeom prst="rect">
            <a:avLst/>
          </a:prstGeom>
          <a:noFill/>
          <a:ln/>
        </p:spPr>
        <p:txBody>
          <a:bodyPr wrap="square" lIns="0" tIns="0" rIns="0" bIns="0" rtlCol="0" anchor="ctr"/>
          <a:lstStyle/>
          <a:p>
            <a:pPr indent="0" marL="0">
              <a:lnSpc>
                <a:spcPct val="112000"/>
              </a:lnSpc>
              <a:buNone/>
            </a:pPr>
            <a:r>
              <a:rPr lang="en-US" sz="1150" dirty="0">
                <a:solidFill>
                  <a:srgbClr val="22252B"/>
                </a:solidFill>
                <a:latin typeface="Calibri" pitchFamily="34" charset="0"/>
                <a:ea typeface="Calibri" pitchFamily="34" charset="-122"/>
                <a:cs typeface="Calibri" pitchFamily="34" charset="-120"/>
              </a:rPr>
              <a:t>Draft and reply with context from the thread; summarise long email chains; “coaching” on tone before you send.</a:t>
            </a:r>
            <a:endParaRPr lang="en-US" sz="1150" dirty="0"/>
          </a:p>
        </p:txBody>
      </p:sp>
      <p:sp>
        <p:nvSpPr>
          <p:cNvPr id="11" name="Shape 9"/>
          <p:cNvSpPr/>
          <p:nvPr/>
        </p:nvSpPr>
        <p:spPr>
          <a:xfrm>
            <a:off x="4453128" y="1554480"/>
            <a:ext cx="3703320" cy="2057400"/>
          </a:xfrm>
          <a:prstGeom prst="roundRect">
            <a:avLst>
              <a:gd name="adj" fmla="val 3556"/>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4453128" y="1554480"/>
            <a:ext cx="3703320" cy="420624"/>
          </a:xfrm>
          <a:prstGeom prst="roundRect">
            <a:avLst>
              <a:gd name="adj" fmla="val 17391"/>
            </a:avLst>
          </a:prstGeom>
          <a:solidFill>
            <a:srgbClr val="273370"/>
          </a:solidFill>
          <a:ln/>
        </p:spPr>
      </p:sp>
      <p:sp>
        <p:nvSpPr>
          <p:cNvPr id="13" name="Shape 11"/>
          <p:cNvSpPr/>
          <p:nvPr/>
        </p:nvSpPr>
        <p:spPr>
          <a:xfrm>
            <a:off x="4453128" y="1764792"/>
            <a:ext cx="3703320" cy="210312"/>
          </a:xfrm>
          <a:prstGeom prst="rect">
            <a:avLst/>
          </a:prstGeom>
          <a:solidFill>
            <a:srgbClr val="273370"/>
          </a:solidFill>
          <a:ln/>
        </p:spPr>
      </p:sp>
      <p:sp>
        <p:nvSpPr>
          <p:cNvPr id="14" name="Text 12"/>
          <p:cNvSpPr txBox="1"/>
          <p:nvPr/>
        </p:nvSpPr>
        <p:spPr>
          <a:xfrm>
            <a:off x="4590288" y="1554480"/>
            <a:ext cx="342900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Word</a:t>
            </a:r>
            <a:endParaRPr lang="en-US" sz="1400" dirty="0"/>
          </a:p>
        </p:txBody>
      </p:sp>
      <p:sp>
        <p:nvSpPr>
          <p:cNvPr id="15" name="Text 13"/>
          <p:cNvSpPr txBox="1"/>
          <p:nvPr/>
        </p:nvSpPr>
        <p:spPr>
          <a:xfrm>
            <a:off x="4654296" y="2121408"/>
            <a:ext cx="3291840" cy="1371600"/>
          </a:xfrm>
          <a:prstGeom prst="rect">
            <a:avLst/>
          </a:prstGeom>
          <a:noFill/>
          <a:ln/>
        </p:spPr>
        <p:txBody>
          <a:bodyPr wrap="square" lIns="0" tIns="0" rIns="0" bIns="0" rtlCol="0" anchor="ctr"/>
          <a:lstStyle/>
          <a:p>
            <a:pPr indent="0" marL="0">
              <a:lnSpc>
                <a:spcPct val="112000"/>
              </a:lnSpc>
              <a:buNone/>
            </a:pPr>
            <a:r>
              <a:rPr lang="en-US" sz="1150" dirty="0">
                <a:solidFill>
                  <a:srgbClr val="22252B"/>
                </a:solidFill>
                <a:latin typeface="Calibri" pitchFamily="34" charset="0"/>
                <a:ea typeface="Calibri" pitchFamily="34" charset="-122"/>
                <a:cs typeface="Calibri" pitchFamily="34" charset="-120"/>
              </a:rPr>
              <a:t>Draft from a prompt or reference files; rewrite sections; summarise a long document; turn notes into structured text.</a:t>
            </a:r>
            <a:endParaRPr lang="en-US" sz="1150" dirty="0"/>
          </a:p>
        </p:txBody>
      </p:sp>
      <p:sp>
        <p:nvSpPr>
          <p:cNvPr id="16" name="Shape 14"/>
          <p:cNvSpPr/>
          <p:nvPr/>
        </p:nvSpPr>
        <p:spPr>
          <a:xfrm>
            <a:off x="8403336" y="1554480"/>
            <a:ext cx="3703320" cy="2057400"/>
          </a:xfrm>
          <a:prstGeom prst="roundRect">
            <a:avLst>
              <a:gd name="adj" fmla="val 3556"/>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7" name="Shape 15"/>
          <p:cNvSpPr/>
          <p:nvPr/>
        </p:nvSpPr>
        <p:spPr>
          <a:xfrm>
            <a:off x="8403336" y="1554480"/>
            <a:ext cx="3703320" cy="420624"/>
          </a:xfrm>
          <a:prstGeom prst="roundRect">
            <a:avLst>
              <a:gd name="adj" fmla="val 17391"/>
            </a:avLst>
          </a:prstGeom>
          <a:solidFill>
            <a:srgbClr val="273370"/>
          </a:solidFill>
          <a:ln/>
        </p:spPr>
      </p:sp>
      <p:sp>
        <p:nvSpPr>
          <p:cNvPr id="18" name="Shape 16"/>
          <p:cNvSpPr/>
          <p:nvPr/>
        </p:nvSpPr>
        <p:spPr>
          <a:xfrm>
            <a:off x="8403336" y="1764792"/>
            <a:ext cx="3703320" cy="210312"/>
          </a:xfrm>
          <a:prstGeom prst="rect">
            <a:avLst/>
          </a:prstGeom>
          <a:solidFill>
            <a:srgbClr val="273370"/>
          </a:solidFill>
          <a:ln/>
        </p:spPr>
      </p:sp>
      <p:sp>
        <p:nvSpPr>
          <p:cNvPr id="19" name="Text 17"/>
          <p:cNvSpPr txBox="1"/>
          <p:nvPr/>
        </p:nvSpPr>
        <p:spPr>
          <a:xfrm>
            <a:off x="8540496" y="1554480"/>
            <a:ext cx="342900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Excel</a:t>
            </a:r>
            <a:endParaRPr lang="en-US" sz="1400" dirty="0"/>
          </a:p>
        </p:txBody>
      </p:sp>
      <p:sp>
        <p:nvSpPr>
          <p:cNvPr id="20" name="Text 18"/>
          <p:cNvSpPr txBox="1"/>
          <p:nvPr/>
        </p:nvSpPr>
        <p:spPr>
          <a:xfrm>
            <a:off x="8604504" y="2121408"/>
            <a:ext cx="3291840" cy="1371600"/>
          </a:xfrm>
          <a:prstGeom prst="rect">
            <a:avLst/>
          </a:prstGeom>
          <a:noFill/>
          <a:ln/>
        </p:spPr>
        <p:txBody>
          <a:bodyPr wrap="square" lIns="0" tIns="0" rIns="0" bIns="0" rtlCol="0" anchor="ctr"/>
          <a:lstStyle/>
          <a:p>
            <a:pPr indent="0" marL="0">
              <a:lnSpc>
                <a:spcPct val="112000"/>
              </a:lnSpc>
              <a:buNone/>
            </a:pPr>
            <a:r>
              <a:rPr lang="en-US" sz="1150" dirty="0">
                <a:solidFill>
                  <a:srgbClr val="22252B"/>
                </a:solidFill>
                <a:latin typeface="Calibri" pitchFamily="34" charset="0"/>
                <a:ea typeface="Calibri" pitchFamily="34" charset="-122"/>
                <a:cs typeface="Calibri" pitchFamily="34" charset="-120"/>
              </a:rPr>
              <a:t>Explain a worksheet; suggest and build formulas; highlight trends; create charts and pivot-style analyses from plain requests.</a:t>
            </a:r>
            <a:endParaRPr lang="en-US" sz="1150" dirty="0"/>
          </a:p>
        </p:txBody>
      </p:sp>
      <p:sp>
        <p:nvSpPr>
          <p:cNvPr id="21" name="Shape 19"/>
          <p:cNvSpPr/>
          <p:nvPr/>
        </p:nvSpPr>
        <p:spPr>
          <a:xfrm>
            <a:off x="502920" y="3840480"/>
            <a:ext cx="3703320" cy="2057400"/>
          </a:xfrm>
          <a:prstGeom prst="roundRect">
            <a:avLst>
              <a:gd name="adj" fmla="val 3556"/>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22" name="Shape 20"/>
          <p:cNvSpPr/>
          <p:nvPr/>
        </p:nvSpPr>
        <p:spPr>
          <a:xfrm>
            <a:off x="502920" y="3840480"/>
            <a:ext cx="3703320" cy="420624"/>
          </a:xfrm>
          <a:prstGeom prst="roundRect">
            <a:avLst>
              <a:gd name="adj" fmla="val 17391"/>
            </a:avLst>
          </a:prstGeom>
          <a:solidFill>
            <a:srgbClr val="273370"/>
          </a:solidFill>
          <a:ln/>
        </p:spPr>
      </p:sp>
      <p:sp>
        <p:nvSpPr>
          <p:cNvPr id="23" name="Shape 21"/>
          <p:cNvSpPr/>
          <p:nvPr/>
        </p:nvSpPr>
        <p:spPr>
          <a:xfrm>
            <a:off x="502920" y="4050792"/>
            <a:ext cx="3703320" cy="210312"/>
          </a:xfrm>
          <a:prstGeom prst="rect">
            <a:avLst/>
          </a:prstGeom>
          <a:solidFill>
            <a:srgbClr val="273370"/>
          </a:solidFill>
          <a:ln/>
        </p:spPr>
      </p:sp>
      <p:sp>
        <p:nvSpPr>
          <p:cNvPr id="24" name="Text 22"/>
          <p:cNvSpPr txBox="1"/>
          <p:nvPr/>
        </p:nvSpPr>
        <p:spPr>
          <a:xfrm>
            <a:off x="640080" y="3840480"/>
            <a:ext cx="342900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Teams</a:t>
            </a:r>
            <a:endParaRPr lang="en-US" sz="1400" dirty="0"/>
          </a:p>
        </p:txBody>
      </p:sp>
      <p:sp>
        <p:nvSpPr>
          <p:cNvPr id="25" name="Text 23"/>
          <p:cNvSpPr txBox="1"/>
          <p:nvPr/>
        </p:nvSpPr>
        <p:spPr>
          <a:xfrm>
            <a:off x="704088" y="4407408"/>
            <a:ext cx="3291840" cy="1371600"/>
          </a:xfrm>
          <a:prstGeom prst="rect">
            <a:avLst/>
          </a:prstGeom>
          <a:noFill/>
          <a:ln/>
        </p:spPr>
        <p:txBody>
          <a:bodyPr wrap="square" lIns="0" tIns="0" rIns="0" bIns="0" rtlCol="0" anchor="ctr"/>
          <a:lstStyle/>
          <a:p>
            <a:pPr indent="0" marL="0">
              <a:lnSpc>
                <a:spcPct val="112000"/>
              </a:lnSpc>
              <a:buNone/>
            </a:pPr>
            <a:r>
              <a:rPr lang="en-US" sz="1150" dirty="0">
                <a:solidFill>
                  <a:srgbClr val="22252B"/>
                </a:solidFill>
                <a:latin typeface="Calibri" pitchFamily="34" charset="0"/>
                <a:ea typeface="Calibri" pitchFamily="34" charset="-122"/>
                <a:cs typeface="Calibri" pitchFamily="34" charset="-120"/>
              </a:rPr>
              <a:t>Meeting recaps with decisions and action items; catch up on a meeting you missed; live Q&amp;A on the discussion.</a:t>
            </a:r>
            <a:endParaRPr lang="en-US" sz="1150" dirty="0"/>
          </a:p>
        </p:txBody>
      </p:sp>
      <p:sp>
        <p:nvSpPr>
          <p:cNvPr id="26" name="Shape 24"/>
          <p:cNvSpPr/>
          <p:nvPr/>
        </p:nvSpPr>
        <p:spPr>
          <a:xfrm>
            <a:off x="4453128" y="3840480"/>
            <a:ext cx="3703320" cy="2057400"/>
          </a:xfrm>
          <a:prstGeom prst="roundRect">
            <a:avLst>
              <a:gd name="adj" fmla="val 3556"/>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27" name="Shape 25"/>
          <p:cNvSpPr/>
          <p:nvPr/>
        </p:nvSpPr>
        <p:spPr>
          <a:xfrm>
            <a:off x="4453128" y="3840480"/>
            <a:ext cx="3703320" cy="420624"/>
          </a:xfrm>
          <a:prstGeom prst="roundRect">
            <a:avLst>
              <a:gd name="adj" fmla="val 17391"/>
            </a:avLst>
          </a:prstGeom>
          <a:solidFill>
            <a:srgbClr val="273370"/>
          </a:solidFill>
          <a:ln/>
        </p:spPr>
      </p:sp>
      <p:sp>
        <p:nvSpPr>
          <p:cNvPr id="28" name="Shape 26"/>
          <p:cNvSpPr/>
          <p:nvPr/>
        </p:nvSpPr>
        <p:spPr>
          <a:xfrm>
            <a:off x="4453128" y="4050792"/>
            <a:ext cx="3703320" cy="210312"/>
          </a:xfrm>
          <a:prstGeom prst="rect">
            <a:avLst/>
          </a:prstGeom>
          <a:solidFill>
            <a:srgbClr val="273370"/>
          </a:solidFill>
          <a:ln/>
        </p:spPr>
      </p:sp>
      <p:sp>
        <p:nvSpPr>
          <p:cNvPr id="29" name="Text 27"/>
          <p:cNvSpPr txBox="1"/>
          <p:nvPr/>
        </p:nvSpPr>
        <p:spPr>
          <a:xfrm>
            <a:off x="4590288" y="3840480"/>
            <a:ext cx="342900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PowerPoint</a:t>
            </a:r>
            <a:endParaRPr lang="en-US" sz="1400" dirty="0"/>
          </a:p>
        </p:txBody>
      </p:sp>
      <p:sp>
        <p:nvSpPr>
          <p:cNvPr id="30" name="Text 28"/>
          <p:cNvSpPr txBox="1"/>
          <p:nvPr/>
        </p:nvSpPr>
        <p:spPr>
          <a:xfrm>
            <a:off x="4654296" y="4407408"/>
            <a:ext cx="3291840" cy="1371600"/>
          </a:xfrm>
          <a:prstGeom prst="rect">
            <a:avLst/>
          </a:prstGeom>
          <a:noFill/>
          <a:ln/>
        </p:spPr>
        <p:txBody>
          <a:bodyPr wrap="square" lIns="0" tIns="0" rIns="0" bIns="0" rtlCol="0" anchor="ctr"/>
          <a:lstStyle/>
          <a:p>
            <a:pPr indent="0" marL="0">
              <a:lnSpc>
                <a:spcPct val="112000"/>
              </a:lnSpc>
              <a:buNone/>
            </a:pPr>
            <a:r>
              <a:rPr lang="en-US" sz="1150" dirty="0">
                <a:solidFill>
                  <a:srgbClr val="22252B"/>
                </a:solidFill>
                <a:latin typeface="Calibri" pitchFamily="34" charset="0"/>
                <a:ea typeface="Calibri" pitchFamily="34" charset="-122"/>
                <a:cs typeface="Calibri" pitchFamily="34" charset="-120"/>
              </a:rPr>
              <a:t>Generate a first-draft deck from a Word document or prompt; redesign slides; condense text into speaker notes.</a:t>
            </a:r>
            <a:endParaRPr lang="en-US" sz="1150" dirty="0"/>
          </a:p>
        </p:txBody>
      </p:sp>
      <p:sp>
        <p:nvSpPr>
          <p:cNvPr id="31" name="Shape 29"/>
          <p:cNvSpPr/>
          <p:nvPr/>
        </p:nvSpPr>
        <p:spPr>
          <a:xfrm>
            <a:off x="8403336" y="3840480"/>
            <a:ext cx="3703320" cy="2057400"/>
          </a:xfrm>
          <a:prstGeom prst="roundRect">
            <a:avLst>
              <a:gd name="adj" fmla="val 3556"/>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32" name="Shape 30"/>
          <p:cNvSpPr/>
          <p:nvPr/>
        </p:nvSpPr>
        <p:spPr>
          <a:xfrm>
            <a:off x="8403336" y="3840480"/>
            <a:ext cx="3703320" cy="420624"/>
          </a:xfrm>
          <a:prstGeom prst="roundRect">
            <a:avLst>
              <a:gd name="adj" fmla="val 17391"/>
            </a:avLst>
          </a:prstGeom>
          <a:solidFill>
            <a:srgbClr val="67CCFF"/>
          </a:solidFill>
          <a:ln/>
        </p:spPr>
      </p:sp>
      <p:sp>
        <p:nvSpPr>
          <p:cNvPr id="33" name="Shape 31"/>
          <p:cNvSpPr/>
          <p:nvPr/>
        </p:nvSpPr>
        <p:spPr>
          <a:xfrm>
            <a:off x="8403336" y="4050792"/>
            <a:ext cx="3703320" cy="210312"/>
          </a:xfrm>
          <a:prstGeom prst="rect">
            <a:avLst/>
          </a:prstGeom>
          <a:solidFill>
            <a:srgbClr val="67CCFF"/>
          </a:solidFill>
          <a:ln/>
        </p:spPr>
      </p:sp>
      <p:sp>
        <p:nvSpPr>
          <p:cNvPr id="34" name="Text 32"/>
          <p:cNvSpPr txBox="1"/>
          <p:nvPr/>
        </p:nvSpPr>
        <p:spPr>
          <a:xfrm>
            <a:off x="8540496" y="3840480"/>
            <a:ext cx="342900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Gemini in Workspace</a:t>
            </a:r>
            <a:endParaRPr lang="en-US" sz="1400" dirty="0"/>
          </a:p>
        </p:txBody>
      </p:sp>
      <p:sp>
        <p:nvSpPr>
          <p:cNvPr id="35" name="Text 33"/>
          <p:cNvSpPr txBox="1"/>
          <p:nvPr/>
        </p:nvSpPr>
        <p:spPr>
          <a:xfrm>
            <a:off x="8604504" y="4407408"/>
            <a:ext cx="3291840" cy="1371600"/>
          </a:xfrm>
          <a:prstGeom prst="rect">
            <a:avLst/>
          </a:prstGeom>
          <a:noFill/>
          <a:ln/>
        </p:spPr>
        <p:txBody>
          <a:bodyPr wrap="square" lIns="0" tIns="0" rIns="0" bIns="0" rtlCol="0" anchor="ctr"/>
          <a:lstStyle/>
          <a:p>
            <a:pPr indent="0" marL="0">
              <a:lnSpc>
                <a:spcPct val="112000"/>
              </a:lnSpc>
              <a:buNone/>
            </a:pPr>
            <a:r>
              <a:rPr lang="en-US" sz="1150" dirty="0">
                <a:solidFill>
                  <a:srgbClr val="22252B"/>
                </a:solidFill>
                <a:latin typeface="Calibri" pitchFamily="34" charset="0"/>
                <a:ea typeface="Calibri" pitchFamily="34" charset="-122"/>
                <a:cs typeface="Calibri" pitchFamily="34" charset="-120"/>
              </a:rPr>
              <a:t>The same pattern in Google's suite: drafting in Gmail and Docs, analysis in Sheets, summaries in Meet.</a:t>
            </a:r>
            <a:endParaRPr lang="en-US" sz="1150" dirty="0"/>
          </a:p>
        </p:txBody>
      </p:sp>
      <p:sp>
        <p:nvSpPr>
          <p:cNvPr id="36" name="Text 34"/>
          <p:cNvSpPr txBox="1"/>
          <p:nvPr/>
        </p:nvSpPr>
        <p:spPr>
          <a:xfrm>
            <a:off x="502920" y="5989320"/>
            <a:ext cx="11155680" cy="320040"/>
          </a:xfrm>
          <a:prstGeom prst="rect">
            <a:avLst/>
          </a:prstGeom>
          <a:noFill/>
          <a:ln/>
        </p:spPr>
        <p:txBody>
          <a:bodyPr wrap="square" lIns="0" tIns="0" rIns="0" bIns="0" rtlCol="0" anchor="ctr"/>
          <a:lstStyle/>
          <a:p>
            <a:pPr indent="0" marL="0">
              <a:buNone/>
            </a:pPr>
            <a:r>
              <a:rPr lang="en-US" sz="950" i="1" dirty="0">
                <a:solidFill>
                  <a:srgbClr val="696969"/>
                </a:solidFill>
                <a:latin typeface="Calibri" pitchFamily="34" charset="0"/>
                <a:ea typeface="Calibri" pitchFamily="34" charset="-122"/>
                <a:cs typeface="Calibri" pitchFamily="34" charset="-120"/>
              </a:rPr>
              <a:t>Features vary by licence and organisational settings — explore what YOUR tenant enables. Sources: Microsoft 365 Copilot and Google Workspace Gemini documentation (2026).</a:t>
            </a:r>
            <a:endParaRPr lang="en-US" sz="950" dirty="0"/>
          </a:p>
        </p:txBody>
      </p:sp>
      <p:sp>
        <p:nvSpPr>
          <p:cNvPr id="37" name="Text 35"/>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38" name="Text 36"/>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56</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Activity 3.1 — Plan a workshop end-to-end</a:t>
            </a:r>
            <a:endParaRPr lang="en-US" sz="3000" dirty="0"/>
          </a:p>
        </p:txBody>
      </p:sp>
      <p:sp>
        <p:nvSpPr>
          <p:cNvPr id="3" name="Text 1"/>
          <p:cNvSpPr txBox="1"/>
          <p:nvPr/>
        </p:nvSpPr>
        <p:spPr>
          <a:xfrm>
            <a:off x="502920" y="987552"/>
            <a:ext cx="11155680" cy="365760"/>
          </a:xfrm>
          <a:prstGeom prst="rect">
            <a:avLst/>
          </a:prstGeom>
          <a:noFill/>
          <a:ln/>
        </p:spPr>
        <p:txBody>
          <a:bodyPr wrap="square" lIns="0" tIns="0" rIns="0" bIns="0" rtlCol="0" anchor="ctr"/>
          <a:lstStyle/>
          <a:p>
            <a:pPr indent="0" marL="0">
              <a:buNone/>
            </a:pPr>
            <a:r>
              <a:rPr lang="en-US" sz="1400" dirty="0">
                <a:solidFill>
                  <a:srgbClr val="696969"/>
                </a:solidFill>
                <a:latin typeface="Calibri" pitchFamily="34" charset="0"/>
                <a:ea typeface="Calibri" pitchFamily="34" charset="-122"/>
                <a:cs typeface="Calibri" pitchFamily="34" charset="-120"/>
              </a:rPr>
              <a:t>Groups of 3–4 • 45 minutes • Mini-capstone • Workbook p. 8</a:t>
            </a:r>
            <a:endParaRPr lang="en-US" sz="1400" dirty="0"/>
          </a:p>
        </p:txBody>
      </p:sp>
      <p:sp>
        <p:nvSpPr>
          <p:cNvPr id="4" name="Shape 2"/>
          <p:cNvSpPr/>
          <p:nvPr/>
        </p:nvSpPr>
        <p:spPr>
          <a:xfrm>
            <a:off x="10460736" y="457200"/>
            <a:ext cx="1225296" cy="384048"/>
          </a:xfrm>
          <a:prstGeom prst="roundRect">
            <a:avLst>
              <a:gd name="adj" fmla="val 50000"/>
            </a:avLst>
          </a:prstGeom>
          <a:solidFill>
            <a:srgbClr val="29BA74"/>
          </a:solidFill>
          <a:ln/>
        </p:spPr>
      </p:sp>
      <p:sp>
        <p:nvSpPr>
          <p:cNvPr id="5" name="Text 3"/>
          <p:cNvSpPr txBox="1"/>
          <p:nvPr/>
        </p:nvSpPr>
        <p:spPr>
          <a:xfrm>
            <a:off x="10460736" y="457200"/>
            <a:ext cx="1225296"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ACTIVITY</a:t>
            </a:r>
            <a:endParaRPr lang="en-US" sz="1200" dirty="0"/>
          </a:p>
        </p:txBody>
      </p:sp>
      <p:sp>
        <p:nvSpPr>
          <p:cNvPr id="6" name="Shape 4"/>
          <p:cNvSpPr/>
          <p:nvPr/>
        </p:nvSpPr>
        <p:spPr>
          <a:xfrm>
            <a:off x="502920" y="1463040"/>
            <a:ext cx="6583680" cy="4572000"/>
          </a:xfrm>
          <a:prstGeom prst="roundRect">
            <a:avLst>
              <a:gd name="adj" fmla="val 1600"/>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502920" y="1463040"/>
            <a:ext cx="6583680" cy="420624"/>
          </a:xfrm>
          <a:prstGeom prst="roundRect">
            <a:avLst>
              <a:gd name="adj" fmla="val 17391"/>
            </a:avLst>
          </a:prstGeom>
          <a:solidFill>
            <a:srgbClr val="29BA74"/>
          </a:solidFill>
          <a:ln/>
        </p:spPr>
      </p:sp>
      <p:sp>
        <p:nvSpPr>
          <p:cNvPr id="8" name="Shape 6"/>
          <p:cNvSpPr/>
          <p:nvPr/>
        </p:nvSpPr>
        <p:spPr>
          <a:xfrm>
            <a:off x="502920" y="1673352"/>
            <a:ext cx="6583680" cy="210312"/>
          </a:xfrm>
          <a:prstGeom prst="rect">
            <a:avLst/>
          </a:prstGeom>
          <a:solidFill>
            <a:srgbClr val="29BA74"/>
          </a:solidFill>
          <a:ln/>
        </p:spPr>
      </p:sp>
      <p:sp>
        <p:nvSpPr>
          <p:cNvPr id="9" name="Text 7"/>
          <p:cNvSpPr txBox="1"/>
          <p:nvPr/>
        </p:nvSpPr>
        <p:spPr>
          <a:xfrm>
            <a:off x="640080" y="1463040"/>
            <a:ext cx="630936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scenario</a:t>
            </a:r>
            <a:endParaRPr lang="en-US" sz="1400" dirty="0"/>
          </a:p>
        </p:txBody>
      </p:sp>
      <p:sp>
        <p:nvSpPr>
          <p:cNvPr id="10" name="Text 8"/>
          <p:cNvSpPr txBox="1"/>
          <p:nvPr/>
        </p:nvSpPr>
        <p:spPr>
          <a:xfrm>
            <a:off x="777240" y="2057400"/>
            <a:ext cx="6035040" cy="3794760"/>
          </a:xfrm>
          <a:prstGeom prst="rect">
            <a:avLst/>
          </a:prstGeom>
          <a:noFill/>
          <a:ln/>
        </p:spPr>
        <p:txBody>
          <a:bodyPr wrap="square" lIns="0" tIns="0" rIns="0" bIns="0" rtlCol="0" anchor="t"/>
          <a:lstStyle/>
          <a:p>
            <a:pPr marL="152400" indent="-152400">
              <a:lnSpc>
                <a:spcPct val="105000"/>
              </a:lnSpc>
              <a:spcAft>
                <a:spcPts val="500"/>
              </a:spcAft>
              <a:buSzPct val="100000"/>
              <a:buChar char="•"/>
            </a:pPr>
            <a:r>
              <a:rPr lang="en-US" sz="1150" dirty="0">
                <a:solidFill>
                  <a:srgbClr val="22252B"/>
                </a:solidFill>
                <a:latin typeface="Calibri" pitchFamily="34" charset="0"/>
                <a:ea typeface="Calibri" pitchFamily="34" charset="-122"/>
                <a:cs typeface="Calibri" pitchFamily="34" charset="-120"/>
              </a:rPr>
              <a:t>Management approved a half-day “AI Awareness” workshop for 60 employees, six weeks from today. Your group owns it.</a:t>
            </a:r>
            <a:endParaRPr lang="en-US" sz="1150" dirty="0"/>
          </a:p>
          <a:p>
            <a:pPr marL="152400" indent="-152400">
              <a:lnSpc>
                <a:spcPct val="105000"/>
              </a:lnSpc>
              <a:spcAft>
                <a:spcPts val="500"/>
              </a:spcAft>
              <a:buSzPct val="100000"/>
              <a:buChar char="•"/>
            </a:pPr>
            <a:r>
              <a:rPr lang="en-US" sz="1150" b="1" dirty="0">
                <a:solidFill>
                  <a:srgbClr val="22252B"/>
                </a:solidFill>
                <a:latin typeface="Calibri" pitchFamily="34" charset="0"/>
                <a:ea typeface="Calibri" pitchFamily="34" charset="-122"/>
                <a:cs typeface="Calibri" pitchFamily="34" charset="-120"/>
              </a:rPr>
              <a:t>Using everything from Days 1–3, produce:</a:t>
            </a:r>
            <a:endParaRPr lang="en-US" sz="1150" dirty="0"/>
          </a:p>
          <a:p>
            <a:pPr marL="152400" indent="-152400">
              <a:lnSpc>
                <a:spcPct val="105000"/>
              </a:lnSpc>
              <a:spcAft>
                <a:spcPts val="500"/>
              </a:spcAft>
              <a:buSzPct val="100000"/>
              <a:buChar char="•"/>
            </a:pPr>
            <a:r>
              <a:rPr lang="en-US" sz="1150" dirty="0">
                <a:solidFill>
                  <a:srgbClr val="22252B"/>
                </a:solidFill>
                <a:latin typeface="Calibri" pitchFamily="34" charset="0"/>
                <a:ea typeface="Calibri" pitchFamily="34" charset="-122"/>
                <a:cs typeface="Calibri" pitchFamily="34" charset="-120"/>
              </a:rPr>
              <a:t>1. A phased project plan (task table: owner, date, [CHECK] where you need decisions)</a:t>
            </a:r>
            <a:endParaRPr lang="en-US" sz="1150" dirty="0"/>
          </a:p>
          <a:p>
            <a:pPr marL="152400" indent="-152400">
              <a:lnSpc>
                <a:spcPct val="105000"/>
              </a:lnSpc>
              <a:spcAft>
                <a:spcPts val="500"/>
              </a:spcAft>
              <a:buSzPct val="100000"/>
              <a:buChar char="•"/>
            </a:pPr>
            <a:r>
              <a:rPr lang="en-US" sz="1150" dirty="0">
                <a:solidFill>
                  <a:srgbClr val="22252B"/>
                </a:solidFill>
                <a:latin typeface="Calibri" pitchFamily="34" charset="0"/>
                <a:ea typeface="Calibri" pitchFamily="34" charset="-122"/>
                <a:cs typeface="Calibri" pitchFamily="34" charset="-120"/>
              </a:rPr>
              <a:t>2. A timed half-day agenda for the workshop itself</a:t>
            </a:r>
            <a:endParaRPr lang="en-US" sz="1150" dirty="0"/>
          </a:p>
          <a:p>
            <a:pPr marL="152400" indent="-152400">
              <a:lnSpc>
                <a:spcPct val="105000"/>
              </a:lnSpc>
              <a:spcAft>
                <a:spcPts val="500"/>
              </a:spcAft>
              <a:buSzPct val="100000"/>
              <a:buChar char="•"/>
            </a:pPr>
            <a:r>
              <a:rPr lang="en-US" sz="1150" dirty="0">
                <a:solidFill>
                  <a:srgbClr val="22252B"/>
                </a:solidFill>
                <a:latin typeface="Calibri" pitchFamily="34" charset="0"/>
                <a:ea typeface="Calibri" pitchFamily="34" charset="-122"/>
                <a:cs typeface="Calibri" pitchFamily="34" charset="-120"/>
              </a:rPr>
              <a:t>3. An invitation email (Arabic + English)</a:t>
            </a:r>
            <a:endParaRPr lang="en-US" sz="1150" dirty="0"/>
          </a:p>
          <a:p>
            <a:pPr marL="152400" indent="-152400">
              <a:lnSpc>
                <a:spcPct val="105000"/>
              </a:lnSpc>
              <a:spcAft>
                <a:spcPts val="500"/>
              </a:spcAft>
              <a:buSzPct val="100000"/>
              <a:buChar char="•"/>
            </a:pPr>
            <a:r>
              <a:rPr lang="en-US" sz="1150" dirty="0">
                <a:solidFill>
                  <a:srgbClr val="22252B"/>
                </a:solidFill>
                <a:latin typeface="Calibri" pitchFamily="34" charset="0"/>
                <a:ea typeface="Calibri" pitchFamily="34" charset="-122"/>
                <a:cs typeface="Calibri" pitchFamily="34" charset="-120"/>
              </a:rPr>
              <a:t>4. A risk list: top 5 risks with mitigations</a:t>
            </a:r>
            <a:endParaRPr lang="en-US" sz="1150" dirty="0"/>
          </a:p>
          <a:p>
            <a:pPr marL="152400" indent="-152400">
              <a:lnSpc>
                <a:spcPct val="105000"/>
              </a:lnSpc>
              <a:spcAft>
                <a:spcPts val="500"/>
              </a:spcAft>
              <a:buSzPct val="100000"/>
              <a:buChar char="•"/>
            </a:pPr>
            <a:r>
              <a:rPr lang="en-US" sz="1150" dirty="0">
                <a:solidFill>
                  <a:srgbClr val="22252B"/>
                </a:solidFill>
                <a:latin typeface="Calibri" pitchFamily="34" charset="0"/>
                <a:ea typeface="Calibri" pitchFamily="34" charset="-122"/>
                <a:cs typeface="Calibri" pitchFamily="34" charset="-120"/>
              </a:rPr>
              <a:t>5. A one-paragraph briefing for your director</a:t>
            </a:r>
            <a:endParaRPr lang="en-US" sz="1150" dirty="0"/>
          </a:p>
          <a:p>
            <a:pPr marL="152400" indent="-152400">
              <a:lnSpc>
                <a:spcPct val="105000"/>
              </a:lnSpc>
              <a:spcAft>
                <a:spcPts val="500"/>
              </a:spcAft>
              <a:buSzPct val="100000"/>
              <a:buChar char="•"/>
            </a:pPr>
            <a:r>
              <a:rPr lang="en-US" sz="1150" b="1" dirty="0">
                <a:solidFill>
                  <a:srgbClr val="22252B"/>
                </a:solidFill>
                <a:latin typeface="Calibri" pitchFamily="34" charset="0"/>
                <a:ea typeface="Calibri" pitchFamily="34" charset="-122"/>
                <a:cs typeface="Calibri" pitchFamily="34" charset="-120"/>
              </a:rPr>
              <a:t>Divide the outputs; keep names, dates and numbers consistent across all five.</a:t>
            </a:r>
            <a:endParaRPr lang="en-US" sz="1150" dirty="0"/>
          </a:p>
        </p:txBody>
      </p:sp>
      <p:sp>
        <p:nvSpPr>
          <p:cNvPr id="11" name="Shape 9"/>
          <p:cNvSpPr/>
          <p:nvPr/>
        </p:nvSpPr>
        <p:spPr>
          <a:xfrm>
            <a:off x="7315200" y="1463040"/>
            <a:ext cx="4389120" cy="2286000"/>
          </a:xfrm>
          <a:prstGeom prst="roundRect">
            <a:avLst>
              <a:gd name="adj" fmla="val 3200"/>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7315200" y="1463040"/>
            <a:ext cx="4389120" cy="420624"/>
          </a:xfrm>
          <a:prstGeom prst="roundRect">
            <a:avLst>
              <a:gd name="adj" fmla="val 17391"/>
            </a:avLst>
          </a:prstGeom>
          <a:solidFill>
            <a:srgbClr val="273370"/>
          </a:solidFill>
          <a:ln/>
        </p:spPr>
      </p:sp>
      <p:sp>
        <p:nvSpPr>
          <p:cNvPr id="13" name="Shape 11"/>
          <p:cNvSpPr/>
          <p:nvPr/>
        </p:nvSpPr>
        <p:spPr>
          <a:xfrm>
            <a:off x="7315200" y="1673352"/>
            <a:ext cx="4389120" cy="210312"/>
          </a:xfrm>
          <a:prstGeom prst="rect">
            <a:avLst/>
          </a:prstGeom>
          <a:solidFill>
            <a:srgbClr val="273370"/>
          </a:solidFill>
          <a:ln/>
        </p:spPr>
      </p:sp>
      <p:sp>
        <p:nvSpPr>
          <p:cNvPr id="14" name="Text 12"/>
          <p:cNvSpPr txBox="1"/>
          <p:nvPr/>
        </p:nvSpPr>
        <p:spPr>
          <a:xfrm>
            <a:off x="7452360" y="1463040"/>
            <a:ext cx="411480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Use the survey data</a:t>
            </a:r>
            <a:endParaRPr lang="en-US" sz="1400" dirty="0"/>
          </a:p>
        </p:txBody>
      </p:sp>
      <p:sp>
        <p:nvSpPr>
          <p:cNvPr id="15" name="Text 13"/>
          <p:cNvSpPr txBox="1"/>
          <p:nvPr/>
        </p:nvSpPr>
        <p:spPr>
          <a:xfrm>
            <a:off x="7589520" y="2057400"/>
            <a:ext cx="3840480" cy="1554480"/>
          </a:xfrm>
          <a:prstGeom prst="rect">
            <a:avLst/>
          </a:prstGeom>
          <a:noFill/>
          <a:ln/>
        </p:spPr>
        <p:txBody>
          <a:bodyPr wrap="square" lIns="0" tIns="0" rIns="0" bIns="0" rtlCol="0" anchor="t"/>
          <a:lstStyle/>
          <a:p>
            <a:pPr marL="152400" indent="-152400">
              <a:lnSpc>
                <a:spcPct val="105000"/>
              </a:lnSpc>
              <a:spcAft>
                <a:spcPts val="800"/>
              </a:spcAft>
              <a:buSzPct val="100000"/>
              <a:buChar char="•"/>
            </a:pPr>
            <a:r>
              <a:rPr lang="en-US" sz="1150" dirty="0">
                <a:solidFill>
                  <a:srgbClr val="22252B"/>
                </a:solidFill>
                <a:latin typeface="Calibri" pitchFamily="34" charset="0"/>
                <a:ea typeface="Calibri" pitchFamily="34" charset="-122"/>
                <a:cs typeface="Calibri" pitchFamily="34" charset="-120"/>
              </a:rPr>
              <a:t>employee_ai_survey.csv tells you your audience: barriers, confidence, requested topics.</a:t>
            </a:r>
            <a:endParaRPr lang="en-US" sz="1150" dirty="0"/>
          </a:p>
          <a:p>
            <a:pPr marL="152400" indent="-152400">
              <a:lnSpc>
                <a:spcPct val="105000"/>
              </a:lnSpc>
              <a:spcAft>
                <a:spcPts val="800"/>
              </a:spcAft>
              <a:buSzPct val="100000"/>
              <a:buChar char="•"/>
            </a:pPr>
            <a:r>
              <a:rPr lang="en-US" sz="1150" dirty="0">
                <a:solidFill>
                  <a:srgbClr val="22252B"/>
                </a:solidFill>
                <a:latin typeface="Calibri" pitchFamily="34" charset="0"/>
                <a:ea typeface="Calibri" pitchFamily="34" charset="-122"/>
                <a:cs typeface="Calibri" pitchFamily="34" charset="-120"/>
              </a:rPr>
              <a:t>Let the data shape the agenda — cite one finding in your director briefing.</a:t>
            </a:r>
            <a:endParaRPr lang="en-US" sz="1150" dirty="0"/>
          </a:p>
        </p:txBody>
      </p:sp>
      <p:sp>
        <p:nvSpPr>
          <p:cNvPr id="16" name="Shape 14"/>
          <p:cNvSpPr/>
          <p:nvPr/>
        </p:nvSpPr>
        <p:spPr>
          <a:xfrm>
            <a:off x="7315200" y="3931920"/>
            <a:ext cx="4389120" cy="2103120"/>
          </a:xfrm>
          <a:prstGeom prst="roundRect">
            <a:avLst>
              <a:gd name="adj" fmla="val 3478"/>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7" name="Shape 15"/>
          <p:cNvSpPr/>
          <p:nvPr/>
        </p:nvSpPr>
        <p:spPr>
          <a:xfrm>
            <a:off x="7315200" y="3931920"/>
            <a:ext cx="4389120" cy="420624"/>
          </a:xfrm>
          <a:prstGeom prst="roundRect">
            <a:avLst>
              <a:gd name="adj" fmla="val 17391"/>
            </a:avLst>
          </a:prstGeom>
          <a:solidFill>
            <a:srgbClr val="6258A6"/>
          </a:solidFill>
          <a:ln/>
        </p:spPr>
      </p:sp>
      <p:sp>
        <p:nvSpPr>
          <p:cNvPr id="18" name="Shape 16"/>
          <p:cNvSpPr/>
          <p:nvPr/>
        </p:nvSpPr>
        <p:spPr>
          <a:xfrm>
            <a:off x="7315200" y="4142232"/>
            <a:ext cx="4389120" cy="210312"/>
          </a:xfrm>
          <a:prstGeom prst="rect">
            <a:avLst/>
          </a:prstGeom>
          <a:solidFill>
            <a:srgbClr val="6258A6"/>
          </a:solidFill>
          <a:ln/>
        </p:spPr>
      </p:sp>
      <p:sp>
        <p:nvSpPr>
          <p:cNvPr id="19" name="Text 17"/>
          <p:cNvSpPr txBox="1"/>
          <p:nvPr/>
        </p:nvSpPr>
        <p:spPr>
          <a:xfrm>
            <a:off x="7452360" y="3931920"/>
            <a:ext cx="411480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Gallery walk (last 10 min)</a:t>
            </a:r>
            <a:endParaRPr lang="en-US" sz="1400" dirty="0"/>
          </a:p>
        </p:txBody>
      </p:sp>
      <p:sp>
        <p:nvSpPr>
          <p:cNvPr id="20" name="Text 18"/>
          <p:cNvSpPr txBox="1"/>
          <p:nvPr/>
        </p:nvSpPr>
        <p:spPr>
          <a:xfrm>
            <a:off x="7589520" y="4526280"/>
            <a:ext cx="3840480" cy="1371600"/>
          </a:xfrm>
          <a:prstGeom prst="rect">
            <a:avLst/>
          </a:prstGeom>
          <a:noFill/>
          <a:ln/>
        </p:spPr>
        <p:txBody>
          <a:bodyPr wrap="square" lIns="0" tIns="0" rIns="0" bIns="0" rtlCol="0" anchor="t"/>
          <a:lstStyle/>
          <a:p>
            <a:pPr marL="152400" indent="-152400">
              <a:lnSpc>
                <a:spcPct val="105000"/>
              </a:lnSpc>
              <a:spcAft>
                <a:spcPts val="700"/>
              </a:spcAft>
              <a:buSzPct val="100000"/>
              <a:buChar char="•"/>
            </a:pPr>
            <a:r>
              <a:rPr lang="en-US" sz="1150" dirty="0">
                <a:solidFill>
                  <a:srgbClr val="22252B"/>
                </a:solidFill>
                <a:latin typeface="Calibri" pitchFamily="34" charset="0"/>
                <a:ea typeface="Calibri" pitchFamily="34" charset="-122"/>
                <a:cs typeface="Calibri" pitchFamily="34" charset="-120"/>
              </a:rPr>
              <a:t>Post your five outputs at your table</a:t>
            </a:r>
            <a:endParaRPr lang="en-US" sz="1150" dirty="0"/>
          </a:p>
          <a:p>
            <a:pPr marL="152400" indent="-152400">
              <a:lnSpc>
                <a:spcPct val="105000"/>
              </a:lnSpc>
              <a:spcAft>
                <a:spcPts val="700"/>
              </a:spcAft>
              <a:buSzPct val="100000"/>
              <a:buChar char="•"/>
            </a:pPr>
            <a:r>
              <a:rPr lang="en-US" sz="1150" dirty="0">
                <a:solidFill>
                  <a:srgbClr val="22252B"/>
                </a:solidFill>
                <a:latin typeface="Calibri" pitchFamily="34" charset="0"/>
                <a:ea typeface="Calibri" pitchFamily="34" charset="-122"/>
                <a:cs typeface="Calibri" pitchFamily="34" charset="-120"/>
              </a:rPr>
              <a:t>Visit two other groups; leave one sticky-note compliment and one question</a:t>
            </a:r>
            <a:endParaRPr lang="en-US" sz="1150" dirty="0"/>
          </a:p>
        </p:txBody>
      </p:sp>
      <p:sp>
        <p:nvSpPr>
          <p:cNvPr id="21" name="Text 19"/>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22" name="Text 20"/>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57</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Debrief — Activity 3.1</a:t>
            </a:r>
            <a:endParaRPr lang="en-US" sz="3000" dirty="0"/>
          </a:p>
        </p:txBody>
      </p:sp>
      <p:sp>
        <p:nvSpPr>
          <p:cNvPr id="3" name="Shape 1"/>
          <p:cNvSpPr/>
          <p:nvPr/>
        </p:nvSpPr>
        <p:spPr>
          <a:xfrm>
            <a:off x="10565892" y="457200"/>
            <a:ext cx="1120140" cy="384048"/>
          </a:xfrm>
          <a:prstGeom prst="roundRect">
            <a:avLst>
              <a:gd name="adj" fmla="val 50000"/>
            </a:avLst>
          </a:prstGeom>
          <a:solidFill>
            <a:srgbClr val="67CCFF"/>
          </a:solidFill>
          <a:ln/>
        </p:spPr>
      </p:sp>
      <p:sp>
        <p:nvSpPr>
          <p:cNvPr id="4" name="Text 2"/>
          <p:cNvSpPr txBox="1"/>
          <p:nvPr/>
        </p:nvSpPr>
        <p:spPr>
          <a:xfrm>
            <a:off x="10565892" y="457200"/>
            <a:ext cx="11201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DEBRIEF</a:t>
            </a:r>
            <a:endParaRPr lang="en-US" sz="1200" dirty="0"/>
          </a:p>
        </p:txBody>
      </p:sp>
      <p:sp>
        <p:nvSpPr>
          <p:cNvPr id="5" name="Shape 3"/>
          <p:cNvSpPr/>
          <p:nvPr/>
        </p:nvSpPr>
        <p:spPr>
          <a:xfrm>
            <a:off x="640080" y="1645920"/>
            <a:ext cx="548640" cy="548640"/>
          </a:xfrm>
          <a:prstGeom prst="roundRect">
            <a:avLst>
              <a:gd name="adj" fmla="val 15000"/>
            </a:avLst>
          </a:prstGeom>
          <a:solidFill>
            <a:srgbClr val="67CCFF"/>
          </a:solidFill>
          <a:ln/>
        </p:spPr>
      </p:sp>
      <p:pic>
        <p:nvPicPr>
          <p:cNvPr id="6" name="Image 0" descr="preencoded.png">    </p:cNvPr>
          <p:cNvPicPr>
            <a:picLocks noChangeAspect="1"/>
          </p:cNvPicPr>
          <p:nvPr/>
        </p:nvPicPr>
        <p:blipFill>
          <a:blip r:embed="rId1"/>
          <a:stretch>
            <a:fillRect/>
          </a:stretch>
        </p:blipFill>
        <p:spPr>
          <a:xfrm>
            <a:off x="760781" y="1766621"/>
            <a:ext cx="307238" cy="307238"/>
          </a:xfrm>
          <a:prstGeom prst="rect">
            <a:avLst/>
          </a:prstGeom>
        </p:spPr>
      </p:pic>
      <p:sp>
        <p:nvSpPr>
          <p:cNvPr id="7" name="Text 4"/>
          <p:cNvSpPr txBox="1"/>
          <p:nvPr/>
        </p:nvSpPr>
        <p:spPr>
          <a:xfrm>
            <a:off x="1417320" y="1645920"/>
            <a:ext cx="10149840" cy="548640"/>
          </a:xfrm>
          <a:prstGeom prst="rect">
            <a:avLst/>
          </a:prstGeom>
          <a:noFill/>
          <a:ln/>
        </p:spPr>
        <p:txBody>
          <a:bodyPr wrap="square" lIns="0" tIns="0" rIns="0" bIns="0" rtlCol="0" anchor="ctr"/>
          <a:lstStyle/>
          <a:p>
            <a:pPr indent="0" marL="0">
              <a:buNone/>
            </a:pPr>
            <a:r>
              <a:rPr lang="en-US" sz="1550" dirty="0">
                <a:solidFill>
                  <a:srgbClr val="22252B"/>
                </a:solidFill>
                <a:latin typeface="Calibri" pitchFamily="34" charset="0"/>
                <a:ea typeface="Calibri" pitchFamily="34" charset="-122"/>
                <a:cs typeface="Calibri" pitchFamily="34" charset="-120"/>
              </a:rPr>
              <a:t>What did the survey data change about your workshop design?</a:t>
            </a:r>
            <a:endParaRPr lang="en-US" sz="1550" dirty="0"/>
          </a:p>
        </p:txBody>
      </p:sp>
      <p:sp>
        <p:nvSpPr>
          <p:cNvPr id="8" name="Shape 5"/>
          <p:cNvSpPr/>
          <p:nvPr/>
        </p:nvSpPr>
        <p:spPr>
          <a:xfrm>
            <a:off x="640080" y="2761488"/>
            <a:ext cx="548640" cy="548640"/>
          </a:xfrm>
          <a:prstGeom prst="roundRect">
            <a:avLst>
              <a:gd name="adj" fmla="val 15000"/>
            </a:avLst>
          </a:prstGeom>
          <a:solidFill>
            <a:srgbClr val="67CCFF"/>
          </a:solidFill>
          <a:ln/>
        </p:spPr>
      </p:sp>
      <p:pic>
        <p:nvPicPr>
          <p:cNvPr id="9" name="Image 1" descr="preencoded.png">    </p:cNvPr>
          <p:cNvPicPr>
            <a:picLocks noChangeAspect="1"/>
          </p:cNvPicPr>
          <p:nvPr/>
        </p:nvPicPr>
        <p:blipFill>
          <a:blip r:embed="rId2"/>
          <a:stretch>
            <a:fillRect/>
          </a:stretch>
        </p:blipFill>
        <p:spPr>
          <a:xfrm>
            <a:off x="760781" y="2882189"/>
            <a:ext cx="307238" cy="307238"/>
          </a:xfrm>
          <a:prstGeom prst="rect">
            <a:avLst/>
          </a:prstGeom>
        </p:spPr>
      </p:pic>
      <p:sp>
        <p:nvSpPr>
          <p:cNvPr id="10" name="Text 6"/>
          <p:cNvSpPr txBox="1"/>
          <p:nvPr/>
        </p:nvSpPr>
        <p:spPr>
          <a:xfrm>
            <a:off x="1417320" y="2761488"/>
            <a:ext cx="10149840" cy="548640"/>
          </a:xfrm>
          <a:prstGeom prst="rect">
            <a:avLst/>
          </a:prstGeom>
          <a:noFill/>
          <a:ln/>
        </p:spPr>
        <p:txBody>
          <a:bodyPr wrap="square" lIns="0" tIns="0" rIns="0" bIns="0" rtlCol="0" anchor="ctr"/>
          <a:lstStyle/>
          <a:p>
            <a:pPr indent="0" marL="0">
              <a:buNone/>
            </a:pPr>
            <a:r>
              <a:rPr lang="en-US" sz="1550" dirty="0">
                <a:solidFill>
                  <a:srgbClr val="22252B"/>
                </a:solidFill>
                <a:latin typeface="Calibri" pitchFamily="34" charset="0"/>
                <a:ea typeface="Calibri" pitchFamily="34" charset="-122"/>
                <a:cs typeface="Calibri" pitchFamily="34" charset="-120"/>
              </a:rPr>
              <a:t>Which of the five outputs was hardest to get right with AI — and why?</a:t>
            </a:r>
            <a:endParaRPr lang="en-US" sz="1550" dirty="0"/>
          </a:p>
        </p:txBody>
      </p:sp>
      <p:sp>
        <p:nvSpPr>
          <p:cNvPr id="11" name="Shape 7"/>
          <p:cNvSpPr/>
          <p:nvPr/>
        </p:nvSpPr>
        <p:spPr>
          <a:xfrm>
            <a:off x="640080" y="3877056"/>
            <a:ext cx="548640" cy="548640"/>
          </a:xfrm>
          <a:prstGeom prst="roundRect">
            <a:avLst>
              <a:gd name="adj" fmla="val 15000"/>
            </a:avLst>
          </a:prstGeom>
          <a:solidFill>
            <a:srgbClr val="67CCFF"/>
          </a:solidFill>
          <a:ln/>
        </p:spPr>
      </p:sp>
      <p:pic>
        <p:nvPicPr>
          <p:cNvPr id="12" name="Image 2" descr="preencoded.png">    </p:cNvPr>
          <p:cNvPicPr>
            <a:picLocks noChangeAspect="1"/>
          </p:cNvPicPr>
          <p:nvPr/>
        </p:nvPicPr>
        <p:blipFill>
          <a:blip r:embed="rId3"/>
          <a:stretch>
            <a:fillRect/>
          </a:stretch>
        </p:blipFill>
        <p:spPr>
          <a:xfrm>
            <a:off x="760781" y="3997757"/>
            <a:ext cx="307238" cy="307238"/>
          </a:xfrm>
          <a:prstGeom prst="rect">
            <a:avLst/>
          </a:prstGeom>
        </p:spPr>
      </p:pic>
      <p:sp>
        <p:nvSpPr>
          <p:cNvPr id="13" name="Text 8"/>
          <p:cNvSpPr txBox="1"/>
          <p:nvPr/>
        </p:nvSpPr>
        <p:spPr>
          <a:xfrm>
            <a:off x="1417320" y="3877056"/>
            <a:ext cx="10149840" cy="548640"/>
          </a:xfrm>
          <a:prstGeom prst="rect">
            <a:avLst/>
          </a:prstGeom>
          <a:noFill/>
          <a:ln/>
        </p:spPr>
        <p:txBody>
          <a:bodyPr wrap="square" lIns="0" tIns="0" rIns="0" bIns="0" rtlCol="0" anchor="ctr"/>
          <a:lstStyle/>
          <a:p>
            <a:pPr indent="0" marL="0">
              <a:buNone/>
            </a:pPr>
            <a:r>
              <a:rPr lang="en-US" sz="1550" dirty="0">
                <a:solidFill>
                  <a:srgbClr val="22252B"/>
                </a:solidFill>
                <a:latin typeface="Calibri" pitchFamily="34" charset="0"/>
                <a:ea typeface="Calibri" pitchFamily="34" charset="-122"/>
                <a:cs typeface="Calibri" pitchFamily="34" charset="-120"/>
              </a:rPr>
              <a:t>How did your group keep five AI-assisted outputs consistent? What broke first?</a:t>
            </a:r>
            <a:endParaRPr lang="en-US" sz="1550" dirty="0"/>
          </a:p>
        </p:txBody>
      </p:sp>
      <p:sp>
        <p:nvSpPr>
          <p:cNvPr id="14" name="Shape 9"/>
          <p:cNvSpPr/>
          <p:nvPr/>
        </p:nvSpPr>
        <p:spPr>
          <a:xfrm>
            <a:off x="640080" y="4992624"/>
            <a:ext cx="548640" cy="548640"/>
          </a:xfrm>
          <a:prstGeom prst="roundRect">
            <a:avLst>
              <a:gd name="adj" fmla="val 15000"/>
            </a:avLst>
          </a:prstGeom>
          <a:solidFill>
            <a:srgbClr val="67CCFF"/>
          </a:solidFill>
          <a:ln/>
        </p:spPr>
      </p:sp>
      <p:pic>
        <p:nvPicPr>
          <p:cNvPr id="15" name="Image 3" descr="preencoded.png">    </p:cNvPr>
          <p:cNvPicPr>
            <a:picLocks noChangeAspect="1"/>
          </p:cNvPicPr>
          <p:nvPr/>
        </p:nvPicPr>
        <p:blipFill>
          <a:blip r:embed="rId4"/>
          <a:stretch>
            <a:fillRect/>
          </a:stretch>
        </p:blipFill>
        <p:spPr>
          <a:xfrm>
            <a:off x="760781" y="5113325"/>
            <a:ext cx="307238" cy="307238"/>
          </a:xfrm>
          <a:prstGeom prst="rect">
            <a:avLst/>
          </a:prstGeom>
        </p:spPr>
      </p:pic>
      <p:sp>
        <p:nvSpPr>
          <p:cNvPr id="16" name="Text 10"/>
          <p:cNvSpPr txBox="1"/>
          <p:nvPr/>
        </p:nvSpPr>
        <p:spPr>
          <a:xfrm>
            <a:off x="1417320" y="4992624"/>
            <a:ext cx="10149840" cy="548640"/>
          </a:xfrm>
          <a:prstGeom prst="rect">
            <a:avLst/>
          </a:prstGeom>
          <a:noFill/>
          <a:ln/>
        </p:spPr>
        <p:txBody>
          <a:bodyPr wrap="square" lIns="0" tIns="0" rIns="0" bIns="0" rtlCol="0" anchor="ctr"/>
          <a:lstStyle/>
          <a:p>
            <a:pPr indent="0" marL="0">
              <a:buNone/>
            </a:pPr>
            <a:r>
              <a:rPr lang="en-US" sz="1550" dirty="0">
                <a:solidFill>
                  <a:srgbClr val="22252B"/>
                </a:solidFill>
                <a:latin typeface="Calibri" pitchFamily="34" charset="0"/>
                <a:ea typeface="Calibri" pitchFamily="34" charset="-122"/>
                <a:cs typeface="Calibri" pitchFamily="34" charset="-120"/>
              </a:rPr>
              <a:t>45 minutes for a full event pack: what does this mean for how your team should work?</a:t>
            </a:r>
            <a:endParaRPr lang="en-US" sz="1550" dirty="0"/>
          </a:p>
        </p:txBody>
      </p:sp>
      <p:sp>
        <p:nvSpPr>
          <p:cNvPr id="17" name="Text 11"/>
          <p:cNvSpPr txBox="1"/>
          <p:nvPr/>
        </p:nvSpPr>
        <p:spPr>
          <a:xfrm>
            <a:off x="640080" y="6080760"/>
            <a:ext cx="10972800" cy="365760"/>
          </a:xfrm>
          <a:prstGeom prst="rect">
            <a:avLst/>
          </a:prstGeom>
          <a:noFill/>
          <a:ln/>
        </p:spPr>
        <p:txBody>
          <a:bodyPr wrap="square" lIns="0" tIns="0" rIns="0" bIns="0" rtlCol="0" anchor="ctr"/>
          <a:lstStyle/>
          <a:p>
            <a:pPr indent="0" marL="0">
              <a:buNone/>
            </a:pPr>
            <a:r>
              <a:rPr lang="en-US" sz="1300" b="1" i="1" dirty="0">
                <a:solidFill>
                  <a:srgbClr val="273370"/>
                </a:solidFill>
                <a:latin typeface="Calibri" pitchFamily="34" charset="0"/>
                <a:ea typeface="Calibri" pitchFamily="34" charset="-122"/>
                <a:cs typeface="Calibri" pitchFamily="34" charset="-120"/>
              </a:rPr>
              <a:t>Trainer synthesis: AI compresses production time; coordination, decisions and quality control remain the human job.</a:t>
            </a:r>
            <a:endParaRPr lang="en-US" sz="1300" dirty="0"/>
          </a:p>
        </p:txBody>
      </p:sp>
      <p:sp>
        <p:nvSpPr>
          <p:cNvPr id="18" name="Text 12"/>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19" name="Text 13"/>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58</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txBox="1"/>
          <p:nvPr/>
        </p:nvSpPr>
        <p:spPr>
          <a:xfrm>
            <a:off x="502920" y="347472"/>
            <a:ext cx="1115568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Your Personal Prompt Library</a:t>
            </a:r>
            <a:endParaRPr lang="en-US" sz="3000" dirty="0"/>
          </a:p>
        </p:txBody>
      </p:sp>
      <p:sp>
        <p:nvSpPr>
          <p:cNvPr id="3" name="Text 1"/>
          <p:cNvSpPr txBox="1"/>
          <p:nvPr/>
        </p:nvSpPr>
        <p:spPr>
          <a:xfrm>
            <a:off x="502920" y="987552"/>
            <a:ext cx="11155680" cy="365760"/>
          </a:xfrm>
          <a:prstGeom prst="rect">
            <a:avLst/>
          </a:prstGeom>
          <a:noFill/>
          <a:ln/>
        </p:spPr>
        <p:txBody>
          <a:bodyPr wrap="square" lIns="0" tIns="0" rIns="0" bIns="0" rtlCol="0" anchor="ctr"/>
          <a:lstStyle/>
          <a:p>
            <a:pPr indent="0" marL="0">
              <a:buNone/>
            </a:pPr>
            <a:r>
              <a:rPr lang="en-US" sz="1400" dirty="0">
                <a:solidFill>
                  <a:srgbClr val="696969"/>
                </a:solidFill>
                <a:latin typeface="Calibri" pitchFamily="34" charset="0"/>
                <a:ea typeface="Calibri" pitchFamily="34" charset="-122"/>
                <a:cs typeface="Calibri" pitchFamily="34" charset="-120"/>
              </a:rPr>
              <a:t>The habit that makes today's gains permanent</a:t>
            </a:r>
            <a:endParaRPr lang="en-US" sz="1400" dirty="0"/>
          </a:p>
        </p:txBody>
      </p:sp>
      <p:sp>
        <p:nvSpPr>
          <p:cNvPr id="4" name="Shape 2"/>
          <p:cNvSpPr/>
          <p:nvPr/>
        </p:nvSpPr>
        <p:spPr>
          <a:xfrm>
            <a:off x="502920" y="1417320"/>
            <a:ext cx="5532120" cy="4617720"/>
          </a:xfrm>
          <a:prstGeom prst="roundRect">
            <a:avLst>
              <a:gd name="adj" fmla="val 1584"/>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502920" y="1417320"/>
            <a:ext cx="5532120" cy="420624"/>
          </a:xfrm>
          <a:prstGeom prst="roundRect">
            <a:avLst>
              <a:gd name="adj" fmla="val 17391"/>
            </a:avLst>
          </a:prstGeom>
          <a:solidFill>
            <a:srgbClr val="273370"/>
          </a:solidFill>
          <a:ln/>
        </p:spPr>
      </p:sp>
      <p:sp>
        <p:nvSpPr>
          <p:cNvPr id="6" name="Shape 4"/>
          <p:cNvSpPr/>
          <p:nvPr/>
        </p:nvSpPr>
        <p:spPr>
          <a:xfrm>
            <a:off x="502920" y="1627632"/>
            <a:ext cx="5532120" cy="210312"/>
          </a:xfrm>
          <a:prstGeom prst="rect">
            <a:avLst/>
          </a:prstGeom>
          <a:solidFill>
            <a:srgbClr val="273370"/>
          </a:solidFill>
          <a:ln/>
        </p:spPr>
      </p:sp>
      <p:sp>
        <p:nvSpPr>
          <p:cNvPr id="7" name="Text 5"/>
          <p:cNvSpPr txBox="1"/>
          <p:nvPr/>
        </p:nvSpPr>
        <p:spPr>
          <a:xfrm>
            <a:off x="640080" y="1417320"/>
            <a:ext cx="525780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How it works (Excel template provided)</a:t>
            </a:r>
            <a:endParaRPr lang="en-US" sz="1400" dirty="0"/>
          </a:p>
        </p:txBody>
      </p:sp>
      <p:sp>
        <p:nvSpPr>
          <p:cNvPr id="8" name="Text 6"/>
          <p:cNvSpPr txBox="1"/>
          <p:nvPr/>
        </p:nvSpPr>
        <p:spPr>
          <a:xfrm>
            <a:off x="777240" y="2011680"/>
            <a:ext cx="5029200" cy="3840480"/>
          </a:xfrm>
          <a:prstGeom prst="rect">
            <a:avLst/>
          </a:prstGeom>
          <a:noFill/>
          <a:ln/>
        </p:spPr>
        <p:txBody>
          <a:bodyPr wrap="square" lIns="0" tIns="0" rIns="0" bIns="0" rtlCol="0" anchor="t"/>
          <a:lstStyle/>
          <a:p>
            <a:pPr marL="152400" indent="-152400">
              <a:lnSpc>
                <a:spcPct val="105000"/>
              </a:lnSpc>
              <a:spcAft>
                <a:spcPts val="900"/>
              </a:spcAft>
              <a:buSzPct val="100000"/>
              <a:buChar char="•"/>
            </a:pPr>
            <a:r>
              <a:rPr lang="en-US" sz="1250" dirty="0">
                <a:solidFill>
                  <a:srgbClr val="22252B"/>
                </a:solidFill>
                <a:latin typeface="Calibri" pitchFamily="34" charset="0"/>
                <a:ea typeface="Calibri" pitchFamily="34" charset="-122"/>
                <a:cs typeface="Calibri" pitchFamily="34" charset="-120"/>
              </a:rPr>
              <a:t>One row per prompt: category, name, when to use it, the paste-ready prompt, which tool, and notes on what works.</a:t>
            </a:r>
            <a:endParaRPr lang="en-US" sz="1250" dirty="0"/>
          </a:p>
          <a:p>
            <a:pPr marL="152400" indent="-152400">
              <a:lnSpc>
                <a:spcPct val="105000"/>
              </a:lnSpc>
              <a:spcAft>
                <a:spcPts val="900"/>
              </a:spcAft>
              <a:buSzPct val="100000"/>
              <a:buChar char="•"/>
            </a:pPr>
            <a:r>
              <a:rPr lang="en-US" sz="1250" dirty="0">
                <a:solidFill>
                  <a:srgbClr val="22252B"/>
                </a:solidFill>
                <a:latin typeface="Calibri" pitchFamily="34" charset="0"/>
                <a:ea typeface="Calibri" pitchFamily="34" charset="-122"/>
                <a:cs typeface="Calibri" pitchFamily="34" charset="-120"/>
              </a:rPr>
              <a:t>Use [square brackets] for the parts you change each time.</a:t>
            </a:r>
            <a:endParaRPr lang="en-US" sz="1250" dirty="0"/>
          </a:p>
          <a:p>
            <a:pPr marL="152400" indent="-152400">
              <a:lnSpc>
                <a:spcPct val="105000"/>
              </a:lnSpc>
              <a:spcAft>
                <a:spcPts val="900"/>
              </a:spcAft>
              <a:buSzPct val="100000"/>
              <a:buChar char="•"/>
            </a:pPr>
            <a:r>
              <a:rPr lang="en-US" sz="1250" dirty="0">
                <a:solidFill>
                  <a:srgbClr val="22252B"/>
                </a:solidFill>
                <a:latin typeface="Calibri" pitchFamily="34" charset="0"/>
                <a:ea typeface="Calibri" pitchFamily="34" charset="-122"/>
                <a:cs typeface="Calibri" pitchFamily="34" charset="-120"/>
              </a:rPr>
              <a:t>Three worked examples are pre-loaded — plus the five structures from Day 1.</a:t>
            </a:r>
            <a:endParaRPr lang="en-US" sz="1250" dirty="0"/>
          </a:p>
          <a:p>
            <a:pPr marL="152400" indent="-152400">
              <a:lnSpc>
                <a:spcPct val="105000"/>
              </a:lnSpc>
              <a:spcAft>
                <a:spcPts val="900"/>
              </a:spcAft>
              <a:buSzPct val="100000"/>
              <a:buChar char="•"/>
            </a:pPr>
            <a:r>
              <a:rPr lang="en-US" sz="1250" dirty="0">
                <a:solidFill>
                  <a:srgbClr val="22252B"/>
                </a:solidFill>
                <a:latin typeface="Calibri" pitchFamily="34" charset="0"/>
                <a:ea typeface="Calibri" pitchFamily="34" charset="-122"/>
                <a:cs typeface="Calibri" pitchFamily="34" charset="-120"/>
              </a:rPr>
              <a:t>Save prompts the moment they work — not “later”.</a:t>
            </a:r>
            <a:endParaRPr lang="en-US" sz="1250" dirty="0"/>
          </a:p>
          <a:p>
            <a:pPr marL="152400" indent="-152400">
              <a:lnSpc>
                <a:spcPct val="105000"/>
              </a:lnSpc>
              <a:spcAft>
                <a:spcPts val="900"/>
              </a:spcAft>
              <a:buSzPct val="100000"/>
              <a:buChar char="•"/>
            </a:pPr>
            <a:r>
              <a:rPr lang="en-US" sz="1250" dirty="0">
                <a:solidFill>
                  <a:srgbClr val="22252B"/>
                </a:solidFill>
                <a:latin typeface="Calibri" pitchFamily="34" charset="0"/>
                <a:ea typeface="Calibri" pitchFamily="34" charset="-122"/>
                <a:cs typeface="Calibri" pitchFamily="34" charset="-120"/>
              </a:rPr>
              <a:t>Review monthly: delete the unused, refine the frequent.</a:t>
            </a:r>
            <a:endParaRPr lang="en-US" sz="1250" dirty="0"/>
          </a:p>
        </p:txBody>
      </p:sp>
      <p:sp>
        <p:nvSpPr>
          <p:cNvPr id="9" name="Shape 7"/>
          <p:cNvSpPr/>
          <p:nvPr/>
        </p:nvSpPr>
        <p:spPr>
          <a:xfrm>
            <a:off x="6263640" y="1417320"/>
            <a:ext cx="5440680" cy="4617720"/>
          </a:xfrm>
          <a:prstGeom prst="roundRect">
            <a:avLst>
              <a:gd name="adj" fmla="val 1584"/>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0" name="Shape 8"/>
          <p:cNvSpPr/>
          <p:nvPr/>
        </p:nvSpPr>
        <p:spPr>
          <a:xfrm>
            <a:off x="6263640" y="1417320"/>
            <a:ext cx="5440680" cy="420624"/>
          </a:xfrm>
          <a:prstGeom prst="roundRect">
            <a:avLst>
              <a:gd name="adj" fmla="val 17391"/>
            </a:avLst>
          </a:prstGeom>
          <a:solidFill>
            <a:srgbClr val="29BA74"/>
          </a:solidFill>
          <a:ln/>
        </p:spPr>
      </p:sp>
      <p:sp>
        <p:nvSpPr>
          <p:cNvPr id="11" name="Shape 9"/>
          <p:cNvSpPr/>
          <p:nvPr/>
        </p:nvSpPr>
        <p:spPr>
          <a:xfrm>
            <a:off x="6263640" y="1627632"/>
            <a:ext cx="5440680" cy="210312"/>
          </a:xfrm>
          <a:prstGeom prst="rect">
            <a:avLst/>
          </a:prstGeom>
          <a:solidFill>
            <a:srgbClr val="29BA74"/>
          </a:solidFill>
          <a:ln/>
        </p:spPr>
      </p:sp>
      <p:sp>
        <p:nvSpPr>
          <p:cNvPr id="12" name="Text 10"/>
          <p:cNvSpPr txBox="1"/>
          <p:nvPr/>
        </p:nvSpPr>
        <p:spPr>
          <a:xfrm>
            <a:off x="6400800" y="1417320"/>
            <a:ext cx="516636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Right now (10 minutes)</a:t>
            </a:r>
            <a:endParaRPr lang="en-US" sz="1400" dirty="0"/>
          </a:p>
        </p:txBody>
      </p:sp>
      <p:sp>
        <p:nvSpPr>
          <p:cNvPr id="13" name="Text 11"/>
          <p:cNvSpPr txBox="1"/>
          <p:nvPr/>
        </p:nvSpPr>
        <p:spPr>
          <a:xfrm>
            <a:off x="6537960" y="2011680"/>
            <a:ext cx="4937760" cy="3840480"/>
          </a:xfrm>
          <a:prstGeom prst="rect">
            <a:avLst/>
          </a:prstGeom>
          <a:noFill/>
          <a:ln/>
        </p:spPr>
        <p:txBody>
          <a:bodyPr wrap="square" lIns="0" tIns="0" rIns="0" bIns="0" rtlCol="0" anchor="t"/>
          <a:lstStyle/>
          <a:p>
            <a:pPr marL="152400" indent="-152400">
              <a:lnSpc>
                <a:spcPct val="105000"/>
              </a:lnSpc>
              <a:spcAft>
                <a:spcPts val="700"/>
              </a:spcAft>
              <a:buSzPct val="100000"/>
              <a:buChar char="•"/>
            </a:pPr>
            <a:r>
              <a:rPr lang="en-US" sz="1250" b="1" dirty="0">
                <a:solidFill>
                  <a:srgbClr val="22252B"/>
                </a:solidFill>
                <a:latin typeface="Calibri" pitchFamily="34" charset="0"/>
                <a:ea typeface="Calibri" pitchFamily="34" charset="-122"/>
                <a:cs typeface="Calibri" pitchFamily="34" charset="-120"/>
              </a:rPr>
              <a:t>Open your library file and add:</a:t>
            </a:r>
            <a:endParaRPr lang="en-US" sz="1250" dirty="0"/>
          </a:p>
          <a:p>
            <a:pPr marL="152400" indent="-152400">
              <a:lnSpc>
                <a:spcPct val="105000"/>
              </a:lnSpc>
              <a:spcAft>
                <a:spcPts val="700"/>
              </a:spcAft>
              <a:buSzPct val="100000"/>
              <a:buChar char="•"/>
            </a:pPr>
            <a:r>
              <a:rPr lang="en-US" sz="1250" dirty="0">
                <a:solidFill>
                  <a:srgbClr val="22252B"/>
                </a:solidFill>
                <a:latin typeface="Calibri" pitchFamily="34" charset="0"/>
                <a:ea typeface="Calibri" pitchFamily="34" charset="-122"/>
                <a:cs typeface="Calibri" pitchFamily="34" charset="-120"/>
              </a:rPr>
              <a:t>Your best prompt from Activity 1.1 or 1.2</a:t>
            </a:r>
            <a:endParaRPr lang="en-US" sz="1250" dirty="0"/>
          </a:p>
          <a:p>
            <a:pPr marL="152400" indent="-152400">
              <a:lnSpc>
                <a:spcPct val="105000"/>
              </a:lnSpc>
              <a:spcAft>
                <a:spcPts val="700"/>
              </a:spcAft>
              <a:buSzPct val="100000"/>
              <a:buChar char="•"/>
            </a:pPr>
            <a:r>
              <a:rPr lang="en-US" sz="1250" dirty="0">
                <a:solidFill>
                  <a:srgbClr val="22252B"/>
                </a:solidFill>
                <a:latin typeface="Calibri" pitchFamily="34" charset="0"/>
                <a:ea typeface="Calibri" pitchFamily="34" charset="-122"/>
                <a:cs typeface="Calibri" pitchFamily="34" charset="-120"/>
              </a:rPr>
              <a:t>Your email-reply prompt from Activity 2.1</a:t>
            </a:r>
            <a:endParaRPr lang="en-US" sz="1250" dirty="0"/>
          </a:p>
          <a:p>
            <a:pPr marL="152400" indent="-152400">
              <a:lnSpc>
                <a:spcPct val="105000"/>
              </a:lnSpc>
              <a:spcAft>
                <a:spcPts val="700"/>
              </a:spcAft>
              <a:buSzPct val="100000"/>
              <a:buChar char="•"/>
            </a:pPr>
            <a:r>
              <a:rPr lang="en-US" sz="1250" dirty="0">
                <a:solidFill>
                  <a:srgbClr val="22252B"/>
                </a:solidFill>
                <a:latin typeface="Calibri" pitchFamily="34" charset="0"/>
                <a:ea typeface="Calibri" pitchFamily="34" charset="-122"/>
                <a:cs typeface="Calibri" pitchFamily="34" charset="-120"/>
              </a:rPr>
              <a:t>Your minutes/extraction prompt from Activity 2.3</a:t>
            </a:r>
            <a:endParaRPr lang="en-US" sz="1250" dirty="0"/>
          </a:p>
          <a:p>
            <a:pPr marL="152400" indent="-152400">
              <a:lnSpc>
                <a:spcPct val="105000"/>
              </a:lnSpc>
              <a:spcAft>
                <a:spcPts val="700"/>
              </a:spcAft>
              <a:buSzPct val="100000"/>
              <a:buChar char="•"/>
            </a:pPr>
            <a:r>
              <a:rPr lang="en-US" sz="1250" dirty="0">
                <a:solidFill>
                  <a:srgbClr val="22252B"/>
                </a:solidFill>
                <a:latin typeface="Calibri" pitchFamily="34" charset="0"/>
                <a:ea typeface="Calibri" pitchFamily="34" charset="-122"/>
                <a:cs typeface="Calibri" pitchFamily="34" charset="-120"/>
              </a:rPr>
              <a:t>Your planning prompt from Activity 3.1</a:t>
            </a:r>
            <a:endParaRPr lang="en-US" sz="1250" dirty="0"/>
          </a:p>
          <a:p>
            <a:pPr marL="152400" indent="-152400">
              <a:lnSpc>
                <a:spcPct val="105000"/>
              </a:lnSpc>
              <a:spcAft>
                <a:spcPts val="700"/>
              </a:spcAft>
              <a:buSzPct val="100000"/>
              <a:buChar char="•"/>
            </a:pPr>
            <a:r>
              <a:rPr lang="en-US" sz="1250" b="1" dirty="0">
                <a:solidFill>
                  <a:srgbClr val="22252B"/>
                </a:solidFill>
                <a:latin typeface="Calibri" pitchFamily="34" charset="0"/>
                <a:ea typeface="Calibri" pitchFamily="34" charset="-122"/>
                <a:cs typeface="Calibri" pitchFamily="34" charset="-120"/>
              </a:rPr>
              <a:t>Target: 8+ saved prompts before you leave today.</a:t>
            </a:r>
            <a:endParaRPr lang="en-US" sz="1250" dirty="0"/>
          </a:p>
          <a:p>
            <a:pPr marL="152400" indent="-152400">
              <a:lnSpc>
                <a:spcPct val="105000"/>
              </a:lnSpc>
              <a:spcAft>
                <a:spcPts val="700"/>
              </a:spcAft>
              <a:buSzPct val="100000"/>
              <a:buChar char="•"/>
            </a:pPr>
            <a:r>
              <a:rPr lang="en-US" sz="1250" dirty="0">
                <a:solidFill>
                  <a:srgbClr val="22252B"/>
                </a:solidFill>
                <a:latin typeface="Calibri" pitchFamily="34" charset="0"/>
                <a:ea typeface="Calibri" pitchFamily="34" charset="-122"/>
                <a:cs typeface="Calibri" pitchFamily="34" charset="-120"/>
              </a:rPr>
              <a:t>Team idea: merge the best prompts from your unit into a shared team library.</a:t>
            </a:r>
            <a:endParaRPr lang="en-US" sz="1250" dirty="0"/>
          </a:p>
        </p:txBody>
      </p:sp>
      <p:sp>
        <p:nvSpPr>
          <p:cNvPr id="14" name="Text 12"/>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15" name="Text 13"/>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59</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Trust, but verify</a:t>
            </a:r>
            <a:endParaRPr lang="en-US" sz="3000" dirty="0"/>
          </a:p>
        </p:txBody>
      </p:sp>
      <p:sp>
        <p:nvSpPr>
          <p:cNvPr id="3" name="Text 1"/>
          <p:cNvSpPr txBox="1"/>
          <p:nvPr/>
        </p:nvSpPr>
        <p:spPr>
          <a:xfrm>
            <a:off x="502920" y="987552"/>
            <a:ext cx="11155680" cy="365760"/>
          </a:xfrm>
          <a:prstGeom prst="rect">
            <a:avLst/>
          </a:prstGeom>
          <a:noFill/>
          <a:ln/>
        </p:spPr>
        <p:txBody>
          <a:bodyPr wrap="square" lIns="0" tIns="0" rIns="0" bIns="0" rtlCol="0" anchor="ctr"/>
          <a:lstStyle/>
          <a:p>
            <a:pPr indent="0" marL="0">
              <a:buNone/>
            </a:pPr>
            <a:r>
              <a:rPr lang="en-US" sz="1400" dirty="0">
                <a:solidFill>
                  <a:srgbClr val="696969"/>
                </a:solidFill>
                <a:latin typeface="Calibri" pitchFamily="34" charset="0"/>
                <a:ea typeface="Calibri" pitchFamily="34" charset="-122"/>
                <a:cs typeface="Calibri" pitchFamily="34" charset="-120"/>
              </a:rPr>
              <a:t>Why fluent output still needs your review</a:t>
            </a:r>
            <a:endParaRPr lang="en-US" sz="1400" dirty="0"/>
          </a:p>
        </p:txBody>
      </p:sp>
      <p:sp>
        <p:nvSpPr>
          <p:cNvPr id="4" name="Shape 2"/>
          <p:cNvSpPr/>
          <p:nvPr/>
        </p:nvSpPr>
        <p:spPr>
          <a:xfrm>
            <a:off x="10565892" y="457200"/>
            <a:ext cx="1120140" cy="384048"/>
          </a:xfrm>
          <a:prstGeom prst="roundRect">
            <a:avLst>
              <a:gd name="adj" fmla="val 50000"/>
            </a:avLst>
          </a:prstGeom>
          <a:solidFill>
            <a:srgbClr val="94A0DA"/>
          </a:solidFill>
          <a:ln/>
        </p:spPr>
      </p:sp>
      <p:sp>
        <p:nvSpPr>
          <p:cNvPr id="5" name="Text 3"/>
          <p:cNvSpPr txBox="1"/>
          <p:nvPr/>
        </p:nvSpPr>
        <p:spPr>
          <a:xfrm>
            <a:off x="10565892" y="457200"/>
            <a:ext cx="11201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Shape 4"/>
          <p:cNvSpPr/>
          <p:nvPr/>
        </p:nvSpPr>
        <p:spPr>
          <a:xfrm>
            <a:off x="502920" y="1463040"/>
            <a:ext cx="5532120" cy="4572000"/>
          </a:xfrm>
          <a:prstGeom prst="roundRect">
            <a:avLst>
              <a:gd name="adj" fmla="val 1600"/>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502920" y="1463040"/>
            <a:ext cx="5532120" cy="420624"/>
          </a:xfrm>
          <a:prstGeom prst="roundRect">
            <a:avLst>
              <a:gd name="adj" fmla="val 17391"/>
            </a:avLst>
          </a:prstGeom>
          <a:solidFill>
            <a:srgbClr val="FCBD4C"/>
          </a:solidFill>
          <a:ln/>
        </p:spPr>
      </p:sp>
      <p:sp>
        <p:nvSpPr>
          <p:cNvPr id="8" name="Shape 6"/>
          <p:cNvSpPr/>
          <p:nvPr/>
        </p:nvSpPr>
        <p:spPr>
          <a:xfrm>
            <a:off x="502920" y="1673352"/>
            <a:ext cx="5532120" cy="210312"/>
          </a:xfrm>
          <a:prstGeom prst="rect">
            <a:avLst/>
          </a:prstGeom>
          <a:solidFill>
            <a:srgbClr val="FCBD4C"/>
          </a:solidFill>
          <a:ln/>
        </p:spPr>
      </p:sp>
      <p:sp>
        <p:nvSpPr>
          <p:cNvPr id="9" name="Text 7"/>
          <p:cNvSpPr txBox="1"/>
          <p:nvPr/>
        </p:nvSpPr>
        <p:spPr>
          <a:xfrm>
            <a:off x="640080" y="1463040"/>
            <a:ext cx="525780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What can be wrong — even when it looks perfect</a:t>
            </a:r>
            <a:endParaRPr lang="en-US" sz="1400" dirty="0"/>
          </a:p>
        </p:txBody>
      </p:sp>
      <p:sp>
        <p:nvSpPr>
          <p:cNvPr id="10" name="Text 8"/>
          <p:cNvSpPr txBox="1"/>
          <p:nvPr/>
        </p:nvSpPr>
        <p:spPr>
          <a:xfrm>
            <a:off x="777240" y="2103120"/>
            <a:ext cx="5029200" cy="3749040"/>
          </a:xfrm>
          <a:prstGeom prst="rect">
            <a:avLst/>
          </a:prstGeom>
          <a:noFill/>
          <a:ln/>
        </p:spPr>
        <p:txBody>
          <a:bodyPr wrap="square" lIns="0" tIns="0" rIns="0" bIns="0" rtlCol="0" anchor="t"/>
          <a:lstStyle/>
          <a:p>
            <a:pPr marL="152400" indent="-152400">
              <a:lnSpc>
                <a:spcPct val="105000"/>
              </a:lnSpc>
              <a:spcAft>
                <a:spcPts val="500"/>
              </a:spcAft>
              <a:buSzPct val="100000"/>
              <a:buChar char="•"/>
            </a:pPr>
            <a:r>
              <a:rPr lang="en-US" sz="1250" b="1" dirty="0">
                <a:solidFill>
                  <a:srgbClr val="22252B"/>
                </a:solidFill>
                <a:latin typeface="Calibri" pitchFamily="34" charset="0"/>
                <a:ea typeface="Calibri" pitchFamily="34" charset="-122"/>
                <a:cs typeface="Calibri" pitchFamily="34" charset="-120"/>
              </a:rPr>
              <a:t>Invented facts &amp; figures:</a:t>
            </a:r>
            <a:endParaRPr lang="en-US" sz="1250" dirty="0"/>
          </a:p>
          <a:p>
            <a:pPr marL="152400" indent="-152400">
              <a:lnSpc>
                <a:spcPct val="105000"/>
              </a:lnSpc>
              <a:spcAft>
                <a:spcPts val="500"/>
              </a:spcAft>
              <a:buSzPct val="100000"/>
              <a:buChar char="•"/>
            </a:pPr>
            <a:r>
              <a:rPr lang="en-US" sz="1250" dirty="0">
                <a:solidFill>
                  <a:srgbClr val="22252B"/>
                </a:solidFill>
                <a:latin typeface="Calibri" pitchFamily="34" charset="0"/>
                <a:ea typeface="Calibri" pitchFamily="34" charset="-122"/>
                <a:cs typeface="Calibri" pitchFamily="34" charset="-120"/>
              </a:rPr>
              <a:t>statistics, dates, prices and “research findings” that do not exist.</a:t>
            </a:r>
            <a:endParaRPr lang="en-US" sz="1250" dirty="0"/>
          </a:p>
          <a:p>
            <a:pPr marL="152400" indent="-152400">
              <a:lnSpc>
                <a:spcPct val="105000"/>
              </a:lnSpc>
              <a:spcAft>
                <a:spcPts val="500"/>
              </a:spcAft>
              <a:buSzPct val="100000"/>
              <a:buChar char="•"/>
            </a:pPr>
            <a:r>
              <a:rPr lang="en-US" sz="1250" b="1" dirty="0">
                <a:solidFill>
                  <a:srgbClr val="22252B"/>
                </a:solidFill>
                <a:latin typeface="Calibri" pitchFamily="34" charset="0"/>
                <a:ea typeface="Calibri" pitchFamily="34" charset="-122"/>
                <a:cs typeface="Calibri" pitchFamily="34" charset="-120"/>
              </a:rPr>
              <a:t>Fabricated references:</a:t>
            </a:r>
            <a:endParaRPr lang="en-US" sz="1250" dirty="0"/>
          </a:p>
          <a:p>
            <a:pPr marL="152400" indent="-152400">
              <a:lnSpc>
                <a:spcPct val="105000"/>
              </a:lnSpc>
              <a:spcAft>
                <a:spcPts val="500"/>
              </a:spcAft>
              <a:buSzPct val="100000"/>
              <a:buChar char="•"/>
            </a:pPr>
            <a:r>
              <a:rPr lang="en-US" sz="1250" dirty="0">
                <a:solidFill>
                  <a:srgbClr val="22252B"/>
                </a:solidFill>
                <a:latin typeface="Calibri" pitchFamily="34" charset="0"/>
                <a:ea typeface="Calibri" pitchFamily="34" charset="-122"/>
                <a:cs typeface="Calibri" pitchFamily="34" charset="-120"/>
              </a:rPr>
              <a:t>plausible-looking reports, laws and articles that were never written.</a:t>
            </a:r>
            <a:endParaRPr lang="en-US" sz="1250" dirty="0"/>
          </a:p>
          <a:p>
            <a:pPr marL="152400" indent="-152400">
              <a:lnSpc>
                <a:spcPct val="105000"/>
              </a:lnSpc>
              <a:spcAft>
                <a:spcPts val="500"/>
              </a:spcAft>
              <a:buSzPct val="100000"/>
              <a:buChar char="•"/>
            </a:pPr>
            <a:r>
              <a:rPr lang="en-US" sz="1250" b="1" dirty="0">
                <a:solidFill>
                  <a:srgbClr val="22252B"/>
                </a:solidFill>
                <a:latin typeface="Calibri" pitchFamily="34" charset="0"/>
                <a:ea typeface="Calibri" pitchFamily="34" charset="-122"/>
                <a:cs typeface="Calibri" pitchFamily="34" charset="-120"/>
              </a:rPr>
              <a:t>Confident arithmetic errors:</a:t>
            </a:r>
            <a:endParaRPr lang="en-US" sz="1250" dirty="0"/>
          </a:p>
          <a:p>
            <a:pPr marL="152400" indent="-152400">
              <a:lnSpc>
                <a:spcPct val="105000"/>
              </a:lnSpc>
              <a:spcAft>
                <a:spcPts val="500"/>
              </a:spcAft>
              <a:buSzPct val="100000"/>
              <a:buChar char="•"/>
            </a:pPr>
            <a:r>
              <a:rPr lang="en-US" sz="1250" dirty="0">
                <a:solidFill>
                  <a:srgbClr val="22252B"/>
                </a:solidFill>
                <a:latin typeface="Calibri" pitchFamily="34" charset="0"/>
                <a:ea typeface="Calibri" pitchFamily="34" charset="-122"/>
                <a:cs typeface="Calibri" pitchFamily="34" charset="-120"/>
              </a:rPr>
              <a:t>totals and percentages that don't match the source data.</a:t>
            </a:r>
            <a:endParaRPr lang="en-US" sz="1250" dirty="0"/>
          </a:p>
          <a:p>
            <a:pPr marL="152400" indent="-152400">
              <a:lnSpc>
                <a:spcPct val="105000"/>
              </a:lnSpc>
              <a:spcAft>
                <a:spcPts val="500"/>
              </a:spcAft>
              <a:buSzPct val="100000"/>
              <a:buChar char="•"/>
            </a:pPr>
            <a:r>
              <a:rPr lang="en-US" sz="1250" b="1" dirty="0">
                <a:solidFill>
                  <a:srgbClr val="22252B"/>
                </a:solidFill>
                <a:latin typeface="Calibri" pitchFamily="34" charset="0"/>
                <a:ea typeface="Calibri" pitchFamily="34" charset="-122"/>
                <a:cs typeface="Calibri" pitchFamily="34" charset="-120"/>
              </a:rPr>
              <a:t>Subtle misreadings:</a:t>
            </a:r>
            <a:endParaRPr lang="en-US" sz="1250" dirty="0"/>
          </a:p>
          <a:p>
            <a:pPr marL="152400" indent="-152400">
              <a:lnSpc>
                <a:spcPct val="105000"/>
              </a:lnSpc>
              <a:spcAft>
                <a:spcPts val="500"/>
              </a:spcAft>
              <a:buSzPct val="100000"/>
              <a:buChar char="•"/>
            </a:pPr>
            <a:r>
              <a:rPr lang="en-US" sz="1250" dirty="0">
                <a:solidFill>
                  <a:srgbClr val="22252B"/>
                </a:solidFill>
                <a:latin typeface="Calibri" pitchFamily="34" charset="0"/>
                <a:ea typeface="Calibri" pitchFamily="34" charset="-122"/>
                <a:cs typeface="Calibri" pitchFamily="34" charset="-120"/>
              </a:rPr>
              <a:t>a condition dropped, a “not” lost, an exception generalised.</a:t>
            </a:r>
            <a:endParaRPr lang="en-US" sz="1250" dirty="0"/>
          </a:p>
        </p:txBody>
      </p:sp>
      <p:sp>
        <p:nvSpPr>
          <p:cNvPr id="11" name="Shape 9"/>
          <p:cNvSpPr/>
          <p:nvPr/>
        </p:nvSpPr>
        <p:spPr>
          <a:xfrm>
            <a:off x="6263640" y="1463040"/>
            <a:ext cx="5440680" cy="4572000"/>
          </a:xfrm>
          <a:prstGeom prst="roundRect">
            <a:avLst>
              <a:gd name="adj" fmla="val 1600"/>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6263640" y="1463040"/>
            <a:ext cx="5440680" cy="420624"/>
          </a:xfrm>
          <a:prstGeom prst="roundRect">
            <a:avLst>
              <a:gd name="adj" fmla="val 17391"/>
            </a:avLst>
          </a:prstGeom>
          <a:solidFill>
            <a:srgbClr val="273370"/>
          </a:solidFill>
          <a:ln/>
        </p:spPr>
      </p:sp>
      <p:sp>
        <p:nvSpPr>
          <p:cNvPr id="13" name="Shape 11"/>
          <p:cNvSpPr/>
          <p:nvPr/>
        </p:nvSpPr>
        <p:spPr>
          <a:xfrm>
            <a:off x="6263640" y="1673352"/>
            <a:ext cx="5440680" cy="210312"/>
          </a:xfrm>
          <a:prstGeom prst="rect">
            <a:avLst/>
          </a:prstGeom>
          <a:solidFill>
            <a:srgbClr val="273370"/>
          </a:solidFill>
          <a:ln/>
        </p:spPr>
      </p:sp>
      <p:sp>
        <p:nvSpPr>
          <p:cNvPr id="14" name="Text 12"/>
          <p:cNvSpPr txBox="1"/>
          <p:nvPr/>
        </p:nvSpPr>
        <p:spPr>
          <a:xfrm>
            <a:off x="6400800" y="1463040"/>
            <a:ext cx="516636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Where the risk concentrates</a:t>
            </a:r>
            <a:endParaRPr lang="en-US" sz="1400" dirty="0"/>
          </a:p>
        </p:txBody>
      </p:sp>
      <p:sp>
        <p:nvSpPr>
          <p:cNvPr id="15" name="Text 13"/>
          <p:cNvSpPr txBox="1"/>
          <p:nvPr/>
        </p:nvSpPr>
        <p:spPr>
          <a:xfrm>
            <a:off x="6537960" y="2103120"/>
            <a:ext cx="4937760" cy="2926080"/>
          </a:xfrm>
          <a:prstGeom prst="rect">
            <a:avLst/>
          </a:prstGeom>
          <a:noFill/>
          <a:ln/>
        </p:spPr>
        <p:txBody>
          <a:bodyPr wrap="square" lIns="0" tIns="0" rIns="0" bIns="0" rtlCol="0" anchor="t"/>
          <a:lstStyle/>
          <a:p>
            <a:pPr marL="152400" indent="-152400">
              <a:lnSpc>
                <a:spcPct val="105000"/>
              </a:lnSpc>
              <a:spcAft>
                <a:spcPts val="900"/>
              </a:spcAft>
              <a:buSzPct val="100000"/>
              <a:buChar char="•"/>
            </a:pPr>
            <a:r>
              <a:rPr lang="en-US" sz="1250" dirty="0">
                <a:solidFill>
                  <a:srgbClr val="22252B"/>
                </a:solidFill>
                <a:latin typeface="Calibri" pitchFamily="34" charset="0"/>
                <a:ea typeface="Calibri" pitchFamily="34" charset="-122"/>
                <a:cs typeface="Calibri" pitchFamily="34" charset="-120"/>
              </a:rPr>
              <a:t>Anything with numbers, names, dates or money</a:t>
            </a:r>
            <a:endParaRPr lang="en-US" sz="1250" dirty="0"/>
          </a:p>
          <a:p>
            <a:pPr marL="152400" indent="-152400">
              <a:lnSpc>
                <a:spcPct val="105000"/>
              </a:lnSpc>
              <a:spcAft>
                <a:spcPts val="900"/>
              </a:spcAft>
              <a:buSzPct val="100000"/>
              <a:buChar char="•"/>
            </a:pPr>
            <a:r>
              <a:rPr lang="en-US" sz="1250" dirty="0">
                <a:solidFill>
                  <a:srgbClr val="22252B"/>
                </a:solidFill>
                <a:latin typeface="Calibri" pitchFamily="34" charset="0"/>
                <a:ea typeface="Calibri" pitchFamily="34" charset="-122"/>
                <a:cs typeface="Calibri" pitchFamily="34" charset="-120"/>
              </a:rPr>
              <a:t>References, citations and “according to…” claims</a:t>
            </a:r>
            <a:endParaRPr lang="en-US" sz="1250" dirty="0"/>
          </a:p>
          <a:p>
            <a:pPr marL="152400" indent="-152400">
              <a:lnSpc>
                <a:spcPct val="105000"/>
              </a:lnSpc>
              <a:spcAft>
                <a:spcPts val="900"/>
              </a:spcAft>
              <a:buSzPct val="100000"/>
              <a:buChar char="•"/>
            </a:pPr>
            <a:r>
              <a:rPr lang="en-US" sz="1250" dirty="0">
                <a:solidFill>
                  <a:srgbClr val="22252B"/>
                </a:solidFill>
                <a:latin typeface="Calibri" pitchFamily="34" charset="0"/>
                <a:ea typeface="Calibri" pitchFamily="34" charset="-122"/>
                <a:cs typeface="Calibri" pitchFamily="34" charset="-120"/>
              </a:rPr>
              <a:t>Legal, regulatory and policy statements</a:t>
            </a:r>
            <a:endParaRPr lang="en-US" sz="1250" dirty="0"/>
          </a:p>
          <a:p>
            <a:pPr marL="152400" indent="-152400">
              <a:lnSpc>
                <a:spcPct val="105000"/>
              </a:lnSpc>
              <a:spcAft>
                <a:spcPts val="900"/>
              </a:spcAft>
              <a:buSzPct val="100000"/>
              <a:buChar char="•"/>
            </a:pPr>
            <a:r>
              <a:rPr lang="en-US" sz="1250" dirty="0">
                <a:solidFill>
                  <a:srgbClr val="22252B"/>
                </a:solidFill>
                <a:latin typeface="Calibri" pitchFamily="34" charset="0"/>
                <a:ea typeface="Calibri" pitchFamily="34" charset="-122"/>
                <a:cs typeface="Calibri" pitchFamily="34" charset="-120"/>
              </a:rPr>
              <a:t>Recent events and anything after the model's knowledge cut-off</a:t>
            </a:r>
            <a:endParaRPr lang="en-US" sz="1250" dirty="0"/>
          </a:p>
          <a:p>
            <a:pPr marL="152400" indent="-152400">
              <a:lnSpc>
                <a:spcPct val="105000"/>
              </a:lnSpc>
              <a:spcAft>
                <a:spcPts val="900"/>
              </a:spcAft>
              <a:buSzPct val="100000"/>
              <a:buChar char="•"/>
            </a:pPr>
            <a:r>
              <a:rPr lang="en-US" sz="1250" dirty="0">
                <a:solidFill>
                  <a:srgbClr val="22252B"/>
                </a:solidFill>
                <a:latin typeface="Calibri" pitchFamily="34" charset="0"/>
                <a:ea typeface="Calibri" pitchFamily="34" charset="-122"/>
                <a:cs typeface="Calibri" pitchFamily="34" charset="-120"/>
              </a:rPr>
              <a:t>Content going OUTSIDE your team — the reputational blast radius</a:t>
            </a:r>
            <a:endParaRPr lang="en-US" sz="1250" dirty="0"/>
          </a:p>
        </p:txBody>
      </p:sp>
      <p:sp>
        <p:nvSpPr>
          <p:cNvPr id="16" name="Text 14"/>
          <p:cNvSpPr txBox="1"/>
          <p:nvPr/>
        </p:nvSpPr>
        <p:spPr>
          <a:xfrm>
            <a:off x="6537960" y="5257800"/>
            <a:ext cx="4937760" cy="640080"/>
          </a:xfrm>
          <a:prstGeom prst="rect">
            <a:avLst/>
          </a:prstGeom>
          <a:noFill/>
          <a:ln/>
        </p:spPr>
        <p:txBody>
          <a:bodyPr wrap="square" lIns="0" tIns="0" rIns="0" bIns="0" rtlCol="0" anchor="ctr"/>
          <a:lstStyle/>
          <a:p>
            <a:pPr indent="0" marL="0">
              <a:buNone/>
            </a:pPr>
            <a:r>
              <a:rPr lang="en-US" sz="1300" b="1" i="1" dirty="0">
                <a:solidFill>
                  <a:srgbClr val="273370"/>
                </a:solidFill>
                <a:latin typeface="Calibri" pitchFamily="34" charset="0"/>
                <a:ea typeface="Calibri" pitchFamily="34" charset="-122"/>
                <a:cs typeface="Calibri" pitchFamily="34" charset="-120"/>
              </a:rPr>
              <a:t>Rule: the more consequential the document, the more human the verification.</a:t>
            </a:r>
            <a:endParaRPr lang="en-US" sz="1300" dirty="0"/>
          </a:p>
        </p:txBody>
      </p:sp>
      <p:sp>
        <p:nvSpPr>
          <p:cNvPr id="17" name="Text 15"/>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18" name="Text 16"/>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60</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The CHECK method</a:t>
            </a:r>
            <a:endParaRPr lang="en-US" sz="3000" dirty="0"/>
          </a:p>
        </p:txBody>
      </p:sp>
      <p:sp>
        <p:nvSpPr>
          <p:cNvPr id="3" name="Text 1"/>
          <p:cNvSpPr txBox="1"/>
          <p:nvPr/>
        </p:nvSpPr>
        <p:spPr>
          <a:xfrm>
            <a:off x="502920" y="987552"/>
            <a:ext cx="11155680" cy="365760"/>
          </a:xfrm>
          <a:prstGeom prst="rect">
            <a:avLst/>
          </a:prstGeom>
          <a:noFill/>
          <a:ln/>
        </p:spPr>
        <p:txBody>
          <a:bodyPr wrap="square" lIns="0" tIns="0" rIns="0" bIns="0" rtlCol="0" anchor="ctr"/>
          <a:lstStyle/>
          <a:p>
            <a:pPr indent="0" marL="0">
              <a:buNone/>
            </a:pPr>
            <a:r>
              <a:rPr lang="en-US" sz="1400" dirty="0">
                <a:solidFill>
                  <a:srgbClr val="696969"/>
                </a:solidFill>
                <a:latin typeface="Calibri" pitchFamily="34" charset="0"/>
                <a:ea typeface="Calibri" pitchFamily="34" charset="-122"/>
                <a:cs typeface="Calibri" pitchFamily="34" charset="-120"/>
              </a:rPr>
              <a:t>Five passes before any AI-assisted document leaves your desk</a:t>
            </a:r>
            <a:endParaRPr lang="en-US" sz="1400" dirty="0"/>
          </a:p>
        </p:txBody>
      </p:sp>
      <p:sp>
        <p:nvSpPr>
          <p:cNvPr id="4" name="Shape 2"/>
          <p:cNvSpPr/>
          <p:nvPr/>
        </p:nvSpPr>
        <p:spPr>
          <a:xfrm>
            <a:off x="10565892" y="457200"/>
            <a:ext cx="1120140" cy="384048"/>
          </a:xfrm>
          <a:prstGeom prst="roundRect">
            <a:avLst>
              <a:gd name="adj" fmla="val 50000"/>
            </a:avLst>
          </a:prstGeom>
          <a:solidFill>
            <a:srgbClr val="94A0DA"/>
          </a:solidFill>
          <a:ln/>
        </p:spPr>
      </p:sp>
      <p:sp>
        <p:nvSpPr>
          <p:cNvPr id="5" name="Text 3"/>
          <p:cNvSpPr txBox="1"/>
          <p:nvPr/>
        </p:nvSpPr>
        <p:spPr>
          <a:xfrm>
            <a:off x="10565892" y="457200"/>
            <a:ext cx="11201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Shape 4"/>
          <p:cNvSpPr/>
          <p:nvPr/>
        </p:nvSpPr>
        <p:spPr>
          <a:xfrm>
            <a:off x="640080" y="1600200"/>
            <a:ext cx="658368" cy="749808"/>
          </a:xfrm>
          <a:prstGeom prst="roundRect">
            <a:avLst>
              <a:gd name="adj" fmla="val 16667"/>
            </a:avLst>
          </a:prstGeom>
          <a:solidFill>
            <a:srgbClr val="273370"/>
          </a:solidFill>
          <a:ln/>
        </p:spPr>
      </p:sp>
      <p:sp>
        <p:nvSpPr>
          <p:cNvPr id="7" name="Text 5"/>
          <p:cNvSpPr txBox="1"/>
          <p:nvPr/>
        </p:nvSpPr>
        <p:spPr>
          <a:xfrm>
            <a:off x="640080" y="1600200"/>
            <a:ext cx="658368" cy="749808"/>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C</a:t>
            </a:r>
            <a:endParaRPr lang="en-US" sz="2800" dirty="0"/>
          </a:p>
        </p:txBody>
      </p:sp>
      <p:sp>
        <p:nvSpPr>
          <p:cNvPr id="8" name="Text 6"/>
          <p:cNvSpPr txBox="1"/>
          <p:nvPr/>
        </p:nvSpPr>
        <p:spPr>
          <a:xfrm>
            <a:off x="1508760" y="1581912"/>
            <a:ext cx="2834640" cy="786384"/>
          </a:xfrm>
          <a:prstGeom prst="rect">
            <a:avLst/>
          </a:prstGeom>
          <a:noFill/>
          <a:ln/>
        </p:spPr>
        <p:txBody>
          <a:bodyPr wrap="square" lIns="0" tIns="0" rIns="0" bIns="0" rtlCol="0" anchor="ctr"/>
          <a:lstStyle/>
          <a:p>
            <a:pPr indent="0" marL="0">
              <a:buNone/>
            </a:pPr>
            <a:r>
              <a:rPr lang="en-US" sz="1500" b="1" dirty="0">
                <a:solidFill>
                  <a:srgbClr val="273370"/>
                </a:solidFill>
                <a:latin typeface="Calibri" pitchFamily="34" charset="0"/>
                <a:ea typeface="Calibri" pitchFamily="34" charset="-122"/>
                <a:cs typeface="Calibri" pitchFamily="34" charset="-120"/>
              </a:rPr>
              <a:t>Confirm the facts</a:t>
            </a:r>
            <a:endParaRPr lang="en-US" sz="1500" dirty="0"/>
          </a:p>
        </p:txBody>
      </p:sp>
      <p:sp>
        <p:nvSpPr>
          <p:cNvPr id="9" name="Text 7"/>
          <p:cNvSpPr txBox="1"/>
          <p:nvPr/>
        </p:nvSpPr>
        <p:spPr>
          <a:xfrm>
            <a:off x="4480560" y="1581912"/>
            <a:ext cx="7178040" cy="786384"/>
          </a:xfrm>
          <a:prstGeom prst="rect">
            <a:avLst/>
          </a:prstGeom>
          <a:noFill/>
          <a:ln/>
        </p:spPr>
        <p:txBody>
          <a:bodyPr wrap="square" lIns="0" tIns="0" rIns="0" bIns="0" rtlCol="0" anchor="ctr"/>
          <a:lstStyle/>
          <a:p>
            <a:pPr indent="0" marL="0">
              <a:lnSpc>
                <a:spcPct val="105000"/>
              </a:lnSpc>
              <a:buNone/>
            </a:pPr>
            <a:r>
              <a:rPr lang="en-US" sz="1200" dirty="0">
                <a:solidFill>
                  <a:srgbClr val="22252B"/>
                </a:solidFill>
                <a:latin typeface="Calibri" pitchFamily="34" charset="0"/>
                <a:ea typeface="Calibri" pitchFamily="34" charset="-122"/>
                <a:cs typeface="Calibri" pitchFamily="34" charset="-120"/>
              </a:rPr>
              <a:t>Every number, name, date, amount and claim — against the source document or system, not against the AI.</a:t>
            </a:r>
            <a:endParaRPr lang="en-US" sz="1200" dirty="0"/>
          </a:p>
        </p:txBody>
      </p:sp>
      <p:sp>
        <p:nvSpPr>
          <p:cNvPr id="10" name="Shape 8"/>
          <p:cNvSpPr/>
          <p:nvPr/>
        </p:nvSpPr>
        <p:spPr>
          <a:xfrm>
            <a:off x="640080" y="2532888"/>
            <a:ext cx="658368" cy="749808"/>
          </a:xfrm>
          <a:prstGeom prst="roundRect">
            <a:avLst>
              <a:gd name="adj" fmla="val 16667"/>
            </a:avLst>
          </a:prstGeom>
          <a:solidFill>
            <a:srgbClr val="29BA74"/>
          </a:solidFill>
          <a:ln/>
        </p:spPr>
      </p:sp>
      <p:sp>
        <p:nvSpPr>
          <p:cNvPr id="11" name="Text 9"/>
          <p:cNvSpPr txBox="1"/>
          <p:nvPr/>
        </p:nvSpPr>
        <p:spPr>
          <a:xfrm>
            <a:off x="640080" y="2532888"/>
            <a:ext cx="658368" cy="749808"/>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H</a:t>
            </a:r>
            <a:endParaRPr lang="en-US" sz="2800" dirty="0"/>
          </a:p>
        </p:txBody>
      </p:sp>
      <p:sp>
        <p:nvSpPr>
          <p:cNvPr id="12" name="Text 10"/>
          <p:cNvSpPr txBox="1"/>
          <p:nvPr/>
        </p:nvSpPr>
        <p:spPr>
          <a:xfrm>
            <a:off x="1508760" y="2514600"/>
            <a:ext cx="2834640" cy="786384"/>
          </a:xfrm>
          <a:prstGeom prst="rect">
            <a:avLst/>
          </a:prstGeom>
          <a:noFill/>
          <a:ln/>
        </p:spPr>
        <p:txBody>
          <a:bodyPr wrap="square" lIns="0" tIns="0" rIns="0" bIns="0" rtlCol="0" anchor="ctr"/>
          <a:lstStyle/>
          <a:p>
            <a:pPr indent="0" marL="0">
              <a:buNone/>
            </a:pPr>
            <a:r>
              <a:rPr lang="en-US" sz="1500" b="1" dirty="0">
                <a:solidFill>
                  <a:srgbClr val="273370"/>
                </a:solidFill>
                <a:latin typeface="Calibri" pitchFamily="34" charset="0"/>
                <a:ea typeface="Calibri" pitchFamily="34" charset="-122"/>
                <a:cs typeface="Calibri" pitchFamily="34" charset="-120"/>
              </a:rPr>
              <a:t>Hunt the references</a:t>
            </a:r>
            <a:endParaRPr lang="en-US" sz="1500" dirty="0"/>
          </a:p>
        </p:txBody>
      </p:sp>
      <p:sp>
        <p:nvSpPr>
          <p:cNvPr id="13" name="Text 11"/>
          <p:cNvSpPr txBox="1"/>
          <p:nvPr/>
        </p:nvSpPr>
        <p:spPr>
          <a:xfrm>
            <a:off x="4480560" y="2514600"/>
            <a:ext cx="7178040" cy="786384"/>
          </a:xfrm>
          <a:prstGeom prst="rect">
            <a:avLst/>
          </a:prstGeom>
          <a:noFill/>
          <a:ln/>
        </p:spPr>
        <p:txBody>
          <a:bodyPr wrap="square" lIns="0" tIns="0" rIns="0" bIns="0" rtlCol="0" anchor="ctr"/>
          <a:lstStyle/>
          <a:p>
            <a:pPr indent="0" marL="0">
              <a:lnSpc>
                <a:spcPct val="105000"/>
              </a:lnSpc>
              <a:buNone/>
            </a:pPr>
            <a:r>
              <a:rPr lang="en-US" sz="1200" dirty="0">
                <a:solidFill>
                  <a:srgbClr val="22252B"/>
                </a:solidFill>
                <a:latin typeface="Calibri" pitchFamily="34" charset="0"/>
                <a:ea typeface="Calibri" pitchFamily="34" charset="-122"/>
                <a:cs typeface="Calibri" pitchFamily="34" charset="-120"/>
              </a:rPr>
              <a:t>Any cited report, law, article or statistic: does it exist? Does it say what the AI claims? If you can't find it, delete it.</a:t>
            </a:r>
            <a:endParaRPr lang="en-US" sz="1200" dirty="0"/>
          </a:p>
        </p:txBody>
      </p:sp>
      <p:sp>
        <p:nvSpPr>
          <p:cNvPr id="14" name="Shape 12"/>
          <p:cNvSpPr/>
          <p:nvPr/>
        </p:nvSpPr>
        <p:spPr>
          <a:xfrm>
            <a:off x="640080" y="3465576"/>
            <a:ext cx="658368" cy="749808"/>
          </a:xfrm>
          <a:prstGeom prst="roundRect">
            <a:avLst>
              <a:gd name="adj" fmla="val 16667"/>
            </a:avLst>
          </a:prstGeom>
          <a:solidFill>
            <a:srgbClr val="FCBD4C"/>
          </a:solidFill>
          <a:ln/>
        </p:spPr>
      </p:sp>
      <p:sp>
        <p:nvSpPr>
          <p:cNvPr id="15" name="Text 13"/>
          <p:cNvSpPr txBox="1"/>
          <p:nvPr/>
        </p:nvSpPr>
        <p:spPr>
          <a:xfrm>
            <a:off x="640080" y="3465576"/>
            <a:ext cx="658368" cy="749808"/>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E</a:t>
            </a:r>
            <a:endParaRPr lang="en-US" sz="2800" dirty="0"/>
          </a:p>
        </p:txBody>
      </p:sp>
      <p:sp>
        <p:nvSpPr>
          <p:cNvPr id="16" name="Text 14"/>
          <p:cNvSpPr txBox="1"/>
          <p:nvPr/>
        </p:nvSpPr>
        <p:spPr>
          <a:xfrm>
            <a:off x="1508760" y="3447288"/>
            <a:ext cx="2834640" cy="786384"/>
          </a:xfrm>
          <a:prstGeom prst="rect">
            <a:avLst/>
          </a:prstGeom>
          <a:noFill/>
          <a:ln/>
        </p:spPr>
        <p:txBody>
          <a:bodyPr wrap="square" lIns="0" tIns="0" rIns="0" bIns="0" rtlCol="0" anchor="ctr"/>
          <a:lstStyle/>
          <a:p>
            <a:pPr indent="0" marL="0">
              <a:buNone/>
            </a:pPr>
            <a:r>
              <a:rPr lang="en-US" sz="1500" b="1" dirty="0">
                <a:solidFill>
                  <a:srgbClr val="273370"/>
                </a:solidFill>
                <a:latin typeface="Calibri" pitchFamily="34" charset="0"/>
                <a:ea typeface="Calibri" pitchFamily="34" charset="-122"/>
                <a:cs typeface="Calibri" pitchFamily="34" charset="-120"/>
              </a:rPr>
              <a:t>Examine the logic</a:t>
            </a:r>
            <a:endParaRPr lang="en-US" sz="1500" dirty="0"/>
          </a:p>
        </p:txBody>
      </p:sp>
      <p:sp>
        <p:nvSpPr>
          <p:cNvPr id="17" name="Text 15"/>
          <p:cNvSpPr txBox="1"/>
          <p:nvPr/>
        </p:nvSpPr>
        <p:spPr>
          <a:xfrm>
            <a:off x="4480560" y="3447288"/>
            <a:ext cx="7178040" cy="786384"/>
          </a:xfrm>
          <a:prstGeom prst="rect">
            <a:avLst/>
          </a:prstGeom>
          <a:noFill/>
          <a:ln/>
        </p:spPr>
        <p:txBody>
          <a:bodyPr wrap="square" lIns="0" tIns="0" rIns="0" bIns="0" rtlCol="0" anchor="ctr"/>
          <a:lstStyle/>
          <a:p>
            <a:pPr indent="0" marL="0">
              <a:lnSpc>
                <a:spcPct val="105000"/>
              </a:lnSpc>
              <a:buNone/>
            </a:pPr>
            <a:r>
              <a:rPr lang="en-US" sz="1200" dirty="0">
                <a:solidFill>
                  <a:srgbClr val="22252B"/>
                </a:solidFill>
                <a:latin typeface="Calibri" pitchFamily="34" charset="0"/>
                <a:ea typeface="Calibri" pitchFamily="34" charset="-122"/>
                <a:cs typeface="Calibri" pitchFamily="34" charset="-120"/>
              </a:rPr>
              <a:t>Do the conclusions follow? Do totals add up? Are comparisons fair? Read as your most skeptical reader will.</a:t>
            </a:r>
            <a:endParaRPr lang="en-US" sz="1200" dirty="0"/>
          </a:p>
        </p:txBody>
      </p:sp>
      <p:sp>
        <p:nvSpPr>
          <p:cNvPr id="18" name="Shape 16"/>
          <p:cNvSpPr/>
          <p:nvPr/>
        </p:nvSpPr>
        <p:spPr>
          <a:xfrm>
            <a:off x="640080" y="4398264"/>
            <a:ext cx="658368" cy="749808"/>
          </a:xfrm>
          <a:prstGeom prst="roundRect">
            <a:avLst>
              <a:gd name="adj" fmla="val 16667"/>
            </a:avLst>
          </a:prstGeom>
          <a:solidFill>
            <a:srgbClr val="6258A6"/>
          </a:solidFill>
          <a:ln/>
        </p:spPr>
      </p:sp>
      <p:sp>
        <p:nvSpPr>
          <p:cNvPr id="19" name="Text 17"/>
          <p:cNvSpPr txBox="1"/>
          <p:nvPr/>
        </p:nvSpPr>
        <p:spPr>
          <a:xfrm>
            <a:off x="640080" y="4398264"/>
            <a:ext cx="658368" cy="749808"/>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C</a:t>
            </a:r>
            <a:endParaRPr lang="en-US" sz="2800" dirty="0"/>
          </a:p>
        </p:txBody>
      </p:sp>
      <p:sp>
        <p:nvSpPr>
          <p:cNvPr id="20" name="Text 18"/>
          <p:cNvSpPr txBox="1"/>
          <p:nvPr/>
        </p:nvSpPr>
        <p:spPr>
          <a:xfrm>
            <a:off x="1508760" y="4379976"/>
            <a:ext cx="2834640" cy="786384"/>
          </a:xfrm>
          <a:prstGeom prst="rect">
            <a:avLst/>
          </a:prstGeom>
          <a:noFill/>
          <a:ln/>
        </p:spPr>
        <p:txBody>
          <a:bodyPr wrap="square" lIns="0" tIns="0" rIns="0" bIns="0" rtlCol="0" anchor="ctr"/>
          <a:lstStyle/>
          <a:p>
            <a:pPr indent="0" marL="0">
              <a:buNone/>
            </a:pPr>
            <a:r>
              <a:rPr lang="en-US" sz="1500" b="1" dirty="0">
                <a:solidFill>
                  <a:srgbClr val="273370"/>
                </a:solidFill>
                <a:latin typeface="Calibri" pitchFamily="34" charset="0"/>
                <a:ea typeface="Calibri" pitchFamily="34" charset="-122"/>
                <a:cs typeface="Calibri" pitchFamily="34" charset="-120"/>
              </a:rPr>
              <a:t>Consider what's missing</a:t>
            </a:r>
            <a:endParaRPr lang="en-US" sz="1500" dirty="0"/>
          </a:p>
        </p:txBody>
      </p:sp>
      <p:sp>
        <p:nvSpPr>
          <p:cNvPr id="21" name="Text 19"/>
          <p:cNvSpPr txBox="1"/>
          <p:nvPr/>
        </p:nvSpPr>
        <p:spPr>
          <a:xfrm>
            <a:off x="4480560" y="4379976"/>
            <a:ext cx="7178040" cy="786384"/>
          </a:xfrm>
          <a:prstGeom prst="rect">
            <a:avLst/>
          </a:prstGeom>
          <a:noFill/>
          <a:ln/>
        </p:spPr>
        <p:txBody>
          <a:bodyPr wrap="square" lIns="0" tIns="0" rIns="0" bIns="0" rtlCol="0" anchor="ctr"/>
          <a:lstStyle/>
          <a:p>
            <a:pPr indent="0" marL="0">
              <a:lnSpc>
                <a:spcPct val="105000"/>
              </a:lnSpc>
              <a:buNone/>
            </a:pPr>
            <a:r>
              <a:rPr lang="en-US" sz="1200" dirty="0">
                <a:solidFill>
                  <a:srgbClr val="22252B"/>
                </a:solidFill>
                <a:latin typeface="Calibri" pitchFamily="34" charset="0"/>
                <a:ea typeface="Calibri" pitchFamily="34" charset="-122"/>
                <a:cs typeface="Calibri" pitchFamily="34" charset="-120"/>
              </a:rPr>
              <a:t>What did the AI leave out — context, exceptions, the other side, the inconvenient number?</a:t>
            </a:r>
            <a:endParaRPr lang="en-US" sz="1200" dirty="0"/>
          </a:p>
        </p:txBody>
      </p:sp>
      <p:sp>
        <p:nvSpPr>
          <p:cNvPr id="22" name="Shape 20"/>
          <p:cNvSpPr/>
          <p:nvPr/>
        </p:nvSpPr>
        <p:spPr>
          <a:xfrm>
            <a:off x="640080" y="5330952"/>
            <a:ext cx="658368" cy="749808"/>
          </a:xfrm>
          <a:prstGeom prst="roundRect">
            <a:avLst>
              <a:gd name="adj" fmla="val 16667"/>
            </a:avLst>
          </a:prstGeom>
          <a:solidFill>
            <a:srgbClr val="D45C5C"/>
          </a:solidFill>
          <a:ln/>
        </p:spPr>
      </p:sp>
      <p:sp>
        <p:nvSpPr>
          <p:cNvPr id="23" name="Text 21"/>
          <p:cNvSpPr txBox="1"/>
          <p:nvPr/>
        </p:nvSpPr>
        <p:spPr>
          <a:xfrm>
            <a:off x="640080" y="5330952"/>
            <a:ext cx="658368" cy="749808"/>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K</a:t>
            </a:r>
            <a:endParaRPr lang="en-US" sz="2800" dirty="0"/>
          </a:p>
        </p:txBody>
      </p:sp>
      <p:sp>
        <p:nvSpPr>
          <p:cNvPr id="24" name="Text 22"/>
          <p:cNvSpPr txBox="1"/>
          <p:nvPr/>
        </p:nvSpPr>
        <p:spPr>
          <a:xfrm>
            <a:off x="1508760" y="5312664"/>
            <a:ext cx="2834640" cy="786384"/>
          </a:xfrm>
          <a:prstGeom prst="rect">
            <a:avLst/>
          </a:prstGeom>
          <a:noFill/>
          <a:ln/>
        </p:spPr>
        <p:txBody>
          <a:bodyPr wrap="square" lIns="0" tIns="0" rIns="0" bIns="0" rtlCol="0" anchor="ctr"/>
          <a:lstStyle/>
          <a:p>
            <a:pPr indent="0" marL="0">
              <a:buNone/>
            </a:pPr>
            <a:r>
              <a:rPr lang="en-US" sz="1500" b="1" dirty="0">
                <a:solidFill>
                  <a:srgbClr val="273370"/>
                </a:solidFill>
                <a:latin typeface="Calibri" pitchFamily="34" charset="0"/>
                <a:ea typeface="Calibri" pitchFamily="34" charset="-122"/>
                <a:cs typeface="Calibri" pitchFamily="34" charset="-120"/>
              </a:rPr>
              <a:t>Keep accountability</a:t>
            </a:r>
            <a:endParaRPr lang="en-US" sz="1500" dirty="0"/>
          </a:p>
        </p:txBody>
      </p:sp>
      <p:sp>
        <p:nvSpPr>
          <p:cNvPr id="25" name="Text 23"/>
          <p:cNvSpPr txBox="1"/>
          <p:nvPr/>
        </p:nvSpPr>
        <p:spPr>
          <a:xfrm>
            <a:off x="4480560" y="5312664"/>
            <a:ext cx="7178040" cy="786384"/>
          </a:xfrm>
          <a:prstGeom prst="rect">
            <a:avLst/>
          </a:prstGeom>
          <a:noFill/>
          <a:ln/>
        </p:spPr>
        <p:txBody>
          <a:bodyPr wrap="square" lIns="0" tIns="0" rIns="0" bIns="0" rtlCol="0" anchor="ctr"/>
          <a:lstStyle/>
          <a:p>
            <a:pPr indent="0" marL="0">
              <a:lnSpc>
                <a:spcPct val="105000"/>
              </a:lnSpc>
              <a:buNone/>
            </a:pPr>
            <a:r>
              <a:rPr lang="en-US" sz="1200" dirty="0">
                <a:solidFill>
                  <a:srgbClr val="22252B"/>
                </a:solidFill>
                <a:latin typeface="Calibri" pitchFamily="34" charset="0"/>
                <a:ea typeface="Calibri" pitchFamily="34" charset="-122"/>
                <a:cs typeface="Calibri" pitchFamily="34" charset="-120"/>
              </a:rPr>
              <a:t>Final pass as the author of record: would you defend every sentence to your director? Then sign it.</a:t>
            </a:r>
            <a:endParaRPr lang="en-US" sz="1200" dirty="0"/>
          </a:p>
        </p:txBody>
      </p:sp>
      <p:sp>
        <p:nvSpPr>
          <p:cNvPr id="26" name="Text 24"/>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27" name="Text 25"/>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61</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Demo 5 — Fact-checking an AI answer, live</a:t>
            </a:r>
            <a:endParaRPr lang="en-US" sz="3000" dirty="0"/>
          </a:p>
        </p:txBody>
      </p:sp>
      <p:sp>
        <p:nvSpPr>
          <p:cNvPr id="3" name="Shape 1"/>
          <p:cNvSpPr/>
          <p:nvPr/>
        </p:nvSpPr>
        <p:spPr>
          <a:xfrm>
            <a:off x="10881360" y="457200"/>
            <a:ext cx="804672" cy="384048"/>
          </a:xfrm>
          <a:prstGeom prst="roundRect">
            <a:avLst>
              <a:gd name="adj" fmla="val 50000"/>
            </a:avLst>
          </a:prstGeom>
          <a:solidFill>
            <a:srgbClr val="FCBD4C"/>
          </a:solidFill>
          <a:ln/>
        </p:spPr>
      </p:sp>
      <p:sp>
        <p:nvSpPr>
          <p:cNvPr id="4" name="Text 2"/>
          <p:cNvSpPr txBox="1"/>
          <p:nvPr/>
        </p:nvSpPr>
        <p:spPr>
          <a:xfrm>
            <a:off x="10881360" y="457200"/>
            <a:ext cx="804672" cy="384048"/>
          </a:xfrm>
          <a:prstGeom prst="rect">
            <a:avLst/>
          </a:prstGeom>
          <a:noFill/>
          <a:ln/>
        </p:spPr>
        <p:txBody>
          <a:bodyPr wrap="square" lIns="0" tIns="0" rIns="0" bIns="0" rtlCol="0" anchor="ctr"/>
          <a:lstStyle/>
          <a:p>
            <a:pPr algn="ctr" indent="0" marL="0">
              <a:buNone/>
            </a:pPr>
            <a:r>
              <a:rPr lang="en-US" sz="1200" b="1" dirty="0">
                <a:solidFill>
                  <a:srgbClr val="131938"/>
                </a:solidFill>
                <a:latin typeface="Calibri" pitchFamily="34" charset="0"/>
                <a:ea typeface="Calibri" pitchFamily="34" charset="-122"/>
                <a:cs typeface="Calibri" pitchFamily="34" charset="-120"/>
              </a:rPr>
              <a:t>DEMO</a:t>
            </a:r>
            <a:endParaRPr lang="en-US" sz="1200" dirty="0"/>
          </a:p>
        </p:txBody>
      </p:sp>
      <p:sp>
        <p:nvSpPr>
          <p:cNvPr id="5" name="Shape 3"/>
          <p:cNvSpPr/>
          <p:nvPr/>
        </p:nvSpPr>
        <p:spPr>
          <a:xfrm>
            <a:off x="502920" y="1463040"/>
            <a:ext cx="11201400" cy="2377440"/>
          </a:xfrm>
          <a:prstGeom prst="roundRect">
            <a:avLst>
              <a:gd name="adj" fmla="val 3077"/>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502920" y="1463040"/>
            <a:ext cx="11201400" cy="420624"/>
          </a:xfrm>
          <a:prstGeom prst="roundRect">
            <a:avLst>
              <a:gd name="adj" fmla="val 17391"/>
            </a:avLst>
          </a:prstGeom>
          <a:solidFill>
            <a:srgbClr val="FCBD4C"/>
          </a:solidFill>
          <a:ln/>
        </p:spPr>
      </p:sp>
      <p:sp>
        <p:nvSpPr>
          <p:cNvPr id="7" name="Shape 5"/>
          <p:cNvSpPr/>
          <p:nvPr/>
        </p:nvSpPr>
        <p:spPr>
          <a:xfrm>
            <a:off x="502920" y="1673352"/>
            <a:ext cx="11201400" cy="210312"/>
          </a:xfrm>
          <a:prstGeom prst="rect">
            <a:avLst/>
          </a:prstGeom>
          <a:solidFill>
            <a:srgbClr val="FCBD4C"/>
          </a:solidFill>
          <a:ln/>
        </p:spPr>
      </p:sp>
      <p:sp>
        <p:nvSpPr>
          <p:cNvPr id="8" name="Text 6"/>
          <p:cNvSpPr txBox="1"/>
          <p:nvPr/>
        </p:nvSpPr>
        <p:spPr>
          <a:xfrm>
            <a:off x="640080" y="1463040"/>
            <a:ext cx="1092708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Trainer will demonstrate</a:t>
            </a:r>
            <a:endParaRPr lang="en-US" sz="1400" dirty="0"/>
          </a:p>
        </p:txBody>
      </p:sp>
      <p:sp>
        <p:nvSpPr>
          <p:cNvPr id="9" name="Text 7"/>
          <p:cNvSpPr txBox="1"/>
          <p:nvPr/>
        </p:nvSpPr>
        <p:spPr>
          <a:xfrm>
            <a:off x="777240" y="2084832"/>
            <a:ext cx="10607040" cy="1645920"/>
          </a:xfrm>
          <a:prstGeom prst="rect">
            <a:avLst/>
          </a:prstGeom>
          <a:noFill/>
          <a:ln/>
        </p:spPr>
        <p:txBody>
          <a:bodyPr wrap="square" lIns="0" tIns="0" rIns="0" bIns="0" rtlCol="0" anchor="t"/>
          <a:lstStyle/>
          <a:p>
            <a:pPr marL="152400" indent="-152400">
              <a:lnSpc>
                <a:spcPct val="105000"/>
              </a:lnSpc>
              <a:spcAft>
                <a:spcPts val="800"/>
              </a:spcAft>
              <a:buSzPct val="100000"/>
              <a:buChar char="•"/>
            </a:pPr>
            <a:r>
              <a:rPr lang="en-US" sz="1250" dirty="0">
                <a:solidFill>
                  <a:srgbClr val="22252B"/>
                </a:solidFill>
                <a:latin typeface="Calibri" pitchFamily="34" charset="0"/>
                <a:ea typeface="Calibri" pitchFamily="34" charset="-122"/>
                <a:cs typeface="Calibri" pitchFamily="34" charset="-120"/>
              </a:rPr>
              <a:t>Ask the AI a factual question with citation: “What share of Saudi Arabia's workforce received formal training in 2025? Give your source.” — then try to find the cited source.</a:t>
            </a:r>
            <a:endParaRPr lang="en-US" sz="1250" dirty="0"/>
          </a:p>
          <a:p>
            <a:pPr marL="152400" indent="-152400">
              <a:lnSpc>
                <a:spcPct val="105000"/>
              </a:lnSpc>
              <a:spcAft>
                <a:spcPts val="800"/>
              </a:spcAft>
              <a:buSzPct val="100000"/>
              <a:buChar char="•"/>
            </a:pPr>
            <a:r>
              <a:rPr lang="en-US" sz="1250" dirty="0">
                <a:solidFill>
                  <a:srgbClr val="22252B"/>
                </a:solidFill>
                <a:latin typeface="Calibri" pitchFamily="34" charset="0"/>
                <a:ea typeface="Calibri" pitchFamily="34" charset="-122"/>
                <a:cs typeface="Calibri" pitchFamily="34" charset="-120"/>
              </a:rPr>
              <a:t>Ask the same model to critique itself: “Which parts of your last answer are you least certain about?” — note what it flags (and what it doesn't).</a:t>
            </a:r>
            <a:endParaRPr lang="en-US" sz="1250" dirty="0"/>
          </a:p>
          <a:p>
            <a:pPr marL="152400" indent="-152400">
              <a:lnSpc>
                <a:spcPct val="105000"/>
              </a:lnSpc>
              <a:spcAft>
                <a:spcPts val="800"/>
              </a:spcAft>
              <a:buSzPct val="100000"/>
              <a:buChar char="•"/>
            </a:pPr>
            <a:r>
              <a:rPr lang="en-US" sz="1250" dirty="0">
                <a:solidFill>
                  <a:srgbClr val="22252B"/>
                </a:solidFill>
                <a:latin typeface="Calibri" pitchFamily="34" charset="0"/>
                <a:ea typeface="Calibri" pitchFamily="34" charset="-122"/>
                <a:cs typeface="Calibri" pitchFamily="34" charset="-120"/>
              </a:rPr>
              <a:t>Verify one claim properly: original source lookup (official statistics portal / publisher), not another AI.</a:t>
            </a:r>
            <a:endParaRPr lang="en-US" sz="1250" dirty="0"/>
          </a:p>
        </p:txBody>
      </p:sp>
      <p:sp>
        <p:nvSpPr>
          <p:cNvPr id="10" name="Shape 8"/>
          <p:cNvSpPr/>
          <p:nvPr/>
        </p:nvSpPr>
        <p:spPr>
          <a:xfrm>
            <a:off x="502920" y="4069080"/>
            <a:ext cx="11201400" cy="1965960"/>
          </a:xfrm>
          <a:prstGeom prst="roundRect">
            <a:avLst>
              <a:gd name="adj" fmla="val 3721"/>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1" name="Shape 9"/>
          <p:cNvSpPr/>
          <p:nvPr/>
        </p:nvSpPr>
        <p:spPr>
          <a:xfrm>
            <a:off x="502920" y="4069080"/>
            <a:ext cx="11201400" cy="420624"/>
          </a:xfrm>
          <a:prstGeom prst="roundRect">
            <a:avLst>
              <a:gd name="adj" fmla="val 17391"/>
            </a:avLst>
          </a:prstGeom>
          <a:solidFill>
            <a:srgbClr val="273370"/>
          </a:solidFill>
          <a:ln/>
        </p:spPr>
      </p:sp>
      <p:sp>
        <p:nvSpPr>
          <p:cNvPr id="12" name="Shape 10"/>
          <p:cNvSpPr/>
          <p:nvPr/>
        </p:nvSpPr>
        <p:spPr>
          <a:xfrm>
            <a:off x="502920" y="4279392"/>
            <a:ext cx="11201400" cy="210312"/>
          </a:xfrm>
          <a:prstGeom prst="rect">
            <a:avLst/>
          </a:prstGeom>
          <a:solidFill>
            <a:srgbClr val="273370"/>
          </a:solidFill>
          <a:ln/>
        </p:spPr>
      </p:sp>
      <p:sp>
        <p:nvSpPr>
          <p:cNvPr id="13" name="Text 11"/>
          <p:cNvSpPr txBox="1"/>
          <p:nvPr/>
        </p:nvSpPr>
        <p:spPr>
          <a:xfrm>
            <a:off x="640080" y="4069080"/>
            <a:ext cx="1092708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lessons</a:t>
            </a:r>
            <a:endParaRPr lang="en-US" sz="1400" dirty="0"/>
          </a:p>
        </p:txBody>
      </p:sp>
      <p:sp>
        <p:nvSpPr>
          <p:cNvPr id="14" name="Text 12"/>
          <p:cNvSpPr txBox="1"/>
          <p:nvPr/>
        </p:nvSpPr>
        <p:spPr>
          <a:xfrm>
            <a:off x="777240" y="4663440"/>
            <a:ext cx="10607040" cy="1188720"/>
          </a:xfrm>
          <a:prstGeom prst="rect">
            <a:avLst/>
          </a:prstGeom>
          <a:noFill/>
          <a:ln/>
        </p:spPr>
        <p:txBody>
          <a:bodyPr wrap="square" lIns="0" tIns="0" rIns="0" bIns="0" rtlCol="0" anchor="t"/>
          <a:lstStyle/>
          <a:p>
            <a:pPr marL="152400" indent="-152400">
              <a:lnSpc>
                <a:spcPct val="105000"/>
              </a:lnSpc>
              <a:spcAft>
                <a:spcPts val="1000"/>
              </a:spcAft>
              <a:buSzPct val="100000"/>
              <a:buChar char="•"/>
            </a:pPr>
            <a:r>
              <a:rPr lang="en-US" sz="1300" dirty="0">
                <a:solidFill>
                  <a:srgbClr val="22252B"/>
                </a:solidFill>
                <a:latin typeface="Calibri" pitchFamily="34" charset="0"/>
                <a:ea typeface="Calibri" pitchFamily="34" charset="-122"/>
                <a:cs typeface="Calibri" pitchFamily="34" charset="-120"/>
              </a:rPr>
              <a:t>A confident answer with a specific-looking source can still be invented — the citation format proves nothing.</a:t>
            </a:r>
            <a:endParaRPr lang="en-US" sz="1300" dirty="0"/>
          </a:p>
          <a:p>
            <a:pPr marL="152400" indent="-152400">
              <a:lnSpc>
                <a:spcPct val="105000"/>
              </a:lnSpc>
              <a:spcAft>
                <a:spcPts val="1000"/>
              </a:spcAft>
              <a:buSzPct val="100000"/>
              <a:buChar char="•"/>
            </a:pPr>
            <a:r>
              <a:rPr lang="en-US" sz="1300" dirty="0">
                <a:solidFill>
                  <a:srgbClr val="22252B"/>
                </a:solidFill>
                <a:latin typeface="Calibri" pitchFamily="34" charset="0"/>
                <a:ea typeface="Calibri" pitchFamily="34" charset="-122"/>
                <a:cs typeface="Calibri" pitchFamily="34" charset="-120"/>
              </a:rPr>
              <a:t>“Ask the AI to verify itself” is a useful first filter and an unacceptable final check.</a:t>
            </a:r>
            <a:endParaRPr lang="en-US" sz="1300" dirty="0"/>
          </a:p>
        </p:txBody>
      </p:sp>
      <p:sp>
        <p:nvSpPr>
          <p:cNvPr id="15" name="Text 13"/>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16" name="Text 14"/>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62</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Activity 3.2 — Spot the errors</a:t>
            </a:r>
            <a:endParaRPr lang="en-US" sz="3000" dirty="0"/>
          </a:p>
        </p:txBody>
      </p:sp>
      <p:sp>
        <p:nvSpPr>
          <p:cNvPr id="3" name="Text 1"/>
          <p:cNvSpPr txBox="1"/>
          <p:nvPr/>
        </p:nvSpPr>
        <p:spPr>
          <a:xfrm>
            <a:off x="502920" y="987552"/>
            <a:ext cx="11155680" cy="365760"/>
          </a:xfrm>
          <a:prstGeom prst="rect">
            <a:avLst/>
          </a:prstGeom>
          <a:noFill/>
          <a:ln/>
        </p:spPr>
        <p:txBody>
          <a:bodyPr wrap="square" lIns="0" tIns="0" rIns="0" bIns="0" rtlCol="0" anchor="ctr"/>
          <a:lstStyle/>
          <a:p>
            <a:pPr indent="0" marL="0">
              <a:buNone/>
            </a:pPr>
            <a:r>
              <a:rPr lang="en-US" sz="1400" dirty="0">
                <a:solidFill>
                  <a:srgbClr val="696969"/>
                </a:solidFill>
                <a:latin typeface="Calibri" pitchFamily="34" charset="0"/>
                <a:ea typeface="Calibri" pitchFamily="34" charset="-122"/>
                <a:cs typeface="Calibri" pitchFamily="34" charset="-120"/>
              </a:rPr>
              <a:t>Pairs • 30 minutes • File: draft_report_for_review.docx • Workbook p. 9</a:t>
            </a:r>
            <a:endParaRPr lang="en-US" sz="1400" dirty="0"/>
          </a:p>
        </p:txBody>
      </p:sp>
      <p:sp>
        <p:nvSpPr>
          <p:cNvPr id="4" name="Shape 2"/>
          <p:cNvSpPr/>
          <p:nvPr/>
        </p:nvSpPr>
        <p:spPr>
          <a:xfrm>
            <a:off x="10460736" y="457200"/>
            <a:ext cx="1225296" cy="384048"/>
          </a:xfrm>
          <a:prstGeom prst="roundRect">
            <a:avLst>
              <a:gd name="adj" fmla="val 50000"/>
            </a:avLst>
          </a:prstGeom>
          <a:solidFill>
            <a:srgbClr val="29BA74"/>
          </a:solidFill>
          <a:ln/>
        </p:spPr>
      </p:sp>
      <p:sp>
        <p:nvSpPr>
          <p:cNvPr id="5" name="Text 3"/>
          <p:cNvSpPr txBox="1"/>
          <p:nvPr/>
        </p:nvSpPr>
        <p:spPr>
          <a:xfrm>
            <a:off x="10460736" y="457200"/>
            <a:ext cx="1225296"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ACTIVITY</a:t>
            </a:r>
            <a:endParaRPr lang="en-US" sz="1200" dirty="0"/>
          </a:p>
        </p:txBody>
      </p:sp>
      <p:sp>
        <p:nvSpPr>
          <p:cNvPr id="6" name="Shape 4"/>
          <p:cNvSpPr/>
          <p:nvPr/>
        </p:nvSpPr>
        <p:spPr>
          <a:xfrm>
            <a:off x="502920" y="1463040"/>
            <a:ext cx="6583680" cy="4572000"/>
          </a:xfrm>
          <a:prstGeom prst="roundRect">
            <a:avLst>
              <a:gd name="adj" fmla="val 1600"/>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502920" y="1463040"/>
            <a:ext cx="6583680" cy="420624"/>
          </a:xfrm>
          <a:prstGeom prst="roundRect">
            <a:avLst>
              <a:gd name="adj" fmla="val 17391"/>
            </a:avLst>
          </a:prstGeom>
          <a:solidFill>
            <a:srgbClr val="29BA74"/>
          </a:solidFill>
          <a:ln/>
        </p:spPr>
      </p:sp>
      <p:sp>
        <p:nvSpPr>
          <p:cNvPr id="8" name="Shape 6"/>
          <p:cNvSpPr/>
          <p:nvPr/>
        </p:nvSpPr>
        <p:spPr>
          <a:xfrm>
            <a:off x="502920" y="1673352"/>
            <a:ext cx="6583680" cy="210312"/>
          </a:xfrm>
          <a:prstGeom prst="rect">
            <a:avLst/>
          </a:prstGeom>
          <a:solidFill>
            <a:srgbClr val="29BA74"/>
          </a:solidFill>
          <a:ln/>
        </p:spPr>
      </p:sp>
      <p:sp>
        <p:nvSpPr>
          <p:cNvPr id="9" name="Text 7"/>
          <p:cNvSpPr txBox="1"/>
          <p:nvPr/>
        </p:nvSpPr>
        <p:spPr>
          <a:xfrm>
            <a:off x="640080" y="1463040"/>
            <a:ext cx="630936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Your task</a:t>
            </a:r>
            <a:endParaRPr lang="en-US" sz="1400" dirty="0"/>
          </a:p>
        </p:txBody>
      </p:sp>
      <p:sp>
        <p:nvSpPr>
          <p:cNvPr id="10" name="Text 8"/>
          <p:cNvSpPr txBox="1"/>
          <p:nvPr/>
        </p:nvSpPr>
        <p:spPr>
          <a:xfrm>
            <a:off x="777240" y="2057400"/>
            <a:ext cx="6035040" cy="3794760"/>
          </a:xfrm>
          <a:prstGeom prst="rect">
            <a:avLst/>
          </a:prstGeom>
          <a:noFill/>
          <a:ln/>
        </p:spPr>
        <p:txBody>
          <a:bodyPr wrap="square" lIns="0" tIns="0" rIns="0" bIns="0" rtlCol="0" anchor="t"/>
          <a:lstStyle/>
          <a:p>
            <a:pPr marL="152400" indent="-152400">
              <a:lnSpc>
                <a:spcPct val="105000"/>
              </a:lnSpc>
              <a:spcAft>
                <a:spcPts val="500"/>
              </a:spcAft>
              <a:buSzPct val="100000"/>
              <a:buChar char="•"/>
            </a:pPr>
            <a:r>
              <a:rPr lang="en-US" sz="1150" dirty="0">
                <a:solidFill>
                  <a:srgbClr val="22252B"/>
                </a:solidFill>
                <a:latin typeface="Calibri" pitchFamily="34" charset="0"/>
                <a:ea typeface="Calibri" pitchFamily="34" charset="-122"/>
                <a:cs typeface="Calibri" pitchFamily="34" charset="-120"/>
              </a:rPr>
              <a:t>An AI-drafted half-year training report is about to go to senior management. The file includes a verified data box (trusted) and the draft (untrusted).</a:t>
            </a:r>
            <a:endParaRPr lang="en-US" sz="1150" dirty="0"/>
          </a:p>
          <a:p>
            <a:pPr marL="152400" indent="-152400">
              <a:lnSpc>
                <a:spcPct val="105000"/>
              </a:lnSpc>
              <a:spcAft>
                <a:spcPts val="500"/>
              </a:spcAft>
              <a:buSzPct val="100000"/>
              <a:buChar char="•"/>
            </a:pPr>
            <a:r>
              <a:rPr lang="en-US" sz="1150" b="1" dirty="0">
                <a:solidFill>
                  <a:srgbClr val="22252B"/>
                </a:solidFill>
                <a:latin typeface="Calibri" pitchFamily="34" charset="0"/>
                <a:ea typeface="Calibri" pitchFamily="34" charset="-122"/>
                <a:cs typeface="Calibri" pitchFamily="34" charset="-120"/>
              </a:rPr>
              <a:t>Step 1 (15 min):</a:t>
            </a:r>
            <a:endParaRPr lang="en-US" sz="1150" dirty="0"/>
          </a:p>
          <a:p>
            <a:pPr marL="152400" indent="-152400">
              <a:lnSpc>
                <a:spcPct val="105000"/>
              </a:lnSpc>
              <a:spcAft>
                <a:spcPts val="500"/>
              </a:spcAft>
              <a:buSzPct val="100000"/>
              <a:buChar char="•"/>
            </a:pPr>
            <a:r>
              <a:rPr lang="en-US" sz="1150" dirty="0">
                <a:solidFill>
                  <a:srgbClr val="22252B"/>
                </a:solidFill>
                <a:latin typeface="Calibri" pitchFamily="34" charset="0"/>
                <a:ea typeface="Calibri" pitchFamily="34" charset="-122"/>
                <a:cs typeface="Calibri" pitchFamily="34" charset="-120"/>
              </a:rPr>
              <a:t>Apply CHECK. Find every problem: wrong figures, invented references, unsupported claims, biased statements, logical leaps, wrong dates. List them in the workbook table.</a:t>
            </a:r>
            <a:endParaRPr lang="en-US" sz="1150" dirty="0"/>
          </a:p>
          <a:p>
            <a:pPr marL="152400" indent="-152400">
              <a:lnSpc>
                <a:spcPct val="105000"/>
              </a:lnSpc>
              <a:spcAft>
                <a:spcPts val="500"/>
              </a:spcAft>
              <a:buSzPct val="100000"/>
              <a:buChar char="•"/>
            </a:pPr>
            <a:r>
              <a:rPr lang="en-US" sz="1150" b="1" dirty="0">
                <a:solidFill>
                  <a:srgbClr val="22252B"/>
                </a:solidFill>
                <a:latin typeface="Calibri" pitchFamily="34" charset="0"/>
                <a:ea typeface="Calibri" pitchFamily="34" charset="-122"/>
                <a:cs typeface="Calibri" pitchFamily="34" charset="-120"/>
              </a:rPr>
              <a:t>Step 2 (10 min):</a:t>
            </a:r>
            <a:endParaRPr lang="en-US" sz="1150" dirty="0"/>
          </a:p>
          <a:p>
            <a:pPr marL="152400" indent="-152400">
              <a:lnSpc>
                <a:spcPct val="105000"/>
              </a:lnSpc>
              <a:spcAft>
                <a:spcPts val="500"/>
              </a:spcAft>
              <a:buSzPct val="100000"/>
              <a:buChar char="•"/>
            </a:pPr>
            <a:r>
              <a:rPr lang="en-US" sz="1150" dirty="0">
                <a:solidFill>
                  <a:srgbClr val="22252B"/>
                </a:solidFill>
                <a:latin typeface="Calibri" pitchFamily="34" charset="0"/>
                <a:ea typeface="Calibri" pitchFamily="34" charset="-122"/>
                <a:cs typeface="Calibri" pitchFamily="34" charset="-120"/>
              </a:rPr>
              <a:t>Use AI to help: paste both parts and ask it to audit the draft against the data. Did it find problems you missed — or miss ones you found?</a:t>
            </a:r>
            <a:endParaRPr lang="en-US" sz="1150" dirty="0"/>
          </a:p>
          <a:p>
            <a:pPr marL="152400" indent="-152400">
              <a:lnSpc>
                <a:spcPct val="105000"/>
              </a:lnSpc>
              <a:spcAft>
                <a:spcPts val="500"/>
              </a:spcAft>
              <a:buSzPct val="100000"/>
              <a:buChar char="•"/>
            </a:pPr>
            <a:r>
              <a:rPr lang="en-US" sz="1150" b="1" dirty="0">
                <a:solidFill>
                  <a:srgbClr val="22252B"/>
                </a:solidFill>
                <a:latin typeface="Calibri" pitchFamily="34" charset="0"/>
                <a:ea typeface="Calibri" pitchFamily="34" charset="-122"/>
                <a:cs typeface="Calibri" pitchFamily="34" charset="-120"/>
              </a:rPr>
              <a:t>Step 3 (5 min):</a:t>
            </a:r>
            <a:endParaRPr lang="en-US" sz="1150" dirty="0"/>
          </a:p>
          <a:p>
            <a:pPr marL="152400" indent="-152400">
              <a:lnSpc>
                <a:spcPct val="105000"/>
              </a:lnSpc>
              <a:spcAft>
                <a:spcPts val="500"/>
              </a:spcAft>
              <a:buSzPct val="100000"/>
              <a:buChar char="•"/>
            </a:pPr>
            <a:r>
              <a:rPr lang="en-US" sz="1150" dirty="0">
                <a:solidFill>
                  <a:srgbClr val="22252B"/>
                </a:solidFill>
                <a:latin typeface="Calibri" pitchFamily="34" charset="0"/>
                <a:ea typeface="Calibri" pitchFamily="34" charset="-122"/>
                <a:cs typeface="Calibri" pitchFamily="34" charset="-120"/>
              </a:rPr>
              <a:t>Rewrite the two worst sentences correctly.</a:t>
            </a:r>
            <a:endParaRPr lang="en-US" sz="1150" dirty="0"/>
          </a:p>
        </p:txBody>
      </p:sp>
      <p:sp>
        <p:nvSpPr>
          <p:cNvPr id="11" name="Shape 9"/>
          <p:cNvSpPr/>
          <p:nvPr/>
        </p:nvSpPr>
        <p:spPr>
          <a:xfrm>
            <a:off x="7315200" y="1463040"/>
            <a:ext cx="4389120" cy="2286000"/>
          </a:xfrm>
          <a:prstGeom prst="roundRect">
            <a:avLst>
              <a:gd name="adj" fmla="val 3200"/>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7315200" y="1463040"/>
            <a:ext cx="4389120" cy="420624"/>
          </a:xfrm>
          <a:prstGeom prst="roundRect">
            <a:avLst>
              <a:gd name="adj" fmla="val 17391"/>
            </a:avLst>
          </a:prstGeom>
          <a:solidFill>
            <a:srgbClr val="273370"/>
          </a:solidFill>
          <a:ln/>
        </p:spPr>
      </p:sp>
      <p:sp>
        <p:nvSpPr>
          <p:cNvPr id="13" name="Shape 11"/>
          <p:cNvSpPr/>
          <p:nvPr/>
        </p:nvSpPr>
        <p:spPr>
          <a:xfrm>
            <a:off x="7315200" y="1673352"/>
            <a:ext cx="4389120" cy="210312"/>
          </a:xfrm>
          <a:prstGeom prst="rect">
            <a:avLst/>
          </a:prstGeom>
          <a:solidFill>
            <a:srgbClr val="273370"/>
          </a:solidFill>
          <a:ln/>
        </p:spPr>
      </p:sp>
      <p:sp>
        <p:nvSpPr>
          <p:cNvPr id="14" name="Text 12"/>
          <p:cNvSpPr txBox="1"/>
          <p:nvPr/>
        </p:nvSpPr>
        <p:spPr>
          <a:xfrm>
            <a:off x="7452360" y="1463040"/>
            <a:ext cx="411480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Expected output</a:t>
            </a:r>
            <a:endParaRPr lang="en-US" sz="1400" dirty="0"/>
          </a:p>
        </p:txBody>
      </p:sp>
      <p:sp>
        <p:nvSpPr>
          <p:cNvPr id="15" name="Text 13"/>
          <p:cNvSpPr txBox="1"/>
          <p:nvPr/>
        </p:nvSpPr>
        <p:spPr>
          <a:xfrm>
            <a:off x="7589520" y="2057400"/>
            <a:ext cx="3840480" cy="1554480"/>
          </a:xfrm>
          <a:prstGeom prst="rect">
            <a:avLst/>
          </a:prstGeom>
          <a:noFill/>
          <a:ln/>
        </p:spPr>
        <p:txBody>
          <a:bodyPr wrap="square" lIns="0" tIns="0" rIns="0" bIns="0" rtlCol="0" anchor="t"/>
          <a:lstStyle/>
          <a:p>
            <a:pPr marL="152400" indent="-152400">
              <a:lnSpc>
                <a:spcPct val="105000"/>
              </a:lnSpc>
              <a:spcAft>
                <a:spcPts val="800"/>
              </a:spcAft>
              <a:buSzPct val="100000"/>
              <a:buChar char="•"/>
            </a:pPr>
            <a:r>
              <a:rPr lang="en-US" sz="1200" dirty="0">
                <a:solidFill>
                  <a:srgbClr val="22252B"/>
                </a:solidFill>
                <a:latin typeface="Calibri" pitchFamily="34" charset="0"/>
                <a:ea typeface="Calibri" pitchFamily="34" charset="-122"/>
                <a:cs typeface="Calibri" pitchFamily="34" charset="-120"/>
              </a:rPr>
              <a:t>Error list: what's wrong + why + the correction</a:t>
            </a:r>
            <a:endParaRPr lang="en-US" sz="1200" dirty="0"/>
          </a:p>
          <a:p>
            <a:pPr marL="152400" indent="-152400">
              <a:lnSpc>
                <a:spcPct val="105000"/>
              </a:lnSpc>
              <a:spcAft>
                <a:spcPts val="800"/>
              </a:spcAft>
              <a:buSzPct val="100000"/>
              <a:buChar char="•"/>
            </a:pPr>
            <a:r>
              <a:rPr lang="en-US" sz="1200" dirty="0">
                <a:solidFill>
                  <a:srgbClr val="22252B"/>
                </a:solidFill>
                <a:latin typeface="Calibri" pitchFamily="34" charset="0"/>
                <a:ea typeface="Calibri" pitchFamily="34" charset="-122"/>
                <a:cs typeface="Calibri" pitchFamily="34" charset="-120"/>
              </a:rPr>
              <a:t>There are 9 planted problems. Finding 6+ is strong.</a:t>
            </a:r>
            <a:endParaRPr lang="en-US" sz="1200" dirty="0"/>
          </a:p>
        </p:txBody>
      </p:sp>
      <p:sp>
        <p:nvSpPr>
          <p:cNvPr id="16" name="Shape 14"/>
          <p:cNvSpPr/>
          <p:nvPr/>
        </p:nvSpPr>
        <p:spPr>
          <a:xfrm>
            <a:off x="7315200" y="3931920"/>
            <a:ext cx="4389120" cy="2103120"/>
          </a:xfrm>
          <a:prstGeom prst="roundRect">
            <a:avLst>
              <a:gd name="adj" fmla="val 3478"/>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7" name="Shape 15"/>
          <p:cNvSpPr/>
          <p:nvPr/>
        </p:nvSpPr>
        <p:spPr>
          <a:xfrm>
            <a:off x="7315200" y="3931920"/>
            <a:ext cx="4389120" cy="420624"/>
          </a:xfrm>
          <a:prstGeom prst="roundRect">
            <a:avLst>
              <a:gd name="adj" fmla="val 17391"/>
            </a:avLst>
          </a:prstGeom>
          <a:solidFill>
            <a:srgbClr val="6258A6"/>
          </a:solidFill>
          <a:ln/>
        </p:spPr>
      </p:sp>
      <p:sp>
        <p:nvSpPr>
          <p:cNvPr id="18" name="Shape 16"/>
          <p:cNvSpPr/>
          <p:nvPr/>
        </p:nvSpPr>
        <p:spPr>
          <a:xfrm>
            <a:off x="7315200" y="4142232"/>
            <a:ext cx="4389120" cy="210312"/>
          </a:xfrm>
          <a:prstGeom prst="rect">
            <a:avLst/>
          </a:prstGeom>
          <a:solidFill>
            <a:srgbClr val="6258A6"/>
          </a:solidFill>
          <a:ln/>
        </p:spPr>
      </p:sp>
      <p:sp>
        <p:nvSpPr>
          <p:cNvPr id="19" name="Text 17"/>
          <p:cNvSpPr txBox="1"/>
          <p:nvPr/>
        </p:nvSpPr>
        <p:spPr>
          <a:xfrm>
            <a:off x="7452360" y="3931920"/>
            <a:ext cx="411480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Error categories to hunt</a:t>
            </a:r>
            <a:endParaRPr lang="en-US" sz="1400" dirty="0"/>
          </a:p>
        </p:txBody>
      </p:sp>
      <p:sp>
        <p:nvSpPr>
          <p:cNvPr id="20" name="Text 18"/>
          <p:cNvSpPr txBox="1"/>
          <p:nvPr/>
        </p:nvSpPr>
        <p:spPr>
          <a:xfrm>
            <a:off x="7589520" y="4526280"/>
            <a:ext cx="3840480" cy="1371600"/>
          </a:xfrm>
          <a:prstGeom prst="rect">
            <a:avLst/>
          </a:prstGeom>
          <a:noFill/>
          <a:ln/>
        </p:spPr>
        <p:txBody>
          <a:bodyPr wrap="square" lIns="0" tIns="0" rIns="0" bIns="0" rtlCol="0" anchor="t"/>
          <a:lstStyle/>
          <a:p>
            <a:pPr marL="152400" indent="-152400">
              <a:lnSpc>
                <a:spcPct val="105000"/>
              </a:lnSpc>
              <a:spcAft>
                <a:spcPts val="500"/>
              </a:spcAft>
              <a:buSzPct val="100000"/>
              <a:buChar char="•"/>
            </a:pPr>
            <a:r>
              <a:rPr lang="en-US" sz="1150" dirty="0">
                <a:solidFill>
                  <a:srgbClr val="22252B"/>
                </a:solidFill>
                <a:latin typeface="Calibri" pitchFamily="34" charset="0"/>
                <a:ea typeface="Calibri" pitchFamily="34" charset="-122"/>
                <a:cs typeface="Calibri" pitchFamily="34" charset="-120"/>
              </a:rPr>
              <a:t>Numbers vs. the data box</a:t>
            </a:r>
            <a:endParaRPr lang="en-US" sz="1150" dirty="0"/>
          </a:p>
          <a:p>
            <a:pPr marL="152400" indent="-152400">
              <a:lnSpc>
                <a:spcPct val="105000"/>
              </a:lnSpc>
              <a:spcAft>
                <a:spcPts val="500"/>
              </a:spcAft>
              <a:buSzPct val="100000"/>
              <a:buChar char="•"/>
            </a:pPr>
            <a:r>
              <a:rPr lang="en-US" sz="1150" dirty="0">
                <a:solidFill>
                  <a:srgbClr val="22252B"/>
                </a:solidFill>
                <a:latin typeface="Calibri" pitchFamily="34" charset="0"/>
                <a:ea typeface="Calibri" pitchFamily="34" charset="-122"/>
                <a:cs typeface="Calibri" pitchFamily="34" charset="-120"/>
              </a:rPr>
              <a:t>References that don't exist</a:t>
            </a:r>
            <a:endParaRPr lang="en-US" sz="1150" dirty="0"/>
          </a:p>
          <a:p>
            <a:pPr marL="152400" indent="-152400">
              <a:lnSpc>
                <a:spcPct val="105000"/>
              </a:lnSpc>
              <a:spcAft>
                <a:spcPts val="500"/>
              </a:spcAft>
              <a:buSzPct val="100000"/>
              <a:buChar char="•"/>
            </a:pPr>
            <a:r>
              <a:rPr lang="en-US" sz="1150" dirty="0">
                <a:solidFill>
                  <a:srgbClr val="22252B"/>
                </a:solidFill>
                <a:latin typeface="Calibri" pitchFamily="34" charset="0"/>
                <a:ea typeface="Calibri" pitchFamily="34" charset="-122"/>
                <a:cs typeface="Calibri" pitchFamily="34" charset="-120"/>
              </a:rPr>
              <a:t>Claims no data could support</a:t>
            </a:r>
            <a:endParaRPr lang="en-US" sz="1150" dirty="0"/>
          </a:p>
          <a:p>
            <a:pPr marL="152400" indent="-152400">
              <a:lnSpc>
                <a:spcPct val="105000"/>
              </a:lnSpc>
              <a:spcAft>
                <a:spcPts val="500"/>
              </a:spcAft>
              <a:buSzPct val="100000"/>
              <a:buChar char="•"/>
            </a:pPr>
            <a:r>
              <a:rPr lang="en-US" sz="1150" dirty="0">
                <a:solidFill>
                  <a:srgbClr val="22252B"/>
                </a:solidFill>
                <a:latin typeface="Calibri" pitchFamily="34" charset="0"/>
                <a:ea typeface="Calibri" pitchFamily="34" charset="-122"/>
                <a:cs typeface="Calibri" pitchFamily="34" charset="-120"/>
              </a:rPr>
              <a:t>Bias &amp; overconfidence</a:t>
            </a:r>
            <a:endParaRPr lang="en-US" sz="1150" dirty="0"/>
          </a:p>
        </p:txBody>
      </p:sp>
      <p:sp>
        <p:nvSpPr>
          <p:cNvPr id="21" name="Text 19"/>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22" name="Text 20"/>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63</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Debrief — Activity 3.2</a:t>
            </a:r>
            <a:endParaRPr lang="en-US" sz="3000" dirty="0"/>
          </a:p>
        </p:txBody>
      </p:sp>
      <p:sp>
        <p:nvSpPr>
          <p:cNvPr id="3" name="Text 1"/>
          <p:cNvSpPr txBox="1"/>
          <p:nvPr/>
        </p:nvSpPr>
        <p:spPr>
          <a:xfrm>
            <a:off x="502920" y="987552"/>
            <a:ext cx="11155680" cy="365760"/>
          </a:xfrm>
          <a:prstGeom prst="rect">
            <a:avLst/>
          </a:prstGeom>
          <a:noFill/>
          <a:ln/>
        </p:spPr>
        <p:txBody>
          <a:bodyPr wrap="square" lIns="0" tIns="0" rIns="0" bIns="0" rtlCol="0" anchor="ctr"/>
          <a:lstStyle/>
          <a:p>
            <a:pPr indent="0" marL="0">
              <a:buNone/>
            </a:pPr>
            <a:r>
              <a:rPr lang="en-US" sz="1400" dirty="0">
                <a:solidFill>
                  <a:srgbClr val="696969"/>
                </a:solidFill>
                <a:latin typeface="Calibri" pitchFamily="34" charset="0"/>
                <a:ea typeface="Calibri" pitchFamily="34" charset="-122"/>
                <a:cs typeface="Calibri" pitchFamily="34" charset="-120"/>
              </a:rPr>
              <a:t>The reveal: there were 9 planted problems</a:t>
            </a:r>
            <a:endParaRPr lang="en-US" sz="1400" dirty="0"/>
          </a:p>
        </p:txBody>
      </p:sp>
      <p:sp>
        <p:nvSpPr>
          <p:cNvPr id="4" name="Shape 2"/>
          <p:cNvSpPr/>
          <p:nvPr/>
        </p:nvSpPr>
        <p:spPr>
          <a:xfrm>
            <a:off x="10565892" y="457200"/>
            <a:ext cx="1120140" cy="384048"/>
          </a:xfrm>
          <a:prstGeom prst="roundRect">
            <a:avLst>
              <a:gd name="adj" fmla="val 50000"/>
            </a:avLst>
          </a:prstGeom>
          <a:solidFill>
            <a:srgbClr val="67CCFF"/>
          </a:solidFill>
          <a:ln/>
        </p:spPr>
      </p:sp>
      <p:sp>
        <p:nvSpPr>
          <p:cNvPr id="5" name="Text 3"/>
          <p:cNvSpPr txBox="1"/>
          <p:nvPr/>
        </p:nvSpPr>
        <p:spPr>
          <a:xfrm>
            <a:off x="10565892" y="457200"/>
            <a:ext cx="11201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DEBRIEF</a:t>
            </a:r>
            <a:endParaRPr lang="en-US" sz="1200" dirty="0"/>
          </a:p>
        </p:txBody>
      </p:sp>
      <p:sp>
        <p:nvSpPr>
          <p:cNvPr id="6" name="Shape 4"/>
          <p:cNvSpPr/>
          <p:nvPr/>
        </p:nvSpPr>
        <p:spPr>
          <a:xfrm>
            <a:off x="640080" y="1691640"/>
            <a:ext cx="548640" cy="548640"/>
          </a:xfrm>
          <a:prstGeom prst="roundRect">
            <a:avLst>
              <a:gd name="adj" fmla="val 15000"/>
            </a:avLst>
          </a:prstGeom>
          <a:solidFill>
            <a:srgbClr val="67CCFF"/>
          </a:solidFill>
          <a:ln/>
        </p:spPr>
      </p:sp>
      <p:pic>
        <p:nvPicPr>
          <p:cNvPr id="7" name="Image 0" descr="preencoded.png">    </p:cNvPr>
          <p:cNvPicPr>
            <a:picLocks noChangeAspect="1"/>
          </p:cNvPicPr>
          <p:nvPr/>
        </p:nvPicPr>
        <p:blipFill>
          <a:blip r:embed="rId1"/>
          <a:stretch>
            <a:fillRect/>
          </a:stretch>
        </p:blipFill>
        <p:spPr>
          <a:xfrm>
            <a:off x="760781" y="1812341"/>
            <a:ext cx="307238" cy="307238"/>
          </a:xfrm>
          <a:prstGeom prst="rect">
            <a:avLst/>
          </a:prstGeom>
        </p:spPr>
      </p:pic>
      <p:sp>
        <p:nvSpPr>
          <p:cNvPr id="8" name="Text 5"/>
          <p:cNvSpPr txBox="1"/>
          <p:nvPr/>
        </p:nvSpPr>
        <p:spPr>
          <a:xfrm>
            <a:off x="1417320" y="1691640"/>
            <a:ext cx="10149840" cy="548640"/>
          </a:xfrm>
          <a:prstGeom prst="rect">
            <a:avLst/>
          </a:prstGeom>
          <a:noFill/>
          <a:ln/>
        </p:spPr>
        <p:txBody>
          <a:bodyPr wrap="square" lIns="0" tIns="0" rIns="0" bIns="0" rtlCol="0" anchor="ctr"/>
          <a:lstStyle/>
          <a:p>
            <a:pPr indent="0" marL="0">
              <a:buNone/>
            </a:pPr>
            <a:r>
              <a:rPr lang="en-US" sz="1500" dirty="0">
                <a:solidFill>
                  <a:srgbClr val="22252B"/>
                </a:solidFill>
                <a:latin typeface="Calibri" pitchFamily="34" charset="0"/>
                <a:ea typeface="Calibri" pitchFamily="34" charset="-122"/>
                <a:cs typeface="Calibri" pitchFamily="34" charset="-120"/>
              </a:rPr>
              <a:t>How many did you find manually vs. with the AI audit? Which found what?</a:t>
            </a:r>
            <a:endParaRPr lang="en-US" sz="1500" dirty="0"/>
          </a:p>
        </p:txBody>
      </p:sp>
      <p:sp>
        <p:nvSpPr>
          <p:cNvPr id="9" name="Shape 6"/>
          <p:cNvSpPr/>
          <p:nvPr/>
        </p:nvSpPr>
        <p:spPr>
          <a:xfrm>
            <a:off x="640080" y="2788920"/>
            <a:ext cx="548640" cy="548640"/>
          </a:xfrm>
          <a:prstGeom prst="roundRect">
            <a:avLst>
              <a:gd name="adj" fmla="val 15000"/>
            </a:avLst>
          </a:prstGeom>
          <a:solidFill>
            <a:srgbClr val="67CCFF"/>
          </a:solidFill>
          <a:ln/>
        </p:spPr>
      </p:sp>
      <p:pic>
        <p:nvPicPr>
          <p:cNvPr id="10" name="Image 1" descr="preencoded.png">    </p:cNvPr>
          <p:cNvPicPr>
            <a:picLocks noChangeAspect="1"/>
          </p:cNvPicPr>
          <p:nvPr/>
        </p:nvPicPr>
        <p:blipFill>
          <a:blip r:embed="rId2"/>
          <a:stretch>
            <a:fillRect/>
          </a:stretch>
        </p:blipFill>
        <p:spPr>
          <a:xfrm>
            <a:off x="760781" y="2909621"/>
            <a:ext cx="307238" cy="307238"/>
          </a:xfrm>
          <a:prstGeom prst="rect">
            <a:avLst/>
          </a:prstGeom>
        </p:spPr>
      </p:pic>
      <p:sp>
        <p:nvSpPr>
          <p:cNvPr id="11" name="Text 7"/>
          <p:cNvSpPr txBox="1"/>
          <p:nvPr/>
        </p:nvSpPr>
        <p:spPr>
          <a:xfrm>
            <a:off x="1417320" y="2788920"/>
            <a:ext cx="10149840" cy="548640"/>
          </a:xfrm>
          <a:prstGeom prst="rect">
            <a:avLst/>
          </a:prstGeom>
          <a:noFill/>
          <a:ln/>
        </p:spPr>
        <p:txBody>
          <a:bodyPr wrap="square" lIns="0" tIns="0" rIns="0" bIns="0" rtlCol="0" anchor="ctr"/>
          <a:lstStyle/>
          <a:p>
            <a:pPr indent="0" marL="0">
              <a:buNone/>
            </a:pPr>
            <a:r>
              <a:rPr lang="en-US" sz="1500" dirty="0">
                <a:solidFill>
                  <a:srgbClr val="22252B"/>
                </a:solidFill>
                <a:latin typeface="Calibri" pitchFamily="34" charset="0"/>
                <a:ea typeface="Calibri" pitchFamily="34" charset="-122"/>
                <a:cs typeface="Calibri" pitchFamily="34" charset="-120"/>
              </a:rPr>
              <a:t>Which error was most dangerous — the one most likely to survive into the board pack?</a:t>
            </a:r>
            <a:endParaRPr lang="en-US" sz="1500" dirty="0"/>
          </a:p>
        </p:txBody>
      </p:sp>
      <p:sp>
        <p:nvSpPr>
          <p:cNvPr id="12" name="Shape 8"/>
          <p:cNvSpPr/>
          <p:nvPr/>
        </p:nvSpPr>
        <p:spPr>
          <a:xfrm>
            <a:off x="640080" y="3886200"/>
            <a:ext cx="548640" cy="548640"/>
          </a:xfrm>
          <a:prstGeom prst="roundRect">
            <a:avLst>
              <a:gd name="adj" fmla="val 15000"/>
            </a:avLst>
          </a:prstGeom>
          <a:solidFill>
            <a:srgbClr val="67CCFF"/>
          </a:solidFill>
          <a:ln/>
        </p:spPr>
      </p:sp>
      <p:pic>
        <p:nvPicPr>
          <p:cNvPr id="13" name="Image 2" descr="preencoded.png">    </p:cNvPr>
          <p:cNvPicPr>
            <a:picLocks noChangeAspect="1"/>
          </p:cNvPicPr>
          <p:nvPr/>
        </p:nvPicPr>
        <p:blipFill>
          <a:blip r:embed="rId3"/>
          <a:stretch>
            <a:fillRect/>
          </a:stretch>
        </p:blipFill>
        <p:spPr>
          <a:xfrm>
            <a:off x="760781" y="4006901"/>
            <a:ext cx="307238" cy="307238"/>
          </a:xfrm>
          <a:prstGeom prst="rect">
            <a:avLst/>
          </a:prstGeom>
        </p:spPr>
      </p:pic>
      <p:sp>
        <p:nvSpPr>
          <p:cNvPr id="14" name="Text 9"/>
          <p:cNvSpPr txBox="1"/>
          <p:nvPr/>
        </p:nvSpPr>
        <p:spPr>
          <a:xfrm>
            <a:off x="1417320" y="3886200"/>
            <a:ext cx="10149840" cy="548640"/>
          </a:xfrm>
          <a:prstGeom prst="rect">
            <a:avLst/>
          </a:prstGeom>
          <a:noFill/>
          <a:ln/>
        </p:spPr>
        <p:txBody>
          <a:bodyPr wrap="square" lIns="0" tIns="0" rIns="0" bIns="0" rtlCol="0" anchor="ctr"/>
          <a:lstStyle/>
          <a:p>
            <a:pPr indent="0" marL="0">
              <a:buNone/>
            </a:pPr>
            <a:r>
              <a:rPr lang="en-US" sz="1500" dirty="0">
                <a:solidFill>
                  <a:srgbClr val="22252B"/>
                </a:solidFill>
                <a:latin typeface="Calibri" pitchFamily="34" charset="0"/>
                <a:ea typeface="Calibri" pitchFamily="34" charset="-122"/>
                <a:cs typeface="Calibri" pitchFamily="34" charset="-120"/>
              </a:rPr>
              <a:t>Did anyone catch the biased sentence? Why do these slip past both humans AND AI?</a:t>
            </a:r>
            <a:endParaRPr lang="en-US" sz="1500" dirty="0"/>
          </a:p>
        </p:txBody>
      </p:sp>
      <p:sp>
        <p:nvSpPr>
          <p:cNvPr id="15" name="Shape 10"/>
          <p:cNvSpPr/>
          <p:nvPr/>
        </p:nvSpPr>
        <p:spPr>
          <a:xfrm>
            <a:off x="640080" y="4983480"/>
            <a:ext cx="548640" cy="548640"/>
          </a:xfrm>
          <a:prstGeom prst="roundRect">
            <a:avLst>
              <a:gd name="adj" fmla="val 15000"/>
            </a:avLst>
          </a:prstGeom>
          <a:solidFill>
            <a:srgbClr val="67CCFF"/>
          </a:solidFill>
          <a:ln/>
        </p:spPr>
      </p:sp>
      <p:pic>
        <p:nvPicPr>
          <p:cNvPr id="16" name="Image 3" descr="preencoded.png">    </p:cNvPr>
          <p:cNvPicPr>
            <a:picLocks noChangeAspect="1"/>
          </p:cNvPicPr>
          <p:nvPr/>
        </p:nvPicPr>
        <p:blipFill>
          <a:blip r:embed="rId4"/>
          <a:stretch>
            <a:fillRect/>
          </a:stretch>
        </p:blipFill>
        <p:spPr>
          <a:xfrm>
            <a:off x="760781" y="5104181"/>
            <a:ext cx="307238" cy="307238"/>
          </a:xfrm>
          <a:prstGeom prst="rect">
            <a:avLst/>
          </a:prstGeom>
        </p:spPr>
      </p:pic>
      <p:sp>
        <p:nvSpPr>
          <p:cNvPr id="17" name="Text 11"/>
          <p:cNvSpPr txBox="1"/>
          <p:nvPr/>
        </p:nvSpPr>
        <p:spPr>
          <a:xfrm>
            <a:off x="1417320" y="4983480"/>
            <a:ext cx="10149840" cy="548640"/>
          </a:xfrm>
          <a:prstGeom prst="rect">
            <a:avLst/>
          </a:prstGeom>
          <a:noFill/>
          <a:ln/>
        </p:spPr>
        <p:txBody>
          <a:bodyPr wrap="square" lIns="0" tIns="0" rIns="0" bIns="0" rtlCol="0" anchor="ctr"/>
          <a:lstStyle/>
          <a:p>
            <a:pPr indent="0" marL="0">
              <a:buNone/>
            </a:pPr>
            <a:r>
              <a:rPr lang="en-US" sz="1500" dirty="0">
                <a:solidFill>
                  <a:srgbClr val="22252B"/>
                </a:solidFill>
                <a:latin typeface="Calibri" pitchFamily="34" charset="0"/>
                <a:ea typeface="Calibri" pitchFamily="34" charset="-122"/>
                <a:cs typeface="Calibri" pitchFamily="34" charset="-120"/>
              </a:rPr>
              <a:t>This draft “felt” professional. What does that tell you about reviewing by feel?</a:t>
            </a:r>
            <a:endParaRPr lang="en-US" sz="1500" dirty="0"/>
          </a:p>
        </p:txBody>
      </p:sp>
      <p:sp>
        <p:nvSpPr>
          <p:cNvPr id="18" name="Text 12"/>
          <p:cNvSpPr txBox="1"/>
          <p:nvPr/>
        </p:nvSpPr>
        <p:spPr>
          <a:xfrm>
            <a:off x="640080" y="6080760"/>
            <a:ext cx="10972800" cy="365760"/>
          </a:xfrm>
          <a:prstGeom prst="rect">
            <a:avLst/>
          </a:prstGeom>
          <a:noFill/>
          <a:ln/>
        </p:spPr>
        <p:txBody>
          <a:bodyPr wrap="square" lIns="0" tIns="0" rIns="0" bIns="0" rtlCol="0" anchor="ctr"/>
          <a:lstStyle/>
          <a:p>
            <a:pPr indent="0" marL="0">
              <a:buNone/>
            </a:pPr>
            <a:r>
              <a:rPr lang="en-US" sz="1300" b="1" i="1" dirty="0">
                <a:solidFill>
                  <a:srgbClr val="273370"/>
                </a:solidFill>
                <a:latin typeface="Calibri" pitchFamily="34" charset="0"/>
                <a:ea typeface="Calibri" pitchFamily="34" charset="-122"/>
                <a:cs typeface="Calibri" pitchFamily="34" charset="-120"/>
              </a:rPr>
              <a:t>Trainer synthesis: AI checking AI helps — but the trusted source and the final judgement must be human.</a:t>
            </a:r>
            <a:endParaRPr lang="en-US" sz="1300" dirty="0"/>
          </a:p>
        </p:txBody>
      </p:sp>
      <p:sp>
        <p:nvSpPr>
          <p:cNvPr id="19" name="Text 13"/>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20" name="Text 14"/>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64</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Responsible use: the rules that apply to you</a:t>
            </a:r>
            <a:endParaRPr lang="en-US" sz="3000" dirty="0"/>
          </a:p>
        </p:txBody>
      </p:sp>
      <p:sp>
        <p:nvSpPr>
          <p:cNvPr id="3" name="Shape 1"/>
          <p:cNvSpPr/>
          <p:nvPr/>
        </p:nvSpPr>
        <p:spPr>
          <a:xfrm>
            <a:off x="10565892" y="457200"/>
            <a:ext cx="1120140" cy="384048"/>
          </a:xfrm>
          <a:prstGeom prst="roundRect">
            <a:avLst>
              <a:gd name="adj" fmla="val 50000"/>
            </a:avLst>
          </a:prstGeom>
          <a:solidFill>
            <a:srgbClr val="94A0DA"/>
          </a:solidFill>
          <a:ln/>
        </p:spPr>
      </p:sp>
      <p:sp>
        <p:nvSpPr>
          <p:cNvPr id="4" name="Text 2"/>
          <p:cNvSpPr txBox="1"/>
          <p:nvPr/>
        </p:nvSpPr>
        <p:spPr>
          <a:xfrm>
            <a:off x="10565892" y="457200"/>
            <a:ext cx="11201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CONCEPT</a:t>
            </a:r>
            <a:endParaRPr lang="en-US" sz="1200" dirty="0"/>
          </a:p>
        </p:txBody>
      </p:sp>
      <p:sp>
        <p:nvSpPr>
          <p:cNvPr id="5" name="Shape 3"/>
          <p:cNvSpPr/>
          <p:nvPr/>
        </p:nvSpPr>
        <p:spPr>
          <a:xfrm>
            <a:off x="502920" y="1463040"/>
            <a:ext cx="5440680" cy="2148840"/>
          </a:xfrm>
          <a:prstGeom prst="roundRect">
            <a:avLst>
              <a:gd name="adj" fmla="val 3404"/>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502920" y="1463040"/>
            <a:ext cx="5440680" cy="420624"/>
          </a:xfrm>
          <a:prstGeom prst="roundRect">
            <a:avLst>
              <a:gd name="adj" fmla="val 17391"/>
            </a:avLst>
          </a:prstGeom>
          <a:solidFill>
            <a:srgbClr val="273370"/>
          </a:solidFill>
          <a:ln/>
        </p:spPr>
      </p:sp>
      <p:sp>
        <p:nvSpPr>
          <p:cNvPr id="7" name="Shape 5"/>
          <p:cNvSpPr/>
          <p:nvPr/>
        </p:nvSpPr>
        <p:spPr>
          <a:xfrm>
            <a:off x="502920" y="1673352"/>
            <a:ext cx="5440680" cy="210312"/>
          </a:xfrm>
          <a:prstGeom prst="rect">
            <a:avLst/>
          </a:prstGeom>
          <a:solidFill>
            <a:srgbClr val="273370"/>
          </a:solidFill>
          <a:ln/>
        </p:spPr>
      </p:sp>
      <p:sp>
        <p:nvSpPr>
          <p:cNvPr id="8" name="Text 6"/>
          <p:cNvSpPr txBox="1"/>
          <p:nvPr/>
        </p:nvSpPr>
        <p:spPr>
          <a:xfrm>
            <a:off x="640080" y="1463040"/>
            <a:ext cx="516636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SDAIA Generative AI Guidelines</a:t>
            </a:r>
            <a:endParaRPr lang="en-US" sz="1400" dirty="0"/>
          </a:p>
        </p:txBody>
      </p:sp>
      <p:sp>
        <p:nvSpPr>
          <p:cNvPr id="9" name="Text 7"/>
          <p:cNvSpPr txBox="1"/>
          <p:nvPr/>
        </p:nvSpPr>
        <p:spPr>
          <a:xfrm>
            <a:off x="731520" y="2029968"/>
            <a:ext cx="4983480" cy="1481328"/>
          </a:xfrm>
          <a:prstGeom prst="rect">
            <a:avLst/>
          </a:prstGeom>
          <a:noFill/>
          <a:ln/>
        </p:spPr>
        <p:txBody>
          <a:bodyPr wrap="square" lIns="0" tIns="0" rIns="0" bIns="0" rtlCol="0" anchor="ctr"/>
          <a:lstStyle/>
          <a:p>
            <a:pPr indent="0" marL="0">
              <a:lnSpc>
                <a:spcPct val="112000"/>
              </a:lnSpc>
              <a:buNone/>
            </a:pPr>
            <a:r>
              <a:rPr lang="en-US" sz="1150" dirty="0">
                <a:solidFill>
                  <a:srgbClr val="22252B"/>
                </a:solidFill>
                <a:latin typeface="Calibri" pitchFamily="34" charset="0"/>
                <a:ea typeface="Calibri" pitchFamily="34" charset="-122"/>
                <a:cs typeface="Calibri" pitchFamily="34" charset="-120"/>
              </a:rPr>
              <a:t>National guidance (government + public editions, 2024) on adopting generative AI responsibly: protect data, keep humans in decision loops, be transparent about AI use, and manage risks before deployment.</a:t>
            </a:r>
            <a:endParaRPr lang="en-US" sz="1150" dirty="0"/>
          </a:p>
        </p:txBody>
      </p:sp>
      <p:sp>
        <p:nvSpPr>
          <p:cNvPr id="10" name="Shape 8"/>
          <p:cNvSpPr/>
          <p:nvPr/>
        </p:nvSpPr>
        <p:spPr>
          <a:xfrm>
            <a:off x="6217920" y="1463040"/>
            <a:ext cx="5440680" cy="2148840"/>
          </a:xfrm>
          <a:prstGeom prst="roundRect">
            <a:avLst>
              <a:gd name="adj" fmla="val 3404"/>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1" name="Shape 9"/>
          <p:cNvSpPr/>
          <p:nvPr/>
        </p:nvSpPr>
        <p:spPr>
          <a:xfrm>
            <a:off x="6217920" y="1463040"/>
            <a:ext cx="5440680" cy="420624"/>
          </a:xfrm>
          <a:prstGeom prst="roundRect">
            <a:avLst>
              <a:gd name="adj" fmla="val 17391"/>
            </a:avLst>
          </a:prstGeom>
          <a:solidFill>
            <a:srgbClr val="29BA74"/>
          </a:solidFill>
          <a:ln/>
        </p:spPr>
      </p:sp>
      <p:sp>
        <p:nvSpPr>
          <p:cNvPr id="12" name="Shape 10"/>
          <p:cNvSpPr/>
          <p:nvPr/>
        </p:nvSpPr>
        <p:spPr>
          <a:xfrm>
            <a:off x="6217920" y="1673352"/>
            <a:ext cx="5440680" cy="210312"/>
          </a:xfrm>
          <a:prstGeom prst="rect">
            <a:avLst/>
          </a:prstGeom>
          <a:solidFill>
            <a:srgbClr val="29BA74"/>
          </a:solidFill>
          <a:ln/>
        </p:spPr>
      </p:sp>
      <p:sp>
        <p:nvSpPr>
          <p:cNvPr id="13" name="Text 11"/>
          <p:cNvSpPr txBox="1"/>
          <p:nvPr/>
        </p:nvSpPr>
        <p:spPr>
          <a:xfrm>
            <a:off x="6355080" y="1463040"/>
            <a:ext cx="516636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Personal Data Protection Law (PDPL)</a:t>
            </a:r>
            <a:endParaRPr lang="en-US" sz="1400" dirty="0"/>
          </a:p>
        </p:txBody>
      </p:sp>
      <p:sp>
        <p:nvSpPr>
          <p:cNvPr id="14" name="Text 12"/>
          <p:cNvSpPr txBox="1"/>
          <p:nvPr/>
        </p:nvSpPr>
        <p:spPr>
          <a:xfrm>
            <a:off x="6446520" y="2029968"/>
            <a:ext cx="4983480" cy="1481328"/>
          </a:xfrm>
          <a:prstGeom prst="rect">
            <a:avLst/>
          </a:prstGeom>
          <a:noFill/>
          <a:ln/>
        </p:spPr>
        <p:txBody>
          <a:bodyPr wrap="square" lIns="0" tIns="0" rIns="0" bIns="0" rtlCol="0" anchor="ctr"/>
          <a:lstStyle/>
          <a:p>
            <a:pPr indent="0" marL="0">
              <a:lnSpc>
                <a:spcPct val="112000"/>
              </a:lnSpc>
              <a:buNone/>
            </a:pPr>
            <a:r>
              <a:rPr lang="en-US" sz="1150" dirty="0">
                <a:solidFill>
                  <a:srgbClr val="22252B"/>
                </a:solidFill>
                <a:latin typeface="Calibri" pitchFamily="34" charset="0"/>
                <a:ea typeface="Calibri" pitchFamily="34" charset="-122"/>
                <a:cs typeface="Calibri" pitchFamily="34" charset="-120"/>
              </a:rPr>
              <a:t>Saudi Arabia's data protection law. Practical meaning for you: personal data of citizens, customers or colleagues must not be entered into unapproved tools — processing it has legal conditions.</a:t>
            </a:r>
            <a:endParaRPr lang="en-US" sz="1150" dirty="0"/>
          </a:p>
        </p:txBody>
      </p:sp>
      <p:sp>
        <p:nvSpPr>
          <p:cNvPr id="15" name="Shape 13"/>
          <p:cNvSpPr/>
          <p:nvPr/>
        </p:nvSpPr>
        <p:spPr>
          <a:xfrm>
            <a:off x="502920" y="3840480"/>
            <a:ext cx="5440680" cy="2148840"/>
          </a:xfrm>
          <a:prstGeom prst="roundRect">
            <a:avLst>
              <a:gd name="adj" fmla="val 3404"/>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6" name="Shape 14"/>
          <p:cNvSpPr/>
          <p:nvPr/>
        </p:nvSpPr>
        <p:spPr>
          <a:xfrm>
            <a:off x="502920" y="3840480"/>
            <a:ext cx="5440680" cy="420624"/>
          </a:xfrm>
          <a:prstGeom prst="roundRect">
            <a:avLst>
              <a:gd name="adj" fmla="val 17391"/>
            </a:avLst>
          </a:prstGeom>
          <a:solidFill>
            <a:srgbClr val="6258A6"/>
          </a:solidFill>
          <a:ln/>
        </p:spPr>
      </p:sp>
      <p:sp>
        <p:nvSpPr>
          <p:cNvPr id="17" name="Shape 15"/>
          <p:cNvSpPr/>
          <p:nvPr/>
        </p:nvSpPr>
        <p:spPr>
          <a:xfrm>
            <a:off x="502920" y="4050792"/>
            <a:ext cx="5440680" cy="210312"/>
          </a:xfrm>
          <a:prstGeom prst="rect">
            <a:avLst/>
          </a:prstGeom>
          <a:solidFill>
            <a:srgbClr val="6258A6"/>
          </a:solidFill>
          <a:ln/>
        </p:spPr>
      </p:sp>
      <p:sp>
        <p:nvSpPr>
          <p:cNvPr id="18" name="Text 16"/>
          <p:cNvSpPr txBox="1"/>
          <p:nvPr/>
        </p:nvSpPr>
        <p:spPr>
          <a:xfrm>
            <a:off x="640080" y="3840480"/>
            <a:ext cx="516636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AI Ethics Principles (SDAIA, 2023)</a:t>
            </a:r>
            <a:endParaRPr lang="en-US" sz="1400" dirty="0"/>
          </a:p>
        </p:txBody>
      </p:sp>
      <p:sp>
        <p:nvSpPr>
          <p:cNvPr id="19" name="Text 17"/>
          <p:cNvSpPr txBox="1"/>
          <p:nvPr/>
        </p:nvSpPr>
        <p:spPr>
          <a:xfrm>
            <a:off x="731520" y="4407408"/>
            <a:ext cx="4983480" cy="1481328"/>
          </a:xfrm>
          <a:prstGeom prst="rect">
            <a:avLst/>
          </a:prstGeom>
          <a:noFill/>
          <a:ln/>
        </p:spPr>
        <p:txBody>
          <a:bodyPr wrap="square" lIns="0" tIns="0" rIns="0" bIns="0" rtlCol="0" anchor="ctr"/>
          <a:lstStyle/>
          <a:p>
            <a:pPr indent="0" marL="0">
              <a:lnSpc>
                <a:spcPct val="112000"/>
              </a:lnSpc>
              <a:buNone/>
            </a:pPr>
            <a:r>
              <a:rPr lang="en-US" sz="1150" dirty="0">
                <a:solidFill>
                  <a:srgbClr val="22252B"/>
                </a:solidFill>
                <a:latin typeface="Calibri" pitchFamily="34" charset="0"/>
                <a:ea typeface="Calibri" pitchFamily="34" charset="-122"/>
                <a:cs typeface="Calibri" pitchFamily="34" charset="-120"/>
              </a:rPr>
              <a:t>Fairness, reliability &amp; safety, transparency, accountability, privacy, humanity and beneficial use — the values behind every rule in this session.</a:t>
            </a:r>
            <a:endParaRPr lang="en-US" sz="1150" dirty="0"/>
          </a:p>
        </p:txBody>
      </p:sp>
      <p:sp>
        <p:nvSpPr>
          <p:cNvPr id="20" name="Shape 18"/>
          <p:cNvSpPr/>
          <p:nvPr/>
        </p:nvSpPr>
        <p:spPr>
          <a:xfrm>
            <a:off x="6217920" y="3840480"/>
            <a:ext cx="5440680" cy="2148840"/>
          </a:xfrm>
          <a:prstGeom prst="roundRect">
            <a:avLst>
              <a:gd name="adj" fmla="val 3404"/>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21" name="Shape 19"/>
          <p:cNvSpPr/>
          <p:nvPr/>
        </p:nvSpPr>
        <p:spPr>
          <a:xfrm>
            <a:off x="6217920" y="3840480"/>
            <a:ext cx="5440680" cy="420624"/>
          </a:xfrm>
          <a:prstGeom prst="roundRect">
            <a:avLst>
              <a:gd name="adj" fmla="val 17391"/>
            </a:avLst>
          </a:prstGeom>
          <a:solidFill>
            <a:srgbClr val="FCBD4C"/>
          </a:solidFill>
          <a:ln/>
        </p:spPr>
      </p:sp>
      <p:sp>
        <p:nvSpPr>
          <p:cNvPr id="22" name="Shape 20"/>
          <p:cNvSpPr/>
          <p:nvPr/>
        </p:nvSpPr>
        <p:spPr>
          <a:xfrm>
            <a:off x="6217920" y="4050792"/>
            <a:ext cx="5440680" cy="210312"/>
          </a:xfrm>
          <a:prstGeom prst="rect">
            <a:avLst/>
          </a:prstGeom>
          <a:solidFill>
            <a:srgbClr val="FCBD4C"/>
          </a:solidFill>
          <a:ln/>
        </p:spPr>
      </p:sp>
      <p:sp>
        <p:nvSpPr>
          <p:cNvPr id="23" name="Text 21"/>
          <p:cNvSpPr txBox="1"/>
          <p:nvPr/>
        </p:nvSpPr>
        <p:spPr>
          <a:xfrm>
            <a:off x="6355080" y="3840480"/>
            <a:ext cx="516636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Your organisation's policy</a:t>
            </a:r>
            <a:endParaRPr lang="en-US" sz="1400" dirty="0"/>
          </a:p>
        </p:txBody>
      </p:sp>
      <p:sp>
        <p:nvSpPr>
          <p:cNvPr id="24" name="Text 22"/>
          <p:cNvSpPr txBox="1"/>
          <p:nvPr/>
        </p:nvSpPr>
        <p:spPr>
          <a:xfrm>
            <a:off x="6446520" y="4407408"/>
            <a:ext cx="4983480" cy="1481328"/>
          </a:xfrm>
          <a:prstGeom prst="rect">
            <a:avLst/>
          </a:prstGeom>
          <a:noFill/>
          <a:ln/>
        </p:spPr>
        <p:txBody>
          <a:bodyPr wrap="square" lIns="0" tIns="0" rIns="0" bIns="0" rtlCol="0" anchor="ctr"/>
          <a:lstStyle/>
          <a:p>
            <a:pPr indent="0" marL="0">
              <a:lnSpc>
                <a:spcPct val="112000"/>
              </a:lnSpc>
              <a:buNone/>
            </a:pPr>
            <a:r>
              <a:rPr lang="en-US" sz="1150" dirty="0">
                <a:solidFill>
                  <a:srgbClr val="22252B"/>
                </a:solidFill>
                <a:latin typeface="Calibri" pitchFamily="34" charset="0"/>
                <a:ea typeface="Calibri" pitchFamily="34" charset="-122"/>
                <a:cs typeface="Calibri" pitchFamily="34" charset="-120"/>
              </a:rPr>
              <a:t>Which tools are approved, for which data, with what disclosure. If you don't know yours — finding out is action item #1 on your plan.</a:t>
            </a:r>
            <a:endParaRPr lang="en-US" sz="1150" dirty="0"/>
          </a:p>
        </p:txBody>
      </p:sp>
      <p:sp>
        <p:nvSpPr>
          <p:cNvPr id="25" name="Text 23"/>
          <p:cNvSpPr txBox="1"/>
          <p:nvPr/>
        </p:nvSpPr>
        <p:spPr>
          <a:xfrm>
            <a:off x="502920" y="6035040"/>
            <a:ext cx="11155680" cy="320040"/>
          </a:xfrm>
          <a:prstGeom prst="rect">
            <a:avLst/>
          </a:prstGeom>
          <a:noFill/>
          <a:ln/>
        </p:spPr>
        <p:txBody>
          <a:bodyPr wrap="square" lIns="0" tIns="0" rIns="0" bIns="0" rtlCol="0" anchor="ctr"/>
          <a:lstStyle/>
          <a:p>
            <a:pPr indent="0" marL="0">
              <a:buNone/>
            </a:pPr>
            <a:r>
              <a:rPr lang="en-US" sz="900" i="1" dirty="0">
                <a:solidFill>
                  <a:srgbClr val="696969"/>
                </a:solidFill>
                <a:latin typeface="Calibri" pitchFamily="34" charset="0"/>
                <a:ea typeface="Calibri" pitchFamily="34" charset="-122"/>
                <a:cs typeface="Calibri" pitchFamily="34" charset="-120"/>
              </a:rPr>
              <a:t>Sources: SDAIA, Generative AI Guidelines for Government / for the Public (2024); SDAIA AI Ethics Principles (2023); Personal Data Protection Law (Royal Decree M/19, as amended). See References slide.</a:t>
            </a:r>
            <a:endParaRPr lang="en-US" sz="900" dirty="0"/>
          </a:p>
        </p:txBody>
      </p:sp>
      <p:sp>
        <p:nvSpPr>
          <p:cNvPr id="26" name="Text 24"/>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27" name="Text 25"/>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65</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What goes into which tool?</a:t>
            </a:r>
            <a:endParaRPr lang="en-US" sz="3000" dirty="0"/>
          </a:p>
        </p:txBody>
      </p:sp>
      <p:sp>
        <p:nvSpPr>
          <p:cNvPr id="3" name="Text 1"/>
          <p:cNvSpPr txBox="1"/>
          <p:nvPr/>
        </p:nvSpPr>
        <p:spPr>
          <a:xfrm>
            <a:off x="502920" y="987552"/>
            <a:ext cx="11155680" cy="365760"/>
          </a:xfrm>
          <a:prstGeom prst="rect">
            <a:avLst/>
          </a:prstGeom>
          <a:noFill/>
          <a:ln/>
        </p:spPr>
        <p:txBody>
          <a:bodyPr wrap="square" lIns="0" tIns="0" rIns="0" bIns="0" rtlCol="0" anchor="ctr"/>
          <a:lstStyle/>
          <a:p>
            <a:pPr indent="0" marL="0">
              <a:buNone/>
            </a:pPr>
            <a:r>
              <a:rPr lang="en-US" sz="1400" dirty="0">
                <a:solidFill>
                  <a:srgbClr val="696969"/>
                </a:solidFill>
                <a:latin typeface="Calibri" pitchFamily="34" charset="0"/>
                <a:ea typeface="Calibri" pitchFamily="34" charset="-122"/>
                <a:cs typeface="Calibri" pitchFamily="34" charset="-120"/>
              </a:rPr>
              <a:t>The traffic-light rule for data</a:t>
            </a:r>
            <a:endParaRPr lang="en-US" sz="1400" dirty="0"/>
          </a:p>
        </p:txBody>
      </p:sp>
      <p:sp>
        <p:nvSpPr>
          <p:cNvPr id="4" name="Shape 2"/>
          <p:cNvSpPr/>
          <p:nvPr/>
        </p:nvSpPr>
        <p:spPr>
          <a:xfrm>
            <a:off x="10565892" y="457200"/>
            <a:ext cx="1120140" cy="384048"/>
          </a:xfrm>
          <a:prstGeom prst="roundRect">
            <a:avLst>
              <a:gd name="adj" fmla="val 50000"/>
            </a:avLst>
          </a:prstGeom>
          <a:solidFill>
            <a:srgbClr val="94A0DA"/>
          </a:solidFill>
          <a:ln/>
        </p:spPr>
      </p:sp>
      <p:sp>
        <p:nvSpPr>
          <p:cNvPr id="5" name="Text 3"/>
          <p:cNvSpPr txBox="1"/>
          <p:nvPr/>
        </p:nvSpPr>
        <p:spPr>
          <a:xfrm>
            <a:off x="10565892" y="457200"/>
            <a:ext cx="11201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Shape 4"/>
          <p:cNvSpPr/>
          <p:nvPr/>
        </p:nvSpPr>
        <p:spPr>
          <a:xfrm>
            <a:off x="502920" y="1508760"/>
            <a:ext cx="3703320" cy="4526280"/>
          </a:xfrm>
          <a:prstGeom prst="roundRect">
            <a:avLst>
              <a:gd name="adj" fmla="val 1975"/>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502920" y="1508760"/>
            <a:ext cx="3703320" cy="420624"/>
          </a:xfrm>
          <a:prstGeom prst="roundRect">
            <a:avLst>
              <a:gd name="adj" fmla="val 17391"/>
            </a:avLst>
          </a:prstGeom>
          <a:solidFill>
            <a:srgbClr val="29BA74"/>
          </a:solidFill>
          <a:ln/>
        </p:spPr>
      </p:sp>
      <p:sp>
        <p:nvSpPr>
          <p:cNvPr id="8" name="Shape 6"/>
          <p:cNvSpPr/>
          <p:nvPr/>
        </p:nvSpPr>
        <p:spPr>
          <a:xfrm>
            <a:off x="502920" y="1719072"/>
            <a:ext cx="3703320" cy="210312"/>
          </a:xfrm>
          <a:prstGeom prst="rect">
            <a:avLst/>
          </a:prstGeom>
          <a:solidFill>
            <a:srgbClr val="29BA74"/>
          </a:solidFill>
          <a:ln/>
        </p:spPr>
      </p:sp>
      <p:sp>
        <p:nvSpPr>
          <p:cNvPr id="9" name="Text 7"/>
          <p:cNvSpPr txBox="1"/>
          <p:nvPr/>
        </p:nvSpPr>
        <p:spPr>
          <a:xfrm>
            <a:off x="640080" y="1508760"/>
            <a:ext cx="342900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GREEN — generally fine</a:t>
            </a:r>
            <a:endParaRPr lang="en-US" sz="1400" dirty="0"/>
          </a:p>
        </p:txBody>
      </p:sp>
      <p:sp>
        <p:nvSpPr>
          <p:cNvPr id="10" name="Text 8"/>
          <p:cNvSpPr txBox="1"/>
          <p:nvPr/>
        </p:nvSpPr>
        <p:spPr>
          <a:xfrm>
            <a:off x="704088" y="2148840"/>
            <a:ext cx="3337560" cy="2377440"/>
          </a:xfrm>
          <a:prstGeom prst="rect">
            <a:avLst/>
          </a:prstGeom>
          <a:noFill/>
          <a:ln/>
        </p:spPr>
        <p:txBody>
          <a:bodyPr wrap="square" lIns="0" tIns="0" rIns="0" bIns="0" rtlCol="0" anchor="t"/>
          <a:lstStyle/>
          <a:p>
            <a:pPr marL="127000" indent="-127000">
              <a:spcAft>
                <a:spcPts val="700"/>
              </a:spcAft>
              <a:buSzPct val="100000"/>
              <a:buChar char="•"/>
            </a:pPr>
            <a:r>
              <a:rPr lang="en-US" sz="1100" dirty="0">
                <a:solidFill>
                  <a:srgbClr val="22252B"/>
                </a:solidFill>
                <a:latin typeface="Calibri" pitchFamily="34" charset="0"/>
                <a:ea typeface="Calibri" pitchFamily="34" charset="-122"/>
                <a:cs typeface="Calibri" pitchFamily="34" charset="-120"/>
              </a:rPr>
              <a:t>Public information and published content</a:t>
            </a:r>
            <a:endParaRPr lang="en-US" sz="1100" dirty="0"/>
          </a:p>
          <a:p>
            <a:pPr marL="127000" indent="-127000">
              <a:spcAft>
                <a:spcPts val="700"/>
              </a:spcAft>
              <a:buSzPct val="100000"/>
              <a:buChar char="•"/>
            </a:pPr>
            <a:r>
              <a:rPr lang="en-US" sz="1100" dirty="0">
                <a:solidFill>
                  <a:srgbClr val="22252B"/>
                </a:solidFill>
                <a:latin typeface="Calibri" pitchFamily="34" charset="0"/>
                <a:ea typeface="Calibri" pitchFamily="34" charset="-122"/>
                <a:cs typeface="Calibri" pitchFamily="34" charset="-120"/>
              </a:rPr>
              <a:t>Generic drafts with no identifying details</a:t>
            </a:r>
            <a:endParaRPr lang="en-US" sz="1100" dirty="0"/>
          </a:p>
          <a:p>
            <a:pPr marL="127000" indent="-127000">
              <a:spcAft>
                <a:spcPts val="700"/>
              </a:spcAft>
              <a:buSzPct val="100000"/>
              <a:buChar char="•"/>
            </a:pPr>
            <a:r>
              <a:rPr lang="en-US" sz="1100" dirty="0">
                <a:solidFill>
                  <a:srgbClr val="22252B"/>
                </a:solidFill>
                <a:latin typeface="Calibri" pitchFamily="34" charset="0"/>
                <a:ea typeface="Calibri" pitchFamily="34" charset="-122"/>
                <a:cs typeface="Calibri" pitchFamily="34" charset="-120"/>
              </a:rPr>
              <a:t>Fictional or fully anonymised examples</a:t>
            </a:r>
            <a:endParaRPr lang="en-US" sz="1100" dirty="0"/>
          </a:p>
          <a:p>
            <a:pPr marL="127000" indent="-127000">
              <a:spcAft>
                <a:spcPts val="700"/>
              </a:spcAft>
              <a:buSzPct val="100000"/>
              <a:buChar char="•"/>
            </a:pPr>
            <a:r>
              <a:rPr lang="en-US" sz="1100" dirty="0">
                <a:solidFill>
                  <a:srgbClr val="22252B"/>
                </a:solidFill>
                <a:latin typeface="Calibri" pitchFamily="34" charset="0"/>
                <a:ea typeface="Calibri" pitchFamily="34" charset="-122"/>
                <a:cs typeface="Calibri" pitchFamily="34" charset="-120"/>
              </a:rPr>
              <a:t>Your own learning questions and skill practice</a:t>
            </a:r>
            <a:endParaRPr lang="en-US" sz="1100" dirty="0"/>
          </a:p>
        </p:txBody>
      </p:sp>
      <p:sp>
        <p:nvSpPr>
          <p:cNvPr id="11" name="Text 9"/>
          <p:cNvSpPr txBox="1"/>
          <p:nvPr/>
        </p:nvSpPr>
        <p:spPr>
          <a:xfrm>
            <a:off x="704088" y="4892040"/>
            <a:ext cx="3337560" cy="960120"/>
          </a:xfrm>
          <a:prstGeom prst="rect">
            <a:avLst/>
          </a:prstGeom>
          <a:noFill/>
          <a:ln/>
        </p:spPr>
        <p:txBody>
          <a:bodyPr wrap="square" lIns="0" tIns="0" rIns="0" bIns="0" rtlCol="0" anchor="ctr"/>
          <a:lstStyle/>
          <a:p>
            <a:pPr indent="0" marL="0">
              <a:lnSpc>
                <a:spcPct val="105000"/>
              </a:lnSpc>
              <a:buNone/>
            </a:pPr>
            <a:r>
              <a:rPr lang="en-US" sz="1050" b="1" i="1" dirty="0">
                <a:solidFill>
                  <a:srgbClr val="273370"/>
                </a:solidFill>
                <a:latin typeface="Calibri" pitchFamily="34" charset="0"/>
                <a:ea typeface="Calibri" pitchFamily="34" charset="-122"/>
                <a:cs typeface="Calibri" pitchFamily="34" charset="-120"/>
              </a:rPr>
              <a:t>Any approved tool</a:t>
            </a:r>
            <a:endParaRPr lang="en-US" sz="1050" dirty="0"/>
          </a:p>
        </p:txBody>
      </p:sp>
      <p:sp>
        <p:nvSpPr>
          <p:cNvPr id="12" name="Shape 10"/>
          <p:cNvSpPr/>
          <p:nvPr/>
        </p:nvSpPr>
        <p:spPr>
          <a:xfrm>
            <a:off x="4453128" y="1508760"/>
            <a:ext cx="3703320" cy="4526280"/>
          </a:xfrm>
          <a:prstGeom prst="roundRect">
            <a:avLst>
              <a:gd name="adj" fmla="val 1975"/>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3" name="Shape 11"/>
          <p:cNvSpPr/>
          <p:nvPr/>
        </p:nvSpPr>
        <p:spPr>
          <a:xfrm>
            <a:off x="4453128" y="1508760"/>
            <a:ext cx="3703320" cy="420624"/>
          </a:xfrm>
          <a:prstGeom prst="roundRect">
            <a:avLst>
              <a:gd name="adj" fmla="val 17391"/>
            </a:avLst>
          </a:prstGeom>
          <a:solidFill>
            <a:srgbClr val="FCBD4C"/>
          </a:solidFill>
          <a:ln/>
        </p:spPr>
      </p:sp>
      <p:sp>
        <p:nvSpPr>
          <p:cNvPr id="14" name="Shape 12"/>
          <p:cNvSpPr/>
          <p:nvPr/>
        </p:nvSpPr>
        <p:spPr>
          <a:xfrm>
            <a:off x="4453128" y="1719072"/>
            <a:ext cx="3703320" cy="210312"/>
          </a:xfrm>
          <a:prstGeom prst="rect">
            <a:avLst/>
          </a:prstGeom>
          <a:solidFill>
            <a:srgbClr val="FCBD4C"/>
          </a:solidFill>
          <a:ln/>
        </p:spPr>
      </p:sp>
      <p:sp>
        <p:nvSpPr>
          <p:cNvPr id="15" name="Text 13"/>
          <p:cNvSpPr txBox="1"/>
          <p:nvPr/>
        </p:nvSpPr>
        <p:spPr>
          <a:xfrm>
            <a:off x="4590288" y="1508760"/>
            <a:ext cx="342900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AMBER — approved enterprise tools only</a:t>
            </a:r>
            <a:endParaRPr lang="en-US" sz="1400" dirty="0"/>
          </a:p>
        </p:txBody>
      </p:sp>
      <p:sp>
        <p:nvSpPr>
          <p:cNvPr id="16" name="Text 14"/>
          <p:cNvSpPr txBox="1"/>
          <p:nvPr/>
        </p:nvSpPr>
        <p:spPr>
          <a:xfrm>
            <a:off x="4654296" y="2148840"/>
            <a:ext cx="3337560" cy="2377440"/>
          </a:xfrm>
          <a:prstGeom prst="rect">
            <a:avLst/>
          </a:prstGeom>
          <a:noFill/>
          <a:ln/>
        </p:spPr>
        <p:txBody>
          <a:bodyPr wrap="square" lIns="0" tIns="0" rIns="0" bIns="0" rtlCol="0" anchor="t"/>
          <a:lstStyle/>
          <a:p>
            <a:pPr marL="127000" indent="-127000">
              <a:spcAft>
                <a:spcPts val="700"/>
              </a:spcAft>
              <a:buSzPct val="100000"/>
              <a:buChar char="•"/>
            </a:pPr>
            <a:r>
              <a:rPr lang="en-US" sz="1100" dirty="0">
                <a:solidFill>
                  <a:srgbClr val="22252B"/>
                </a:solidFill>
                <a:latin typeface="Calibri" pitchFamily="34" charset="0"/>
                <a:ea typeface="Calibri" pitchFamily="34" charset="-122"/>
                <a:cs typeface="Calibri" pitchFamily="34" charset="-120"/>
              </a:rPr>
              <a:t>Internal working documents and drafts</a:t>
            </a:r>
            <a:endParaRPr lang="en-US" sz="1100" dirty="0"/>
          </a:p>
          <a:p>
            <a:pPr marL="127000" indent="-127000">
              <a:spcAft>
                <a:spcPts val="700"/>
              </a:spcAft>
              <a:buSzPct val="100000"/>
              <a:buChar char="•"/>
            </a:pPr>
            <a:r>
              <a:rPr lang="en-US" sz="1100" dirty="0">
                <a:solidFill>
                  <a:srgbClr val="22252B"/>
                </a:solidFill>
                <a:latin typeface="Calibri" pitchFamily="34" charset="0"/>
                <a:ea typeface="Calibri" pitchFamily="34" charset="-122"/>
                <a:cs typeface="Calibri" pitchFamily="34" charset="-120"/>
              </a:rPr>
              <a:t>Non-sensitive operational data</a:t>
            </a:r>
            <a:endParaRPr lang="en-US" sz="1100" dirty="0"/>
          </a:p>
          <a:p>
            <a:pPr marL="127000" indent="-127000">
              <a:spcAft>
                <a:spcPts val="700"/>
              </a:spcAft>
              <a:buSzPct val="100000"/>
              <a:buChar char="•"/>
            </a:pPr>
            <a:r>
              <a:rPr lang="en-US" sz="1100" dirty="0">
                <a:solidFill>
                  <a:srgbClr val="22252B"/>
                </a:solidFill>
                <a:latin typeface="Calibri" pitchFamily="34" charset="0"/>
                <a:ea typeface="Calibri" pitchFamily="34" charset="-122"/>
                <a:cs typeface="Calibri" pitchFamily="34" charset="-120"/>
              </a:rPr>
              <a:t>Meeting content within your organisation</a:t>
            </a:r>
            <a:endParaRPr lang="en-US" sz="1100" dirty="0"/>
          </a:p>
          <a:p>
            <a:pPr marL="127000" indent="-127000">
              <a:spcAft>
                <a:spcPts val="700"/>
              </a:spcAft>
              <a:buSzPct val="100000"/>
              <a:buChar char="•"/>
            </a:pPr>
            <a:r>
              <a:rPr lang="en-US" sz="1100" dirty="0">
                <a:solidFill>
                  <a:srgbClr val="22252B"/>
                </a:solidFill>
                <a:latin typeface="Calibri" pitchFamily="34" charset="0"/>
                <a:ea typeface="Calibri" pitchFamily="34" charset="-122"/>
                <a:cs typeface="Calibri" pitchFamily="34" charset="-120"/>
              </a:rPr>
              <a:t>Anything you'd share with a colleague but not publish</a:t>
            </a:r>
            <a:endParaRPr lang="en-US" sz="1100" dirty="0"/>
          </a:p>
        </p:txBody>
      </p:sp>
      <p:sp>
        <p:nvSpPr>
          <p:cNvPr id="17" name="Text 15"/>
          <p:cNvSpPr txBox="1"/>
          <p:nvPr/>
        </p:nvSpPr>
        <p:spPr>
          <a:xfrm>
            <a:off x="4654296" y="4892040"/>
            <a:ext cx="3337560" cy="960120"/>
          </a:xfrm>
          <a:prstGeom prst="rect">
            <a:avLst/>
          </a:prstGeom>
          <a:noFill/>
          <a:ln/>
        </p:spPr>
        <p:txBody>
          <a:bodyPr wrap="square" lIns="0" tIns="0" rIns="0" bIns="0" rtlCol="0" anchor="ctr"/>
          <a:lstStyle/>
          <a:p>
            <a:pPr indent="0" marL="0">
              <a:lnSpc>
                <a:spcPct val="105000"/>
              </a:lnSpc>
              <a:buNone/>
            </a:pPr>
            <a:r>
              <a:rPr lang="en-US" sz="1050" b="1" i="1" dirty="0">
                <a:solidFill>
                  <a:srgbClr val="273370"/>
                </a:solidFill>
                <a:latin typeface="Calibri" pitchFamily="34" charset="0"/>
                <a:ea typeface="Calibri" pitchFamily="34" charset="-122"/>
                <a:cs typeface="Calibri" pitchFamily="34" charset="-120"/>
              </a:rPr>
              <a:t>Only tools your organisation licensed &amp; configured (e.g., enterprise Copilot within your tenant)</a:t>
            </a:r>
            <a:endParaRPr lang="en-US" sz="1050" dirty="0"/>
          </a:p>
        </p:txBody>
      </p:sp>
      <p:sp>
        <p:nvSpPr>
          <p:cNvPr id="18" name="Shape 16"/>
          <p:cNvSpPr/>
          <p:nvPr/>
        </p:nvSpPr>
        <p:spPr>
          <a:xfrm>
            <a:off x="8403336" y="1508760"/>
            <a:ext cx="3703320" cy="4526280"/>
          </a:xfrm>
          <a:prstGeom prst="roundRect">
            <a:avLst>
              <a:gd name="adj" fmla="val 1975"/>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9" name="Shape 17"/>
          <p:cNvSpPr/>
          <p:nvPr/>
        </p:nvSpPr>
        <p:spPr>
          <a:xfrm>
            <a:off x="8403336" y="1508760"/>
            <a:ext cx="3703320" cy="420624"/>
          </a:xfrm>
          <a:prstGeom prst="roundRect">
            <a:avLst>
              <a:gd name="adj" fmla="val 17391"/>
            </a:avLst>
          </a:prstGeom>
          <a:solidFill>
            <a:srgbClr val="D45C5C"/>
          </a:solidFill>
          <a:ln/>
        </p:spPr>
      </p:sp>
      <p:sp>
        <p:nvSpPr>
          <p:cNvPr id="20" name="Shape 18"/>
          <p:cNvSpPr/>
          <p:nvPr/>
        </p:nvSpPr>
        <p:spPr>
          <a:xfrm>
            <a:off x="8403336" y="1719072"/>
            <a:ext cx="3703320" cy="210312"/>
          </a:xfrm>
          <a:prstGeom prst="rect">
            <a:avLst/>
          </a:prstGeom>
          <a:solidFill>
            <a:srgbClr val="D45C5C"/>
          </a:solidFill>
          <a:ln/>
        </p:spPr>
      </p:sp>
      <p:sp>
        <p:nvSpPr>
          <p:cNvPr id="21" name="Text 19"/>
          <p:cNvSpPr txBox="1"/>
          <p:nvPr/>
        </p:nvSpPr>
        <p:spPr>
          <a:xfrm>
            <a:off x="8540496" y="1508760"/>
            <a:ext cx="342900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RED — never into external AI tools</a:t>
            </a:r>
            <a:endParaRPr lang="en-US" sz="1400" dirty="0"/>
          </a:p>
        </p:txBody>
      </p:sp>
      <p:sp>
        <p:nvSpPr>
          <p:cNvPr id="22" name="Text 20"/>
          <p:cNvSpPr txBox="1"/>
          <p:nvPr/>
        </p:nvSpPr>
        <p:spPr>
          <a:xfrm>
            <a:off x="8604504" y="2148840"/>
            <a:ext cx="3337560" cy="2377440"/>
          </a:xfrm>
          <a:prstGeom prst="rect">
            <a:avLst/>
          </a:prstGeom>
          <a:noFill/>
          <a:ln/>
        </p:spPr>
        <p:txBody>
          <a:bodyPr wrap="square" lIns="0" tIns="0" rIns="0" bIns="0" rtlCol="0" anchor="t"/>
          <a:lstStyle/>
          <a:p>
            <a:pPr marL="127000" indent="-127000">
              <a:spcAft>
                <a:spcPts val="700"/>
              </a:spcAft>
              <a:buSzPct val="100000"/>
              <a:buChar char="•"/>
            </a:pPr>
            <a:r>
              <a:rPr lang="en-US" sz="1100" dirty="0">
                <a:solidFill>
                  <a:srgbClr val="22252B"/>
                </a:solidFill>
                <a:latin typeface="Calibri" pitchFamily="34" charset="0"/>
                <a:ea typeface="Calibri" pitchFamily="34" charset="-122"/>
                <a:cs typeface="Calibri" pitchFamily="34" charset="-120"/>
              </a:rPr>
              <a:t>Personal data (employees, customers, citizens)</a:t>
            </a:r>
            <a:endParaRPr lang="en-US" sz="1100" dirty="0"/>
          </a:p>
          <a:p>
            <a:pPr marL="127000" indent="-127000">
              <a:spcAft>
                <a:spcPts val="700"/>
              </a:spcAft>
              <a:buSzPct val="100000"/>
              <a:buChar char="•"/>
            </a:pPr>
            <a:r>
              <a:rPr lang="en-US" sz="1100" dirty="0">
                <a:solidFill>
                  <a:srgbClr val="22252B"/>
                </a:solidFill>
                <a:latin typeface="Calibri" pitchFamily="34" charset="0"/>
                <a:ea typeface="Calibri" pitchFamily="34" charset="-122"/>
                <a:cs typeface="Calibri" pitchFamily="34" charset="-120"/>
              </a:rPr>
              <a:t>Confidential, classified or pre-decision content</a:t>
            </a:r>
            <a:endParaRPr lang="en-US" sz="1100" dirty="0"/>
          </a:p>
          <a:p>
            <a:pPr marL="127000" indent="-127000">
              <a:spcAft>
                <a:spcPts val="700"/>
              </a:spcAft>
              <a:buSzPct val="100000"/>
              <a:buChar char="•"/>
            </a:pPr>
            <a:r>
              <a:rPr lang="en-US" sz="1100" dirty="0">
                <a:solidFill>
                  <a:srgbClr val="22252B"/>
                </a:solidFill>
                <a:latin typeface="Calibri" pitchFamily="34" charset="0"/>
                <a:ea typeface="Calibri" pitchFamily="34" charset="-122"/>
                <a:cs typeface="Calibri" pitchFamily="34" charset="-120"/>
              </a:rPr>
              <a:t>Financial, legal, security or contract details</a:t>
            </a:r>
            <a:endParaRPr lang="en-US" sz="1100" dirty="0"/>
          </a:p>
          <a:p>
            <a:pPr marL="127000" indent="-127000">
              <a:spcAft>
                <a:spcPts val="700"/>
              </a:spcAft>
              <a:buSzPct val="100000"/>
              <a:buChar char="•"/>
            </a:pPr>
            <a:r>
              <a:rPr lang="en-US" sz="1100" dirty="0">
                <a:solidFill>
                  <a:srgbClr val="22252B"/>
                </a:solidFill>
                <a:latin typeface="Calibri" pitchFamily="34" charset="0"/>
                <a:ea typeface="Calibri" pitchFamily="34" charset="-122"/>
                <a:cs typeface="Calibri" pitchFamily="34" charset="-120"/>
              </a:rPr>
              <a:t>Passwords, credentials, unpublished figures</a:t>
            </a:r>
            <a:endParaRPr lang="en-US" sz="1100" dirty="0"/>
          </a:p>
        </p:txBody>
      </p:sp>
      <p:sp>
        <p:nvSpPr>
          <p:cNvPr id="23" name="Text 21"/>
          <p:cNvSpPr txBox="1"/>
          <p:nvPr/>
        </p:nvSpPr>
        <p:spPr>
          <a:xfrm>
            <a:off x="8604504" y="4892040"/>
            <a:ext cx="3337560" cy="960120"/>
          </a:xfrm>
          <a:prstGeom prst="rect">
            <a:avLst/>
          </a:prstGeom>
          <a:noFill/>
          <a:ln/>
        </p:spPr>
        <p:txBody>
          <a:bodyPr wrap="square" lIns="0" tIns="0" rIns="0" bIns="0" rtlCol="0" anchor="ctr"/>
          <a:lstStyle/>
          <a:p>
            <a:pPr indent="0" marL="0">
              <a:lnSpc>
                <a:spcPct val="105000"/>
              </a:lnSpc>
              <a:buNone/>
            </a:pPr>
            <a:r>
              <a:rPr lang="en-US" sz="1050" b="1" i="1" dirty="0">
                <a:solidFill>
                  <a:srgbClr val="273370"/>
                </a:solidFill>
                <a:latin typeface="Calibri" pitchFamily="34" charset="0"/>
                <a:ea typeface="Calibri" pitchFamily="34" charset="-122"/>
                <a:cs typeface="Calibri" pitchFamily="34" charset="-120"/>
              </a:rPr>
              <a:t>If in doubt: ask your data office — before, not after</a:t>
            </a:r>
            <a:endParaRPr lang="en-US" sz="1050" dirty="0"/>
          </a:p>
        </p:txBody>
      </p:sp>
      <p:sp>
        <p:nvSpPr>
          <p:cNvPr id="24" name="Text 22"/>
          <p:cNvSpPr txBox="1"/>
          <p:nvPr/>
        </p:nvSpPr>
        <p:spPr>
          <a:xfrm>
            <a:off x="502920" y="6144768"/>
            <a:ext cx="11155680" cy="292608"/>
          </a:xfrm>
          <a:prstGeom prst="rect">
            <a:avLst/>
          </a:prstGeom>
          <a:noFill/>
          <a:ln/>
        </p:spPr>
        <p:txBody>
          <a:bodyPr wrap="square" lIns="0" tIns="0" rIns="0" bIns="0" rtlCol="0" anchor="ctr"/>
          <a:lstStyle/>
          <a:p>
            <a:pPr indent="0" marL="0">
              <a:buNone/>
            </a:pPr>
            <a:r>
              <a:rPr lang="en-US" sz="1000" i="1" dirty="0">
                <a:solidFill>
                  <a:srgbClr val="696969"/>
                </a:solidFill>
                <a:latin typeface="Calibri" pitchFamily="34" charset="0"/>
                <a:ea typeface="Calibri" pitchFamily="34" charset="-122"/>
                <a:cs typeface="Calibri" pitchFamily="34" charset="-120"/>
              </a:rPr>
              <a:t>Classifications follow your organisation's data policy — when your policy is stricter than this slide, your policy wins.</a:t>
            </a:r>
            <a:endParaRPr lang="en-US" sz="1000" dirty="0"/>
          </a:p>
        </p:txBody>
      </p:sp>
      <p:sp>
        <p:nvSpPr>
          <p:cNvPr id="25" name="Text 23"/>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26" name="Text 24"/>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66</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Bias, fairness &amp; accountability</a:t>
            </a:r>
            <a:endParaRPr lang="en-US" sz="3000" dirty="0"/>
          </a:p>
        </p:txBody>
      </p:sp>
      <p:sp>
        <p:nvSpPr>
          <p:cNvPr id="3" name="Shape 1"/>
          <p:cNvSpPr/>
          <p:nvPr/>
        </p:nvSpPr>
        <p:spPr>
          <a:xfrm>
            <a:off x="10565892" y="457200"/>
            <a:ext cx="1120140" cy="384048"/>
          </a:xfrm>
          <a:prstGeom prst="roundRect">
            <a:avLst>
              <a:gd name="adj" fmla="val 50000"/>
            </a:avLst>
          </a:prstGeom>
          <a:solidFill>
            <a:srgbClr val="94A0DA"/>
          </a:solidFill>
          <a:ln/>
        </p:spPr>
      </p:sp>
      <p:sp>
        <p:nvSpPr>
          <p:cNvPr id="4" name="Text 2"/>
          <p:cNvSpPr txBox="1"/>
          <p:nvPr/>
        </p:nvSpPr>
        <p:spPr>
          <a:xfrm>
            <a:off x="10565892" y="457200"/>
            <a:ext cx="11201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CONCEPT</a:t>
            </a:r>
            <a:endParaRPr lang="en-US" sz="1200" dirty="0"/>
          </a:p>
        </p:txBody>
      </p:sp>
      <p:sp>
        <p:nvSpPr>
          <p:cNvPr id="5" name="Shape 3"/>
          <p:cNvSpPr/>
          <p:nvPr/>
        </p:nvSpPr>
        <p:spPr>
          <a:xfrm>
            <a:off x="502920" y="1417320"/>
            <a:ext cx="5532120" cy="4617720"/>
          </a:xfrm>
          <a:prstGeom prst="roundRect">
            <a:avLst>
              <a:gd name="adj" fmla="val 1584"/>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502920" y="1417320"/>
            <a:ext cx="5532120" cy="420624"/>
          </a:xfrm>
          <a:prstGeom prst="roundRect">
            <a:avLst>
              <a:gd name="adj" fmla="val 17391"/>
            </a:avLst>
          </a:prstGeom>
          <a:solidFill>
            <a:srgbClr val="6258A6"/>
          </a:solidFill>
          <a:ln/>
        </p:spPr>
      </p:sp>
      <p:sp>
        <p:nvSpPr>
          <p:cNvPr id="7" name="Shape 5"/>
          <p:cNvSpPr/>
          <p:nvPr/>
        </p:nvSpPr>
        <p:spPr>
          <a:xfrm>
            <a:off x="502920" y="1627632"/>
            <a:ext cx="5532120" cy="210312"/>
          </a:xfrm>
          <a:prstGeom prst="rect">
            <a:avLst/>
          </a:prstGeom>
          <a:solidFill>
            <a:srgbClr val="6258A6"/>
          </a:solidFill>
          <a:ln/>
        </p:spPr>
      </p:sp>
      <p:sp>
        <p:nvSpPr>
          <p:cNvPr id="8" name="Text 6"/>
          <p:cNvSpPr txBox="1"/>
          <p:nvPr/>
        </p:nvSpPr>
        <p:spPr>
          <a:xfrm>
            <a:off x="640080" y="1417320"/>
            <a:ext cx="525780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Bias: quiet, plausible, everywhere</a:t>
            </a:r>
            <a:endParaRPr lang="en-US" sz="1400" dirty="0"/>
          </a:p>
        </p:txBody>
      </p:sp>
      <p:sp>
        <p:nvSpPr>
          <p:cNvPr id="9" name="Text 7"/>
          <p:cNvSpPr txBox="1"/>
          <p:nvPr/>
        </p:nvSpPr>
        <p:spPr>
          <a:xfrm>
            <a:off x="777240" y="2011680"/>
            <a:ext cx="5029200" cy="3840480"/>
          </a:xfrm>
          <a:prstGeom prst="rect">
            <a:avLst/>
          </a:prstGeom>
          <a:noFill/>
          <a:ln/>
        </p:spPr>
        <p:txBody>
          <a:bodyPr wrap="square" lIns="0" tIns="0" rIns="0" bIns="0" rtlCol="0" anchor="t"/>
          <a:lstStyle/>
          <a:p>
            <a:pPr marL="152400" indent="-152400">
              <a:lnSpc>
                <a:spcPct val="105000"/>
              </a:lnSpc>
              <a:spcAft>
                <a:spcPts val="1000"/>
              </a:spcAft>
              <a:buSzPct val="100000"/>
              <a:buChar char="•"/>
            </a:pPr>
            <a:r>
              <a:rPr lang="en-US" sz="1250" dirty="0">
                <a:solidFill>
                  <a:srgbClr val="22252B"/>
                </a:solidFill>
                <a:latin typeface="Calibri" pitchFamily="34" charset="0"/>
                <a:ea typeface="Calibri" pitchFamily="34" charset="-122"/>
                <a:cs typeface="Calibri" pitchFamily="34" charset="-120"/>
              </a:rPr>
              <a:t>Models reproduce patterns in their training data — including stereotypes about gender, nationality, age and roles.</a:t>
            </a:r>
            <a:endParaRPr lang="en-US" sz="1250" dirty="0"/>
          </a:p>
          <a:p>
            <a:pPr marL="152400" indent="-152400">
              <a:lnSpc>
                <a:spcPct val="105000"/>
              </a:lnSpc>
              <a:spcAft>
                <a:spcPts val="1000"/>
              </a:spcAft>
              <a:buSzPct val="100000"/>
              <a:buChar char="•"/>
            </a:pPr>
            <a:r>
              <a:rPr lang="en-US" sz="1250" dirty="0">
                <a:solidFill>
                  <a:srgbClr val="22252B"/>
                </a:solidFill>
                <a:latin typeface="Calibri" pitchFamily="34" charset="0"/>
                <a:ea typeface="Calibri" pitchFamily="34" charset="-122"/>
                <a:cs typeface="Calibri" pitchFamily="34" charset="-120"/>
              </a:rPr>
              <a:t>It appears subtly: word choice, whose perspective is centred, which examples are “default”.</a:t>
            </a:r>
            <a:endParaRPr lang="en-US" sz="1250" dirty="0"/>
          </a:p>
          <a:p>
            <a:pPr marL="152400" indent="-152400">
              <a:lnSpc>
                <a:spcPct val="105000"/>
              </a:lnSpc>
              <a:spcAft>
                <a:spcPts val="1000"/>
              </a:spcAft>
              <a:buSzPct val="100000"/>
              <a:buChar char="•"/>
            </a:pPr>
            <a:r>
              <a:rPr lang="en-US" sz="1250" dirty="0">
                <a:solidFill>
                  <a:srgbClr val="22252B"/>
                </a:solidFill>
                <a:latin typeface="Calibri" pitchFamily="34" charset="0"/>
                <a:ea typeface="Calibri" pitchFamily="34" charset="-122"/>
                <a:cs typeface="Calibri" pitchFamily="34" charset="-120"/>
              </a:rPr>
              <a:t>Countermeasures: ask for neutral language; request multiple perspectives; have diverse reviewers; never let AI characterise groups of people.</a:t>
            </a:r>
            <a:endParaRPr lang="en-US" sz="1250" dirty="0"/>
          </a:p>
          <a:p>
            <a:pPr marL="152400" indent="-152400">
              <a:lnSpc>
                <a:spcPct val="105000"/>
              </a:lnSpc>
              <a:spcAft>
                <a:spcPts val="1000"/>
              </a:spcAft>
              <a:buSzPct val="100000"/>
              <a:buChar char="•"/>
            </a:pPr>
            <a:r>
              <a:rPr lang="en-US" sz="1250" dirty="0">
                <a:solidFill>
                  <a:srgbClr val="22252B"/>
                </a:solidFill>
                <a:latin typeface="Calibri" pitchFamily="34" charset="0"/>
                <a:ea typeface="Calibri" pitchFamily="34" charset="-122"/>
                <a:cs typeface="Calibri" pitchFamily="34" charset="-120"/>
              </a:rPr>
              <a:t>Remember Activity 3.2: the biased sentence was the hardest error to catch.</a:t>
            </a:r>
            <a:endParaRPr lang="en-US" sz="1250" dirty="0"/>
          </a:p>
        </p:txBody>
      </p:sp>
      <p:sp>
        <p:nvSpPr>
          <p:cNvPr id="10" name="Shape 8"/>
          <p:cNvSpPr/>
          <p:nvPr/>
        </p:nvSpPr>
        <p:spPr>
          <a:xfrm>
            <a:off x="6263640" y="1417320"/>
            <a:ext cx="5440680" cy="4617720"/>
          </a:xfrm>
          <a:prstGeom prst="roundRect">
            <a:avLst>
              <a:gd name="adj" fmla="val 1584"/>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1" name="Shape 9"/>
          <p:cNvSpPr/>
          <p:nvPr/>
        </p:nvSpPr>
        <p:spPr>
          <a:xfrm>
            <a:off x="6263640" y="1417320"/>
            <a:ext cx="5440680" cy="420624"/>
          </a:xfrm>
          <a:prstGeom prst="roundRect">
            <a:avLst>
              <a:gd name="adj" fmla="val 17391"/>
            </a:avLst>
          </a:prstGeom>
          <a:solidFill>
            <a:srgbClr val="273370"/>
          </a:solidFill>
          <a:ln/>
        </p:spPr>
      </p:sp>
      <p:sp>
        <p:nvSpPr>
          <p:cNvPr id="12" name="Shape 10"/>
          <p:cNvSpPr/>
          <p:nvPr/>
        </p:nvSpPr>
        <p:spPr>
          <a:xfrm>
            <a:off x="6263640" y="1627632"/>
            <a:ext cx="5440680" cy="210312"/>
          </a:xfrm>
          <a:prstGeom prst="rect">
            <a:avLst/>
          </a:prstGeom>
          <a:solidFill>
            <a:srgbClr val="273370"/>
          </a:solidFill>
          <a:ln/>
        </p:spPr>
      </p:sp>
      <p:sp>
        <p:nvSpPr>
          <p:cNvPr id="13" name="Text 11"/>
          <p:cNvSpPr txBox="1"/>
          <p:nvPr/>
        </p:nvSpPr>
        <p:spPr>
          <a:xfrm>
            <a:off x="6400800" y="1417320"/>
            <a:ext cx="516636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Accountability: always yours</a:t>
            </a:r>
            <a:endParaRPr lang="en-US" sz="1400" dirty="0"/>
          </a:p>
        </p:txBody>
      </p:sp>
      <p:sp>
        <p:nvSpPr>
          <p:cNvPr id="14" name="Text 12"/>
          <p:cNvSpPr txBox="1"/>
          <p:nvPr/>
        </p:nvSpPr>
        <p:spPr>
          <a:xfrm>
            <a:off x="6537960" y="2011680"/>
            <a:ext cx="4937760" cy="3840480"/>
          </a:xfrm>
          <a:prstGeom prst="rect">
            <a:avLst/>
          </a:prstGeom>
          <a:noFill/>
          <a:ln/>
        </p:spPr>
        <p:txBody>
          <a:bodyPr wrap="square" lIns="0" tIns="0" rIns="0" bIns="0" rtlCol="0" anchor="t"/>
          <a:lstStyle/>
          <a:p>
            <a:pPr marL="152400" indent="-152400">
              <a:lnSpc>
                <a:spcPct val="105000"/>
              </a:lnSpc>
              <a:spcAft>
                <a:spcPts val="1000"/>
              </a:spcAft>
              <a:buSzPct val="100000"/>
              <a:buChar char="•"/>
            </a:pPr>
            <a:r>
              <a:rPr lang="en-US" sz="1250" dirty="0">
                <a:solidFill>
                  <a:srgbClr val="22252B"/>
                </a:solidFill>
                <a:latin typeface="Calibri" pitchFamily="34" charset="0"/>
                <a:ea typeface="Calibri" pitchFamily="34" charset="-122"/>
                <a:cs typeface="Calibri" pitchFamily="34" charset="-120"/>
              </a:rPr>
              <a:t>“The AI wrote it” is never a defence. If your name is on it, you own it — errors included.</a:t>
            </a:r>
            <a:endParaRPr lang="en-US" sz="1250" dirty="0"/>
          </a:p>
          <a:p>
            <a:pPr marL="152400" indent="-152400">
              <a:lnSpc>
                <a:spcPct val="105000"/>
              </a:lnSpc>
              <a:spcAft>
                <a:spcPts val="1000"/>
              </a:spcAft>
              <a:buSzPct val="100000"/>
              <a:buChar char="•"/>
            </a:pPr>
            <a:r>
              <a:rPr lang="en-US" sz="1250" dirty="0">
                <a:solidFill>
                  <a:srgbClr val="22252B"/>
                </a:solidFill>
                <a:latin typeface="Calibri" pitchFamily="34" charset="0"/>
                <a:ea typeface="Calibri" pitchFamily="34" charset="-122"/>
                <a:cs typeface="Calibri" pitchFamily="34" charset="-120"/>
              </a:rPr>
              <a:t>Keep humans in the loop for anything affecting people: evaluations, decisions, official positions.</a:t>
            </a:r>
            <a:endParaRPr lang="en-US" sz="1250" dirty="0"/>
          </a:p>
          <a:p>
            <a:pPr marL="152400" indent="-152400">
              <a:lnSpc>
                <a:spcPct val="105000"/>
              </a:lnSpc>
              <a:spcAft>
                <a:spcPts val="1000"/>
              </a:spcAft>
              <a:buSzPct val="100000"/>
              <a:buChar char="•"/>
            </a:pPr>
            <a:r>
              <a:rPr lang="en-US" sz="1250" dirty="0">
                <a:solidFill>
                  <a:srgbClr val="22252B"/>
                </a:solidFill>
                <a:latin typeface="Calibri" pitchFamily="34" charset="0"/>
                <a:ea typeface="Calibri" pitchFamily="34" charset="-122"/>
                <a:cs typeface="Calibri" pitchFamily="34" charset="-120"/>
              </a:rPr>
              <a:t>Be transparent where it matters: follow your organisation's rules on disclosing AI assistance.</a:t>
            </a:r>
            <a:endParaRPr lang="en-US" sz="1250" dirty="0"/>
          </a:p>
          <a:p>
            <a:pPr marL="152400" indent="-152400">
              <a:lnSpc>
                <a:spcPct val="105000"/>
              </a:lnSpc>
              <a:spcAft>
                <a:spcPts val="1000"/>
              </a:spcAft>
              <a:buSzPct val="100000"/>
              <a:buChar char="•"/>
            </a:pPr>
            <a:r>
              <a:rPr lang="en-US" sz="1250" dirty="0">
                <a:solidFill>
                  <a:srgbClr val="22252B"/>
                </a:solidFill>
                <a:latin typeface="Calibri" pitchFamily="34" charset="0"/>
                <a:ea typeface="Calibri" pitchFamily="34" charset="-122"/>
                <a:cs typeface="Calibri" pitchFamily="34" charset="-120"/>
              </a:rPr>
              <a:t>AI is a drafting assistant, not a decision-maker — national guidance is explicit that critical decisions stay human.</a:t>
            </a:r>
            <a:endParaRPr lang="en-US" sz="1250" dirty="0"/>
          </a:p>
        </p:txBody>
      </p:sp>
      <p:sp>
        <p:nvSpPr>
          <p:cNvPr id="15" name="Text 13"/>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16" name="Text 14"/>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67</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Activity 3.3 — Responsible-use scenario cards</a:t>
            </a:r>
            <a:endParaRPr lang="en-US" sz="3000" dirty="0"/>
          </a:p>
        </p:txBody>
      </p:sp>
      <p:sp>
        <p:nvSpPr>
          <p:cNvPr id="3" name="Text 1"/>
          <p:cNvSpPr txBox="1"/>
          <p:nvPr/>
        </p:nvSpPr>
        <p:spPr>
          <a:xfrm>
            <a:off x="502920" y="987552"/>
            <a:ext cx="11155680" cy="365760"/>
          </a:xfrm>
          <a:prstGeom prst="rect">
            <a:avLst/>
          </a:prstGeom>
          <a:noFill/>
          <a:ln/>
        </p:spPr>
        <p:txBody>
          <a:bodyPr wrap="square" lIns="0" tIns="0" rIns="0" bIns="0" rtlCol="0" anchor="ctr"/>
          <a:lstStyle/>
          <a:p>
            <a:pPr indent="0" marL="0">
              <a:buNone/>
            </a:pPr>
            <a:r>
              <a:rPr lang="en-US" sz="1400" dirty="0">
                <a:solidFill>
                  <a:srgbClr val="696969"/>
                </a:solidFill>
                <a:latin typeface="Calibri" pitchFamily="34" charset="0"/>
                <a:ea typeface="Calibri" pitchFamily="34" charset="-122"/>
                <a:cs typeface="Calibri" pitchFamily="34" charset="-120"/>
              </a:rPr>
              <a:t>Groups • 25 minutes • Workbook p. 10</a:t>
            </a:r>
            <a:endParaRPr lang="en-US" sz="1400" dirty="0"/>
          </a:p>
        </p:txBody>
      </p:sp>
      <p:sp>
        <p:nvSpPr>
          <p:cNvPr id="4" name="Shape 2"/>
          <p:cNvSpPr/>
          <p:nvPr/>
        </p:nvSpPr>
        <p:spPr>
          <a:xfrm>
            <a:off x="10460736" y="457200"/>
            <a:ext cx="1225296" cy="384048"/>
          </a:xfrm>
          <a:prstGeom prst="roundRect">
            <a:avLst>
              <a:gd name="adj" fmla="val 50000"/>
            </a:avLst>
          </a:prstGeom>
          <a:solidFill>
            <a:srgbClr val="29BA74"/>
          </a:solidFill>
          <a:ln/>
        </p:spPr>
      </p:sp>
      <p:sp>
        <p:nvSpPr>
          <p:cNvPr id="5" name="Text 3"/>
          <p:cNvSpPr txBox="1"/>
          <p:nvPr/>
        </p:nvSpPr>
        <p:spPr>
          <a:xfrm>
            <a:off x="10460736" y="457200"/>
            <a:ext cx="1225296"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ACTIVITY</a:t>
            </a:r>
            <a:endParaRPr lang="en-US" sz="1200" dirty="0"/>
          </a:p>
        </p:txBody>
      </p:sp>
      <p:sp>
        <p:nvSpPr>
          <p:cNvPr id="6" name="Shape 4"/>
          <p:cNvSpPr/>
          <p:nvPr/>
        </p:nvSpPr>
        <p:spPr>
          <a:xfrm>
            <a:off x="502920" y="1463040"/>
            <a:ext cx="11201400" cy="3931920"/>
          </a:xfrm>
          <a:prstGeom prst="roundRect">
            <a:avLst>
              <a:gd name="adj" fmla="val 1860"/>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502920" y="1463040"/>
            <a:ext cx="11201400" cy="420624"/>
          </a:xfrm>
          <a:prstGeom prst="roundRect">
            <a:avLst>
              <a:gd name="adj" fmla="val 17391"/>
            </a:avLst>
          </a:prstGeom>
          <a:solidFill>
            <a:srgbClr val="29BA74"/>
          </a:solidFill>
          <a:ln/>
        </p:spPr>
      </p:sp>
      <p:sp>
        <p:nvSpPr>
          <p:cNvPr id="8" name="Shape 6"/>
          <p:cNvSpPr/>
          <p:nvPr/>
        </p:nvSpPr>
        <p:spPr>
          <a:xfrm>
            <a:off x="502920" y="1673352"/>
            <a:ext cx="11201400" cy="210312"/>
          </a:xfrm>
          <a:prstGeom prst="rect">
            <a:avLst/>
          </a:prstGeom>
          <a:solidFill>
            <a:srgbClr val="29BA74"/>
          </a:solidFill>
          <a:ln/>
        </p:spPr>
      </p:sp>
      <p:sp>
        <p:nvSpPr>
          <p:cNvPr id="9" name="Text 7"/>
          <p:cNvSpPr txBox="1"/>
          <p:nvPr/>
        </p:nvSpPr>
        <p:spPr>
          <a:xfrm>
            <a:off x="640080" y="1463040"/>
            <a:ext cx="1092708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Judge each scenario: Green (go), Amber (go with conditions), or Red (stop) — and state your conditions</a:t>
            </a:r>
            <a:endParaRPr lang="en-US" sz="1400" dirty="0"/>
          </a:p>
        </p:txBody>
      </p:sp>
      <p:sp>
        <p:nvSpPr>
          <p:cNvPr id="10" name="Text 8"/>
          <p:cNvSpPr txBox="1"/>
          <p:nvPr/>
        </p:nvSpPr>
        <p:spPr>
          <a:xfrm>
            <a:off x="777240" y="2103120"/>
            <a:ext cx="10607040" cy="3108960"/>
          </a:xfrm>
          <a:prstGeom prst="rect">
            <a:avLst/>
          </a:prstGeom>
          <a:noFill/>
          <a:ln/>
        </p:spPr>
        <p:txBody>
          <a:bodyPr wrap="square" lIns="0" tIns="0" rIns="0" bIns="0" rtlCol="0" anchor="t"/>
          <a:lstStyle/>
          <a:p>
            <a:pPr marL="127000" indent="-127000">
              <a:spcAft>
                <a:spcPts val="800"/>
              </a:spcAft>
              <a:buSzPct val="100000"/>
              <a:buChar char="•"/>
            </a:pPr>
            <a:r>
              <a:rPr lang="en-US" sz="1250" dirty="0">
                <a:solidFill>
                  <a:srgbClr val="22252B"/>
                </a:solidFill>
                <a:latin typeface="Calibri" pitchFamily="34" charset="0"/>
                <a:ea typeface="Calibri" pitchFamily="34" charset="-122"/>
                <a:cs typeface="Calibri" pitchFamily="34" charset="-120"/>
              </a:rPr>
              <a:t>1. Omar pastes a citizen complaint — including the citizen's name and ID number — into a free chatbot to draft a reply.</a:t>
            </a:r>
            <a:endParaRPr lang="en-US" sz="1250" dirty="0"/>
          </a:p>
          <a:p>
            <a:pPr marL="127000" indent="-127000">
              <a:spcAft>
                <a:spcPts val="800"/>
              </a:spcAft>
              <a:buSzPct val="100000"/>
              <a:buChar char="•"/>
            </a:pPr>
            <a:r>
              <a:rPr lang="en-US" sz="1250" dirty="0">
                <a:solidFill>
                  <a:srgbClr val="22252B"/>
                </a:solidFill>
                <a:latin typeface="Calibri" pitchFamily="34" charset="0"/>
                <a:ea typeface="Calibri" pitchFamily="34" charset="-122"/>
                <a:cs typeface="Calibri" pitchFamily="34" charset="-120"/>
              </a:rPr>
              <a:t>2. Huda uses enterprise Copilot to summarise an internal strategy draft before her team meeting.</a:t>
            </a:r>
            <a:endParaRPr lang="en-US" sz="1250" dirty="0"/>
          </a:p>
          <a:p>
            <a:pPr marL="127000" indent="-127000">
              <a:spcAft>
                <a:spcPts val="800"/>
              </a:spcAft>
              <a:buSzPct val="100000"/>
              <a:buChar char="•"/>
            </a:pPr>
            <a:r>
              <a:rPr lang="en-US" sz="1250" dirty="0">
                <a:solidFill>
                  <a:srgbClr val="22252B"/>
                </a:solidFill>
                <a:latin typeface="Calibri" pitchFamily="34" charset="0"/>
                <a:ea typeface="Calibri" pitchFamily="34" charset="-122"/>
                <a:cs typeface="Calibri" pitchFamily="34" charset="-120"/>
              </a:rPr>
              <a:t>3. A manager asks AI to rank his team members' annual performance based on their self-assessments, and to draft the ratings.</a:t>
            </a:r>
            <a:endParaRPr lang="en-US" sz="1250" dirty="0"/>
          </a:p>
          <a:p>
            <a:pPr marL="127000" indent="-127000">
              <a:spcAft>
                <a:spcPts val="800"/>
              </a:spcAft>
              <a:buSzPct val="100000"/>
              <a:buChar char="•"/>
            </a:pPr>
            <a:r>
              <a:rPr lang="en-US" sz="1250" dirty="0">
                <a:solidFill>
                  <a:srgbClr val="22252B"/>
                </a:solidFill>
                <a:latin typeface="Calibri" pitchFamily="34" charset="0"/>
                <a:ea typeface="Calibri" pitchFamily="34" charset="-122"/>
                <a:cs typeface="Calibri" pitchFamily="34" charset="-120"/>
              </a:rPr>
              <a:t>4. Layla asks ChatGPT to explain a published ministerial circular in plain language, then verifies against the official text.</a:t>
            </a:r>
            <a:endParaRPr lang="en-US" sz="1250" dirty="0"/>
          </a:p>
          <a:p>
            <a:pPr marL="127000" indent="-127000">
              <a:spcAft>
                <a:spcPts val="800"/>
              </a:spcAft>
              <a:buSzPct val="100000"/>
              <a:buChar char="•"/>
            </a:pPr>
            <a:r>
              <a:rPr lang="en-US" sz="1250" dirty="0">
                <a:solidFill>
                  <a:srgbClr val="22252B"/>
                </a:solidFill>
                <a:latin typeface="Calibri" pitchFamily="34" charset="0"/>
                <a:ea typeface="Calibri" pitchFamily="34" charset="-122"/>
                <a:cs typeface="Calibri" pitchFamily="34" charset="-120"/>
              </a:rPr>
              <a:t>5. A colleague uses AI to write a tender evaluation, including bidders' confidential pricing, in a personal account “to save time”.</a:t>
            </a:r>
            <a:endParaRPr lang="en-US" sz="1250" dirty="0"/>
          </a:p>
          <a:p>
            <a:pPr marL="127000" indent="-127000">
              <a:spcAft>
                <a:spcPts val="800"/>
              </a:spcAft>
              <a:buSzPct val="100000"/>
              <a:buChar char="•"/>
            </a:pPr>
            <a:r>
              <a:rPr lang="en-US" sz="1250" dirty="0">
                <a:solidFill>
                  <a:srgbClr val="22252B"/>
                </a:solidFill>
                <a:latin typeface="Calibri" pitchFamily="34" charset="0"/>
                <a:ea typeface="Calibri" pitchFamily="34" charset="-122"/>
                <a:cs typeface="Calibri" pitchFamily="34" charset="-120"/>
              </a:rPr>
              <a:t>6. Saleh drafts a public press statement with AI, has it verified and approved through the normal channel, and discloses nothing about AI use.</a:t>
            </a:r>
            <a:endParaRPr lang="en-US" sz="1250" dirty="0"/>
          </a:p>
        </p:txBody>
      </p:sp>
      <p:sp>
        <p:nvSpPr>
          <p:cNvPr id="11" name="Shape 9"/>
          <p:cNvSpPr/>
          <p:nvPr/>
        </p:nvSpPr>
        <p:spPr>
          <a:xfrm>
            <a:off x="502920" y="5532120"/>
            <a:ext cx="11201400" cy="777240"/>
          </a:xfrm>
          <a:prstGeom prst="roundRect">
            <a:avLst>
              <a:gd name="adj" fmla="val 9412"/>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2" name="Text 10"/>
          <p:cNvSpPr txBox="1"/>
          <p:nvPr/>
        </p:nvSpPr>
        <p:spPr>
          <a:xfrm>
            <a:off x="777240" y="5650992"/>
            <a:ext cx="10607040" cy="548640"/>
          </a:xfrm>
          <a:prstGeom prst="rect">
            <a:avLst/>
          </a:prstGeom>
          <a:noFill/>
          <a:ln/>
        </p:spPr>
        <p:txBody>
          <a:bodyPr wrap="square" lIns="0" tIns="0" rIns="0" bIns="0" rtlCol="0" anchor="ctr"/>
          <a:lstStyle/>
          <a:p>
            <a:pPr indent="0" marL="0">
              <a:buNone/>
            </a:pPr>
            <a:r>
              <a:rPr lang="en-US" sz="1300" b="1" dirty="0">
                <a:solidFill>
                  <a:srgbClr val="273370"/>
                </a:solidFill>
                <a:latin typeface="Calibri" pitchFamily="34" charset="0"/>
                <a:ea typeface="Calibri" pitchFamily="34" charset="-122"/>
                <a:cs typeface="Calibri" pitchFamily="34" charset="-120"/>
              </a:rPr>
              <a:t>For each: What exactly is the risk? Which rule applies? What would make it acceptable — if anything?</a:t>
            </a:r>
            <a:endParaRPr lang="en-US" sz="1300" dirty="0"/>
          </a:p>
        </p:txBody>
      </p:sp>
      <p:sp>
        <p:nvSpPr>
          <p:cNvPr id="13" name="Text 11"/>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14" name="Text 12"/>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68</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Debrief — Activity 3.3</a:t>
            </a:r>
            <a:endParaRPr lang="en-US" sz="3000" dirty="0"/>
          </a:p>
        </p:txBody>
      </p:sp>
      <p:sp>
        <p:nvSpPr>
          <p:cNvPr id="3" name="Shape 1"/>
          <p:cNvSpPr/>
          <p:nvPr/>
        </p:nvSpPr>
        <p:spPr>
          <a:xfrm>
            <a:off x="10565892" y="457200"/>
            <a:ext cx="1120140" cy="384048"/>
          </a:xfrm>
          <a:prstGeom prst="roundRect">
            <a:avLst>
              <a:gd name="adj" fmla="val 50000"/>
            </a:avLst>
          </a:prstGeom>
          <a:solidFill>
            <a:srgbClr val="67CCFF"/>
          </a:solidFill>
          <a:ln/>
        </p:spPr>
      </p:sp>
      <p:sp>
        <p:nvSpPr>
          <p:cNvPr id="4" name="Text 2"/>
          <p:cNvSpPr txBox="1"/>
          <p:nvPr/>
        </p:nvSpPr>
        <p:spPr>
          <a:xfrm>
            <a:off x="10565892" y="457200"/>
            <a:ext cx="11201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DEBRIEF</a:t>
            </a:r>
            <a:endParaRPr lang="en-US" sz="1200" dirty="0"/>
          </a:p>
        </p:txBody>
      </p:sp>
      <p:sp>
        <p:nvSpPr>
          <p:cNvPr id="5" name="Shape 3"/>
          <p:cNvSpPr/>
          <p:nvPr/>
        </p:nvSpPr>
        <p:spPr>
          <a:xfrm>
            <a:off x="640080" y="1645920"/>
            <a:ext cx="548640" cy="548640"/>
          </a:xfrm>
          <a:prstGeom prst="roundRect">
            <a:avLst>
              <a:gd name="adj" fmla="val 15000"/>
            </a:avLst>
          </a:prstGeom>
          <a:solidFill>
            <a:srgbClr val="67CCFF"/>
          </a:solidFill>
          <a:ln/>
        </p:spPr>
      </p:sp>
      <p:pic>
        <p:nvPicPr>
          <p:cNvPr id="6" name="Image 0" descr="preencoded.png">    </p:cNvPr>
          <p:cNvPicPr>
            <a:picLocks noChangeAspect="1"/>
          </p:cNvPicPr>
          <p:nvPr/>
        </p:nvPicPr>
        <p:blipFill>
          <a:blip r:embed="rId1"/>
          <a:stretch>
            <a:fillRect/>
          </a:stretch>
        </p:blipFill>
        <p:spPr>
          <a:xfrm>
            <a:off x="760781" y="1766621"/>
            <a:ext cx="307238" cy="307238"/>
          </a:xfrm>
          <a:prstGeom prst="rect">
            <a:avLst/>
          </a:prstGeom>
        </p:spPr>
      </p:pic>
      <p:sp>
        <p:nvSpPr>
          <p:cNvPr id="7" name="Text 4"/>
          <p:cNvSpPr txBox="1"/>
          <p:nvPr/>
        </p:nvSpPr>
        <p:spPr>
          <a:xfrm>
            <a:off x="1417320" y="1645920"/>
            <a:ext cx="10149840" cy="548640"/>
          </a:xfrm>
          <a:prstGeom prst="rect">
            <a:avLst/>
          </a:prstGeom>
          <a:noFill/>
          <a:ln/>
        </p:spPr>
        <p:txBody>
          <a:bodyPr wrap="square" lIns="0" tIns="0" rIns="0" bIns="0" rtlCol="0" anchor="ctr"/>
          <a:lstStyle/>
          <a:p>
            <a:pPr indent="0" marL="0">
              <a:buNone/>
            </a:pPr>
            <a:r>
              <a:rPr lang="en-US" sz="1500" dirty="0">
                <a:solidFill>
                  <a:srgbClr val="22252B"/>
                </a:solidFill>
                <a:latin typeface="Calibri" pitchFamily="34" charset="0"/>
                <a:ea typeface="Calibri" pitchFamily="34" charset="-122"/>
                <a:cs typeface="Calibri" pitchFamily="34" charset="-120"/>
              </a:rPr>
              <a:t>Where did groups disagree? What does that tell us about the need for clear internal policy?</a:t>
            </a:r>
            <a:endParaRPr lang="en-US" sz="1500" dirty="0"/>
          </a:p>
        </p:txBody>
      </p:sp>
      <p:sp>
        <p:nvSpPr>
          <p:cNvPr id="8" name="Shape 5"/>
          <p:cNvSpPr/>
          <p:nvPr/>
        </p:nvSpPr>
        <p:spPr>
          <a:xfrm>
            <a:off x="640080" y="2761488"/>
            <a:ext cx="548640" cy="548640"/>
          </a:xfrm>
          <a:prstGeom prst="roundRect">
            <a:avLst>
              <a:gd name="adj" fmla="val 15000"/>
            </a:avLst>
          </a:prstGeom>
          <a:solidFill>
            <a:srgbClr val="67CCFF"/>
          </a:solidFill>
          <a:ln/>
        </p:spPr>
      </p:sp>
      <p:pic>
        <p:nvPicPr>
          <p:cNvPr id="9" name="Image 1" descr="preencoded.png">    </p:cNvPr>
          <p:cNvPicPr>
            <a:picLocks noChangeAspect="1"/>
          </p:cNvPicPr>
          <p:nvPr/>
        </p:nvPicPr>
        <p:blipFill>
          <a:blip r:embed="rId2"/>
          <a:stretch>
            <a:fillRect/>
          </a:stretch>
        </p:blipFill>
        <p:spPr>
          <a:xfrm>
            <a:off x="760781" y="2882189"/>
            <a:ext cx="307238" cy="307238"/>
          </a:xfrm>
          <a:prstGeom prst="rect">
            <a:avLst/>
          </a:prstGeom>
        </p:spPr>
      </p:pic>
      <p:sp>
        <p:nvSpPr>
          <p:cNvPr id="10" name="Text 6"/>
          <p:cNvSpPr txBox="1"/>
          <p:nvPr/>
        </p:nvSpPr>
        <p:spPr>
          <a:xfrm>
            <a:off x="1417320" y="2761488"/>
            <a:ext cx="10149840" cy="548640"/>
          </a:xfrm>
          <a:prstGeom prst="rect">
            <a:avLst/>
          </a:prstGeom>
          <a:noFill/>
          <a:ln/>
        </p:spPr>
        <p:txBody>
          <a:bodyPr wrap="square" lIns="0" tIns="0" rIns="0" bIns="0" rtlCol="0" anchor="ctr"/>
          <a:lstStyle/>
          <a:p>
            <a:pPr indent="0" marL="0">
              <a:buNone/>
            </a:pPr>
            <a:r>
              <a:rPr lang="en-US" sz="1500" dirty="0">
                <a:solidFill>
                  <a:srgbClr val="22252B"/>
                </a:solidFill>
                <a:latin typeface="Calibri" pitchFamily="34" charset="0"/>
                <a:ea typeface="Calibri" pitchFamily="34" charset="-122"/>
                <a:cs typeface="Calibri" pitchFamily="34" charset="-120"/>
              </a:rPr>
              <a:t>Scenario 3: what is the difference between AI drafting FOR a human decision and AI making it?</a:t>
            </a:r>
            <a:endParaRPr lang="en-US" sz="1500" dirty="0"/>
          </a:p>
        </p:txBody>
      </p:sp>
      <p:sp>
        <p:nvSpPr>
          <p:cNvPr id="11" name="Shape 7"/>
          <p:cNvSpPr/>
          <p:nvPr/>
        </p:nvSpPr>
        <p:spPr>
          <a:xfrm>
            <a:off x="640080" y="3877056"/>
            <a:ext cx="548640" cy="548640"/>
          </a:xfrm>
          <a:prstGeom prst="roundRect">
            <a:avLst>
              <a:gd name="adj" fmla="val 15000"/>
            </a:avLst>
          </a:prstGeom>
          <a:solidFill>
            <a:srgbClr val="67CCFF"/>
          </a:solidFill>
          <a:ln/>
        </p:spPr>
      </p:sp>
      <p:pic>
        <p:nvPicPr>
          <p:cNvPr id="12" name="Image 2" descr="preencoded.png">    </p:cNvPr>
          <p:cNvPicPr>
            <a:picLocks noChangeAspect="1"/>
          </p:cNvPicPr>
          <p:nvPr/>
        </p:nvPicPr>
        <p:blipFill>
          <a:blip r:embed="rId3"/>
          <a:stretch>
            <a:fillRect/>
          </a:stretch>
        </p:blipFill>
        <p:spPr>
          <a:xfrm>
            <a:off x="760781" y="3997757"/>
            <a:ext cx="307238" cy="307238"/>
          </a:xfrm>
          <a:prstGeom prst="rect">
            <a:avLst/>
          </a:prstGeom>
        </p:spPr>
      </p:pic>
      <p:sp>
        <p:nvSpPr>
          <p:cNvPr id="13" name="Text 8"/>
          <p:cNvSpPr txBox="1"/>
          <p:nvPr/>
        </p:nvSpPr>
        <p:spPr>
          <a:xfrm>
            <a:off x="1417320" y="3877056"/>
            <a:ext cx="10149840" cy="548640"/>
          </a:xfrm>
          <a:prstGeom prst="rect">
            <a:avLst/>
          </a:prstGeom>
          <a:noFill/>
          <a:ln/>
        </p:spPr>
        <p:txBody>
          <a:bodyPr wrap="square" lIns="0" tIns="0" rIns="0" bIns="0" rtlCol="0" anchor="ctr"/>
          <a:lstStyle/>
          <a:p>
            <a:pPr indent="0" marL="0">
              <a:buNone/>
            </a:pPr>
            <a:r>
              <a:rPr lang="en-US" sz="1500" dirty="0">
                <a:solidFill>
                  <a:srgbClr val="22252B"/>
                </a:solidFill>
                <a:latin typeface="Calibri" pitchFamily="34" charset="0"/>
                <a:ea typeface="Calibri" pitchFamily="34" charset="-122"/>
                <a:cs typeface="Calibri" pitchFamily="34" charset="-120"/>
              </a:rPr>
              <a:t>Scenario 5 happens in real organisations. What makes a busy, well-meaning person do it?</a:t>
            </a:r>
            <a:endParaRPr lang="en-US" sz="1500" dirty="0"/>
          </a:p>
        </p:txBody>
      </p:sp>
      <p:sp>
        <p:nvSpPr>
          <p:cNvPr id="14" name="Shape 9"/>
          <p:cNvSpPr/>
          <p:nvPr/>
        </p:nvSpPr>
        <p:spPr>
          <a:xfrm>
            <a:off x="640080" y="4992624"/>
            <a:ext cx="548640" cy="548640"/>
          </a:xfrm>
          <a:prstGeom prst="roundRect">
            <a:avLst>
              <a:gd name="adj" fmla="val 15000"/>
            </a:avLst>
          </a:prstGeom>
          <a:solidFill>
            <a:srgbClr val="67CCFF"/>
          </a:solidFill>
          <a:ln/>
        </p:spPr>
      </p:sp>
      <p:pic>
        <p:nvPicPr>
          <p:cNvPr id="15" name="Image 3" descr="preencoded.png">    </p:cNvPr>
          <p:cNvPicPr>
            <a:picLocks noChangeAspect="1"/>
          </p:cNvPicPr>
          <p:nvPr/>
        </p:nvPicPr>
        <p:blipFill>
          <a:blip r:embed="rId4"/>
          <a:stretch>
            <a:fillRect/>
          </a:stretch>
        </p:blipFill>
        <p:spPr>
          <a:xfrm>
            <a:off x="760781" y="5113325"/>
            <a:ext cx="307238" cy="307238"/>
          </a:xfrm>
          <a:prstGeom prst="rect">
            <a:avLst/>
          </a:prstGeom>
        </p:spPr>
      </p:pic>
      <p:sp>
        <p:nvSpPr>
          <p:cNvPr id="16" name="Text 10"/>
          <p:cNvSpPr txBox="1"/>
          <p:nvPr/>
        </p:nvSpPr>
        <p:spPr>
          <a:xfrm>
            <a:off x="1417320" y="4992624"/>
            <a:ext cx="10149840" cy="548640"/>
          </a:xfrm>
          <a:prstGeom prst="rect">
            <a:avLst/>
          </a:prstGeom>
          <a:noFill/>
          <a:ln/>
        </p:spPr>
        <p:txBody>
          <a:bodyPr wrap="square" lIns="0" tIns="0" rIns="0" bIns="0" rtlCol="0" anchor="ctr"/>
          <a:lstStyle/>
          <a:p>
            <a:pPr indent="0" marL="0">
              <a:buNone/>
            </a:pPr>
            <a:r>
              <a:rPr lang="en-US" sz="1500" dirty="0">
                <a:solidFill>
                  <a:srgbClr val="22252B"/>
                </a:solidFill>
                <a:latin typeface="Calibri" pitchFamily="34" charset="0"/>
                <a:ea typeface="Calibri" pitchFamily="34" charset="-122"/>
                <a:cs typeface="Calibri" pitchFamily="34" charset="-120"/>
              </a:rPr>
              <a:t>What is the ONE rule from today you will share with your team on Sunday?</a:t>
            </a:r>
            <a:endParaRPr lang="en-US" sz="1500" dirty="0"/>
          </a:p>
        </p:txBody>
      </p:sp>
      <p:sp>
        <p:nvSpPr>
          <p:cNvPr id="17" name="Text 11"/>
          <p:cNvSpPr txBox="1"/>
          <p:nvPr/>
        </p:nvSpPr>
        <p:spPr>
          <a:xfrm>
            <a:off x="640080" y="6080760"/>
            <a:ext cx="10972800" cy="365760"/>
          </a:xfrm>
          <a:prstGeom prst="rect">
            <a:avLst/>
          </a:prstGeom>
          <a:noFill/>
          <a:ln/>
        </p:spPr>
        <p:txBody>
          <a:bodyPr wrap="square" lIns="0" tIns="0" rIns="0" bIns="0" rtlCol="0" anchor="ctr"/>
          <a:lstStyle/>
          <a:p>
            <a:pPr indent="0" marL="0">
              <a:buNone/>
            </a:pPr>
            <a:r>
              <a:rPr lang="en-US" sz="1300" b="1" i="1" dirty="0">
                <a:solidFill>
                  <a:srgbClr val="273370"/>
                </a:solidFill>
                <a:latin typeface="Calibri" pitchFamily="34" charset="0"/>
                <a:ea typeface="Calibri" pitchFamily="34" charset="-122"/>
                <a:cs typeface="Calibri" pitchFamily="34" charset="-120"/>
              </a:rPr>
              <a:t>Trainer synthesis: responsible use is not about fear — it is what makes confident, everyday use sustainable.</a:t>
            </a:r>
            <a:endParaRPr lang="en-US" sz="1300" dirty="0"/>
          </a:p>
        </p:txBody>
      </p:sp>
      <p:sp>
        <p:nvSpPr>
          <p:cNvPr id="18" name="Text 12"/>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19" name="Text 13"/>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69</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Final assessment</a:t>
            </a:r>
            <a:endParaRPr lang="en-US" sz="3000" dirty="0"/>
          </a:p>
        </p:txBody>
      </p:sp>
      <p:sp>
        <p:nvSpPr>
          <p:cNvPr id="3" name="Text 1"/>
          <p:cNvSpPr txBox="1"/>
          <p:nvPr/>
        </p:nvSpPr>
        <p:spPr>
          <a:xfrm>
            <a:off x="502920" y="987552"/>
            <a:ext cx="11155680" cy="365760"/>
          </a:xfrm>
          <a:prstGeom prst="rect">
            <a:avLst/>
          </a:prstGeom>
          <a:noFill/>
          <a:ln/>
        </p:spPr>
        <p:txBody>
          <a:bodyPr wrap="square" lIns="0" tIns="0" rIns="0" bIns="0" rtlCol="0" anchor="ctr"/>
          <a:lstStyle/>
          <a:p>
            <a:pPr indent="0" marL="0">
              <a:buNone/>
            </a:pPr>
            <a:r>
              <a:rPr lang="en-US" sz="1400" dirty="0">
                <a:solidFill>
                  <a:srgbClr val="696969"/>
                </a:solidFill>
                <a:latin typeface="Calibri" pitchFamily="34" charset="0"/>
                <a:ea typeface="Calibri" pitchFamily="34" charset="-122"/>
                <a:cs typeface="Calibri" pitchFamily="34" charset="-120"/>
              </a:rPr>
              <a:t>Individual • 15 minutes • Workbook p. 11</a:t>
            </a:r>
            <a:endParaRPr lang="en-US" sz="1400" dirty="0"/>
          </a:p>
        </p:txBody>
      </p:sp>
      <p:sp>
        <p:nvSpPr>
          <p:cNvPr id="4" name="Shape 2"/>
          <p:cNvSpPr/>
          <p:nvPr/>
        </p:nvSpPr>
        <p:spPr>
          <a:xfrm>
            <a:off x="10671048" y="457200"/>
            <a:ext cx="1014984" cy="384048"/>
          </a:xfrm>
          <a:prstGeom prst="roundRect">
            <a:avLst>
              <a:gd name="adj" fmla="val 50000"/>
            </a:avLst>
          </a:prstGeom>
          <a:solidFill>
            <a:srgbClr val="6258A6"/>
          </a:solidFill>
          <a:ln/>
        </p:spPr>
      </p:sp>
      <p:sp>
        <p:nvSpPr>
          <p:cNvPr id="5" name="Text 3"/>
          <p:cNvSpPr txBox="1"/>
          <p:nvPr/>
        </p:nvSpPr>
        <p:spPr>
          <a:xfrm>
            <a:off x="10671048" y="457200"/>
            <a:ext cx="1014984"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ASSESS</a:t>
            </a:r>
            <a:endParaRPr lang="en-US" sz="1200" dirty="0"/>
          </a:p>
        </p:txBody>
      </p:sp>
      <p:sp>
        <p:nvSpPr>
          <p:cNvPr id="6" name="Shape 4"/>
          <p:cNvSpPr/>
          <p:nvPr/>
        </p:nvSpPr>
        <p:spPr>
          <a:xfrm>
            <a:off x="502920" y="1463040"/>
            <a:ext cx="5532120" cy="4572000"/>
          </a:xfrm>
          <a:prstGeom prst="roundRect">
            <a:avLst>
              <a:gd name="adj" fmla="val 1600"/>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502920" y="1463040"/>
            <a:ext cx="5532120" cy="420624"/>
          </a:xfrm>
          <a:prstGeom prst="roundRect">
            <a:avLst>
              <a:gd name="adj" fmla="val 17391"/>
            </a:avLst>
          </a:prstGeom>
          <a:solidFill>
            <a:srgbClr val="6258A6"/>
          </a:solidFill>
          <a:ln/>
        </p:spPr>
      </p:sp>
      <p:sp>
        <p:nvSpPr>
          <p:cNvPr id="8" name="Shape 6"/>
          <p:cNvSpPr/>
          <p:nvPr/>
        </p:nvSpPr>
        <p:spPr>
          <a:xfrm>
            <a:off x="502920" y="1673352"/>
            <a:ext cx="5532120" cy="210312"/>
          </a:xfrm>
          <a:prstGeom prst="rect">
            <a:avLst/>
          </a:prstGeom>
          <a:solidFill>
            <a:srgbClr val="6258A6"/>
          </a:solidFill>
          <a:ln/>
        </p:spPr>
      </p:sp>
      <p:sp>
        <p:nvSpPr>
          <p:cNvPr id="9" name="Text 7"/>
          <p:cNvSpPr txBox="1"/>
          <p:nvPr/>
        </p:nvSpPr>
        <p:spPr>
          <a:xfrm>
            <a:off x="640080" y="1463040"/>
            <a:ext cx="525780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What it covers</a:t>
            </a:r>
            <a:endParaRPr lang="en-US" sz="1400" dirty="0"/>
          </a:p>
        </p:txBody>
      </p:sp>
      <p:sp>
        <p:nvSpPr>
          <p:cNvPr id="10" name="Text 8"/>
          <p:cNvSpPr txBox="1"/>
          <p:nvPr/>
        </p:nvSpPr>
        <p:spPr>
          <a:xfrm>
            <a:off x="777240" y="2103120"/>
            <a:ext cx="5029200" cy="3749040"/>
          </a:xfrm>
          <a:prstGeom prst="rect">
            <a:avLst/>
          </a:prstGeom>
          <a:noFill/>
          <a:ln/>
        </p:spPr>
        <p:txBody>
          <a:bodyPr wrap="square" lIns="0" tIns="0" rIns="0" bIns="0" rtlCol="0" anchor="t"/>
          <a:lstStyle/>
          <a:p>
            <a:pPr marL="152400" indent="-152400">
              <a:lnSpc>
                <a:spcPct val="105000"/>
              </a:lnSpc>
              <a:spcAft>
                <a:spcPts val="1100"/>
              </a:spcAft>
              <a:buSzPct val="100000"/>
              <a:buChar char="•"/>
            </a:pPr>
            <a:r>
              <a:rPr lang="en-US" sz="1300" dirty="0">
                <a:solidFill>
                  <a:srgbClr val="22252B"/>
                </a:solidFill>
                <a:latin typeface="Calibri" pitchFamily="34" charset="0"/>
                <a:ea typeface="Calibri" pitchFamily="34" charset="-122"/>
                <a:cs typeface="Calibri" pitchFamily="34" charset="-120"/>
              </a:rPr>
              <a:t>10 multiple-choice questions in your workbook, spanning all three days: concepts &amp; limitations, prompting, writing &amp; summarising, verification, and responsible use.</a:t>
            </a:r>
            <a:endParaRPr lang="en-US" sz="1300" dirty="0"/>
          </a:p>
          <a:p>
            <a:pPr marL="152400" indent="-152400">
              <a:lnSpc>
                <a:spcPct val="105000"/>
              </a:lnSpc>
              <a:spcAft>
                <a:spcPts val="1100"/>
              </a:spcAft>
              <a:buSzPct val="100000"/>
              <a:buChar char="•"/>
            </a:pPr>
            <a:r>
              <a:rPr lang="en-US" sz="1300" dirty="0">
                <a:solidFill>
                  <a:srgbClr val="22252B"/>
                </a:solidFill>
                <a:latin typeface="Calibri" pitchFamily="34" charset="0"/>
                <a:ea typeface="Calibri" pitchFamily="34" charset="-122"/>
                <a:cs typeface="Calibri" pitchFamily="34" charset="-120"/>
              </a:rPr>
              <a:t>Closed-book, individual, no AI tools — this one tests YOUR judgement.</a:t>
            </a:r>
            <a:endParaRPr lang="en-US" sz="1300" dirty="0"/>
          </a:p>
          <a:p>
            <a:pPr marL="152400" indent="-152400">
              <a:lnSpc>
                <a:spcPct val="105000"/>
              </a:lnSpc>
              <a:spcAft>
                <a:spcPts val="1100"/>
              </a:spcAft>
              <a:buSzPct val="100000"/>
              <a:buChar char="•"/>
            </a:pPr>
            <a:r>
              <a:rPr lang="en-US" sz="1300" dirty="0">
                <a:solidFill>
                  <a:srgbClr val="22252B"/>
                </a:solidFill>
                <a:latin typeface="Calibri" pitchFamily="34" charset="0"/>
                <a:ea typeface="Calibri" pitchFamily="34" charset="-122"/>
                <a:cs typeface="Calibri" pitchFamily="34" charset="-120"/>
              </a:rPr>
              <a:t>Pass mark: 7 / 10.</a:t>
            </a:r>
            <a:endParaRPr lang="en-US" sz="1300" dirty="0"/>
          </a:p>
          <a:p>
            <a:pPr marL="152400" indent="-152400">
              <a:lnSpc>
                <a:spcPct val="105000"/>
              </a:lnSpc>
              <a:spcAft>
                <a:spcPts val="1100"/>
              </a:spcAft>
              <a:buSzPct val="100000"/>
              <a:buChar char="•"/>
            </a:pPr>
            <a:r>
              <a:rPr lang="en-US" sz="1300" dirty="0">
                <a:solidFill>
                  <a:srgbClr val="22252B"/>
                </a:solidFill>
                <a:latin typeface="Calibri" pitchFamily="34" charset="0"/>
                <a:ea typeface="Calibri" pitchFamily="34" charset="-122"/>
                <a:cs typeface="Calibri" pitchFamily="34" charset="-120"/>
              </a:rPr>
              <a:t>We review the answers together immediately after.</a:t>
            </a:r>
            <a:endParaRPr lang="en-US" sz="1300" dirty="0"/>
          </a:p>
        </p:txBody>
      </p:sp>
      <p:sp>
        <p:nvSpPr>
          <p:cNvPr id="11" name="Shape 9"/>
          <p:cNvSpPr/>
          <p:nvPr/>
        </p:nvSpPr>
        <p:spPr>
          <a:xfrm>
            <a:off x="6263640" y="1463040"/>
            <a:ext cx="5440680" cy="4572000"/>
          </a:xfrm>
          <a:prstGeom prst="roundRect">
            <a:avLst>
              <a:gd name="adj" fmla="val 1600"/>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6263640" y="1463040"/>
            <a:ext cx="5440680" cy="420624"/>
          </a:xfrm>
          <a:prstGeom prst="roundRect">
            <a:avLst>
              <a:gd name="adj" fmla="val 17391"/>
            </a:avLst>
          </a:prstGeom>
          <a:solidFill>
            <a:srgbClr val="273370"/>
          </a:solidFill>
          <a:ln/>
        </p:spPr>
      </p:sp>
      <p:sp>
        <p:nvSpPr>
          <p:cNvPr id="13" name="Shape 11"/>
          <p:cNvSpPr/>
          <p:nvPr/>
        </p:nvSpPr>
        <p:spPr>
          <a:xfrm>
            <a:off x="6263640" y="1673352"/>
            <a:ext cx="5440680" cy="210312"/>
          </a:xfrm>
          <a:prstGeom prst="rect">
            <a:avLst/>
          </a:prstGeom>
          <a:solidFill>
            <a:srgbClr val="273370"/>
          </a:solidFill>
          <a:ln/>
        </p:spPr>
      </p:sp>
      <p:sp>
        <p:nvSpPr>
          <p:cNvPr id="14" name="Text 12"/>
          <p:cNvSpPr txBox="1"/>
          <p:nvPr/>
        </p:nvSpPr>
        <p:spPr>
          <a:xfrm>
            <a:off x="6400800" y="1463040"/>
            <a:ext cx="5166360"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Digital Badge — completion criteria</a:t>
            </a:r>
            <a:endParaRPr lang="en-US" sz="1400" dirty="0"/>
          </a:p>
        </p:txBody>
      </p:sp>
      <p:sp>
        <p:nvSpPr>
          <p:cNvPr id="15" name="Text 13"/>
          <p:cNvSpPr txBox="1"/>
          <p:nvPr/>
        </p:nvSpPr>
        <p:spPr>
          <a:xfrm>
            <a:off x="6537960" y="2103120"/>
            <a:ext cx="4937760" cy="3749040"/>
          </a:xfrm>
          <a:prstGeom prst="rect">
            <a:avLst/>
          </a:prstGeom>
          <a:noFill/>
          <a:ln/>
        </p:spPr>
        <p:txBody>
          <a:bodyPr wrap="square" lIns="0" tIns="0" rIns="0" bIns="0" rtlCol="0" anchor="t"/>
          <a:lstStyle/>
          <a:p>
            <a:pPr marL="152400" indent="-152400">
              <a:lnSpc>
                <a:spcPct val="105000"/>
              </a:lnSpc>
              <a:spcAft>
                <a:spcPts val="1100"/>
              </a:spcAft>
              <a:buSzPct val="100000"/>
              <a:buChar char="•"/>
            </a:pPr>
            <a:r>
              <a:rPr lang="en-US" sz="1300" dirty="0">
                <a:solidFill>
                  <a:srgbClr val="22252B"/>
                </a:solidFill>
                <a:latin typeface="Calibri" pitchFamily="34" charset="0"/>
                <a:ea typeface="Calibri" pitchFamily="34" charset="-122"/>
                <a:cs typeface="Calibri" pitchFamily="34" charset="-120"/>
              </a:rPr>
              <a:t>Attendance across all three days</a:t>
            </a:r>
            <a:endParaRPr lang="en-US" sz="1300" dirty="0"/>
          </a:p>
          <a:p>
            <a:pPr marL="152400" indent="-152400">
              <a:lnSpc>
                <a:spcPct val="105000"/>
              </a:lnSpc>
              <a:spcAft>
                <a:spcPts val="1100"/>
              </a:spcAft>
              <a:buSzPct val="100000"/>
              <a:buChar char="•"/>
            </a:pPr>
            <a:r>
              <a:rPr lang="en-US" sz="1300" dirty="0">
                <a:solidFill>
                  <a:srgbClr val="22252B"/>
                </a:solidFill>
                <a:latin typeface="Calibri" pitchFamily="34" charset="0"/>
                <a:ea typeface="Calibri" pitchFamily="34" charset="-122"/>
                <a:cs typeface="Calibri" pitchFamily="34" charset="-120"/>
              </a:rPr>
              <a:t>Completion of the hands-on activities (workbook evidence)</a:t>
            </a:r>
            <a:endParaRPr lang="en-US" sz="1300" dirty="0"/>
          </a:p>
          <a:p>
            <a:pPr marL="152400" indent="-152400">
              <a:lnSpc>
                <a:spcPct val="105000"/>
              </a:lnSpc>
              <a:spcAft>
                <a:spcPts val="1100"/>
              </a:spcAft>
              <a:buSzPct val="100000"/>
              <a:buChar char="•"/>
            </a:pPr>
            <a:r>
              <a:rPr lang="en-US" sz="1300" dirty="0">
                <a:solidFill>
                  <a:srgbClr val="22252B"/>
                </a:solidFill>
                <a:latin typeface="Calibri" pitchFamily="34" charset="0"/>
                <a:ea typeface="Calibri" pitchFamily="34" charset="-122"/>
                <a:cs typeface="Calibri" pitchFamily="34" charset="-120"/>
              </a:rPr>
              <a:t>Final assessment: 7/10 or above (one retake permitted)</a:t>
            </a:r>
            <a:endParaRPr lang="en-US" sz="1300" dirty="0"/>
          </a:p>
          <a:p>
            <a:pPr marL="152400" indent="-152400">
              <a:lnSpc>
                <a:spcPct val="105000"/>
              </a:lnSpc>
              <a:spcAft>
                <a:spcPts val="1100"/>
              </a:spcAft>
              <a:buSzPct val="100000"/>
              <a:buChar char="•"/>
            </a:pPr>
            <a:r>
              <a:rPr lang="en-US" sz="1300" dirty="0">
                <a:solidFill>
                  <a:srgbClr val="22252B"/>
                </a:solidFill>
                <a:latin typeface="Calibri" pitchFamily="34" charset="0"/>
                <a:ea typeface="Calibri" pitchFamily="34" charset="-122"/>
                <a:cs typeface="Calibri" pitchFamily="34" charset="-120"/>
              </a:rPr>
              <a:t>A Personal Prompt Library with 8+ saved prompts</a:t>
            </a:r>
            <a:endParaRPr lang="en-US" sz="1300" dirty="0"/>
          </a:p>
          <a:p>
            <a:pPr marL="152400" indent="-152400">
              <a:lnSpc>
                <a:spcPct val="105000"/>
              </a:lnSpc>
              <a:spcAft>
                <a:spcPts val="1100"/>
              </a:spcAft>
              <a:buSzPct val="100000"/>
              <a:buChar char="•"/>
            </a:pPr>
            <a:r>
              <a:rPr lang="en-US" sz="1300" dirty="0">
                <a:solidFill>
                  <a:srgbClr val="22252B"/>
                </a:solidFill>
                <a:latin typeface="Calibri" pitchFamily="34" charset="0"/>
                <a:ea typeface="Calibri" pitchFamily="34" charset="-122"/>
                <a:cs typeface="Calibri" pitchFamily="34" charset="-120"/>
              </a:rPr>
              <a:t>A completed 30-day action plan (next slide)</a:t>
            </a:r>
            <a:endParaRPr lang="en-US" sz="1300" dirty="0"/>
          </a:p>
        </p:txBody>
      </p:sp>
      <p:sp>
        <p:nvSpPr>
          <p:cNvPr id="16" name="Text 14"/>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17" name="Text 15"/>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70</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txBox="1"/>
          <p:nvPr/>
        </p:nvSpPr>
        <p:spPr>
          <a:xfrm>
            <a:off x="502920" y="347472"/>
            <a:ext cx="950976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Your 30-day action plan</a:t>
            </a:r>
            <a:endParaRPr lang="en-US" sz="3000" dirty="0"/>
          </a:p>
        </p:txBody>
      </p:sp>
      <p:sp>
        <p:nvSpPr>
          <p:cNvPr id="3" name="Text 1"/>
          <p:cNvSpPr txBox="1"/>
          <p:nvPr/>
        </p:nvSpPr>
        <p:spPr>
          <a:xfrm>
            <a:off x="502920" y="987552"/>
            <a:ext cx="11155680" cy="365760"/>
          </a:xfrm>
          <a:prstGeom prst="rect">
            <a:avLst/>
          </a:prstGeom>
          <a:noFill/>
          <a:ln/>
        </p:spPr>
        <p:txBody>
          <a:bodyPr wrap="square" lIns="0" tIns="0" rIns="0" bIns="0" rtlCol="0" anchor="ctr"/>
          <a:lstStyle/>
          <a:p>
            <a:pPr indent="0" marL="0">
              <a:buNone/>
            </a:pPr>
            <a:r>
              <a:rPr lang="en-US" sz="1400" dirty="0">
                <a:solidFill>
                  <a:srgbClr val="696969"/>
                </a:solidFill>
                <a:latin typeface="Calibri" pitchFamily="34" charset="0"/>
                <a:ea typeface="Calibri" pitchFamily="34" charset="-122"/>
                <a:cs typeface="Calibri" pitchFamily="34" charset="-120"/>
              </a:rPr>
              <a:t>The training ends today — the habit starts Sunday</a:t>
            </a:r>
            <a:endParaRPr lang="en-US" sz="1400" dirty="0"/>
          </a:p>
        </p:txBody>
      </p:sp>
      <p:sp>
        <p:nvSpPr>
          <p:cNvPr id="4" name="Shape 2"/>
          <p:cNvSpPr/>
          <p:nvPr/>
        </p:nvSpPr>
        <p:spPr>
          <a:xfrm>
            <a:off x="10565892" y="457200"/>
            <a:ext cx="1120140" cy="384048"/>
          </a:xfrm>
          <a:prstGeom prst="roundRect">
            <a:avLst>
              <a:gd name="adj" fmla="val 50000"/>
            </a:avLst>
          </a:prstGeom>
          <a:solidFill>
            <a:srgbClr val="67CCFF"/>
          </a:solidFill>
          <a:ln/>
        </p:spPr>
      </p:sp>
      <p:sp>
        <p:nvSpPr>
          <p:cNvPr id="5" name="Text 3"/>
          <p:cNvSpPr txBox="1"/>
          <p:nvPr/>
        </p:nvSpPr>
        <p:spPr>
          <a:xfrm>
            <a:off x="10565892" y="457200"/>
            <a:ext cx="11201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REFLECT</a:t>
            </a:r>
            <a:endParaRPr lang="en-US" sz="1200" dirty="0"/>
          </a:p>
        </p:txBody>
      </p:sp>
      <p:sp>
        <p:nvSpPr>
          <p:cNvPr id="6" name="Shape 4"/>
          <p:cNvSpPr/>
          <p:nvPr/>
        </p:nvSpPr>
        <p:spPr>
          <a:xfrm>
            <a:off x="502920" y="1691640"/>
            <a:ext cx="2724912" cy="3566160"/>
          </a:xfrm>
          <a:prstGeom prst="roundRect">
            <a:avLst>
              <a:gd name="adj" fmla="val 2685"/>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502920" y="1691640"/>
            <a:ext cx="2724912" cy="420624"/>
          </a:xfrm>
          <a:prstGeom prst="roundRect">
            <a:avLst>
              <a:gd name="adj" fmla="val 17391"/>
            </a:avLst>
          </a:prstGeom>
          <a:solidFill>
            <a:srgbClr val="273370"/>
          </a:solidFill>
          <a:ln/>
        </p:spPr>
      </p:sp>
      <p:sp>
        <p:nvSpPr>
          <p:cNvPr id="8" name="Shape 6"/>
          <p:cNvSpPr/>
          <p:nvPr/>
        </p:nvSpPr>
        <p:spPr>
          <a:xfrm>
            <a:off x="502920" y="1901952"/>
            <a:ext cx="2724912" cy="210312"/>
          </a:xfrm>
          <a:prstGeom prst="rect">
            <a:avLst/>
          </a:prstGeom>
          <a:solidFill>
            <a:srgbClr val="273370"/>
          </a:solidFill>
          <a:ln/>
        </p:spPr>
      </p:sp>
      <p:sp>
        <p:nvSpPr>
          <p:cNvPr id="9" name="Text 7"/>
          <p:cNvSpPr txBox="1"/>
          <p:nvPr/>
        </p:nvSpPr>
        <p:spPr>
          <a:xfrm>
            <a:off x="640080" y="1691640"/>
            <a:ext cx="2450592"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Week 1</a:t>
            </a:r>
            <a:endParaRPr lang="en-US" sz="1400" dirty="0"/>
          </a:p>
        </p:txBody>
      </p:sp>
      <p:sp>
        <p:nvSpPr>
          <p:cNvPr id="10" name="Text 8"/>
          <p:cNvSpPr txBox="1"/>
          <p:nvPr/>
        </p:nvSpPr>
        <p:spPr>
          <a:xfrm>
            <a:off x="685800" y="2331720"/>
            <a:ext cx="2377440" cy="2743200"/>
          </a:xfrm>
          <a:prstGeom prst="rect">
            <a:avLst/>
          </a:prstGeom>
          <a:noFill/>
          <a:ln/>
        </p:spPr>
        <p:txBody>
          <a:bodyPr wrap="square" lIns="0" tIns="0" rIns="0" bIns="0" rtlCol="0" anchor="ctr"/>
          <a:lstStyle/>
          <a:p>
            <a:pPr indent="0" marL="0">
              <a:lnSpc>
                <a:spcPct val="115000"/>
              </a:lnSpc>
              <a:buNone/>
            </a:pPr>
            <a:r>
              <a:rPr lang="en-US" sz="1150" dirty="0">
                <a:solidFill>
                  <a:srgbClr val="22252B"/>
                </a:solidFill>
                <a:latin typeface="Calibri" pitchFamily="34" charset="0"/>
                <a:ea typeface="Calibri" pitchFamily="34" charset="-122"/>
                <a:cs typeface="Calibri" pitchFamily="34" charset="-120"/>
              </a:rPr>
              <a:t>Use AI daily for ONE recurring task (your Activity 1.1 task). Confirm which tools your organisation approves — and for which data.</a:t>
            </a:r>
            <a:endParaRPr lang="en-US" sz="1150" dirty="0"/>
          </a:p>
        </p:txBody>
      </p:sp>
      <p:sp>
        <p:nvSpPr>
          <p:cNvPr id="11" name="Shape 9"/>
          <p:cNvSpPr/>
          <p:nvPr/>
        </p:nvSpPr>
        <p:spPr>
          <a:xfrm>
            <a:off x="3465576" y="1691640"/>
            <a:ext cx="2724912" cy="3566160"/>
          </a:xfrm>
          <a:prstGeom prst="roundRect">
            <a:avLst>
              <a:gd name="adj" fmla="val 2685"/>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3465576" y="1691640"/>
            <a:ext cx="2724912" cy="420624"/>
          </a:xfrm>
          <a:prstGeom prst="roundRect">
            <a:avLst>
              <a:gd name="adj" fmla="val 17391"/>
            </a:avLst>
          </a:prstGeom>
          <a:solidFill>
            <a:srgbClr val="29BA74"/>
          </a:solidFill>
          <a:ln/>
        </p:spPr>
      </p:sp>
      <p:sp>
        <p:nvSpPr>
          <p:cNvPr id="13" name="Shape 11"/>
          <p:cNvSpPr/>
          <p:nvPr/>
        </p:nvSpPr>
        <p:spPr>
          <a:xfrm>
            <a:off x="3465576" y="1901952"/>
            <a:ext cx="2724912" cy="210312"/>
          </a:xfrm>
          <a:prstGeom prst="rect">
            <a:avLst/>
          </a:prstGeom>
          <a:solidFill>
            <a:srgbClr val="29BA74"/>
          </a:solidFill>
          <a:ln/>
        </p:spPr>
      </p:sp>
      <p:sp>
        <p:nvSpPr>
          <p:cNvPr id="14" name="Text 12"/>
          <p:cNvSpPr txBox="1"/>
          <p:nvPr/>
        </p:nvSpPr>
        <p:spPr>
          <a:xfrm>
            <a:off x="3602736" y="1691640"/>
            <a:ext cx="2450592"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Week 2</a:t>
            </a:r>
            <a:endParaRPr lang="en-US" sz="1400" dirty="0"/>
          </a:p>
        </p:txBody>
      </p:sp>
      <p:sp>
        <p:nvSpPr>
          <p:cNvPr id="15" name="Text 13"/>
          <p:cNvSpPr txBox="1"/>
          <p:nvPr/>
        </p:nvSpPr>
        <p:spPr>
          <a:xfrm>
            <a:off x="3648456" y="2331720"/>
            <a:ext cx="2377440" cy="2743200"/>
          </a:xfrm>
          <a:prstGeom prst="rect">
            <a:avLst/>
          </a:prstGeom>
          <a:noFill/>
          <a:ln/>
        </p:spPr>
        <p:txBody>
          <a:bodyPr wrap="square" lIns="0" tIns="0" rIns="0" bIns="0" rtlCol="0" anchor="ctr"/>
          <a:lstStyle/>
          <a:p>
            <a:pPr indent="0" marL="0">
              <a:lnSpc>
                <a:spcPct val="115000"/>
              </a:lnSpc>
              <a:buNone/>
            </a:pPr>
            <a:r>
              <a:rPr lang="en-US" sz="1150" dirty="0">
                <a:solidFill>
                  <a:srgbClr val="22252B"/>
                </a:solidFill>
                <a:latin typeface="Calibri" pitchFamily="34" charset="0"/>
                <a:ea typeface="Calibri" pitchFamily="34" charset="-122"/>
                <a:cs typeface="Calibri" pitchFamily="34" charset="-120"/>
              </a:rPr>
              <a:t>Add a second workflow: minutes, summaries or your weekly report. Apply CHECK to everything that leaves your desk.</a:t>
            </a:r>
            <a:endParaRPr lang="en-US" sz="1150" dirty="0"/>
          </a:p>
        </p:txBody>
      </p:sp>
      <p:sp>
        <p:nvSpPr>
          <p:cNvPr id="16" name="Shape 14"/>
          <p:cNvSpPr/>
          <p:nvPr/>
        </p:nvSpPr>
        <p:spPr>
          <a:xfrm>
            <a:off x="6428232" y="1691640"/>
            <a:ext cx="2724912" cy="3566160"/>
          </a:xfrm>
          <a:prstGeom prst="roundRect">
            <a:avLst>
              <a:gd name="adj" fmla="val 2685"/>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17" name="Shape 15"/>
          <p:cNvSpPr/>
          <p:nvPr/>
        </p:nvSpPr>
        <p:spPr>
          <a:xfrm>
            <a:off x="6428232" y="1691640"/>
            <a:ext cx="2724912" cy="420624"/>
          </a:xfrm>
          <a:prstGeom prst="roundRect">
            <a:avLst>
              <a:gd name="adj" fmla="val 17391"/>
            </a:avLst>
          </a:prstGeom>
          <a:solidFill>
            <a:srgbClr val="FCBD4C"/>
          </a:solidFill>
          <a:ln/>
        </p:spPr>
      </p:sp>
      <p:sp>
        <p:nvSpPr>
          <p:cNvPr id="18" name="Shape 16"/>
          <p:cNvSpPr/>
          <p:nvPr/>
        </p:nvSpPr>
        <p:spPr>
          <a:xfrm>
            <a:off x="6428232" y="1901952"/>
            <a:ext cx="2724912" cy="210312"/>
          </a:xfrm>
          <a:prstGeom prst="rect">
            <a:avLst/>
          </a:prstGeom>
          <a:solidFill>
            <a:srgbClr val="FCBD4C"/>
          </a:solidFill>
          <a:ln/>
        </p:spPr>
      </p:sp>
      <p:sp>
        <p:nvSpPr>
          <p:cNvPr id="19" name="Text 17"/>
          <p:cNvSpPr txBox="1"/>
          <p:nvPr/>
        </p:nvSpPr>
        <p:spPr>
          <a:xfrm>
            <a:off x="6565392" y="1691640"/>
            <a:ext cx="2450592"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Week 3</a:t>
            </a:r>
            <a:endParaRPr lang="en-US" sz="1400" dirty="0"/>
          </a:p>
        </p:txBody>
      </p:sp>
      <p:sp>
        <p:nvSpPr>
          <p:cNvPr id="20" name="Text 18"/>
          <p:cNvSpPr txBox="1"/>
          <p:nvPr/>
        </p:nvSpPr>
        <p:spPr>
          <a:xfrm>
            <a:off x="6611112" y="2331720"/>
            <a:ext cx="2377440" cy="2743200"/>
          </a:xfrm>
          <a:prstGeom prst="rect">
            <a:avLst/>
          </a:prstGeom>
          <a:noFill/>
          <a:ln/>
        </p:spPr>
        <p:txBody>
          <a:bodyPr wrap="square" lIns="0" tIns="0" rIns="0" bIns="0" rtlCol="0" anchor="ctr"/>
          <a:lstStyle/>
          <a:p>
            <a:pPr indent="0" marL="0">
              <a:lnSpc>
                <a:spcPct val="115000"/>
              </a:lnSpc>
              <a:buNone/>
            </a:pPr>
            <a:r>
              <a:rPr lang="en-US" sz="1150" dirty="0">
                <a:solidFill>
                  <a:srgbClr val="22252B"/>
                </a:solidFill>
                <a:latin typeface="Calibri" pitchFamily="34" charset="0"/>
                <a:ea typeface="Calibri" pitchFamily="34" charset="-122"/>
                <a:cs typeface="Calibri" pitchFamily="34" charset="-120"/>
              </a:rPr>
              <a:t>Share: show a colleague your two best prompts; propose a shared team prompt library.</a:t>
            </a:r>
            <a:endParaRPr lang="en-US" sz="1150" dirty="0"/>
          </a:p>
        </p:txBody>
      </p:sp>
      <p:sp>
        <p:nvSpPr>
          <p:cNvPr id="21" name="Shape 19"/>
          <p:cNvSpPr/>
          <p:nvPr/>
        </p:nvSpPr>
        <p:spPr>
          <a:xfrm>
            <a:off x="9390888" y="1691640"/>
            <a:ext cx="2724912" cy="3566160"/>
          </a:xfrm>
          <a:prstGeom prst="roundRect">
            <a:avLst>
              <a:gd name="adj" fmla="val 2685"/>
            </a:avLst>
          </a:prstGeom>
          <a:solidFill>
            <a:srgbClr val="FFFFFF"/>
          </a:solidFill>
          <a:ln w="12700">
            <a:solidFill>
              <a:srgbClr val="D9DCE6"/>
            </a:solidFill>
            <a:prstDash val="solid"/>
          </a:ln>
          <a:effectLst>
            <a:outerShdw sx="100000" sy="100000" kx="0" ky="0" algn="bl" rotWithShape="0" blurRad="76200" dist="25400" dir="5400000">
              <a:srgbClr val="000000">
                <a:alpha val="12000"/>
              </a:srgbClr>
            </a:outerShdw>
          </a:effectLst>
        </p:spPr>
      </p:sp>
      <p:sp>
        <p:nvSpPr>
          <p:cNvPr id="22" name="Shape 20"/>
          <p:cNvSpPr/>
          <p:nvPr/>
        </p:nvSpPr>
        <p:spPr>
          <a:xfrm>
            <a:off x="9390888" y="1691640"/>
            <a:ext cx="2724912" cy="420624"/>
          </a:xfrm>
          <a:prstGeom prst="roundRect">
            <a:avLst>
              <a:gd name="adj" fmla="val 17391"/>
            </a:avLst>
          </a:prstGeom>
          <a:solidFill>
            <a:srgbClr val="6258A6"/>
          </a:solidFill>
          <a:ln/>
        </p:spPr>
      </p:sp>
      <p:sp>
        <p:nvSpPr>
          <p:cNvPr id="23" name="Shape 21"/>
          <p:cNvSpPr/>
          <p:nvPr/>
        </p:nvSpPr>
        <p:spPr>
          <a:xfrm>
            <a:off x="9390888" y="1901952"/>
            <a:ext cx="2724912" cy="210312"/>
          </a:xfrm>
          <a:prstGeom prst="rect">
            <a:avLst/>
          </a:prstGeom>
          <a:solidFill>
            <a:srgbClr val="6258A6"/>
          </a:solidFill>
          <a:ln/>
        </p:spPr>
      </p:sp>
      <p:sp>
        <p:nvSpPr>
          <p:cNvPr id="24" name="Text 22"/>
          <p:cNvSpPr txBox="1"/>
          <p:nvPr/>
        </p:nvSpPr>
        <p:spPr>
          <a:xfrm>
            <a:off x="9528048" y="1691640"/>
            <a:ext cx="2450592"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Week 4</a:t>
            </a:r>
            <a:endParaRPr lang="en-US" sz="1400" dirty="0"/>
          </a:p>
        </p:txBody>
      </p:sp>
      <p:sp>
        <p:nvSpPr>
          <p:cNvPr id="25" name="Text 23"/>
          <p:cNvSpPr txBox="1"/>
          <p:nvPr/>
        </p:nvSpPr>
        <p:spPr>
          <a:xfrm>
            <a:off x="9573768" y="2331720"/>
            <a:ext cx="2377440" cy="2743200"/>
          </a:xfrm>
          <a:prstGeom prst="rect">
            <a:avLst/>
          </a:prstGeom>
          <a:noFill/>
          <a:ln/>
        </p:spPr>
        <p:txBody>
          <a:bodyPr wrap="square" lIns="0" tIns="0" rIns="0" bIns="0" rtlCol="0" anchor="ctr"/>
          <a:lstStyle/>
          <a:p>
            <a:pPr indent="0" marL="0">
              <a:lnSpc>
                <a:spcPct val="115000"/>
              </a:lnSpc>
              <a:buNone/>
            </a:pPr>
            <a:r>
              <a:rPr lang="en-US" sz="1150" dirty="0">
                <a:solidFill>
                  <a:srgbClr val="22252B"/>
                </a:solidFill>
                <a:latin typeface="Calibri" pitchFamily="34" charset="0"/>
                <a:ea typeface="Calibri" pitchFamily="34" charset="-122"/>
                <a:cs typeface="Calibri" pitchFamily="34" charset="-120"/>
              </a:rPr>
              <a:t>Review: What saved the most time? Where did AI fail you? Update your library — delete, refine, add. Set your next-month goal.</a:t>
            </a:r>
            <a:endParaRPr lang="en-US" sz="1150" dirty="0"/>
          </a:p>
        </p:txBody>
      </p:sp>
      <p:sp>
        <p:nvSpPr>
          <p:cNvPr id="26" name="Text 24"/>
          <p:cNvSpPr txBox="1"/>
          <p:nvPr/>
        </p:nvSpPr>
        <p:spPr>
          <a:xfrm>
            <a:off x="502920" y="5623560"/>
            <a:ext cx="11155680" cy="365760"/>
          </a:xfrm>
          <a:prstGeom prst="rect">
            <a:avLst/>
          </a:prstGeom>
          <a:noFill/>
          <a:ln/>
        </p:spPr>
        <p:txBody>
          <a:bodyPr wrap="square" lIns="0" tIns="0" rIns="0" bIns="0" rtlCol="0" anchor="ctr"/>
          <a:lstStyle/>
          <a:p>
            <a:pPr indent="0" marL="0">
              <a:buNone/>
            </a:pPr>
            <a:r>
              <a:rPr lang="en-US" sz="1300" b="1" i="1" dirty="0">
                <a:solidFill>
                  <a:srgbClr val="273370"/>
                </a:solidFill>
                <a:latin typeface="Calibri" pitchFamily="34" charset="0"/>
                <a:ea typeface="Calibri" pitchFamily="34" charset="-122"/>
                <a:cs typeface="Calibri" pitchFamily="34" charset="-120"/>
              </a:rPr>
              <a:t>Now: complete the plan on Workbook p. 12 — name your task, your tool, your colleague, and your review date.</a:t>
            </a:r>
            <a:endParaRPr lang="en-US" sz="1300" dirty="0"/>
          </a:p>
        </p:txBody>
      </p:sp>
      <p:sp>
        <p:nvSpPr>
          <p:cNvPr id="27" name="Text 25"/>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28" name="Text 26"/>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71</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txBox="1"/>
          <p:nvPr/>
        </p:nvSpPr>
        <p:spPr>
          <a:xfrm>
            <a:off x="502920" y="347472"/>
            <a:ext cx="1115568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If you remember only five things…</a:t>
            </a:r>
            <a:endParaRPr lang="en-US" sz="3000" dirty="0"/>
          </a:p>
        </p:txBody>
      </p:sp>
      <p:sp>
        <p:nvSpPr>
          <p:cNvPr id="3" name="Shape 1"/>
          <p:cNvSpPr/>
          <p:nvPr/>
        </p:nvSpPr>
        <p:spPr>
          <a:xfrm>
            <a:off x="640080" y="1508760"/>
            <a:ext cx="658368" cy="658368"/>
          </a:xfrm>
          <a:prstGeom prst="roundRect">
            <a:avLst>
              <a:gd name="adj" fmla="val 12500"/>
            </a:avLst>
          </a:prstGeom>
          <a:solidFill>
            <a:srgbClr val="94A0DA"/>
          </a:solidFill>
          <a:ln/>
        </p:spPr>
      </p:sp>
      <p:pic>
        <p:nvPicPr>
          <p:cNvPr id="4" name="Image 0" descr="preencoded.png">    </p:cNvPr>
          <p:cNvPicPr>
            <a:picLocks noChangeAspect="1"/>
          </p:cNvPicPr>
          <p:nvPr/>
        </p:nvPicPr>
        <p:blipFill>
          <a:blip r:embed="rId1"/>
          <a:stretch>
            <a:fillRect/>
          </a:stretch>
        </p:blipFill>
        <p:spPr>
          <a:xfrm>
            <a:off x="784921" y="1653601"/>
            <a:ext cx="368686" cy="368686"/>
          </a:xfrm>
          <a:prstGeom prst="rect">
            <a:avLst/>
          </a:prstGeom>
        </p:spPr>
      </p:pic>
      <p:sp>
        <p:nvSpPr>
          <p:cNvPr id="5" name="Text 2"/>
          <p:cNvSpPr txBox="1"/>
          <p:nvPr/>
        </p:nvSpPr>
        <p:spPr>
          <a:xfrm>
            <a:off x="1536192" y="1490472"/>
            <a:ext cx="4206240" cy="713232"/>
          </a:xfrm>
          <a:prstGeom prst="rect">
            <a:avLst/>
          </a:prstGeom>
          <a:noFill/>
          <a:ln/>
        </p:spPr>
        <p:txBody>
          <a:bodyPr wrap="square" lIns="0" tIns="0" rIns="0" bIns="0" rtlCol="0" anchor="ctr"/>
          <a:lstStyle/>
          <a:p>
            <a:pPr indent="0" marL="0">
              <a:buNone/>
            </a:pPr>
            <a:r>
              <a:rPr lang="en-US" sz="1700" b="1" dirty="0">
                <a:solidFill>
                  <a:srgbClr val="273370"/>
                </a:solidFill>
                <a:latin typeface="Calibri" pitchFamily="34" charset="0"/>
                <a:ea typeface="Calibri" pitchFamily="34" charset="-122"/>
                <a:cs typeface="Calibri" pitchFamily="34" charset="-120"/>
              </a:rPr>
              <a:t>It predicts, it does not know</a:t>
            </a:r>
            <a:endParaRPr lang="en-US" sz="1700" dirty="0"/>
          </a:p>
        </p:txBody>
      </p:sp>
      <p:sp>
        <p:nvSpPr>
          <p:cNvPr id="6" name="Text 3"/>
          <p:cNvSpPr txBox="1"/>
          <p:nvPr/>
        </p:nvSpPr>
        <p:spPr>
          <a:xfrm>
            <a:off x="5897880" y="1490472"/>
            <a:ext cx="5760720" cy="713232"/>
          </a:xfrm>
          <a:prstGeom prst="rect">
            <a:avLst/>
          </a:prstGeom>
          <a:noFill/>
          <a:ln/>
        </p:spPr>
        <p:txBody>
          <a:bodyPr wrap="square" lIns="0" tIns="0" rIns="0" bIns="0" rtlCol="0" anchor="ctr"/>
          <a:lstStyle/>
          <a:p>
            <a:pPr indent="0" marL="0">
              <a:buNone/>
            </a:pPr>
            <a:r>
              <a:rPr lang="en-US" sz="1350" dirty="0">
                <a:solidFill>
                  <a:srgbClr val="22252B"/>
                </a:solidFill>
                <a:latin typeface="Calibri" pitchFamily="34" charset="0"/>
                <a:ea typeface="Calibri" pitchFamily="34" charset="-122"/>
                <a:cs typeface="Calibri" pitchFamily="34" charset="-120"/>
              </a:rPr>
              <a:t>Fluency is never proof of accuracy.</a:t>
            </a:r>
            <a:endParaRPr lang="en-US" sz="1350" dirty="0"/>
          </a:p>
        </p:txBody>
      </p:sp>
      <p:sp>
        <p:nvSpPr>
          <p:cNvPr id="7" name="Shape 4"/>
          <p:cNvSpPr/>
          <p:nvPr/>
        </p:nvSpPr>
        <p:spPr>
          <a:xfrm>
            <a:off x="640080" y="2441448"/>
            <a:ext cx="658368" cy="658368"/>
          </a:xfrm>
          <a:prstGeom prst="roundRect">
            <a:avLst>
              <a:gd name="adj" fmla="val 12500"/>
            </a:avLst>
          </a:prstGeom>
          <a:solidFill>
            <a:srgbClr val="273370"/>
          </a:solidFill>
          <a:ln/>
        </p:spPr>
      </p:sp>
      <p:pic>
        <p:nvPicPr>
          <p:cNvPr id="8" name="Image 1" descr="preencoded.png">    </p:cNvPr>
          <p:cNvPicPr>
            <a:picLocks noChangeAspect="1"/>
          </p:cNvPicPr>
          <p:nvPr/>
        </p:nvPicPr>
        <p:blipFill>
          <a:blip r:embed="rId2"/>
          <a:stretch>
            <a:fillRect/>
          </a:stretch>
        </p:blipFill>
        <p:spPr>
          <a:xfrm>
            <a:off x="784921" y="2586289"/>
            <a:ext cx="368686" cy="368686"/>
          </a:xfrm>
          <a:prstGeom prst="rect">
            <a:avLst/>
          </a:prstGeom>
        </p:spPr>
      </p:pic>
      <p:sp>
        <p:nvSpPr>
          <p:cNvPr id="9" name="Text 5"/>
          <p:cNvSpPr txBox="1"/>
          <p:nvPr/>
        </p:nvSpPr>
        <p:spPr>
          <a:xfrm>
            <a:off x="1536192" y="2423160"/>
            <a:ext cx="4206240" cy="713232"/>
          </a:xfrm>
          <a:prstGeom prst="rect">
            <a:avLst/>
          </a:prstGeom>
          <a:noFill/>
          <a:ln/>
        </p:spPr>
        <p:txBody>
          <a:bodyPr wrap="square" lIns="0" tIns="0" rIns="0" bIns="0" rtlCol="0" anchor="ctr"/>
          <a:lstStyle/>
          <a:p>
            <a:pPr indent="0" marL="0">
              <a:buNone/>
            </a:pPr>
            <a:r>
              <a:rPr lang="en-US" sz="1700" b="1" dirty="0">
                <a:solidFill>
                  <a:srgbClr val="273370"/>
                </a:solidFill>
                <a:latin typeface="Calibri" pitchFamily="34" charset="0"/>
                <a:ea typeface="Calibri" pitchFamily="34" charset="-122"/>
                <a:cs typeface="Calibri" pitchFamily="34" charset="-120"/>
              </a:rPr>
              <a:t>Context is the prompt</a:t>
            </a:r>
            <a:endParaRPr lang="en-US" sz="1700" dirty="0"/>
          </a:p>
        </p:txBody>
      </p:sp>
      <p:sp>
        <p:nvSpPr>
          <p:cNvPr id="10" name="Text 6"/>
          <p:cNvSpPr txBox="1"/>
          <p:nvPr/>
        </p:nvSpPr>
        <p:spPr>
          <a:xfrm>
            <a:off x="5897880" y="2423160"/>
            <a:ext cx="5760720" cy="713232"/>
          </a:xfrm>
          <a:prstGeom prst="rect">
            <a:avLst/>
          </a:prstGeom>
          <a:noFill/>
          <a:ln/>
        </p:spPr>
        <p:txBody>
          <a:bodyPr wrap="square" lIns="0" tIns="0" rIns="0" bIns="0" rtlCol="0" anchor="ctr"/>
          <a:lstStyle/>
          <a:p>
            <a:pPr indent="0" marL="0">
              <a:buNone/>
            </a:pPr>
            <a:r>
              <a:rPr lang="en-US" sz="1350" dirty="0">
                <a:solidFill>
                  <a:srgbClr val="22252B"/>
                </a:solidFill>
                <a:latin typeface="Calibri" pitchFamily="34" charset="0"/>
                <a:ea typeface="Calibri" pitchFamily="34" charset="-122"/>
                <a:cs typeface="Calibri" pitchFamily="34" charset="-120"/>
              </a:rPr>
              <a:t>Who, what, why, for whom — then iterate.</a:t>
            </a:r>
            <a:endParaRPr lang="en-US" sz="1350" dirty="0"/>
          </a:p>
        </p:txBody>
      </p:sp>
      <p:sp>
        <p:nvSpPr>
          <p:cNvPr id="11" name="Shape 7"/>
          <p:cNvSpPr/>
          <p:nvPr/>
        </p:nvSpPr>
        <p:spPr>
          <a:xfrm>
            <a:off x="640080" y="3374136"/>
            <a:ext cx="658368" cy="658368"/>
          </a:xfrm>
          <a:prstGeom prst="roundRect">
            <a:avLst>
              <a:gd name="adj" fmla="val 12500"/>
            </a:avLst>
          </a:prstGeom>
          <a:solidFill>
            <a:srgbClr val="29BA74"/>
          </a:solidFill>
          <a:ln/>
        </p:spPr>
      </p:sp>
      <p:pic>
        <p:nvPicPr>
          <p:cNvPr id="12" name="Image 2" descr="preencoded.png">    </p:cNvPr>
          <p:cNvPicPr>
            <a:picLocks noChangeAspect="1"/>
          </p:cNvPicPr>
          <p:nvPr/>
        </p:nvPicPr>
        <p:blipFill>
          <a:blip r:embed="rId3"/>
          <a:stretch>
            <a:fillRect/>
          </a:stretch>
        </p:blipFill>
        <p:spPr>
          <a:xfrm>
            <a:off x="784921" y="3518977"/>
            <a:ext cx="368686" cy="368686"/>
          </a:xfrm>
          <a:prstGeom prst="rect">
            <a:avLst/>
          </a:prstGeom>
        </p:spPr>
      </p:pic>
      <p:sp>
        <p:nvSpPr>
          <p:cNvPr id="13" name="Text 8"/>
          <p:cNvSpPr txBox="1"/>
          <p:nvPr/>
        </p:nvSpPr>
        <p:spPr>
          <a:xfrm>
            <a:off x="1536192" y="3355848"/>
            <a:ext cx="4206240" cy="713232"/>
          </a:xfrm>
          <a:prstGeom prst="rect">
            <a:avLst/>
          </a:prstGeom>
          <a:noFill/>
          <a:ln/>
        </p:spPr>
        <p:txBody>
          <a:bodyPr wrap="square" lIns="0" tIns="0" rIns="0" bIns="0" rtlCol="0" anchor="ctr"/>
          <a:lstStyle/>
          <a:p>
            <a:pPr indent="0" marL="0">
              <a:buNone/>
            </a:pPr>
            <a:r>
              <a:rPr lang="en-US" sz="1700" b="1" dirty="0">
                <a:solidFill>
                  <a:srgbClr val="273370"/>
                </a:solidFill>
                <a:latin typeface="Calibri" pitchFamily="34" charset="0"/>
                <a:ea typeface="Calibri" pitchFamily="34" charset="-122"/>
                <a:cs typeface="Calibri" pitchFamily="34" charset="-120"/>
              </a:rPr>
              <a:t>Brief → Draft → Refine → Verify</a:t>
            </a:r>
            <a:endParaRPr lang="en-US" sz="1700" dirty="0"/>
          </a:p>
        </p:txBody>
      </p:sp>
      <p:sp>
        <p:nvSpPr>
          <p:cNvPr id="14" name="Text 9"/>
          <p:cNvSpPr txBox="1"/>
          <p:nvPr/>
        </p:nvSpPr>
        <p:spPr>
          <a:xfrm>
            <a:off x="5897880" y="3355848"/>
            <a:ext cx="5760720" cy="713232"/>
          </a:xfrm>
          <a:prstGeom prst="rect">
            <a:avLst/>
          </a:prstGeom>
          <a:noFill/>
          <a:ln/>
        </p:spPr>
        <p:txBody>
          <a:bodyPr wrap="square" lIns="0" tIns="0" rIns="0" bIns="0" rtlCol="0" anchor="ctr"/>
          <a:lstStyle/>
          <a:p>
            <a:pPr indent="0" marL="0">
              <a:buNone/>
            </a:pPr>
            <a:r>
              <a:rPr lang="en-US" sz="1350" dirty="0">
                <a:solidFill>
                  <a:srgbClr val="22252B"/>
                </a:solidFill>
                <a:latin typeface="Calibri" pitchFamily="34" charset="0"/>
                <a:ea typeface="Calibri" pitchFamily="34" charset="-122"/>
                <a:cs typeface="Calibri" pitchFamily="34" charset="-120"/>
              </a:rPr>
              <a:t>The workflow for everything you write.</a:t>
            </a:r>
            <a:endParaRPr lang="en-US" sz="1350" dirty="0"/>
          </a:p>
        </p:txBody>
      </p:sp>
      <p:sp>
        <p:nvSpPr>
          <p:cNvPr id="15" name="Shape 10"/>
          <p:cNvSpPr/>
          <p:nvPr/>
        </p:nvSpPr>
        <p:spPr>
          <a:xfrm>
            <a:off x="640080" y="4306824"/>
            <a:ext cx="658368" cy="658368"/>
          </a:xfrm>
          <a:prstGeom prst="roundRect">
            <a:avLst>
              <a:gd name="adj" fmla="val 12500"/>
            </a:avLst>
          </a:prstGeom>
          <a:solidFill>
            <a:srgbClr val="FCBD4C"/>
          </a:solidFill>
          <a:ln/>
        </p:spPr>
      </p:sp>
      <p:pic>
        <p:nvPicPr>
          <p:cNvPr id="16" name="Image 3" descr="preencoded.png">    </p:cNvPr>
          <p:cNvPicPr>
            <a:picLocks noChangeAspect="1"/>
          </p:cNvPicPr>
          <p:nvPr/>
        </p:nvPicPr>
        <p:blipFill>
          <a:blip r:embed="rId4"/>
          <a:stretch>
            <a:fillRect/>
          </a:stretch>
        </p:blipFill>
        <p:spPr>
          <a:xfrm>
            <a:off x="784921" y="4451665"/>
            <a:ext cx="368686" cy="368686"/>
          </a:xfrm>
          <a:prstGeom prst="rect">
            <a:avLst/>
          </a:prstGeom>
        </p:spPr>
      </p:pic>
      <p:sp>
        <p:nvSpPr>
          <p:cNvPr id="17" name="Text 11"/>
          <p:cNvSpPr txBox="1"/>
          <p:nvPr/>
        </p:nvSpPr>
        <p:spPr>
          <a:xfrm>
            <a:off x="1536192" y="4288536"/>
            <a:ext cx="4206240" cy="713232"/>
          </a:xfrm>
          <a:prstGeom prst="rect">
            <a:avLst/>
          </a:prstGeom>
          <a:noFill/>
          <a:ln/>
        </p:spPr>
        <p:txBody>
          <a:bodyPr wrap="square" lIns="0" tIns="0" rIns="0" bIns="0" rtlCol="0" anchor="ctr"/>
          <a:lstStyle/>
          <a:p>
            <a:pPr indent="0" marL="0">
              <a:buNone/>
            </a:pPr>
            <a:r>
              <a:rPr lang="en-US" sz="1700" b="1" dirty="0">
                <a:solidFill>
                  <a:srgbClr val="273370"/>
                </a:solidFill>
                <a:latin typeface="Calibri" pitchFamily="34" charset="0"/>
                <a:ea typeface="Calibri" pitchFamily="34" charset="-122"/>
                <a:cs typeface="Calibri" pitchFamily="34" charset="-120"/>
              </a:rPr>
              <a:t>CHECK before it ships</a:t>
            </a:r>
            <a:endParaRPr lang="en-US" sz="1700" dirty="0"/>
          </a:p>
        </p:txBody>
      </p:sp>
      <p:sp>
        <p:nvSpPr>
          <p:cNvPr id="18" name="Text 12"/>
          <p:cNvSpPr txBox="1"/>
          <p:nvPr/>
        </p:nvSpPr>
        <p:spPr>
          <a:xfrm>
            <a:off x="5897880" y="4288536"/>
            <a:ext cx="5760720" cy="713232"/>
          </a:xfrm>
          <a:prstGeom prst="rect">
            <a:avLst/>
          </a:prstGeom>
          <a:noFill/>
          <a:ln/>
        </p:spPr>
        <p:txBody>
          <a:bodyPr wrap="square" lIns="0" tIns="0" rIns="0" bIns="0" rtlCol="0" anchor="ctr"/>
          <a:lstStyle/>
          <a:p>
            <a:pPr indent="0" marL="0">
              <a:buNone/>
            </a:pPr>
            <a:r>
              <a:rPr lang="en-US" sz="1350" dirty="0">
                <a:solidFill>
                  <a:srgbClr val="22252B"/>
                </a:solidFill>
                <a:latin typeface="Calibri" pitchFamily="34" charset="0"/>
                <a:ea typeface="Calibri" pitchFamily="34" charset="-122"/>
                <a:cs typeface="Calibri" pitchFamily="34" charset="-120"/>
              </a:rPr>
              <a:t>Facts, references, logic, gaps — then own it.</a:t>
            </a:r>
            <a:endParaRPr lang="en-US" sz="1350" dirty="0"/>
          </a:p>
        </p:txBody>
      </p:sp>
      <p:sp>
        <p:nvSpPr>
          <p:cNvPr id="19" name="Shape 13"/>
          <p:cNvSpPr/>
          <p:nvPr/>
        </p:nvSpPr>
        <p:spPr>
          <a:xfrm>
            <a:off x="640080" y="5239512"/>
            <a:ext cx="658368" cy="658368"/>
          </a:xfrm>
          <a:prstGeom prst="roundRect">
            <a:avLst>
              <a:gd name="adj" fmla="val 12500"/>
            </a:avLst>
          </a:prstGeom>
          <a:solidFill>
            <a:srgbClr val="D45C5C"/>
          </a:solidFill>
          <a:ln/>
        </p:spPr>
      </p:sp>
      <p:pic>
        <p:nvPicPr>
          <p:cNvPr id="20" name="Image 4" descr="preencoded.png">    </p:cNvPr>
          <p:cNvPicPr>
            <a:picLocks noChangeAspect="1"/>
          </p:cNvPicPr>
          <p:nvPr/>
        </p:nvPicPr>
        <p:blipFill>
          <a:blip r:embed="rId5"/>
          <a:stretch>
            <a:fillRect/>
          </a:stretch>
        </p:blipFill>
        <p:spPr>
          <a:xfrm>
            <a:off x="784921" y="5384353"/>
            <a:ext cx="368686" cy="368686"/>
          </a:xfrm>
          <a:prstGeom prst="rect">
            <a:avLst/>
          </a:prstGeom>
        </p:spPr>
      </p:pic>
      <p:sp>
        <p:nvSpPr>
          <p:cNvPr id="21" name="Text 14"/>
          <p:cNvSpPr txBox="1"/>
          <p:nvPr/>
        </p:nvSpPr>
        <p:spPr>
          <a:xfrm>
            <a:off x="1536192" y="5221224"/>
            <a:ext cx="4206240" cy="713232"/>
          </a:xfrm>
          <a:prstGeom prst="rect">
            <a:avLst/>
          </a:prstGeom>
          <a:noFill/>
          <a:ln/>
        </p:spPr>
        <p:txBody>
          <a:bodyPr wrap="square" lIns="0" tIns="0" rIns="0" bIns="0" rtlCol="0" anchor="ctr"/>
          <a:lstStyle/>
          <a:p>
            <a:pPr indent="0" marL="0">
              <a:buNone/>
            </a:pPr>
            <a:r>
              <a:rPr lang="en-US" sz="1700" b="1" dirty="0">
                <a:solidFill>
                  <a:srgbClr val="273370"/>
                </a:solidFill>
                <a:latin typeface="Calibri" pitchFamily="34" charset="0"/>
                <a:ea typeface="Calibri" pitchFamily="34" charset="-122"/>
                <a:cs typeface="Calibri" pitchFamily="34" charset="-120"/>
              </a:rPr>
              <a:t>Green, amber, red</a:t>
            </a:r>
            <a:endParaRPr lang="en-US" sz="1700" dirty="0"/>
          </a:p>
        </p:txBody>
      </p:sp>
      <p:sp>
        <p:nvSpPr>
          <p:cNvPr id="22" name="Text 15"/>
          <p:cNvSpPr txBox="1"/>
          <p:nvPr/>
        </p:nvSpPr>
        <p:spPr>
          <a:xfrm>
            <a:off x="5897880" y="5221224"/>
            <a:ext cx="5760720" cy="713232"/>
          </a:xfrm>
          <a:prstGeom prst="rect">
            <a:avLst/>
          </a:prstGeom>
          <a:noFill/>
          <a:ln/>
        </p:spPr>
        <p:txBody>
          <a:bodyPr wrap="square" lIns="0" tIns="0" rIns="0" bIns="0" rtlCol="0" anchor="ctr"/>
          <a:lstStyle/>
          <a:p>
            <a:pPr indent="0" marL="0">
              <a:buNone/>
            </a:pPr>
            <a:r>
              <a:rPr lang="en-US" sz="1350" dirty="0">
                <a:solidFill>
                  <a:srgbClr val="22252B"/>
                </a:solidFill>
                <a:latin typeface="Calibri" pitchFamily="34" charset="0"/>
                <a:ea typeface="Calibri" pitchFamily="34" charset="-122"/>
                <a:cs typeface="Calibri" pitchFamily="34" charset="-120"/>
              </a:rPr>
              <a:t>The right data in the right tool — and you stay accountable.</a:t>
            </a:r>
            <a:endParaRPr lang="en-US" sz="1350" dirty="0"/>
          </a:p>
        </p:txBody>
      </p:sp>
      <p:sp>
        <p:nvSpPr>
          <p:cNvPr id="23" name="Text 16"/>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24" name="Text 17"/>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72</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txBox="1"/>
          <p:nvPr/>
        </p:nvSpPr>
        <p:spPr>
          <a:xfrm>
            <a:off x="502920" y="347472"/>
            <a:ext cx="11155680" cy="685800"/>
          </a:xfrm>
          <a:prstGeom prst="rect">
            <a:avLst/>
          </a:prstGeom>
          <a:noFill/>
          <a:ln/>
        </p:spPr>
        <p:txBody>
          <a:bodyPr wrap="square" lIns="0" tIns="0" rIns="0" bIns="0" rtlCol="0" anchor="ctr"/>
          <a:lstStyle/>
          <a:p>
            <a:pPr indent="0" marL="0">
              <a:buNone/>
            </a:pPr>
            <a:r>
              <a:rPr lang="en-US" sz="3000" b="1" dirty="0">
                <a:solidFill>
                  <a:srgbClr val="273370"/>
                </a:solidFill>
                <a:latin typeface="Calibri" pitchFamily="34" charset="0"/>
                <a:ea typeface="Calibri" pitchFamily="34" charset="-122"/>
                <a:cs typeface="Calibri" pitchFamily="34" charset="-120"/>
              </a:rPr>
              <a:t>References &amp; further reading</a:t>
            </a:r>
            <a:endParaRPr lang="en-US" sz="3000" dirty="0"/>
          </a:p>
        </p:txBody>
      </p:sp>
      <p:sp>
        <p:nvSpPr>
          <p:cNvPr id="3" name="Text 1"/>
          <p:cNvSpPr txBox="1"/>
          <p:nvPr/>
        </p:nvSpPr>
        <p:spPr>
          <a:xfrm>
            <a:off x="640080" y="1463040"/>
            <a:ext cx="10972800" cy="4480560"/>
          </a:xfrm>
          <a:prstGeom prst="rect">
            <a:avLst/>
          </a:prstGeom>
          <a:noFill/>
          <a:ln/>
        </p:spPr>
        <p:txBody>
          <a:bodyPr wrap="square" lIns="0" tIns="0" rIns="0" bIns="0" rtlCol="0" anchor="t"/>
          <a:lstStyle/>
          <a:p>
            <a:pPr marL="127000" indent="-127000">
              <a:lnSpc>
                <a:spcPct val="105000"/>
              </a:lnSpc>
              <a:spcAft>
                <a:spcPts val="900"/>
              </a:spcAft>
              <a:buSzPct val="100000"/>
              <a:buChar char="•"/>
            </a:pPr>
            <a:r>
              <a:rPr lang="en-US" sz="1200" dirty="0">
                <a:solidFill>
                  <a:srgbClr val="22252B"/>
                </a:solidFill>
                <a:latin typeface="Calibri" pitchFamily="34" charset="0"/>
                <a:ea typeface="Calibri" pitchFamily="34" charset="-122"/>
                <a:cs typeface="Calibri" pitchFamily="34" charset="-120"/>
              </a:rPr>
              <a:t>SDAIA (2024). Generative Artificial Intelligence for Government — Guidelines. Saudi Data &amp; AI Authority. sdaia.gov.sa</a:t>
            </a:r>
            <a:endParaRPr lang="en-US" sz="1200" dirty="0"/>
          </a:p>
          <a:p>
            <a:pPr marL="127000" indent="-127000">
              <a:lnSpc>
                <a:spcPct val="105000"/>
              </a:lnSpc>
              <a:spcAft>
                <a:spcPts val="900"/>
              </a:spcAft>
              <a:buSzPct val="100000"/>
              <a:buChar char="•"/>
            </a:pPr>
            <a:r>
              <a:rPr lang="en-US" sz="1200" dirty="0">
                <a:solidFill>
                  <a:srgbClr val="22252B"/>
                </a:solidFill>
                <a:latin typeface="Calibri" pitchFamily="34" charset="0"/>
                <a:ea typeface="Calibri" pitchFamily="34" charset="-122"/>
                <a:cs typeface="Calibri" pitchFamily="34" charset="-120"/>
              </a:rPr>
              <a:t>SDAIA (2024). Generative Artificial Intelligence for the Public — Guidelines. Saudi Data &amp; AI Authority. sdaia.gov.sa</a:t>
            </a:r>
            <a:endParaRPr lang="en-US" sz="1200" dirty="0"/>
          </a:p>
          <a:p>
            <a:pPr marL="127000" indent="-127000">
              <a:lnSpc>
                <a:spcPct val="105000"/>
              </a:lnSpc>
              <a:spcAft>
                <a:spcPts val="900"/>
              </a:spcAft>
              <a:buSzPct val="100000"/>
              <a:buChar char="•"/>
            </a:pPr>
            <a:r>
              <a:rPr lang="en-US" sz="1200" dirty="0">
                <a:solidFill>
                  <a:srgbClr val="22252B"/>
                </a:solidFill>
                <a:latin typeface="Calibri" pitchFamily="34" charset="0"/>
                <a:ea typeface="Calibri" pitchFamily="34" charset="-122"/>
                <a:cs typeface="Calibri" pitchFamily="34" charset="-120"/>
              </a:rPr>
              <a:t>SDAIA (2023). AI Ethics Principles. Saudi Data &amp; AI Authority. sdaia.gov.sa</a:t>
            </a:r>
            <a:endParaRPr lang="en-US" sz="1200" dirty="0"/>
          </a:p>
          <a:p>
            <a:pPr marL="127000" indent="-127000">
              <a:lnSpc>
                <a:spcPct val="105000"/>
              </a:lnSpc>
              <a:spcAft>
                <a:spcPts val="900"/>
              </a:spcAft>
              <a:buSzPct val="100000"/>
              <a:buChar char="•"/>
            </a:pPr>
            <a:r>
              <a:rPr lang="en-US" sz="1200" dirty="0">
                <a:solidFill>
                  <a:srgbClr val="22252B"/>
                </a:solidFill>
                <a:latin typeface="Calibri" pitchFamily="34" charset="0"/>
                <a:ea typeface="Calibri" pitchFamily="34" charset="-122"/>
                <a:cs typeface="Calibri" pitchFamily="34" charset="-120"/>
              </a:rPr>
              <a:t>Kingdom of Saudi Arabia. Personal Data Protection Law (Royal Decree M/19 of 1443H, as amended) and Implementing Regulations. SDAIA.</a:t>
            </a:r>
            <a:endParaRPr lang="en-US" sz="1200" dirty="0"/>
          </a:p>
          <a:p>
            <a:pPr marL="127000" indent="-127000">
              <a:lnSpc>
                <a:spcPct val="105000"/>
              </a:lnSpc>
              <a:spcAft>
                <a:spcPts val="900"/>
              </a:spcAft>
              <a:buSzPct val="100000"/>
              <a:buChar char="•"/>
            </a:pPr>
            <a:r>
              <a:rPr lang="en-US" sz="1200" dirty="0">
                <a:solidFill>
                  <a:srgbClr val="22252B"/>
                </a:solidFill>
                <a:latin typeface="Calibri" pitchFamily="34" charset="0"/>
                <a:ea typeface="Calibri" pitchFamily="34" charset="-122"/>
                <a:cs typeface="Calibri" pitchFamily="34" charset="-120"/>
              </a:rPr>
              <a:t>Noy, S. &amp; Zhang, W. (2023). Experimental evidence on the productivity effects of generative artificial intelligence. Science, 381(6654), 187–192.</a:t>
            </a:r>
            <a:endParaRPr lang="en-US" sz="1200" dirty="0"/>
          </a:p>
          <a:p>
            <a:pPr marL="127000" indent="-127000">
              <a:lnSpc>
                <a:spcPct val="105000"/>
              </a:lnSpc>
              <a:spcAft>
                <a:spcPts val="900"/>
              </a:spcAft>
              <a:buSzPct val="100000"/>
              <a:buChar char="•"/>
            </a:pPr>
            <a:r>
              <a:rPr lang="en-US" sz="1200" dirty="0">
                <a:solidFill>
                  <a:srgbClr val="22252B"/>
                </a:solidFill>
                <a:latin typeface="Calibri" pitchFamily="34" charset="0"/>
                <a:ea typeface="Calibri" pitchFamily="34" charset="-122"/>
                <a:cs typeface="Calibri" pitchFamily="34" charset="-120"/>
              </a:rPr>
              <a:t>Brynjolfsson, E., Li, D. &amp; Raymond, L. (2025). Generative AI at Work. Quarterly Journal of Economics, 140(2), 889–942.</a:t>
            </a:r>
            <a:endParaRPr lang="en-US" sz="1200" dirty="0"/>
          </a:p>
          <a:p>
            <a:pPr marL="127000" indent="-127000">
              <a:lnSpc>
                <a:spcPct val="105000"/>
              </a:lnSpc>
              <a:spcAft>
                <a:spcPts val="900"/>
              </a:spcAft>
              <a:buSzPct val="100000"/>
              <a:buChar char="•"/>
            </a:pPr>
            <a:r>
              <a:rPr lang="en-US" sz="1200" dirty="0">
                <a:solidFill>
                  <a:srgbClr val="22252B"/>
                </a:solidFill>
                <a:latin typeface="Calibri" pitchFamily="34" charset="0"/>
                <a:ea typeface="Calibri" pitchFamily="34" charset="-122"/>
                <a:cs typeface="Calibri" pitchFamily="34" charset="-120"/>
              </a:rPr>
              <a:t>McKinsey &amp; Company (2023). The economic potential of generative AI: The next productivity frontier.</a:t>
            </a:r>
            <a:endParaRPr lang="en-US" sz="1200" dirty="0"/>
          </a:p>
          <a:p>
            <a:pPr marL="127000" indent="-127000">
              <a:lnSpc>
                <a:spcPct val="105000"/>
              </a:lnSpc>
              <a:spcAft>
                <a:spcPts val="900"/>
              </a:spcAft>
              <a:buSzPct val="100000"/>
              <a:buChar char="•"/>
            </a:pPr>
            <a:r>
              <a:rPr lang="en-US" sz="1200" dirty="0">
                <a:solidFill>
                  <a:srgbClr val="22252B"/>
                </a:solidFill>
                <a:latin typeface="Calibri" pitchFamily="34" charset="0"/>
                <a:ea typeface="Calibri" pitchFamily="34" charset="-122"/>
                <a:cs typeface="Calibri" pitchFamily="34" charset="-120"/>
              </a:rPr>
              <a:t>Microsoft (2026). Microsoft 365 Copilot documentation. learn.microsoft.com</a:t>
            </a:r>
            <a:endParaRPr lang="en-US" sz="1200" dirty="0"/>
          </a:p>
          <a:p>
            <a:pPr marL="127000" indent="-127000">
              <a:lnSpc>
                <a:spcPct val="105000"/>
              </a:lnSpc>
              <a:spcAft>
                <a:spcPts val="900"/>
              </a:spcAft>
              <a:buSzPct val="100000"/>
              <a:buChar char="•"/>
            </a:pPr>
            <a:r>
              <a:rPr lang="en-US" sz="1200" dirty="0">
                <a:solidFill>
                  <a:srgbClr val="22252B"/>
                </a:solidFill>
                <a:latin typeface="Calibri" pitchFamily="34" charset="0"/>
                <a:ea typeface="Calibri" pitchFamily="34" charset="-122"/>
                <a:cs typeface="Calibri" pitchFamily="34" charset="-120"/>
              </a:rPr>
              <a:t>Google (2026). Gemini for Google Workspace documentation. support.google.com</a:t>
            </a:r>
            <a:endParaRPr lang="en-US" sz="1200" dirty="0"/>
          </a:p>
          <a:p>
            <a:pPr marL="127000" indent="-127000">
              <a:lnSpc>
                <a:spcPct val="105000"/>
              </a:lnSpc>
              <a:spcAft>
                <a:spcPts val="900"/>
              </a:spcAft>
              <a:buSzPct val="100000"/>
              <a:buChar char="•"/>
            </a:pPr>
            <a:r>
              <a:rPr lang="en-US" sz="1200" dirty="0">
                <a:solidFill>
                  <a:srgbClr val="22252B"/>
                </a:solidFill>
                <a:latin typeface="Calibri" pitchFamily="34" charset="0"/>
                <a:ea typeface="Calibri" pitchFamily="34" charset="-122"/>
                <a:cs typeface="Calibri" pitchFamily="34" charset="-120"/>
              </a:rPr>
              <a:t>OpenAI (2026). ChatGPT product documentation and usage policies. openai.com</a:t>
            </a:r>
            <a:endParaRPr lang="en-US" sz="1200" dirty="0"/>
          </a:p>
        </p:txBody>
      </p:sp>
      <p:sp>
        <p:nvSpPr>
          <p:cNvPr id="4" name="Text 2"/>
          <p:cNvSpPr txBox="1"/>
          <p:nvPr/>
        </p:nvSpPr>
        <p:spPr>
          <a:xfrm>
            <a:off x="640080" y="5989320"/>
            <a:ext cx="10972800" cy="457200"/>
          </a:xfrm>
          <a:prstGeom prst="rect">
            <a:avLst/>
          </a:prstGeom>
          <a:noFill/>
          <a:ln/>
        </p:spPr>
        <p:txBody>
          <a:bodyPr wrap="square" lIns="0" tIns="0" rIns="0" bIns="0" rtlCol="0" anchor="ctr"/>
          <a:lstStyle/>
          <a:p>
            <a:pPr indent="0" marL="0">
              <a:buNone/>
            </a:pPr>
            <a:r>
              <a:rPr lang="en-US" sz="1000" i="1" dirty="0">
                <a:solidFill>
                  <a:srgbClr val="696969"/>
                </a:solidFill>
                <a:latin typeface="Calibri" pitchFamily="34" charset="0"/>
                <a:ea typeface="Calibri" pitchFamily="34" charset="-122"/>
                <a:cs typeface="Calibri" pitchFamily="34" charset="-120"/>
              </a:rPr>
              <a:t>Product names, features and licensing change frequently; statements about tools reflect vendor documentation as of August 2026 — verify current capabilities with your IT department.</a:t>
            </a:r>
            <a:endParaRPr lang="en-US" sz="1000" dirty="0"/>
          </a:p>
        </p:txBody>
      </p:sp>
      <p:sp>
        <p:nvSpPr>
          <p:cNvPr id="5" name="Text 3"/>
          <p:cNvSpPr txBox="1"/>
          <p:nvPr/>
        </p:nvSpPr>
        <p:spPr>
          <a:xfrm>
            <a:off x="502920" y="6510528"/>
            <a:ext cx="5943600" cy="274320"/>
          </a:xfrm>
          <a:prstGeom prst="rect">
            <a:avLst/>
          </a:prstGeom>
          <a:noFill/>
          <a:ln/>
        </p:spPr>
        <p:txBody>
          <a:bodyPr wrap="square" lIns="0" tIns="0" rIns="0" bIns="0" rtlCol="0" anchor="ctr"/>
          <a:lstStyle/>
          <a:p>
            <a:pPr indent="0" marL="0">
              <a:buNone/>
            </a:pPr>
            <a:r>
              <a:rPr lang="en-US" sz="900" dirty="0">
                <a:solidFill>
                  <a:srgbClr val="9AA0AC"/>
                </a:solidFill>
                <a:latin typeface="Calibri" pitchFamily="34" charset="0"/>
                <a:ea typeface="Calibri" pitchFamily="34" charset="-122"/>
                <a:cs typeface="Calibri" pitchFamily="34" charset="-120"/>
              </a:rPr>
              <a:t>SDAIA Academy • Generative AI for Productivity</a:t>
            </a:r>
            <a:endParaRPr lang="en-US" sz="900" dirty="0"/>
          </a:p>
        </p:txBody>
      </p:sp>
      <p:sp>
        <p:nvSpPr>
          <p:cNvPr id="6" name="Text 4"/>
          <p:cNvSpPr txBox="1"/>
          <p:nvPr/>
        </p:nvSpPr>
        <p:spPr>
          <a:xfrm>
            <a:off x="11384280" y="6510528"/>
            <a:ext cx="457200" cy="274320"/>
          </a:xfrm>
          <a:prstGeom prst="rect">
            <a:avLst/>
          </a:prstGeom>
          <a:noFill/>
          <a:ln/>
        </p:spPr>
        <p:txBody>
          <a:bodyPr wrap="square" lIns="0" tIns="0" rIns="0" bIns="0"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73</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2103120"/>
            <a:ext cx="9144000" cy="100584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Thank you</a:t>
            </a:r>
            <a:endParaRPr lang="en-US" sz="5400" dirty="0"/>
          </a:p>
        </p:txBody>
      </p:sp>
      <p:sp>
        <p:nvSpPr>
          <p:cNvPr id="3" name="Text 1"/>
          <p:cNvSpPr txBox="1"/>
          <p:nvPr/>
        </p:nvSpPr>
        <p:spPr>
          <a:xfrm>
            <a:off x="731520" y="3200400"/>
            <a:ext cx="9601200" cy="457200"/>
          </a:xfrm>
          <a:prstGeom prst="rect">
            <a:avLst/>
          </a:prstGeom>
          <a:noFill/>
          <a:ln/>
        </p:spPr>
        <p:txBody>
          <a:bodyPr wrap="square" lIns="0" tIns="0" rIns="0" bIns="0" rtlCol="0" anchor="ctr"/>
          <a:lstStyle/>
          <a:p>
            <a:pPr indent="0" marL="0">
              <a:buNone/>
            </a:pPr>
            <a:r>
              <a:rPr lang="en-US" sz="2000" dirty="0">
                <a:solidFill>
                  <a:srgbClr val="C9D2F2"/>
                </a:solidFill>
                <a:latin typeface="Calibri" pitchFamily="34" charset="0"/>
                <a:ea typeface="Calibri" pitchFamily="34" charset="-122"/>
                <a:cs typeface="Calibri" pitchFamily="34" charset="-120"/>
              </a:rPr>
              <a:t>Congratulations on completing Generative AI for Productivity</a:t>
            </a:r>
            <a:endParaRPr lang="en-US" sz="2000" dirty="0"/>
          </a:p>
        </p:txBody>
      </p:sp>
      <p:sp>
        <p:nvSpPr>
          <p:cNvPr id="4" name="Text 2"/>
          <p:cNvSpPr txBox="1"/>
          <p:nvPr/>
        </p:nvSpPr>
        <p:spPr>
          <a:xfrm>
            <a:off x="731520" y="3886200"/>
            <a:ext cx="9601200" cy="822960"/>
          </a:xfrm>
          <a:prstGeom prst="rect">
            <a:avLst/>
          </a:prstGeom>
          <a:noFill/>
          <a:ln/>
        </p:spPr>
        <p:txBody>
          <a:bodyPr wrap="square" lIns="0" tIns="0" rIns="0" bIns="0" rtlCol="0" anchor="ctr"/>
          <a:lstStyle/>
          <a:p>
            <a:pPr indent="0" marL="0">
              <a:lnSpc>
                <a:spcPct val="130000"/>
              </a:lnSpc>
              <a:buNone/>
            </a:pPr>
            <a:r>
              <a:rPr lang="en-US" sz="1400" dirty="0">
                <a:solidFill>
                  <a:srgbClr val="9AA6D8"/>
                </a:solidFill>
                <a:latin typeface="Calibri" pitchFamily="34" charset="0"/>
                <a:ea typeface="Calibri" pitchFamily="34" charset="-122"/>
                <a:cs typeface="Calibri" pitchFamily="34" charset="-120"/>
              </a:rPr>
              <a:t>Your Digital Badge will be issued after assessment results are processed.</a:t>
            </a:r>
            <a:endParaRPr lang="en-US" sz="1400" dirty="0"/>
          </a:p>
          <a:p>
            <a:pPr indent="0" marL="0">
              <a:lnSpc>
                <a:spcPct val="130000"/>
              </a:lnSpc>
              <a:buNone/>
            </a:pPr>
            <a:r>
              <a:rPr lang="en-US" sz="1400" dirty="0">
                <a:solidFill>
                  <a:srgbClr val="9AA6D8"/>
                </a:solidFill>
                <a:latin typeface="Calibri" pitchFamily="34" charset="0"/>
                <a:ea typeface="Calibri" pitchFamily="34" charset="-122"/>
                <a:cs typeface="Calibri" pitchFamily="34" charset="-120"/>
              </a:rPr>
              <a:t>Keep the exercise pack, your workbook and your Personal Prompt Library — they are yours.</a:t>
            </a:r>
            <a:endParaRPr lang="en-US" sz="1400" dirty="0"/>
          </a:p>
        </p:txBody>
      </p:sp>
      <p:sp>
        <p:nvSpPr>
          <p:cNvPr id="5" name="Text 3"/>
          <p:cNvSpPr txBox="1"/>
          <p:nvPr/>
        </p:nvSpPr>
        <p:spPr>
          <a:xfrm>
            <a:off x="320040" y="6355080"/>
            <a:ext cx="2926080" cy="320040"/>
          </a:xfrm>
          <a:prstGeom prst="rect">
            <a:avLst/>
          </a:prstGeom>
          <a:noFill/>
          <a:ln/>
        </p:spPr>
        <p:txBody>
          <a:bodyPr wrap="square" lIns="0" tIns="0" rIns="0" bIns="0" rtlCol="0" anchor="ctr"/>
          <a:lstStyle/>
          <a:p>
            <a:pPr indent="0" marL="0">
              <a:buNone/>
            </a:pPr>
            <a:r>
              <a:rPr lang="en-US" sz="1200" b="1" dirty="0">
                <a:solidFill>
                  <a:srgbClr val="273370"/>
                </a:solidFill>
                <a:latin typeface="Calibri" pitchFamily="34" charset="0"/>
                <a:ea typeface="Calibri" pitchFamily="34" charset="-122"/>
                <a:cs typeface="Calibri" pitchFamily="34" charset="-120"/>
              </a:rPr>
              <a:t>SDAIA Academy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75</Slides>
  <Notes>75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75</vt:i4>
      </vt:variant>
    </vt:vector>
  </HeadingPairs>
  <TitlesOfParts>
    <vt:vector size="7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Generative AI for Productivity - Trainer Deck</dc:title>
  <dc:subject>PptxGenJS Presentation</dc:subject>
  <dc:creator>SDAIA Academy</dc:creator>
  <cp:lastModifiedBy>SDAIA Academy</cp:lastModifiedBy>
  <cp:revision>1</cp:revision>
  <dcterms:created xsi:type="dcterms:W3CDTF">2026-08-26T10:02:14Z</dcterms:created>
  <dcterms:modified xsi:type="dcterms:W3CDTF">2026-08-26T10:02:14Z</dcterms:modified>
</cp:coreProperties>
</file>